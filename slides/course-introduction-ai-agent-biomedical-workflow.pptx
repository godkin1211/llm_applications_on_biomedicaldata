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a54e843c545ee" /><Relationship Type="http://schemas.openxmlformats.org/officeDocument/2006/relationships/extended-properties" Target="/docProps/app.xml" Id="R14063c36097c4b4e" /><Relationship Type="http://schemas.openxmlformats.org/officeDocument/2006/relationships/officeDocument" Target="/ppt/presentation.xml" Id="R940601df5471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ef38d8ae0e4ef6"/>
  </p:sldMasterIdLst>
  <p:notesMasterIdLst>
    <p:notesMasterId xmlns:r="http://schemas.openxmlformats.org/officeDocument/2006/relationships" r:id="R1b294ec32daa40ce"/>
  </p:notesMasterIdLst>
  <p:sldIdLst>
    <p:sldId xmlns:r="http://schemas.openxmlformats.org/officeDocument/2006/relationships" id="256" r:id="R99ef6b47fd3a427a"/>
    <p:sldId xmlns:r="http://schemas.openxmlformats.org/officeDocument/2006/relationships" id="257" r:id="Rb4668e29b1ee473a"/>
    <p:sldId xmlns:r="http://schemas.openxmlformats.org/officeDocument/2006/relationships" id="258" r:id="R6f800d5986b5423e"/>
    <p:sldId xmlns:r="http://schemas.openxmlformats.org/officeDocument/2006/relationships" id="259" r:id="R0fa3f42492c44ce9"/>
    <p:sldId xmlns:r="http://schemas.openxmlformats.org/officeDocument/2006/relationships" id="260" r:id="R78f8b1b47015480d"/>
    <p:sldId xmlns:r="http://schemas.openxmlformats.org/officeDocument/2006/relationships" id="261" r:id="Recc867765b8a4738"/>
    <p:sldId xmlns:r="http://schemas.openxmlformats.org/officeDocument/2006/relationships" id="262" r:id="R414d5d386ed745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80b6ed599048f8" /><Relationship Type="http://schemas.openxmlformats.org/officeDocument/2006/relationships/slideMaster" Target="/ppt/slideMasters/slideMaster1.xml" Id="Rd1ef38d8ae0e4ef6" /><Relationship Type="http://schemas.openxmlformats.org/officeDocument/2006/relationships/notesMaster" Target="/ppt/notesMasters/notesMaster1.xml" Id="R1b294ec32daa40ce" /><Relationship Type="http://schemas.openxmlformats.org/officeDocument/2006/relationships/presProps" Target="/ppt/presProps.xml" Id="R72fe61ee2a2e425b" /><Relationship Type="http://schemas.openxmlformats.org/officeDocument/2006/relationships/tableStyles" Target="/ppt/tableStyles.xml" Id="R782e212f082c4224" /><Relationship Type="http://schemas.openxmlformats.org/officeDocument/2006/relationships/slide" Target="/ppt/slides/slide1.xml" Id="R99ef6b47fd3a427a" /><Relationship Type="http://schemas.openxmlformats.org/officeDocument/2006/relationships/slide" Target="/ppt/slides/slide2.xml" Id="Rb4668e29b1ee473a" /><Relationship Type="http://schemas.openxmlformats.org/officeDocument/2006/relationships/slide" Target="/ppt/slides/slide3.xml" Id="R6f800d5986b5423e" /><Relationship Type="http://schemas.openxmlformats.org/officeDocument/2006/relationships/slide" Target="/ppt/slides/slide4.xml" Id="R0fa3f42492c44ce9" /><Relationship Type="http://schemas.openxmlformats.org/officeDocument/2006/relationships/slide" Target="/ppt/slides/slide5.xml" Id="R78f8b1b47015480d" /><Relationship Type="http://schemas.openxmlformats.org/officeDocument/2006/relationships/slide" Target="/ppt/slides/slide6.xml" Id="Recc867765b8a4738" /><Relationship Type="http://schemas.openxmlformats.org/officeDocument/2006/relationships/slide" Target="/ppt/slides/slide7.xml" Id="R414d5d386ed7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21be09819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e3ff390d84e07" /><Relationship Type="http://schemas.openxmlformats.org/officeDocument/2006/relationships/notesMaster" Target="/ppt/notesMasters/notesMaster1.xml" Id="R6971eb539887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e7900ee2a4bda" /><Relationship Type="http://schemas.openxmlformats.org/officeDocument/2006/relationships/notesMaster" Target="/ppt/notesMasters/notesMaster1.xml" Id="Rcffbccbb114c49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51387691574f34" /><Relationship Type="http://schemas.openxmlformats.org/officeDocument/2006/relationships/notesMaster" Target="/ppt/notesMasters/notesMaster1.xml" Id="Rb225d63cdea741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836be1ad34ee7" /><Relationship Type="http://schemas.openxmlformats.org/officeDocument/2006/relationships/notesMaster" Target="/ppt/notesMasters/notesMaster1.xml" Id="R90117fb14dd1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f554670e3f4ff6" /><Relationship Type="http://schemas.openxmlformats.org/officeDocument/2006/relationships/notesMaster" Target="/ppt/notesMasters/notesMaster1.xml" Id="R8dc49eaf2c66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e705d528fa4c59" /><Relationship Type="http://schemas.openxmlformats.org/officeDocument/2006/relationships/notesMaster" Target="/ppt/notesMasters/notesMaster1.xml" Id="Rda7b1d007e95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84d5de7ab4f2b" /><Relationship Type="http://schemas.openxmlformats.org/officeDocument/2006/relationships/notesMaster" Target="/ppt/notesMasters/notesMaster1.xml" Id="R583927b41b60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開場先定調：本課不是 prompt 技巧課，而是 workflow engineering 課。AI agent 在 biomedical 場景中有價值，但也有風險；課程目標是讓學生學會把 AI 放進一個可以被驗證的研究流程裡。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把學生帶到實際研究工作流，而不是抽象談 AI。強調 biomedical 場景中錯誤成本高，所以 agent workflow 必須有 evidence、logs、tests、review points。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明確區分會問 AI 和會設計 agent workflow。這張投影片建立全課的工程標準：每個 agent 行為都要能被追蹤、限制、驗證。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用學習路線圖建立期待，但避免行政式課綱朗讀。三天是連續堆疊：先理解模型，再控制工具，再設計規格與迴圈，最後整合成專題。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讓學生理解課程會動手做，而且做的是工程化 workflow。也要預告後面的 loop engineering：agent 的核心能力不是一次成功，而是能在約束內反覆檢查與改進。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把終點講清楚。學生要知道 hackathon 不是做一個炫技 demo，而是交付一個有工程品質的研究流程。這也替後續 spec-driven development 和 harness engineering 鋪路。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這張是轉場頁。第一堂課完成後，學生應該已經理解本課主軸：AI agent 的價值不在單次回答，而在能被設計、檢查與重跑的 biomedical research workflow。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d93962a844b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1f7994a3c6410b" /><Relationship Type="http://schemas.openxmlformats.org/officeDocument/2006/relationships/slideLayout" Target="/ppt/slideLayouts/slideLayout1.xml" Id="R859e917f3f0a4d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9e917f3f0a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9d477e8b141ca" /><Relationship Type="http://schemas.openxmlformats.org/officeDocument/2006/relationships/notesSlide" Target="/ppt/notesSlides/notesSlide1.xml" Id="R8f65a9a0e6324f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77615bb5b4d8b" /><Relationship Type="http://schemas.openxmlformats.org/officeDocument/2006/relationships/notesSlide" Target="/ppt/notesSlides/notesSlide2.xml" Id="R863da1811b1b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b2305bafc46c0" /><Relationship Type="http://schemas.openxmlformats.org/officeDocument/2006/relationships/notesSlide" Target="/ppt/notesSlides/notesSlide3.xml" Id="R9744783bb98e4e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4d3a657b4e2a" /><Relationship Type="http://schemas.openxmlformats.org/officeDocument/2006/relationships/notesSlide" Target="/ppt/notesSlides/notesSlide4.xml" Id="R02fbdd59bf3845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59feec4e948a0" /><Relationship Type="http://schemas.openxmlformats.org/officeDocument/2006/relationships/notesSlide" Target="/ppt/notesSlides/notesSlide5.xml" Id="R54c2661b73b8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2cacea1d94e67" /><Relationship Type="http://schemas.openxmlformats.org/officeDocument/2006/relationships/notesSlide" Target="/ppt/notesSlides/notesSlide6.xml" Id="Rf2c35337464e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870625d664ab0" /><Relationship Type="http://schemas.openxmlformats.org/officeDocument/2006/relationships/notesSlide" Target="/ppt/notesSlides/notesSlide7.xml" Id="Rf7cb1ed6105f45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471D4FA-4B1A-4E45-8016-35EFF96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COURSE INTRODUCTION</a:t>
            </a:r>
          </a:p>
        </p:txBody>
      </p:sp>
      <p:sp>
        <p:nvSpPr>
          <p:cNvPr id="2" name="course-name">
            <a:extLst xmlns:a="http://schemas.openxmlformats.org/drawingml/2006/main">
              <a:ext uri="{FF2B5EF4-FFF2-40B4-BE49-F238E27FC236}">
                <a16:creationId xmlns:a16="http://schemas.microsoft.com/office/drawing/2014/main" id="{3003EB14-C4EF-4881-B70C-EE8FF8DB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醫療大數據：生醫資料庫與人工智慧應用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A6B0CB-286E-4605-9F34-3D80DBF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AI agents for biomedical research workflows</a:t>
            </a:r>
          </a:p>
        </p:txBody>
      </p:sp>
      <p:sp>
        <p:nvSpPr>
          <p:cNvPr id="4" name="opening-bullets">
            <a:extLst xmlns:a="http://schemas.openxmlformats.org/drawingml/2006/main">
              <a:ext uri="{FF2B5EF4-FFF2-40B4-BE49-F238E27FC236}">
                <a16:creationId xmlns:a16="http://schemas.microsoft.com/office/drawing/2014/main" id="{57C16B68-B9D6-4A44-A9C7-F401AD79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我們關心的不只是得到答案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而是答案如何被產生、檢查、重跑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三天後，你要能設計一個可信的 biomedical AI agent workflow</a:t>
            </a:r>
          </a:p>
        </p:txBody>
      </p:sp>
      <p:sp>
        <p:nvSpPr>
          <p:cNvPr id="5" name="node-question">
            <a:extLst xmlns:a="http://schemas.openxmlformats.org/drawingml/2006/main">
              <a:ext uri="{FF2B5EF4-FFF2-40B4-BE49-F238E27FC236}">
                <a16:creationId xmlns:a16="http://schemas.microsoft.com/office/drawing/2014/main" id="{53367A2D-4FED-48D0-995A-FDE87EC6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Research</a:t>
            </a:r>
          </a:p>
          <a:p xmlns:a="http://schemas.openxmlformats.org/drawingml/2006/main">
            <a:pPr algn="ctr">
              <a:def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question</a:t>
            </a:r>
          </a:p>
        </p:txBody>
      </p:sp>
      <p:sp>
        <p:nvSpPr>
          <p:cNvPr id="6" name="node-agent">
            <a:extLst xmlns:a="http://schemas.openxmlformats.org/drawingml/2006/main">
              <a:ext uri="{FF2B5EF4-FFF2-40B4-BE49-F238E27FC236}">
                <a16:creationId xmlns:a16="http://schemas.microsoft.com/office/drawing/2014/main" id="{BC81E8A5-103F-4937-9583-B8EFA48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668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AI agent</a:t>
            </a:r>
          </a:p>
          <a:p xmlns:a="http://schemas.openxmlformats.org/drawingml/2006/main">
            <a:pPr algn="ctr"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workflow</a:t>
            </a:r>
          </a:p>
        </p:txBody>
      </p:sp>
      <p:sp>
        <p:nvSpPr>
          <p:cNvPr id="7" name="node-paper">
            <a:extLst xmlns:a="http://schemas.openxmlformats.org/drawingml/2006/main">
              <a:ext uri="{FF2B5EF4-FFF2-40B4-BE49-F238E27FC236}">
                <a16:creationId xmlns:a16="http://schemas.microsoft.com/office/drawing/2014/main" id="{44A3704A-C796-41E4-95AE-EE705F7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1104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Paper</a:t>
            </a:r>
          </a:p>
        </p:txBody>
      </p:sp>
      <p:sp>
        <p:nvSpPr>
          <p:cNvPr id="8" name="node-data">
            <a:extLst xmlns:a="http://schemas.openxmlformats.org/drawingml/2006/main">
              <a:ext uri="{FF2B5EF4-FFF2-40B4-BE49-F238E27FC236}">
                <a16:creationId xmlns:a16="http://schemas.microsoft.com/office/drawing/2014/main" id="{B3FF219D-1BCF-48DB-82F2-940CDF77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Dataset</a:t>
            </a:r>
          </a:p>
        </p:txBody>
      </p:sp>
      <p:sp>
        <p:nvSpPr>
          <p:cNvPr id="9" name="node-code">
            <a:extLst xmlns:a="http://schemas.openxmlformats.org/drawingml/2006/main">
              <a:ext uri="{FF2B5EF4-FFF2-40B4-BE49-F238E27FC236}">
                <a16:creationId xmlns:a16="http://schemas.microsoft.com/office/drawing/2014/main" id="{01E0672E-5AF2-4D24-99B3-2D9C1663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004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Code</a:t>
            </a:r>
          </a:p>
        </p:txBody>
      </p:sp>
      <p:sp>
        <p:nvSpPr>
          <p:cNvPr id="10" name="node-output">
            <a:extLst xmlns:a="http://schemas.openxmlformats.org/drawingml/2006/main">
              <a:ext uri="{FF2B5EF4-FFF2-40B4-BE49-F238E27FC236}">
                <a16:creationId xmlns:a16="http://schemas.microsoft.com/office/drawing/2014/main" id="{12FEA1D9-D3CD-4E9E-A68F-308C30B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2000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Evidence-backed</a:t>
            </a:r>
          </a:p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11" name="line-question-agent">
            <a:extLst xmlns:a="http://schemas.openxmlformats.org/drawingml/2006/main">
              <a:ext uri="{FF2B5EF4-FFF2-40B4-BE49-F238E27FC236}">
                <a16:creationId xmlns:a16="http://schemas.microsoft.com/office/drawing/2014/main" id="{2EAC8E01-3312-4737-866F-6C84FC20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3446A8"/>
            </a:solidFill>
            <a:prstDash val="solid"/>
          </a:ln>
        </p:spPr>
      </p:sp>
      <p:sp>
        <p:nvSpPr>
          <p:cNvPr id="12" name="line-agent-down">
            <a:extLst xmlns:a="http://schemas.openxmlformats.org/drawingml/2006/main">
              <a:ext uri="{FF2B5EF4-FFF2-40B4-BE49-F238E27FC236}">
                <a16:creationId xmlns:a16="http://schemas.microsoft.com/office/drawing/2014/main" id="{DA755D8D-2F13-4836-8703-337FE89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11455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46A8"/>
            </a:solidFill>
            <a:prstDash val="solid"/>
          </a:ln>
        </p:spPr>
      </p:sp>
      <p:sp>
        <p:nvSpPr>
          <p:cNvPr id="13" name="line-agent-bus">
            <a:extLst xmlns:a="http://schemas.openxmlformats.org/drawingml/2006/main">
              <a:ext uri="{FF2B5EF4-FFF2-40B4-BE49-F238E27FC236}">
                <a16:creationId xmlns:a16="http://schemas.microsoft.com/office/drawing/2014/main" id="{66648085-D33A-46CA-84CD-A43ACAC4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575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46A8"/>
            </a:solidFill>
            <a:prstDash val="solid"/>
          </a:ln>
        </p:spPr>
      </p:sp>
      <p:sp>
        <p:nvSpPr>
          <p:cNvPr id="14" name="line-paper-in">
            <a:extLst xmlns:a="http://schemas.openxmlformats.org/drawingml/2006/main">
              <a:ext uri="{FF2B5EF4-FFF2-40B4-BE49-F238E27FC236}">
                <a16:creationId xmlns:a16="http://schemas.microsoft.com/office/drawing/2014/main" id="{EAF1B416-AAD8-45FF-AED1-AB516E01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57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46A8"/>
            </a:solidFill>
            <a:prstDash val="solid"/>
          </a:ln>
        </p:spPr>
      </p:sp>
      <p:sp>
        <p:nvSpPr>
          <p:cNvPr id="15" name="line-data-in">
            <a:extLst xmlns:a="http://schemas.openxmlformats.org/drawingml/2006/main">
              <a:ext uri="{FF2B5EF4-FFF2-40B4-BE49-F238E27FC236}">
                <a16:creationId xmlns:a16="http://schemas.microsoft.com/office/drawing/2014/main" id="{FD7E2F3B-9CA5-4E42-81D3-3D8DBA5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46A8"/>
            </a:solidFill>
            <a:prstDash val="solid"/>
          </a:ln>
        </p:spPr>
      </p:sp>
      <p:sp>
        <p:nvSpPr>
          <p:cNvPr id="16" name="line-code-in">
            <a:extLst xmlns:a="http://schemas.openxmlformats.org/drawingml/2006/main">
              <a:ext uri="{FF2B5EF4-FFF2-40B4-BE49-F238E27FC236}">
                <a16:creationId xmlns:a16="http://schemas.microsoft.com/office/drawing/2014/main" id="{52DAA266-E4F5-4E3B-8807-213EBBB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446A8"/>
            </a:solidFill>
            <a:prstDash val="solid"/>
          </a:ln>
        </p:spPr>
      </p:sp>
      <p:sp>
        <p:nvSpPr>
          <p:cNvPr id="17" name="line-paper-out">
            <a:extLst xmlns:a="http://schemas.openxmlformats.org/drawingml/2006/main">
              <a:ext uri="{FF2B5EF4-FFF2-40B4-BE49-F238E27FC236}">
                <a16:creationId xmlns:a16="http://schemas.microsoft.com/office/drawing/2014/main" id="{DDD157CC-971A-4F9D-849E-2347D42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766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8F88"/>
            </a:solidFill>
            <a:prstDash val="solid"/>
          </a:ln>
        </p:spPr>
      </p:sp>
      <p:sp>
        <p:nvSpPr>
          <p:cNvPr id="18" name="line-data-out">
            <a:extLst xmlns:a="http://schemas.openxmlformats.org/drawingml/2006/main">
              <a:ext uri="{FF2B5EF4-FFF2-40B4-BE49-F238E27FC236}">
                <a16:creationId xmlns:a16="http://schemas.microsoft.com/office/drawing/2014/main" id="{40969DD5-1CB0-46E1-A251-FC95BE7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8F88"/>
            </a:solidFill>
            <a:prstDash val="solid"/>
          </a:ln>
        </p:spPr>
      </p:sp>
      <p:sp>
        <p:nvSpPr>
          <p:cNvPr id="19" name="line-code-out">
            <a:extLst xmlns:a="http://schemas.openxmlformats.org/drawingml/2006/main">
              <a:ext uri="{FF2B5EF4-FFF2-40B4-BE49-F238E27FC236}">
                <a16:creationId xmlns:a16="http://schemas.microsoft.com/office/drawing/2014/main" id="{C1F8740D-9AC2-4429-99EF-ACB92D1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766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8F88"/>
            </a:solidFill>
            <a:prstDash val="solid"/>
          </a:ln>
        </p:spPr>
      </p:sp>
      <p:sp>
        <p:nvSpPr>
          <p:cNvPr id="20" name="line-output-bus">
            <a:extLst xmlns:a="http://schemas.openxmlformats.org/drawingml/2006/main">
              <a:ext uri="{FF2B5EF4-FFF2-40B4-BE49-F238E27FC236}">
                <a16:creationId xmlns:a16="http://schemas.microsoft.com/office/drawing/2014/main" id="{60BCB4C2-F2F3-4BA9-914A-AA3B354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8F88"/>
            </a:solidFill>
            <a:prstDash val="solid"/>
          </a:ln>
        </p:spPr>
      </p:sp>
      <p:sp>
        <p:nvSpPr>
          <p:cNvPr id="21" name="line-output-down">
            <a:extLst xmlns:a="http://schemas.openxmlformats.org/drawingml/2006/main">
              <a:ext uri="{FF2B5EF4-FFF2-40B4-BE49-F238E27FC236}">
                <a16:creationId xmlns:a16="http://schemas.microsoft.com/office/drawing/2014/main" id="{BD82C53D-2059-4B8D-AAF2-8FEC721B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E8F88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5609B696-87E4-4AEC-A762-1CF129D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1/7</a:t>
            </a:r>
          </a:p>
        </p:txBody>
      </p:sp>
    </p:spTree>
    <p:extLst>
      <p:ext uri="{BB962C8B-B14F-4D97-AF65-F5344CB8AC3E}">
        <p14:creationId xmlns:p14="http://schemas.microsoft.com/office/powerpoint/2010/main" val="1413835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89E4ED8-37A7-4A13-9581-957408A1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WHY WORKFLOWS MATTER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38CE-2F3C-4294-B304-0CFE4C4B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research 的難點在流程銜接與檢查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618E0931-BA56-494E-A939-5C3BAB0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542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常見任務：讀文獻、查資料庫、寫程式、產出報告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真正困難不是單一步驟，而是前後步驟是否接得起來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價值：把推理、工具、紀錄、修正串成可控流程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最大風險：來源不明、步驟不可追、結果不可重現</a:t>
            </a:r>
          </a:p>
        </p:txBody>
      </p:sp>
      <p:sp>
        <p:nvSpPr>
          <p:cNvPr id="4" name="lit">
            <a:extLst xmlns:a="http://schemas.openxmlformats.org/drawingml/2006/main">
              <a:ext uri="{FF2B5EF4-FFF2-40B4-BE49-F238E27FC236}">
                <a16:creationId xmlns:a16="http://schemas.microsoft.com/office/drawing/2014/main" id="{A3D13FD8-3E8E-4CC7-B910-39FCDBE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Literature</a:t>
            </a:r>
          </a:p>
        </p:txBody>
      </p:sp>
      <p:sp>
        <p:nvSpPr>
          <p:cNvPr id="5" name="db">
            <a:extLst xmlns:a="http://schemas.openxmlformats.org/drawingml/2006/main">
              <a:ext uri="{FF2B5EF4-FFF2-40B4-BE49-F238E27FC236}">
                <a16:creationId xmlns:a16="http://schemas.microsoft.com/office/drawing/2014/main" id="{89080C1F-B520-4ED6-875A-080A3631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Database</a:t>
            </a:r>
          </a:p>
        </p:txBody>
      </p:sp>
      <p:sp>
        <p:nvSpPr>
          <p:cNvPr id="6" name="analysis">
            <a:extLst xmlns:a="http://schemas.openxmlformats.org/drawingml/2006/main">
              <a:ext uri="{FF2B5EF4-FFF2-40B4-BE49-F238E27FC236}">
                <a16:creationId xmlns:a16="http://schemas.microsoft.com/office/drawing/2014/main" id="{3ACE0AFE-B83A-4D96-ABD6-759806E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Analysis</a:t>
            </a:r>
          </a:p>
        </p:txBody>
      </p:sp>
      <p:sp>
        <p:nvSpPr>
          <p:cNvPr id="7" name="report">
            <a:extLst xmlns:a="http://schemas.openxmlformats.org/drawingml/2006/main">
              <a:ext uri="{FF2B5EF4-FFF2-40B4-BE49-F238E27FC236}">
                <a16:creationId xmlns:a16="http://schemas.microsoft.com/office/drawing/2014/main" id="{0B3F2CA8-29B7-448B-A9C8-E3E791EA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621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Report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72400" y="2228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086850" y="2228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01300" y="2228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1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0DE37413-4221-4538-A834-4F5DCF7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2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AFBFAAF9-F5D4-4F7B-86BD-DD88DDD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3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15045A57-EE07-45A2-AA82-3230459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95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4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9FA639E5-9FC4-4FD7-AD32-81E1647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4955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5" name="verification-bus">
            <a:extLst xmlns:a="http://schemas.openxmlformats.org/drawingml/2006/main">
              <a:ext uri="{FF2B5EF4-FFF2-40B4-BE49-F238E27FC236}">
                <a16:creationId xmlns:a16="http://schemas.microsoft.com/office/drawing/2014/main" id="{40B8E0F3-6C67-40A6-8744-C43C554D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94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6" name="verification-down">
            <a:extLst xmlns:a="http://schemas.openxmlformats.org/drawingml/2006/main">
              <a:ext uri="{FF2B5EF4-FFF2-40B4-BE49-F238E27FC236}">
                <a16:creationId xmlns:a16="http://schemas.microsoft.com/office/drawing/2014/main" id="{505C09C1-4F7F-4508-BD12-21AF4C1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670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9A16"/>
            </a:solidFill>
            <a:prstDash val="dash"/>
          </a:ln>
        </p:spPr>
      </p:sp>
      <p:sp>
        <p:nvSpPr>
          <p:cNvPr id="17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C0592958-52B0-4818-A0F4-2ACB0D8C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Verification checkpoints</a:t>
            </a:r>
          </a:p>
        </p:txBody>
      </p:sp>
      <p:sp>
        <p:nvSpPr>
          <p:cNvPr id="18" name="risk-note">
            <a:extLst xmlns:a="http://schemas.openxmlformats.org/drawingml/2006/main">
              <a:ext uri="{FF2B5EF4-FFF2-40B4-BE49-F238E27FC236}">
                <a16:creationId xmlns:a16="http://schemas.microsoft.com/office/drawing/2014/main" id="{CD046791-DE80-4F8F-BF9D-43E106D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看起來流暢 ≠ 可以信任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BF5355F5-6CBE-4BF8-A47A-A1A0162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2/7</a:t>
            </a:r>
          </a:p>
        </p:txBody>
      </p:sp>
    </p:spTree>
    <p:extLst>
      <p:ext uri="{BB962C8B-B14F-4D97-AF65-F5344CB8AC3E}">
        <p14:creationId xmlns:p14="http://schemas.microsoft.com/office/powerpoint/2010/main" val="805387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25ED26F-8047-46CA-9166-AD8485F5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VIEW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D489A0-2297-4101-A88D-773C781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本課的 agent 觀點：不是 prompt，而是系統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85F7998F-5B20-4701-9115-FB8EE60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Prompt 是入口，不是完整解法。好的 workflow 要能回答三個問題。</a:t>
            </a:r>
          </a:p>
        </p:txBody>
      </p:sp>
      <p:sp>
        <p:nvSpPr>
          <p:cNvPr id="4" name="what">
            <a:extLst xmlns:a="http://schemas.openxmlformats.org/drawingml/2006/main">
              <a:ext uri="{FF2B5EF4-FFF2-40B4-BE49-F238E27FC236}">
                <a16:creationId xmlns:a16="http://schemas.microsoft.com/office/drawing/2014/main" id="{A0012314-EE0A-4434-85B2-7A1E9EF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它做了什麼？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57460E62-4A2B-4B45-8292-3717A4A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根據什麼做？</a:t>
            </a:r>
          </a:p>
        </p:txBody>
      </p:sp>
      <p:sp>
        <p:nvSpPr>
          <p:cNvPr id="6" name="rerun">
            <a:extLst xmlns:a="http://schemas.openxmlformats.org/drawingml/2006/main">
              <a:ext uri="{FF2B5EF4-FFF2-40B4-BE49-F238E27FC236}">
                <a16:creationId xmlns:a16="http://schemas.microsoft.com/office/drawing/2014/main" id="{8082C455-A303-4665-AA49-097D2AD5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如何檢查或重跑？</a:t>
            </a:r>
          </a:p>
        </p:txBody>
      </p:sp>
      <p:sp>
        <p:nvSpPr>
          <p:cNvPr id="7" name="workflow">
            <a:extLst xmlns:a="http://schemas.openxmlformats.org/drawingml/2006/main">
              <a:ext uri="{FF2B5EF4-FFF2-40B4-BE49-F238E27FC236}">
                <a16:creationId xmlns:a16="http://schemas.microsoft.com/office/drawing/2014/main" id="{399A17E3-81DD-462F-846F-ABA0751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7185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Agent workflow</a:t>
            </a:r>
          </a:p>
        </p:txBody>
      </p:sp>
      <p:sp>
        <p:nvSpPr>
          <p:cNvPr id="8" name="spec">
            <a:extLst xmlns:a="http://schemas.openxmlformats.org/drawingml/2006/main">
              <a:ext uri="{FF2B5EF4-FFF2-40B4-BE49-F238E27FC236}">
                <a16:creationId xmlns:a16="http://schemas.microsoft.com/office/drawing/2014/main" id="{B007252A-FB6A-4630-AD18-C9C470D1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1295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Task spec</a:t>
            </a:r>
          </a:p>
        </p:txBody>
      </p:sp>
      <p:sp>
        <p:nvSpPr>
          <p:cNvPr id="9" name="context">
            <a:extLst xmlns:a="http://schemas.openxmlformats.org/drawingml/2006/main">
              <a:ext uri="{FF2B5EF4-FFF2-40B4-BE49-F238E27FC236}">
                <a16:creationId xmlns:a16="http://schemas.microsoft.com/office/drawing/2014/main" id="{345B3508-B153-40BA-B6DF-37E7489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Context</a:t>
            </a:r>
          </a:p>
        </p:txBody>
      </p:sp>
      <p:sp>
        <p:nvSpPr>
          <p:cNvPr id="10" name="tools">
            <a:extLst xmlns:a="http://schemas.openxmlformats.org/drawingml/2006/main">
              <a:ext uri="{FF2B5EF4-FFF2-40B4-BE49-F238E27FC236}">
                <a16:creationId xmlns:a16="http://schemas.microsoft.com/office/drawing/2014/main" id="{BA35D87E-A465-4A1A-8C44-FE3DD52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1047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1" name="sources">
            <a:extLst xmlns:a="http://schemas.openxmlformats.org/drawingml/2006/main">
              <a:ext uri="{FF2B5EF4-FFF2-40B4-BE49-F238E27FC236}">
                <a16:creationId xmlns:a16="http://schemas.microsoft.com/office/drawing/2014/main" id="{35B95D83-DD09-4AD2-BF71-78B6887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29100"/>
            <a:ext cx="1162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Sources</a:t>
            </a:r>
          </a:p>
        </p:txBody>
      </p:sp>
      <p:sp>
        <p:nvSpPr>
          <p:cNvPr id="12" name="loop">
            <a:extLst xmlns:a="http://schemas.openxmlformats.org/drawingml/2006/main">
              <a:ext uri="{FF2B5EF4-FFF2-40B4-BE49-F238E27FC236}">
                <a16:creationId xmlns:a16="http://schemas.microsoft.com/office/drawing/2014/main" id="{EE9827D2-256A-4D2A-A5DD-50B8AA1E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006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Loop</a:t>
            </a:r>
          </a:p>
        </p:txBody>
      </p:sp>
      <p:sp>
        <p:nvSpPr>
          <p:cNvPr id="13" name="output">
            <a:extLst xmlns:a="http://schemas.openxmlformats.org/drawingml/2006/main">
              <a:ext uri="{FF2B5EF4-FFF2-40B4-BE49-F238E27FC236}">
                <a16:creationId xmlns:a16="http://schemas.microsoft.com/office/drawing/2014/main" id="{BAE23856-2E0D-4243-9347-FB9E7D4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00650"/>
            <a:ext cx="1181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cxnSp>
        <p:nvCxnSpPr>
          <p:cNvPr id="40" name=""/>
          <p:cNvCxnSpPr>
            <a:stCxn xmlns:a="http://schemas.openxmlformats.org/drawingml/2006/main" id="7" idx="0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5600700" y="2466975"/>
            <a:ext cx="2095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7" idx="0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810250" y="2466975"/>
            <a:ext cx="3238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715125" y="3248025"/>
            <a:ext cx="122872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715125" y="3771900"/>
            <a:ext cx="1228725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4171950"/>
            <a:ext cx="32385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486400" y="4171950"/>
            <a:ext cx="32385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4DADD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57550" y="2952750"/>
            <a:ext cx="1647825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0E8F88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57550" y="3771900"/>
            <a:ext cx="164782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57550" y="3771900"/>
            <a:ext cx="1647825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D89A16"/>
            </a:solidFill>
            <a:prstDash val="solid"/>
            <a:tailEnd type="arrow" w="sm" len="sm"/>
          </a:ln>
        </p:spPr>
      </p:cxnSp>
      <p:sp>
        <p:nvSpPr>
          <p:cNvPr id="23" name="goal1">
            <a:extLst xmlns:a="http://schemas.openxmlformats.org/drawingml/2006/main">
              <a:ext uri="{FF2B5EF4-FFF2-40B4-BE49-F238E27FC236}">
                <a16:creationId xmlns:a16="http://schemas.microsoft.com/office/drawing/2014/main" id="{8FA79DDA-E799-4BDD-B593-08CDC7EF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1257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2383">
            <a:solidFill>
              <a:srgbClr val="0E8F8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checkable</a:t>
            </a:r>
          </a:p>
        </p:txBody>
      </p:sp>
      <p:sp>
        <p:nvSpPr>
          <p:cNvPr id="24" name="goal2">
            <a:extLst xmlns:a="http://schemas.openxmlformats.org/drawingml/2006/main">
              <a:ext uri="{FF2B5EF4-FFF2-40B4-BE49-F238E27FC236}">
                <a16:creationId xmlns:a16="http://schemas.microsoft.com/office/drawing/2014/main" id="{BEC6BF9A-D79D-472A-9FE8-091FF3B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4668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2383">
            <a:solidFill>
              <a:srgbClr val="3446A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reproducible</a:t>
            </a:r>
          </a:p>
        </p:txBody>
      </p:sp>
      <p:sp>
        <p:nvSpPr>
          <p:cNvPr id="25" name="goal3">
            <a:extLst xmlns:a="http://schemas.openxmlformats.org/drawingml/2006/main">
              <a:ext uri="{FF2B5EF4-FFF2-40B4-BE49-F238E27FC236}">
                <a16:creationId xmlns:a16="http://schemas.microsoft.com/office/drawing/2014/main" id="{AEDFA80B-0B37-42F0-9EFF-057A2752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4668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C6670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maintainable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9EC5DA74-F093-4889-897D-9A188C9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3/7</a:t>
            </a:r>
          </a:p>
        </p:txBody>
      </p:sp>
    </p:spTree>
    <p:extLst>
      <p:ext uri="{BB962C8B-B14F-4D97-AF65-F5344CB8AC3E}">
        <p14:creationId xmlns:p14="http://schemas.microsoft.com/office/powerpoint/2010/main" val="1753884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DC8114B-7D95-4883-9B45-24426077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THREE-DAY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835DB3-1A9A-4148-A2C5-6DB661B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三天課程會從操作走到可交付 workflow</a:t>
            </a:r>
          </a:p>
        </p:txBody>
      </p:sp>
      <p:sp>
        <p:nvSpPr>
          <p:cNvPr id="3" name="Day 1-head">
            <a:extLst xmlns:a="http://schemas.openxmlformats.org/drawingml/2006/main">
              <a:ext uri="{FF2B5EF4-FFF2-40B4-BE49-F238E27FC236}">
                <a16:creationId xmlns:a16="http://schemas.microsoft.com/office/drawing/2014/main" id="{AB4CAA5A-149A-49CD-9F08-76696868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Day 1</a:t>
            </a:r>
          </a:p>
          <a:p xmlns:a="http://schemas.openxmlformats.org/drawingml/2006/main">
            <a:pPr algn="ctr"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Foundations</a:t>
            </a:r>
          </a:p>
        </p:txBody>
      </p:sp>
      <p:sp>
        <p:nvSpPr>
          <p:cNvPr id="4" name="Day 1-list">
            <a:extLst xmlns:a="http://schemas.openxmlformats.org/drawingml/2006/main">
              <a:ext uri="{FF2B5EF4-FFF2-40B4-BE49-F238E27FC236}">
                <a16:creationId xmlns:a16="http://schemas.microsoft.com/office/drawing/2014/main" id="{48B535C6-B596-4A76-92A6-5264D4B1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209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basics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agent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checking</a:t>
            </a:r>
          </a:p>
        </p:txBody>
      </p:sp>
      <p:sp>
        <p:nvSpPr>
          <p:cNvPr id="5" name="Day 1-bar">
            <a:extLst xmlns:a="http://schemas.openxmlformats.org/drawingml/2006/main">
              <a:ext uri="{FF2B5EF4-FFF2-40B4-BE49-F238E27FC236}">
                <a16:creationId xmlns:a16="http://schemas.microsoft.com/office/drawing/2014/main" id="{07A9A4A2-8EC2-4528-A596-5C2FBF0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8"/>
          </a:solidFill>
          <a:ln xmlns:a="http://schemas.openxmlformats.org/drawingml/2006/main" w="0">
            <a:solidFill>
              <a:srgbClr val="0E8F88"/>
            </a:solidFill>
            <a:prstDash val="solid"/>
          </a:ln>
        </p:spPr>
      </p:sp>
      <p:sp>
        <p:nvSpPr>
          <p:cNvPr id="6" name="Day 2-head">
            <a:extLst xmlns:a="http://schemas.openxmlformats.org/drawingml/2006/main">
              <a:ext uri="{FF2B5EF4-FFF2-40B4-BE49-F238E27FC236}">
                <a16:creationId xmlns:a16="http://schemas.microsoft.com/office/drawing/2014/main" id="{CCAC29A3-9C87-4DD8-A55C-07E445D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Day 2</a:t>
            </a:r>
          </a:p>
          <a:p xmlns:a="http://schemas.openxmlformats.org/drawingml/2006/main"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Engineering</a:t>
            </a:r>
          </a:p>
        </p:txBody>
      </p:sp>
      <p:sp>
        <p:nvSpPr>
          <p:cNvPr id="7" name="Day 2-list">
            <a:extLst xmlns:a="http://schemas.openxmlformats.org/drawingml/2006/main">
              <a:ext uri="{FF2B5EF4-FFF2-40B4-BE49-F238E27FC236}">
                <a16:creationId xmlns:a16="http://schemas.microsoft.com/office/drawing/2014/main" id="{C753ADE9-C5F1-4E9C-AE84-F5A9359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2209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/ CLI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Spec-driven dev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lab</a:t>
            </a:r>
          </a:p>
        </p:txBody>
      </p:sp>
      <p:sp>
        <p:nvSpPr>
          <p:cNvPr id="8" name="Day 2-bar">
            <a:extLst xmlns:a="http://schemas.openxmlformats.org/drawingml/2006/main">
              <a:ext uri="{FF2B5EF4-FFF2-40B4-BE49-F238E27FC236}">
                <a16:creationId xmlns:a16="http://schemas.microsoft.com/office/drawing/2014/main" id="{001DC2CE-C8EE-40D1-B675-FB998C9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A8"/>
          </a:solidFill>
          <a:ln xmlns:a="http://schemas.openxmlformats.org/drawingml/2006/main" w="0">
            <a:solidFill>
              <a:srgbClr val="3446A8"/>
            </a:solidFill>
            <a:prstDash val="solid"/>
          </a:ln>
        </p:spPr>
      </p:sp>
      <p:sp>
        <p:nvSpPr>
          <p:cNvPr id="9" name="Day 3-head">
            <a:extLst xmlns:a="http://schemas.openxmlformats.org/drawingml/2006/main">
              <a:ext uri="{FF2B5EF4-FFF2-40B4-BE49-F238E27FC236}">
                <a16:creationId xmlns:a16="http://schemas.microsoft.com/office/drawing/2014/main" id="{F961BEFC-8A70-4D27-B4CA-2119C80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Day 3</a:t>
            </a:r>
          </a:p>
          <a:p xmlns:a="http://schemas.openxmlformats.org/drawingml/2006/main">
            <a:pPr algn="ctr"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Integration</a:t>
            </a:r>
          </a:p>
        </p:txBody>
      </p:sp>
      <p:sp>
        <p:nvSpPr>
          <p:cNvPr id="10" name="Day 3-list">
            <a:extLst xmlns:a="http://schemas.openxmlformats.org/drawingml/2006/main">
              <a:ext uri="{FF2B5EF4-FFF2-40B4-BE49-F238E27FC236}">
                <a16:creationId xmlns:a16="http://schemas.microsoft.com/office/drawing/2014/main" id="{06D4AD55-A7F3-4934-A1BA-FB67269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209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Hackathon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Reproducibility</a:t>
            </a:r>
          </a:p>
          <a:p xmlns:a="http://schemas.openxmlformats.org/drawingml/2006/main"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</a:t>
            </a:r>
          </a:p>
        </p:txBody>
      </p:sp>
      <p:sp>
        <p:nvSpPr>
          <p:cNvPr id="11" name="Day 3-bar">
            <a:extLst xmlns:a="http://schemas.openxmlformats.org/drawingml/2006/main">
              <a:ext uri="{FF2B5EF4-FFF2-40B4-BE49-F238E27FC236}">
                <a16:creationId xmlns:a16="http://schemas.microsoft.com/office/drawing/2014/main" id="{7DFE8282-6626-4DD1-9472-62A2B65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16"/>
          </a:solidFill>
          <a:ln xmlns:a="http://schemas.openxmlformats.org/drawingml/2006/main" w="0">
            <a:solidFill>
              <a:srgbClr val="D89A16"/>
            </a:solidFill>
            <a:prstDash val="solid"/>
          </a:ln>
        </p:spPr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A2A725CE-ABFF-414F-92A2-A010B0DB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52625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roadmap-note">
            <a:extLst xmlns:a="http://schemas.openxmlformats.org/drawingml/2006/main">
              <a:ext uri="{FF2B5EF4-FFF2-40B4-BE49-F238E27FC236}">
                <a16:creationId xmlns:a16="http://schemas.microsoft.com/office/drawing/2014/main" id="{89ED2DB2-B4D1-42E8-9ABE-5711184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每一天都從概念進到可執行流程，最後整合成 biomedical agent workflow。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606D863-B4F1-4373-9FBC-FBB917B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4/7</a:t>
            </a:r>
          </a:p>
        </p:txBody>
      </p:sp>
    </p:spTree>
    <p:extLst>
      <p:ext uri="{BB962C8B-B14F-4D97-AF65-F5344CB8AC3E}">
        <p14:creationId xmlns:p14="http://schemas.microsoft.com/office/powerpoint/2010/main" val="926195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BEA845-F44D-4C61-B957-1183C787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HANDS-ON 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AF54AB-C015-4E33-A122-9C2D490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你會把 biomedical task 拆成 agent 可以執行的流程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0453939-6524-4B20-97EA-821AE7B1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Frame</a:t>
            </a:r>
          </a:p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輸入、限制、成功條件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A8179126-7572-4F76-A6FD-3CFE4DB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Retrieve</a:t>
            </a:r>
          </a:p>
          <a:p xmlns:a="http://schemas.openxmlformats.org/drawingml/2006/main">
            <a:pPr algn="ctr">
              <a:def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文獻與資料來源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27336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2E9EFEF9-60DC-473A-87E9-6EF4A14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Analyze</a:t>
            </a:r>
          </a:p>
          <a:p xmlns:a="http://schemas.openxmlformats.org/drawingml/2006/main"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摘要、比較、整理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81450" y="27336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8" name="step-3">
            <a:extLst xmlns:a="http://schemas.openxmlformats.org/drawingml/2006/main">
              <a:ext uri="{FF2B5EF4-FFF2-40B4-BE49-F238E27FC236}">
                <a16:creationId xmlns:a16="http://schemas.microsoft.com/office/drawing/2014/main" id="{01296323-3054-41B0-B376-7CC9D99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Build</a:t>
            </a:r>
          </a:p>
          <a:p xmlns:a="http://schemas.openxmlformats.org/drawingml/2006/main"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script 或小工具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34050" y="27336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0" name="step-4">
            <a:extLst xmlns:a="http://schemas.openxmlformats.org/drawingml/2006/main">
              <a:ext uri="{FF2B5EF4-FFF2-40B4-BE49-F238E27FC236}">
                <a16:creationId xmlns:a16="http://schemas.microsoft.com/office/drawing/2014/main" id="{F678B7FC-FE1E-4623-915C-EC786E96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Verify</a:t>
            </a:r>
          </a:p>
          <a:p xmlns:a="http://schemas.openxmlformats.org/drawingml/2006/main">
            <a:pPr algn="ctr">
              <a:def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來源、測試、人工檢查</a:t>
            </a:r>
          </a:p>
        </p:txBody>
      </p: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86650" y="27336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2" name="step-5">
            <a:extLst xmlns:a="http://schemas.openxmlformats.org/drawingml/2006/main">
              <a:ext uri="{FF2B5EF4-FFF2-40B4-BE49-F238E27FC236}">
                <a16:creationId xmlns:a16="http://schemas.microsoft.com/office/drawing/2014/main" id="{9473101F-E1B8-490B-B6D0-B0764605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Report</a:t>
            </a:r>
          </a:p>
          <a:p xmlns:a="http://schemas.openxmlformats.org/drawingml/2006/main">
            <a:pPr algn="ctr">
              <a:def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輸出與 demo</a:t>
            </a:r>
          </a:p>
        </p:txBody>
      </p:sp>
      <p:cxnSp>
        <p:nvCxnSpPr>
          <p:cNvPr id="2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39250" y="27336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4" name="practice-bullets">
            <a:extLst xmlns:a="http://schemas.openxmlformats.org/drawingml/2006/main">
              <a:ext uri="{FF2B5EF4-FFF2-40B4-BE49-F238E27FC236}">
                <a16:creationId xmlns:a16="http://schemas.microsoft.com/office/drawing/2014/main" id="{8405C655-F4E1-452E-8ECD-6C2443DA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838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使用 desktop agent 與 coding agent 完成部分自動化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為 workflow 加上 source trace、test case、run log、review point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練習讓 agent 失敗後修正，而不是只重問一次 prompt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59BBE4C-CD80-4883-9E5B-AB00FB1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5/7</a:t>
            </a:r>
          </a:p>
        </p:txBody>
      </p:sp>
    </p:spTree>
    <p:extLst>
      <p:ext uri="{BB962C8B-B14F-4D97-AF65-F5344CB8AC3E}">
        <p14:creationId xmlns:p14="http://schemas.microsoft.com/office/powerpoint/2010/main" val="952920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BC85640-862C-4874-B365-A7823D1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FINAL DELIVERABLE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9C5105-1899-4116-B874-69DE184C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最後交付的是可信 workflow，不是漂亮答案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1C69073-BF96-4D4A-BCFF-E277BDD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 biomedical AI agent workflow demo，至少包含：</a:t>
            </a:r>
          </a:p>
        </p:txBody>
      </p:sp>
      <p:sp>
        <p:nvSpPr>
          <p:cNvPr id="4" name="deliverable-list">
            <a:extLst xmlns:a="http://schemas.openxmlformats.org/drawingml/2006/main">
              <a:ext uri="{FF2B5EF4-FFF2-40B4-BE49-F238E27FC236}">
                <a16:creationId xmlns:a16="http://schemas.microsoft.com/office/drawing/2014/main" id="{AF886ABB-E1A5-4C72-A53A-FCE0DA55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task specification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workflow 與工具使用說明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可追蹤的資料來源與執行紀錄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Evaluation criteria 或檢查方法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最終輸出：表格、分析、程式、報告或 demo</a:t>
            </a:r>
          </a:p>
        </p:txBody>
      </p:sp>
      <p:sp>
        <p:nvSpPr>
          <p:cNvPr id="5" name="stack-0">
            <a:extLst xmlns:a="http://schemas.openxmlformats.org/drawingml/2006/main">
              <a:ext uri="{FF2B5EF4-FFF2-40B4-BE49-F238E27FC236}">
                <a16:creationId xmlns:a16="http://schemas.microsoft.com/office/drawing/2014/main" id="{88A74977-5F8F-4E5D-9D60-18A2AB6D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3143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Research artifact</a:t>
            </a:r>
          </a:p>
        </p:txBody>
      </p:sp>
      <p:sp>
        <p:nvSpPr>
          <p:cNvPr id="6" name="stack-1">
            <a:extLst xmlns:a="http://schemas.openxmlformats.org/drawingml/2006/main">
              <a:ext uri="{FF2B5EF4-FFF2-40B4-BE49-F238E27FC236}">
                <a16:creationId xmlns:a16="http://schemas.microsoft.com/office/drawing/2014/main" id="{99AEED05-BB77-438D-80D2-D9550D4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333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Evaluation loop</a:t>
            </a:r>
          </a:p>
        </p:txBody>
      </p:sp>
      <p:sp>
        <p:nvSpPr>
          <p:cNvPr id="7" name="stack-2">
            <a:extLst xmlns:a="http://schemas.openxmlformats.org/drawingml/2006/main">
              <a:ext uri="{FF2B5EF4-FFF2-40B4-BE49-F238E27FC236}">
                <a16:creationId xmlns:a16="http://schemas.microsoft.com/office/drawing/2014/main" id="{597310A0-C4DC-4230-AF4A-44B64272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48000"/>
            <a:ext cx="2762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333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Agent harness</a:t>
            </a:r>
          </a:p>
        </p:txBody>
      </p:sp>
      <p:sp>
        <p:nvSpPr>
          <p:cNvPr id="8" name="stack-3">
            <a:extLst xmlns:a="http://schemas.openxmlformats.org/drawingml/2006/main">
              <a:ext uri="{FF2B5EF4-FFF2-40B4-BE49-F238E27FC236}">
                <a16:creationId xmlns:a16="http://schemas.microsoft.com/office/drawing/2014/main" id="{07EF8A12-6BCB-449A-9F4B-190459E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3380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Data / literature / code tools</a:t>
            </a:r>
          </a:p>
        </p:txBody>
      </p:sp>
      <p:sp>
        <p:nvSpPr>
          <p:cNvPr id="9" name="stack-4">
            <a:extLst xmlns:a="http://schemas.openxmlformats.org/drawingml/2006/main">
              <a:ext uri="{FF2B5EF4-FFF2-40B4-BE49-F238E27FC236}">
                <a16:creationId xmlns:a16="http://schemas.microsoft.com/office/drawing/2014/main" id="{0D749718-62FD-4D3B-A235-D89B1D3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Biomedical question</a:t>
            </a:r>
          </a:p>
        </p:txBody>
      </p:sp>
      <p:sp>
        <p:nvSpPr>
          <p:cNvPr id="10" name="score-note">
            <a:extLst xmlns:a="http://schemas.openxmlformats.org/drawingml/2006/main">
              <a:ext uri="{FF2B5EF4-FFF2-40B4-BE49-F238E27FC236}">
                <a16:creationId xmlns:a16="http://schemas.microsoft.com/office/drawing/2014/main" id="{E6AAA8F5-BF8E-4BD9-B23C-592AF27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評估重點：workflow 是否可信、可檢查、可重跑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585F8D3-27A3-4220-8767-1A659FDC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6/7</a:t>
            </a:r>
          </a:p>
        </p:txBody>
      </p:sp>
    </p:spTree>
    <p:extLst>
      <p:ext uri="{BB962C8B-B14F-4D97-AF65-F5344CB8AC3E}">
        <p14:creationId xmlns:p14="http://schemas.microsoft.com/office/powerpoint/2010/main" val="236858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ansition-title">
            <a:extLst xmlns:a="http://schemas.openxmlformats.org/drawingml/2006/main">
              <a:ext uri="{FF2B5EF4-FFF2-40B4-BE49-F238E27FC236}">
                <a16:creationId xmlns:a16="http://schemas.microsoft.com/office/drawing/2014/main" id="{EA0493DC-58C1-4ADC-9AAF-1D3CBE21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704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language models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research agents</a:t>
            </a:r>
          </a:p>
        </p:txBody>
      </p:sp>
      <p:sp>
        <p:nvSpPr>
          <p:cNvPr id="2" name="transition-subtitle">
            <a:extLst xmlns:a="http://schemas.openxmlformats.org/drawingml/2006/main">
              <a:ext uri="{FF2B5EF4-FFF2-40B4-BE49-F238E27FC236}">
                <a16:creationId xmlns:a16="http://schemas.microsoft.com/office/drawing/2014/main" id="{182343F4-13E0-4EF9-A57C-823A2089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909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DE4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4E8"/>
                </a:solidFill>
                <a:latin typeface="Aptos"/>
                <a:ea typeface="Aptos"/>
                <a:cs typeface="Aptos"/>
              </a:rPr>
              <a:t>Next: LLM basics for biomedical workflows</a:t>
            </a:r>
          </a:p>
        </p:txBody>
      </p:sp>
      <p:sp>
        <p:nvSpPr>
          <p:cNvPr id="3" name="mini-0">
            <a:extLst xmlns:a="http://schemas.openxmlformats.org/drawingml/2006/main">
              <a:ext uri="{FF2B5EF4-FFF2-40B4-BE49-F238E27FC236}">
                <a16:creationId xmlns:a16="http://schemas.microsoft.com/office/drawing/2014/main" id="{33444D59-A252-4D4E-80A0-6F3BAE3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13525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2383">
            <a:solidFill>
              <a:srgbClr val="0E8F8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4" name="mini-1">
            <a:extLst xmlns:a="http://schemas.openxmlformats.org/drawingml/2006/main">
              <a:ext uri="{FF2B5EF4-FFF2-40B4-BE49-F238E27FC236}">
                <a16:creationId xmlns:a16="http://schemas.microsoft.com/office/drawing/2014/main" id="{C2D297FF-74B8-44F4-BFCA-6D182211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48250"/>
            <a:ext cx="13525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12383">
            <a:solidFill>
              <a:srgbClr val="3446A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 basics</a:t>
            </a:r>
          </a:p>
        </p:txBody>
      </p:sp>
      <p:sp>
        <p:nvSpPr>
          <p:cNvPr id="5" name="mini-2">
            <a:extLst xmlns:a="http://schemas.openxmlformats.org/drawingml/2006/main">
              <a:ext uri="{FF2B5EF4-FFF2-40B4-BE49-F238E27FC236}">
                <a16:creationId xmlns:a16="http://schemas.microsoft.com/office/drawing/2014/main" id="{47FB0656-F6C2-4791-A6CC-609516E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48250"/>
            <a:ext cx="13525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2383">
            <a:solidFill>
              <a:srgbClr val="5C6670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workflow</a:t>
            </a:r>
          </a:p>
        </p:txBody>
      </p:sp>
      <p:sp>
        <p:nvSpPr>
          <p:cNvPr id="6" name="mini-3">
            <a:extLst xmlns:a="http://schemas.openxmlformats.org/drawingml/2006/main">
              <a:ext uri="{FF2B5EF4-FFF2-40B4-BE49-F238E27FC236}">
                <a16:creationId xmlns:a16="http://schemas.microsoft.com/office/drawing/2014/main" id="{91ADDAE9-9F2A-4EDB-B8AA-7512D234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48250"/>
            <a:ext cx="135255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12383">
            <a:solidFill>
              <a:srgbClr val="D89A16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Lab 1</a:t>
            </a:r>
          </a:p>
        </p:txBody>
      </p:sp>
      <p:sp>
        <p:nvSpPr>
          <p:cNvPr id="7" name="footer-dark">
            <a:extLst xmlns:a="http://schemas.openxmlformats.org/drawingml/2006/main">
              <a:ext uri="{FF2B5EF4-FFF2-40B4-BE49-F238E27FC236}">
                <a16:creationId xmlns:a16="http://schemas.microsoft.com/office/drawing/2014/main" id="{8884EB49-402A-49DD-A967-1C8B487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Course introduction  |  7/7</a:t>
            </a:r>
          </a:p>
        </p:txBody>
      </p:sp>
    </p:spTree>
    <p:extLst>
      <p:ext uri="{BB962C8B-B14F-4D97-AF65-F5344CB8AC3E}">
        <p14:creationId xmlns:p14="http://schemas.microsoft.com/office/powerpoint/2010/main" val="1481839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2026-07-01T14:48:01.1760000Z</dcterms:created>
  <dcterms:modified xsi:type="dcterms:W3CDTF">2026-07-01T14:48:01.1760000Z</dcterms:modified>
</coreProperties>
</file>