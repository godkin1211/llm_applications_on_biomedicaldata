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626170084947ff" /><Relationship Type="http://schemas.openxmlformats.org/officeDocument/2006/relationships/extended-properties" Target="/docProps/app.xml" Id="R21efe4881b53438f" /><Relationship Type="http://schemas.openxmlformats.org/officeDocument/2006/relationships/officeDocument" Target="/ppt/presentation.xml" Id="R4c0a429ead7044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35ab4218414bff"/>
  </p:sldMasterIdLst>
  <p:notesMasterIdLst>
    <p:notesMasterId xmlns:r="http://schemas.openxmlformats.org/officeDocument/2006/relationships" r:id="R7976c209f7244330"/>
  </p:notesMasterIdLst>
  <p:sldIdLst>
    <p:sldId xmlns:r="http://schemas.openxmlformats.org/officeDocument/2006/relationships" id="256" r:id="R4c3997a5e29a4e9f"/>
    <p:sldId xmlns:r="http://schemas.openxmlformats.org/officeDocument/2006/relationships" id="257" r:id="R55bd2b06a07749bd"/>
    <p:sldId xmlns:r="http://schemas.openxmlformats.org/officeDocument/2006/relationships" id="258" r:id="R633d13c04ad04daf"/>
    <p:sldId xmlns:r="http://schemas.openxmlformats.org/officeDocument/2006/relationships" id="259" r:id="R3ba431e49be34751"/>
    <p:sldId xmlns:r="http://schemas.openxmlformats.org/officeDocument/2006/relationships" id="260" r:id="R51a239bf6c4349ee"/>
    <p:sldId xmlns:r="http://schemas.openxmlformats.org/officeDocument/2006/relationships" id="261" r:id="Rac2b87079c9740ce"/>
    <p:sldId xmlns:r="http://schemas.openxmlformats.org/officeDocument/2006/relationships" id="262" r:id="Re7ce50e075ea4a16"/>
    <p:sldId xmlns:r="http://schemas.openxmlformats.org/officeDocument/2006/relationships" id="263" r:id="R324e40c77dad4ad3"/>
    <p:sldId xmlns:r="http://schemas.openxmlformats.org/officeDocument/2006/relationships" id="264" r:id="R7eed6f4af5bb4a13"/>
    <p:sldId xmlns:r="http://schemas.openxmlformats.org/officeDocument/2006/relationships" id="265" r:id="R81ddf5a6c20b49d7"/>
    <p:sldId xmlns:r="http://schemas.openxmlformats.org/officeDocument/2006/relationships" id="266" r:id="Rf287e0976c1f4508"/>
    <p:sldId xmlns:r="http://schemas.openxmlformats.org/officeDocument/2006/relationships" id="267" r:id="R9626ded3b9c64d22"/>
    <p:sldId xmlns:r="http://schemas.openxmlformats.org/officeDocument/2006/relationships" id="268" r:id="R558af1825bfe4615"/>
    <p:sldId xmlns:r="http://schemas.openxmlformats.org/officeDocument/2006/relationships" id="269" r:id="Rabe47304e2c54a41"/>
    <p:sldId xmlns:r="http://schemas.openxmlformats.org/officeDocument/2006/relationships" id="270" r:id="Rd29d72e794c04ffb"/>
    <p:sldId xmlns:r="http://schemas.openxmlformats.org/officeDocument/2006/relationships" id="271" r:id="R09c76957444d4317"/>
    <p:sldId xmlns:r="http://schemas.openxmlformats.org/officeDocument/2006/relationships" id="272" r:id="Rabf607393dc14165"/>
    <p:sldId xmlns:r="http://schemas.openxmlformats.org/officeDocument/2006/relationships" id="273" r:id="R82664156db6a4229"/>
    <p:sldId xmlns:r="http://schemas.openxmlformats.org/officeDocument/2006/relationships" id="274" r:id="R2d837669774f4169"/>
    <p:sldId xmlns:r="http://schemas.openxmlformats.org/officeDocument/2006/relationships" id="275" r:id="Rdf0598b0db0a416f"/>
    <p:sldId xmlns:r="http://schemas.openxmlformats.org/officeDocument/2006/relationships" id="276" r:id="Rf7bd322d5c3e4993"/>
    <p:sldId xmlns:r="http://schemas.openxmlformats.org/officeDocument/2006/relationships" id="277" r:id="R89aeffa4d87e4249"/>
    <p:sldId xmlns:r="http://schemas.openxmlformats.org/officeDocument/2006/relationships" id="278" r:id="Rdea01e8350dd49cc"/>
    <p:sldId xmlns:r="http://schemas.openxmlformats.org/officeDocument/2006/relationships" id="279" r:id="R1ad1772c325740c1"/>
    <p:sldId xmlns:r="http://schemas.openxmlformats.org/officeDocument/2006/relationships" id="280" r:id="R69dd546310b14a36"/>
    <p:sldId xmlns:r="http://schemas.openxmlformats.org/officeDocument/2006/relationships" id="281" r:id="Rc9d3436a5327460d"/>
    <p:sldId xmlns:r="http://schemas.openxmlformats.org/officeDocument/2006/relationships" id="282" r:id="R4efbd29b42714890"/>
    <p:sldId xmlns:r="http://schemas.openxmlformats.org/officeDocument/2006/relationships" id="283" r:id="Rf52094e7ce4a4b76"/>
    <p:sldId xmlns:r="http://schemas.openxmlformats.org/officeDocument/2006/relationships" id="284" r:id="Rc7026176a27b490d"/>
    <p:sldId xmlns:r="http://schemas.openxmlformats.org/officeDocument/2006/relationships" id="285" r:id="Rd106fee7b5ed4265"/>
    <p:sldId xmlns:r="http://schemas.openxmlformats.org/officeDocument/2006/relationships" id="286" r:id="Rf361d85a8ab94496"/>
    <p:sldId xmlns:r="http://schemas.openxmlformats.org/officeDocument/2006/relationships" id="287" r:id="Rfb5e0c91bcc14e00"/>
    <p:sldId xmlns:r="http://schemas.openxmlformats.org/officeDocument/2006/relationships" id="288" r:id="Red080532456347d8"/>
    <p:sldId xmlns:r="http://schemas.openxmlformats.org/officeDocument/2006/relationships" id="289" r:id="Re6d79c9658604662"/>
    <p:sldId xmlns:r="http://schemas.openxmlformats.org/officeDocument/2006/relationships" id="290" r:id="Red4a77fba7cd4ff1"/>
    <p:sldId xmlns:r="http://schemas.openxmlformats.org/officeDocument/2006/relationships" id="291" r:id="R1638af5a4e064121"/>
    <p:sldId xmlns:r="http://schemas.openxmlformats.org/officeDocument/2006/relationships" id="292" r:id="Re18b89bb945f4032"/>
    <p:sldId xmlns:r="http://schemas.openxmlformats.org/officeDocument/2006/relationships" id="293" r:id="R0a8544e88276422a"/>
    <p:sldId xmlns:r="http://schemas.openxmlformats.org/officeDocument/2006/relationships" id="294" r:id="Rda205518e2694b5d"/>
    <p:sldId xmlns:r="http://schemas.openxmlformats.org/officeDocument/2006/relationships" id="295" r:id="R495e8358c680455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e30653cae240a2" /><Relationship Type="http://schemas.openxmlformats.org/officeDocument/2006/relationships/slideMaster" Target="/ppt/slideMasters/slideMaster1.xml" Id="R7d35ab4218414bff" /><Relationship Type="http://schemas.openxmlformats.org/officeDocument/2006/relationships/notesMaster" Target="/ppt/notesMasters/notesMaster1.xml" Id="R7976c209f7244330" /><Relationship Type="http://schemas.openxmlformats.org/officeDocument/2006/relationships/presProps" Target="/ppt/presProps.xml" Id="R02415a23ff2944c1" /><Relationship Type="http://schemas.openxmlformats.org/officeDocument/2006/relationships/tableStyles" Target="/ppt/tableStyles.xml" Id="R19530185015f41c7" /><Relationship Type="http://schemas.openxmlformats.org/officeDocument/2006/relationships/slide" Target="/ppt/slides/slide1.xml" Id="R4c3997a5e29a4e9f" /><Relationship Type="http://schemas.openxmlformats.org/officeDocument/2006/relationships/slide" Target="/ppt/slides/slide2.xml" Id="R55bd2b06a07749bd" /><Relationship Type="http://schemas.openxmlformats.org/officeDocument/2006/relationships/slide" Target="/ppt/slides/slide3.xml" Id="R633d13c04ad04daf" /><Relationship Type="http://schemas.openxmlformats.org/officeDocument/2006/relationships/slide" Target="/ppt/slides/slide4.xml" Id="R3ba431e49be34751" /><Relationship Type="http://schemas.openxmlformats.org/officeDocument/2006/relationships/slide" Target="/ppt/slides/slide5.xml" Id="R51a239bf6c4349ee" /><Relationship Type="http://schemas.openxmlformats.org/officeDocument/2006/relationships/slide" Target="/ppt/slides/slide6.xml" Id="Rac2b87079c9740ce" /><Relationship Type="http://schemas.openxmlformats.org/officeDocument/2006/relationships/slide" Target="/ppt/slides/slide7.xml" Id="Re7ce50e075ea4a16" /><Relationship Type="http://schemas.openxmlformats.org/officeDocument/2006/relationships/slide" Target="/ppt/slides/slide8.xml" Id="R324e40c77dad4ad3" /><Relationship Type="http://schemas.openxmlformats.org/officeDocument/2006/relationships/slide" Target="/ppt/slides/slide9.xml" Id="R7eed6f4af5bb4a13" /><Relationship Type="http://schemas.openxmlformats.org/officeDocument/2006/relationships/slide" Target="/ppt/slides/slide10.xml" Id="R81ddf5a6c20b49d7" /><Relationship Type="http://schemas.openxmlformats.org/officeDocument/2006/relationships/slide" Target="/ppt/slides/slide11.xml" Id="Rf287e0976c1f4508" /><Relationship Type="http://schemas.openxmlformats.org/officeDocument/2006/relationships/slide" Target="/ppt/slides/slide12.xml" Id="R9626ded3b9c64d22" /><Relationship Type="http://schemas.openxmlformats.org/officeDocument/2006/relationships/slide" Target="/ppt/slides/slide13.xml" Id="R558af1825bfe4615" /><Relationship Type="http://schemas.openxmlformats.org/officeDocument/2006/relationships/slide" Target="/ppt/slides/slide14.xml" Id="Rabe47304e2c54a41" /><Relationship Type="http://schemas.openxmlformats.org/officeDocument/2006/relationships/slide" Target="/ppt/slides/slide15.xml" Id="Rd29d72e794c04ffb" /><Relationship Type="http://schemas.openxmlformats.org/officeDocument/2006/relationships/slide" Target="/ppt/slides/slide16.xml" Id="R09c76957444d4317" /><Relationship Type="http://schemas.openxmlformats.org/officeDocument/2006/relationships/slide" Target="/ppt/slides/slide17.xml" Id="Rabf607393dc14165" /><Relationship Type="http://schemas.openxmlformats.org/officeDocument/2006/relationships/slide" Target="/ppt/slides/slide18.xml" Id="R82664156db6a4229" /><Relationship Type="http://schemas.openxmlformats.org/officeDocument/2006/relationships/slide" Target="/ppt/slides/slide19.xml" Id="R2d837669774f4169" /><Relationship Type="http://schemas.openxmlformats.org/officeDocument/2006/relationships/slide" Target="/ppt/slides/slide20.xml" Id="Rdf0598b0db0a416f" /><Relationship Type="http://schemas.openxmlformats.org/officeDocument/2006/relationships/slide" Target="/ppt/slides/slide21.xml" Id="Rf7bd322d5c3e4993" /><Relationship Type="http://schemas.openxmlformats.org/officeDocument/2006/relationships/slide" Target="/ppt/slides/slide22.xml" Id="R89aeffa4d87e4249" /><Relationship Type="http://schemas.openxmlformats.org/officeDocument/2006/relationships/slide" Target="/ppt/slides/slide23.xml" Id="Rdea01e8350dd49cc" /><Relationship Type="http://schemas.openxmlformats.org/officeDocument/2006/relationships/slide" Target="/ppt/slides/slide24.xml" Id="R1ad1772c325740c1" /><Relationship Type="http://schemas.openxmlformats.org/officeDocument/2006/relationships/slide" Target="/ppt/slides/slide25.xml" Id="R69dd546310b14a36" /><Relationship Type="http://schemas.openxmlformats.org/officeDocument/2006/relationships/slide" Target="/ppt/slides/slide26.xml" Id="Rc9d3436a5327460d" /><Relationship Type="http://schemas.openxmlformats.org/officeDocument/2006/relationships/slide" Target="/ppt/slides/slide27.xml" Id="R4efbd29b42714890" /><Relationship Type="http://schemas.openxmlformats.org/officeDocument/2006/relationships/slide" Target="/ppt/slides/slide28.xml" Id="Rf52094e7ce4a4b76" /><Relationship Type="http://schemas.openxmlformats.org/officeDocument/2006/relationships/slide" Target="/ppt/slides/slide29.xml" Id="Rc7026176a27b490d" /><Relationship Type="http://schemas.openxmlformats.org/officeDocument/2006/relationships/slide" Target="/ppt/slides/slide30.xml" Id="Rd106fee7b5ed4265" /><Relationship Type="http://schemas.openxmlformats.org/officeDocument/2006/relationships/slide" Target="/ppt/slides/slide31.xml" Id="Rf361d85a8ab94496" /><Relationship Type="http://schemas.openxmlformats.org/officeDocument/2006/relationships/slide" Target="/ppt/slides/slide32.xml" Id="Rfb5e0c91bcc14e00" /><Relationship Type="http://schemas.openxmlformats.org/officeDocument/2006/relationships/slide" Target="/ppt/slides/slide33.xml" Id="Red080532456347d8" /><Relationship Type="http://schemas.openxmlformats.org/officeDocument/2006/relationships/slide" Target="/ppt/slides/slide34.xml" Id="Re6d79c9658604662" /><Relationship Type="http://schemas.openxmlformats.org/officeDocument/2006/relationships/slide" Target="/ppt/slides/slide35.xml" Id="Red4a77fba7cd4ff1" /><Relationship Type="http://schemas.openxmlformats.org/officeDocument/2006/relationships/slide" Target="/ppt/slides/slide36.xml" Id="R1638af5a4e064121" /><Relationship Type="http://schemas.openxmlformats.org/officeDocument/2006/relationships/slide" Target="/ppt/slides/slide37.xml" Id="Re18b89bb945f4032" /><Relationship Type="http://schemas.openxmlformats.org/officeDocument/2006/relationships/slide" Target="/ppt/slides/slide38.xml" Id="R0a8544e88276422a" /><Relationship Type="http://schemas.openxmlformats.org/officeDocument/2006/relationships/slide" Target="/ppt/slides/slide39.xml" Id="Rda205518e2694b5d" /><Relationship Type="http://schemas.openxmlformats.org/officeDocument/2006/relationships/slide" Target="/ppt/slides/slide40.xml" Id="R495e8358c68045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8985a1309448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e086ac80fc48b2" /><Relationship Type="http://schemas.openxmlformats.org/officeDocument/2006/relationships/notesMaster" Target="/ppt/notesMasters/notesMaster1.xml" Id="Rd313b8cc7fe9414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f31de581b74b8b" /><Relationship Type="http://schemas.openxmlformats.org/officeDocument/2006/relationships/notesMaster" Target="/ppt/notesMasters/notesMaster1.xml" Id="Rcec9b12feaad4f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80f0a0cd56422d" /><Relationship Type="http://schemas.openxmlformats.org/officeDocument/2006/relationships/notesMaster" Target="/ppt/notesMasters/notesMaster1.xml" Id="R8a48381021804a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feae92f21e4713" /><Relationship Type="http://schemas.openxmlformats.org/officeDocument/2006/relationships/notesMaster" Target="/ppt/notesMasters/notesMaster1.xml" Id="R42c71d1eb725472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c7cbf9c6764607" /><Relationship Type="http://schemas.openxmlformats.org/officeDocument/2006/relationships/notesMaster" Target="/ppt/notesMasters/notesMaster1.xml" Id="Rb220f7bc488d42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eb59f9fa07842a6" /><Relationship Type="http://schemas.openxmlformats.org/officeDocument/2006/relationships/notesMaster" Target="/ppt/notesMasters/notesMaster1.xml" Id="Ra1eb135b86b842d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f4f0ca47c6f4f9d" /><Relationship Type="http://schemas.openxmlformats.org/officeDocument/2006/relationships/notesMaster" Target="/ppt/notesMasters/notesMaster1.xml" Id="Rce98474dc62a4e4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23a3e8753c4160" /><Relationship Type="http://schemas.openxmlformats.org/officeDocument/2006/relationships/notesMaster" Target="/ppt/notesMasters/notesMaster1.xml" Id="R0c07d776d4ef4a4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61cca35769340b5" /><Relationship Type="http://schemas.openxmlformats.org/officeDocument/2006/relationships/notesMaster" Target="/ppt/notesMasters/notesMaster1.xml" Id="R1ceecfd5a4da44c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763088dee974de4" /><Relationship Type="http://schemas.openxmlformats.org/officeDocument/2006/relationships/notesMaster" Target="/ppt/notesMasters/notesMaster1.xml" Id="Raba0197fcf684e4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521085b170144c6" /><Relationship Type="http://schemas.openxmlformats.org/officeDocument/2006/relationships/notesMaster" Target="/ppt/notesMasters/notesMaster1.xml" Id="R5a1ac531c7ba471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b3be4ddeba54735" /><Relationship Type="http://schemas.openxmlformats.org/officeDocument/2006/relationships/notesMaster" Target="/ppt/notesMasters/notesMaster1.xml" Id="R23568682a1ed468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8b65f703d3a4172" /><Relationship Type="http://schemas.openxmlformats.org/officeDocument/2006/relationships/notesMaster" Target="/ppt/notesMasters/notesMaster1.xml" Id="Rd45f66d205fd4c0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44dd10d50e44168" /><Relationship Type="http://schemas.openxmlformats.org/officeDocument/2006/relationships/notesMaster" Target="/ppt/notesMasters/notesMaster1.xml" Id="Rb0fffe5b96bb410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82ab6564e104ad9" /><Relationship Type="http://schemas.openxmlformats.org/officeDocument/2006/relationships/notesMaster" Target="/ppt/notesMasters/notesMaster1.xml" Id="Rc738bda929544c6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d98593d55ce4076" /><Relationship Type="http://schemas.openxmlformats.org/officeDocument/2006/relationships/notesMaster" Target="/ppt/notesMasters/notesMaster1.xml" Id="R7b2972978b51433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3ea75a9441b448b" /><Relationship Type="http://schemas.openxmlformats.org/officeDocument/2006/relationships/notesMaster" Target="/ppt/notesMasters/notesMaster1.xml" Id="R6a1cabfe0f95444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80d009af4f6495b" /><Relationship Type="http://schemas.openxmlformats.org/officeDocument/2006/relationships/notesMaster" Target="/ppt/notesMasters/notesMaster1.xml" Id="Re4b41be5d950430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72c31f4e93446cc" /><Relationship Type="http://schemas.openxmlformats.org/officeDocument/2006/relationships/notesMaster" Target="/ppt/notesMasters/notesMaster1.xml" Id="Rb6fd493501b94f5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c2a3fc25af140ca" /><Relationship Type="http://schemas.openxmlformats.org/officeDocument/2006/relationships/notesMaster" Target="/ppt/notesMasters/notesMaster1.xml" Id="Rffddee33941c4d3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050591175d94315" /><Relationship Type="http://schemas.openxmlformats.org/officeDocument/2006/relationships/notesMaster" Target="/ppt/notesMasters/notesMaster1.xml" Id="R5910144e87724bd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8cbf59cb0e142ef" /><Relationship Type="http://schemas.openxmlformats.org/officeDocument/2006/relationships/notesMaster" Target="/ppt/notesMasters/notesMaster1.xml" Id="R54e231c613b34ba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1b3baf577ce4e1a" /><Relationship Type="http://schemas.openxmlformats.org/officeDocument/2006/relationships/notesMaster" Target="/ppt/notesMasters/notesMaster1.xml" Id="Rf77bee923de741a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bef538d369a4782" /><Relationship Type="http://schemas.openxmlformats.org/officeDocument/2006/relationships/notesMaster" Target="/ppt/notesMasters/notesMaster1.xml" Id="R579ee9ad50ff4b2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11e73131a1d4dda" /><Relationship Type="http://schemas.openxmlformats.org/officeDocument/2006/relationships/notesMaster" Target="/ppt/notesMasters/notesMaster1.xml" Id="R5f56397f00b749f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c21233dd6544cdb" /><Relationship Type="http://schemas.openxmlformats.org/officeDocument/2006/relationships/notesMaster" Target="/ppt/notesMasters/notesMaster1.xml" Id="R0c9181d1df6a4fb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51464717b354dd1" /><Relationship Type="http://schemas.openxmlformats.org/officeDocument/2006/relationships/notesMaster" Target="/ppt/notesMasters/notesMaster1.xml" Id="R1000a4640a244f3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9d06f4914e34404" /><Relationship Type="http://schemas.openxmlformats.org/officeDocument/2006/relationships/notesMaster" Target="/ppt/notesMasters/notesMaster1.xml" Id="R6f025449e71646c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49963e8af82456a" /><Relationship Type="http://schemas.openxmlformats.org/officeDocument/2006/relationships/notesMaster" Target="/ppt/notesMasters/notesMaster1.xml" Id="R778f87bc2f524ab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fc194e40f054a80" /><Relationship Type="http://schemas.openxmlformats.org/officeDocument/2006/relationships/notesMaster" Target="/ppt/notesMasters/notesMaster1.xml" Id="R6084dde1a39d4a5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c61005b37104c7a" /><Relationship Type="http://schemas.openxmlformats.org/officeDocument/2006/relationships/notesMaster" Target="/ppt/notesMasters/notesMaster1.xml" Id="R2997eaaecb5849f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38dfb6e526b4854" /><Relationship Type="http://schemas.openxmlformats.org/officeDocument/2006/relationships/notesMaster" Target="/ppt/notesMasters/notesMaster1.xml" Id="Rad7e22eebc79497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8527a1feba347e3" /><Relationship Type="http://schemas.openxmlformats.org/officeDocument/2006/relationships/notesMaster" Target="/ppt/notesMasters/notesMaster1.xml" Id="R8dd77103eb234ea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70e167006de54a1f" /><Relationship Type="http://schemas.openxmlformats.org/officeDocument/2006/relationships/notesMaster" Target="/ppt/notesMasters/notesMaster1.xml" Id="R62c293e9e85a42a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b49b69becef4075" /><Relationship Type="http://schemas.openxmlformats.org/officeDocument/2006/relationships/notesMaster" Target="/ppt/notesMasters/notesMaster1.xml" Id="Rea57d8c03843423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10f7902d91f4c7a" /><Relationship Type="http://schemas.openxmlformats.org/officeDocument/2006/relationships/notesMaster" Target="/ppt/notesMasters/notesMaster1.xml" Id="Reda9ec4bc1d449e1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82f749f85d5d49cb" /><Relationship Type="http://schemas.openxmlformats.org/officeDocument/2006/relationships/notesMaster" Target="/ppt/notesMasters/notesMaster1.xml" Id="R256bf1686c6f40ea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316a9db7303b4589" /><Relationship Type="http://schemas.openxmlformats.org/officeDocument/2006/relationships/notesMaster" Target="/ppt/notesMasters/notesMaster1.xml" Id="Rea2a87d7972446f3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2d7247fc77f04c52" /><Relationship Type="http://schemas.openxmlformats.org/officeDocument/2006/relationships/notesMaster" Target="/ppt/notesMasters/notesMaster1.xml" Id="R04890add13d24dcc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622c6eb42b5f4bfb" /><Relationship Type="http://schemas.openxmlformats.org/officeDocument/2006/relationships/notesMaster" Target="/ppt/notesMasters/notesMaster1.xml" Id="R9af3345446bb41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開場先用一句話定義：模型負責回答，harness 負責讓回答可控、可查、可停。學生不用先懂架構圖，只要先懂為什麼同一個模型在不同工具環境下會差很多。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這是一堂概念加輕量實作。不要一開始就講 MCP 細節，先讓學生知道 harness 是 agent 的工作場所、工具箱、行車紀錄器和煞車系統。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同一顆模型，換一個 harness，行為會完全不同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重點：模型本身只會根據上下文產生下一步 Harness 決定它看得到什麼、能做什麼、做完怎麼被檢查 生醫任務的核心不是讓 AI 很會講，是讓它不亂碰、不亂編、不亂下結論 一句話記起來：Model answers Harness controls Human decides when stakes are high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Chatbot 直覺: 問一句，回一句 主要依賴 prompt 錯了通常只重問 Agent harness 直覺: 有工具、有狀態、有紀錄 能限制資料與動作 錯了可以追查哪一步壞掉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學生常以為 agent 就是把 prompt 變長。這張要打掉直覺：agent 是反覆規劃、行動、觀察、驗證的 loop。Harness 是 loop 周圍的限制和基礎設施。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學生要先看懂 agent 外面那一圈，不然後面 tools、MCP、memory 都會像咒語。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Harness 至少包含三層：環境、規則、驗證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工作環境: 檔案、資料庫、網路、API、terminal、瀏覽器。這些決定 agent 能碰到世界的哪一部分。</a:t>
            </a:r>
          </a:p>
          <a:p xmlns:a="http://schemas.openxmlformats.org/drawingml/2006/main">
            <a:r>
              <a:t>行為規則: system prompt、tool schema、permission、allowlist、memory policy。這些是方向盤和煞車。</a:t>
            </a:r>
          </a:p>
          <a:p xmlns:a="http://schemas.openxmlformats.org/drawingml/2006/main">
            <a:r>
              <a:t>驗證設施: logs、state、validators、citation check、human review。這些讓錯誤可以被發現。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模型很聰明，但它沒有天生的工作場所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重點：它不知道你的檔案系統，除非 harness 把檔案內容交給它 它不能真的查資料庫，除非 harness 提供可呼叫工具 它不會自動記得任務歷史，除非 harness 管理 state 或 memory 教學梗：模型像很會考試的人 Harness 像實驗室 SOP 沒有 SOP 的天才很可怕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把名詞翻成學生聽得懂的人話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Tools / agent 可以呼叫的動作 / PubMed search、HGNC lookup、CSV validator</a:t>
            </a:r>
          </a:p>
          <a:p xmlns:a="http://schemas.openxmlformats.org/drawingml/2006/main">
            <a:r>
              <a:t>Memory / 跨回合保留的資訊 / 專案偏好、欄位格式、已檢查過的 source</a:t>
            </a:r>
          </a:p>
          <a:p xmlns:a="http://schemas.openxmlformats.org/drawingml/2006/main">
            <a:r>
              <a:t>State / 目前任務進度與中間結果 / 第 12 篇文獻已抽取，PMID 待確認</a:t>
            </a:r>
          </a:p>
          <a:p xmlns:a="http://schemas.openxmlformats.org/drawingml/2006/main">
            <a:r>
              <a:t>Logs / 做過什麼的紀錄 / 查了哪個 query、用哪個資料庫版本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好的 harness 先問：這個 agent 不應該能做什麼？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重點：新手會先加工具，資深一點會先加限制 工具越多，錯誤路徑也越多 在 biomedical 任務，不能做的事通常比能做的事更重要 危險訊號：讀全專案 任意網路 自動寫檔覆蓋 沒有 log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不要把所有外掛都叫 tool。分清楚層次，才知道問題要在哪裡修。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Tool 是 agent 對外做事的最小單位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明確輸入: 例如 gene_symbol、database、max_results。不要讓工具吃一整段模糊自然語言。</a:t>
            </a:r>
          </a:p>
          <a:p xmlns:a="http://schemas.openxmlformats.org/drawingml/2006/main">
            <a:r>
              <a:t>明確輸出: 回傳結構化資料，最好包含 source、version、timestamp、warning。</a:t>
            </a:r>
          </a:p>
          <a:p xmlns:a="http://schemas.openxmlformats.org/drawingml/2006/main">
            <a:r>
              <a:t>明確失敗: 找不到就回 not_found，不要為了面子硬湊答案。AI 最怕太有禮貌地亂講。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Tool schema 是工具的使用說明書，也是護欄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示範程式碼重點：輸入要窄，不要萬用 enum 可以擋掉錯誤物種 description 要寫何時用、何時不用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MCP 可以想成 agent 工具與資料的標準插座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重點：Host 是使用者面前的 AI 應用 Client 負責跟某個 server 維持連線 Server 提供 tools、resources、prompts 等能力 重點不是潮，是把工具發現、呼叫、回傳變標準化 不要神化 MCP：MCP 不是安全保證 MCP 不是資料品質保證 權限仍要自己設計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MCP 裡的三個常見 server primitives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Tools / 可執行的函式或動作 / 查 PubMed、查 DOI、跑 validator</a:t>
            </a:r>
          </a:p>
          <a:p xmlns:a="http://schemas.openxmlformats.org/drawingml/2006/main">
            <a:r>
              <a:t>Resources / 可讀取的資料內容 / 資料庫 schema、實驗 SOP、去識別化資料字典</a:t>
            </a:r>
          </a:p>
          <a:p xmlns:a="http://schemas.openxmlformats.org/drawingml/2006/main">
            <a:r>
              <a:t>Prompts / 可重用的任務模板 / evidence table extraction prompt、review prompt</a:t>
            </a:r>
          </a:p>
          <a:p xmlns:a="http://schemas.openxmlformats.org/drawingml/2006/main">
            <a:r>
              <a:t>Notifications / 工具或狀態變動提醒 / 資料庫更新、批次分析完成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Skill 是把工作方法包起來，不只是多一個工具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重點：Tool 回答：我可以做哪個動作 Skill 回答：這類任務應該怎麼做 好的 skill 會包含步驟、限制、格式、檢查方式 生醫例子：variant triage skill citation audit skill cohort summary skill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只有工具: 會查 PubMed 會寫 CSV 會跑 script 加上 skill: 先定義 PICO 或問題範圍 再抽 claim 與 citation 最後跑檢查與人工 review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生醫任務不是只看最後答案，還要知道答案怎麼來的。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Memory 不是越多越好，而是要有邊界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重點：短期 memory：目前對話與當下任務 專案 memory：欄位格式、命名慣例、使用者偏好 長期 memory：跨專案保存的偏好，生醫資料要非常保守 安全原則：不要存 PHI 不要存未驗證結論 重要記憶要有來源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是任務的進度表，不是神秘記憶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task_id / 知道正在做哪個任務 / EGFR-TKI-resistance-001</a:t>
            </a:r>
          </a:p>
          <a:p xmlns:a="http://schemas.openxmlformats.org/drawingml/2006/main">
            <a:r>
              <a:t>step / 知道目前在哪一步 / screening / extraction / review</a:t>
            </a:r>
          </a:p>
          <a:p xmlns:a="http://schemas.openxmlformats.org/drawingml/2006/main">
            <a:r>
              <a:t>artifact / 知道中間產物在哪 / outputs/evidence_table.csv</a:t>
            </a:r>
          </a:p>
          <a:p xmlns:a="http://schemas.openxmlformats.org/drawingml/2006/main">
            <a:r>
              <a:t>status / 知道是否需要人介入 / blocked_by_missing_citation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Logs 是 agent 的行車紀錄器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重點：記錄 tool call、query、資料來源、版本、輸出檔 錯誤發生時可以 replay 或定位 沒有 log 的 agent，就像實驗記錄本空白但結果很漂亮 最低限度：who / when tool / input source / version result / warning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一筆好的 tool log 長得像這樣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示範程式碼重點：能重跑同一個 query 能看出資料來源 warning 不要藏起來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不是不信任學生，也不是不信任模型，是不信任混在一起後的複雜系統。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Permission 要限制讀、寫、網路、工具、記憶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重點：Read：哪些資料夾可以讀，哪些不能讀 Write：只能寫 outputs 和 logs，避免覆蓋原始資料 Network：只允許可信任 domains Tools：高風險工具要 require approval 或 dry run 新手設定：read_paths: ./ write_paths: ./ network: true logging: false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Blacklist 思維: 先全部開放 想到危險才封 永遠漏掉某個角落 Allowlist 思維: 預設全部不准 只開任務需要的來源 比較容易 audit 和教學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不同任務需要不同來源，不要全部塞進去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文獻 evidence table / PubMed、DOI、journal page / 假 citation、抽錯 claim</a:t>
            </a:r>
          </a:p>
          <a:p xmlns:a="http://schemas.openxmlformats.org/drawingml/2006/main">
            <a:r>
              <a:t>Gene symbol 檢查 / HGNC、NCBI Gene / 舊 symbol、同名縮寫</a:t>
            </a:r>
          </a:p>
          <a:p xmlns:a="http://schemas.openxmlformats.org/drawingml/2006/main">
            <a:r>
              <a:t>Drug 資訊整理 / DrugBank 或核准藥品資料庫 / 適應症與 off-label 混淆</a:t>
            </a:r>
          </a:p>
          <a:p xmlns:a="http://schemas.openxmlformats.org/drawingml/2006/main">
            <a:r>
              <a:t>病人資料摘要 / 本地去識別化資料 / PHI、再識別風險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PHI 邊界要寫進 harness，不要靠學生良心瞬間升級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重點：任何可識別病人的資訊，都不該直接丟進一般 agent 流程 資料要先去識別化，或在受控環境內處理 Logs 和 memory 也不能偷偷留下 PHI 課堂規則：只用公開資料 不貼病歷截圖 不貼 accession + 身分線索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生醫 agent 的勝負不是文筆，而是能不能把每個 claim 接回來源。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Citation check 不是看有沒有括號，是看來源支不支持 claim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重點：PMID/DOI 必須真的存在 引用段落要能支撐 claim Review article、preprint、case report 的證據等級不同 找不到就標 not_found，不要硬補 常見慘案：PMID 存在但文章不相關 citation 支持相反結論 把摘要推成臨床建議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生醫資料錯誤常常不是大錯，是小地方滑倒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Gene symbol / 舊名、別名、物種會混淆 / HGNC lookup + species lock</a:t>
            </a:r>
          </a:p>
          <a:p xmlns:a="http://schemas.openxmlformats.org/drawingml/2006/main">
            <a:r>
              <a:t>Database version / 註解會隨版本改變 / log source version/date</a:t>
            </a:r>
          </a:p>
          <a:p xmlns:a="http://schemas.openxmlformats.org/drawingml/2006/main">
            <a:r>
              <a:t>Clinical inference / 研究結果不等於醫囑 / clinical_action requires human review</a:t>
            </a:r>
          </a:p>
          <a:p xmlns:a="http://schemas.openxmlformats.org/drawingml/2006/main">
            <a:r>
              <a:t>Unit / assay / 數值沒有單位等於沒有腿 / schema require unit and method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Human review 不是失敗，是高風險任務的正常結構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重點：低信心、資料衝突、牽涉臨床行動時必須升級 Reviewer 不是重做整份作業，而是檢查關鍵 claim 和來源 最終交付要標出哪些地方是 AI 初稿、哪些已人工確認 判斷句：能影響實驗決策？ 能影響病人？ 來源互相衝突？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學生要知道這些不是抽象架構，而是每個 biomedical workflow 都會遇到的設計題。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Literature evidence table agent 的 harness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Tools / pubmed_search、doi_lookup、csv_validator / 只做找來源與整理，不自動寫結論</a:t>
            </a:r>
          </a:p>
          <a:p xmlns:a="http://schemas.openxmlformats.org/drawingml/2006/main">
            <a:r>
              <a:t>Memory / 欄位格式與已檢查 PMID / 避免重複查，但不存未驗證 claim</a:t>
            </a:r>
          </a:p>
          <a:p xmlns:a="http://schemas.openxmlformats.org/drawingml/2006/main">
            <a:r>
              <a:t>Verification / PMID/DOI、quote、confidence 必填 / 讓每列 evidence 可被人工追查</a:t>
            </a:r>
          </a:p>
          <a:p xmlns:a="http://schemas.openxmlformats.org/drawingml/2006/main">
            <a:r>
              <a:t>Human review / low confidence 或 clinical claim / 避免把文獻摘要變治療建議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Variant annotation assistant 的 harness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/ ClinVar、gnomAD、HGVS validator / 版本和命名會影響 interpretation</a:t>
            </a:r>
          </a:p>
          <a:p xmlns:a="http://schemas.openxmlformats.org/drawingml/2006/main">
            <a:r>
              <a:t>Permissions / 只讀 deidentified variant file / 避免接觸病人身分資料</a:t>
            </a:r>
          </a:p>
          <a:p xmlns:a="http://schemas.openxmlformats.org/drawingml/2006/main">
            <a:r>
              <a:t>State / variant_id、transcript、genome build / 沒有 build 的 variant 很容易講錯</a:t>
            </a:r>
          </a:p>
          <a:p xmlns:a="http://schemas.openxmlformats.org/drawingml/2006/main">
            <a:r>
              <a:t>Output / annotation summary, not diagnosis / 不能把輔助註解包裝成臨床決策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Cohort summary agent 的 harness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Input / 去識別化、最小必要欄位 / 隱私風險先降到最低</a:t>
            </a:r>
          </a:p>
          <a:p xmlns:a="http://schemas.openxmlformats.org/drawingml/2006/main">
            <a:r>
              <a:t>Tools / aggregate-only statistics / 避免回傳可識別個體列</a:t>
            </a:r>
          </a:p>
          <a:p xmlns:a="http://schemas.openxmlformats.org/drawingml/2006/main">
            <a:r>
              <a:t>Logs / query、filters、row counts / 可追查分析條件</a:t>
            </a:r>
          </a:p>
          <a:p xmlns:a="http://schemas.openxmlformats.org/drawingml/2006/main">
            <a:r>
              <a:t>Review / small cell count alert / 降低再識別風險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Manuscript QA assistant 的 harness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Resources / manuscript、supplement、reference list / 限定檢查範圍</a:t>
            </a:r>
          </a:p>
          <a:p xmlns:a="http://schemas.openxmlformats.org/drawingml/2006/main">
            <a:r>
              <a:t>Tools / citation matcher、table checker / 找 citation mismatch 和數字不一致</a:t>
            </a:r>
          </a:p>
          <a:p xmlns:a="http://schemas.openxmlformats.org/drawingml/2006/main">
            <a:r>
              <a:t>Memory / journal style only / 不保存未發表內容到長期記憶</a:t>
            </a:r>
          </a:p>
          <a:p xmlns:a="http://schemas.openxmlformats.org/drawingml/2006/main">
            <a:r>
              <a:t>Output / issues with location / 讓作者能逐項修正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這段只需要一點程式碼。目標不是寫完整 agent，而是讓學生知道設定可以被機器檢查。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先看一份 biomedical harness config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示範程式碼重點：read/write 分開 network 用 allowlist memory 不准存 PHI logging 要開且 redact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Validator 不用很聰明，但要抓住大洞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示範程式碼重點：先檢查最危險設定 錯誤訊息要可教學 Validator 是 demo 穩定器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最後收束到三句話。這堂課的目的不是教學生追工具名詞，而是讓他們看到：agent 的安全與品質，是 harness 設計出來的。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ad3754185f4a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63ba4aa51a4739" /><Relationship Type="http://schemas.openxmlformats.org/officeDocument/2006/relationships/slideLayout" Target="/ppt/slideLayouts/slideLayout1.xml" Id="R031b77e9ef2940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1b77e9ef2940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024d31b3504485" /><Relationship Type="http://schemas.openxmlformats.org/officeDocument/2006/relationships/notesSlide" Target="/ppt/notesSlides/notesSlide1.xml" Id="R477e1ebbe7fb4b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b6688987c1487c" /><Relationship Type="http://schemas.openxmlformats.org/officeDocument/2006/relationships/notesSlide" Target="/ppt/notesSlides/notesSlide2.xml" Id="R1cc9d590fbf949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91ae0f4662464c" /><Relationship Type="http://schemas.openxmlformats.org/officeDocument/2006/relationships/notesSlide" Target="/ppt/notesSlides/notesSlide3.xml" Id="R09fe50cd06e743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46911f9e1c4e45" /><Relationship Type="http://schemas.openxmlformats.org/officeDocument/2006/relationships/notesSlide" Target="/ppt/notesSlides/notesSlide4.xml" Id="R075bcc404d8b49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3af455f9584354" /><Relationship Type="http://schemas.openxmlformats.org/officeDocument/2006/relationships/notesSlide" Target="/ppt/notesSlides/notesSlide5.xml" Id="Rf71a49084328471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3ab1e8b6a34468" /><Relationship Type="http://schemas.openxmlformats.org/officeDocument/2006/relationships/notesSlide" Target="/ppt/notesSlides/notesSlide6.xml" Id="R1d4ed0cb08ef49c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eea512b99f4664" /><Relationship Type="http://schemas.openxmlformats.org/officeDocument/2006/relationships/notesSlide" Target="/ppt/notesSlides/notesSlide7.xml" Id="R86cfd25b8e7445a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5720c7d38d474c" /><Relationship Type="http://schemas.openxmlformats.org/officeDocument/2006/relationships/notesSlide" Target="/ppt/notesSlides/notesSlide8.xml" Id="Ra5ae19ba45d4480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35896b4e354d3d" /><Relationship Type="http://schemas.openxmlformats.org/officeDocument/2006/relationships/notesSlide" Target="/ppt/notesSlides/notesSlide9.xml" Id="R2a5ff46517da4a8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7a57b3cc6f4ada" /><Relationship Type="http://schemas.openxmlformats.org/officeDocument/2006/relationships/notesSlide" Target="/ppt/notesSlides/notesSlide10.xml" Id="Rb0a61afb1a254c6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f5a59e11e24452" /><Relationship Type="http://schemas.openxmlformats.org/officeDocument/2006/relationships/notesSlide" Target="/ppt/notesSlides/notesSlide11.xml" Id="R6b86f50e9a5f403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17ff22e7ab4c85" /><Relationship Type="http://schemas.openxmlformats.org/officeDocument/2006/relationships/notesSlide" Target="/ppt/notesSlides/notesSlide12.xml" Id="Rb70c2b7d707947a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21dcc4daf942ef" /><Relationship Type="http://schemas.openxmlformats.org/officeDocument/2006/relationships/notesSlide" Target="/ppt/notesSlides/notesSlide13.xml" Id="R73c30ec901b8401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2033a3ba4e4c1c" /><Relationship Type="http://schemas.openxmlformats.org/officeDocument/2006/relationships/notesSlide" Target="/ppt/notesSlides/notesSlide14.xml" Id="R34c38af86559496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911e9c6126420c" /><Relationship Type="http://schemas.openxmlformats.org/officeDocument/2006/relationships/notesSlide" Target="/ppt/notesSlides/notesSlide15.xml" Id="R9af3a561a2c34bc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b3c4ab5b164144" /><Relationship Type="http://schemas.openxmlformats.org/officeDocument/2006/relationships/notesSlide" Target="/ppt/notesSlides/notesSlide16.xml" Id="R5939b895a02b402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a697f3e71f4aaf" /><Relationship Type="http://schemas.openxmlformats.org/officeDocument/2006/relationships/notesSlide" Target="/ppt/notesSlides/notesSlide17.xml" Id="Ra56ac902d923415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b3aa2ddf894b16" /><Relationship Type="http://schemas.openxmlformats.org/officeDocument/2006/relationships/notesSlide" Target="/ppt/notesSlides/notesSlide18.xml" Id="Rf2e8e86e42094e6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2de452c05d4f1c" /><Relationship Type="http://schemas.openxmlformats.org/officeDocument/2006/relationships/notesSlide" Target="/ppt/notesSlides/notesSlide19.xml" Id="R3ee625b48ccd4a1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d3a75c60c041eb" /><Relationship Type="http://schemas.openxmlformats.org/officeDocument/2006/relationships/notesSlide" Target="/ppt/notesSlides/notesSlide20.xml" Id="R75b680011e97441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1d5a16a74d4ba6" /><Relationship Type="http://schemas.openxmlformats.org/officeDocument/2006/relationships/notesSlide" Target="/ppt/notesSlides/notesSlide21.xml" Id="Rcd0e0b8297894a0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6c9747dd7249c0" /><Relationship Type="http://schemas.openxmlformats.org/officeDocument/2006/relationships/notesSlide" Target="/ppt/notesSlides/notesSlide22.xml" Id="R7017a082835f4c3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1664db09ef4566" /><Relationship Type="http://schemas.openxmlformats.org/officeDocument/2006/relationships/notesSlide" Target="/ppt/notesSlides/notesSlide23.xml" Id="R699ac4e576dc412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0db0e3e00c40aa" /><Relationship Type="http://schemas.openxmlformats.org/officeDocument/2006/relationships/notesSlide" Target="/ppt/notesSlides/notesSlide24.xml" Id="Rf138f36927164f9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5abeb995814ddc" /><Relationship Type="http://schemas.openxmlformats.org/officeDocument/2006/relationships/notesSlide" Target="/ppt/notesSlides/notesSlide25.xml" Id="Ra739d108b4474e7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a9a0dd8b3043f6" /><Relationship Type="http://schemas.openxmlformats.org/officeDocument/2006/relationships/notesSlide" Target="/ppt/notesSlides/notesSlide26.xml" Id="R3a0f5347cb91432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35cb01d41d4af9" /><Relationship Type="http://schemas.openxmlformats.org/officeDocument/2006/relationships/notesSlide" Target="/ppt/notesSlides/notesSlide27.xml" Id="Rc499463764dc408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659a3bc6dd48ae" /><Relationship Type="http://schemas.openxmlformats.org/officeDocument/2006/relationships/notesSlide" Target="/ppt/notesSlides/notesSlide28.xml" Id="Rb4039a25d472479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61ef03e2874005" /><Relationship Type="http://schemas.openxmlformats.org/officeDocument/2006/relationships/notesSlide" Target="/ppt/notesSlides/notesSlide29.xml" Id="Rcd1ba9d685b1475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9b51943c2644b7" /><Relationship Type="http://schemas.openxmlformats.org/officeDocument/2006/relationships/notesSlide" Target="/ppt/notesSlides/notesSlide30.xml" Id="Rc47e0f95350c4c9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673ba4adf848c4" /><Relationship Type="http://schemas.openxmlformats.org/officeDocument/2006/relationships/notesSlide" Target="/ppt/notesSlides/notesSlide31.xml" Id="R45b8f35158c44b1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a57aec35d7478f" /><Relationship Type="http://schemas.openxmlformats.org/officeDocument/2006/relationships/notesSlide" Target="/ppt/notesSlides/notesSlide32.xml" Id="R384318da57cc484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0f04cfd10141f0" /><Relationship Type="http://schemas.openxmlformats.org/officeDocument/2006/relationships/notesSlide" Target="/ppt/notesSlides/notesSlide33.xml" Id="Rbb357415cdad412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975eaba786478f" /><Relationship Type="http://schemas.openxmlformats.org/officeDocument/2006/relationships/notesSlide" Target="/ppt/notesSlides/notesSlide34.xml" Id="Re9ce636048de4ac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480330414141ec" /><Relationship Type="http://schemas.openxmlformats.org/officeDocument/2006/relationships/notesSlide" Target="/ppt/notesSlides/notesSlide35.xml" Id="Ra493add557f342a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baca3669574335" /><Relationship Type="http://schemas.openxmlformats.org/officeDocument/2006/relationships/notesSlide" Target="/ppt/notesSlides/notesSlide36.xml" Id="R027dc21a73ab4bd5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608d49a8d549ce" /><Relationship Type="http://schemas.openxmlformats.org/officeDocument/2006/relationships/notesSlide" Target="/ppt/notesSlides/notesSlide37.xml" Id="R846fa28f9cb74403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de2b0e14d54363" /><Relationship Type="http://schemas.openxmlformats.org/officeDocument/2006/relationships/notesSlide" Target="/ppt/notesSlides/notesSlide38.xml" Id="R363ee6280ccb432f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93f2e019e242d1" /><Relationship Type="http://schemas.openxmlformats.org/officeDocument/2006/relationships/notesSlide" Target="/ppt/notesSlides/notesSlide39.xml" Id="Rba5173e4944949b8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f083a59df24e84" /><Relationship Type="http://schemas.openxmlformats.org/officeDocument/2006/relationships/notesSlide" Target="/ppt/notesSlides/notesSlide40.xml" Id="Rf89038dd0a24474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57CC2A52-29AC-4B7C-9F02-5BA37E36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LESSON 06  |  AGENT HARNESS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4112386-4BBB-4E55-95D0-EB714766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Agent harness engineering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24118EE6-4EA7-449A-90C8-B2F5365E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模型外圍的工作環境：tools、MCP、skills、memory、permissions、logs、state、verification</a:t>
            </a:r>
          </a:p>
        </p:txBody>
      </p:sp>
      <p:sp>
        <p:nvSpPr>
          <p:cNvPr id="4" name="model">
            <a:extLst xmlns:a="http://schemas.openxmlformats.org/drawingml/2006/main">
              <a:ext uri="{FF2B5EF4-FFF2-40B4-BE49-F238E27FC236}">
                <a16:creationId xmlns:a16="http://schemas.microsoft.com/office/drawing/2014/main" id="{E44BEEA0-5CD9-4F65-B872-3FCA7043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505200"/>
            <a:ext cx="1600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0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Model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0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會回答</a:t>
            </a:r>
          </a:p>
        </p:txBody>
      </p:sp>
      <p:sp>
        <p:nvSpPr>
          <p:cNvPr id="5" name="harness">
            <a:extLst xmlns:a="http://schemas.openxmlformats.org/drawingml/2006/main">
              <a:ext uri="{FF2B5EF4-FFF2-40B4-BE49-F238E27FC236}">
                <a16:creationId xmlns:a16="http://schemas.microsoft.com/office/drawing/2014/main" id="{F7D0BE56-471D-4001-88E2-0702A172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76600"/>
            <a:ext cx="20383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00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Harness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00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讓它可控</a:t>
            </a:r>
          </a:p>
        </p:txBody>
      </p:sp>
      <p:sp>
        <p:nvSpPr>
          <p:cNvPr id="6" name="review">
            <a:extLst xmlns:a="http://schemas.openxmlformats.org/drawingml/2006/main">
              <a:ext uri="{FF2B5EF4-FFF2-40B4-BE49-F238E27FC236}">
                <a16:creationId xmlns:a16="http://schemas.microsoft.com/office/drawing/2014/main" id="{07FB828E-F462-4D1F-89D8-8168D1A5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05200"/>
            <a:ext cx="2095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89A16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7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Human review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57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決定能不能用</a:t>
            </a:r>
          </a:p>
        </p:txBody>
      </p:sp>
      <p:sp>
        <p:nvSpPr>
          <p:cNvPr id="7" name="l1">
            <a:extLst xmlns:a="http://schemas.openxmlformats.org/drawingml/2006/main">
              <a:ext uri="{FF2B5EF4-FFF2-40B4-BE49-F238E27FC236}">
                <a16:creationId xmlns:a16="http://schemas.microsoft.com/office/drawing/2014/main" id="{751B4EDC-9D81-4B3E-A2CC-9E89717D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924300"/>
            <a:ext cx="1771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8F88"/>
            </a:solidFill>
            <a:prstDash val="solid"/>
          </a:ln>
        </p:spPr>
      </p:sp>
      <p:sp>
        <p:nvSpPr>
          <p:cNvPr id="8" name="l2">
            <a:extLst xmlns:a="http://schemas.openxmlformats.org/drawingml/2006/main">
              <a:ext uri="{FF2B5EF4-FFF2-40B4-BE49-F238E27FC236}">
                <a16:creationId xmlns:a16="http://schemas.microsoft.com/office/drawing/2014/main" id="{F111EDFE-98E0-41F6-B610-30097487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924300"/>
            <a:ext cx="1581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9A16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7F9937B0-6C49-42A5-9C03-FD843F543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Agent harness engineering  |  1/40</a:t>
            </a:r>
          </a:p>
        </p:txBody>
      </p:sp>
    </p:spTree>
    <p:extLst>
      <p:ext uri="{BB962C8B-B14F-4D97-AF65-F5344CB8AC3E}">
        <p14:creationId xmlns:p14="http://schemas.microsoft.com/office/powerpoint/2010/main" val="6597368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EE97D5CF-1609-48E6-BE4F-5E24CF83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90-MINUTE MAP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4ED07D5-E123-4828-9E66-15611729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這堂課要學會設計 agent 的工作環境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5D35899C-E40B-4BFA-ABEB-C4EBE2E4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Agent harness engineering  |  2/40</a:t>
            </a:r>
          </a:p>
        </p:txBody>
      </p:sp>
      <p:sp>
        <p:nvSpPr>
          <p:cNvPr id="4" name="time-0">
            <a:extLst xmlns:a="http://schemas.openxmlformats.org/drawingml/2006/main">
              <a:ext uri="{FF2B5EF4-FFF2-40B4-BE49-F238E27FC236}">
                <a16:creationId xmlns:a16="http://schemas.microsoft.com/office/drawing/2014/main" id="{7EB1E4EE-7607-469F-ACCD-62540C79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2001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0-10 min</a:t>
            </a:r>
          </a:p>
        </p:txBody>
      </p:sp>
      <p:sp>
        <p:nvSpPr>
          <p:cNvPr id="5" name="role-0">
            <a:extLst xmlns:a="http://schemas.openxmlformats.org/drawingml/2006/main">
              <a:ext uri="{FF2B5EF4-FFF2-40B4-BE49-F238E27FC236}">
                <a16:creationId xmlns:a16="http://schemas.microsoft.com/office/drawing/2014/main" id="{829F76EA-9381-4089-A17F-31A1625A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5525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為什麼不是換大模型就好</a:t>
            </a:r>
          </a:p>
        </p:txBody>
      </p:sp>
      <p:sp>
        <p:nvSpPr>
          <p:cNvPr id="6" name="copy-0">
            <a:extLst xmlns:a="http://schemas.openxmlformats.org/drawingml/2006/main">
              <a:ext uri="{FF2B5EF4-FFF2-40B4-BE49-F238E27FC236}">
                <a16:creationId xmlns:a16="http://schemas.microsoft.com/office/drawing/2014/main" id="{AA97569E-7D9C-4A2E-BD72-690847A3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能力來自模型，也來自外圍設計。</a:t>
            </a:r>
          </a:p>
        </p:txBody>
      </p:sp>
      <p:sp>
        <p:nvSpPr>
          <p:cNvPr id="7" name="time-1">
            <a:extLst xmlns:a="http://schemas.openxmlformats.org/drawingml/2006/main">
              <a:ext uri="{FF2B5EF4-FFF2-40B4-BE49-F238E27FC236}">
                <a16:creationId xmlns:a16="http://schemas.microsoft.com/office/drawing/2014/main" id="{020ACC8E-EC37-404F-9D0E-99EBB67C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09800"/>
            <a:ext cx="12001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10-25 min</a:t>
            </a:r>
          </a:p>
        </p:txBody>
      </p:sp>
      <p:sp>
        <p:nvSpPr>
          <p:cNvPr id="8" name="role-1">
            <a:extLst xmlns:a="http://schemas.openxmlformats.org/drawingml/2006/main">
              <a:ext uri="{FF2B5EF4-FFF2-40B4-BE49-F238E27FC236}">
                <a16:creationId xmlns:a16="http://schemas.microsoft.com/office/drawing/2014/main" id="{69DFA18A-E283-4210-A2FE-D97452F8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383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Harness 的基本構造</a:t>
            </a:r>
          </a:p>
        </p:txBody>
      </p:sp>
      <p:sp>
        <p:nvSpPr>
          <p:cNvPr id="9" name="copy-1">
            <a:extLst xmlns:a="http://schemas.openxmlformats.org/drawingml/2006/main">
              <a:ext uri="{FF2B5EF4-FFF2-40B4-BE49-F238E27FC236}">
                <a16:creationId xmlns:a16="http://schemas.microsoft.com/office/drawing/2014/main" id="{3DC571A4-E02C-4BD1-ABDF-5F35FC29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66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tools、MCP、skills、memory、state。</a:t>
            </a:r>
          </a:p>
        </p:txBody>
      </p:sp>
      <p:sp>
        <p:nvSpPr>
          <p:cNvPr id="10" name="time-2">
            <a:extLst xmlns:a="http://schemas.openxmlformats.org/drawingml/2006/main">
              <a:ext uri="{FF2B5EF4-FFF2-40B4-BE49-F238E27FC236}">
                <a16:creationId xmlns:a16="http://schemas.microsoft.com/office/drawing/2014/main" id="{743D1D6B-0EDE-48AA-9DD1-E0D1B2EE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95600"/>
            <a:ext cx="12001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25-42 min</a:t>
            </a:r>
          </a:p>
        </p:txBody>
      </p:sp>
      <p:sp>
        <p:nvSpPr>
          <p:cNvPr id="11" name="role-2">
            <a:extLst xmlns:a="http://schemas.openxmlformats.org/drawingml/2006/main">
              <a:ext uri="{FF2B5EF4-FFF2-40B4-BE49-F238E27FC236}">
                <a16:creationId xmlns:a16="http://schemas.microsoft.com/office/drawing/2014/main" id="{F9E86B1D-B2B9-4461-8D4D-9CF27470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9241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把工具變成可控能力</a:t>
            </a:r>
          </a:p>
        </p:txBody>
      </p:sp>
      <p:sp>
        <p:nvSpPr>
          <p:cNvPr id="12" name="copy-2">
            <a:extLst xmlns:a="http://schemas.openxmlformats.org/drawingml/2006/main">
              <a:ext uri="{FF2B5EF4-FFF2-40B4-BE49-F238E27FC236}">
                <a16:creationId xmlns:a16="http://schemas.microsoft.com/office/drawing/2014/main" id="{E16CA33F-877D-410C-81AA-75924ED2E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52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schema、permission、allowlist、dry run。</a:t>
            </a:r>
          </a:p>
        </p:txBody>
      </p:sp>
      <p:sp>
        <p:nvSpPr>
          <p:cNvPr id="13" name="time-3">
            <a:extLst xmlns:a="http://schemas.openxmlformats.org/drawingml/2006/main">
              <a:ext uri="{FF2B5EF4-FFF2-40B4-BE49-F238E27FC236}">
                <a16:creationId xmlns:a16="http://schemas.microsoft.com/office/drawing/2014/main" id="{14FBE1F8-CA3F-4A99-9E7D-B8939211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81400"/>
            <a:ext cx="12001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42-58 min</a:t>
            </a:r>
          </a:p>
        </p:txBody>
      </p:sp>
      <p:sp>
        <p:nvSpPr>
          <p:cNvPr id="14" name="role-3">
            <a:extLst xmlns:a="http://schemas.openxmlformats.org/drawingml/2006/main">
              <a:ext uri="{FF2B5EF4-FFF2-40B4-BE49-F238E27FC236}">
                <a16:creationId xmlns:a16="http://schemas.microsoft.com/office/drawing/2014/main" id="{EB45D178-43BD-43F3-8FA8-712DA02A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6099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生醫任務的安全邊界</a:t>
            </a:r>
          </a:p>
        </p:txBody>
      </p:sp>
      <p:sp>
        <p:nvSpPr>
          <p:cNvPr id="15" name="copy-3">
            <a:extLst xmlns:a="http://schemas.openxmlformats.org/drawingml/2006/main">
              <a:ext uri="{FF2B5EF4-FFF2-40B4-BE49-F238E27FC236}">
                <a16:creationId xmlns:a16="http://schemas.microsoft.com/office/drawing/2014/main" id="{5B8D5CCF-7E61-4378-8875-2B59E7AE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38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PHI/privacy、citation、gene、資料版本。</a:t>
            </a:r>
          </a:p>
        </p:txBody>
      </p:sp>
      <p:sp>
        <p:nvSpPr>
          <p:cNvPr id="16" name="time-4">
            <a:extLst xmlns:a="http://schemas.openxmlformats.org/drawingml/2006/main">
              <a:ext uri="{FF2B5EF4-FFF2-40B4-BE49-F238E27FC236}">
                <a16:creationId xmlns:a16="http://schemas.microsoft.com/office/drawing/2014/main" id="{EFD6DDAA-2E18-49D6-87A7-4B485DC8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12001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89A16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58-75 min</a:t>
            </a:r>
          </a:p>
        </p:txBody>
      </p:sp>
      <p:sp>
        <p:nvSpPr>
          <p:cNvPr id="17" name="role-4">
            <a:extLst xmlns:a="http://schemas.openxmlformats.org/drawingml/2006/main">
              <a:ext uri="{FF2B5EF4-FFF2-40B4-BE49-F238E27FC236}">
                <a16:creationId xmlns:a16="http://schemas.microsoft.com/office/drawing/2014/main" id="{627921AB-AD3D-4CE8-8D0A-C1C5A18F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2957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驗證與 audit trail</a:t>
            </a:r>
          </a:p>
        </p:txBody>
      </p:sp>
      <p:sp>
        <p:nvSpPr>
          <p:cNvPr id="18" name="copy-4">
            <a:extLst xmlns:a="http://schemas.openxmlformats.org/drawingml/2006/main">
              <a:ext uri="{FF2B5EF4-FFF2-40B4-BE49-F238E27FC236}">
                <a16:creationId xmlns:a16="http://schemas.microsoft.com/office/drawing/2014/main" id="{1C866940-8F98-48AC-B7E3-2D8C08480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243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logs、replay、human-in-the-loop。</a:t>
            </a:r>
          </a:p>
        </p:txBody>
      </p:sp>
      <p:sp>
        <p:nvSpPr>
          <p:cNvPr id="19" name="time-5">
            <a:extLst xmlns:a="http://schemas.openxmlformats.org/drawingml/2006/main">
              <a:ext uri="{FF2B5EF4-FFF2-40B4-BE49-F238E27FC236}">
                <a16:creationId xmlns:a16="http://schemas.microsoft.com/office/drawing/2014/main" id="{B956550B-6B77-4828-A9DB-47820407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53000"/>
            <a:ext cx="12001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89A16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75-90 min</a:t>
            </a:r>
          </a:p>
        </p:txBody>
      </p:sp>
      <p:sp>
        <p:nvSpPr>
          <p:cNvPr id="20" name="role-5">
            <a:extLst xmlns:a="http://schemas.openxmlformats.org/drawingml/2006/main">
              <a:ext uri="{FF2B5EF4-FFF2-40B4-BE49-F238E27FC236}">
                <a16:creationId xmlns:a16="http://schemas.microsoft.com/office/drawing/2014/main" id="{D54C823F-3D3D-4743-99F3-BD7A5D2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9815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小實作：檢查 harness config</a:t>
            </a:r>
          </a:p>
        </p:txBody>
      </p:sp>
      <p:sp>
        <p:nvSpPr>
          <p:cNvPr id="21" name="copy-5">
            <a:extLst xmlns:a="http://schemas.openxmlformats.org/drawingml/2006/main">
              <a:ext uri="{FF2B5EF4-FFF2-40B4-BE49-F238E27FC236}">
                <a16:creationId xmlns:a16="http://schemas.microsoft.com/office/drawing/2014/main" id="{3382F3C2-1D13-4276-BD29-C4265EB9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10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從危險設定改成可 demo 的設定。</a:t>
            </a:r>
          </a:p>
        </p:txBody>
      </p:sp>
    </p:spTree>
    <p:extLst>
      <p:ext uri="{BB962C8B-B14F-4D97-AF65-F5344CB8AC3E}">
        <p14:creationId xmlns:p14="http://schemas.microsoft.com/office/powerpoint/2010/main" val="11190596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FD7440C1-B1D3-452C-81CC-38E07BBB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WHY THIS MATTERS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78A0850-AAE4-4435-9D10-CAADA4F5E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同一顆模型，換一個 harness，行為會完全不同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ABCF0ED4-F3C6-454E-8586-075F480E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Agent harness engineering  |  3/40</a:t>
            </a:r>
          </a:p>
        </p:txBody>
      </p:sp>
      <p:sp>
        <p:nvSpPr>
          <p:cNvPr id="4" name="left-bullets">
            <a:extLst xmlns:a="http://schemas.openxmlformats.org/drawingml/2006/main">
              <a:ext uri="{FF2B5EF4-FFF2-40B4-BE49-F238E27FC236}">
                <a16:creationId xmlns:a16="http://schemas.microsoft.com/office/drawing/2014/main" id="{BEF6A100-B41E-48B8-88EB-D6A01186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4953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3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模型本身只會根據上下文產生下一步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3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Harness 決定它看得到什麼、能做什麼、做完怎麼被檢查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3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生醫任務的核心不是讓 AI 很會講，是讓它不亂碰、不亂編、不亂下結論</a:t>
            </a:r>
          </a:p>
        </p:txBody>
      </p:sp>
      <p:sp>
        <p:nvSpPr>
          <p:cNvPr id="5" name="right-box">
            <a:extLst xmlns:a="http://schemas.openxmlformats.org/drawingml/2006/main">
              <a:ext uri="{FF2B5EF4-FFF2-40B4-BE49-F238E27FC236}">
                <a16:creationId xmlns:a16="http://schemas.microsoft.com/office/drawing/2014/main" id="{CE2128E6-6464-4376-B0F1-1FABAA70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4000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6" name="right-title">
            <a:extLst xmlns:a="http://schemas.openxmlformats.org/drawingml/2006/main">
              <a:ext uri="{FF2B5EF4-FFF2-40B4-BE49-F238E27FC236}">
                <a16:creationId xmlns:a16="http://schemas.microsoft.com/office/drawing/2014/main" id="{E3AFD2FD-D733-4631-B795-84667580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526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一句話記起來</a:t>
            </a:r>
          </a:p>
        </p:txBody>
      </p:sp>
      <p:sp>
        <p:nvSpPr>
          <p:cNvPr id="7" name="right-bullets">
            <a:extLst xmlns:a="http://schemas.openxmlformats.org/drawingml/2006/main">
              <a:ext uri="{FF2B5EF4-FFF2-40B4-BE49-F238E27FC236}">
                <a16:creationId xmlns:a16="http://schemas.microsoft.com/office/drawing/2014/main" id="{1E6E79BB-2F31-4D77-A068-DB049E1F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81300"/>
            <a:ext cx="304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Model answers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Harness controls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Human decides when stakes are high</a:t>
            </a:r>
          </a:p>
        </p:txBody>
      </p:sp>
    </p:spTree>
    <p:extLst>
      <p:ext uri="{BB962C8B-B14F-4D97-AF65-F5344CB8AC3E}">
        <p14:creationId xmlns:p14="http://schemas.microsoft.com/office/powerpoint/2010/main" val="17239127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6EDE5A5A-8F58-4FF4-93D6-109AAF5E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COMMON MISUNDERSTANDING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2C91222-E9F5-46B1-BB59-35733A58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不要把 agent 想成一個比較大的 chatbot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06733FE0-16C9-4678-8363-A009561E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Agent harness engineering  |  4/40</a:t>
            </a:r>
          </a:p>
        </p:txBody>
      </p:sp>
      <p:sp>
        <p:nvSpPr>
          <p:cNvPr id="4" name="left">
            <a:extLst xmlns:a="http://schemas.openxmlformats.org/drawingml/2006/main">
              <a:ext uri="{FF2B5EF4-FFF2-40B4-BE49-F238E27FC236}">
                <a16:creationId xmlns:a16="http://schemas.microsoft.com/office/drawing/2014/main" id="{A8833D24-1983-4959-8FDE-54296628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4762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DEDEA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</p:sp>
      <p:sp>
        <p:nvSpPr>
          <p:cNvPr id="5" name="left-head">
            <a:extLst xmlns:a="http://schemas.openxmlformats.org/drawingml/2006/main">
              <a:ext uri="{FF2B5EF4-FFF2-40B4-BE49-F238E27FC236}">
                <a16:creationId xmlns:a16="http://schemas.microsoft.com/office/drawing/2014/main" id="{74A5A781-D6F5-48E5-95B7-70AC7A9C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717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Chatbot 直覺</a:t>
            </a:r>
          </a:p>
        </p:txBody>
      </p:sp>
      <p:sp>
        <p:nvSpPr>
          <p:cNvPr id="6" name="left-list">
            <a:extLst xmlns:a="http://schemas.openxmlformats.org/drawingml/2006/main">
              <a:ext uri="{FF2B5EF4-FFF2-40B4-BE49-F238E27FC236}">
                <a16:creationId xmlns:a16="http://schemas.microsoft.com/office/drawing/2014/main" id="{81295B5B-EA50-48B3-BE1A-8A67A2E8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38450"/>
            <a:ext cx="3714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問一句，回一句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主要依賴 prompt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錯了通常只重問</a:t>
            </a:r>
          </a:p>
        </p:txBody>
      </p:sp>
      <p:sp>
        <p:nvSpPr>
          <p:cNvPr id="7" name="right">
            <a:extLst xmlns:a="http://schemas.openxmlformats.org/drawingml/2006/main">
              <a:ext uri="{FF2B5EF4-FFF2-40B4-BE49-F238E27FC236}">
                <a16:creationId xmlns:a16="http://schemas.microsoft.com/office/drawing/2014/main" id="{C73BFE11-87BA-404E-A962-7F3CB99F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4762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DF8EE"/>
          </a:solidFill>
          <a:ln xmlns:a="http://schemas.openxmlformats.org/drawingml/2006/main" w="9525">
            <a:solidFill>
              <a:srgbClr val="438D4A"/>
            </a:solidFill>
            <a:prstDash val="solid"/>
          </a:ln>
        </p:spPr>
      </p:sp>
      <p:sp>
        <p:nvSpPr>
          <p:cNvPr id="8" name="right-head">
            <a:extLst xmlns:a="http://schemas.openxmlformats.org/drawingml/2006/main">
              <a:ext uri="{FF2B5EF4-FFF2-40B4-BE49-F238E27FC236}">
                <a16:creationId xmlns:a16="http://schemas.microsoft.com/office/drawing/2014/main" id="{B7281429-4CFE-4C18-9AB7-5F4598CA4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717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438D4A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438D4A"/>
                </a:solidFill>
                <a:latin typeface="PingFang TC"/>
                <a:ea typeface="PingFang TC"/>
                <a:cs typeface="PingFang TC"/>
              </a:rPr>
              <a:t>Agent harness 直覺</a:t>
            </a:r>
          </a:p>
        </p:txBody>
      </p:sp>
      <p:sp>
        <p:nvSpPr>
          <p:cNvPr id="9" name="right-list">
            <a:extLst xmlns:a="http://schemas.openxmlformats.org/drawingml/2006/main">
              <a:ext uri="{FF2B5EF4-FFF2-40B4-BE49-F238E27FC236}">
                <a16:creationId xmlns:a16="http://schemas.microsoft.com/office/drawing/2014/main" id="{8C443C22-5102-4BE3-93CF-39937C4C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3714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有工具、有狀態、有紀錄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能限制資料與動作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錯了可以追查哪一步壞掉</a:t>
            </a:r>
          </a:p>
        </p:txBody>
      </p:sp>
    </p:spTree>
    <p:extLst>
      <p:ext uri="{BB962C8B-B14F-4D97-AF65-F5344CB8AC3E}">
        <p14:creationId xmlns:p14="http://schemas.microsoft.com/office/powerpoint/2010/main" val="1472546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D942B68C-13B7-4EFD-8798-62DB9CDC6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MENTAL MODEL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A5DC83F-CCE6-4009-B25F-83C7040E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Agent 是一個 loop，不是一句神諭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6AFBA381-1229-41D2-94D5-BFB902DB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Agent harness engineering  |  5/40</a:t>
            </a:r>
          </a:p>
        </p:txBody>
      </p:sp>
      <p:sp>
        <p:nvSpPr>
          <p:cNvPr id="4" name="task">
            <a:extLst xmlns:a="http://schemas.openxmlformats.org/drawingml/2006/main">
              <a:ext uri="{FF2B5EF4-FFF2-40B4-BE49-F238E27FC236}">
                <a16:creationId xmlns:a16="http://schemas.microsoft.com/office/drawing/2014/main" id="{8187CD13-16D7-41A7-9C11-B65871DD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12573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Task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任務</a:t>
            </a:r>
          </a:p>
        </p:txBody>
      </p:sp>
      <p:sp>
        <p:nvSpPr>
          <p:cNvPr id="5" name="plan">
            <a:extLst xmlns:a="http://schemas.openxmlformats.org/drawingml/2006/main">
              <a:ext uri="{FF2B5EF4-FFF2-40B4-BE49-F238E27FC236}">
                <a16:creationId xmlns:a16="http://schemas.microsoft.com/office/drawing/2014/main" id="{EC91E902-5012-4316-9877-E0ED2221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81300"/>
            <a:ext cx="12573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Plan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計畫</a:t>
            </a:r>
          </a:p>
        </p:txBody>
      </p:sp>
      <p:sp>
        <p:nvSpPr>
          <p:cNvPr id="6" name="tool">
            <a:extLst xmlns:a="http://schemas.openxmlformats.org/drawingml/2006/main">
              <a:ext uri="{FF2B5EF4-FFF2-40B4-BE49-F238E27FC236}">
                <a16:creationId xmlns:a16="http://schemas.microsoft.com/office/drawing/2014/main" id="{C1326E82-F084-4B6A-83C1-4507C64D3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81300"/>
            <a:ext cx="12573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89A16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D89A16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D89A16"/>
                </a:solidFill>
                <a:latin typeface="PingFang TC"/>
                <a:ea typeface="PingFang TC"/>
                <a:cs typeface="PingFang TC"/>
              </a:rPr>
              <a:t>Tool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D89A16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D89A16"/>
                </a:solidFill>
                <a:latin typeface="PingFang TC"/>
                <a:ea typeface="PingFang TC"/>
                <a:cs typeface="PingFang TC"/>
              </a:rPr>
              <a:t>行動</a:t>
            </a:r>
          </a:p>
        </p:txBody>
      </p:sp>
      <p:sp>
        <p:nvSpPr>
          <p:cNvPr id="7" name="observe">
            <a:extLst xmlns:a="http://schemas.openxmlformats.org/drawingml/2006/main">
              <a:ext uri="{FF2B5EF4-FFF2-40B4-BE49-F238E27FC236}">
                <a16:creationId xmlns:a16="http://schemas.microsoft.com/office/drawing/2014/main" id="{F08D7E03-F408-4D47-B833-FECFBE70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81300"/>
            <a:ext cx="12573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Observe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觀察</a:t>
            </a:r>
          </a:p>
        </p:txBody>
      </p:sp>
      <p:sp>
        <p:nvSpPr>
          <p:cNvPr id="8" name="verify">
            <a:extLst xmlns:a="http://schemas.openxmlformats.org/drawingml/2006/main">
              <a:ext uri="{FF2B5EF4-FFF2-40B4-BE49-F238E27FC236}">
                <a16:creationId xmlns:a16="http://schemas.microsoft.com/office/drawing/2014/main" id="{AD40F1D3-B3EE-478B-9EAC-1490F283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81300"/>
            <a:ext cx="12573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DEDEA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Verify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驗證</a:t>
            </a:r>
          </a:p>
        </p:txBody>
      </p:sp>
      <p:sp>
        <p:nvSpPr>
          <p:cNvPr id="9" name="answer">
            <a:extLst xmlns:a="http://schemas.openxmlformats.org/drawingml/2006/main">
              <a:ext uri="{FF2B5EF4-FFF2-40B4-BE49-F238E27FC236}">
                <a16:creationId xmlns:a16="http://schemas.microsoft.com/office/drawing/2014/main" id="{3865C17B-524F-4896-B8C3-F4A84C16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781300"/>
            <a:ext cx="12573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DF8EE"/>
          </a:solidFill>
          <a:ln xmlns:a="http://schemas.openxmlformats.org/drawingml/2006/main" w="9525">
            <a:solidFill>
              <a:srgbClr val="438D4A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438D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38D4A"/>
                </a:solidFill>
                <a:latin typeface="Aptos"/>
                <a:ea typeface="Aptos"/>
                <a:cs typeface="Aptos"/>
              </a:rPr>
              <a:t>Answer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438D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38D4A"/>
                </a:solidFill>
                <a:latin typeface="Aptos"/>
                <a:ea typeface="Aptos"/>
                <a:cs typeface="Aptos"/>
              </a:rPr>
              <a:t>交付</a:t>
            </a:r>
          </a:p>
        </p:txBody>
      </p:sp>
      <p:sp>
        <p:nvSpPr>
          <p:cNvPr id="10" name="arrow-0">
            <a:extLst xmlns:a="http://schemas.openxmlformats.org/drawingml/2006/main">
              <a:ext uri="{FF2B5EF4-FFF2-40B4-BE49-F238E27FC236}">
                <a16:creationId xmlns:a16="http://schemas.microsoft.com/office/drawing/2014/main" id="{FF9B857E-659C-44A6-8396-59D75C0B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14325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C6670"/>
            </a:solidFill>
            <a:prstDash val="solid"/>
          </a:ln>
        </p:spPr>
      </p:sp>
      <p:sp>
        <p:nvSpPr>
          <p:cNvPr id="11" name="arrow-1">
            <a:extLst xmlns:a="http://schemas.openxmlformats.org/drawingml/2006/main">
              <a:ext uri="{FF2B5EF4-FFF2-40B4-BE49-F238E27FC236}">
                <a16:creationId xmlns:a16="http://schemas.microsoft.com/office/drawing/2014/main" id="{73CF7FA8-592B-4A8D-AF83-1948508D7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14325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C6670"/>
            </a:solidFill>
            <a:prstDash val="solid"/>
          </a:ln>
        </p:spPr>
      </p:sp>
      <p:sp>
        <p:nvSpPr>
          <p:cNvPr id="12" name="arrow-2">
            <a:extLst xmlns:a="http://schemas.openxmlformats.org/drawingml/2006/main">
              <a:ext uri="{FF2B5EF4-FFF2-40B4-BE49-F238E27FC236}">
                <a16:creationId xmlns:a16="http://schemas.microsoft.com/office/drawing/2014/main" id="{B5D6AD5D-9F24-4F07-A79A-B3918C9D7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4325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C6670"/>
            </a:solidFill>
            <a:prstDash val="solid"/>
          </a:ln>
        </p:spPr>
      </p:sp>
      <p:sp>
        <p:nvSpPr>
          <p:cNvPr id="13" name="arrow-3">
            <a:extLst xmlns:a="http://schemas.openxmlformats.org/drawingml/2006/main">
              <a:ext uri="{FF2B5EF4-FFF2-40B4-BE49-F238E27FC236}">
                <a16:creationId xmlns:a16="http://schemas.microsoft.com/office/drawing/2014/main" id="{1ADF8FD4-D355-492D-B0B1-A2C73836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14325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C6670"/>
            </a:solidFill>
            <a:prstDash val="solid"/>
          </a:ln>
        </p:spPr>
      </p:sp>
      <p:sp>
        <p:nvSpPr>
          <p:cNvPr id="14" name="arrow-4">
            <a:extLst xmlns:a="http://schemas.openxmlformats.org/drawingml/2006/main">
              <a:ext uri="{FF2B5EF4-FFF2-40B4-BE49-F238E27FC236}">
                <a16:creationId xmlns:a16="http://schemas.microsoft.com/office/drawing/2014/main" id="{19641BDE-DFA0-43A5-8F10-F69AD6F95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14325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C6670"/>
            </a:solidFill>
            <a:prstDash val="solid"/>
          </a:ln>
        </p:spPr>
      </p:sp>
      <p:sp>
        <p:nvSpPr>
          <p:cNvPr id="15" name="caption">
            <a:extLst xmlns:a="http://schemas.openxmlformats.org/drawingml/2006/main">
              <a:ext uri="{FF2B5EF4-FFF2-40B4-BE49-F238E27FC236}">
                <a16:creationId xmlns:a16="http://schemas.microsoft.com/office/drawing/2014/main" id="{399A8C82-B3E0-4900-8BB3-255E7F9B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053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Harness 決定 loop 裡有哪些工具、能碰哪些資料、怎麼記錄、什麼時候必須停下來問人。</a:t>
            </a:r>
          </a:p>
        </p:txBody>
      </p:sp>
    </p:spTree>
    <p:extLst>
      <p:ext uri="{BB962C8B-B14F-4D97-AF65-F5344CB8AC3E}">
        <p14:creationId xmlns:p14="http://schemas.microsoft.com/office/powerpoint/2010/main" val="16578823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EF1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01E4606A-A7B2-4B2E-BAAE-A28E677C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PART 1</a:t>
            </a:r>
          </a:p>
        </p:txBody>
      </p:sp>
      <p:sp>
        <p:nvSpPr>
          <p:cNvPr id="2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4B4E2E6F-CDDD-4440-8211-D34C4F9F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9334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22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322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先建立 harness 的基本構造</a:t>
            </a:r>
          </a:p>
        </p:txBody>
      </p:sp>
      <p:sp>
        <p:nvSpPr>
          <p:cNvPr id="3" name="section-subtitle">
            <a:extLst xmlns:a="http://schemas.openxmlformats.org/drawingml/2006/main">
              <a:ext uri="{FF2B5EF4-FFF2-40B4-BE49-F238E27FC236}">
                <a16:creationId xmlns:a16="http://schemas.microsoft.com/office/drawing/2014/main" id="{C8EE50F5-7A3C-4A2A-A9EC-78031C55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6230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學生要先看懂 agent 外面那一圈，不然後面 tools、MCP、memory 都會像咒語。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47674E0-54DB-4EB4-A223-B61782720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Agent harness engineering  |  6/40</a:t>
            </a:r>
          </a:p>
        </p:txBody>
      </p:sp>
    </p:spTree>
    <p:extLst>
      <p:ext uri="{BB962C8B-B14F-4D97-AF65-F5344CB8AC3E}">
        <p14:creationId xmlns:p14="http://schemas.microsoft.com/office/powerpoint/2010/main" val="8221244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8F5868F0-4F22-4F3A-9C3E-B0FA84A2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HARNESS ANATOMY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61F8C4E-5ED2-4764-B8C6-9F56D34D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Harness 至少包含三層：環境、規則、驗證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74749386-A993-4C6F-8D4C-C94E0670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Agent harness engineering  |  7/40</a:t>
            </a:r>
          </a:p>
        </p:txBody>
      </p:sp>
      <p:sp>
        <p:nvSpPr>
          <p:cNvPr id="4" name="card-0">
            <a:extLst xmlns:a="http://schemas.openxmlformats.org/drawingml/2006/main">
              <a:ext uri="{FF2B5EF4-FFF2-40B4-BE49-F238E27FC236}">
                <a16:creationId xmlns:a16="http://schemas.microsoft.com/office/drawing/2014/main" id="{056219FA-B410-4656-8B44-185AE058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3067050" cy="253365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5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70805708-DF19-4468-BB7A-60BB170E1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6220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工作環境</a:t>
            </a:r>
          </a:p>
        </p:txBody>
      </p:sp>
      <p:sp>
        <p:nvSpPr>
          <p:cNvPr id="6" name="card-copy-0">
            <a:extLst xmlns:a="http://schemas.openxmlformats.org/drawingml/2006/main">
              <a:ext uri="{FF2B5EF4-FFF2-40B4-BE49-F238E27FC236}">
                <a16:creationId xmlns:a16="http://schemas.microsoft.com/office/drawing/2014/main" id="{B454F28D-9FE4-4166-99FC-6462EDCA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86100"/>
            <a:ext cx="24574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檔案、資料庫、網路、API、terminal、瀏覽器。這些決定 agent 能碰到世界的哪一部分。</a:t>
            </a:r>
          </a:p>
        </p:txBody>
      </p:sp>
      <p:sp>
        <p:nvSpPr>
          <p:cNvPr id="7" name="card-1">
            <a:extLst xmlns:a="http://schemas.openxmlformats.org/drawingml/2006/main">
              <a:ext uri="{FF2B5EF4-FFF2-40B4-BE49-F238E27FC236}">
                <a16:creationId xmlns:a16="http://schemas.microsoft.com/office/drawing/2014/main" id="{78EE772C-BACF-4F70-A650-D7A42718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57400"/>
            <a:ext cx="3067050" cy="253365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</p:sp>
      <p:sp>
        <p:nvSpPr>
          <p:cNvPr id="8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3D1FF790-A9DB-4E44-8BDC-8CE92245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行為規則</a:t>
            </a:r>
          </a:p>
        </p:txBody>
      </p:sp>
      <p:sp>
        <p:nvSpPr>
          <p:cNvPr id="9" name="card-copy-1">
            <a:extLst xmlns:a="http://schemas.openxmlformats.org/drawingml/2006/main">
              <a:ext uri="{FF2B5EF4-FFF2-40B4-BE49-F238E27FC236}">
                <a16:creationId xmlns:a16="http://schemas.microsoft.com/office/drawing/2014/main" id="{E144239B-A196-4437-B78A-5294296F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86100"/>
            <a:ext cx="24574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system prompt、tool schema、permission、allowlist、memory policy。這些是方向盤和煞車。</a:t>
            </a:r>
          </a:p>
        </p:txBody>
      </p:sp>
      <p:sp>
        <p:nvSpPr>
          <p:cNvPr id="10" name="card-2">
            <a:extLst xmlns:a="http://schemas.openxmlformats.org/drawingml/2006/main">
              <a:ext uri="{FF2B5EF4-FFF2-40B4-BE49-F238E27FC236}">
                <a16:creationId xmlns:a16="http://schemas.microsoft.com/office/drawing/2014/main" id="{C0A164C4-46DE-4A13-965E-2115A67DE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57400"/>
            <a:ext cx="3067050" cy="253365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89A16"/>
            </a:solidFill>
            <a:prstDash val="solid"/>
          </a:ln>
        </p:spPr>
      </p:sp>
      <p:sp>
        <p:nvSpPr>
          <p:cNvPr id="11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FE7BCC02-63C2-49FA-8D56-3910F3B3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6220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>
                <a:solidFill>
                  <a:srgbClr val="D89A16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D89A16"/>
                </a:solidFill>
                <a:latin typeface="PingFang TC"/>
                <a:ea typeface="PingFang TC"/>
                <a:cs typeface="PingFang TC"/>
              </a:rPr>
              <a:t>驗證設施</a:t>
            </a:r>
          </a:p>
        </p:txBody>
      </p:sp>
      <p:sp>
        <p:nvSpPr>
          <p:cNvPr id="12" name="card-copy-2">
            <a:extLst xmlns:a="http://schemas.openxmlformats.org/drawingml/2006/main">
              <a:ext uri="{FF2B5EF4-FFF2-40B4-BE49-F238E27FC236}">
                <a16:creationId xmlns:a16="http://schemas.microsoft.com/office/drawing/2014/main" id="{3AF8715A-38C5-4778-A66F-7EC754DF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86100"/>
            <a:ext cx="24574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logs、state、validators、citation check、human review。這些讓錯誤可以被發現。</a:t>
            </a:r>
          </a:p>
        </p:txBody>
      </p:sp>
    </p:spTree>
    <p:extLst>
      <p:ext uri="{BB962C8B-B14F-4D97-AF65-F5344CB8AC3E}">
        <p14:creationId xmlns:p14="http://schemas.microsoft.com/office/powerpoint/2010/main" val="9939107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B4474FCC-534F-4D2C-9052-602F9A1F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MODEL BOUNDARY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0C9EECB-606D-40AE-B0D9-D710460C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模型很聰明，但它沒有天生的工作場所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30D2324B-8EE3-400B-A06D-6FFAD8CF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Agent harness engineering  |  8/40</a:t>
            </a:r>
          </a:p>
        </p:txBody>
      </p:sp>
      <p:sp>
        <p:nvSpPr>
          <p:cNvPr id="4" name="left-bullets">
            <a:extLst xmlns:a="http://schemas.openxmlformats.org/drawingml/2006/main">
              <a:ext uri="{FF2B5EF4-FFF2-40B4-BE49-F238E27FC236}">
                <a16:creationId xmlns:a16="http://schemas.microsoft.com/office/drawing/2014/main" id="{EA8D997A-5878-49E4-A392-24B7689A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4953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3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它不知道你的檔案系統，除非 harness 把檔案內容交給它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3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它不能真的查資料庫，除非 harness 提供可呼叫工具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3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它不會自動記得任務歷史，除非 harness 管理 state 或 memory</a:t>
            </a:r>
          </a:p>
        </p:txBody>
      </p:sp>
      <p:sp>
        <p:nvSpPr>
          <p:cNvPr id="5" name="right-box">
            <a:extLst xmlns:a="http://schemas.openxmlformats.org/drawingml/2006/main">
              <a:ext uri="{FF2B5EF4-FFF2-40B4-BE49-F238E27FC236}">
                <a16:creationId xmlns:a16="http://schemas.microsoft.com/office/drawing/2014/main" id="{32351359-577C-466F-AFEC-821FEAF3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4000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6" name="right-title">
            <a:extLst xmlns:a="http://schemas.openxmlformats.org/drawingml/2006/main">
              <a:ext uri="{FF2B5EF4-FFF2-40B4-BE49-F238E27FC236}">
                <a16:creationId xmlns:a16="http://schemas.microsoft.com/office/drawing/2014/main" id="{5A683C32-55C9-4CD5-A837-F9E4E9C7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526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教學梗</a:t>
            </a:r>
          </a:p>
        </p:txBody>
      </p:sp>
      <p:sp>
        <p:nvSpPr>
          <p:cNvPr id="7" name="right-bullets">
            <a:extLst xmlns:a="http://schemas.openxmlformats.org/drawingml/2006/main">
              <a:ext uri="{FF2B5EF4-FFF2-40B4-BE49-F238E27FC236}">
                <a16:creationId xmlns:a16="http://schemas.microsoft.com/office/drawing/2014/main" id="{39ACDEF3-8EE9-4107-A150-3B6DD7C8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81300"/>
            <a:ext cx="304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模型像很會考試的人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Harness 像實驗室 SOP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沒有 SOP 的天才很可怕</a:t>
            </a:r>
          </a:p>
        </p:txBody>
      </p:sp>
    </p:spTree>
    <p:extLst>
      <p:ext uri="{BB962C8B-B14F-4D97-AF65-F5344CB8AC3E}">
        <p14:creationId xmlns:p14="http://schemas.microsoft.com/office/powerpoint/2010/main" val="26084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30A62D4C-E271-443C-8952-868318F8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COMPONENT MAP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50AFC71-6CD1-46D4-9571-CB3E5F0B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把名詞翻成學生聽得懂的人話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F79B3055-1FC1-4E98-BC71-D145B57E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Agent harness engineering  |  9/40</a:t>
            </a:r>
          </a:p>
        </p:txBody>
      </p:sp>
      <p:sp>
        <p:nvSpPr>
          <p:cNvPr id="4" name="head-0">
            <a:extLst xmlns:a="http://schemas.openxmlformats.org/drawingml/2006/main">
              <a:ext uri="{FF2B5EF4-FFF2-40B4-BE49-F238E27FC236}">
                <a16:creationId xmlns:a16="http://schemas.microsoft.com/office/drawing/2014/main" id="{80AA2881-F9C9-43FB-84E0-D39A622D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2190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5" name="head-text-0">
            <a:extLst xmlns:a="http://schemas.openxmlformats.org/drawingml/2006/main">
              <a:ext uri="{FF2B5EF4-FFF2-40B4-BE49-F238E27FC236}">
                <a16:creationId xmlns:a16="http://schemas.microsoft.com/office/drawing/2014/main" id="{A2118E51-849D-4129-A744-DAB03BF7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24050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元件</a:t>
            </a:r>
          </a:p>
        </p:txBody>
      </p:sp>
      <p:sp>
        <p:nvSpPr>
          <p:cNvPr id="6" name="head-1">
            <a:extLst xmlns:a="http://schemas.openxmlformats.org/drawingml/2006/main">
              <a:ext uri="{FF2B5EF4-FFF2-40B4-BE49-F238E27FC236}">
                <a16:creationId xmlns:a16="http://schemas.microsoft.com/office/drawing/2014/main" id="{76055034-9729-4AC7-A8FE-3FC8FA00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809750"/>
            <a:ext cx="3733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7" name="head-text-1">
            <a:extLst xmlns:a="http://schemas.openxmlformats.org/drawingml/2006/main">
              <a:ext uri="{FF2B5EF4-FFF2-40B4-BE49-F238E27FC236}">
                <a16:creationId xmlns:a16="http://schemas.microsoft.com/office/drawing/2014/main" id="{48E7DABE-FAAA-4348-9A44-26B4BF5A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92405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白話意思</a:t>
            </a:r>
          </a:p>
        </p:txBody>
      </p:sp>
      <p:sp>
        <p:nvSpPr>
          <p:cNvPr id="8" name="head-2">
            <a:extLst xmlns:a="http://schemas.openxmlformats.org/drawingml/2006/main">
              <a:ext uri="{FF2B5EF4-FFF2-40B4-BE49-F238E27FC236}">
                <a16:creationId xmlns:a16="http://schemas.microsoft.com/office/drawing/2014/main" id="{FFDB0E50-C2BD-437F-A625-6D47132E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09750"/>
            <a:ext cx="3733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9" name="head-text-2">
            <a:extLst xmlns:a="http://schemas.openxmlformats.org/drawingml/2006/main">
              <a:ext uri="{FF2B5EF4-FFF2-40B4-BE49-F238E27FC236}">
                <a16:creationId xmlns:a16="http://schemas.microsoft.com/office/drawing/2014/main" id="{528CA4DA-55C2-414A-B84B-CC95E74B4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2405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生醫例子</a:t>
            </a:r>
          </a:p>
        </p:txBody>
      </p:sp>
      <p:sp>
        <p:nvSpPr>
          <p:cNvPr id="10" name="cell-0-0">
            <a:extLst xmlns:a="http://schemas.openxmlformats.org/drawingml/2006/main">
              <a:ext uri="{FF2B5EF4-FFF2-40B4-BE49-F238E27FC236}">
                <a16:creationId xmlns:a16="http://schemas.microsoft.com/office/drawing/2014/main" id="{473A3648-BE86-463D-A269-FAB9E7AE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2190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1" name="cell-text-0-0">
            <a:extLst xmlns:a="http://schemas.openxmlformats.org/drawingml/2006/main">
              <a:ext uri="{FF2B5EF4-FFF2-40B4-BE49-F238E27FC236}">
                <a16:creationId xmlns:a16="http://schemas.microsoft.com/office/drawing/2014/main" id="{DC24C7A3-A12C-45AA-91A0-EF597C6AE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384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Tools</a:t>
            </a:r>
          </a:p>
        </p:txBody>
      </p:sp>
      <p:sp>
        <p:nvSpPr>
          <p:cNvPr id="12" name="cell-0-1">
            <a:extLst xmlns:a="http://schemas.openxmlformats.org/drawingml/2006/main">
              <a:ext uri="{FF2B5EF4-FFF2-40B4-BE49-F238E27FC236}">
                <a16:creationId xmlns:a16="http://schemas.microsoft.com/office/drawing/2014/main" id="{41D12D72-12B5-4CB7-A731-4100374D9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324100"/>
            <a:ext cx="3733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3" name="cell-text-0-1">
            <a:extLst xmlns:a="http://schemas.openxmlformats.org/drawingml/2006/main">
              <a:ext uri="{FF2B5EF4-FFF2-40B4-BE49-F238E27FC236}">
                <a16:creationId xmlns:a16="http://schemas.microsoft.com/office/drawing/2014/main" id="{BE5442F6-7E51-4E7E-BF2F-46AFED78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4384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agent 可以呼叫的動作</a:t>
            </a:r>
          </a:p>
        </p:txBody>
      </p:sp>
      <p:sp>
        <p:nvSpPr>
          <p:cNvPr id="14" name="cell-0-2">
            <a:extLst xmlns:a="http://schemas.openxmlformats.org/drawingml/2006/main">
              <a:ext uri="{FF2B5EF4-FFF2-40B4-BE49-F238E27FC236}">
                <a16:creationId xmlns:a16="http://schemas.microsoft.com/office/drawing/2014/main" id="{1481B0EC-1578-4933-A160-6EE2CE7C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24100"/>
            <a:ext cx="3733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5" name="cell-text-0-2">
            <a:extLst xmlns:a="http://schemas.openxmlformats.org/drawingml/2006/main">
              <a:ext uri="{FF2B5EF4-FFF2-40B4-BE49-F238E27FC236}">
                <a16:creationId xmlns:a16="http://schemas.microsoft.com/office/drawing/2014/main" id="{49436D88-D85C-4B47-BA01-9426AB77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384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PubMed search、HGNC lookup、CSV validator</a:t>
            </a:r>
          </a:p>
        </p:txBody>
      </p:sp>
      <p:sp>
        <p:nvSpPr>
          <p:cNvPr id="16" name="cell-1-0">
            <a:extLst xmlns:a="http://schemas.openxmlformats.org/drawingml/2006/main">
              <a:ext uri="{FF2B5EF4-FFF2-40B4-BE49-F238E27FC236}">
                <a16:creationId xmlns:a16="http://schemas.microsoft.com/office/drawing/2014/main" id="{8872214C-9C12-4E07-B375-024210745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2190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7" name="cell-text-1-0">
            <a:extLst xmlns:a="http://schemas.openxmlformats.org/drawingml/2006/main">
              <a:ext uri="{FF2B5EF4-FFF2-40B4-BE49-F238E27FC236}">
                <a16:creationId xmlns:a16="http://schemas.microsoft.com/office/drawing/2014/main" id="{78B6249A-B599-4951-A82D-E2477DAAA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623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Memory</a:t>
            </a:r>
          </a:p>
        </p:txBody>
      </p:sp>
      <p:sp>
        <p:nvSpPr>
          <p:cNvPr id="18" name="cell-1-1">
            <a:extLst xmlns:a="http://schemas.openxmlformats.org/drawingml/2006/main">
              <a:ext uri="{FF2B5EF4-FFF2-40B4-BE49-F238E27FC236}">
                <a16:creationId xmlns:a16="http://schemas.microsoft.com/office/drawing/2014/main" id="{1DFDB7DE-9CE4-43B1-B037-C179BE38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048000"/>
            <a:ext cx="3733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9" name="cell-text-1-1">
            <a:extLst xmlns:a="http://schemas.openxmlformats.org/drawingml/2006/main">
              <a:ext uri="{FF2B5EF4-FFF2-40B4-BE49-F238E27FC236}">
                <a16:creationId xmlns:a16="http://schemas.microsoft.com/office/drawing/2014/main" id="{EBCDA36D-AD2D-4FEB-90DE-ED95DDB9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1623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跨回合保留的資訊</a:t>
            </a:r>
          </a:p>
        </p:txBody>
      </p:sp>
      <p:sp>
        <p:nvSpPr>
          <p:cNvPr id="20" name="cell-1-2">
            <a:extLst xmlns:a="http://schemas.openxmlformats.org/drawingml/2006/main">
              <a:ext uri="{FF2B5EF4-FFF2-40B4-BE49-F238E27FC236}">
                <a16:creationId xmlns:a16="http://schemas.microsoft.com/office/drawing/2014/main" id="{38D26390-F786-435A-A11B-F3DC67A4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48000"/>
            <a:ext cx="3733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1" name="cell-text-1-2">
            <a:extLst xmlns:a="http://schemas.openxmlformats.org/drawingml/2006/main">
              <a:ext uri="{FF2B5EF4-FFF2-40B4-BE49-F238E27FC236}">
                <a16:creationId xmlns:a16="http://schemas.microsoft.com/office/drawing/2014/main" id="{AE03AA35-108E-4A14-BF45-6BE59BD9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623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專案偏好、欄位格式、已檢查過的 source</a:t>
            </a:r>
          </a:p>
        </p:txBody>
      </p:sp>
      <p:sp>
        <p:nvSpPr>
          <p:cNvPr id="22" name="cell-2-0">
            <a:extLst xmlns:a="http://schemas.openxmlformats.org/drawingml/2006/main">
              <a:ext uri="{FF2B5EF4-FFF2-40B4-BE49-F238E27FC236}">
                <a16:creationId xmlns:a16="http://schemas.microsoft.com/office/drawing/2014/main" id="{83C02DEC-E1F7-4ED0-BDAF-6862B451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71900"/>
            <a:ext cx="2190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3" name="cell-text-2-0">
            <a:extLst xmlns:a="http://schemas.openxmlformats.org/drawingml/2006/main">
              <a:ext uri="{FF2B5EF4-FFF2-40B4-BE49-F238E27FC236}">
                <a16:creationId xmlns:a16="http://schemas.microsoft.com/office/drawing/2014/main" id="{D5252E30-2FB2-4655-9101-69A28752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862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State</a:t>
            </a:r>
          </a:p>
        </p:txBody>
      </p:sp>
      <p:sp>
        <p:nvSpPr>
          <p:cNvPr id="24" name="cell-2-1">
            <a:extLst xmlns:a="http://schemas.openxmlformats.org/drawingml/2006/main">
              <a:ext uri="{FF2B5EF4-FFF2-40B4-BE49-F238E27FC236}">
                <a16:creationId xmlns:a16="http://schemas.microsoft.com/office/drawing/2014/main" id="{3B8EF0BF-C181-4F49-A21B-E4CF73D8B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771900"/>
            <a:ext cx="3733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5" name="cell-text-2-1">
            <a:extLst xmlns:a="http://schemas.openxmlformats.org/drawingml/2006/main">
              <a:ext uri="{FF2B5EF4-FFF2-40B4-BE49-F238E27FC236}">
                <a16:creationId xmlns:a16="http://schemas.microsoft.com/office/drawing/2014/main" id="{05429324-6114-48F1-A046-B95C325E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8862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目前任務進度與中間結果</a:t>
            </a:r>
          </a:p>
        </p:txBody>
      </p:sp>
      <p:sp>
        <p:nvSpPr>
          <p:cNvPr id="26" name="cell-2-2">
            <a:extLst xmlns:a="http://schemas.openxmlformats.org/drawingml/2006/main">
              <a:ext uri="{FF2B5EF4-FFF2-40B4-BE49-F238E27FC236}">
                <a16:creationId xmlns:a16="http://schemas.microsoft.com/office/drawing/2014/main" id="{0600CB8F-D39E-4461-BDED-33F1DC35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771900"/>
            <a:ext cx="3733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7" name="cell-text-2-2">
            <a:extLst xmlns:a="http://schemas.openxmlformats.org/drawingml/2006/main">
              <a:ext uri="{FF2B5EF4-FFF2-40B4-BE49-F238E27FC236}">
                <a16:creationId xmlns:a16="http://schemas.microsoft.com/office/drawing/2014/main" id="{D3864D61-E410-4FD7-AA08-D0B72862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862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第 12 篇文獻已抽取，PMID 待確認</a:t>
            </a:r>
          </a:p>
        </p:txBody>
      </p:sp>
      <p:sp>
        <p:nvSpPr>
          <p:cNvPr id="28" name="cell-3-0">
            <a:extLst xmlns:a="http://schemas.openxmlformats.org/drawingml/2006/main">
              <a:ext uri="{FF2B5EF4-FFF2-40B4-BE49-F238E27FC236}">
                <a16:creationId xmlns:a16="http://schemas.microsoft.com/office/drawing/2014/main" id="{646CBBC4-FD17-4F7C-A058-1D6E5DDA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95800"/>
            <a:ext cx="2190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9" name="cell-text-3-0">
            <a:extLst xmlns:a="http://schemas.openxmlformats.org/drawingml/2006/main">
              <a:ext uri="{FF2B5EF4-FFF2-40B4-BE49-F238E27FC236}">
                <a16:creationId xmlns:a16="http://schemas.microsoft.com/office/drawing/2014/main" id="{11896397-229E-4ACC-86FB-0A86E393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101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Logs</a:t>
            </a:r>
          </a:p>
        </p:txBody>
      </p:sp>
      <p:sp>
        <p:nvSpPr>
          <p:cNvPr id="30" name="cell-3-1">
            <a:extLst xmlns:a="http://schemas.openxmlformats.org/drawingml/2006/main">
              <a:ext uri="{FF2B5EF4-FFF2-40B4-BE49-F238E27FC236}">
                <a16:creationId xmlns:a16="http://schemas.microsoft.com/office/drawing/2014/main" id="{9C3A26DA-6B02-4983-9A17-A7331038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495800"/>
            <a:ext cx="3733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31" name="cell-text-3-1">
            <a:extLst xmlns:a="http://schemas.openxmlformats.org/drawingml/2006/main">
              <a:ext uri="{FF2B5EF4-FFF2-40B4-BE49-F238E27FC236}">
                <a16:creationId xmlns:a16="http://schemas.microsoft.com/office/drawing/2014/main" id="{AB131AB1-F632-4066-B4A0-5133BBD8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6101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做過什麼的紀錄</a:t>
            </a:r>
          </a:p>
        </p:txBody>
      </p:sp>
      <p:sp>
        <p:nvSpPr>
          <p:cNvPr id="32" name="cell-3-2">
            <a:extLst xmlns:a="http://schemas.openxmlformats.org/drawingml/2006/main">
              <a:ext uri="{FF2B5EF4-FFF2-40B4-BE49-F238E27FC236}">
                <a16:creationId xmlns:a16="http://schemas.microsoft.com/office/drawing/2014/main" id="{97E77786-400D-4135-8959-693D0ADA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95800"/>
            <a:ext cx="3733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33" name="cell-text-3-2">
            <a:extLst xmlns:a="http://schemas.openxmlformats.org/drawingml/2006/main">
              <a:ext uri="{FF2B5EF4-FFF2-40B4-BE49-F238E27FC236}">
                <a16:creationId xmlns:a16="http://schemas.microsoft.com/office/drawing/2014/main" id="{489275B1-9E0D-4CD2-999E-28FDACE6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101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查了哪個 query、用哪個資料庫版本</a:t>
            </a:r>
          </a:p>
        </p:txBody>
      </p:sp>
    </p:spTree>
    <p:extLst>
      <p:ext uri="{BB962C8B-B14F-4D97-AF65-F5344CB8AC3E}">
        <p14:creationId xmlns:p14="http://schemas.microsoft.com/office/powerpoint/2010/main" val="7872763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80E8980C-7152-4F07-92D6-94789782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DESIGN QUESTION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6E5CC14-C5E5-4228-81F0-77386933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好的 harness 先問：這個 agent 不應該能做什麼？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B9982745-93B6-4BA8-98B3-76C8BB4B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Agent harness engineering  |  10/40</a:t>
            </a:r>
          </a:p>
        </p:txBody>
      </p:sp>
      <p:sp>
        <p:nvSpPr>
          <p:cNvPr id="4" name="left-bullets">
            <a:extLst xmlns:a="http://schemas.openxmlformats.org/drawingml/2006/main">
              <a:ext uri="{FF2B5EF4-FFF2-40B4-BE49-F238E27FC236}">
                <a16:creationId xmlns:a16="http://schemas.microsoft.com/office/drawing/2014/main" id="{18416111-E0D2-44CF-87A4-9E0E8B58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4953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3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新手會先加工具，資深一點會先加限制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3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工具越多，錯誤路徑也越多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3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在 biomedical 任務，不能做的事通常比能做的事更重要</a:t>
            </a:r>
          </a:p>
        </p:txBody>
      </p:sp>
      <p:sp>
        <p:nvSpPr>
          <p:cNvPr id="5" name="right-box">
            <a:extLst xmlns:a="http://schemas.openxmlformats.org/drawingml/2006/main">
              <a:ext uri="{FF2B5EF4-FFF2-40B4-BE49-F238E27FC236}">
                <a16:creationId xmlns:a16="http://schemas.microsoft.com/office/drawing/2014/main" id="{612C38D5-DD3C-46EA-971C-458AAA44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4000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DEDEA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</p:sp>
      <p:sp>
        <p:nvSpPr>
          <p:cNvPr id="6" name="right-title">
            <a:extLst xmlns:a="http://schemas.openxmlformats.org/drawingml/2006/main">
              <a:ext uri="{FF2B5EF4-FFF2-40B4-BE49-F238E27FC236}">
                <a16:creationId xmlns:a16="http://schemas.microsoft.com/office/drawing/2014/main" id="{F8A5607E-B47F-42C3-9C0C-3CA589A1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526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危險訊號</a:t>
            </a:r>
          </a:p>
        </p:txBody>
      </p:sp>
      <p:sp>
        <p:nvSpPr>
          <p:cNvPr id="7" name="right-bullets">
            <a:extLst xmlns:a="http://schemas.openxmlformats.org/drawingml/2006/main">
              <a:ext uri="{FF2B5EF4-FFF2-40B4-BE49-F238E27FC236}">
                <a16:creationId xmlns:a16="http://schemas.microsoft.com/office/drawing/2014/main" id="{5E5E2283-B49C-48EE-8F5D-577E9004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81300"/>
            <a:ext cx="304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讀全專案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任意網路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自動寫檔覆蓋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沒有 log</a:t>
            </a:r>
          </a:p>
        </p:txBody>
      </p:sp>
    </p:spTree>
    <p:extLst>
      <p:ext uri="{BB962C8B-B14F-4D97-AF65-F5344CB8AC3E}">
        <p14:creationId xmlns:p14="http://schemas.microsoft.com/office/powerpoint/2010/main" val="4551775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DF8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483C5AD4-7218-46CB-B234-FA83561D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PART 2</a:t>
            </a:r>
          </a:p>
        </p:txBody>
      </p:sp>
      <p:sp>
        <p:nvSpPr>
          <p:cNvPr id="2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B75EF56D-55E1-40DA-A8BE-DFEBBA9E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9334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225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3225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Tools、MCP、skills 是三種不同層次</a:t>
            </a:r>
          </a:p>
        </p:txBody>
      </p:sp>
      <p:sp>
        <p:nvSpPr>
          <p:cNvPr id="3" name="section-subtitle">
            <a:extLst xmlns:a="http://schemas.openxmlformats.org/drawingml/2006/main">
              <a:ext uri="{FF2B5EF4-FFF2-40B4-BE49-F238E27FC236}">
                <a16:creationId xmlns:a16="http://schemas.microsoft.com/office/drawing/2014/main" id="{75B492AD-A142-4989-A938-8FA3BF67A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6230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不要把所有外掛都叫 tool。分清楚層次，才知道問題要在哪裡修。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9F49FD15-5A6D-4B2C-B55A-05304721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Agent harness engineering  |  11/40</a:t>
            </a:r>
          </a:p>
        </p:txBody>
      </p:sp>
    </p:spTree>
    <p:extLst>
      <p:ext uri="{BB962C8B-B14F-4D97-AF65-F5344CB8AC3E}">
        <p14:creationId xmlns:p14="http://schemas.microsoft.com/office/powerpoint/2010/main" val="41944968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18E63A1A-CF07-4166-BE2E-2F31CB74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TOOLS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D1A1809-8A0F-4C1C-BFD4-71585B84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Tool 是 agent 對外做事的最小單位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33F449BE-CF2A-49E3-A890-577FD419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Agent harness engineering  |  12/40</a:t>
            </a:r>
          </a:p>
        </p:txBody>
      </p:sp>
      <p:sp>
        <p:nvSpPr>
          <p:cNvPr id="4" name="card-0">
            <a:extLst xmlns:a="http://schemas.openxmlformats.org/drawingml/2006/main">
              <a:ext uri="{FF2B5EF4-FFF2-40B4-BE49-F238E27FC236}">
                <a16:creationId xmlns:a16="http://schemas.microsoft.com/office/drawing/2014/main" id="{AE005436-48E5-48CB-80CE-0DC1EACA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3067050" cy="253365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</p:sp>
      <p:sp>
        <p:nvSpPr>
          <p:cNvPr id="5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4F353E68-3905-4124-BBEB-3EBE917D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6220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明確輸入</a:t>
            </a:r>
          </a:p>
        </p:txBody>
      </p:sp>
      <p:sp>
        <p:nvSpPr>
          <p:cNvPr id="6" name="card-copy-0">
            <a:extLst xmlns:a="http://schemas.openxmlformats.org/drawingml/2006/main">
              <a:ext uri="{FF2B5EF4-FFF2-40B4-BE49-F238E27FC236}">
                <a16:creationId xmlns:a16="http://schemas.microsoft.com/office/drawing/2014/main" id="{7A517998-F771-4D0B-ADBA-06A146A5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86100"/>
            <a:ext cx="24574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例如 gene_symbol、database、max_results。不要讓工具吃一整段模糊自然語言。</a:t>
            </a:r>
          </a:p>
        </p:txBody>
      </p:sp>
      <p:sp>
        <p:nvSpPr>
          <p:cNvPr id="7" name="card-1">
            <a:extLst xmlns:a="http://schemas.openxmlformats.org/drawingml/2006/main">
              <a:ext uri="{FF2B5EF4-FFF2-40B4-BE49-F238E27FC236}">
                <a16:creationId xmlns:a16="http://schemas.microsoft.com/office/drawing/2014/main" id="{F1E5F933-8736-4E2D-814C-1EC38856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57400"/>
            <a:ext cx="3067050" cy="253365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8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7558145C-3705-4B78-89AB-56011F05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明確輸出</a:t>
            </a:r>
          </a:p>
        </p:txBody>
      </p:sp>
      <p:sp>
        <p:nvSpPr>
          <p:cNvPr id="9" name="card-copy-1">
            <a:extLst xmlns:a="http://schemas.openxmlformats.org/drawingml/2006/main">
              <a:ext uri="{FF2B5EF4-FFF2-40B4-BE49-F238E27FC236}">
                <a16:creationId xmlns:a16="http://schemas.microsoft.com/office/drawing/2014/main" id="{1B5FE8B7-977A-456F-8852-FB55AFE1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86100"/>
            <a:ext cx="24574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回傳結構化資料，最好包含 source、version、timestamp、warning。</a:t>
            </a:r>
          </a:p>
        </p:txBody>
      </p:sp>
      <p:sp>
        <p:nvSpPr>
          <p:cNvPr id="10" name="card-2">
            <a:extLst xmlns:a="http://schemas.openxmlformats.org/drawingml/2006/main">
              <a:ext uri="{FF2B5EF4-FFF2-40B4-BE49-F238E27FC236}">
                <a16:creationId xmlns:a16="http://schemas.microsoft.com/office/drawing/2014/main" id="{E7606360-F98A-4EA1-85E1-8AB811B6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57400"/>
            <a:ext cx="3067050" cy="253365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FDEDEA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</p:sp>
      <p:sp>
        <p:nvSpPr>
          <p:cNvPr id="11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1F0F4280-0F44-4751-9D8F-CAEEB543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6220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明確失敗</a:t>
            </a:r>
          </a:p>
        </p:txBody>
      </p:sp>
      <p:sp>
        <p:nvSpPr>
          <p:cNvPr id="12" name="card-copy-2">
            <a:extLst xmlns:a="http://schemas.openxmlformats.org/drawingml/2006/main">
              <a:ext uri="{FF2B5EF4-FFF2-40B4-BE49-F238E27FC236}">
                <a16:creationId xmlns:a16="http://schemas.microsoft.com/office/drawing/2014/main" id="{084872D0-FA42-4C47-A254-009A392B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86100"/>
            <a:ext cx="24574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找不到就回 not_found，不要為了面子硬湊答案。AI 最怕太有禮貌地亂講。</a:t>
            </a:r>
          </a:p>
        </p:txBody>
      </p:sp>
    </p:spTree>
    <p:extLst>
      <p:ext uri="{BB962C8B-B14F-4D97-AF65-F5344CB8AC3E}">
        <p14:creationId xmlns:p14="http://schemas.microsoft.com/office/powerpoint/2010/main" val="144504951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1F425652-C48A-4E83-936E-87894EA2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TOOL SCHEMA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8521EB0-162C-4040-9B23-674DB16AB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Tool schema 是工具的使用說明書，也是護欄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D57E02F7-54CC-4E15-A8BD-3B61F739E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Agent harness engineering  |  13/40</a:t>
            </a:r>
          </a:p>
        </p:txBody>
      </p:sp>
      <p:sp>
        <p:nvSpPr>
          <p:cNvPr id="4" name="code-box">
            <a:extLst xmlns:a="http://schemas.openxmlformats.org/drawingml/2006/main">
              <a:ext uri="{FF2B5EF4-FFF2-40B4-BE49-F238E27FC236}">
                <a16:creationId xmlns:a16="http://schemas.microsoft.com/office/drawing/2014/main" id="{A2114BAB-F6D0-42B3-BACB-9F12AFD1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5905500" cy="3676650"/>
          </a:xfrm>
          <a:prstGeom xmlns:a="http://schemas.openxmlformats.org/drawingml/2006/main" prst="roundRect">
            <a:avLst>
              <a:gd name="adj" fmla="val 2073"/>
            </a:avLst>
          </a:prstGeom>
          <a:solidFill xmlns:a="http://schemas.openxmlformats.org/drawingml/2006/main">
            <a:srgbClr val="202A33"/>
          </a:solidFill>
          <a:ln xmlns:a="http://schemas.openxmlformats.org/drawingml/2006/main" w="9525">
            <a:solidFill>
              <a:srgbClr val="131A21"/>
            </a:solidFill>
            <a:prstDash val="solid"/>
          </a:ln>
        </p:spPr>
      </p:sp>
      <p:sp>
        <p:nvSpPr>
          <p:cNvPr id="5" name="code">
            <a:extLst xmlns:a="http://schemas.openxmlformats.org/drawingml/2006/main">
              <a:ext uri="{FF2B5EF4-FFF2-40B4-BE49-F238E27FC236}">
                <a16:creationId xmlns:a16="http://schemas.microsoft.com/office/drawing/2014/main" id="{92063F79-F07F-43F0-83D7-2BFF8695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05000"/>
            <a:ext cx="556260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{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"name": "hgnc_lookup",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"description": "Check the current approved human gene symbol.",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"input_schema": {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"type": "object",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"properties": {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  "query_symbol": { "type": "string" },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  "species": { "type": "string", "enum": ["human"] }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},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"required": ["query_symbol", "species"]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}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6" name="explain">
            <a:extLst xmlns:a="http://schemas.openxmlformats.org/drawingml/2006/main">
              <a:ext uri="{FF2B5EF4-FFF2-40B4-BE49-F238E27FC236}">
                <a16:creationId xmlns:a16="http://schemas.microsoft.com/office/drawing/2014/main" id="{B5309951-46A6-47B1-99A8-0A87C869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43100"/>
            <a:ext cx="32766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</p:sp>
      <p:sp>
        <p:nvSpPr>
          <p:cNvPr id="7" name="explain-title">
            <a:extLst xmlns:a="http://schemas.openxmlformats.org/drawingml/2006/main">
              <a:ext uri="{FF2B5EF4-FFF2-40B4-BE49-F238E27FC236}">
                <a16:creationId xmlns:a16="http://schemas.microsoft.com/office/drawing/2014/main" id="{9BBE687F-5246-46DB-B73A-10FE9940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2669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看這幾個點</a:t>
            </a:r>
          </a:p>
        </p:txBody>
      </p:sp>
      <p:sp>
        <p:nvSpPr>
          <p:cNvPr id="8" name="explain-list">
            <a:extLst xmlns:a="http://schemas.openxmlformats.org/drawingml/2006/main">
              <a:ext uri="{FF2B5EF4-FFF2-40B4-BE49-F238E27FC236}">
                <a16:creationId xmlns:a16="http://schemas.microsoft.com/office/drawing/2014/main" id="{0501E866-15D8-4630-AEF2-F184A067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895600"/>
            <a:ext cx="2571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輸入要窄，不要萬用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enum 可以擋掉錯誤物種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description 要寫何時用、何時不用</a:t>
            </a:r>
          </a:p>
        </p:txBody>
      </p:sp>
    </p:spTree>
    <p:extLst>
      <p:ext uri="{BB962C8B-B14F-4D97-AF65-F5344CB8AC3E}">
        <p14:creationId xmlns:p14="http://schemas.microsoft.com/office/powerpoint/2010/main" val="44629981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B1A836EB-16E0-42ED-BCC5-7F3B8075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MCP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7E1AEFA-E5CC-40F2-8B02-39F52F1C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MCP 可以想成 agent 工具與資料的標準插座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1CC3261C-794B-469B-8DAD-5D8358E7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Agent harness engineering  |  14/40</a:t>
            </a:r>
          </a:p>
        </p:txBody>
      </p:sp>
      <p:sp>
        <p:nvSpPr>
          <p:cNvPr id="4" name="left-bullets">
            <a:extLst xmlns:a="http://schemas.openxmlformats.org/drawingml/2006/main">
              <a:ext uri="{FF2B5EF4-FFF2-40B4-BE49-F238E27FC236}">
                <a16:creationId xmlns:a16="http://schemas.microsoft.com/office/drawing/2014/main" id="{0ABCE1AE-E724-4215-88C6-DBF36C4D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4953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3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Host 是使用者面前的 AI 應用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3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Client 負責跟某個 server 維持連線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3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Server 提供 tools、resources、prompts 等能力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3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重點不是潮，是把工具發現、呼叫、回傳變標準化</a:t>
            </a:r>
          </a:p>
        </p:txBody>
      </p:sp>
      <p:sp>
        <p:nvSpPr>
          <p:cNvPr id="5" name="right-box">
            <a:extLst xmlns:a="http://schemas.openxmlformats.org/drawingml/2006/main">
              <a:ext uri="{FF2B5EF4-FFF2-40B4-BE49-F238E27FC236}">
                <a16:creationId xmlns:a16="http://schemas.microsoft.com/office/drawing/2014/main" id="{510B292D-942E-4472-AE91-049F2CDB7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4000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</p:sp>
      <p:sp>
        <p:nvSpPr>
          <p:cNvPr id="6" name="right-title">
            <a:extLst xmlns:a="http://schemas.openxmlformats.org/drawingml/2006/main">
              <a:ext uri="{FF2B5EF4-FFF2-40B4-BE49-F238E27FC236}">
                <a16:creationId xmlns:a16="http://schemas.microsoft.com/office/drawing/2014/main" id="{E7275FF1-8B5F-421A-9595-5E93685B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526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不要神化 MCP</a:t>
            </a:r>
          </a:p>
        </p:txBody>
      </p:sp>
      <p:sp>
        <p:nvSpPr>
          <p:cNvPr id="7" name="right-bullets">
            <a:extLst xmlns:a="http://schemas.openxmlformats.org/drawingml/2006/main">
              <a:ext uri="{FF2B5EF4-FFF2-40B4-BE49-F238E27FC236}">
                <a16:creationId xmlns:a16="http://schemas.microsoft.com/office/drawing/2014/main" id="{1BE3150D-3124-40BC-84A0-3C3AB3A2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81300"/>
            <a:ext cx="304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MCP 不是安全保證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MCP 不是資料品質保證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權限仍要自己設計</a:t>
            </a:r>
          </a:p>
        </p:txBody>
      </p:sp>
    </p:spTree>
    <p:extLst>
      <p:ext uri="{BB962C8B-B14F-4D97-AF65-F5344CB8AC3E}">
        <p14:creationId xmlns:p14="http://schemas.microsoft.com/office/powerpoint/2010/main" val="52542071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3DA015A4-87FF-430C-9FED-A0E5EDCC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MCP PRIMITIVES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43200B5-400C-41FD-A117-3728B415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MCP 裡的三個常見 server primitives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AEB7D05A-FB21-4975-926C-7B7DC3A7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Agent harness engineering  |  15/40</a:t>
            </a:r>
          </a:p>
        </p:txBody>
      </p:sp>
      <p:sp>
        <p:nvSpPr>
          <p:cNvPr id="4" name="head-0">
            <a:extLst xmlns:a="http://schemas.openxmlformats.org/drawingml/2006/main">
              <a:ext uri="{FF2B5EF4-FFF2-40B4-BE49-F238E27FC236}">
                <a16:creationId xmlns:a16="http://schemas.microsoft.com/office/drawing/2014/main" id="{EE85181C-8473-423D-A9FE-05EDABBC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2190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</p:sp>
      <p:sp>
        <p:nvSpPr>
          <p:cNvPr id="5" name="head-text-0">
            <a:extLst xmlns:a="http://schemas.openxmlformats.org/drawingml/2006/main">
              <a:ext uri="{FF2B5EF4-FFF2-40B4-BE49-F238E27FC236}">
                <a16:creationId xmlns:a16="http://schemas.microsoft.com/office/drawing/2014/main" id="{F9A02A56-97B4-4ABE-A4F0-38F29BFCF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24050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Primitive</a:t>
            </a:r>
          </a:p>
        </p:txBody>
      </p:sp>
      <p:sp>
        <p:nvSpPr>
          <p:cNvPr id="6" name="head-1">
            <a:extLst xmlns:a="http://schemas.openxmlformats.org/drawingml/2006/main">
              <a:ext uri="{FF2B5EF4-FFF2-40B4-BE49-F238E27FC236}">
                <a16:creationId xmlns:a16="http://schemas.microsoft.com/office/drawing/2014/main" id="{D154736B-03A9-48C2-AB38-B17BD1C2F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809750"/>
            <a:ext cx="3733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</p:sp>
      <p:sp>
        <p:nvSpPr>
          <p:cNvPr id="7" name="head-text-1">
            <a:extLst xmlns:a="http://schemas.openxmlformats.org/drawingml/2006/main">
              <a:ext uri="{FF2B5EF4-FFF2-40B4-BE49-F238E27FC236}">
                <a16:creationId xmlns:a16="http://schemas.microsoft.com/office/drawing/2014/main" id="{656D31CC-3703-4AE8-B84E-7C8EE16C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92405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它提供什麼</a:t>
            </a:r>
          </a:p>
        </p:txBody>
      </p:sp>
      <p:sp>
        <p:nvSpPr>
          <p:cNvPr id="8" name="head-2">
            <a:extLst xmlns:a="http://schemas.openxmlformats.org/drawingml/2006/main">
              <a:ext uri="{FF2B5EF4-FFF2-40B4-BE49-F238E27FC236}">
                <a16:creationId xmlns:a16="http://schemas.microsoft.com/office/drawing/2014/main" id="{F7999D3C-91EA-447C-8D4D-B321BB900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09750"/>
            <a:ext cx="3733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</p:sp>
      <p:sp>
        <p:nvSpPr>
          <p:cNvPr id="9" name="head-text-2">
            <a:extLst xmlns:a="http://schemas.openxmlformats.org/drawingml/2006/main">
              <a:ext uri="{FF2B5EF4-FFF2-40B4-BE49-F238E27FC236}">
                <a16:creationId xmlns:a16="http://schemas.microsoft.com/office/drawing/2014/main" id="{CB231122-4CB4-4772-8A07-783BE70D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2405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生醫應用</a:t>
            </a:r>
          </a:p>
        </p:txBody>
      </p:sp>
      <p:sp>
        <p:nvSpPr>
          <p:cNvPr id="10" name="cell-0-0">
            <a:extLst xmlns:a="http://schemas.openxmlformats.org/drawingml/2006/main">
              <a:ext uri="{FF2B5EF4-FFF2-40B4-BE49-F238E27FC236}">
                <a16:creationId xmlns:a16="http://schemas.microsoft.com/office/drawing/2014/main" id="{C74BC9BF-E146-405C-A34F-83030FBF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2190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1" name="cell-text-0-0">
            <a:extLst xmlns:a="http://schemas.openxmlformats.org/drawingml/2006/main">
              <a:ext uri="{FF2B5EF4-FFF2-40B4-BE49-F238E27FC236}">
                <a16:creationId xmlns:a16="http://schemas.microsoft.com/office/drawing/2014/main" id="{A7EA9CF2-FD2E-4B2C-8A97-8C8ED8BE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384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Tools</a:t>
            </a:r>
          </a:p>
        </p:txBody>
      </p:sp>
      <p:sp>
        <p:nvSpPr>
          <p:cNvPr id="12" name="cell-0-1">
            <a:extLst xmlns:a="http://schemas.openxmlformats.org/drawingml/2006/main">
              <a:ext uri="{FF2B5EF4-FFF2-40B4-BE49-F238E27FC236}">
                <a16:creationId xmlns:a16="http://schemas.microsoft.com/office/drawing/2014/main" id="{63BA7B53-4B8A-4AA2-8E25-586C8700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324100"/>
            <a:ext cx="3733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3" name="cell-text-0-1">
            <a:extLst xmlns:a="http://schemas.openxmlformats.org/drawingml/2006/main">
              <a:ext uri="{FF2B5EF4-FFF2-40B4-BE49-F238E27FC236}">
                <a16:creationId xmlns:a16="http://schemas.microsoft.com/office/drawing/2014/main" id="{B26FD021-AA6A-4075-B766-FF7C2068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4384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可執行的函式或動作</a:t>
            </a:r>
          </a:p>
        </p:txBody>
      </p:sp>
      <p:sp>
        <p:nvSpPr>
          <p:cNvPr id="14" name="cell-0-2">
            <a:extLst xmlns:a="http://schemas.openxmlformats.org/drawingml/2006/main">
              <a:ext uri="{FF2B5EF4-FFF2-40B4-BE49-F238E27FC236}">
                <a16:creationId xmlns:a16="http://schemas.microsoft.com/office/drawing/2014/main" id="{7189D18B-D42E-41D7-ADAB-7572D3EF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24100"/>
            <a:ext cx="3733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5" name="cell-text-0-2">
            <a:extLst xmlns:a="http://schemas.openxmlformats.org/drawingml/2006/main">
              <a:ext uri="{FF2B5EF4-FFF2-40B4-BE49-F238E27FC236}">
                <a16:creationId xmlns:a16="http://schemas.microsoft.com/office/drawing/2014/main" id="{D7C239D5-481A-4963-AD22-FD6BE4C89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384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查 PubMed、查 DOI、跑 validator</a:t>
            </a:r>
          </a:p>
        </p:txBody>
      </p:sp>
      <p:sp>
        <p:nvSpPr>
          <p:cNvPr id="16" name="cell-1-0">
            <a:extLst xmlns:a="http://schemas.openxmlformats.org/drawingml/2006/main">
              <a:ext uri="{FF2B5EF4-FFF2-40B4-BE49-F238E27FC236}">
                <a16:creationId xmlns:a16="http://schemas.microsoft.com/office/drawing/2014/main" id="{B11CDB6C-BD45-41A3-8C27-805BF5155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2190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7" name="cell-text-1-0">
            <a:extLst xmlns:a="http://schemas.openxmlformats.org/drawingml/2006/main">
              <a:ext uri="{FF2B5EF4-FFF2-40B4-BE49-F238E27FC236}">
                <a16:creationId xmlns:a16="http://schemas.microsoft.com/office/drawing/2014/main" id="{F946B264-28FF-4C45-AA16-D6F7164E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623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Resources</a:t>
            </a:r>
          </a:p>
        </p:txBody>
      </p:sp>
      <p:sp>
        <p:nvSpPr>
          <p:cNvPr id="18" name="cell-1-1">
            <a:extLst xmlns:a="http://schemas.openxmlformats.org/drawingml/2006/main">
              <a:ext uri="{FF2B5EF4-FFF2-40B4-BE49-F238E27FC236}">
                <a16:creationId xmlns:a16="http://schemas.microsoft.com/office/drawing/2014/main" id="{59124B1C-B267-4A76-AFD1-3C4CA41BD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048000"/>
            <a:ext cx="3733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9" name="cell-text-1-1">
            <a:extLst xmlns:a="http://schemas.openxmlformats.org/drawingml/2006/main">
              <a:ext uri="{FF2B5EF4-FFF2-40B4-BE49-F238E27FC236}">
                <a16:creationId xmlns:a16="http://schemas.microsoft.com/office/drawing/2014/main" id="{DBC19713-AB45-40FD-9E5A-2C7797E4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1623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可讀取的資料內容</a:t>
            </a:r>
          </a:p>
        </p:txBody>
      </p:sp>
      <p:sp>
        <p:nvSpPr>
          <p:cNvPr id="20" name="cell-1-2">
            <a:extLst xmlns:a="http://schemas.openxmlformats.org/drawingml/2006/main">
              <a:ext uri="{FF2B5EF4-FFF2-40B4-BE49-F238E27FC236}">
                <a16:creationId xmlns:a16="http://schemas.microsoft.com/office/drawing/2014/main" id="{22A65A43-B4FC-45A7-A21B-4D36A048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48000"/>
            <a:ext cx="3733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1" name="cell-text-1-2">
            <a:extLst xmlns:a="http://schemas.openxmlformats.org/drawingml/2006/main">
              <a:ext uri="{FF2B5EF4-FFF2-40B4-BE49-F238E27FC236}">
                <a16:creationId xmlns:a16="http://schemas.microsoft.com/office/drawing/2014/main" id="{051EC2D7-244E-48DC-93CD-A121F000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623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資料庫 schema、實驗 SOP、去識別化資料字典</a:t>
            </a:r>
          </a:p>
        </p:txBody>
      </p:sp>
      <p:sp>
        <p:nvSpPr>
          <p:cNvPr id="22" name="cell-2-0">
            <a:extLst xmlns:a="http://schemas.openxmlformats.org/drawingml/2006/main">
              <a:ext uri="{FF2B5EF4-FFF2-40B4-BE49-F238E27FC236}">
                <a16:creationId xmlns:a16="http://schemas.microsoft.com/office/drawing/2014/main" id="{95846D5D-E6EC-4811-BECB-A9DF8D41A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71900"/>
            <a:ext cx="2190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3" name="cell-text-2-0">
            <a:extLst xmlns:a="http://schemas.openxmlformats.org/drawingml/2006/main">
              <a:ext uri="{FF2B5EF4-FFF2-40B4-BE49-F238E27FC236}">
                <a16:creationId xmlns:a16="http://schemas.microsoft.com/office/drawing/2014/main" id="{F8C8B074-4990-46E4-998A-73766BC26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862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Prompts</a:t>
            </a:r>
          </a:p>
        </p:txBody>
      </p:sp>
      <p:sp>
        <p:nvSpPr>
          <p:cNvPr id="24" name="cell-2-1">
            <a:extLst xmlns:a="http://schemas.openxmlformats.org/drawingml/2006/main">
              <a:ext uri="{FF2B5EF4-FFF2-40B4-BE49-F238E27FC236}">
                <a16:creationId xmlns:a16="http://schemas.microsoft.com/office/drawing/2014/main" id="{CBEF786E-8315-4457-96A0-2927E9C5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771900"/>
            <a:ext cx="3733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5" name="cell-text-2-1">
            <a:extLst xmlns:a="http://schemas.openxmlformats.org/drawingml/2006/main">
              <a:ext uri="{FF2B5EF4-FFF2-40B4-BE49-F238E27FC236}">
                <a16:creationId xmlns:a16="http://schemas.microsoft.com/office/drawing/2014/main" id="{D16C4A28-B491-408C-A166-F9BA8763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8862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可重用的任務模板</a:t>
            </a:r>
          </a:p>
        </p:txBody>
      </p:sp>
      <p:sp>
        <p:nvSpPr>
          <p:cNvPr id="26" name="cell-2-2">
            <a:extLst xmlns:a="http://schemas.openxmlformats.org/drawingml/2006/main">
              <a:ext uri="{FF2B5EF4-FFF2-40B4-BE49-F238E27FC236}">
                <a16:creationId xmlns:a16="http://schemas.microsoft.com/office/drawing/2014/main" id="{A9C182FC-B790-45C4-BE1B-D867C90A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771900"/>
            <a:ext cx="3733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7" name="cell-text-2-2">
            <a:extLst xmlns:a="http://schemas.openxmlformats.org/drawingml/2006/main">
              <a:ext uri="{FF2B5EF4-FFF2-40B4-BE49-F238E27FC236}">
                <a16:creationId xmlns:a16="http://schemas.microsoft.com/office/drawing/2014/main" id="{64087D93-7AE1-4C69-A974-947CFB86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862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evidence table extraction prompt、review prompt</a:t>
            </a:r>
          </a:p>
        </p:txBody>
      </p:sp>
      <p:sp>
        <p:nvSpPr>
          <p:cNvPr id="28" name="cell-3-0">
            <a:extLst xmlns:a="http://schemas.openxmlformats.org/drawingml/2006/main">
              <a:ext uri="{FF2B5EF4-FFF2-40B4-BE49-F238E27FC236}">
                <a16:creationId xmlns:a16="http://schemas.microsoft.com/office/drawing/2014/main" id="{133D47F1-AD1B-43A7-9DD2-73478B956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95800"/>
            <a:ext cx="2190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9" name="cell-text-3-0">
            <a:extLst xmlns:a="http://schemas.openxmlformats.org/drawingml/2006/main">
              <a:ext uri="{FF2B5EF4-FFF2-40B4-BE49-F238E27FC236}">
                <a16:creationId xmlns:a16="http://schemas.microsoft.com/office/drawing/2014/main" id="{DC48896E-8EEA-4DE0-B0C0-9ADF20D5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101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Notifications</a:t>
            </a:r>
          </a:p>
        </p:txBody>
      </p:sp>
      <p:sp>
        <p:nvSpPr>
          <p:cNvPr id="30" name="cell-3-1">
            <a:extLst xmlns:a="http://schemas.openxmlformats.org/drawingml/2006/main">
              <a:ext uri="{FF2B5EF4-FFF2-40B4-BE49-F238E27FC236}">
                <a16:creationId xmlns:a16="http://schemas.microsoft.com/office/drawing/2014/main" id="{8D705240-8A21-4BCA-A833-A4F72196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495800"/>
            <a:ext cx="3733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31" name="cell-text-3-1">
            <a:extLst xmlns:a="http://schemas.openxmlformats.org/drawingml/2006/main">
              <a:ext uri="{FF2B5EF4-FFF2-40B4-BE49-F238E27FC236}">
                <a16:creationId xmlns:a16="http://schemas.microsoft.com/office/drawing/2014/main" id="{C9D93BA1-AC19-425A-AEA4-FCC64453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6101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工具或狀態變動提醒</a:t>
            </a:r>
          </a:p>
        </p:txBody>
      </p:sp>
      <p:sp>
        <p:nvSpPr>
          <p:cNvPr id="32" name="cell-3-2">
            <a:extLst xmlns:a="http://schemas.openxmlformats.org/drawingml/2006/main">
              <a:ext uri="{FF2B5EF4-FFF2-40B4-BE49-F238E27FC236}">
                <a16:creationId xmlns:a16="http://schemas.microsoft.com/office/drawing/2014/main" id="{A0C65ED9-F4DE-4106-841F-6B9C7861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95800"/>
            <a:ext cx="3733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33" name="cell-text-3-2">
            <a:extLst xmlns:a="http://schemas.openxmlformats.org/drawingml/2006/main">
              <a:ext uri="{FF2B5EF4-FFF2-40B4-BE49-F238E27FC236}">
                <a16:creationId xmlns:a16="http://schemas.microsoft.com/office/drawing/2014/main" id="{77A19ED9-07AD-402A-B481-BBBF6C82C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101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資料庫更新、批次分析完成</a:t>
            </a:r>
          </a:p>
        </p:txBody>
      </p:sp>
    </p:spTree>
    <p:extLst>
      <p:ext uri="{BB962C8B-B14F-4D97-AF65-F5344CB8AC3E}">
        <p14:creationId xmlns:p14="http://schemas.microsoft.com/office/powerpoint/2010/main" val="22605108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818E508D-3F63-4209-8312-A515E1C6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438D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38D4A"/>
                </a:solidFill>
                <a:latin typeface="Aptos"/>
                <a:ea typeface="Aptos"/>
                <a:cs typeface="Aptos"/>
              </a:rPr>
              <a:t>SKILLS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52AAAAF-3D91-4F8A-886C-542E6A91E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Skill 是把工作方法包起來，不只是多一個工具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E4E9AB9D-4399-45A6-9BF7-DBC5CA5A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Agent harness engineering  |  16/40</a:t>
            </a:r>
          </a:p>
        </p:txBody>
      </p:sp>
      <p:sp>
        <p:nvSpPr>
          <p:cNvPr id="4" name="left-bullets">
            <a:extLst xmlns:a="http://schemas.openxmlformats.org/drawingml/2006/main">
              <a:ext uri="{FF2B5EF4-FFF2-40B4-BE49-F238E27FC236}">
                <a16:creationId xmlns:a16="http://schemas.microsoft.com/office/drawing/2014/main" id="{0E80EC3B-9305-4718-A065-C561C102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4953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3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Tool 回答：我可以做哪個動作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3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Skill 回答：這類任務應該怎麼做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3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好的 skill 會包含步驟、限制、格式、檢查方式</a:t>
            </a:r>
          </a:p>
        </p:txBody>
      </p:sp>
      <p:sp>
        <p:nvSpPr>
          <p:cNvPr id="5" name="right-box">
            <a:extLst xmlns:a="http://schemas.openxmlformats.org/drawingml/2006/main">
              <a:ext uri="{FF2B5EF4-FFF2-40B4-BE49-F238E27FC236}">
                <a16:creationId xmlns:a16="http://schemas.microsoft.com/office/drawing/2014/main" id="{31B17D80-A20D-4C0A-B670-E0FF5528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4000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DF8EE"/>
          </a:solidFill>
          <a:ln xmlns:a="http://schemas.openxmlformats.org/drawingml/2006/main" w="9525">
            <a:solidFill>
              <a:srgbClr val="438D4A"/>
            </a:solidFill>
            <a:prstDash val="solid"/>
          </a:ln>
        </p:spPr>
      </p:sp>
      <p:sp>
        <p:nvSpPr>
          <p:cNvPr id="6" name="right-title">
            <a:extLst xmlns:a="http://schemas.openxmlformats.org/drawingml/2006/main">
              <a:ext uri="{FF2B5EF4-FFF2-40B4-BE49-F238E27FC236}">
                <a16:creationId xmlns:a16="http://schemas.microsoft.com/office/drawing/2014/main" id="{0467812A-7F38-40C2-BAD8-43517E34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526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438D4A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438D4A"/>
                </a:solidFill>
                <a:latin typeface="PingFang TC"/>
                <a:ea typeface="PingFang TC"/>
                <a:cs typeface="PingFang TC"/>
              </a:rPr>
              <a:t>生醫例子</a:t>
            </a:r>
          </a:p>
        </p:txBody>
      </p:sp>
      <p:sp>
        <p:nvSpPr>
          <p:cNvPr id="7" name="right-bullets">
            <a:extLst xmlns:a="http://schemas.openxmlformats.org/drawingml/2006/main">
              <a:ext uri="{FF2B5EF4-FFF2-40B4-BE49-F238E27FC236}">
                <a16:creationId xmlns:a16="http://schemas.microsoft.com/office/drawing/2014/main" id="{F8BA4871-2A68-4720-997F-687C5CB5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81300"/>
            <a:ext cx="304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variant triage skill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citation audit skill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cohort summary skill</a:t>
            </a:r>
          </a:p>
        </p:txBody>
      </p:sp>
    </p:spTree>
    <p:extLst>
      <p:ext uri="{BB962C8B-B14F-4D97-AF65-F5344CB8AC3E}">
        <p14:creationId xmlns:p14="http://schemas.microsoft.com/office/powerpoint/2010/main" val="54483528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D731E7A2-0A7F-4E57-87AF-6BF6D289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438D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38D4A"/>
                </a:solidFill>
                <a:latin typeface="Aptos"/>
                <a:ea typeface="Aptos"/>
                <a:cs typeface="Aptos"/>
              </a:rPr>
              <a:t>TOOL VS SKILL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F6C891A-7B85-4259-9823-E9383040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Tool 像儀器，skill 像實驗 SOP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28CD664F-CB96-4685-86AC-96473599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Agent harness engineering  |  17/40</a:t>
            </a:r>
          </a:p>
        </p:txBody>
      </p:sp>
      <p:sp>
        <p:nvSpPr>
          <p:cNvPr id="4" name="left">
            <a:extLst xmlns:a="http://schemas.openxmlformats.org/drawingml/2006/main">
              <a:ext uri="{FF2B5EF4-FFF2-40B4-BE49-F238E27FC236}">
                <a16:creationId xmlns:a16="http://schemas.microsoft.com/office/drawing/2014/main" id="{08347C51-FD45-4D0F-8AD3-2D4479B4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4762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DEDEA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</p:sp>
      <p:sp>
        <p:nvSpPr>
          <p:cNvPr id="5" name="left-head">
            <a:extLst xmlns:a="http://schemas.openxmlformats.org/drawingml/2006/main">
              <a:ext uri="{FF2B5EF4-FFF2-40B4-BE49-F238E27FC236}">
                <a16:creationId xmlns:a16="http://schemas.microsoft.com/office/drawing/2014/main" id="{99BFEF1C-67E9-4E94-B592-C693604F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717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只有工具</a:t>
            </a:r>
          </a:p>
        </p:txBody>
      </p:sp>
      <p:sp>
        <p:nvSpPr>
          <p:cNvPr id="6" name="left-list">
            <a:extLst xmlns:a="http://schemas.openxmlformats.org/drawingml/2006/main">
              <a:ext uri="{FF2B5EF4-FFF2-40B4-BE49-F238E27FC236}">
                <a16:creationId xmlns:a16="http://schemas.microsoft.com/office/drawing/2014/main" id="{580EB3CC-E346-4B9F-A2BE-A2A1F93D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38450"/>
            <a:ext cx="3714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會查 PubMed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會寫 CSV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會跑 script</a:t>
            </a:r>
          </a:p>
        </p:txBody>
      </p:sp>
      <p:sp>
        <p:nvSpPr>
          <p:cNvPr id="7" name="right">
            <a:extLst xmlns:a="http://schemas.openxmlformats.org/drawingml/2006/main">
              <a:ext uri="{FF2B5EF4-FFF2-40B4-BE49-F238E27FC236}">
                <a16:creationId xmlns:a16="http://schemas.microsoft.com/office/drawing/2014/main" id="{B2B2C2E7-CDC5-4215-963D-99D25F0A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4762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DF8EE"/>
          </a:solidFill>
          <a:ln xmlns:a="http://schemas.openxmlformats.org/drawingml/2006/main" w="9525">
            <a:solidFill>
              <a:srgbClr val="438D4A"/>
            </a:solidFill>
            <a:prstDash val="solid"/>
          </a:ln>
        </p:spPr>
      </p:sp>
      <p:sp>
        <p:nvSpPr>
          <p:cNvPr id="8" name="right-head">
            <a:extLst xmlns:a="http://schemas.openxmlformats.org/drawingml/2006/main">
              <a:ext uri="{FF2B5EF4-FFF2-40B4-BE49-F238E27FC236}">
                <a16:creationId xmlns:a16="http://schemas.microsoft.com/office/drawing/2014/main" id="{625ACBAD-7448-4A80-95A6-81F162F2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717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438D4A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438D4A"/>
                </a:solidFill>
                <a:latin typeface="PingFang TC"/>
                <a:ea typeface="PingFang TC"/>
                <a:cs typeface="PingFang TC"/>
              </a:rPr>
              <a:t>加上 skill</a:t>
            </a:r>
          </a:p>
        </p:txBody>
      </p:sp>
      <p:sp>
        <p:nvSpPr>
          <p:cNvPr id="9" name="right-list">
            <a:extLst xmlns:a="http://schemas.openxmlformats.org/drawingml/2006/main">
              <a:ext uri="{FF2B5EF4-FFF2-40B4-BE49-F238E27FC236}">
                <a16:creationId xmlns:a16="http://schemas.microsoft.com/office/drawing/2014/main" id="{6B77F709-C719-4A71-B5B9-6424F93B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3714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先定義 PICO 或問題範圍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再抽 claim 與 citation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最後跑檢查與人工 review</a:t>
            </a:r>
          </a:p>
        </p:txBody>
      </p:sp>
    </p:spTree>
    <p:extLst>
      <p:ext uri="{BB962C8B-B14F-4D97-AF65-F5344CB8AC3E}">
        <p14:creationId xmlns:p14="http://schemas.microsoft.com/office/powerpoint/2010/main" val="25363698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8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46F8952E-E61E-482A-A72D-29ABD4B9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PART 3</a:t>
            </a:r>
          </a:p>
        </p:txBody>
      </p:sp>
      <p:sp>
        <p:nvSpPr>
          <p:cNvPr id="2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FE1A7180-82F4-4F5D-90FF-8992E70F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9334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225" b="1">
                <a:solidFill>
                  <a:srgbClr val="D89A16"/>
                </a:solidFill>
                <a:latin typeface="PingFang TC"/>
                <a:ea typeface="PingFang TC"/>
                <a:cs typeface="PingFang TC"/>
              </a:defRPr>
            </a:pPr>
            <a:r>
              <a:rPr sz="3225" b="1">
                <a:solidFill>
                  <a:srgbClr val="D89A16"/>
                </a:solidFill>
                <a:latin typeface="PingFang TC"/>
                <a:ea typeface="PingFang TC"/>
                <a:cs typeface="PingFang TC"/>
              </a:rPr>
              <a:t>Memory、state、logs 決定 agent 能不能被追查</a:t>
            </a:r>
          </a:p>
        </p:txBody>
      </p:sp>
      <p:sp>
        <p:nvSpPr>
          <p:cNvPr id="3" name="section-subtitle">
            <a:extLst xmlns:a="http://schemas.openxmlformats.org/drawingml/2006/main">
              <a:ext uri="{FF2B5EF4-FFF2-40B4-BE49-F238E27FC236}">
                <a16:creationId xmlns:a16="http://schemas.microsoft.com/office/drawing/2014/main" id="{284156F8-0B8D-4088-87AF-755C4DDA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6230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生醫任務不是只看最後答案，還要知道答案怎麼來的。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41D7722-F32E-4322-8191-86266165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Agent harness engineering  |  18/40</a:t>
            </a:r>
          </a:p>
        </p:txBody>
      </p:sp>
    </p:spTree>
    <p:extLst>
      <p:ext uri="{BB962C8B-B14F-4D97-AF65-F5344CB8AC3E}">
        <p14:creationId xmlns:p14="http://schemas.microsoft.com/office/powerpoint/2010/main" val="189293638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92137376-B7FA-4956-97DB-C8EBE981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MEMORY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A739ABA-10F3-4490-B957-8AC54922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Memory 不是越多越好，而是要有邊界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A8B9DD71-CA65-49E4-8B02-DEAB167C9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Agent harness engineering  |  19/40</a:t>
            </a:r>
          </a:p>
        </p:txBody>
      </p:sp>
      <p:sp>
        <p:nvSpPr>
          <p:cNvPr id="4" name="left-bullets">
            <a:extLst xmlns:a="http://schemas.openxmlformats.org/drawingml/2006/main">
              <a:ext uri="{FF2B5EF4-FFF2-40B4-BE49-F238E27FC236}">
                <a16:creationId xmlns:a16="http://schemas.microsoft.com/office/drawing/2014/main" id="{B8C94F1D-EE71-4CC7-AA10-44FC9B24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4953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3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短期 memory：目前對話與當下任務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3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專案 memory：欄位格式、命名慣例、使用者偏好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3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長期 memory：跨專案保存的偏好，生醫資料要非常保守</a:t>
            </a:r>
          </a:p>
        </p:txBody>
      </p:sp>
      <p:sp>
        <p:nvSpPr>
          <p:cNvPr id="5" name="right-box">
            <a:extLst xmlns:a="http://schemas.openxmlformats.org/drawingml/2006/main">
              <a:ext uri="{FF2B5EF4-FFF2-40B4-BE49-F238E27FC236}">
                <a16:creationId xmlns:a16="http://schemas.microsoft.com/office/drawing/2014/main" id="{56DFDD0F-364F-40B0-88A3-46344658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4000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89A16"/>
            </a:solidFill>
            <a:prstDash val="solid"/>
          </a:ln>
        </p:spPr>
      </p:sp>
      <p:sp>
        <p:nvSpPr>
          <p:cNvPr id="6" name="right-title">
            <a:extLst xmlns:a="http://schemas.openxmlformats.org/drawingml/2006/main">
              <a:ext uri="{FF2B5EF4-FFF2-40B4-BE49-F238E27FC236}">
                <a16:creationId xmlns:a16="http://schemas.microsoft.com/office/drawing/2014/main" id="{D61DA46F-9EA3-4F4C-AC69-4DE159F9B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526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D89A16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D89A16"/>
                </a:solidFill>
                <a:latin typeface="PingFang TC"/>
                <a:ea typeface="PingFang TC"/>
                <a:cs typeface="PingFang TC"/>
              </a:rPr>
              <a:t>安全原則</a:t>
            </a:r>
          </a:p>
        </p:txBody>
      </p:sp>
      <p:sp>
        <p:nvSpPr>
          <p:cNvPr id="7" name="right-bullets">
            <a:extLst xmlns:a="http://schemas.openxmlformats.org/drawingml/2006/main">
              <a:ext uri="{FF2B5EF4-FFF2-40B4-BE49-F238E27FC236}">
                <a16:creationId xmlns:a16="http://schemas.microsoft.com/office/drawing/2014/main" id="{B56416A6-20D3-43EF-8A2F-E06304D0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81300"/>
            <a:ext cx="304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不要存 PHI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不要存未驗證結論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重要記憶要有來源</a:t>
            </a:r>
          </a:p>
        </p:txBody>
      </p:sp>
    </p:spTree>
    <p:extLst>
      <p:ext uri="{BB962C8B-B14F-4D97-AF65-F5344CB8AC3E}">
        <p14:creationId xmlns:p14="http://schemas.microsoft.com/office/powerpoint/2010/main" val="28677679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3678C438-3682-4A72-A983-EC40FCAFA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STATE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49D1057-BF8E-4B88-B5E7-A3C3417D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State 是任務的進度表，不是神秘記憶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83DBA953-C059-4D5F-A2EB-7826FDF9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Agent harness engineering  |  20/40</a:t>
            </a:r>
          </a:p>
        </p:txBody>
      </p:sp>
      <p:sp>
        <p:nvSpPr>
          <p:cNvPr id="4" name="head-0">
            <a:extLst xmlns:a="http://schemas.openxmlformats.org/drawingml/2006/main">
              <a:ext uri="{FF2B5EF4-FFF2-40B4-BE49-F238E27FC236}">
                <a16:creationId xmlns:a16="http://schemas.microsoft.com/office/drawing/2014/main" id="{183C0298-472F-48F0-9420-955DE24F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2190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D89A16"/>
            </a:solidFill>
            <a:prstDash val="solid"/>
          </a:ln>
        </p:spPr>
      </p:sp>
      <p:sp>
        <p:nvSpPr>
          <p:cNvPr id="5" name="head-text-0">
            <a:extLst xmlns:a="http://schemas.openxmlformats.org/drawingml/2006/main">
              <a:ext uri="{FF2B5EF4-FFF2-40B4-BE49-F238E27FC236}">
                <a16:creationId xmlns:a16="http://schemas.microsoft.com/office/drawing/2014/main" id="{4895F32D-26C3-4271-B065-ED1C9ABD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24050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D89A16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D89A16"/>
                </a:solidFill>
                <a:latin typeface="PingFang TC"/>
                <a:ea typeface="PingFang TC"/>
                <a:cs typeface="PingFang TC"/>
              </a:rPr>
              <a:t>State 欄位</a:t>
            </a:r>
          </a:p>
        </p:txBody>
      </p:sp>
      <p:sp>
        <p:nvSpPr>
          <p:cNvPr id="6" name="head-1">
            <a:extLst xmlns:a="http://schemas.openxmlformats.org/drawingml/2006/main">
              <a:ext uri="{FF2B5EF4-FFF2-40B4-BE49-F238E27FC236}">
                <a16:creationId xmlns:a16="http://schemas.microsoft.com/office/drawing/2014/main" id="{DADD8ACF-15D3-4969-932F-8984B7665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809750"/>
            <a:ext cx="3733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D89A16"/>
            </a:solidFill>
            <a:prstDash val="solid"/>
          </a:ln>
        </p:spPr>
      </p:sp>
      <p:sp>
        <p:nvSpPr>
          <p:cNvPr id="7" name="head-text-1">
            <a:extLst xmlns:a="http://schemas.openxmlformats.org/drawingml/2006/main">
              <a:ext uri="{FF2B5EF4-FFF2-40B4-BE49-F238E27FC236}">
                <a16:creationId xmlns:a16="http://schemas.microsoft.com/office/drawing/2014/main" id="{4D11C214-59F8-492C-A32E-501F10E8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92405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D89A16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D89A16"/>
                </a:solidFill>
                <a:latin typeface="PingFang TC"/>
                <a:ea typeface="PingFang TC"/>
                <a:cs typeface="PingFang TC"/>
              </a:rPr>
              <a:t>用途</a:t>
            </a:r>
          </a:p>
        </p:txBody>
      </p:sp>
      <p:sp>
        <p:nvSpPr>
          <p:cNvPr id="8" name="head-2">
            <a:extLst xmlns:a="http://schemas.openxmlformats.org/drawingml/2006/main">
              <a:ext uri="{FF2B5EF4-FFF2-40B4-BE49-F238E27FC236}">
                <a16:creationId xmlns:a16="http://schemas.microsoft.com/office/drawing/2014/main" id="{51C6D33B-3177-4B5B-9AC7-48BF0D29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09750"/>
            <a:ext cx="3733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D89A16"/>
            </a:solidFill>
            <a:prstDash val="solid"/>
          </a:ln>
        </p:spPr>
      </p:sp>
      <p:sp>
        <p:nvSpPr>
          <p:cNvPr id="9" name="head-text-2">
            <a:extLst xmlns:a="http://schemas.openxmlformats.org/drawingml/2006/main">
              <a:ext uri="{FF2B5EF4-FFF2-40B4-BE49-F238E27FC236}">
                <a16:creationId xmlns:a16="http://schemas.microsoft.com/office/drawing/2014/main" id="{C722AD4E-5C1F-4C70-A17C-A35DB082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2405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D89A16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D89A16"/>
                </a:solidFill>
                <a:latin typeface="PingFang TC"/>
                <a:ea typeface="PingFang TC"/>
                <a:cs typeface="PingFang TC"/>
              </a:rPr>
              <a:t>例子</a:t>
            </a:r>
          </a:p>
        </p:txBody>
      </p:sp>
      <p:sp>
        <p:nvSpPr>
          <p:cNvPr id="10" name="cell-0-0">
            <a:extLst xmlns:a="http://schemas.openxmlformats.org/drawingml/2006/main">
              <a:ext uri="{FF2B5EF4-FFF2-40B4-BE49-F238E27FC236}">
                <a16:creationId xmlns:a16="http://schemas.microsoft.com/office/drawing/2014/main" id="{6AF72A28-F1E5-4F81-86DA-7F7700A6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2190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1" name="cell-text-0-0">
            <a:extLst xmlns:a="http://schemas.openxmlformats.org/drawingml/2006/main">
              <a:ext uri="{FF2B5EF4-FFF2-40B4-BE49-F238E27FC236}">
                <a16:creationId xmlns:a16="http://schemas.microsoft.com/office/drawing/2014/main" id="{F77F25BD-A3FE-473A-B90B-0CC11481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384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D89A16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D89A16"/>
                </a:solidFill>
                <a:latin typeface="PingFang TC"/>
                <a:ea typeface="PingFang TC"/>
                <a:cs typeface="PingFang TC"/>
              </a:rPr>
              <a:t>task_id</a:t>
            </a:r>
          </a:p>
        </p:txBody>
      </p:sp>
      <p:sp>
        <p:nvSpPr>
          <p:cNvPr id="12" name="cell-0-1">
            <a:extLst xmlns:a="http://schemas.openxmlformats.org/drawingml/2006/main">
              <a:ext uri="{FF2B5EF4-FFF2-40B4-BE49-F238E27FC236}">
                <a16:creationId xmlns:a16="http://schemas.microsoft.com/office/drawing/2014/main" id="{C2712CE0-345C-433B-A892-47D45B24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324100"/>
            <a:ext cx="3733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3" name="cell-text-0-1">
            <a:extLst xmlns:a="http://schemas.openxmlformats.org/drawingml/2006/main">
              <a:ext uri="{FF2B5EF4-FFF2-40B4-BE49-F238E27FC236}">
                <a16:creationId xmlns:a16="http://schemas.microsoft.com/office/drawing/2014/main" id="{21F95CF7-6AD2-4F38-BFA0-20247184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4384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知道正在做哪個任務</a:t>
            </a:r>
          </a:p>
        </p:txBody>
      </p:sp>
      <p:sp>
        <p:nvSpPr>
          <p:cNvPr id="14" name="cell-0-2">
            <a:extLst xmlns:a="http://schemas.openxmlformats.org/drawingml/2006/main">
              <a:ext uri="{FF2B5EF4-FFF2-40B4-BE49-F238E27FC236}">
                <a16:creationId xmlns:a16="http://schemas.microsoft.com/office/drawing/2014/main" id="{01C0D497-D9C1-4834-AAEF-94519F07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24100"/>
            <a:ext cx="3733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5" name="cell-text-0-2">
            <a:extLst xmlns:a="http://schemas.openxmlformats.org/drawingml/2006/main">
              <a:ext uri="{FF2B5EF4-FFF2-40B4-BE49-F238E27FC236}">
                <a16:creationId xmlns:a16="http://schemas.microsoft.com/office/drawing/2014/main" id="{1D2244F7-9679-4163-AD0E-E6E9F372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384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EGFR-TKI-resistance-001</a:t>
            </a:r>
          </a:p>
        </p:txBody>
      </p:sp>
      <p:sp>
        <p:nvSpPr>
          <p:cNvPr id="16" name="cell-1-0">
            <a:extLst xmlns:a="http://schemas.openxmlformats.org/drawingml/2006/main">
              <a:ext uri="{FF2B5EF4-FFF2-40B4-BE49-F238E27FC236}">
                <a16:creationId xmlns:a16="http://schemas.microsoft.com/office/drawing/2014/main" id="{54FDE58D-ABAA-49CC-9818-BC587D1F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2190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7" name="cell-text-1-0">
            <a:extLst xmlns:a="http://schemas.openxmlformats.org/drawingml/2006/main">
              <a:ext uri="{FF2B5EF4-FFF2-40B4-BE49-F238E27FC236}">
                <a16:creationId xmlns:a16="http://schemas.microsoft.com/office/drawing/2014/main" id="{6A908140-CA2B-4892-9AA8-BC2BCD46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623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D89A16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D89A16"/>
                </a:solidFill>
                <a:latin typeface="PingFang TC"/>
                <a:ea typeface="PingFang TC"/>
                <a:cs typeface="PingFang TC"/>
              </a:rPr>
              <a:t>step</a:t>
            </a:r>
          </a:p>
        </p:txBody>
      </p:sp>
      <p:sp>
        <p:nvSpPr>
          <p:cNvPr id="18" name="cell-1-1">
            <a:extLst xmlns:a="http://schemas.openxmlformats.org/drawingml/2006/main">
              <a:ext uri="{FF2B5EF4-FFF2-40B4-BE49-F238E27FC236}">
                <a16:creationId xmlns:a16="http://schemas.microsoft.com/office/drawing/2014/main" id="{D3D48F21-49F6-4664-808C-841CFC9A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048000"/>
            <a:ext cx="3733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9" name="cell-text-1-1">
            <a:extLst xmlns:a="http://schemas.openxmlformats.org/drawingml/2006/main">
              <a:ext uri="{FF2B5EF4-FFF2-40B4-BE49-F238E27FC236}">
                <a16:creationId xmlns:a16="http://schemas.microsoft.com/office/drawing/2014/main" id="{854E0615-F7ED-4267-B1E2-7631332F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1623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知道目前在哪一步</a:t>
            </a:r>
          </a:p>
        </p:txBody>
      </p:sp>
      <p:sp>
        <p:nvSpPr>
          <p:cNvPr id="20" name="cell-1-2">
            <a:extLst xmlns:a="http://schemas.openxmlformats.org/drawingml/2006/main">
              <a:ext uri="{FF2B5EF4-FFF2-40B4-BE49-F238E27FC236}">
                <a16:creationId xmlns:a16="http://schemas.microsoft.com/office/drawing/2014/main" id="{D3B6A548-B67A-4AD1-845A-C78165C6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48000"/>
            <a:ext cx="3733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1" name="cell-text-1-2">
            <a:extLst xmlns:a="http://schemas.openxmlformats.org/drawingml/2006/main">
              <a:ext uri="{FF2B5EF4-FFF2-40B4-BE49-F238E27FC236}">
                <a16:creationId xmlns:a16="http://schemas.microsoft.com/office/drawing/2014/main" id="{78EA7A3E-208D-4689-B9A4-3F94367C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623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screening / extraction / review</a:t>
            </a:r>
          </a:p>
        </p:txBody>
      </p:sp>
      <p:sp>
        <p:nvSpPr>
          <p:cNvPr id="22" name="cell-2-0">
            <a:extLst xmlns:a="http://schemas.openxmlformats.org/drawingml/2006/main">
              <a:ext uri="{FF2B5EF4-FFF2-40B4-BE49-F238E27FC236}">
                <a16:creationId xmlns:a16="http://schemas.microsoft.com/office/drawing/2014/main" id="{AD2C7DD5-3991-431E-AA20-04CB178B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71900"/>
            <a:ext cx="2190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3" name="cell-text-2-0">
            <a:extLst xmlns:a="http://schemas.openxmlformats.org/drawingml/2006/main">
              <a:ext uri="{FF2B5EF4-FFF2-40B4-BE49-F238E27FC236}">
                <a16:creationId xmlns:a16="http://schemas.microsoft.com/office/drawing/2014/main" id="{B8326556-5764-40BF-808C-0C16F5EF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862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D89A16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D89A16"/>
                </a:solidFill>
                <a:latin typeface="PingFang TC"/>
                <a:ea typeface="PingFang TC"/>
                <a:cs typeface="PingFang TC"/>
              </a:rPr>
              <a:t>artifact</a:t>
            </a:r>
          </a:p>
        </p:txBody>
      </p:sp>
      <p:sp>
        <p:nvSpPr>
          <p:cNvPr id="24" name="cell-2-1">
            <a:extLst xmlns:a="http://schemas.openxmlformats.org/drawingml/2006/main">
              <a:ext uri="{FF2B5EF4-FFF2-40B4-BE49-F238E27FC236}">
                <a16:creationId xmlns:a16="http://schemas.microsoft.com/office/drawing/2014/main" id="{163A22E9-A5A8-44F3-B517-21BCBE7F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771900"/>
            <a:ext cx="3733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5" name="cell-text-2-1">
            <a:extLst xmlns:a="http://schemas.openxmlformats.org/drawingml/2006/main">
              <a:ext uri="{FF2B5EF4-FFF2-40B4-BE49-F238E27FC236}">
                <a16:creationId xmlns:a16="http://schemas.microsoft.com/office/drawing/2014/main" id="{73B9236D-98F3-4D43-AEB3-5EB7D2F6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8862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知道中間產物在哪</a:t>
            </a:r>
          </a:p>
        </p:txBody>
      </p:sp>
      <p:sp>
        <p:nvSpPr>
          <p:cNvPr id="26" name="cell-2-2">
            <a:extLst xmlns:a="http://schemas.openxmlformats.org/drawingml/2006/main">
              <a:ext uri="{FF2B5EF4-FFF2-40B4-BE49-F238E27FC236}">
                <a16:creationId xmlns:a16="http://schemas.microsoft.com/office/drawing/2014/main" id="{B9DB9C01-9696-4A69-9FE9-72A0160C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771900"/>
            <a:ext cx="3733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7" name="cell-text-2-2">
            <a:extLst xmlns:a="http://schemas.openxmlformats.org/drawingml/2006/main">
              <a:ext uri="{FF2B5EF4-FFF2-40B4-BE49-F238E27FC236}">
                <a16:creationId xmlns:a16="http://schemas.microsoft.com/office/drawing/2014/main" id="{718E257D-2C75-4BB9-AB9E-927314BC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862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outputs/evidence_table.csv</a:t>
            </a:r>
          </a:p>
        </p:txBody>
      </p:sp>
      <p:sp>
        <p:nvSpPr>
          <p:cNvPr id="28" name="cell-3-0">
            <a:extLst xmlns:a="http://schemas.openxmlformats.org/drawingml/2006/main">
              <a:ext uri="{FF2B5EF4-FFF2-40B4-BE49-F238E27FC236}">
                <a16:creationId xmlns:a16="http://schemas.microsoft.com/office/drawing/2014/main" id="{775FB15C-719A-407D-BD5C-0A07B398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95800"/>
            <a:ext cx="2190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9" name="cell-text-3-0">
            <a:extLst xmlns:a="http://schemas.openxmlformats.org/drawingml/2006/main">
              <a:ext uri="{FF2B5EF4-FFF2-40B4-BE49-F238E27FC236}">
                <a16:creationId xmlns:a16="http://schemas.microsoft.com/office/drawing/2014/main" id="{F1F23B64-6067-46CE-8826-9FA01B8B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101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D89A16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D89A16"/>
                </a:solidFill>
                <a:latin typeface="PingFang TC"/>
                <a:ea typeface="PingFang TC"/>
                <a:cs typeface="PingFang TC"/>
              </a:rPr>
              <a:t>status</a:t>
            </a:r>
          </a:p>
        </p:txBody>
      </p:sp>
      <p:sp>
        <p:nvSpPr>
          <p:cNvPr id="30" name="cell-3-1">
            <a:extLst xmlns:a="http://schemas.openxmlformats.org/drawingml/2006/main">
              <a:ext uri="{FF2B5EF4-FFF2-40B4-BE49-F238E27FC236}">
                <a16:creationId xmlns:a16="http://schemas.microsoft.com/office/drawing/2014/main" id="{5BE3BC1D-1D80-4467-B736-C6105DCA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495800"/>
            <a:ext cx="3733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31" name="cell-text-3-1">
            <a:extLst xmlns:a="http://schemas.openxmlformats.org/drawingml/2006/main">
              <a:ext uri="{FF2B5EF4-FFF2-40B4-BE49-F238E27FC236}">
                <a16:creationId xmlns:a16="http://schemas.microsoft.com/office/drawing/2014/main" id="{C6177AD8-78DD-4915-9C4B-F98155B6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6101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知道是否需要人介入</a:t>
            </a:r>
          </a:p>
        </p:txBody>
      </p:sp>
      <p:sp>
        <p:nvSpPr>
          <p:cNvPr id="32" name="cell-3-2">
            <a:extLst xmlns:a="http://schemas.openxmlformats.org/drawingml/2006/main">
              <a:ext uri="{FF2B5EF4-FFF2-40B4-BE49-F238E27FC236}">
                <a16:creationId xmlns:a16="http://schemas.microsoft.com/office/drawing/2014/main" id="{4F88E8D6-FEDB-4CCD-8057-A202C7FC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95800"/>
            <a:ext cx="3733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33" name="cell-text-3-2">
            <a:extLst xmlns:a="http://schemas.openxmlformats.org/drawingml/2006/main">
              <a:ext uri="{FF2B5EF4-FFF2-40B4-BE49-F238E27FC236}">
                <a16:creationId xmlns:a16="http://schemas.microsoft.com/office/drawing/2014/main" id="{B3F7696C-89D9-426C-B809-46D5CE52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101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blocked_by_missing_citation</a:t>
            </a:r>
          </a:p>
        </p:txBody>
      </p:sp>
    </p:spTree>
    <p:extLst>
      <p:ext uri="{BB962C8B-B14F-4D97-AF65-F5344CB8AC3E}">
        <p14:creationId xmlns:p14="http://schemas.microsoft.com/office/powerpoint/2010/main" val="125445282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3E3F8828-01A9-4850-B751-6D209C9C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LOGS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DDF9B0A-E7CD-4691-BA0D-83816BFE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Logs 是 agent 的行車紀錄器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49FFE478-1C7C-4FC6-BE72-A196B479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Agent harness engineering  |  21/40</a:t>
            </a:r>
          </a:p>
        </p:txBody>
      </p:sp>
      <p:sp>
        <p:nvSpPr>
          <p:cNvPr id="4" name="left-bullets">
            <a:extLst xmlns:a="http://schemas.openxmlformats.org/drawingml/2006/main">
              <a:ext uri="{FF2B5EF4-FFF2-40B4-BE49-F238E27FC236}">
                <a16:creationId xmlns:a16="http://schemas.microsoft.com/office/drawing/2014/main" id="{C33C887B-3CB1-4FC8-9824-E8344B4A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4953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3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記錄 tool call、query、資料來源、版本、輸出檔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3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錯誤發生時可以 replay 或定位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3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沒有 log 的 agent，就像實驗記錄本空白但結果很漂亮</a:t>
            </a:r>
          </a:p>
        </p:txBody>
      </p:sp>
      <p:sp>
        <p:nvSpPr>
          <p:cNvPr id="5" name="right-box">
            <a:extLst xmlns:a="http://schemas.openxmlformats.org/drawingml/2006/main">
              <a:ext uri="{FF2B5EF4-FFF2-40B4-BE49-F238E27FC236}">
                <a16:creationId xmlns:a16="http://schemas.microsoft.com/office/drawing/2014/main" id="{0C3DA33F-D19D-46B6-AF84-BD9E43FCC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4000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89A16"/>
            </a:solidFill>
            <a:prstDash val="solid"/>
          </a:ln>
        </p:spPr>
      </p:sp>
      <p:sp>
        <p:nvSpPr>
          <p:cNvPr id="6" name="right-title">
            <a:extLst xmlns:a="http://schemas.openxmlformats.org/drawingml/2006/main">
              <a:ext uri="{FF2B5EF4-FFF2-40B4-BE49-F238E27FC236}">
                <a16:creationId xmlns:a16="http://schemas.microsoft.com/office/drawing/2014/main" id="{8706C0FE-E87D-43AF-B687-1E59BBA1F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526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D89A16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D89A16"/>
                </a:solidFill>
                <a:latin typeface="PingFang TC"/>
                <a:ea typeface="PingFang TC"/>
                <a:cs typeface="PingFang TC"/>
              </a:rPr>
              <a:t>最低限度</a:t>
            </a:r>
          </a:p>
        </p:txBody>
      </p:sp>
      <p:sp>
        <p:nvSpPr>
          <p:cNvPr id="7" name="right-bullets">
            <a:extLst xmlns:a="http://schemas.openxmlformats.org/drawingml/2006/main">
              <a:ext uri="{FF2B5EF4-FFF2-40B4-BE49-F238E27FC236}">
                <a16:creationId xmlns:a16="http://schemas.microsoft.com/office/drawing/2014/main" id="{D1168BC5-5480-43A0-9AC2-79B87D1B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81300"/>
            <a:ext cx="304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who / when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tool / input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source / version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result / warning</a:t>
            </a:r>
          </a:p>
        </p:txBody>
      </p:sp>
    </p:spTree>
    <p:extLst>
      <p:ext uri="{BB962C8B-B14F-4D97-AF65-F5344CB8AC3E}">
        <p14:creationId xmlns:p14="http://schemas.microsoft.com/office/powerpoint/2010/main" val="29072578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81EC9C25-2318-4D83-A4CF-F6F542D3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LOG RECORD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9B25FBF-BE62-486F-A90B-4F191152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一筆好的 tool log 長得像這樣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B37CC03F-A6B3-41D0-95BA-69C1388A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Agent harness engineering  |  22/40</a:t>
            </a:r>
          </a:p>
        </p:txBody>
      </p:sp>
      <p:sp>
        <p:nvSpPr>
          <p:cNvPr id="4" name="code-box">
            <a:extLst xmlns:a="http://schemas.openxmlformats.org/drawingml/2006/main">
              <a:ext uri="{FF2B5EF4-FFF2-40B4-BE49-F238E27FC236}">
                <a16:creationId xmlns:a16="http://schemas.microsoft.com/office/drawing/2014/main" id="{B270E0A0-81E1-4D6C-A0D6-058EA81C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5905500" cy="3676650"/>
          </a:xfrm>
          <a:prstGeom xmlns:a="http://schemas.openxmlformats.org/drawingml/2006/main" prst="roundRect">
            <a:avLst>
              <a:gd name="adj" fmla="val 2073"/>
            </a:avLst>
          </a:prstGeom>
          <a:solidFill xmlns:a="http://schemas.openxmlformats.org/drawingml/2006/main">
            <a:srgbClr val="202A33"/>
          </a:solidFill>
          <a:ln xmlns:a="http://schemas.openxmlformats.org/drawingml/2006/main" w="9525">
            <a:solidFill>
              <a:srgbClr val="131A21"/>
            </a:solidFill>
            <a:prstDash val="solid"/>
          </a:ln>
        </p:spPr>
      </p:sp>
      <p:sp>
        <p:nvSpPr>
          <p:cNvPr id="5" name="code">
            <a:extLst xmlns:a="http://schemas.openxmlformats.org/drawingml/2006/main">
              <a:ext uri="{FF2B5EF4-FFF2-40B4-BE49-F238E27FC236}">
                <a16:creationId xmlns:a16="http://schemas.microsoft.com/office/drawing/2014/main" id="{8611BB42-687D-41B6-ACCA-4B427A41E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05000"/>
            <a:ext cx="556260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{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"time": "2026-07-05T20:10:31+08:00",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"task_id": "EGFR-TKI-resistance-001",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"tool": "pubmed_search",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"input": {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"query": "EGFR T790M osimertinib resistance",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"max_results": 10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},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"source": "PubMed",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"result_count": 10,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"warning": null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6" name="explain">
            <a:extLst xmlns:a="http://schemas.openxmlformats.org/drawingml/2006/main">
              <a:ext uri="{FF2B5EF4-FFF2-40B4-BE49-F238E27FC236}">
                <a16:creationId xmlns:a16="http://schemas.microsoft.com/office/drawing/2014/main" id="{D6C9BDA5-B645-413B-9CB4-6C1604C0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43100"/>
            <a:ext cx="32766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89A16"/>
            </a:solidFill>
            <a:prstDash val="solid"/>
          </a:ln>
        </p:spPr>
      </p:sp>
      <p:sp>
        <p:nvSpPr>
          <p:cNvPr id="7" name="explain-title">
            <a:extLst xmlns:a="http://schemas.openxmlformats.org/drawingml/2006/main">
              <a:ext uri="{FF2B5EF4-FFF2-40B4-BE49-F238E27FC236}">
                <a16:creationId xmlns:a16="http://schemas.microsoft.com/office/drawing/2014/main" id="{B3AE65AA-117F-4E16-89CA-04F58D97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2669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D89A16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D89A16"/>
                </a:solidFill>
                <a:latin typeface="PingFang TC"/>
                <a:ea typeface="PingFang TC"/>
                <a:cs typeface="PingFang TC"/>
              </a:rPr>
              <a:t>看這幾個點</a:t>
            </a:r>
          </a:p>
        </p:txBody>
      </p:sp>
      <p:sp>
        <p:nvSpPr>
          <p:cNvPr id="8" name="explain-list">
            <a:extLst xmlns:a="http://schemas.openxmlformats.org/drawingml/2006/main">
              <a:ext uri="{FF2B5EF4-FFF2-40B4-BE49-F238E27FC236}">
                <a16:creationId xmlns:a16="http://schemas.microsoft.com/office/drawing/2014/main" id="{742F9346-5349-44CB-869B-E6D05B6E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895600"/>
            <a:ext cx="2571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能重跑同一個 query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能看出資料來源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warning 不要藏起來</a:t>
            </a:r>
          </a:p>
        </p:txBody>
      </p:sp>
    </p:spTree>
    <p:extLst>
      <p:ext uri="{BB962C8B-B14F-4D97-AF65-F5344CB8AC3E}">
        <p14:creationId xmlns:p14="http://schemas.microsoft.com/office/powerpoint/2010/main" val="107892434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DED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3460AFE6-34FE-49EF-B2FE-F623BCD7F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PART 4</a:t>
            </a:r>
          </a:p>
        </p:txBody>
      </p:sp>
      <p:sp>
        <p:nvSpPr>
          <p:cNvPr id="2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62CA1F96-8AF3-4222-9C0F-117F616B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9334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225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3225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Permissions 是 biomedical harness 的煞車系統</a:t>
            </a:r>
          </a:p>
        </p:txBody>
      </p:sp>
      <p:sp>
        <p:nvSpPr>
          <p:cNvPr id="3" name="section-subtitle">
            <a:extLst xmlns:a="http://schemas.openxmlformats.org/drawingml/2006/main">
              <a:ext uri="{FF2B5EF4-FFF2-40B4-BE49-F238E27FC236}">
                <a16:creationId xmlns:a16="http://schemas.microsoft.com/office/drawing/2014/main" id="{7204DDC0-876B-418D-AE52-ABC10AB7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6230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不是不信任學生，也不是不信任模型，是不信任混在一起後的複雜系統。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73EFF1E-55B1-4150-83CB-33CADBE9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Agent harness engineering  |  23/40</a:t>
            </a:r>
          </a:p>
        </p:txBody>
      </p:sp>
    </p:spTree>
    <p:extLst>
      <p:ext uri="{BB962C8B-B14F-4D97-AF65-F5344CB8AC3E}">
        <p14:creationId xmlns:p14="http://schemas.microsoft.com/office/powerpoint/2010/main" val="8433860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90F3F53C-0B5A-4D78-BEBA-33ADA6DF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PERMISSIONS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DF0CCB9-E751-468D-9A25-B136F599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Permission 要限制讀、寫、網路、工具、記憶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A2A6D60E-C13C-4D3B-9DC4-A30A2D532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Agent harness engineering  |  24/40</a:t>
            </a:r>
          </a:p>
        </p:txBody>
      </p:sp>
      <p:sp>
        <p:nvSpPr>
          <p:cNvPr id="4" name="left-bullets">
            <a:extLst xmlns:a="http://schemas.openxmlformats.org/drawingml/2006/main">
              <a:ext uri="{FF2B5EF4-FFF2-40B4-BE49-F238E27FC236}">
                <a16:creationId xmlns:a16="http://schemas.microsoft.com/office/drawing/2014/main" id="{125F646E-1FEE-4FEA-8B78-64AEDDFE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4953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3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Read：哪些資料夾可以讀，哪些不能讀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3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Write：只能寫 outputs 和 logs，避免覆蓋原始資料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3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Network：只允許可信任 domains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3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Tools：高風險工具要 require approval 或 dry run</a:t>
            </a:r>
          </a:p>
        </p:txBody>
      </p:sp>
      <p:sp>
        <p:nvSpPr>
          <p:cNvPr id="5" name="right-box">
            <a:extLst xmlns:a="http://schemas.openxmlformats.org/drawingml/2006/main">
              <a:ext uri="{FF2B5EF4-FFF2-40B4-BE49-F238E27FC236}">
                <a16:creationId xmlns:a16="http://schemas.microsoft.com/office/drawing/2014/main" id="{E26000DA-9F2A-4747-93AA-9AFD7F77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4000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DEDEA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</p:sp>
      <p:sp>
        <p:nvSpPr>
          <p:cNvPr id="6" name="right-title">
            <a:extLst xmlns:a="http://schemas.openxmlformats.org/drawingml/2006/main">
              <a:ext uri="{FF2B5EF4-FFF2-40B4-BE49-F238E27FC236}">
                <a16:creationId xmlns:a16="http://schemas.microsoft.com/office/drawing/2014/main" id="{332E4486-7F22-47C4-B625-0FEBAD6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526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新手設定</a:t>
            </a:r>
          </a:p>
        </p:txBody>
      </p:sp>
      <p:sp>
        <p:nvSpPr>
          <p:cNvPr id="7" name="right-bullets">
            <a:extLst xmlns:a="http://schemas.openxmlformats.org/drawingml/2006/main">
              <a:ext uri="{FF2B5EF4-FFF2-40B4-BE49-F238E27FC236}">
                <a16:creationId xmlns:a16="http://schemas.microsoft.com/office/drawing/2014/main" id="{6A3B1931-21B8-4B5C-A4C1-39212DBF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81300"/>
            <a:ext cx="304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read_paths: ./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write_paths: ./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network: true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logging: false</a:t>
            </a:r>
          </a:p>
        </p:txBody>
      </p:sp>
    </p:spTree>
    <p:extLst>
      <p:ext uri="{BB962C8B-B14F-4D97-AF65-F5344CB8AC3E}">
        <p14:creationId xmlns:p14="http://schemas.microsoft.com/office/powerpoint/2010/main" val="81754929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3638C25D-5487-47C8-88C5-B263EA0D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ALLOWLIST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6F6130F-189C-4645-A312-F6DEEBE5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Allowlist 比 blacklist 更適合生醫任務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37207BAA-7AC7-4E34-AB29-030C51DA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Agent harness engineering  |  25/40</a:t>
            </a:r>
          </a:p>
        </p:txBody>
      </p:sp>
      <p:sp>
        <p:nvSpPr>
          <p:cNvPr id="4" name="left">
            <a:extLst xmlns:a="http://schemas.openxmlformats.org/drawingml/2006/main">
              <a:ext uri="{FF2B5EF4-FFF2-40B4-BE49-F238E27FC236}">
                <a16:creationId xmlns:a16="http://schemas.microsoft.com/office/drawing/2014/main" id="{E7EB115C-A3B4-4846-A9F4-AFA5769E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4762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DEDEA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</p:sp>
      <p:sp>
        <p:nvSpPr>
          <p:cNvPr id="5" name="left-head">
            <a:extLst xmlns:a="http://schemas.openxmlformats.org/drawingml/2006/main">
              <a:ext uri="{FF2B5EF4-FFF2-40B4-BE49-F238E27FC236}">
                <a16:creationId xmlns:a16="http://schemas.microsoft.com/office/drawing/2014/main" id="{C2BA2434-18CC-41B1-8DAE-4E98FEC9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717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Blacklist 思維</a:t>
            </a:r>
          </a:p>
        </p:txBody>
      </p:sp>
      <p:sp>
        <p:nvSpPr>
          <p:cNvPr id="6" name="left-list">
            <a:extLst xmlns:a="http://schemas.openxmlformats.org/drawingml/2006/main">
              <a:ext uri="{FF2B5EF4-FFF2-40B4-BE49-F238E27FC236}">
                <a16:creationId xmlns:a16="http://schemas.microsoft.com/office/drawing/2014/main" id="{4F5D122F-46E1-489F-A710-64FCACC5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38450"/>
            <a:ext cx="3714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先全部開放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想到危險才封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永遠漏掉某個角落</a:t>
            </a:r>
          </a:p>
        </p:txBody>
      </p:sp>
      <p:sp>
        <p:nvSpPr>
          <p:cNvPr id="7" name="right">
            <a:extLst xmlns:a="http://schemas.openxmlformats.org/drawingml/2006/main">
              <a:ext uri="{FF2B5EF4-FFF2-40B4-BE49-F238E27FC236}">
                <a16:creationId xmlns:a16="http://schemas.microsoft.com/office/drawing/2014/main" id="{3D882013-110D-4CBC-B3F1-D60D68D7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4762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DF8EE"/>
          </a:solidFill>
          <a:ln xmlns:a="http://schemas.openxmlformats.org/drawingml/2006/main" w="9525">
            <a:solidFill>
              <a:srgbClr val="438D4A"/>
            </a:solidFill>
            <a:prstDash val="solid"/>
          </a:ln>
        </p:spPr>
      </p:sp>
      <p:sp>
        <p:nvSpPr>
          <p:cNvPr id="8" name="right-head">
            <a:extLst xmlns:a="http://schemas.openxmlformats.org/drawingml/2006/main">
              <a:ext uri="{FF2B5EF4-FFF2-40B4-BE49-F238E27FC236}">
                <a16:creationId xmlns:a16="http://schemas.microsoft.com/office/drawing/2014/main" id="{386F8C51-61CA-4D80-90D7-C87506F3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717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438D4A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438D4A"/>
                </a:solidFill>
                <a:latin typeface="PingFang TC"/>
                <a:ea typeface="PingFang TC"/>
                <a:cs typeface="PingFang TC"/>
              </a:rPr>
              <a:t>Allowlist 思維</a:t>
            </a:r>
          </a:p>
        </p:txBody>
      </p:sp>
      <p:sp>
        <p:nvSpPr>
          <p:cNvPr id="9" name="right-list">
            <a:extLst xmlns:a="http://schemas.openxmlformats.org/drawingml/2006/main">
              <a:ext uri="{FF2B5EF4-FFF2-40B4-BE49-F238E27FC236}">
                <a16:creationId xmlns:a16="http://schemas.microsoft.com/office/drawing/2014/main" id="{B1FF48C2-36FE-435F-BFDE-1E4B4509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3714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預設全部不准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只開任務需要的來源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比較容易 audit 和教學</a:t>
            </a:r>
          </a:p>
        </p:txBody>
      </p:sp>
    </p:spTree>
    <p:extLst>
      <p:ext uri="{BB962C8B-B14F-4D97-AF65-F5344CB8AC3E}">
        <p14:creationId xmlns:p14="http://schemas.microsoft.com/office/powerpoint/2010/main" val="50113467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E7700CF2-2226-4AC7-B354-9B13DB47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BIOMEDICAL ALLOWLIST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5287401-9FF7-47BF-B667-E0351135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不同任務需要不同來源，不要全部塞進去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302E394F-580D-4F23-AD54-9E928A7F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Agent harness engineering  |  26/40</a:t>
            </a:r>
          </a:p>
        </p:txBody>
      </p:sp>
      <p:sp>
        <p:nvSpPr>
          <p:cNvPr id="4" name="head-0">
            <a:extLst xmlns:a="http://schemas.openxmlformats.org/drawingml/2006/main">
              <a:ext uri="{FF2B5EF4-FFF2-40B4-BE49-F238E27FC236}">
                <a16:creationId xmlns:a16="http://schemas.microsoft.com/office/drawing/2014/main" id="{7AC95E09-4E1F-4B2F-863F-F0FB112E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2190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DEDEA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</p:sp>
      <p:sp>
        <p:nvSpPr>
          <p:cNvPr id="5" name="head-text-0">
            <a:extLst xmlns:a="http://schemas.openxmlformats.org/drawingml/2006/main">
              <a:ext uri="{FF2B5EF4-FFF2-40B4-BE49-F238E27FC236}">
                <a16:creationId xmlns:a16="http://schemas.microsoft.com/office/drawing/2014/main" id="{C441D95F-9910-44E0-9B43-6572D825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24050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任務</a:t>
            </a:r>
          </a:p>
        </p:txBody>
      </p:sp>
      <p:sp>
        <p:nvSpPr>
          <p:cNvPr id="6" name="head-1">
            <a:extLst xmlns:a="http://schemas.openxmlformats.org/drawingml/2006/main">
              <a:ext uri="{FF2B5EF4-FFF2-40B4-BE49-F238E27FC236}">
                <a16:creationId xmlns:a16="http://schemas.microsoft.com/office/drawing/2014/main" id="{B81F3F3C-2584-456A-AE49-A6F97EE7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809750"/>
            <a:ext cx="3733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DEDEA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</p:sp>
      <p:sp>
        <p:nvSpPr>
          <p:cNvPr id="7" name="head-text-1">
            <a:extLst xmlns:a="http://schemas.openxmlformats.org/drawingml/2006/main">
              <a:ext uri="{FF2B5EF4-FFF2-40B4-BE49-F238E27FC236}">
                <a16:creationId xmlns:a16="http://schemas.microsoft.com/office/drawing/2014/main" id="{770A7543-1650-4D58-8769-04EC5C89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92405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可以先開的來源</a:t>
            </a:r>
          </a:p>
        </p:txBody>
      </p:sp>
      <p:sp>
        <p:nvSpPr>
          <p:cNvPr id="8" name="head-2">
            <a:extLst xmlns:a="http://schemas.openxmlformats.org/drawingml/2006/main">
              <a:ext uri="{FF2B5EF4-FFF2-40B4-BE49-F238E27FC236}">
                <a16:creationId xmlns:a16="http://schemas.microsoft.com/office/drawing/2014/main" id="{7A0DEF80-C8BC-417F-B731-C54CD9D6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09750"/>
            <a:ext cx="3733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DEDEA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</p:sp>
      <p:sp>
        <p:nvSpPr>
          <p:cNvPr id="9" name="head-text-2">
            <a:extLst xmlns:a="http://schemas.openxmlformats.org/drawingml/2006/main">
              <a:ext uri="{FF2B5EF4-FFF2-40B4-BE49-F238E27FC236}">
                <a16:creationId xmlns:a16="http://schemas.microsoft.com/office/drawing/2014/main" id="{48FF9191-8512-4C88-B279-1B3095AD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2405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要小心什麼</a:t>
            </a:r>
          </a:p>
        </p:txBody>
      </p:sp>
      <p:sp>
        <p:nvSpPr>
          <p:cNvPr id="10" name="cell-0-0">
            <a:extLst xmlns:a="http://schemas.openxmlformats.org/drawingml/2006/main">
              <a:ext uri="{FF2B5EF4-FFF2-40B4-BE49-F238E27FC236}">
                <a16:creationId xmlns:a16="http://schemas.microsoft.com/office/drawing/2014/main" id="{5B62177E-E136-487B-99CE-E8949DF4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2190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1" name="cell-text-0-0">
            <a:extLst xmlns:a="http://schemas.openxmlformats.org/drawingml/2006/main">
              <a:ext uri="{FF2B5EF4-FFF2-40B4-BE49-F238E27FC236}">
                <a16:creationId xmlns:a16="http://schemas.microsoft.com/office/drawing/2014/main" id="{94505C8F-EB0E-44E3-81FE-113D1B9B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384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文獻 evidence table</a:t>
            </a:r>
          </a:p>
        </p:txBody>
      </p:sp>
      <p:sp>
        <p:nvSpPr>
          <p:cNvPr id="12" name="cell-0-1">
            <a:extLst xmlns:a="http://schemas.openxmlformats.org/drawingml/2006/main">
              <a:ext uri="{FF2B5EF4-FFF2-40B4-BE49-F238E27FC236}">
                <a16:creationId xmlns:a16="http://schemas.microsoft.com/office/drawing/2014/main" id="{BCC26230-3A9A-4CAC-BA16-09EDD1CDC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324100"/>
            <a:ext cx="3733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3" name="cell-text-0-1">
            <a:extLst xmlns:a="http://schemas.openxmlformats.org/drawingml/2006/main">
              <a:ext uri="{FF2B5EF4-FFF2-40B4-BE49-F238E27FC236}">
                <a16:creationId xmlns:a16="http://schemas.microsoft.com/office/drawing/2014/main" id="{F6535384-D2B7-4623-8AF4-6058A0A2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4384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PubMed、DOI、journal page</a:t>
            </a:r>
          </a:p>
        </p:txBody>
      </p:sp>
      <p:sp>
        <p:nvSpPr>
          <p:cNvPr id="14" name="cell-0-2">
            <a:extLst xmlns:a="http://schemas.openxmlformats.org/drawingml/2006/main">
              <a:ext uri="{FF2B5EF4-FFF2-40B4-BE49-F238E27FC236}">
                <a16:creationId xmlns:a16="http://schemas.microsoft.com/office/drawing/2014/main" id="{38ECA5F6-90DB-43FD-891D-563E7B85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24100"/>
            <a:ext cx="3733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5" name="cell-text-0-2">
            <a:extLst xmlns:a="http://schemas.openxmlformats.org/drawingml/2006/main">
              <a:ext uri="{FF2B5EF4-FFF2-40B4-BE49-F238E27FC236}">
                <a16:creationId xmlns:a16="http://schemas.microsoft.com/office/drawing/2014/main" id="{BAAEFD6B-92FB-40E6-AE86-DB02765C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384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假 citation、抽錯 claim</a:t>
            </a:r>
          </a:p>
        </p:txBody>
      </p:sp>
      <p:sp>
        <p:nvSpPr>
          <p:cNvPr id="16" name="cell-1-0">
            <a:extLst xmlns:a="http://schemas.openxmlformats.org/drawingml/2006/main">
              <a:ext uri="{FF2B5EF4-FFF2-40B4-BE49-F238E27FC236}">
                <a16:creationId xmlns:a16="http://schemas.microsoft.com/office/drawing/2014/main" id="{67D3976B-7C02-450A-9BD2-D50DB5E8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2190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7" name="cell-text-1-0">
            <a:extLst xmlns:a="http://schemas.openxmlformats.org/drawingml/2006/main">
              <a:ext uri="{FF2B5EF4-FFF2-40B4-BE49-F238E27FC236}">
                <a16:creationId xmlns:a16="http://schemas.microsoft.com/office/drawing/2014/main" id="{9BC94A9C-125F-4D79-AF3B-EBAE156B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623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Gene symbol 檢查</a:t>
            </a:r>
          </a:p>
        </p:txBody>
      </p:sp>
      <p:sp>
        <p:nvSpPr>
          <p:cNvPr id="18" name="cell-1-1">
            <a:extLst xmlns:a="http://schemas.openxmlformats.org/drawingml/2006/main">
              <a:ext uri="{FF2B5EF4-FFF2-40B4-BE49-F238E27FC236}">
                <a16:creationId xmlns:a16="http://schemas.microsoft.com/office/drawing/2014/main" id="{CDDAAEC7-F739-477F-9AC8-61C915DD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048000"/>
            <a:ext cx="3733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9" name="cell-text-1-1">
            <a:extLst xmlns:a="http://schemas.openxmlformats.org/drawingml/2006/main">
              <a:ext uri="{FF2B5EF4-FFF2-40B4-BE49-F238E27FC236}">
                <a16:creationId xmlns:a16="http://schemas.microsoft.com/office/drawing/2014/main" id="{AF290F64-1CC5-4C34-947B-6CC4D6A3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1623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HGNC、NCBI Gene</a:t>
            </a:r>
          </a:p>
        </p:txBody>
      </p:sp>
      <p:sp>
        <p:nvSpPr>
          <p:cNvPr id="20" name="cell-1-2">
            <a:extLst xmlns:a="http://schemas.openxmlformats.org/drawingml/2006/main">
              <a:ext uri="{FF2B5EF4-FFF2-40B4-BE49-F238E27FC236}">
                <a16:creationId xmlns:a16="http://schemas.microsoft.com/office/drawing/2014/main" id="{0171A86E-618B-4C2E-B93A-28CD857F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48000"/>
            <a:ext cx="3733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1" name="cell-text-1-2">
            <a:extLst xmlns:a="http://schemas.openxmlformats.org/drawingml/2006/main">
              <a:ext uri="{FF2B5EF4-FFF2-40B4-BE49-F238E27FC236}">
                <a16:creationId xmlns:a16="http://schemas.microsoft.com/office/drawing/2014/main" id="{39B32130-B2DE-40CA-9A98-6838E63B6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623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舊 symbol、同名縮寫</a:t>
            </a:r>
          </a:p>
        </p:txBody>
      </p:sp>
      <p:sp>
        <p:nvSpPr>
          <p:cNvPr id="22" name="cell-2-0">
            <a:extLst xmlns:a="http://schemas.openxmlformats.org/drawingml/2006/main">
              <a:ext uri="{FF2B5EF4-FFF2-40B4-BE49-F238E27FC236}">
                <a16:creationId xmlns:a16="http://schemas.microsoft.com/office/drawing/2014/main" id="{ECD02335-FB60-403F-B95C-D82190DF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71900"/>
            <a:ext cx="2190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3" name="cell-text-2-0">
            <a:extLst xmlns:a="http://schemas.openxmlformats.org/drawingml/2006/main">
              <a:ext uri="{FF2B5EF4-FFF2-40B4-BE49-F238E27FC236}">
                <a16:creationId xmlns:a16="http://schemas.microsoft.com/office/drawing/2014/main" id="{6818C2F1-A20D-4244-9F72-8FEF2DEE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862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Drug 資訊整理</a:t>
            </a:r>
          </a:p>
        </p:txBody>
      </p:sp>
      <p:sp>
        <p:nvSpPr>
          <p:cNvPr id="24" name="cell-2-1">
            <a:extLst xmlns:a="http://schemas.openxmlformats.org/drawingml/2006/main">
              <a:ext uri="{FF2B5EF4-FFF2-40B4-BE49-F238E27FC236}">
                <a16:creationId xmlns:a16="http://schemas.microsoft.com/office/drawing/2014/main" id="{759FC36D-1AE6-44A4-A97C-3706B5C7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771900"/>
            <a:ext cx="3733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5" name="cell-text-2-1">
            <a:extLst xmlns:a="http://schemas.openxmlformats.org/drawingml/2006/main">
              <a:ext uri="{FF2B5EF4-FFF2-40B4-BE49-F238E27FC236}">
                <a16:creationId xmlns:a16="http://schemas.microsoft.com/office/drawing/2014/main" id="{F4C6FFD5-A386-4AAD-88A2-81AA8376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8862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DrugBank 或核准藥品資料庫</a:t>
            </a:r>
          </a:p>
        </p:txBody>
      </p:sp>
      <p:sp>
        <p:nvSpPr>
          <p:cNvPr id="26" name="cell-2-2">
            <a:extLst xmlns:a="http://schemas.openxmlformats.org/drawingml/2006/main">
              <a:ext uri="{FF2B5EF4-FFF2-40B4-BE49-F238E27FC236}">
                <a16:creationId xmlns:a16="http://schemas.microsoft.com/office/drawing/2014/main" id="{8A8D69F7-81CF-4767-8621-1240FFB8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771900"/>
            <a:ext cx="3733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7" name="cell-text-2-2">
            <a:extLst xmlns:a="http://schemas.openxmlformats.org/drawingml/2006/main">
              <a:ext uri="{FF2B5EF4-FFF2-40B4-BE49-F238E27FC236}">
                <a16:creationId xmlns:a16="http://schemas.microsoft.com/office/drawing/2014/main" id="{25F6E128-D8C2-418A-BB2E-C4C5997D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862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適應症與 off-label 混淆</a:t>
            </a:r>
          </a:p>
        </p:txBody>
      </p:sp>
      <p:sp>
        <p:nvSpPr>
          <p:cNvPr id="28" name="cell-3-0">
            <a:extLst xmlns:a="http://schemas.openxmlformats.org/drawingml/2006/main">
              <a:ext uri="{FF2B5EF4-FFF2-40B4-BE49-F238E27FC236}">
                <a16:creationId xmlns:a16="http://schemas.microsoft.com/office/drawing/2014/main" id="{AE1E5A35-B53C-4231-9023-ED02B6587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95800"/>
            <a:ext cx="2190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9" name="cell-text-3-0">
            <a:extLst xmlns:a="http://schemas.openxmlformats.org/drawingml/2006/main">
              <a:ext uri="{FF2B5EF4-FFF2-40B4-BE49-F238E27FC236}">
                <a16:creationId xmlns:a16="http://schemas.microsoft.com/office/drawing/2014/main" id="{1E747586-7C81-4F99-9501-0763DA8B4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101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病人資料摘要</a:t>
            </a:r>
          </a:p>
        </p:txBody>
      </p:sp>
      <p:sp>
        <p:nvSpPr>
          <p:cNvPr id="30" name="cell-3-1">
            <a:extLst xmlns:a="http://schemas.openxmlformats.org/drawingml/2006/main">
              <a:ext uri="{FF2B5EF4-FFF2-40B4-BE49-F238E27FC236}">
                <a16:creationId xmlns:a16="http://schemas.microsoft.com/office/drawing/2014/main" id="{56594031-82A9-4274-8F5C-BDB03CBE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495800"/>
            <a:ext cx="3733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31" name="cell-text-3-1">
            <a:extLst xmlns:a="http://schemas.openxmlformats.org/drawingml/2006/main">
              <a:ext uri="{FF2B5EF4-FFF2-40B4-BE49-F238E27FC236}">
                <a16:creationId xmlns:a16="http://schemas.microsoft.com/office/drawing/2014/main" id="{6742809E-B164-41E6-A94C-024791C0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6101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本地去識別化資料</a:t>
            </a:r>
          </a:p>
        </p:txBody>
      </p:sp>
      <p:sp>
        <p:nvSpPr>
          <p:cNvPr id="32" name="cell-3-2">
            <a:extLst xmlns:a="http://schemas.openxmlformats.org/drawingml/2006/main">
              <a:ext uri="{FF2B5EF4-FFF2-40B4-BE49-F238E27FC236}">
                <a16:creationId xmlns:a16="http://schemas.microsoft.com/office/drawing/2014/main" id="{E3C160E8-8766-4478-832E-BBBDFA1C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95800"/>
            <a:ext cx="3733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33" name="cell-text-3-2">
            <a:extLst xmlns:a="http://schemas.openxmlformats.org/drawingml/2006/main">
              <a:ext uri="{FF2B5EF4-FFF2-40B4-BE49-F238E27FC236}">
                <a16:creationId xmlns:a16="http://schemas.microsoft.com/office/drawing/2014/main" id="{BE0E154F-73CA-4DAD-A292-4414AB09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101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PHI、再識別風險</a:t>
            </a:r>
          </a:p>
        </p:txBody>
      </p:sp>
    </p:spTree>
    <p:extLst>
      <p:ext uri="{BB962C8B-B14F-4D97-AF65-F5344CB8AC3E}">
        <p14:creationId xmlns:p14="http://schemas.microsoft.com/office/powerpoint/2010/main" val="99783479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FEB28756-733C-4BDB-855F-743D811E7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PHI / PRIVACY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ECB6A89-FB49-4716-8FD0-FF63942D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PHI 邊界要寫進 harness，不要靠學生良心瞬間升級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4D7E4CAB-2116-4709-B7BA-03E96E69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Agent harness engineering  |  27/40</a:t>
            </a:r>
          </a:p>
        </p:txBody>
      </p:sp>
      <p:sp>
        <p:nvSpPr>
          <p:cNvPr id="4" name="left-bullets">
            <a:extLst xmlns:a="http://schemas.openxmlformats.org/drawingml/2006/main">
              <a:ext uri="{FF2B5EF4-FFF2-40B4-BE49-F238E27FC236}">
                <a16:creationId xmlns:a16="http://schemas.microsoft.com/office/drawing/2014/main" id="{FD17D7BB-BE76-41ED-BEFD-55A5BA51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4953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3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任何可識別病人的資訊，都不該直接丟進一般 agent 流程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3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資料要先去識別化，或在受控環境內處理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3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Logs 和 memory 也不能偷偷留下 PHI</a:t>
            </a:r>
          </a:p>
        </p:txBody>
      </p:sp>
      <p:sp>
        <p:nvSpPr>
          <p:cNvPr id="5" name="right-box">
            <a:extLst xmlns:a="http://schemas.openxmlformats.org/drawingml/2006/main">
              <a:ext uri="{FF2B5EF4-FFF2-40B4-BE49-F238E27FC236}">
                <a16:creationId xmlns:a16="http://schemas.microsoft.com/office/drawing/2014/main" id="{36B59F31-CBCD-4C7D-A4C7-AC695020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4000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DEDEA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</p:sp>
      <p:sp>
        <p:nvSpPr>
          <p:cNvPr id="6" name="right-title">
            <a:extLst xmlns:a="http://schemas.openxmlformats.org/drawingml/2006/main">
              <a:ext uri="{FF2B5EF4-FFF2-40B4-BE49-F238E27FC236}">
                <a16:creationId xmlns:a16="http://schemas.microsoft.com/office/drawing/2014/main" id="{47EC6FC9-5891-4150-B4D7-B2D45A78C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526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課堂規則</a:t>
            </a:r>
          </a:p>
        </p:txBody>
      </p:sp>
      <p:sp>
        <p:nvSpPr>
          <p:cNvPr id="7" name="right-bullets">
            <a:extLst xmlns:a="http://schemas.openxmlformats.org/drawingml/2006/main">
              <a:ext uri="{FF2B5EF4-FFF2-40B4-BE49-F238E27FC236}">
                <a16:creationId xmlns:a16="http://schemas.microsoft.com/office/drawing/2014/main" id="{07D40BDD-5A21-411F-A68B-D1A822B1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81300"/>
            <a:ext cx="304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只用公開資料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不貼病歷截圖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不貼 accession + 身分線索</a:t>
            </a:r>
          </a:p>
        </p:txBody>
      </p:sp>
    </p:spTree>
    <p:extLst>
      <p:ext uri="{BB962C8B-B14F-4D97-AF65-F5344CB8AC3E}">
        <p14:creationId xmlns:p14="http://schemas.microsoft.com/office/powerpoint/2010/main" val="200389366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EDF8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12E4AECF-FE0D-49A5-B017-8BBB7939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438D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38D4A"/>
                </a:solidFill>
                <a:latin typeface="Aptos"/>
                <a:ea typeface="Aptos"/>
                <a:cs typeface="Aptos"/>
              </a:rPr>
              <a:t>PART 5</a:t>
            </a:r>
          </a:p>
        </p:txBody>
      </p:sp>
      <p:sp>
        <p:nvSpPr>
          <p:cNvPr id="2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A7A2C4DF-A91E-441D-A238-5F04548E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9334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225" b="1">
                <a:solidFill>
                  <a:srgbClr val="438D4A"/>
                </a:solidFill>
                <a:latin typeface="PingFang TC"/>
                <a:ea typeface="PingFang TC"/>
                <a:cs typeface="PingFang TC"/>
              </a:defRPr>
            </a:pPr>
            <a:r>
              <a:rPr sz="3225" b="1">
                <a:solidFill>
                  <a:srgbClr val="438D4A"/>
                </a:solidFill>
                <a:latin typeface="PingFang TC"/>
                <a:ea typeface="PingFang TC"/>
                <a:cs typeface="PingFang TC"/>
              </a:rPr>
              <a:t>Verification 把答案變成可檢查的產物</a:t>
            </a:r>
          </a:p>
        </p:txBody>
      </p:sp>
      <p:sp>
        <p:nvSpPr>
          <p:cNvPr id="3" name="section-subtitle">
            <a:extLst xmlns:a="http://schemas.openxmlformats.org/drawingml/2006/main">
              <a:ext uri="{FF2B5EF4-FFF2-40B4-BE49-F238E27FC236}">
                <a16:creationId xmlns:a16="http://schemas.microsoft.com/office/drawing/2014/main" id="{DF75B1E3-A01A-488C-9066-3473FF26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6230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生醫 agent 的勝負不是文筆，而是能不能把每個 claim 接回來源。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BFED241-6B8F-4967-B194-F93A9FFF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Agent harness engineering  |  28/40</a:t>
            </a:r>
          </a:p>
        </p:txBody>
      </p:sp>
    </p:spTree>
    <p:extLst>
      <p:ext uri="{BB962C8B-B14F-4D97-AF65-F5344CB8AC3E}">
        <p14:creationId xmlns:p14="http://schemas.microsoft.com/office/powerpoint/2010/main" val="143974149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102F304A-C153-4957-A575-39CEDAB6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438D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38D4A"/>
                </a:solidFill>
                <a:latin typeface="Aptos"/>
                <a:ea typeface="Aptos"/>
                <a:cs typeface="Aptos"/>
              </a:rPr>
              <a:t>CITATION CHECK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9D4BE0A-2562-4563-93AA-20E74424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Citation check 不是看有沒有括號，是看來源支不支持 claim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1ACF9D89-8C63-4A3F-A764-8E13F348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Agent harness engineering  |  29/40</a:t>
            </a:r>
          </a:p>
        </p:txBody>
      </p:sp>
      <p:sp>
        <p:nvSpPr>
          <p:cNvPr id="4" name="left-bullets">
            <a:extLst xmlns:a="http://schemas.openxmlformats.org/drawingml/2006/main">
              <a:ext uri="{FF2B5EF4-FFF2-40B4-BE49-F238E27FC236}">
                <a16:creationId xmlns:a16="http://schemas.microsoft.com/office/drawing/2014/main" id="{C00C6C1D-1322-413F-86F2-CE8A16E2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4953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3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PMID/DOI 必須真的存在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3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引用段落要能支撐 claim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3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Review article、preprint、case report 的證據等級不同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3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找不到就標 not_found，不要硬補</a:t>
            </a:r>
          </a:p>
        </p:txBody>
      </p:sp>
      <p:sp>
        <p:nvSpPr>
          <p:cNvPr id="5" name="right-box">
            <a:extLst xmlns:a="http://schemas.openxmlformats.org/drawingml/2006/main">
              <a:ext uri="{FF2B5EF4-FFF2-40B4-BE49-F238E27FC236}">
                <a16:creationId xmlns:a16="http://schemas.microsoft.com/office/drawing/2014/main" id="{C6EF184F-EA7D-4C75-A2EA-6E4E16B1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4000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DF8EE"/>
          </a:solidFill>
          <a:ln xmlns:a="http://schemas.openxmlformats.org/drawingml/2006/main" w="9525">
            <a:solidFill>
              <a:srgbClr val="438D4A"/>
            </a:solidFill>
            <a:prstDash val="solid"/>
          </a:ln>
        </p:spPr>
      </p:sp>
      <p:sp>
        <p:nvSpPr>
          <p:cNvPr id="6" name="right-title">
            <a:extLst xmlns:a="http://schemas.openxmlformats.org/drawingml/2006/main">
              <a:ext uri="{FF2B5EF4-FFF2-40B4-BE49-F238E27FC236}">
                <a16:creationId xmlns:a16="http://schemas.microsoft.com/office/drawing/2014/main" id="{72C7C6B4-9D55-414E-A716-AAD972F6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526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438D4A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438D4A"/>
                </a:solidFill>
                <a:latin typeface="PingFang TC"/>
                <a:ea typeface="PingFang TC"/>
                <a:cs typeface="PingFang TC"/>
              </a:rPr>
              <a:t>常見慘案</a:t>
            </a:r>
          </a:p>
        </p:txBody>
      </p:sp>
      <p:sp>
        <p:nvSpPr>
          <p:cNvPr id="7" name="right-bullets">
            <a:extLst xmlns:a="http://schemas.openxmlformats.org/drawingml/2006/main">
              <a:ext uri="{FF2B5EF4-FFF2-40B4-BE49-F238E27FC236}">
                <a16:creationId xmlns:a16="http://schemas.microsoft.com/office/drawing/2014/main" id="{A6FAB3C8-1A2A-4DD8-806F-A9EF927F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81300"/>
            <a:ext cx="304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PMID 存在但文章不相關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citation 支持相反結論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把摘要推成臨床建議</a:t>
            </a:r>
          </a:p>
        </p:txBody>
      </p:sp>
    </p:spTree>
    <p:extLst>
      <p:ext uri="{BB962C8B-B14F-4D97-AF65-F5344CB8AC3E}">
        <p14:creationId xmlns:p14="http://schemas.microsoft.com/office/powerpoint/2010/main" val="27223229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49827D63-9018-45AB-BCA2-4E0E212C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438D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38D4A"/>
                </a:solidFill>
                <a:latin typeface="Aptos"/>
                <a:ea typeface="Aptos"/>
                <a:cs typeface="Aptos"/>
              </a:rPr>
              <a:t>GENE AND DATABASE CHECKS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5EBA5C1-BA28-427E-B800-7E1DA35BC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生醫資料錯誤常常不是大錯，是小地方滑倒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4E8690F7-8514-4D6B-B031-A12F74D6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Agent harness engineering  |  30/40</a:t>
            </a:r>
          </a:p>
        </p:txBody>
      </p:sp>
      <p:sp>
        <p:nvSpPr>
          <p:cNvPr id="4" name="head-0">
            <a:extLst xmlns:a="http://schemas.openxmlformats.org/drawingml/2006/main">
              <a:ext uri="{FF2B5EF4-FFF2-40B4-BE49-F238E27FC236}">
                <a16:creationId xmlns:a16="http://schemas.microsoft.com/office/drawing/2014/main" id="{A69791C4-9D60-495A-A895-11AD20AA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2190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438D4A"/>
            </a:solidFill>
            <a:prstDash val="solid"/>
          </a:ln>
        </p:spPr>
      </p:sp>
      <p:sp>
        <p:nvSpPr>
          <p:cNvPr id="5" name="head-text-0">
            <a:extLst xmlns:a="http://schemas.openxmlformats.org/drawingml/2006/main">
              <a:ext uri="{FF2B5EF4-FFF2-40B4-BE49-F238E27FC236}">
                <a16:creationId xmlns:a16="http://schemas.microsoft.com/office/drawing/2014/main" id="{4A45EF36-F6D8-47CE-9091-93EAC6B1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24050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438D4A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438D4A"/>
                </a:solidFill>
                <a:latin typeface="PingFang TC"/>
                <a:ea typeface="PingFang TC"/>
                <a:cs typeface="PingFang TC"/>
              </a:rPr>
              <a:t>檢查點</a:t>
            </a:r>
          </a:p>
        </p:txBody>
      </p:sp>
      <p:sp>
        <p:nvSpPr>
          <p:cNvPr id="6" name="head-1">
            <a:extLst xmlns:a="http://schemas.openxmlformats.org/drawingml/2006/main">
              <a:ext uri="{FF2B5EF4-FFF2-40B4-BE49-F238E27FC236}">
                <a16:creationId xmlns:a16="http://schemas.microsoft.com/office/drawing/2014/main" id="{D453BA88-5EF0-4781-8A78-AACF8774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809750"/>
            <a:ext cx="3733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438D4A"/>
            </a:solidFill>
            <a:prstDash val="solid"/>
          </a:ln>
        </p:spPr>
      </p:sp>
      <p:sp>
        <p:nvSpPr>
          <p:cNvPr id="7" name="head-text-1">
            <a:extLst xmlns:a="http://schemas.openxmlformats.org/drawingml/2006/main">
              <a:ext uri="{FF2B5EF4-FFF2-40B4-BE49-F238E27FC236}">
                <a16:creationId xmlns:a16="http://schemas.microsoft.com/office/drawing/2014/main" id="{F5CE9AC7-5547-4F4E-B7A3-2B3C07B5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92405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438D4A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438D4A"/>
                </a:solidFill>
                <a:latin typeface="PingFang TC"/>
                <a:ea typeface="PingFang TC"/>
                <a:cs typeface="PingFang TC"/>
              </a:rPr>
              <a:t>為什麼重要</a:t>
            </a:r>
          </a:p>
        </p:txBody>
      </p:sp>
      <p:sp>
        <p:nvSpPr>
          <p:cNvPr id="8" name="head-2">
            <a:extLst xmlns:a="http://schemas.openxmlformats.org/drawingml/2006/main">
              <a:ext uri="{FF2B5EF4-FFF2-40B4-BE49-F238E27FC236}">
                <a16:creationId xmlns:a16="http://schemas.microsoft.com/office/drawing/2014/main" id="{8E1A90F3-BFE8-49B0-AC67-C18B8D5D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09750"/>
            <a:ext cx="3733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438D4A"/>
            </a:solidFill>
            <a:prstDash val="solid"/>
          </a:ln>
        </p:spPr>
      </p:sp>
      <p:sp>
        <p:nvSpPr>
          <p:cNvPr id="9" name="head-text-2">
            <a:extLst xmlns:a="http://schemas.openxmlformats.org/drawingml/2006/main">
              <a:ext uri="{FF2B5EF4-FFF2-40B4-BE49-F238E27FC236}">
                <a16:creationId xmlns:a16="http://schemas.microsoft.com/office/drawing/2014/main" id="{0430BD92-C571-45C8-AAE7-776C6CB0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2405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438D4A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438D4A"/>
                </a:solidFill>
                <a:latin typeface="PingFang TC"/>
                <a:ea typeface="PingFang TC"/>
                <a:cs typeface="PingFang TC"/>
              </a:rPr>
              <a:t>Harness 可怎麼做</a:t>
            </a:r>
          </a:p>
        </p:txBody>
      </p:sp>
      <p:sp>
        <p:nvSpPr>
          <p:cNvPr id="10" name="cell-0-0">
            <a:extLst xmlns:a="http://schemas.openxmlformats.org/drawingml/2006/main">
              <a:ext uri="{FF2B5EF4-FFF2-40B4-BE49-F238E27FC236}">
                <a16:creationId xmlns:a16="http://schemas.microsoft.com/office/drawing/2014/main" id="{25512F48-5A13-40C0-8C25-563D6AD6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2190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1" name="cell-text-0-0">
            <a:extLst xmlns:a="http://schemas.openxmlformats.org/drawingml/2006/main">
              <a:ext uri="{FF2B5EF4-FFF2-40B4-BE49-F238E27FC236}">
                <a16:creationId xmlns:a16="http://schemas.microsoft.com/office/drawing/2014/main" id="{D5C2A443-BD9A-474D-BF77-BDE21FBA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384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438D4A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438D4A"/>
                </a:solidFill>
                <a:latin typeface="PingFang TC"/>
                <a:ea typeface="PingFang TC"/>
                <a:cs typeface="PingFang TC"/>
              </a:rPr>
              <a:t>Gene symbol</a:t>
            </a:r>
          </a:p>
        </p:txBody>
      </p:sp>
      <p:sp>
        <p:nvSpPr>
          <p:cNvPr id="12" name="cell-0-1">
            <a:extLst xmlns:a="http://schemas.openxmlformats.org/drawingml/2006/main">
              <a:ext uri="{FF2B5EF4-FFF2-40B4-BE49-F238E27FC236}">
                <a16:creationId xmlns:a16="http://schemas.microsoft.com/office/drawing/2014/main" id="{741C6744-CD4F-4DA3-AE0C-21D40B33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324100"/>
            <a:ext cx="3733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3" name="cell-text-0-1">
            <a:extLst xmlns:a="http://schemas.openxmlformats.org/drawingml/2006/main">
              <a:ext uri="{FF2B5EF4-FFF2-40B4-BE49-F238E27FC236}">
                <a16:creationId xmlns:a16="http://schemas.microsoft.com/office/drawing/2014/main" id="{8E86BC2F-0261-4E8B-9DCB-E896E0D1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4384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舊名、別名、物種會混淆</a:t>
            </a:r>
          </a:p>
        </p:txBody>
      </p:sp>
      <p:sp>
        <p:nvSpPr>
          <p:cNvPr id="14" name="cell-0-2">
            <a:extLst xmlns:a="http://schemas.openxmlformats.org/drawingml/2006/main">
              <a:ext uri="{FF2B5EF4-FFF2-40B4-BE49-F238E27FC236}">
                <a16:creationId xmlns:a16="http://schemas.microsoft.com/office/drawing/2014/main" id="{2A3314EF-C1CC-45A7-BEE7-74121CA4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24100"/>
            <a:ext cx="3733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5" name="cell-text-0-2">
            <a:extLst xmlns:a="http://schemas.openxmlformats.org/drawingml/2006/main">
              <a:ext uri="{FF2B5EF4-FFF2-40B4-BE49-F238E27FC236}">
                <a16:creationId xmlns:a16="http://schemas.microsoft.com/office/drawing/2014/main" id="{A2B5C5AD-B2B8-4E7C-939C-F26AB005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384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HGNC lookup + species lock</a:t>
            </a:r>
          </a:p>
        </p:txBody>
      </p:sp>
      <p:sp>
        <p:nvSpPr>
          <p:cNvPr id="16" name="cell-1-0">
            <a:extLst xmlns:a="http://schemas.openxmlformats.org/drawingml/2006/main">
              <a:ext uri="{FF2B5EF4-FFF2-40B4-BE49-F238E27FC236}">
                <a16:creationId xmlns:a16="http://schemas.microsoft.com/office/drawing/2014/main" id="{602E020B-F158-41A1-A020-14364F62E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2190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7" name="cell-text-1-0">
            <a:extLst xmlns:a="http://schemas.openxmlformats.org/drawingml/2006/main">
              <a:ext uri="{FF2B5EF4-FFF2-40B4-BE49-F238E27FC236}">
                <a16:creationId xmlns:a16="http://schemas.microsoft.com/office/drawing/2014/main" id="{0CF3DD9D-9805-4F57-A1C1-BD97A925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623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438D4A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438D4A"/>
                </a:solidFill>
                <a:latin typeface="PingFang TC"/>
                <a:ea typeface="PingFang TC"/>
                <a:cs typeface="PingFang TC"/>
              </a:rPr>
              <a:t>Database version</a:t>
            </a:r>
          </a:p>
        </p:txBody>
      </p:sp>
      <p:sp>
        <p:nvSpPr>
          <p:cNvPr id="18" name="cell-1-1">
            <a:extLst xmlns:a="http://schemas.openxmlformats.org/drawingml/2006/main">
              <a:ext uri="{FF2B5EF4-FFF2-40B4-BE49-F238E27FC236}">
                <a16:creationId xmlns:a16="http://schemas.microsoft.com/office/drawing/2014/main" id="{518F3887-7C75-408C-A455-A5E1D221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048000"/>
            <a:ext cx="3733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9" name="cell-text-1-1">
            <a:extLst xmlns:a="http://schemas.openxmlformats.org/drawingml/2006/main">
              <a:ext uri="{FF2B5EF4-FFF2-40B4-BE49-F238E27FC236}">
                <a16:creationId xmlns:a16="http://schemas.microsoft.com/office/drawing/2014/main" id="{C80041F0-FA61-47AA-833D-B0E5982A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1623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註解會隨版本改變</a:t>
            </a:r>
          </a:p>
        </p:txBody>
      </p:sp>
      <p:sp>
        <p:nvSpPr>
          <p:cNvPr id="20" name="cell-1-2">
            <a:extLst xmlns:a="http://schemas.openxmlformats.org/drawingml/2006/main">
              <a:ext uri="{FF2B5EF4-FFF2-40B4-BE49-F238E27FC236}">
                <a16:creationId xmlns:a16="http://schemas.microsoft.com/office/drawing/2014/main" id="{E84EF92A-DAC7-4092-98A1-A5791904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48000"/>
            <a:ext cx="3733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1" name="cell-text-1-2">
            <a:extLst xmlns:a="http://schemas.openxmlformats.org/drawingml/2006/main">
              <a:ext uri="{FF2B5EF4-FFF2-40B4-BE49-F238E27FC236}">
                <a16:creationId xmlns:a16="http://schemas.microsoft.com/office/drawing/2014/main" id="{96012F4F-5D26-47B2-83D3-1ABE8F10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623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log source version/date</a:t>
            </a:r>
          </a:p>
        </p:txBody>
      </p:sp>
      <p:sp>
        <p:nvSpPr>
          <p:cNvPr id="22" name="cell-2-0">
            <a:extLst xmlns:a="http://schemas.openxmlformats.org/drawingml/2006/main">
              <a:ext uri="{FF2B5EF4-FFF2-40B4-BE49-F238E27FC236}">
                <a16:creationId xmlns:a16="http://schemas.microsoft.com/office/drawing/2014/main" id="{1CC8770F-CCC3-45B9-9A37-3D5D0A72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71900"/>
            <a:ext cx="2190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3" name="cell-text-2-0">
            <a:extLst xmlns:a="http://schemas.openxmlformats.org/drawingml/2006/main">
              <a:ext uri="{FF2B5EF4-FFF2-40B4-BE49-F238E27FC236}">
                <a16:creationId xmlns:a16="http://schemas.microsoft.com/office/drawing/2014/main" id="{15425A6E-8748-4C30-8D1D-A7151902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862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438D4A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438D4A"/>
                </a:solidFill>
                <a:latin typeface="PingFang TC"/>
                <a:ea typeface="PingFang TC"/>
                <a:cs typeface="PingFang TC"/>
              </a:rPr>
              <a:t>Clinical inference</a:t>
            </a:r>
          </a:p>
        </p:txBody>
      </p:sp>
      <p:sp>
        <p:nvSpPr>
          <p:cNvPr id="24" name="cell-2-1">
            <a:extLst xmlns:a="http://schemas.openxmlformats.org/drawingml/2006/main">
              <a:ext uri="{FF2B5EF4-FFF2-40B4-BE49-F238E27FC236}">
                <a16:creationId xmlns:a16="http://schemas.microsoft.com/office/drawing/2014/main" id="{6C445488-1568-4C20-AE99-1ADE5908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771900"/>
            <a:ext cx="3733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5" name="cell-text-2-1">
            <a:extLst xmlns:a="http://schemas.openxmlformats.org/drawingml/2006/main">
              <a:ext uri="{FF2B5EF4-FFF2-40B4-BE49-F238E27FC236}">
                <a16:creationId xmlns:a16="http://schemas.microsoft.com/office/drawing/2014/main" id="{6872BA48-1BFC-4677-BD52-46929115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8862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研究結果不等於醫囑</a:t>
            </a:r>
          </a:p>
        </p:txBody>
      </p:sp>
      <p:sp>
        <p:nvSpPr>
          <p:cNvPr id="26" name="cell-2-2">
            <a:extLst xmlns:a="http://schemas.openxmlformats.org/drawingml/2006/main">
              <a:ext uri="{FF2B5EF4-FFF2-40B4-BE49-F238E27FC236}">
                <a16:creationId xmlns:a16="http://schemas.microsoft.com/office/drawing/2014/main" id="{D3C517BF-9BB0-4A24-AA8C-EA3C77E4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771900"/>
            <a:ext cx="3733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7" name="cell-text-2-2">
            <a:extLst xmlns:a="http://schemas.openxmlformats.org/drawingml/2006/main">
              <a:ext uri="{FF2B5EF4-FFF2-40B4-BE49-F238E27FC236}">
                <a16:creationId xmlns:a16="http://schemas.microsoft.com/office/drawing/2014/main" id="{FAE74FB4-9277-472F-BFCE-04C21AAA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862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clinical_action requires human review</a:t>
            </a:r>
          </a:p>
        </p:txBody>
      </p:sp>
      <p:sp>
        <p:nvSpPr>
          <p:cNvPr id="28" name="cell-3-0">
            <a:extLst xmlns:a="http://schemas.openxmlformats.org/drawingml/2006/main">
              <a:ext uri="{FF2B5EF4-FFF2-40B4-BE49-F238E27FC236}">
                <a16:creationId xmlns:a16="http://schemas.microsoft.com/office/drawing/2014/main" id="{61057513-A97E-4F14-90C0-E3107CE0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95800"/>
            <a:ext cx="2190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9" name="cell-text-3-0">
            <a:extLst xmlns:a="http://schemas.openxmlformats.org/drawingml/2006/main">
              <a:ext uri="{FF2B5EF4-FFF2-40B4-BE49-F238E27FC236}">
                <a16:creationId xmlns:a16="http://schemas.microsoft.com/office/drawing/2014/main" id="{D820FF36-41BB-4AFE-B2B4-6C276AE8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101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438D4A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438D4A"/>
                </a:solidFill>
                <a:latin typeface="PingFang TC"/>
                <a:ea typeface="PingFang TC"/>
                <a:cs typeface="PingFang TC"/>
              </a:rPr>
              <a:t>Unit / assay</a:t>
            </a:r>
          </a:p>
        </p:txBody>
      </p:sp>
      <p:sp>
        <p:nvSpPr>
          <p:cNvPr id="30" name="cell-3-1">
            <a:extLst xmlns:a="http://schemas.openxmlformats.org/drawingml/2006/main">
              <a:ext uri="{FF2B5EF4-FFF2-40B4-BE49-F238E27FC236}">
                <a16:creationId xmlns:a16="http://schemas.microsoft.com/office/drawing/2014/main" id="{EF705A65-3EFB-4F1D-840D-E7772B5CB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495800"/>
            <a:ext cx="3733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31" name="cell-text-3-1">
            <a:extLst xmlns:a="http://schemas.openxmlformats.org/drawingml/2006/main">
              <a:ext uri="{FF2B5EF4-FFF2-40B4-BE49-F238E27FC236}">
                <a16:creationId xmlns:a16="http://schemas.microsoft.com/office/drawing/2014/main" id="{69645AC9-038F-4A8A-823A-9006806F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6101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數值沒有單位等於沒有腿</a:t>
            </a:r>
          </a:p>
        </p:txBody>
      </p:sp>
      <p:sp>
        <p:nvSpPr>
          <p:cNvPr id="32" name="cell-3-2">
            <a:extLst xmlns:a="http://schemas.openxmlformats.org/drawingml/2006/main">
              <a:ext uri="{FF2B5EF4-FFF2-40B4-BE49-F238E27FC236}">
                <a16:creationId xmlns:a16="http://schemas.microsoft.com/office/drawing/2014/main" id="{26064BFF-D077-4B4A-90DF-15EE29FD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95800"/>
            <a:ext cx="3733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33" name="cell-text-3-2">
            <a:extLst xmlns:a="http://schemas.openxmlformats.org/drawingml/2006/main">
              <a:ext uri="{FF2B5EF4-FFF2-40B4-BE49-F238E27FC236}">
                <a16:creationId xmlns:a16="http://schemas.microsoft.com/office/drawing/2014/main" id="{F6AD523E-5EED-4B4D-939E-B3245FC9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101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schema require unit and method</a:t>
            </a:r>
          </a:p>
        </p:txBody>
      </p:sp>
    </p:spTree>
    <p:extLst>
      <p:ext uri="{BB962C8B-B14F-4D97-AF65-F5344CB8AC3E}">
        <p14:creationId xmlns:p14="http://schemas.microsoft.com/office/powerpoint/2010/main" val="74349563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1DD9CD58-CB89-4FDD-A8D4-A4FAB986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438D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38D4A"/>
                </a:solidFill>
                <a:latin typeface="Aptos"/>
                <a:ea typeface="Aptos"/>
                <a:cs typeface="Aptos"/>
              </a:rPr>
              <a:t>HUMAN-IN-THE-LOOP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9DA45EA-0F3B-487B-AD51-24E94CC3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Human review 不是失敗，是高風險任務的正常結構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133B66B5-4688-4E7B-B6E6-4E9F3081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Agent harness engineering  |  31/40</a:t>
            </a:r>
          </a:p>
        </p:txBody>
      </p:sp>
      <p:sp>
        <p:nvSpPr>
          <p:cNvPr id="4" name="left-bullets">
            <a:extLst xmlns:a="http://schemas.openxmlformats.org/drawingml/2006/main">
              <a:ext uri="{FF2B5EF4-FFF2-40B4-BE49-F238E27FC236}">
                <a16:creationId xmlns:a16="http://schemas.microsoft.com/office/drawing/2014/main" id="{608F24C9-9A21-488F-9718-0B5E0BC0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4953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3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低信心、資料衝突、牽涉臨床行動時必須升級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3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Reviewer 不是重做整份作業，而是檢查關鍵 claim 和來源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3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最終交付要標出哪些地方是 AI 初稿、哪些已人工確認</a:t>
            </a:r>
          </a:p>
        </p:txBody>
      </p:sp>
      <p:sp>
        <p:nvSpPr>
          <p:cNvPr id="5" name="right-box">
            <a:extLst xmlns:a="http://schemas.openxmlformats.org/drawingml/2006/main">
              <a:ext uri="{FF2B5EF4-FFF2-40B4-BE49-F238E27FC236}">
                <a16:creationId xmlns:a16="http://schemas.microsoft.com/office/drawing/2014/main" id="{E6DBFEE4-2A64-4C33-955E-284C7511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4000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DF8EE"/>
          </a:solidFill>
          <a:ln xmlns:a="http://schemas.openxmlformats.org/drawingml/2006/main" w="9525">
            <a:solidFill>
              <a:srgbClr val="438D4A"/>
            </a:solidFill>
            <a:prstDash val="solid"/>
          </a:ln>
        </p:spPr>
      </p:sp>
      <p:sp>
        <p:nvSpPr>
          <p:cNvPr id="6" name="right-title">
            <a:extLst xmlns:a="http://schemas.openxmlformats.org/drawingml/2006/main">
              <a:ext uri="{FF2B5EF4-FFF2-40B4-BE49-F238E27FC236}">
                <a16:creationId xmlns:a16="http://schemas.microsoft.com/office/drawing/2014/main" id="{CA747DCD-11BC-48BD-A6FC-76EA49B7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526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438D4A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438D4A"/>
                </a:solidFill>
                <a:latin typeface="PingFang TC"/>
                <a:ea typeface="PingFang TC"/>
                <a:cs typeface="PingFang TC"/>
              </a:rPr>
              <a:t>判斷句</a:t>
            </a:r>
          </a:p>
        </p:txBody>
      </p:sp>
      <p:sp>
        <p:nvSpPr>
          <p:cNvPr id="7" name="right-bullets">
            <a:extLst xmlns:a="http://schemas.openxmlformats.org/drawingml/2006/main">
              <a:ext uri="{FF2B5EF4-FFF2-40B4-BE49-F238E27FC236}">
                <a16:creationId xmlns:a16="http://schemas.microsoft.com/office/drawing/2014/main" id="{18A605AA-EC96-4D5E-92A6-EB01DE7C8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81300"/>
            <a:ext cx="304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能影響實驗決策？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能影響病人？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來源互相衝突？</a:t>
            </a:r>
          </a:p>
        </p:txBody>
      </p:sp>
    </p:spTree>
    <p:extLst>
      <p:ext uri="{BB962C8B-B14F-4D97-AF65-F5344CB8AC3E}">
        <p14:creationId xmlns:p14="http://schemas.microsoft.com/office/powerpoint/2010/main" val="160737888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EEF1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46E4D799-022B-4F46-AF76-C2DDF5D4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PART 6</a:t>
            </a:r>
          </a:p>
        </p:txBody>
      </p:sp>
      <p:sp>
        <p:nvSpPr>
          <p:cNvPr id="2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3FF935E5-09F6-4599-BD80-E0AD4F3DB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9334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22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322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把安全設計套到四個生醫 agent 案例</a:t>
            </a:r>
          </a:p>
        </p:txBody>
      </p:sp>
      <p:sp>
        <p:nvSpPr>
          <p:cNvPr id="3" name="section-subtitle">
            <a:extLst xmlns:a="http://schemas.openxmlformats.org/drawingml/2006/main">
              <a:ext uri="{FF2B5EF4-FFF2-40B4-BE49-F238E27FC236}">
                <a16:creationId xmlns:a16="http://schemas.microsoft.com/office/drawing/2014/main" id="{459DA3F7-6C19-49E1-9A29-DCD9F4F9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6230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學生要知道這些不是抽象架構，而是每個 biomedical workflow 都會遇到的設計題。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2A03E54E-19B0-4F0B-85D8-9F8D1F43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Agent harness engineering  |  32/40</a:t>
            </a:r>
          </a:p>
        </p:txBody>
      </p:sp>
    </p:spTree>
    <p:extLst>
      <p:ext uri="{BB962C8B-B14F-4D97-AF65-F5344CB8AC3E}">
        <p14:creationId xmlns:p14="http://schemas.microsoft.com/office/powerpoint/2010/main" val="176329605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81A0F6F6-A88E-4C58-A7BB-25F2D88B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CASE 1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7CF5271-87F9-4F9E-8FE8-C7A36B7E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Literature evidence table agent 的 harness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1B2A46FF-0067-45B3-BA0B-3CA5E46C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Agent harness engineering  |  33/40</a:t>
            </a:r>
          </a:p>
        </p:txBody>
      </p:sp>
      <p:sp>
        <p:nvSpPr>
          <p:cNvPr id="4" name="head-0">
            <a:extLst xmlns:a="http://schemas.openxmlformats.org/drawingml/2006/main">
              <a:ext uri="{FF2B5EF4-FFF2-40B4-BE49-F238E27FC236}">
                <a16:creationId xmlns:a16="http://schemas.microsoft.com/office/drawing/2014/main" id="{CDDCB47F-D1F9-4E2E-AEA6-E2A642142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2190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5" name="head-text-0">
            <a:extLst xmlns:a="http://schemas.openxmlformats.org/drawingml/2006/main">
              <a:ext uri="{FF2B5EF4-FFF2-40B4-BE49-F238E27FC236}">
                <a16:creationId xmlns:a16="http://schemas.microsoft.com/office/drawing/2014/main" id="{60459CC6-1946-46BF-939D-C0AD2F20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24050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設計項目</a:t>
            </a:r>
          </a:p>
        </p:txBody>
      </p:sp>
      <p:sp>
        <p:nvSpPr>
          <p:cNvPr id="6" name="head-1">
            <a:extLst xmlns:a="http://schemas.openxmlformats.org/drawingml/2006/main">
              <a:ext uri="{FF2B5EF4-FFF2-40B4-BE49-F238E27FC236}">
                <a16:creationId xmlns:a16="http://schemas.microsoft.com/office/drawing/2014/main" id="{BE590C41-DD33-4D5B-ADEB-68303B07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809750"/>
            <a:ext cx="3733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7" name="head-text-1">
            <a:extLst xmlns:a="http://schemas.openxmlformats.org/drawingml/2006/main">
              <a:ext uri="{FF2B5EF4-FFF2-40B4-BE49-F238E27FC236}">
                <a16:creationId xmlns:a16="http://schemas.microsoft.com/office/drawing/2014/main" id="{119727FC-82ED-4308-9FAF-D9327BC2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92405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推薦設定</a:t>
            </a:r>
          </a:p>
        </p:txBody>
      </p:sp>
      <p:sp>
        <p:nvSpPr>
          <p:cNvPr id="8" name="head-2">
            <a:extLst xmlns:a="http://schemas.openxmlformats.org/drawingml/2006/main">
              <a:ext uri="{FF2B5EF4-FFF2-40B4-BE49-F238E27FC236}">
                <a16:creationId xmlns:a16="http://schemas.microsoft.com/office/drawing/2014/main" id="{64ED0E20-8F25-4332-8A8F-3BA26C72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09750"/>
            <a:ext cx="3733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9" name="head-text-2">
            <a:extLst xmlns:a="http://schemas.openxmlformats.org/drawingml/2006/main">
              <a:ext uri="{FF2B5EF4-FFF2-40B4-BE49-F238E27FC236}">
                <a16:creationId xmlns:a16="http://schemas.microsoft.com/office/drawing/2014/main" id="{DB58A318-46CF-4043-AAC6-C9ED2346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2405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原因</a:t>
            </a:r>
          </a:p>
        </p:txBody>
      </p:sp>
      <p:sp>
        <p:nvSpPr>
          <p:cNvPr id="10" name="cell-0-0">
            <a:extLst xmlns:a="http://schemas.openxmlformats.org/drawingml/2006/main">
              <a:ext uri="{FF2B5EF4-FFF2-40B4-BE49-F238E27FC236}">
                <a16:creationId xmlns:a16="http://schemas.microsoft.com/office/drawing/2014/main" id="{C5BF0C6A-3EA2-4E91-8757-8FCB240B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2190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1" name="cell-text-0-0">
            <a:extLst xmlns:a="http://schemas.openxmlformats.org/drawingml/2006/main">
              <a:ext uri="{FF2B5EF4-FFF2-40B4-BE49-F238E27FC236}">
                <a16:creationId xmlns:a16="http://schemas.microsoft.com/office/drawing/2014/main" id="{BA087A21-92FC-423F-83EC-B9D62F10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384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Tools</a:t>
            </a:r>
          </a:p>
        </p:txBody>
      </p:sp>
      <p:sp>
        <p:nvSpPr>
          <p:cNvPr id="12" name="cell-0-1">
            <a:extLst xmlns:a="http://schemas.openxmlformats.org/drawingml/2006/main">
              <a:ext uri="{FF2B5EF4-FFF2-40B4-BE49-F238E27FC236}">
                <a16:creationId xmlns:a16="http://schemas.microsoft.com/office/drawing/2014/main" id="{7FF25454-4B28-4E50-AE91-91DAD426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324100"/>
            <a:ext cx="3733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3" name="cell-text-0-1">
            <a:extLst xmlns:a="http://schemas.openxmlformats.org/drawingml/2006/main">
              <a:ext uri="{FF2B5EF4-FFF2-40B4-BE49-F238E27FC236}">
                <a16:creationId xmlns:a16="http://schemas.microsoft.com/office/drawing/2014/main" id="{1C4347D8-2326-4C29-93E3-633DBD73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4384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pubmed_search、doi_lookup、csv_validator</a:t>
            </a:r>
          </a:p>
        </p:txBody>
      </p:sp>
      <p:sp>
        <p:nvSpPr>
          <p:cNvPr id="14" name="cell-0-2">
            <a:extLst xmlns:a="http://schemas.openxmlformats.org/drawingml/2006/main">
              <a:ext uri="{FF2B5EF4-FFF2-40B4-BE49-F238E27FC236}">
                <a16:creationId xmlns:a16="http://schemas.microsoft.com/office/drawing/2014/main" id="{A5CBED30-574F-43F3-ABB9-0903A84D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24100"/>
            <a:ext cx="3733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5" name="cell-text-0-2">
            <a:extLst xmlns:a="http://schemas.openxmlformats.org/drawingml/2006/main">
              <a:ext uri="{FF2B5EF4-FFF2-40B4-BE49-F238E27FC236}">
                <a16:creationId xmlns:a16="http://schemas.microsoft.com/office/drawing/2014/main" id="{D059E81F-DF0E-40F2-874A-EC9B943F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384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只做找來源與整理，不自動寫結論</a:t>
            </a:r>
          </a:p>
        </p:txBody>
      </p:sp>
      <p:sp>
        <p:nvSpPr>
          <p:cNvPr id="16" name="cell-1-0">
            <a:extLst xmlns:a="http://schemas.openxmlformats.org/drawingml/2006/main">
              <a:ext uri="{FF2B5EF4-FFF2-40B4-BE49-F238E27FC236}">
                <a16:creationId xmlns:a16="http://schemas.microsoft.com/office/drawing/2014/main" id="{E2F9ECB1-78D4-418A-8A5D-864B5D12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2190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7" name="cell-text-1-0">
            <a:extLst xmlns:a="http://schemas.openxmlformats.org/drawingml/2006/main">
              <a:ext uri="{FF2B5EF4-FFF2-40B4-BE49-F238E27FC236}">
                <a16:creationId xmlns:a16="http://schemas.microsoft.com/office/drawing/2014/main" id="{EBE3FC40-4E3B-498F-9689-88478F12F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623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Memory</a:t>
            </a:r>
          </a:p>
        </p:txBody>
      </p:sp>
      <p:sp>
        <p:nvSpPr>
          <p:cNvPr id="18" name="cell-1-1">
            <a:extLst xmlns:a="http://schemas.openxmlformats.org/drawingml/2006/main">
              <a:ext uri="{FF2B5EF4-FFF2-40B4-BE49-F238E27FC236}">
                <a16:creationId xmlns:a16="http://schemas.microsoft.com/office/drawing/2014/main" id="{1E7BC112-C5F8-4436-9DC2-D2226203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048000"/>
            <a:ext cx="3733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9" name="cell-text-1-1">
            <a:extLst xmlns:a="http://schemas.openxmlformats.org/drawingml/2006/main">
              <a:ext uri="{FF2B5EF4-FFF2-40B4-BE49-F238E27FC236}">
                <a16:creationId xmlns:a16="http://schemas.microsoft.com/office/drawing/2014/main" id="{B416D966-DABC-42AF-BA9E-CA932FFED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1623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欄位格式與已檢查 PMID</a:t>
            </a:r>
          </a:p>
        </p:txBody>
      </p:sp>
      <p:sp>
        <p:nvSpPr>
          <p:cNvPr id="20" name="cell-1-2">
            <a:extLst xmlns:a="http://schemas.openxmlformats.org/drawingml/2006/main">
              <a:ext uri="{FF2B5EF4-FFF2-40B4-BE49-F238E27FC236}">
                <a16:creationId xmlns:a16="http://schemas.microsoft.com/office/drawing/2014/main" id="{BC5BDC42-E3C9-4E6A-B79F-791D1E68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48000"/>
            <a:ext cx="3733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1" name="cell-text-1-2">
            <a:extLst xmlns:a="http://schemas.openxmlformats.org/drawingml/2006/main">
              <a:ext uri="{FF2B5EF4-FFF2-40B4-BE49-F238E27FC236}">
                <a16:creationId xmlns:a16="http://schemas.microsoft.com/office/drawing/2014/main" id="{187C2F3B-1D78-4EC0-9EA6-40CE5D1B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623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避免重複查，但不存未驗證 claim</a:t>
            </a:r>
          </a:p>
        </p:txBody>
      </p:sp>
      <p:sp>
        <p:nvSpPr>
          <p:cNvPr id="22" name="cell-2-0">
            <a:extLst xmlns:a="http://schemas.openxmlformats.org/drawingml/2006/main">
              <a:ext uri="{FF2B5EF4-FFF2-40B4-BE49-F238E27FC236}">
                <a16:creationId xmlns:a16="http://schemas.microsoft.com/office/drawing/2014/main" id="{5AECD290-8DA9-4E2D-8B84-1D0E4FBF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71900"/>
            <a:ext cx="2190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3" name="cell-text-2-0">
            <a:extLst xmlns:a="http://schemas.openxmlformats.org/drawingml/2006/main">
              <a:ext uri="{FF2B5EF4-FFF2-40B4-BE49-F238E27FC236}">
                <a16:creationId xmlns:a16="http://schemas.microsoft.com/office/drawing/2014/main" id="{1AA66934-88A3-4738-AC24-BC0937AB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862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Verification</a:t>
            </a:r>
          </a:p>
        </p:txBody>
      </p:sp>
      <p:sp>
        <p:nvSpPr>
          <p:cNvPr id="24" name="cell-2-1">
            <a:extLst xmlns:a="http://schemas.openxmlformats.org/drawingml/2006/main">
              <a:ext uri="{FF2B5EF4-FFF2-40B4-BE49-F238E27FC236}">
                <a16:creationId xmlns:a16="http://schemas.microsoft.com/office/drawing/2014/main" id="{B3D3DC52-582C-4B56-B799-94A5EA9D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771900"/>
            <a:ext cx="3733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5" name="cell-text-2-1">
            <a:extLst xmlns:a="http://schemas.openxmlformats.org/drawingml/2006/main">
              <a:ext uri="{FF2B5EF4-FFF2-40B4-BE49-F238E27FC236}">
                <a16:creationId xmlns:a16="http://schemas.microsoft.com/office/drawing/2014/main" id="{25749B63-1F20-4EDF-BF8A-56D438B5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8862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PMID/DOI、quote、confidence 必填</a:t>
            </a:r>
          </a:p>
        </p:txBody>
      </p:sp>
      <p:sp>
        <p:nvSpPr>
          <p:cNvPr id="26" name="cell-2-2">
            <a:extLst xmlns:a="http://schemas.openxmlformats.org/drawingml/2006/main">
              <a:ext uri="{FF2B5EF4-FFF2-40B4-BE49-F238E27FC236}">
                <a16:creationId xmlns:a16="http://schemas.microsoft.com/office/drawing/2014/main" id="{E0872C88-A75B-4D4A-B798-307F04B88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771900"/>
            <a:ext cx="3733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7" name="cell-text-2-2">
            <a:extLst xmlns:a="http://schemas.openxmlformats.org/drawingml/2006/main">
              <a:ext uri="{FF2B5EF4-FFF2-40B4-BE49-F238E27FC236}">
                <a16:creationId xmlns:a16="http://schemas.microsoft.com/office/drawing/2014/main" id="{258BE874-B404-4320-9240-621509FB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862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讓每列 evidence 可被人工追查</a:t>
            </a:r>
          </a:p>
        </p:txBody>
      </p:sp>
      <p:sp>
        <p:nvSpPr>
          <p:cNvPr id="28" name="cell-3-0">
            <a:extLst xmlns:a="http://schemas.openxmlformats.org/drawingml/2006/main">
              <a:ext uri="{FF2B5EF4-FFF2-40B4-BE49-F238E27FC236}">
                <a16:creationId xmlns:a16="http://schemas.microsoft.com/office/drawing/2014/main" id="{D4B46F56-4A08-4A28-B541-6B07A1C26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95800"/>
            <a:ext cx="2190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9" name="cell-text-3-0">
            <a:extLst xmlns:a="http://schemas.openxmlformats.org/drawingml/2006/main">
              <a:ext uri="{FF2B5EF4-FFF2-40B4-BE49-F238E27FC236}">
                <a16:creationId xmlns:a16="http://schemas.microsoft.com/office/drawing/2014/main" id="{210431C8-6BC6-4186-B4F0-2C98C132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101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Human review</a:t>
            </a:r>
          </a:p>
        </p:txBody>
      </p:sp>
      <p:sp>
        <p:nvSpPr>
          <p:cNvPr id="30" name="cell-3-1">
            <a:extLst xmlns:a="http://schemas.openxmlformats.org/drawingml/2006/main">
              <a:ext uri="{FF2B5EF4-FFF2-40B4-BE49-F238E27FC236}">
                <a16:creationId xmlns:a16="http://schemas.microsoft.com/office/drawing/2014/main" id="{B44B9A96-B140-4196-A4F7-C31FB133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495800"/>
            <a:ext cx="3733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31" name="cell-text-3-1">
            <a:extLst xmlns:a="http://schemas.openxmlformats.org/drawingml/2006/main">
              <a:ext uri="{FF2B5EF4-FFF2-40B4-BE49-F238E27FC236}">
                <a16:creationId xmlns:a16="http://schemas.microsoft.com/office/drawing/2014/main" id="{C3B22241-D7E5-459C-9371-A2107DD5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6101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low confidence 或 clinical claim</a:t>
            </a:r>
          </a:p>
        </p:txBody>
      </p:sp>
      <p:sp>
        <p:nvSpPr>
          <p:cNvPr id="32" name="cell-3-2">
            <a:extLst xmlns:a="http://schemas.openxmlformats.org/drawingml/2006/main">
              <a:ext uri="{FF2B5EF4-FFF2-40B4-BE49-F238E27FC236}">
                <a16:creationId xmlns:a16="http://schemas.microsoft.com/office/drawing/2014/main" id="{E3717520-A49B-47B2-9B3B-D4AF67F5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95800"/>
            <a:ext cx="3733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33" name="cell-text-3-2">
            <a:extLst xmlns:a="http://schemas.openxmlformats.org/drawingml/2006/main">
              <a:ext uri="{FF2B5EF4-FFF2-40B4-BE49-F238E27FC236}">
                <a16:creationId xmlns:a16="http://schemas.microsoft.com/office/drawing/2014/main" id="{1AB27D3F-34F2-4CF3-96EC-426C0E3E0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101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避免把文獻摘要變治療建議</a:t>
            </a:r>
          </a:p>
        </p:txBody>
      </p:sp>
    </p:spTree>
    <p:extLst>
      <p:ext uri="{BB962C8B-B14F-4D97-AF65-F5344CB8AC3E}">
        <p14:creationId xmlns:p14="http://schemas.microsoft.com/office/powerpoint/2010/main" val="175909599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E63640E6-C657-4B68-866A-A931F16C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CASE 2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A0534EE-EECF-48BE-A271-025BDEF7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Variant annotation assistant 的 harness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BD42F475-CA3C-42E5-A618-37E3E1D6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Agent harness engineering  |  34/40</a:t>
            </a:r>
          </a:p>
        </p:txBody>
      </p:sp>
      <p:sp>
        <p:nvSpPr>
          <p:cNvPr id="4" name="head-0">
            <a:extLst xmlns:a="http://schemas.openxmlformats.org/drawingml/2006/main">
              <a:ext uri="{FF2B5EF4-FFF2-40B4-BE49-F238E27FC236}">
                <a16:creationId xmlns:a16="http://schemas.microsoft.com/office/drawing/2014/main" id="{4BD012D8-F46F-47CA-A7E9-5975A6B9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2190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5" name="head-text-0">
            <a:extLst xmlns:a="http://schemas.openxmlformats.org/drawingml/2006/main">
              <a:ext uri="{FF2B5EF4-FFF2-40B4-BE49-F238E27FC236}">
                <a16:creationId xmlns:a16="http://schemas.microsoft.com/office/drawing/2014/main" id="{183C488B-5BEE-4F98-A20C-FB9BD7CB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24050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設計項目</a:t>
            </a:r>
          </a:p>
        </p:txBody>
      </p:sp>
      <p:sp>
        <p:nvSpPr>
          <p:cNvPr id="6" name="head-1">
            <a:extLst xmlns:a="http://schemas.openxmlformats.org/drawingml/2006/main">
              <a:ext uri="{FF2B5EF4-FFF2-40B4-BE49-F238E27FC236}">
                <a16:creationId xmlns:a16="http://schemas.microsoft.com/office/drawing/2014/main" id="{E42177AB-95D4-48AC-92F6-BE17F256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809750"/>
            <a:ext cx="3733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7" name="head-text-1">
            <a:extLst xmlns:a="http://schemas.openxmlformats.org/drawingml/2006/main">
              <a:ext uri="{FF2B5EF4-FFF2-40B4-BE49-F238E27FC236}">
                <a16:creationId xmlns:a16="http://schemas.microsoft.com/office/drawing/2014/main" id="{139BCB6D-2600-4FF1-ACC4-C6EE3054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92405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推薦設定</a:t>
            </a:r>
          </a:p>
        </p:txBody>
      </p:sp>
      <p:sp>
        <p:nvSpPr>
          <p:cNvPr id="8" name="head-2">
            <a:extLst xmlns:a="http://schemas.openxmlformats.org/drawingml/2006/main">
              <a:ext uri="{FF2B5EF4-FFF2-40B4-BE49-F238E27FC236}">
                <a16:creationId xmlns:a16="http://schemas.microsoft.com/office/drawing/2014/main" id="{197491B8-B922-4037-87F0-125DD599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09750"/>
            <a:ext cx="3733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9" name="head-text-2">
            <a:extLst xmlns:a="http://schemas.openxmlformats.org/drawingml/2006/main">
              <a:ext uri="{FF2B5EF4-FFF2-40B4-BE49-F238E27FC236}">
                <a16:creationId xmlns:a16="http://schemas.microsoft.com/office/drawing/2014/main" id="{54D28EFD-3969-488B-AC38-F0E1B4EC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2405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原因</a:t>
            </a:r>
          </a:p>
        </p:txBody>
      </p:sp>
      <p:sp>
        <p:nvSpPr>
          <p:cNvPr id="10" name="cell-0-0">
            <a:extLst xmlns:a="http://schemas.openxmlformats.org/drawingml/2006/main">
              <a:ext uri="{FF2B5EF4-FFF2-40B4-BE49-F238E27FC236}">
                <a16:creationId xmlns:a16="http://schemas.microsoft.com/office/drawing/2014/main" id="{226B59CB-B561-495F-96B3-7914142AB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2190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1" name="cell-text-0-0">
            <a:extLst xmlns:a="http://schemas.openxmlformats.org/drawingml/2006/main">
              <a:ext uri="{FF2B5EF4-FFF2-40B4-BE49-F238E27FC236}">
                <a16:creationId xmlns:a16="http://schemas.microsoft.com/office/drawing/2014/main" id="{C8924554-3F7B-44AE-A66A-827AA4FF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384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Sources</a:t>
            </a:r>
          </a:p>
        </p:txBody>
      </p:sp>
      <p:sp>
        <p:nvSpPr>
          <p:cNvPr id="12" name="cell-0-1">
            <a:extLst xmlns:a="http://schemas.openxmlformats.org/drawingml/2006/main">
              <a:ext uri="{FF2B5EF4-FFF2-40B4-BE49-F238E27FC236}">
                <a16:creationId xmlns:a16="http://schemas.microsoft.com/office/drawing/2014/main" id="{9FCEE7C7-DFF2-433E-BCA4-223B45A6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324100"/>
            <a:ext cx="3733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3" name="cell-text-0-1">
            <a:extLst xmlns:a="http://schemas.openxmlformats.org/drawingml/2006/main">
              <a:ext uri="{FF2B5EF4-FFF2-40B4-BE49-F238E27FC236}">
                <a16:creationId xmlns:a16="http://schemas.microsoft.com/office/drawing/2014/main" id="{5A98CB6C-7C68-4480-8D96-F9D1CDB2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4384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ClinVar、gnomAD、HGVS validator</a:t>
            </a:r>
          </a:p>
        </p:txBody>
      </p:sp>
      <p:sp>
        <p:nvSpPr>
          <p:cNvPr id="14" name="cell-0-2">
            <a:extLst xmlns:a="http://schemas.openxmlformats.org/drawingml/2006/main">
              <a:ext uri="{FF2B5EF4-FFF2-40B4-BE49-F238E27FC236}">
                <a16:creationId xmlns:a16="http://schemas.microsoft.com/office/drawing/2014/main" id="{059741EF-A500-4CD1-B767-9C9A5493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24100"/>
            <a:ext cx="3733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5" name="cell-text-0-2">
            <a:extLst xmlns:a="http://schemas.openxmlformats.org/drawingml/2006/main">
              <a:ext uri="{FF2B5EF4-FFF2-40B4-BE49-F238E27FC236}">
                <a16:creationId xmlns:a16="http://schemas.microsoft.com/office/drawing/2014/main" id="{2E1315AF-C100-48C1-B4D4-D2D65AC2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384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版本和命名會影響 interpretation</a:t>
            </a:r>
          </a:p>
        </p:txBody>
      </p:sp>
      <p:sp>
        <p:nvSpPr>
          <p:cNvPr id="16" name="cell-1-0">
            <a:extLst xmlns:a="http://schemas.openxmlformats.org/drawingml/2006/main">
              <a:ext uri="{FF2B5EF4-FFF2-40B4-BE49-F238E27FC236}">
                <a16:creationId xmlns:a16="http://schemas.microsoft.com/office/drawing/2014/main" id="{F0CB9741-2899-4C6F-9544-D638D884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2190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7" name="cell-text-1-0">
            <a:extLst xmlns:a="http://schemas.openxmlformats.org/drawingml/2006/main">
              <a:ext uri="{FF2B5EF4-FFF2-40B4-BE49-F238E27FC236}">
                <a16:creationId xmlns:a16="http://schemas.microsoft.com/office/drawing/2014/main" id="{43D476EC-E137-475E-A8C6-1D1C6718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623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Permissions</a:t>
            </a:r>
          </a:p>
        </p:txBody>
      </p:sp>
      <p:sp>
        <p:nvSpPr>
          <p:cNvPr id="18" name="cell-1-1">
            <a:extLst xmlns:a="http://schemas.openxmlformats.org/drawingml/2006/main">
              <a:ext uri="{FF2B5EF4-FFF2-40B4-BE49-F238E27FC236}">
                <a16:creationId xmlns:a16="http://schemas.microsoft.com/office/drawing/2014/main" id="{4D99DA9F-DEE4-4299-AF96-307FC86A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048000"/>
            <a:ext cx="3733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9" name="cell-text-1-1">
            <a:extLst xmlns:a="http://schemas.openxmlformats.org/drawingml/2006/main">
              <a:ext uri="{FF2B5EF4-FFF2-40B4-BE49-F238E27FC236}">
                <a16:creationId xmlns:a16="http://schemas.microsoft.com/office/drawing/2014/main" id="{C829457B-571F-4C9E-850C-8399E4CE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1623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只讀 deidentified variant file</a:t>
            </a:r>
          </a:p>
        </p:txBody>
      </p:sp>
      <p:sp>
        <p:nvSpPr>
          <p:cNvPr id="20" name="cell-1-2">
            <a:extLst xmlns:a="http://schemas.openxmlformats.org/drawingml/2006/main">
              <a:ext uri="{FF2B5EF4-FFF2-40B4-BE49-F238E27FC236}">
                <a16:creationId xmlns:a16="http://schemas.microsoft.com/office/drawing/2014/main" id="{DD7D0FF6-5CFC-4274-AF7F-98865189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48000"/>
            <a:ext cx="3733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1" name="cell-text-1-2">
            <a:extLst xmlns:a="http://schemas.openxmlformats.org/drawingml/2006/main">
              <a:ext uri="{FF2B5EF4-FFF2-40B4-BE49-F238E27FC236}">
                <a16:creationId xmlns:a16="http://schemas.microsoft.com/office/drawing/2014/main" id="{D6275D2D-C444-4C80-A5E2-DDF079F9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623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避免接觸病人身分資料</a:t>
            </a:r>
          </a:p>
        </p:txBody>
      </p:sp>
      <p:sp>
        <p:nvSpPr>
          <p:cNvPr id="22" name="cell-2-0">
            <a:extLst xmlns:a="http://schemas.openxmlformats.org/drawingml/2006/main">
              <a:ext uri="{FF2B5EF4-FFF2-40B4-BE49-F238E27FC236}">
                <a16:creationId xmlns:a16="http://schemas.microsoft.com/office/drawing/2014/main" id="{607E8CC8-68B8-4EE5-8FAC-D0C7D07B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71900"/>
            <a:ext cx="2190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3" name="cell-text-2-0">
            <a:extLst xmlns:a="http://schemas.openxmlformats.org/drawingml/2006/main">
              <a:ext uri="{FF2B5EF4-FFF2-40B4-BE49-F238E27FC236}">
                <a16:creationId xmlns:a16="http://schemas.microsoft.com/office/drawing/2014/main" id="{163E2BE2-4A2D-4ACD-929B-12CE3580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862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State</a:t>
            </a:r>
          </a:p>
        </p:txBody>
      </p:sp>
      <p:sp>
        <p:nvSpPr>
          <p:cNvPr id="24" name="cell-2-1">
            <a:extLst xmlns:a="http://schemas.openxmlformats.org/drawingml/2006/main">
              <a:ext uri="{FF2B5EF4-FFF2-40B4-BE49-F238E27FC236}">
                <a16:creationId xmlns:a16="http://schemas.microsoft.com/office/drawing/2014/main" id="{50A481B6-FF44-4297-A4FD-28B9B365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771900"/>
            <a:ext cx="3733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5" name="cell-text-2-1">
            <a:extLst xmlns:a="http://schemas.openxmlformats.org/drawingml/2006/main">
              <a:ext uri="{FF2B5EF4-FFF2-40B4-BE49-F238E27FC236}">
                <a16:creationId xmlns:a16="http://schemas.microsoft.com/office/drawing/2014/main" id="{1697138F-72CD-42AF-B2F9-42720842F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8862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variant_id、transcript、genome build</a:t>
            </a:r>
          </a:p>
        </p:txBody>
      </p:sp>
      <p:sp>
        <p:nvSpPr>
          <p:cNvPr id="26" name="cell-2-2">
            <a:extLst xmlns:a="http://schemas.openxmlformats.org/drawingml/2006/main">
              <a:ext uri="{FF2B5EF4-FFF2-40B4-BE49-F238E27FC236}">
                <a16:creationId xmlns:a16="http://schemas.microsoft.com/office/drawing/2014/main" id="{685F98C2-8502-47C8-B835-B8138629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771900"/>
            <a:ext cx="3733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7" name="cell-text-2-2">
            <a:extLst xmlns:a="http://schemas.openxmlformats.org/drawingml/2006/main">
              <a:ext uri="{FF2B5EF4-FFF2-40B4-BE49-F238E27FC236}">
                <a16:creationId xmlns:a16="http://schemas.microsoft.com/office/drawing/2014/main" id="{A3219C00-F51E-4687-89F9-4704246C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862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沒有 build 的 variant 很容易講錯</a:t>
            </a:r>
          </a:p>
        </p:txBody>
      </p:sp>
      <p:sp>
        <p:nvSpPr>
          <p:cNvPr id="28" name="cell-3-0">
            <a:extLst xmlns:a="http://schemas.openxmlformats.org/drawingml/2006/main">
              <a:ext uri="{FF2B5EF4-FFF2-40B4-BE49-F238E27FC236}">
                <a16:creationId xmlns:a16="http://schemas.microsoft.com/office/drawing/2014/main" id="{B2C66B8F-BF07-4216-AA28-5A6FA875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95800"/>
            <a:ext cx="2190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9" name="cell-text-3-0">
            <a:extLst xmlns:a="http://schemas.openxmlformats.org/drawingml/2006/main">
              <a:ext uri="{FF2B5EF4-FFF2-40B4-BE49-F238E27FC236}">
                <a16:creationId xmlns:a16="http://schemas.microsoft.com/office/drawing/2014/main" id="{68F6ADFB-4D7A-410E-BE8E-E284D11B1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101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Output</a:t>
            </a:r>
          </a:p>
        </p:txBody>
      </p:sp>
      <p:sp>
        <p:nvSpPr>
          <p:cNvPr id="30" name="cell-3-1">
            <a:extLst xmlns:a="http://schemas.openxmlformats.org/drawingml/2006/main">
              <a:ext uri="{FF2B5EF4-FFF2-40B4-BE49-F238E27FC236}">
                <a16:creationId xmlns:a16="http://schemas.microsoft.com/office/drawing/2014/main" id="{4D466043-F428-4657-8F40-8F244223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495800"/>
            <a:ext cx="3733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31" name="cell-text-3-1">
            <a:extLst xmlns:a="http://schemas.openxmlformats.org/drawingml/2006/main">
              <a:ext uri="{FF2B5EF4-FFF2-40B4-BE49-F238E27FC236}">
                <a16:creationId xmlns:a16="http://schemas.microsoft.com/office/drawing/2014/main" id="{522DE3A4-DC5B-42CE-A63B-0E934739D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6101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annotation summary, not diagnosis</a:t>
            </a:r>
          </a:p>
        </p:txBody>
      </p:sp>
      <p:sp>
        <p:nvSpPr>
          <p:cNvPr id="32" name="cell-3-2">
            <a:extLst xmlns:a="http://schemas.openxmlformats.org/drawingml/2006/main">
              <a:ext uri="{FF2B5EF4-FFF2-40B4-BE49-F238E27FC236}">
                <a16:creationId xmlns:a16="http://schemas.microsoft.com/office/drawing/2014/main" id="{69873E30-51C2-4D55-9371-2E475248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95800"/>
            <a:ext cx="3733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33" name="cell-text-3-2">
            <a:extLst xmlns:a="http://schemas.openxmlformats.org/drawingml/2006/main">
              <a:ext uri="{FF2B5EF4-FFF2-40B4-BE49-F238E27FC236}">
                <a16:creationId xmlns:a16="http://schemas.microsoft.com/office/drawing/2014/main" id="{7353C55E-6421-4596-A66A-9C6ADD99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101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不能把輔助註解包裝成臨床決策</a:t>
            </a:r>
          </a:p>
        </p:txBody>
      </p:sp>
    </p:spTree>
    <p:extLst>
      <p:ext uri="{BB962C8B-B14F-4D97-AF65-F5344CB8AC3E}">
        <p14:creationId xmlns:p14="http://schemas.microsoft.com/office/powerpoint/2010/main" val="192546403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4F6EAB96-C0A6-4B08-B024-3FF66AF04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CASE 3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F4D77A4-B0FE-4595-B99B-257F2BE4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Cohort summary agent 的 harness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254904A6-DF45-48B0-B213-A4D9667A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Agent harness engineering  |  35/40</a:t>
            </a:r>
          </a:p>
        </p:txBody>
      </p:sp>
      <p:sp>
        <p:nvSpPr>
          <p:cNvPr id="4" name="head-0">
            <a:extLst xmlns:a="http://schemas.openxmlformats.org/drawingml/2006/main">
              <a:ext uri="{FF2B5EF4-FFF2-40B4-BE49-F238E27FC236}">
                <a16:creationId xmlns:a16="http://schemas.microsoft.com/office/drawing/2014/main" id="{2A0510F3-68D2-437C-91F5-A5050CC2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2190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5" name="head-text-0">
            <a:extLst xmlns:a="http://schemas.openxmlformats.org/drawingml/2006/main">
              <a:ext uri="{FF2B5EF4-FFF2-40B4-BE49-F238E27FC236}">
                <a16:creationId xmlns:a16="http://schemas.microsoft.com/office/drawing/2014/main" id="{A242DE77-BB93-431C-A1BF-9F71F19F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24050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設計項目</a:t>
            </a:r>
          </a:p>
        </p:txBody>
      </p:sp>
      <p:sp>
        <p:nvSpPr>
          <p:cNvPr id="6" name="head-1">
            <a:extLst xmlns:a="http://schemas.openxmlformats.org/drawingml/2006/main">
              <a:ext uri="{FF2B5EF4-FFF2-40B4-BE49-F238E27FC236}">
                <a16:creationId xmlns:a16="http://schemas.microsoft.com/office/drawing/2014/main" id="{F6DB95D4-E911-46B8-BA33-617D803CB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809750"/>
            <a:ext cx="3733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7" name="head-text-1">
            <a:extLst xmlns:a="http://schemas.openxmlformats.org/drawingml/2006/main">
              <a:ext uri="{FF2B5EF4-FFF2-40B4-BE49-F238E27FC236}">
                <a16:creationId xmlns:a16="http://schemas.microsoft.com/office/drawing/2014/main" id="{2BD31AEA-2948-4BEE-88A0-5D0BC84B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92405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推薦設定</a:t>
            </a:r>
          </a:p>
        </p:txBody>
      </p:sp>
      <p:sp>
        <p:nvSpPr>
          <p:cNvPr id="8" name="head-2">
            <a:extLst xmlns:a="http://schemas.openxmlformats.org/drawingml/2006/main">
              <a:ext uri="{FF2B5EF4-FFF2-40B4-BE49-F238E27FC236}">
                <a16:creationId xmlns:a16="http://schemas.microsoft.com/office/drawing/2014/main" id="{C8BBCDCC-F031-4C5E-9C07-C29F9FF98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09750"/>
            <a:ext cx="3733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9" name="head-text-2">
            <a:extLst xmlns:a="http://schemas.openxmlformats.org/drawingml/2006/main">
              <a:ext uri="{FF2B5EF4-FFF2-40B4-BE49-F238E27FC236}">
                <a16:creationId xmlns:a16="http://schemas.microsoft.com/office/drawing/2014/main" id="{4AF0E258-54BE-4B7E-8F4D-80464F7AE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2405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原因</a:t>
            </a:r>
          </a:p>
        </p:txBody>
      </p:sp>
      <p:sp>
        <p:nvSpPr>
          <p:cNvPr id="10" name="cell-0-0">
            <a:extLst xmlns:a="http://schemas.openxmlformats.org/drawingml/2006/main">
              <a:ext uri="{FF2B5EF4-FFF2-40B4-BE49-F238E27FC236}">
                <a16:creationId xmlns:a16="http://schemas.microsoft.com/office/drawing/2014/main" id="{B1DE753B-CF49-4B90-892B-76FEBE72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2190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1" name="cell-text-0-0">
            <a:extLst xmlns:a="http://schemas.openxmlformats.org/drawingml/2006/main">
              <a:ext uri="{FF2B5EF4-FFF2-40B4-BE49-F238E27FC236}">
                <a16:creationId xmlns:a16="http://schemas.microsoft.com/office/drawing/2014/main" id="{9F171053-BF9A-4E4C-8FA5-6EA469B1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384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Input</a:t>
            </a:r>
          </a:p>
        </p:txBody>
      </p:sp>
      <p:sp>
        <p:nvSpPr>
          <p:cNvPr id="12" name="cell-0-1">
            <a:extLst xmlns:a="http://schemas.openxmlformats.org/drawingml/2006/main">
              <a:ext uri="{FF2B5EF4-FFF2-40B4-BE49-F238E27FC236}">
                <a16:creationId xmlns:a16="http://schemas.microsoft.com/office/drawing/2014/main" id="{2BB2DCC4-781B-45BE-805D-6A1CA7F1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324100"/>
            <a:ext cx="3733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3" name="cell-text-0-1">
            <a:extLst xmlns:a="http://schemas.openxmlformats.org/drawingml/2006/main">
              <a:ext uri="{FF2B5EF4-FFF2-40B4-BE49-F238E27FC236}">
                <a16:creationId xmlns:a16="http://schemas.microsoft.com/office/drawing/2014/main" id="{2A22FC21-846B-43E2-A030-74F92177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4384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去識別化、最小必要欄位</a:t>
            </a:r>
          </a:p>
        </p:txBody>
      </p:sp>
      <p:sp>
        <p:nvSpPr>
          <p:cNvPr id="14" name="cell-0-2">
            <a:extLst xmlns:a="http://schemas.openxmlformats.org/drawingml/2006/main">
              <a:ext uri="{FF2B5EF4-FFF2-40B4-BE49-F238E27FC236}">
                <a16:creationId xmlns:a16="http://schemas.microsoft.com/office/drawing/2014/main" id="{EC8F16CB-E6CF-4A35-A345-84534656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24100"/>
            <a:ext cx="3733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5" name="cell-text-0-2">
            <a:extLst xmlns:a="http://schemas.openxmlformats.org/drawingml/2006/main">
              <a:ext uri="{FF2B5EF4-FFF2-40B4-BE49-F238E27FC236}">
                <a16:creationId xmlns:a16="http://schemas.microsoft.com/office/drawing/2014/main" id="{23FF3185-0115-4E02-95C4-683BED71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384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隱私風險先降到最低</a:t>
            </a:r>
          </a:p>
        </p:txBody>
      </p:sp>
      <p:sp>
        <p:nvSpPr>
          <p:cNvPr id="16" name="cell-1-0">
            <a:extLst xmlns:a="http://schemas.openxmlformats.org/drawingml/2006/main">
              <a:ext uri="{FF2B5EF4-FFF2-40B4-BE49-F238E27FC236}">
                <a16:creationId xmlns:a16="http://schemas.microsoft.com/office/drawing/2014/main" id="{0FC3CA62-B7F1-468C-BE29-84C17B48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2190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7" name="cell-text-1-0">
            <a:extLst xmlns:a="http://schemas.openxmlformats.org/drawingml/2006/main">
              <a:ext uri="{FF2B5EF4-FFF2-40B4-BE49-F238E27FC236}">
                <a16:creationId xmlns:a16="http://schemas.microsoft.com/office/drawing/2014/main" id="{79943965-118F-4A96-AEE0-24A7B7E0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623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Tools</a:t>
            </a:r>
          </a:p>
        </p:txBody>
      </p:sp>
      <p:sp>
        <p:nvSpPr>
          <p:cNvPr id="18" name="cell-1-1">
            <a:extLst xmlns:a="http://schemas.openxmlformats.org/drawingml/2006/main">
              <a:ext uri="{FF2B5EF4-FFF2-40B4-BE49-F238E27FC236}">
                <a16:creationId xmlns:a16="http://schemas.microsoft.com/office/drawing/2014/main" id="{CD216992-549E-49FB-BC32-16A53F50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048000"/>
            <a:ext cx="3733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9" name="cell-text-1-1">
            <a:extLst xmlns:a="http://schemas.openxmlformats.org/drawingml/2006/main">
              <a:ext uri="{FF2B5EF4-FFF2-40B4-BE49-F238E27FC236}">
                <a16:creationId xmlns:a16="http://schemas.microsoft.com/office/drawing/2014/main" id="{F2CF5125-7354-4AEF-ACD2-833D624D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1623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aggregate-only statistics</a:t>
            </a:r>
          </a:p>
        </p:txBody>
      </p:sp>
      <p:sp>
        <p:nvSpPr>
          <p:cNvPr id="20" name="cell-1-2">
            <a:extLst xmlns:a="http://schemas.openxmlformats.org/drawingml/2006/main">
              <a:ext uri="{FF2B5EF4-FFF2-40B4-BE49-F238E27FC236}">
                <a16:creationId xmlns:a16="http://schemas.microsoft.com/office/drawing/2014/main" id="{70D0A577-97F2-443C-AE0E-E85AA20F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48000"/>
            <a:ext cx="3733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1" name="cell-text-1-2">
            <a:extLst xmlns:a="http://schemas.openxmlformats.org/drawingml/2006/main">
              <a:ext uri="{FF2B5EF4-FFF2-40B4-BE49-F238E27FC236}">
                <a16:creationId xmlns:a16="http://schemas.microsoft.com/office/drawing/2014/main" id="{683723D4-82D8-4548-9EC2-B278DA5F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623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避免回傳可識別個體列</a:t>
            </a:r>
          </a:p>
        </p:txBody>
      </p:sp>
      <p:sp>
        <p:nvSpPr>
          <p:cNvPr id="22" name="cell-2-0">
            <a:extLst xmlns:a="http://schemas.openxmlformats.org/drawingml/2006/main">
              <a:ext uri="{FF2B5EF4-FFF2-40B4-BE49-F238E27FC236}">
                <a16:creationId xmlns:a16="http://schemas.microsoft.com/office/drawing/2014/main" id="{6A634E0E-7F82-4EEE-B344-B5B4FD2C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71900"/>
            <a:ext cx="2190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3" name="cell-text-2-0">
            <a:extLst xmlns:a="http://schemas.openxmlformats.org/drawingml/2006/main">
              <a:ext uri="{FF2B5EF4-FFF2-40B4-BE49-F238E27FC236}">
                <a16:creationId xmlns:a16="http://schemas.microsoft.com/office/drawing/2014/main" id="{A4D08962-0AE8-4F84-8453-35DCC718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862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Logs</a:t>
            </a:r>
          </a:p>
        </p:txBody>
      </p:sp>
      <p:sp>
        <p:nvSpPr>
          <p:cNvPr id="24" name="cell-2-1">
            <a:extLst xmlns:a="http://schemas.openxmlformats.org/drawingml/2006/main">
              <a:ext uri="{FF2B5EF4-FFF2-40B4-BE49-F238E27FC236}">
                <a16:creationId xmlns:a16="http://schemas.microsoft.com/office/drawing/2014/main" id="{78BA30F9-A60C-49C5-B848-8E183CC7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771900"/>
            <a:ext cx="3733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5" name="cell-text-2-1">
            <a:extLst xmlns:a="http://schemas.openxmlformats.org/drawingml/2006/main">
              <a:ext uri="{FF2B5EF4-FFF2-40B4-BE49-F238E27FC236}">
                <a16:creationId xmlns:a16="http://schemas.microsoft.com/office/drawing/2014/main" id="{1DBE07EC-E9AE-46FD-87B4-CA1F89B0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8862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query、filters、row counts</a:t>
            </a:r>
          </a:p>
        </p:txBody>
      </p:sp>
      <p:sp>
        <p:nvSpPr>
          <p:cNvPr id="26" name="cell-2-2">
            <a:extLst xmlns:a="http://schemas.openxmlformats.org/drawingml/2006/main">
              <a:ext uri="{FF2B5EF4-FFF2-40B4-BE49-F238E27FC236}">
                <a16:creationId xmlns:a16="http://schemas.microsoft.com/office/drawing/2014/main" id="{42CF1EB3-9008-42C5-9349-5DE50A2C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771900"/>
            <a:ext cx="3733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7" name="cell-text-2-2">
            <a:extLst xmlns:a="http://schemas.openxmlformats.org/drawingml/2006/main">
              <a:ext uri="{FF2B5EF4-FFF2-40B4-BE49-F238E27FC236}">
                <a16:creationId xmlns:a16="http://schemas.microsoft.com/office/drawing/2014/main" id="{5AB457C7-7ACC-48EE-B99C-8980E7DF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862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可追查分析條件</a:t>
            </a:r>
          </a:p>
        </p:txBody>
      </p:sp>
      <p:sp>
        <p:nvSpPr>
          <p:cNvPr id="28" name="cell-3-0">
            <a:extLst xmlns:a="http://schemas.openxmlformats.org/drawingml/2006/main">
              <a:ext uri="{FF2B5EF4-FFF2-40B4-BE49-F238E27FC236}">
                <a16:creationId xmlns:a16="http://schemas.microsoft.com/office/drawing/2014/main" id="{FD5758D0-B358-4585-8342-A1EE5F66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95800"/>
            <a:ext cx="2190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9" name="cell-text-3-0">
            <a:extLst xmlns:a="http://schemas.openxmlformats.org/drawingml/2006/main">
              <a:ext uri="{FF2B5EF4-FFF2-40B4-BE49-F238E27FC236}">
                <a16:creationId xmlns:a16="http://schemas.microsoft.com/office/drawing/2014/main" id="{7B109241-7240-4D0D-827B-355ADE67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101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Review</a:t>
            </a:r>
          </a:p>
        </p:txBody>
      </p:sp>
      <p:sp>
        <p:nvSpPr>
          <p:cNvPr id="30" name="cell-3-1">
            <a:extLst xmlns:a="http://schemas.openxmlformats.org/drawingml/2006/main">
              <a:ext uri="{FF2B5EF4-FFF2-40B4-BE49-F238E27FC236}">
                <a16:creationId xmlns:a16="http://schemas.microsoft.com/office/drawing/2014/main" id="{5CF37F2D-57BC-43B7-AADD-32BA5C6E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495800"/>
            <a:ext cx="3733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31" name="cell-text-3-1">
            <a:extLst xmlns:a="http://schemas.openxmlformats.org/drawingml/2006/main">
              <a:ext uri="{FF2B5EF4-FFF2-40B4-BE49-F238E27FC236}">
                <a16:creationId xmlns:a16="http://schemas.microsoft.com/office/drawing/2014/main" id="{B6F4454E-2A86-4D11-BCAC-07CF2268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6101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small cell count alert</a:t>
            </a:r>
          </a:p>
        </p:txBody>
      </p:sp>
      <p:sp>
        <p:nvSpPr>
          <p:cNvPr id="32" name="cell-3-2">
            <a:extLst xmlns:a="http://schemas.openxmlformats.org/drawingml/2006/main">
              <a:ext uri="{FF2B5EF4-FFF2-40B4-BE49-F238E27FC236}">
                <a16:creationId xmlns:a16="http://schemas.microsoft.com/office/drawing/2014/main" id="{94FAAE32-83D2-46A7-84D7-5AEC5BBA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95800"/>
            <a:ext cx="3733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33" name="cell-text-3-2">
            <a:extLst xmlns:a="http://schemas.openxmlformats.org/drawingml/2006/main">
              <a:ext uri="{FF2B5EF4-FFF2-40B4-BE49-F238E27FC236}">
                <a16:creationId xmlns:a16="http://schemas.microsoft.com/office/drawing/2014/main" id="{34AE84A6-8A95-4B5B-BDA0-0EEE6A830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101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降低再識別風險</a:t>
            </a:r>
          </a:p>
        </p:txBody>
      </p:sp>
    </p:spTree>
    <p:extLst>
      <p:ext uri="{BB962C8B-B14F-4D97-AF65-F5344CB8AC3E}">
        <p14:creationId xmlns:p14="http://schemas.microsoft.com/office/powerpoint/2010/main" val="41018368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9E9A30AA-DBEA-4E68-B2B1-A04275C3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CASE 4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A184761-D6F2-48CE-8A96-4515969F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Manuscript QA assistant 的 harness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9CE474AD-C3FF-41EB-8368-504F3AF3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Agent harness engineering  |  36/40</a:t>
            </a:r>
          </a:p>
        </p:txBody>
      </p:sp>
      <p:sp>
        <p:nvSpPr>
          <p:cNvPr id="4" name="head-0">
            <a:extLst xmlns:a="http://schemas.openxmlformats.org/drawingml/2006/main">
              <a:ext uri="{FF2B5EF4-FFF2-40B4-BE49-F238E27FC236}">
                <a16:creationId xmlns:a16="http://schemas.microsoft.com/office/drawing/2014/main" id="{EBE0293D-39E4-43A7-86A0-4E4E7B8A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2190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5" name="head-text-0">
            <a:extLst xmlns:a="http://schemas.openxmlformats.org/drawingml/2006/main">
              <a:ext uri="{FF2B5EF4-FFF2-40B4-BE49-F238E27FC236}">
                <a16:creationId xmlns:a16="http://schemas.microsoft.com/office/drawing/2014/main" id="{F8DD37C5-815B-4C19-AF47-6DA30FCD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24050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設計項目</a:t>
            </a:r>
          </a:p>
        </p:txBody>
      </p:sp>
      <p:sp>
        <p:nvSpPr>
          <p:cNvPr id="6" name="head-1">
            <a:extLst xmlns:a="http://schemas.openxmlformats.org/drawingml/2006/main">
              <a:ext uri="{FF2B5EF4-FFF2-40B4-BE49-F238E27FC236}">
                <a16:creationId xmlns:a16="http://schemas.microsoft.com/office/drawing/2014/main" id="{635FB386-DC40-4C73-832E-55F25376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809750"/>
            <a:ext cx="3733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7" name="head-text-1">
            <a:extLst xmlns:a="http://schemas.openxmlformats.org/drawingml/2006/main">
              <a:ext uri="{FF2B5EF4-FFF2-40B4-BE49-F238E27FC236}">
                <a16:creationId xmlns:a16="http://schemas.microsoft.com/office/drawing/2014/main" id="{6434C929-CF77-4003-B36E-CD677451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92405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推薦設定</a:t>
            </a:r>
          </a:p>
        </p:txBody>
      </p:sp>
      <p:sp>
        <p:nvSpPr>
          <p:cNvPr id="8" name="head-2">
            <a:extLst xmlns:a="http://schemas.openxmlformats.org/drawingml/2006/main">
              <a:ext uri="{FF2B5EF4-FFF2-40B4-BE49-F238E27FC236}">
                <a16:creationId xmlns:a16="http://schemas.microsoft.com/office/drawing/2014/main" id="{7BD6B4BB-E191-4137-9A7D-1B243742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09750"/>
            <a:ext cx="3733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9" name="head-text-2">
            <a:extLst xmlns:a="http://schemas.openxmlformats.org/drawingml/2006/main">
              <a:ext uri="{FF2B5EF4-FFF2-40B4-BE49-F238E27FC236}">
                <a16:creationId xmlns:a16="http://schemas.microsoft.com/office/drawing/2014/main" id="{50430BB5-3A2A-43D3-8E8B-2EC67B4E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2405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原因</a:t>
            </a:r>
          </a:p>
        </p:txBody>
      </p:sp>
      <p:sp>
        <p:nvSpPr>
          <p:cNvPr id="10" name="cell-0-0">
            <a:extLst xmlns:a="http://schemas.openxmlformats.org/drawingml/2006/main">
              <a:ext uri="{FF2B5EF4-FFF2-40B4-BE49-F238E27FC236}">
                <a16:creationId xmlns:a16="http://schemas.microsoft.com/office/drawing/2014/main" id="{CE838888-F1F9-4070-8FDA-1F09AF15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2190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1" name="cell-text-0-0">
            <a:extLst xmlns:a="http://schemas.openxmlformats.org/drawingml/2006/main">
              <a:ext uri="{FF2B5EF4-FFF2-40B4-BE49-F238E27FC236}">
                <a16:creationId xmlns:a16="http://schemas.microsoft.com/office/drawing/2014/main" id="{8EABAED6-2D3A-41DC-99B2-DF4593E2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384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Resources</a:t>
            </a:r>
          </a:p>
        </p:txBody>
      </p:sp>
      <p:sp>
        <p:nvSpPr>
          <p:cNvPr id="12" name="cell-0-1">
            <a:extLst xmlns:a="http://schemas.openxmlformats.org/drawingml/2006/main">
              <a:ext uri="{FF2B5EF4-FFF2-40B4-BE49-F238E27FC236}">
                <a16:creationId xmlns:a16="http://schemas.microsoft.com/office/drawing/2014/main" id="{339B152E-3BBA-45B4-AC1F-CDE41279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324100"/>
            <a:ext cx="3733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3" name="cell-text-0-1">
            <a:extLst xmlns:a="http://schemas.openxmlformats.org/drawingml/2006/main">
              <a:ext uri="{FF2B5EF4-FFF2-40B4-BE49-F238E27FC236}">
                <a16:creationId xmlns:a16="http://schemas.microsoft.com/office/drawing/2014/main" id="{B79C782C-B6E9-4687-8B60-65EB4065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4384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manuscript、supplement、reference list</a:t>
            </a:r>
          </a:p>
        </p:txBody>
      </p:sp>
      <p:sp>
        <p:nvSpPr>
          <p:cNvPr id="14" name="cell-0-2">
            <a:extLst xmlns:a="http://schemas.openxmlformats.org/drawingml/2006/main">
              <a:ext uri="{FF2B5EF4-FFF2-40B4-BE49-F238E27FC236}">
                <a16:creationId xmlns:a16="http://schemas.microsoft.com/office/drawing/2014/main" id="{9F73119D-8C08-4AD5-9CAC-D4379DFF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24100"/>
            <a:ext cx="3733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5" name="cell-text-0-2">
            <a:extLst xmlns:a="http://schemas.openxmlformats.org/drawingml/2006/main">
              <a:ext uri="{FF2B5EF4-FFF2-40B4-BE49-F238E27FC236}">
                <a16:creationId xmlns:a16="http://schemas.microsoft.com/office/drawing/2014/main" id="{29694AB6-7E4E-43B3-9379-0DE11FA0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384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限定檢查範圍</a:t>
            </a:r>
          </a:p>
        </p:txBody>
      </p:sp>
      <p:sp>
        <p:nvSpPr>
          <p:cNvPr id="16" name="cell-1-0">
            <a:extLst xmlns:a="http://schemas.openxmlformats.org/drawingml/2006/main">
              <a:ext uri="{FF2B5EF4-FFF2-40B4-BE49-F238E27FC236}">
                <a16:creationId xmlns:a16="http://schemas.microsoft.com/office/drawing/2014/main" id="{EE1E0CCB-FE78-4CB2-9098-01A7EDB0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2190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7" name="cell-text-1-0">
            <a:extLst xmlns:a="http://schemas.openxmlformats.org/drawingml/2006/main">
              <a:ext uri="{FF2B5EF4-FFF2-40B4-BE49-F238E27FC236}">
                <a16:creationId xmlns:a16="http://schemas.microsoft.com/office/drawing/2014/main" id="{25E6B5CA-7BCE-42E6-BD6C-C617BACA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623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Tools</a:t>
            </a:r>
          </a:p>
        </p:txBody>
      </p:sp>
      <p:sp>
        <p:nvSpPr>
          <p:cNvPr id="18" name="cell-1-1">
            <a:extLst xmlns:a="http://schemas.openxmlformats.org/drawingml/2006/main">
              <a:ext uri="{FF2B5EF4-FFF2-40B4-BE49-F238E27FC236}">
                <a16:creationId xmlns:a16="http://schemas.microsoft.com/office/drawing/2014/main" id="{647378A8-7910-42BE-BAEC-31B16FE0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048000"/>
            <a:ext cx="3733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9" name="cell-text-1-1">
            <a:extLst xmlns:a="http://schemas.openxmlformats.org/drawingml/2006/main">
              <a:ext uri="{FF2B5EF4-FFF2-40B4-BE49-F238E27FC236}">
                <a16:creationId xmlns:a16="http://schemas.microsoft.com/office/drawing/2014/main" id="{DF4DF790-BB62-462A-8A8F-73485B0F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1623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citation matcher、table checker</a:t>
            </a:r>
          </a:p>
        </p:txBody>
      </p:sp>
      <p:sp>
        <p:nvSpPr>
          <p:cNvPr id="20" name="cell-1-2">
            <a:extLst xmlns:a="http://schemas.openxmlformats.org/drawingml/2006/main">
              <a:ext uri="{FF2B5EF4-FFF2-40B4-BE49-F238E27FC236}">
                <a16:creationId xmlns:a16="http://schemas.microsoft.com/office/drawing/2014/main" id="{C8EF966A-FE67-4E7F-AFD4-6BCD8654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48000"/>
            <a:ext cx="3733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1" name="cell-text-1-2">
            <a:extLst xmlns:a="http://schemas.openxmlformats.org/drawingml/2006/main">
              <a:ext uri="{FF2B5EF4-FFF2-40B4-BE49-F238E27FC236}">
                <a16:creationId xmlns:a16="http://schemas.microsoft.com/office/drawing/2014/main" id="{D93FD4A3-A299-4F7D-8E08-2D327C0C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623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找 citation mismatch 和數字不一致</a:t>
            </a:r>
          </a:p>
        </p:txBody>
      </p:sp>
      <p:sp>
        <p:nvSpPr>
          <p:cNvPr id="22" name="cell-2-0">
            <a:extLst xmlns:a="http://schemas.openxmlformats.org/drawingml/2006/main">
              <a:ext uri="{FF2B5EF4-FFF2-40B4-BE49-F238E27FC236}">
                <a16:creationId xmlns:a16="http://schemas.microsoft.com/office/drawing/2014/main" id="{8B55A22F-3020-4AD4-BCE5-253C5ECE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71900"/>
            <a:ext cx="2190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3" name="cell-text-2-0">
            <a:extLst xmlns:a="http://schemas.openxmlformats.org/drawingml/2006/main">
              <a:ext uri="{FF2B5EF4-FFF2-40B4-BE49-F238E27FC236}">
                <a16:creationId xmlns:a16="http://schemas.microsoft.com/office/drawing/2014/main" id="{2FB7A89E-BBAA-4405-B474-31DE48C3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862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Memory</a:t>
            </a:r>
          </a:p>
        </p:txBody>
      </p:sp>
      <p:sp>
        <p:nvSpPr>
          <p:cNvPr id="24" name="cell-2-1">
            <a:extLst xmlns:a="http://schemas.openxmlformats.org/drawingml/2006/main">
              <a:ext uri="{FF2B5EF4-FFF2-40B4-BE49-F238E27FC236}">
                <a16:creationId xmlns:a16="http://schemas.microsoft.com/office/drawing/2014/main" id="{30994B98-09BF-4C88-9CB2-422AB61C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771900"/>
            <a:ext cx="3733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5" name="cell-text-2-1">
            <a:extLst xmlns:a="http://schemas.openxmlformats.org/drawingml/2006/main">
              <a:ext uri="{FF2B5EF4-FFF2-40B4-BE49-F238E27FC236}">
                <a16:creationId xmlns:a16="http://schemas.microsoft.com/office/drawing/2014/main" id="{F759F7F1-2638-455B-A9D0-CF67D93E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8862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journal style only</a:t>
            </a:r>
          </a:p>
        </p:txBody>
      </p:sp>
      <p:sp>
        <p:nvSpPr>
          <p:cNvPr id="26" name="cell-2-2">
            <a:extLst xmlns:a="http://schemas.openxmlformats.org/drawingml/2006/main">
              <a:ext uri="{FF2B5EF4-FFF2-40B4-BE49-F238E27FC236}">
                <a16:creationId xmlns:a16="http://schemas.microsoft.com/office/drawing/2014/main" id="{D27482D1-FD46-46FA-9508-EFE2E9E5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771900"/>
            <a:ext cx="3733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7" name="cell-text-2-2">
            <a:extLst xmlns:a="http://schemas.openxmlformats.org/drawingml/2006/main">
              <a:ext uri="{FF2B5EF4-FFF2-40B4-BE49-F238E27FC236}">
                <a16:creationId xmlns:a16="http://schemas.microsoft.com/office/drawing/2014/main" id="{50A2CA39-701D-40AE-89B5-FC62571D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862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不保存未發表內容到長期記憶</a:t>
            </a:r>
          </a:p>
        </p:txBody>
      </p:sp>
      <p:sp>
        <p:nvSpPr>
          <p:cNvPr id="28" name="cell-3-0">
            <a:extLst xmlns:a="http://schemas.openxmlformats.org/drawingml/2006/main">
              <a:ext uri="{FF2B5EF4-FFF2-40B4-BE49-F238E27FC236}">
                <a16:creationId xmlns:a16="http://schemas.microsoft.com/office/drawing/2014/main" id="{6970C347-98A0-479C-87DC-468F91F6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95800"/>
            <a:ext cx="2190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9" name="cell-text-3-0">
            <a:extLst xmlns:a="http://schemas.openxmlformats.org/drawingml/2006/main">
              <a:ext uri="{FF2B5EF4-FFF2-40B4-BE49-F238E27FC236}">
                <a16:creationId xmlns:a16="http://schemas.microsoft.com/office/drawing/2014/main" id="{A419240E-2B0C-4A86-A17F-70AAD4A8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101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Output</a:t>
            </a:r>
          </a:p>
        </p:txBody>
      </p:sp>
      <p:sp>
        <p:nvSpPr>
          <p:cNvPr id="30" name="cell-3-1">
            <a:extLst xmlns:a="http://schemas.openxmlformats.org/drawingml/2006/main">
              <a:ext uri="{FF2B5EF4-FFF2-40B4-BE49-F238E27FC236}">
                <a16:creationId xmlns:a16="http://schemas.microsoft.com/office/drawing/2014/main" id="{BEB49FC3-622F-4B79-9EA3-DA7E34AB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495800"/>
            <a:ext cx="3733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31" name="cell-text-3-1">
            <a:extLst xmlns:a="http://schemas.openxmlformats.org/drawingml/2006/main">
              <a:ext uri="{FF2B5EF4-FFF2-40B4-BE49-F238E27FC236}">
                <a16:creationId xmlns:a16="http://schemas.microsoft.com/office/drawing/2014/main" id="{9B756C2B-FC3E-4B5F-AF36-B07B3062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6101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issues with location</a:t>
            </a:r>
          </a:p>
        </p:txBody>
      </p:sp>
      <p:sp>
        <p:nvSpPr>
          <p:cNvPr id="32" name="cell-3-2">
            <a:extLst xmlns:a="http://schemas.openxmlformats.org/drawingml/2006/main">
              <a:ext uri="{FF2B5EF4-FFF2-40B4-BE49-F238E27FC236}">
                <a16:creationId xmlns:a16="http://schemas.microsoft.com/office/drawing/2014/main" id="{5F1FD457-26D7-4E11-8BD0-0FDCCDB8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95800"/>
            <a:ext cx="3733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33" name="cell-text-3-2">
            <a:extLst xmlns:a="http://schemas.openxmlformats.org/drawingml/2006/main">
              <a:ext uri="{FF2B5EF4-FFF2-40B4-BE49-F238E27FC236}">
                <a16:creationId xmlns:a16="http://schemas.microsoft.com/office/drawing/2014/main" id="{21ED1BF7-0D38-4CBD-BDAB-C66F8028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101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讓作者能逐項修正</a:t>
            </a:r>
          </a:p>
        </p:txBody>
      </p:sp>
    </p:spTree>
    <p:extLst>
      <p:ext uri="{BB962C8B-B14F-4D97-AF65-F5344CB8AC3E}">
        <p14:creationId xmlns:p14="http://schemas.microsoft.com/office/powerpoint/2010/main" val="78045760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EDF8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835CF6B0-2C41-4C9C-9D44-588D903C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MINI LAB</a:t>
            </a:r>
          </a:p>
        </p:txBody>
      </p:sp>
      <p:sp>
        <p:nvSpPr>
          <p:cNvPr id="2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49DF10ED-D7BA-4284-9783-AE086481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9334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225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3225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小實作：檢查 harness config 是否安全</a:t>
            </a:r>
          </a:p>
        </p:txBody>
      </p:sp>
      <p:sp>
        <p:nvSpPr>
          <p:cNvPr id="3" name="section-subtitle">
            <a:extLst xmlns:a="http://schemas.openxmlformats.org/drawingml/2006/main">
              <a:ext uri="{FF2B5EF4-FFF2-40B4-BE49-F238E27FC236}">
                <a16:creationId xmlns:a16="http://schemas.microsoft.com/office/drawing/2014/main" id="{710E2490-8B98-4AEB-B09D-18E8190A3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6230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這段只需要一點程式碼。目標不是寫完整 agent，而是讓學生知道設定可以被機器檢查。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5E484FCC-F044-4B8E-AA9D-58BE8A4E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Agent harness engineering  |  37/40</a:t>
            </a:r>
          </a:p>
        </p:txBody>
      </p:sp>
    </p:spTree>
    <p:extLst>
      <p:ext uri="{BB962C8B-B14F-4D97-AF65-F5344CB8AC3E}">
        <p14:creationId xmlns:p14="http://schemas.microsoft.com/office/powerpoint/2010/main" val="48497518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6F99138A-0665-4BB6-A4B9-38F1E3469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CONFIG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6F84AF6-D837-40FD-B976-07ADD584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先看一份 biomedical harness config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1980CCA0-ADD2-4C5C-BE7A-4276A839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Agent harness engineering  |  38/40</a:t>
            </a:r>
          </a:p>
        </p:txBody>
      </p:sp>
      <p:sp>
        <p:nvSpPr>
          <p:cNvPr id="4" name="code-box">
            <a:extLst xmlns:a="http://schemas.openxmlformats.org/drawingml/2006/main">
              <a:ext uri="{FF2B5EF4-FFF2-40B4-BE49-F238E27FC236}">
                <a16:creationId xmlns:a16="http://schemas.microsoft.com/office/drawing/2014/main" id="{E2DFB81D-697D-4826-A208-1E6EE5FA3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5905500" cy="3676650"/>
          </a:xfrm>
          <a:prstGeom xmlns:a="http://schemas.openxmlformats.org/drawingml/2006/main" prst="roundRect">
            <a:avLst>
              <a:gd name="adj" fmla="val 2073"/>
            </a:avLst>
          </a:prstGeom>
          <a:solidFill xmlns:a="http://schemas.openxmlformats.org/drawingml/2006/main">
            <a:srgbClr val="202A33"/>
          </a:solidFill>
          <a:ln xmlns:a="http://schemas.openxmlformats.org/drawingml/2006/main" w="9525">
            <a:solidFill>
              <a:srgbClr val="131A21"/>
            </a:solidFill>
            <a:prstDash val="solid"/>
          </a:ln>
        </p:spPr>
      </p:sp>
      <p:sp>
        <p:nvSpPr>
          <p:cNvPr id="5" name="code">
            <a:extLst xmlns:a="http://schemas.openxmlformats.org/drawingml/2006/main">
              <a:ext uri="{FF2B5EF4-FFF2-40B4-BE49-F238E27FC236}">
                <a16:creationId xmlns:a16="http://schemas.microsoft.com/office/drawing/2014/main" id="{9D3C1C12-F291-48EB-B134-C9422547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05000"/>
            <a:ext cx="556260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agent: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tools: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- pubmed_search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- hgnc_lookup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- csv_validator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read_paths: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- data/deidentified/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- sources/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write_paths: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- outputs/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- logs/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denied_paths: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- data/phi/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- secrets/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network: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allowed_domains: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  - pubmed.ncbi.nlm.nih.gov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  - genenames.org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memory: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enabled: true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store_phi: false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logging: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enabled: true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redact_phi: true</a:t>
            </a:r>
          </a:p>
        </p:txBody>
      </p:sp>
      <p:sp>
        <p:nvSpPr>
          <p:cNvPr id="6" name="explain">
            <a:extLst xmlns:a="http://schemas.openxmlformats.org/drawingml/2006/main">
              <a:ext uri="{FF2B5EF4-FFF2-40B4-BE49-F238E27FC236}">
                <a16:creationId xmlns:a16="http://schemas.microsoft.com/office/drawing/2014/main" id="{247A7786-9D8A-4952-8C90-7EAAFF64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43100"/>
            <a:ext cx="32766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</p:sp>
      <p:sp>
        <p:nvSpPr>
          <p:cNvPr id="7" name="explain-title">
            <a:extLst xmlns:a="http://schemas.openxmlformats.org/drawingml/2006/main">
              <a:ext uri="{FF2B5EF4-FFF2-40B4-BE49-F238E27FC236}">
                <a16:creationId xmlns:a16="http://schemas.microsoft.com/office/drawing/2014/main" id="{6D38ABFB-56D7-48A9-B829-7A561CA9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2669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看這幾個點</a:t>
            </a:r>
          </a:p>
        </p:txBody>
      </p:sp>
      <p:sp>
        <p:nvSpPr>
          <p:cNvPr id="8" name="explain-list">
            <a:extLst xmlns:a="http://schemas.openxmlformats.org/drawingml/2006/main">
              <a:ext uri="{FF2B5EF4-FFF2-40B4-BE49-F238E27FC236}">
                <a16:creationId xmlns:a16="http://schemas.microsoft.com/office/drawing/2014/main" id="{A57E0078-62B0-4A11-BBD0-515C1DA5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895600"/>
            <a:ext cx="2571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read/write 分開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network 用 allowlist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memory 不准存 PHI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logging 要開且 redact</a:t>
            </a:r>
          </a:p>
        </p:txBody>
      </p:sp>
    </p:spTree>
    <p:extLst>
      <p:ext uri="{BB962C8B-B14F-4D97-AF65-F5344CB8AC3E}">
        <p14:creationId xmlns:p14="http://schemas.microsoft.com/office/powerpoint/2010/main" val="21410649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F920297C-AD37-48BC-A3B2-C29C4A35A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VALIDATOR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6EA189B-55F3-4A4A-B967-DA8295F9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Validator 不用很聰明，但要抓住大洞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E62523C5-39D6-444D-AB2D-85CDCCFC4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Agent harness engineering  |  39/40</a:t>
            </a:r>
          </a:p>
        </p:txBody>
      </p:sp>
      <p:sp>
        <p:nvSpPr>
          <p:cNvPr id="4" name="code-box">
            <a:extLst xmlns:a="http://schemas.openxmlformats.org/drawingml/2006/main">
              <a:ext uri="{FF2B5EF4-FFF2-40B4-BE49-F238E27FC236}">
                <a16:creationId xmlns:a16="http://schemas.microsoft.com/office/drawing/2014/main" id="{9D363A80-ECEA-4E57-A671-F78A9024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5905500" cy="3676650"/>
          </a:xfrm>
          <a:prstGeom xmlns:a="http://schemas.openxmlformats.org/drawingml/2006/main" prst="roundRect">
            <a:avLst>
              <a:gd name="adj" fmla="val 2073"/>
            </a:avLst>
          </a:prstGeom>
          <a:solidFill xmlns:a="http://schemas.openxmlformats.org/drawingml/2006/main">
            <a:srgbClr val="202A33"/>
          </a:solidFill>
          <a:ln xmlns:a="http://schemas.openxmlformats.org/drawingml/2006/main" w="9525">
            <a:solidFill>
              <a:srgbClr val="131A21"/>
            </a:solidFill>
            <a:prstDash val="solid"/>
          </a:ln>
        </p:spPr>
      </p:sp>
      <p:sp>
        <p:nvSpPr>
          <p:cNvPr id="5" name="code">
            <a:extLst xmlns:a="http://schemas.openxmlformats.org/drawingml/2006/main">
              <a:ext uri="{FF2B5EF4-FFF2-40B4-BE49-F238E27FC236}">
                <a16:creationId xmlns:a16="http://schemas.microsoft.com/office/drawing/2014/main" id="{09430285-6F77-4F82-ACC6-6976A2652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05000"/>
            <a:ext cx="556260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def validate(config):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errors = []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if "./" in config["agent"].get("read_paths", []):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    errors.append("read_paths must not allow whole project")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if "./" in config["agent"].get("write_paths", []):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    errors.append("write_paths must not allow whole project")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if config["agent"].get("network") is True: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    errors.append("network must use allowed_domains")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if not config["agent"].get("logging", {}).get("enabled"):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    errors.append("logging must be enabled")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if config["agent"].get("memory", {}).get("store_phi"):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    errors.append("memory.store_phi must be false")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return errors</a:t>
            </a:r>
          </a:p>
        </p:txBody>
      </p:sp>
      <p:sp>
        <p:nvSpPr>
          <p:cNvPr id="6" name="explain">
            <a:extLst xmlns:a="http://schemas.openxmlformats.org/drawingml/2006/main">
              <a:ext uri="{FF2B5EF4-FFF2-40B4-BE49-F238E27FC236}">
                <a16:creationId xmlns:a16="http://schemas.microsoft.com/office/drawing/2014/main" id="{48BFCF33-C9B5-4268-846C-BFC4F047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43100"/>
            <a:ext cx="32766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</p:sp>
      <p:sp>
        <p:nvSpPr>
          <p:cNvPr id="7" name="explain-title">
            <a:extLst xmlns:a="http://schemas.openxmlformats.org/drawingml/2006/main">
              <a:ext uri="{FF2B5EF4-FFF2-40B4-BE49-F238E27FC236}">
                <a16:creationId xmlns:a16="http://schemas.microsoft.com/office/drawing/2014/main" id="{DE1C987F-CC35-439E-8169-D3956384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2669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看這幾個點</a:t>
            </a:r>
          </a:p>
        </p:txBody>
      </p:sp>
      <p:sp>
        <p:nvSpPr>
          <p:cNvPr id="8" name="explain-list">
            <a:extLst xmlns:a="http://schemas.openxmlformats.org/drawingml/2006/main">
              <a:ext uri="{FF2B5EF4-FFF2-40B4-BE49-F238E27FC236}">
                <a16:creationId xmlns:a16="http://schemas.microsoft.com/office/drawing/2014/main" id="{58C01C7F-E785-472E-965F-72A10BEF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895600"/>
            <a:ext cx="2571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先檢查最危險設定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錯誤訊息要可教學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Validator 是 demo 穩定器</a:t>
            </a:r>
          </a:p>
        </p:txBody>
      </p:sp>
    </p:spTree>
    <p:extLst>
      <p:ext uri="{BB962C8B-B14F-4D97-AF65-F5344CB8AC3E}">
        <p14:creationId xmlns:p14="http://schemas.microsoft.com/office/powerpoint/2010/main" val="209634504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5590C8CB-06B0-4FC6-9851-5B122BD8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WRAP-UP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4B30B0F-20CA-4022-9813-A39951D9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帶走這三句，agent 就比較不會失控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7540482D-7209-4832-9109-6DF9C04E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Agent harness engineering  |  40/40</a:t>
            </a:r>
          </a:p>
        </p:txBody>
      </p:sp>
      <p:sp>
        <p:nvSpPr>
          <p:cNvPr id="4" name="one">
            <a:extLst xmlns:a="http://schemas.openxmlformats.org/drawingml/2006/main">
              <a:ext uri="{FF2B5EF4-FFF2-40B4-BE49-F238E27FC236}">
                <a16:creationId xmlns:a16="http://schemas.microsoft.com/office/drawing/2014/main" id="{5E542845-B861-43C5-A8F3-6F5BE68E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9750"/>
            <a:ext cx="9525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5" name="one-text">
            <a:extLst xmlns:a="http://schemas.openxmlformats.org/drawingml/2006/main">
              <a:ext uri="{FF2B5EF4-FFF2-40B4-BE49-F238E27FC236}">
                <a16:creationId xmlns:a16="http://schemas.microsoft.com/office/drawing/2014/main" id="{9CCAD4B2-12D3-496B-9D00-46B2FE80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764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1. 模型負責回答，harness 負責讓回答可控、可查、可停。</a:t>
            </a:r>
          </a:p>
        </p:txBody>
      </p:sp>
      <p:sp>
        <p:nvSpPr>
          <p:cNvPr id="6" name="two">
            <a:extLst xmlns:a="http://schemas.openxmlformats.org/drawingml/2006/main">
              <a:ext uri="{FF2B5EF4-FFF2-40B4-BE49-F238E27FC236}">
                <a16:creationId xmlns:a16="http://schemas.microsoft.com/office/drawing/2014/main" id="{51259152-B12E-4915-836D-BAB4D9AC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95600"/>
            <a:ext cx="9525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</p:sp>
      <p:sp>
        <p:nvSpPr>
          <p:cNvPr id="7" name="two-text">
            <a:extLst xmlns:a="http://schemas.openxmlformats.org/drawingml/2006/main">
              <a:ext uri="{FF2B5EF4-FFF2-40B4-BE49-F238E27FC236}">
                <a16:creationId xmlns:a16="http://schemas.microsoft.com/office/drawing/2014/main" id="{47F4E23A-0ADF-44E3-9012-1EF25DAC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1623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2. 生醫 agent 的能力不只來自 tools，也來自 permissions、logs、verification。</a:t>
            </a:r>
          </a:p>
        </p:txBody>
      </p:sp>
      <p:sp>
        <p:nvSpPr>
          <p:cNvPr id="8" name="three">
            <a:extLst xmlns:a="http://schemas.openxmlformats.org/drawingml/2006/main">
              <a:ext uri="{FF2B5EF4-FFF2-40B4-BE49-F238E27FC236}">
                <a16:creationId xmlns:a16="http://schemas.microsoft.com/office/drawing/2014/main" id="{859A22EC-D476-44E4-83BD-84B9D0E9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81450"/>
            <a:ext cx="9525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89A16"/>
            </a:solidFill>
            <a:prstDash val="solid"/>
          </a:ln>
        </p:spPr>
      </p:sp>
      <p:sp>
        <p:nvSpPr>
          <p:cNvPr id="9" name="three-text">
            <a:extLst xmlns:a="http://schemas.openxmlformats.org/drawingml/2006/main">
              <a:ext uri="{FF2B5EF4-FFF2-40B4-BE49-F238E27FC236}">
                <a16:creationId xmlns:a16="http://schemas.microsoft.com/office/drawing/2014/main" id="{BF944F2E-A576-4DDA-806B-DE91033F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481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D89A16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D89A16"/>
                </a:solidFill>
                <a:latin typeface="PingFang TC"/>
                <a:ea typeface="PingFang TC"/>
                <a:cs typeface="PingFang TC"/>
              </a:rPr>
              <a:t>3. 只要可能影響研究或臨床判斷，就要 citation check 和 human-in-the-loop。</a:t>
            </a:r>
          </a:p>
        </p:txBody>
      </p:sp>
    </p:spTree>
    <p:extLst>
      <p:ext uri="{BB962C8B-B14F-4D97-AF65-F5344CB8AC3E}">
        <p14:creationId xmlns:p14="http://schemas.microsoft.com/office/powerpoint/2010/main" val="3410503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2026-07-05T11:41:58.5800000Z</dcterms:created>
  <dcterms:modified xsi:type="dcterms:W3CDTF">2026-07-05T11:41:58.5810000Z</dcterms:modified>
</coreProperties>
</file>