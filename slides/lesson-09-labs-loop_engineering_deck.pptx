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65860" y="2354580"/>
            <a:ext cx="1417320" cy="1417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1477670" y="2666390"/>
            <a:ext cx="793699" cy="793699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6120" y="2240280"/>
            <a:ext cx="84124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Loop Engineering 教學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3182112"/>
            <a:ext cx="84124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50" b="0" i="0">
                <a:solidFill>
                  <a:srgbClr val="CADCFC"/>
                </a:solidFill>
                <a:latin typeface="Calibri"/>
              </a:rPr>
              <a:t>以 loop-practice 為例：檔案角色、迴圈邏輯、課堂操作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73552" y="3977639"/>
            <a:ext cx="4864608" cy="0"/>
          </a:xfrm>
          <a:prstGeom prst="line">
            <a:avLst/>
          </a:prstGeom>
          <a:ln w="15875">
            <a:solidFill>
              <a:srgbClr val="2A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46120" y="5806440"/>
            <a:ext cx="8412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8A33D"/>
                </a:solidFill>
                <a:latin typeface="Calibri"/>
              </a:rPr>
              <a:t>LESSON 08 · LOOP-PRACTICE 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8FA6B8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8FA6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課程大綱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今天要學什麼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947672"/>
            <a:ext cx="475488" cy="47548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47672"/>
            <a:ext cx="4754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65960"/>
            <a:ext cx="4206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0F2A43"/>
                </a:solidFill>
                <a:latin typeface="Cambria"/>
              </a:rPr>
              <a:t>概念回顧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48006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什麼是 Loop Engineering？為什麼不是「叫 AI 多跑幾次」，而是要有檢查、記憶與停止條件。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82512" y="1947672"/>
            <a:ext cx="475488" cy="47548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47672"/>
            <a:ext cx="4754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65960"/>
            <a:ext cx="4206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0F2A43"/>
                </a:solidFill>
                <a:latin typeface="Cambria"/>
              </a:rPr>
              <a:t>逐檔案解析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48006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loop-practice 資料夾裡每一個檔案的定義、角色，以及它對應到 loop 的哪個要素。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952" y="4187952"/>
            <a:ext cx="475488" cy="47548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187952"/>
            <a:ext cx="4754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06240"/>
            <a:ext cx="4206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0F2A43"/>
                </a:solidFill>
                <a:latin typeface="Cambria"/>
              </a:rPr>
              <a:t>完整執行邏輯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48006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run_loop() 每一步在做什麼、怎麼判斷 passed／stalled／needs_human_review。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3192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4187952"/>
            <a:ext cx="475488" cy="475488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187952"/>
            <a:ext cx="4754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206240"/>
            <a:ext cx="4206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0F2A43"/>
                </a:solidFill>
                <a:latin typeface="Cambria"/>
              </a:rPr>
              <a:t>課堂操作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48006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分組補 TODO 的流程、驗收清單，以及延伸練習題目。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概念回顧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為什麼需要 Loop Engineering？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51560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  <a:latin typeface="Cambria"/>
              </a:rPr>
              <a:t>不是叫 AI 多跑幾次，而是讓每一輪都有檢查、停止條件與外部記憶。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14600"/>
            <a:ext cx="2644902" cy="34290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629814"/>
            <a:ext cx="231571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Schedule｜排程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013862"/>
            <a:ext cx="2315718" cy="28145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什麼時候跑、最多跑幾輪 — loop_spec.yaml 的 trigger / max_iterations。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990" y="2514600"/>
            <a:ext cx="2644902" cy="342900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3582" y="2629814"/>
            <a:ext cx="231571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One change｜單一改動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3582" y="3013862"/>
            <a:ext cx="2315718" cy="28145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每一輪只做一個有邊界的小修正 — revise_summary() 一次處理當輪的 issue。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2514600"/>
            <a:ext cx="2644902" cy="34290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629814"/>
            <a:ext cx="231571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State file｜狀態檔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9652" y="3013862"/>
            <a:ext cx="2315718" cy="28145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跨輪次的記憶，讓下一輪讀得到上一輪的結果 — outputs/ 底下的檔案。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1130" y="2514600"/>
            <a:ext cx="2644902" cy="342900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5722" y="2629814"/>
            <a:ext cx="231571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Stop rule｜停止條件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5722" y="3013862"/>
            <a:ext cx="2315718" cy="28145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什麼時候該停 — terminal_states + max_no_progress_rounds。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概念回顧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Loop 的六個要素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696212" cy="1417320"/>
          </a:xfrm>
          <a:prstGeom prst="roundRect">
            <a:avLst>
              <a:gd name="adj" fmla="val 8000"/>
            </a:avLst>
          </a:prstGeom>
          <a:solidFill>
            <a:srgbClr val="15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5133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24328"/>
            <a:ext cx="1513332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E3EEF2"/>
                </a:solidFill>
                <a:latin typeface="Calibri"/>
              </a:rPr>
              <a:t>什麼觸發這一輪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2217420" y="2683764"/>
            <a:ext cx="164592" cy="164592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0300" y="2057400"/>
            <a:ext cx="1696212" cy="1417320"/>
          </a:xfrm>
          <a:prstGeom prst="roundRect">
            <a:avLst>
              <a:gd name="adj" fmla="val 8000"/>
            </a:avLst>
          </a:prstGeom>
          <a:solidFill>
            <a:srgbClr val="15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1740" y="2221992"/>
            <a:ext cx="15133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1740" y="2624328"/>
            <a:ext cx="1513332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E3EEF2"/>
                </a:solidFill>
                <a:latin typeface="Calibri"/>
              </a:rPr>
              <a:t>要達成什麼目標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4114800" y="2683764"/>
            <a:ext cx="164592" cy="164592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2057400"/>
            <a:ext cx="1696212" cy="1417320"/>
          </a:xfrm>
          <a:prstGeom prst="roundRect">
            <a:avLst>
              <a:gd name="adj" fmla="val 8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221992"/>
            <a:ext cx="15133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24328"/>
            <a:ext cx="1513332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E3EEF2"/>
                </a:solidFill>
                <a:latin typeface="Calibri"/>
              </a:rPr>
              <a:t>實際產生 / 修正內容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6012180" y="2683764"/>
            <a:ext cx="164592" cy="164592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60" y="2057400"/>
            <a:ext cx="1696212" cy="1417320"/>
          </a:xfrm>
          <a:prstGeom prst="roundRect">
            <a:avLst>
              <a:gd name="adj" fmla="val 8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500" y="2221992"/>
            <a:ext cx="15133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2624328"/>
            <a:ext cx="1513332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E3EEF2"/>
                </a:solidFill>
                <a:latin typeface="Calibri"/>
              </a:rPr>
              <a:t>多層檢查有沒有做對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7909560" y="2683764"/>
            <a:ext cx="164592" cy="164592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2440" y="2057400"/>
            <a:ext cx="1696212" cy="141732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221992"/>
            <a:ext cx="15133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stopping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624328"/>
            <a:ext cx="1513332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E3EEF2"/>
                </a:solidFill>
                <a:latin typeface="Calibri"/>
              </a:rPr>
              <a:t>什麼時候該停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806940" y="2683764"/>
            <a:ext cx="164592" cy="164592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89820" y="2057400"/>
            <a:ext cx="1696212" cy="141732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1260" y="2221992"/>
            <a:ext cx="15133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1260" y="2624328"/>
            <a:ext cx="1513332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E3EEF2"/>
                </a:solidFill>
                <a:latin typeface="Calibri"/>
              </a:rPr>
              <a:t>把結果留給下一輪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837926" y="3547872"/>
            <a:ext cx="0" cy="429767"/>
          </a:xfrm>
          <a:prstGeom prst="line">
            <a:avLst/>
          </a:prstGeom>
          <a:ln w="1905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145786" y="3977639"/>
            <a:ext cx="5692140" cy="0"/>
          </a:xfrm>
          <a:prstGeom prst="line">
            <a:avLst/>
          </a:prstGeom>
          <a:ln w="1905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145786" y="3547872"/>
            <a:ext cx="0" cy="429767"/>
          </a:xfrm>
          <a:prstGeom prst="line">
            <a:avLst/>
          </a:prstGeom>
          <a:ln w="1905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>
            <a:off x="5072634" y="3529584"/>
            <a:ext cx="146304" cy="146304"/>
          </a:xfrm>
          <a:prstGeom prst="triangl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51226" y="4050791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0" i="1">
                <a:solidFill>
                  <a:srgbClr val="154F64"/>
                </a:solidFill>
                <a:latin typeface="Calibri"/>
              </a:rPr>
              <a:t>verification 沒過 → 回到 execution 修正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617720"/>
            <a:ext cx="11183112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7184"/>
                </a:solidFill>
                <a:latin typeface="Calibri"/>
              </a:rPr>
              <a:t>六個要素環環相扣：沒有 verification + stopping rule + memory，「重跑很多次」只是重複同樣的錯誤，不會收斂。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loop-practice 資料夾結構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943600" cy="470916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36776"/>
            <a:ext cx="5577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$ tree loop-practice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29384"/>
            <a:ext cx="5577840" cy="4178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loop-practice/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├── README.md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├── question.md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├── evidence_table.csv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├── loop_spec.yaml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├── scripts/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│   ├── check_summary.py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│   └── loop_demo.py      ← 主要練習檔案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└── outputs/               (執行後自動產生)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    ├── draft_summary.md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    ├── final_summary.md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    ├── issue_log.json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    └── loop_report.json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00200"/>
            <a:ext cx="498348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indent="-182880" marL="182880">
              <a:lnSpc>
                <a:spcPct val="115000"/>
              </a:lnSpc>
              <a:spcAft>
                <a:spcPts val="1600"/>
              </a:spcAft>
              <a:buClr>
                <a:srgbClr val="1F6F8B"/>
              </a:buClr>
              <a:buFont typeface="Arial"/>
              <a:buChar char="›"/>
            </a:pPr>
            <a:r>
              <a:rPr sz="1400">
                <a:solidFill>
                  <a:srgbClr val="16242F"/>
                </a:solidFill>
                <a:latin typeface="Calibri"/>
              </a:rPr>
              <a:t>README.md → 操作說明書 + 驗收清單</a:t>
            </a:r>
          </a:p>
          <a:p>
            <a:pPr indent="-182880" marL="182880">
              <a:lnSpc>
                <a:spcPct val="115000"/>
              </a:lnSpc>
              <a:spcAft>
                <a:spcPts val="1600"/>
              </a:spcAft>
              <a:buClr>
                <a:srgbClr val="1F6F8B"/>
              </a:buClr>
              <a:buFont typeface="Arial"/>
              <a:buChar char="›"/>
            </a:pPr>
            <a:r>
              <a:rPr sz="1400">
                <a:solidFill>
                  <a:srgbClr val="16242F"/>
                </a:solidFill>
                <a:latin typeface="Calibri"/>
              </a:rPr>
              <a:t>question.md → 任務目標與限制條件</a:t>
            </a:r>
          </a:p>
          <a:p>
            <a:pPr indent="-182880" marL="182880">
              <a:lnSpc>
                <a:spcPct val="115000"/>
              </a:lnSpc>
              <a:spcAft>
                <a:spcPts val="1600"/>
              </a:spcAft>
              <a:buClr>
                <a:srgbClr val="1F6F8B"/>
              </a:buClr>
              <a:buFont typeface="Arial"/>
              <a:buChar char="›"/>
            </a:pPr>
            <a:r>
              <a:rPr sz="1400">
                <a:solidFill>
                  <a:srgbClr val="16242F"/>
                </a:solidFill>
                <a:latin typeface="Calibri"/>
              </a:rPr>
              <a:t>evidence_table.csv → 唯一可引用的證據</a:t>
            </a:r>
          </a:p>
          <a:p>
            <a:pPr indent="-182880" marL="182880">
              <a:lnSpc>
                <a:spcPct val="115000"/>
              </a:lnSpc>
              <a:spcAft>
                <a:spcPts val="1600"/>
              </a:spcAft>
              <a:buClr>
                <a:srgbClr val="1F6F8B"/>
              </a:buClr>
              <a:buFont typeface="Arial"/>
              <a:buChar char="›"/>
            </a:pPr>
            <a:r>
              <a:rPr sz="1400">
                <a:solidFill>
                  <a:srgbClr val="16242F"/>
                </a:solidFill>
                <a:latin typeface="Calibri"/>
              </a:rPr>
              <a:t>loop_spec.yaml → 整份迴圈的規格書</a:t>
            </a:r>
          </a:p>
          <a:p>
            <a:pPr indent="-182880" marL="182880">
              <a:lnSpc>
                <a:spcPct val="115000"/>
              </a:lnSpc>
              <a:spcAft>
                <a:spcPts val="1600"/>
              </a:spcAft>
              <a:buClr>
                <a:srgbClr val="1F6F8B"/>
              </a:buClr>
              <a:buFont typeface="Arial"/>
              <a:buChar char="›"/>
            </a:pPr>
            <a:r>
              <a:rPr sz="1400">
                <a:solidFill>
                  <a:srgbClr val="16242F"/>
                </a:solidFill>
                <a:latin typeface="Calibri"/>
              </a:rPr>
              <a:t>check_summary.py → 機械式規則檢查器</a:t>
            </a:r>
          </a:p>
          <a:p>
            <a:pPr indent="-182880" marL="182880">
              <a:lnSpc>
                <a:spcPct val="115000"/>
              </a:lnSpc>
              <a:spcAft>
                <a:spcPts val="1600"/>
              </a:spcAft>
              <a:buClr>
                <a:srgbClr val="1F6F8B"/>
              </a:buClr>
              <a:buFont typeface="Arial"/>
              <a:buChar char="›"/>
            </a:pPr>
            <a:r>
              <a:rPr sz="1400">
                <a:solidFill>
                  <a:srgbClr val="16242F"/>
                </a:solidFill>
                <a:latin typeface="Calibri"/>
              </a:rPr>
              <a:t>loop_demo.py → 迴圈引擎（含 4 個 TODO）</a:t>
            </a:r>
          </a:p>
          <a:p>
            <a:pPr indent="-182880" marL="182880">
              <a:lnSpc>
                <a:spcPct val="115000"/>
              </a:lnSpc>
              <a:spcAft>
                <a:spcPts val="1600"/>
              </a:spcAft>
              <a:buClr>
                <a:srgbClr val="1F6F8B"/>
              </a:buClr>
              <a:buFont typeface="Arial"/>
              <a:buChar char="›"/>
            </a:pPr>
            <a:r>
              <a:rPr sz="1400">
                <a:solidFill>
                  <a:srgbClr val="16242F"/>
                </a:solidFill>
                <a:latin typeface="Calibri"/>
              </a:rPr>
              <a:t>outputs/ → 每輪與最終結果的記憶檔案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檔案 × Loop 要素 對照表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831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416552"/>
              </a:tblGrid>
              <a:tr h="64008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檔案</a:t>
                      </a:r>
                    </a:p>
                  </a:txBody>
                  <a:tcPr marL="128016" marR="128016" marT="73152" marB="73152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對應 Loop 要素</a:t>
                      </a:r>
                    </a:p>
                  </a:txBody>
                  <a:tcPr marL="128016" marR="128016" marT="73152" marB="73152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一句話角色</a:t>
                      </a:r>
                    </a:p>
                  </a:txBody>
                  <a:tcPr marL="128016" marR="128016" marT="73152" marB="73152" anchor="ctr">
                    <a:solidFill>
                      <a:srgbClr val="0F2A4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question.md</a:t>
                      </a:r>
                    </a:p>
                  </a:txBody>
                  <a:tcPr marL="128016" marR="128016" marT="73152" marB="73152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128016" marR="128016" marT="73152" marB="73152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定義任務目標與限制條件</a:t>
                      </a:r>
                    </a:p>
                  </a:txBody>
                  <a:tcPr marL="128016" marR="128016" marT="73152" marB="73152" anchor="ctr">
                    <a:solidFill>
                      <a:srgbClr val="EAF2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evidence_table.csv</a:t>
                      </a:r>
                    </a:p>
                  </a:txBody>
                  <a:tcPr marL="128016" marR="128016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execution 的輸入</a:t>
                      </a:r>
                    </a:p>
                  </a:txBody>
                  <a:tcPr marL="128016" marR="128016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唯一允許引用的證據來源</a:t>
                      </a:r>
                    </a:p>
                  </a:txBody>
                  <a:tcPr marL="128016" marR="128016" marT="73152" marB="7315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loop_spec.yaml</a:t>
                      </a:r>
                    </a:p>
                  </a:txBody>
                  <a:tcPr marL="128016" marR="128016" marT="73152" marB="73152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trigger / verification / stopping rule / memory</a:t>
                      </a:r>
                    </a:p>
                  </a:txBody>
                  <a:tcPr marL="128016" marR="128016" marT="73152" marB="73152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整份迴圈的規格書</a:t>
                      </a:r>
                    </a:p>
                  </a:txBody>
                  <a:tcPr marL="128016" marR="128016" marT="73152" marB="73152" anchor="ctr">
                    <a:solidFill>
                      <a:srgbClr val="EAF2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scripts/check_summary.py</a:t>
                      </a:r>
                    </a:p>
                  </a:txBody>
                  <a:tcPr marL="128016" marR="128016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verification（L1 + L2）</a:t>
                      </a:r>
                    </a:p>
                  </a:txBody>
                  <a:tcPr marL="128016" marR="128016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機械式規則檢查器</a:t>
                      </a:r>
                    </a:p>
                  </a:txBody>
                  <a:tcPr marL="128016" marR="128016" marT="73152" marB="7315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scripts/loop_demo.py</a:t>
                      </a:r>
                    </a:p>
                  </a:txBody>
                  <a:tcPr marL="128016" marR="128016" marT="73152" marB="73152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execution + verification + memory 引擎</a:t>
                      </a:r>
                    </a:p>
                  </a:txBody>
                  <a:tcPr marL="128016" marR="128016" marT="73152" marB="73152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迴圈主程式</a:t>
                      </a:r>
                    </a:p>
                  </a:txBody>
                  <a:tcPr marL="128016" marR="128016" marT="73152" marB="73152" anchor="ctr">
                    <a:solidFill>
                      <a:srgbClr val="EAF2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outputs/*.*</a:t>
                      </a:r>
                    </a:p>
                  </a:txBody>
                  <a:tcPr marL="128016" marR="128016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marL="128016" marR="128016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每輪與最終結果的外部記憶</a:t>
                      </a:r>
                    </a:p>
                  </a:txBody>
                  <a:tcPr marL="128016" marR="128016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question.md — 任務規格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760720" cy="470916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36776"/>
            <a:ext cx="539495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question.md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29384"/>
            <a:ext cx="5394959" cy="4178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Summarize the evidence about metformin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and cardiovascular outcomes in T2D patients.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/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Requirements: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- Use only the provided evidence table.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- Every claim needs a source ID like [S1].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- No patient-level treatment / dosage advice.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- Flag uncertainty for indirect evidence.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- Output no more than 200 words.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516636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indent="-182880" marL="182880">
              <a:lnSpc>
                <a:spcPct val="125000"/>
              </a:lnSpc>
              <a:spcAft>
                <a:spcPts val="1800"/>
              </a:spcAft>
              <a:buClr>
                <a:srgbClr val="1F6F8B"/>
              </a:buClr>
              <a:buFont typeface="Arial"/>
              <a:buChar char="›"/>
            </a:pPr>
            <a:r>
              <a:rPr sz="1400">
                <a:solidFill>
                  <a:srgbClr val="16242F"/>
                </a:solidFill>
                <a:latin typeface="Calibri"/>
              </a:rPr>
              <a:t>這是 loop 的「goal 從哪裡來」——目標不是憑空想像，而是寫死在這個檔案裡。</a:t>
            </a:r>
          </a:p>
          <a:p>
            <a:pPr indent="-182880" marL="182880">
              <a:lnSpc>
                <a:spcPct val="125000"/>
              </a:lnSpc>
              <a:spcAft>
                <a:spcPts val="1800"/>
              </a:spcAft>
              <a:buClr>
                <a:srgbClr val="1F6F8B"/>
              </a:buClr>
              <a:buFont typeface="Arial"/>
              <a:buChar char="›"/>
            </a:pPr>
            <a:r>
              <a:rPr sz="1400">
                <a:solidFill>
                  <a:srgbClr val="16242F"/>
                </a:solidFill>
                <a:latin typeface="Calibri"/>
              </a:rPr>
              <a:t>五個限制條件之後都會被拆進 loop_spec.yaml 的 verification 分層檢查。</a:t>
            </a:r>
          </a:p>
          <a:p>
            <a:pPr indent="-182880" marL="182880">
              <a:lnSpc>
                <a:spcPct val="125000"/>
              </a:lnSpc>
              <a:spcAft>
                <a:spcPts val="1800"/>
              </a:spcAft>
              <a:buClr>
                <a:srgbClr val="1F6F8B"/>
              </a:buClr>
              <a:buFont typeface="Arial"/>
              <a:buChar char="›"/>
            </a:pPr>
            <a:r>
              <a:rPr sz="1400">
                <a:solidFill>
                  <a:srgbClr val="16242F"/>
                </a:solidFill>
                <a:latin typeface="Calibri"/>
              </a:rPr>
              <a:t>跟 terminal_states 的差別：question.md 定義「內容上」什麼叫做完成；terminal_states 定義「流程上」什麼時候該停。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evidence_table.csv — 唯一證據來源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8311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6245352"/>
                <a:gridCol w="1828800"/>
              </a:tblGrid>
              <a:tr h="466344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source_id</a:t>
                      </a:r>
                    </a:p>
                  </a:txBody>
                  <a:tcPr marL="128016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evidence_type</a:t>
                      </a:r>
                    </a:p>
                  </a:txBody>
                  <a:tcPr marL="128016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claim（節錄）</a:t>
                      </a:r>
                    </a:p>
                  </a:txBody>
                  <a:tcPr marL="128016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128016" anchor="ctr">
                    <a:solidFill>
                      <a:srgbClr val="0F2A43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clinical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UKPDS 肥胖亞組：較少大血管事件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clinical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UKPDS 肥胖亞組：全因死亡率下降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preclinical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AMPK 訊號活化，可能減少血管發炎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observational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回溯世代研究：心衰竭住院減少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2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251960"/>
            <a:ext cx="11183112" cy="173736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10424160" cy="1371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6242F"/>
                </a:solidFill>
                <a:latin typeface="Calibri"/>
              </a:rPr>
              <a:t>loop 只能引用這張表裡的內容——沒被引用到的 claim 不能出現在 summary 裡，引用了表格外的 [S5]、[S6] 會被 check_summary.py 的 invalid_source_id 檢查抓到。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loop_spec.yaml（一）：Schedule 欄位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394960" cy="470916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36776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loop_spec.yaml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29384"/>
            <a:ext cx="5029200" cy="4178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500">
                <a:solidFill>
                  <a:srgbClr val="CFE8EF"/>
                </a:solidFill>
                <a:latin typeface="Courier New"/>
              </a:rPr>
              <a:t>trigger: manual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CFE8EF"/>
                </a:solidFill>
                <a:latin typeface="Courier New"/>
              </a:rPr>
              <a:t>goal: produce_biomedical_summary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CFE8EF"/>
                </a:solidFill>
                <a:latin typeface="Courier New"/>
              </a:rPr>
              <a:t>max_iterations: 3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CFE8EF"/>
                </a:solidFill>
                <a:latin typeface="Courier New"/>
              </a:rPr>
              <a:t>max_no_progress_rounds: 2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CFE8EF"/>
                </a:solidFill>
                <a:latin typeface="Courier New"/>
              </a:rPr>
              <a:t>max_summary_words: 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91640"/>
            <a:ext cx="5029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ourier New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84248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6242F"/>
                </a:solidFill>
                <a:latin typeface="Calibri"/>
              </a:rPr>
              <a:t>這一輪迴圈是怎麼被觸發的（這裡是手動執行）。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532888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624328"/>
            <a:ext cx="5029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ourier New"/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916936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6242F"/>
                </a:solidFill>
                <a:latin typeface="Calibri"/>
              </a:rPr>
              <a:t>這次迴圈要達成的任務代號。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65576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557016"/>
            <a:ext cx="5029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ourier New"/>
              </a:rPr>
              <a:t>max_iterations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849624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6242F"/>
                </a:solidFill>
                <a:latin typeface="Calibri"/>
              </a:rPr>
              <a:t>最多跑幾輪就一定要停，安全上限。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398264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489704"/>
            <a:ext cx="5029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ourier New"/>
              </a:rPr>
              <a:t>max_no_progress_rounds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782312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6242F"/>
                </a:solidFill>
                <a:latin typeface="Calibri"/>
              </a:rPr>
              <a:t>連續幾輪問題都一樣就判定 stalled。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330952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5422392"/>
            <a:ext cx="5029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ourier New"/>
              </a:rPr>
              <a:t>max_summary_words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715000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6242F"/>
                </a:solidFill>
                <a:latin typeface="Calibri"/>
              </a:rPr>
              <a:t>verification 的其中一項機械檢查標準。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loop_spec.yaml（二）：Stop Rule 五種終止狀態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090318" cy="2011680"/>
          </a:xfrm>
          <a:prstGeom prst="roundRect">
            <a:avLst>
              <a:gd name="adj" fmla="val 16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002536"/>
            <a:ext cx="146304" cy="14630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911095"/>
            <a:ext cx="152339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42F"/>
                </a:solidFill>
                <a:latin typeface="Cambria"/>
              </a:rPr>
              <a:t>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496312"/>
            <a:ext cx="1486814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7184"/>
                </a:solidFill>
                <a:latin typeface="Calibri"/>
              </a:rPr>
              <a:t>所有 blocking issue
都已解決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6118" y="1783080"/>
            <a:ext cx="2090318" cy="2011680"/>
          </a:xfrm>
          <a:prstGeom prst="roundRect">
            <a:avLst>
              <a:gd name="adj" fmla="val 16000"/>
            </a:avLst>
          </a:prstGeom>
          <a:solidFill>
            <a:srgbClr val="EE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58998" y="2002536"/>
            <a:ext cx="146304" cy="146304"/>
          </a:xfrm>
          <a:prstGeom prst="ellipse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6742" y="1911095"/>
            <a:ext cx="152339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42F"/>
                </a:solidFill>
                <a:latin typeface="Cambria"/>
              </a:rPr>
              <a:t>needs_human_review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6742" y="2496312"/>
            <a:ext cx="1486814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7184"/>
                </a:solidFill>
                <a:latin typeface="Calibri"/>
              </a:rPr>
              <a:t>剩下的問題都需要
人工判斷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9316" y="1783080"/>
            <a:ext cx="2090318" cy="2011680"/>
          </a:xfrm>
          <a:prstGeom prst="roundRect">
            <a:avLst>
              <a:gd name="adj" fmla="val 1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2196" y="2002536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9940" y="1911095"/>
            <a:ext cx="152339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42F"/>
                </a:solidFill>
                <a:latin typeface="Cambria"/>
              </a:rPr>
              <a:t>stalled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9940" y="2496312"/>
            <a:ext cx="1486814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7184"/>
                </a:solidFill>
                <a:latin typeface="Calibri"/>
              </a:rPr>
              <a:t>連續 N 輪問題都一樣，
沒有進展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2515" y="1783080"/>
            <a:ext cx="2090318" cy="2011680"/>
          </a:xfrm>
          <a:prstGeom prst="roundRect">
            <a:avLst>
              <a:gd name="adj" fmla="val 16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5395" y="2002536"/>
            <a:ext cx="146304" cy="146304"/>
          </a:xfrm>
          <a:prstGeom prst="ellipse">
            <a:avLst/>
          </a:prstGeom>
          <a:solidFill>
            <a:srgbClr val="8A9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3139" y="1911095"/>
            <a:ext cx="152339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42F"/>
                </a:solidFill>
                <a:latin typeface="Cambria"/>
              </a:rPr>
              <a:t>max_iterations_reached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3139" y="2496312"/>
            <a:ext cx="1486814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7184"/>
                </a:solidFill>
                <a:latin typeface="Calibri"/>
              </a:rPr>
              <a:t>跑到上限
還沒解決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95713" y="1783080"/>
            <a:ext cx="2090318" cy="2011680"/>
          </a:xfrm>
          <a:prstGeom prst="roundRect">
            <a:avLst>
              <a:gd name="adj" fmla="val 16000"/>
            </a:avLst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8593" y="2002536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6337" y="1911095"/>
            <a:ext cx="152339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42F"/>
                </a:solidFill>
                <a:latin typeface="Cambria"/>
              </a:rPr>
              <a:t>failed_validation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6337" y="2496312"/>
            <a:ext cx="1486814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7184"/>
                </a:solidFill>
                <a:latin typeface="Calibri"/>
              </a:rPr>
              <a:t>狀態不合法時
的保底狀態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60520"/>
            <a:ext cx="11183112" cy="196596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343400"/>
            <a:ext cx="1042416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6242F"/>
                </a:solidFill>
                <a:latin typeface="Calibri"/>
              </a:rPr>
              <a:t>這五個狀態就是 loop 的「停止條件」清單——run_loop() 最後一定會落在其中一個，而且不合法的狀態會被強制改成 failed_validation，確保迴圈永遠有一個明確的結束狀態可以回報。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loop_spec.yaml（三）：Verification 四層驗證階梯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5716" y="1554480"/>
            <a:ext cx="3017520" cy="896112"/>
          </a:xfrm>
          <a:prstGeom prst="roundRect">
            <a:avLst>
              <a:gd name="adj" fmla="val 5000"/>
            </a:avLst>
          </a:prstGeom>
          <a:solidFill>
            <a:srgbClr val="EE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4316" y="164592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L5 · human_checkpoint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4316" y="1993391"/>
            <a:ext cx="2560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7184"/>
                </a:solidFill>
                <a:latin typeface="Calibri"/>
              </a:rPr>
              <a:t>clinical_action / unresolved_conflict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8436" y="2578608"/>
            <a:ext cx="5212080" cy="896112"/>
          </a:xfrm>
          <a:prstGeom prst="roundRect">
            <a:avLst>
              <a:gd name="adj" fmla="val 5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035" y="267004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L4 · model_judge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7035" y="3017520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7184"/>
                </a:solidFill>
                <a:latin typeface="Calibri"/>
              </a:rPr>
              <a:t>overstatement_check / missing_uncertainty_check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1156" y="3602736"/>
            <a:ext cx="7406640" cy="896112"/>
          </a:xfrm>
          <a:prstGeom prst="roundRect">
            <a:avLst>
              <a:gd name="adj" fmla="val 5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9756" y="3694176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L2 ·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9756" y="4041648"/>
            <a:ext cx="6949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7184"/>
                </a:solidFill>
                <a:latin typeface="Calibri"/>
              </a:rPr>
              <a:t>no_clinical_recommendation_language / no_invalid_source_id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93876" y="4626864"/>
            <a:ext cx="9601200" cy="896112"/>
          </a:xfrm>
          <a:prstGeom prst="roundRect">
            <a:avLst>
              <a:gd name="adj" fmla="val 5000"/>
            </a:avLst>
          </a:prstGeom>
          <a:solidFill>
            <a:srgbClr val="DC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2476" y="4718304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L1 · deterministic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2476" y="5065776"/>
            <a:ext cx="9144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B7184"/>
                </a:solidFill>
                <a:latin typeface="Calibri"/>
              </a:rPr>
              <a:t>source_id_exists / max_summary_words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41732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B7184"/>
                </a:solidFill>
                <a:latin typeface="Calibri"/>
              </a:rPr>
              <a:t>慢／貴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57800"/>
            <a:ext cx="1554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B7184"/>
                </a:solidFill>
                <a:latin typeface="Calibri"/>
              </a:rPr>
              <a:t>快／便宜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1737360"/>
            <a:ext cx="0" cy="3474720"/>
          </a:xfrm>
          <a:prstGeom prst="line">
            <a:avLst/>
          </a:prstGeom>
          <a:ln w="15875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>
            <a:off x="800100" y="1668780"/>
            <a:ext cx="137160" cy="137160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0800000">
            <a:off x="800100" y="5143500"/>
            <a:ext cx="137160" cy="137160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5B7184"/>
                </a:solidFill>
                <a:latin typeface="Calibri"/>
              </a:rPr>
              <a:t>越往上層檢查越慢、越貴，所以先用便宜的 L1/L2 擋掉大部分問題，只有真的需要判斷的才往上送到 L4、L5。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loop_spec.yaml（四）：Memory 四個輸出檔案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644902" cy="329184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227914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Courier New"/>
              </a:rPr>
              <a:t>draft_summary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2279142" cy="502920"/>
          </a:xfrm>
          <a:prstGeom prst="roundRect">
            <a:avLst>
              <a:gd name="adj" fmla="val 100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209626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FE8EF"/>
                </a:solidFill>
                <a:latin typeface="Courier New"/>
              </a:rPr>
              <a:t>outputs/draft_summary.md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279142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第一版草稿（修正前）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990" y="1691640"/>
            <a:ext cx="2644902" cy="329184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1870" y="1874519"/>
            <a:ext cx="227914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Courier New"/>
              </a:rPr>
              <a:t>final_summary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1870" y="2286000"/>
            <a:ext cx="2279142" cy="502920"/>
          </a:xfrm>
          <a:prstGeom prst="roundRect">
            <a:avLst>
              <a:gd name="adj" fmla="val 100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3310" y="2286000"/>
            <a:ext cx="209626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FE8EF"/>
                </a:solidFill>
                <a:latin typeface="Courier New"/>
              </a:rPr>
              <a:t>outputs/final_summary.md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1870" y="2971800"/>
            <a:ext cx="2279142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迴圈結束時的最終版本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60" y="1691640"/>
            <a:ext cx="2644902" cy="329184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7940" y="1874519"/>
            <a:ext cx="227914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Courier New"/>
              </a:rPr>
              <a:t>issue_log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7940" y="2286000"/>
            <a:ext cx="2279142" cy="502920"/>
          </a:xfrm>
          <a:prstGeom prst="roundRect">
            <a:avLst>
              <a:gd name="adj" fmla="val 100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9380" y="2286000"/>
            <a:ext cx="209626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FE8EF"/>
                </a:solidFill>
                <a:latin typeface="Courier New"/>
              </a:rPr>
              <a:t>outputs/issue_log.json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7940" y="2971800"/>
            <a:ext cx="2279142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每一輪抓到的問題清單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1130" y="1691640"/>
            <a:ext cx="2644902" cy="329184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4010" y="1874519"/>
            <a:ext cx="227914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Courier New"/>
              </a:rPr>
              <a:t>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4010" y="2286000"/>
            <a:ext cx="2279142" cy="502920"/>
          </a:xfrm>
          <a:prstGeom prst="roundRect">
            <a:avLst>
              <a:gd name="adj" fmla="val 100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5450" y="2286000"/>
            <a:ext cx="2096262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FE8EF"/>
                </a:solidFill>
                <a:latin typeface="Courier New"/>
              </a:rPr>
              <a:t>outputs/loop_report.json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4010" y="2971800"/>
            <a:ext cx="2279142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最終報告：status、iterations…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5780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57800"/>
            <a:ext cx="10424160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6242F"/>
                </a:solidFill>
                <a:latin typeface="Calibri"/>
              </a:rPr>
              <a:t>這就是「state file」——loop 本身不記得上一輪發生什麼事，全靠這 4 個檔案把狀態留下來給下一輪讀。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scripts/check_summary.py — 機械式規則檢查器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760720" cy="470916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36776"/>
            <a:ext cx="539495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check_summary.py（節錄）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29384"/>
            <a:ext cx="5394959" cy="4178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banned_terms = [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  "should take", "should receive",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  "recommended dose",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  "first-line therapy", "must receive",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]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/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if not cited: → missing_source_id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if sid not in source_ids: → invalid_source_id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if len(words) &gt; max_words: → too_long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516636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indent="-182880" marL="182880">
              <a:lnSpc>
                <a:spcPct val="120000"/>
              </a:lnSpc>
              <a:spcAft>
                <a:spcPts val="1400"/>
              </a:spcAft>
              <a:buClr>
                <a:srgbClr val="1F6F8B"/>
              </a:buClr>
              <a:buFont typeface="Arial"/>
              <a:buChar char="›"/>
            </a:pPr>
            <a:r>
              <a:rPr sz="1350">
                <a:solidFill>
                  <a:srgbClr val="16242F"/>
                </a:solidFill>
                <a:latin typeface="Calibri"/>
              </a:rPr>
              <a:t>missing_source_id：整段完全沒有引用標記。</a:t>
            </a:r>
          </a:p>
          <a:p>
            <a:pPr indent="-182880" marL="182880">
              <a:lnSpc>
                <a:spcPct val="120000"/>
              </a:lnSpc>
              <a:spcAft>
                <a:spcPts val="1400"/>
              </a:spcAft>
              <a:buClr>
                <a:srgbClr val="1F6F8B"/>
              </a:buClr>
              <a:buFont typeface="Arial"/>
              <a:buChar char="›"/>
            </a:pPr>
            <a:r>
              <a:rPr sz="1350">
                <a:solidFill>
                  <a:srgbClr val="16242F"/>
                </a:solidFill>
                <a:latin typeface="Calibri"/>
              </a:rPr>
              <a:t>invalid_source_id：引用了證據表裡不存在的 [S_]。</a:t>
            </a:r>
          </a:p>
          <a:p>
            <a:pPr indent="-182880" marL="182880">
              <a:lnSpc>
                <a:spcPct val="120000"/>
              </a:lnSpc>
              <a:spcAft>
                <a:spcPts val="1400"/>
              </a:spcAft>
              <a:buClr>
                <a:srgbClr val="1F6F8B"/>
              </a:buClr>
              <a:buFont typeface="Arial"/>
              <a:buChar char="›"/>
            </a:pPr>
            <a:r>
              <a:rPr sz="1350">
                <a:solidFill>
                  <a:srgbClr val="16242F"/>
                </a:solidFill>
                <a:latin typeface="Calibri"/>
              </a:rPr>
              <a:t>clinical_recommendation：出現「should take」之類的治療建議字眼。</a:t>
            </a:r>
          </a:p>
          <a:p>
            <a:pPr indent="-182880" marL="182880">
              <a:lnSpc>
                <a:spcPct val="120000"/>
              </a:lnSpc>
              <a:spcAft>
                <a:spcPts val="1400"/>
              </a:spcAft>
              <a:buClr>
                <a:srgbClr val="1F6F8B"/>
              </a:buClr>
              <a:buFont typeface="Arial"/>
              <a:buChar char="›"/>
            </a:pPr>
            <a:r>
              <a:rPr sz="1350">
                <a:solidFill>
                  <a:srgbClr val="16242F"/>
                </a:solidFill>
                <a:latin typeface="Calibri"/>
              </a:rPr>
              <a:t>too_long：超過 loop_spec.yaml 設定的字數上限。</a:t>
            </a:r>
          </a:p>
          <a:p>
            <a:pPr indent="-182880" marL="182880">
              <a:lnSpc>
                <a:spcPct val="120000"/>
              </a:lnSpc>
              <a:spcAft>
                <a:spcPts val="1400"/>
              </a:spcAft>
              <a:buClr>
                <a:srgbClr val="1F6F8B"/>
              </a:buClr>
              <a:buFont typeface="Arial"/>
              <a:buChar char="›"/>
            </a:pPr>
            <a:r>
              <a:rPr sz="1350">
                <a:solidFill>
                  <a:srgbClr val="16242F"/>
                </a:solidFill>
                <a:latin typeface="Calibri"/>
              </a:rPr>
              <a:t>這層不用改，是 L1 + L2 的第一道防線——快、穩定、可重複，永遠先跑這層。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scripts/loop_demo.py — 函式總覽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831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776472"/>
                <a:gridCol w="3474720"/>
              </a:tblGrid>
              <a:tr h="56007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ourier New"/>
                        </a:rPr>
                        <a:t>函式</a:t>
                      </a:r>
                    </a:p>
                  </a:txBody>
                  <a:tcPr marL="128016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角色</a:t>
                      </a:r>
                    </a:p>
                  </a:txBody>
                  <a:tcPr marL="128016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對應要素</a:t>
                      </a:r>
                    </a:p>
                  </a:txBody>
                  <a:tcPr marL="128016" anchor="ctr">
                    <a:solidFill>
                      <a:srgbClr val="0F2A43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ourier New"/>
                        </a:rPr>
                        <a:t>parse_simple_yaml()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讀取 loop_spec.yaml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trigger / schedule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ourier New"/>
                        </a:rPr>
                        <a:t>load_evidence() / make_plan()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準備輸入、整理限制條件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execution 前置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ourier New"/>
                        </a:rPr>
                        <a:t>generate_summary()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產生第一版草稿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execution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ourier New"/>
                        </a:rPr>
                        <a:t>mock_evaluator()  ⚠ TODO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L4 模型判斷層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verification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ourier New"/>
                        </a:rPr>
                        <a:t>revise_summary()  ⚠ TODO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根據 issue 修正草稿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execution（迭代）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ourier New"/>
                        </a:rPr>
                        <a:t>run_loop()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主控整個迴圈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整合六個要素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ourier New"/>
                        </a:rPr>
                        <a:t>write_memory()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把結果寫進 outputs/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generate_summary()：植入的 3 個錯誤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8311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6479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overstatement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728216"/>
            <a:ext cx="8503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091B2E"/>
                </a:solidFill>
                <a:latin typeface="Courier New"/>
              </a:rPr>
              <a:t>"Metformin reduces cardiovascular events in all patients with type 2 diabetes."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221992"/>
            <a:ext cx="8503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7184"/>
                </a:solidFill>
                <a:latin typeface="Calibri"/>
              </a:rPr>
              <a:t>證據（S1、S2）只涵蓋 UKPDS 的肥胖亞組，不是全部第二型糖尿病病人。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72968"/>
            <a:ext cx="1118311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33756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clinical_recommendation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300984"/>
            <a:ext cx="8503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091B2E"/>
                </a:solidFill>
                <a:latin typeface="Courier New"/>
              </a:rPr>
              <a:t>"Patients should take metformin as first-line therapy."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794759"/>
            <a:ext cx="8503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7184"/>
                </a:solidFill>
                <a:latin typeface="Calibri"/>
              </a:rPr>
              <a:t>對病人下治療建議，違反 question.md 的限制條件。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45736"/>
            <a:ext cx="1118311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4910327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10327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missing_source_id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873751"/>
            <a:ext cx="8503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091B2E"/>
                </a:solidFill>
                <a:latin typeface="Courier New"/>
              </a:rPr>
              <a:t>"...AMPK signaling, which may reduce vascular inflammation."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5367527"/>
            <a:ext cx="8503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7184"/>
                </a:solidFill>
                <a:latin typeface="Calibri"/>
              </a:rPr>
              <a:t>S3 有涵蓋這個機制，但句子沒有標註 [S3]，也沒說明是 preclinical 證據。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05 / 06 ·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mock_evaluator()：L4 模型判斷層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760720" cy="470916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36776"/>
            <a:ext cx="539495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loop_demo.py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29384"/>
            <a:ext cx="5394959" cy="4178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def mock_evaluator(summary):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issues = []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# 已給定範例：overstatement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if "all patients with type 2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diabetes" in summary: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issues.append({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    "issue_type": "overstatement",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    "severity": "high", ...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})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# TODO 1 / TODO 2 待補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return issues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00200"/>
            <a:ext cx="5166360" cy="210312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715414"/>
            <a:ext cx="48371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Cambria"/>
              </a:rPr>
              <a:t>TODO 1 · clinical_recommendation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099462"/>
            <a:ext cx="4837176" cy="14886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偵測「Patients should take metformin as first-line therapy.」，issue_type=clinical_recommendation，severity=high，needs_human_review=True。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886200"/>
            <a:ext cx="5166360" cy="210312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4001414"/>
            <a:ext cx="48371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Cambria"/>
              </a:rPr>
              <a:t>TODO 2 · missing_source_id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4385462"/>
            <a:ext cx="4837176" cy="14886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偵測 AMPK 那句沒有 [S3]。S3 是 preclinical 證據，修法也該提醒這是間接證據。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05 / 06 ·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revise_summary()：根據 issue 修正草稿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760720" cy="470916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36776"/>
            <a:ext cx="539495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loop_demo.py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29384"/>
            <a:ext cx="5394959" cy="4178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def revise_summary(summary, issues):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revised = summary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for item in issues: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if item["issue_type"] ==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        "overstatement":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    revised = re.sub(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        ...,  # 已給定的修法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        revised)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    # TODO 3 / TODO 4 待補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CFE8EF"/>
                </a:solidFill>
                <a:latin typeface="Courier New"/>
              </a:rPr>
              <a:t>    return revised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00200"/>
            <a:ext cx="5166360" cy="210312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715414"/>
            <a:ext cx="48371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Cambria"/>
              </a:rPr>
              <a:t>TODO 3 · 修正 clinical_recommendation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099462"/>
            <a:ext cx="4837176" cy="14886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把「should take ... first-line therapy」換成不含治療/劑量建議、只陳述證據的句子。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886200"/>
            <a:ext cx="5166360" cy="210312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4001414"/>
            <a:ext cx="48371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F2A43"/>
                </a:solidFill>
                <a:latin typeface="Cambria"/>
              </a:rPr>
              <a:t>TODO 4 · 修正 missing_source_id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4385462"/>
            <a:ext cx="4837176" cy="14886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6242F"/>
                </a:solidFill>
                <a:latin typeface="Calibri"/>
              </a:rPr>
              <a:t>把 AMPK 那句改成有引用 [S3]，並標註這是 preclinical / 間接證據。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迴圈邏輯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run_loop()：初始化階段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91640"/>
            <a:ext cx="365760" cy="36576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64208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讀取 loop_spec.yaml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65960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parse_simple_yaml() 把規格讀成 dict，缺欄位就用 DEFAULT_SPEC 補上。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148840"/>
            <a:ext cx="0" cy="457200"/>
          </a:xfrm>
          <a:prstGeom prst="line">
            <a:avLst/>
          </a:prstGeom>
          <a:ln w="19050">
            <a:solidFill>
              <a:srgbClr val="D8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14400" y="2606040"/>
            <a:ext cx="365760" cy="36576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78608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讀取輸入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80360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讀 question.md 的任務規格，讀 evidence_table.csv 的證據。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063240"/>
            <a:ext cx="0" cy="457200"/>
          </a:xfrm>
          <a:prstGeom prst="line">
            <a:avLst/>
          </a:prstGeom>
          <a:ln w="19050">
            <a:solidFill>
              <a:srgbClr val="D8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400" y="3520440"/>
            <a:ext cx="365760" cy="36576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93008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make_plan()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94760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整理出 source_ids、must_not、output 格式，方便寫進最終報告。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" y="3977639"/>
            <a:ext cx="0" cy="457201"/>
          </a:xfrm>
          <a:prstGeom prst="line">
            <a:avLst/>
          </a:prstGeom>
          <a:ln w="19050">
            <a:solidFill>
              <a:srgbClr val="D8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14400" y="4434840"/>
            <a:ext cx="365760" cy="36576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07407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generate_summary()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09159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產生第一版草稿（這版故意留了 3 個錯）。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97280" y="4892040"/>
            <a:ext cx="0" cy="457200"/>
          </a:xfrm>
          <a:prstGeom prst="line">
            <a:avLst/>
          </a:prstGeom>
          <a:ln w="19050">
            <a:solidFill>
              <a:srgbClr val="D8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14400" y="5349240"/>
            <a:ext cx="365760" cy="36576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321807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write_memory()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623559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把草稿寫進 outputs/draft_summary.md，第一份記憶就此產生。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迴圈邏輯 02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run_loop()：每一輪做什麼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2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2A43"/>
                </a:solidFill>
                <a:latin typeface="Courier New"/>
              </a:rPr>
              <a:t>mock_evaluator(draft)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4114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5B7184"/>
                </a:solidFill>
                <a:latin typeface="Calibri"/>
              </a:rPr>
              <a:t>L4 model_judge 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002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73352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2A43"/>
                </a:solidFill>
                <a:latin typeface="Courier New"/>
              </a:rPr>
              <a:t>check_summary(draft)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84248"/>
            <a:ext cx="4114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5B7184"/>
                </a:solidFill>
                <a:latin typeface="Calibri"/>
              </a:rPr>
              <a:t>L1 + L2 機械 / 規則層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2542032"/>
            <a:ext cx="2423160" cy="521208"/>
          </a:xfrm>
          <a:prstGeom prst="line">
            <a:avLst/>
          </a:prstGeom>
          <a:ln w="19050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309360" y="2542032"/>
            <a:ext cx="2468880" cy="521208"/>
          </a:xfrm>
          <a:prstGeom prst="line">
            <a:avLst/>
          </a:prstGeom>
          <a:ln w="19050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5870448" y="2926079"/>
            <a:ext cx="146304" cy="146304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77440" y="3063240"/>
            <a:ext cx="7315200" cy="68580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063240"/>
            <a:ext cx="676656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issues = llm_issues + rule_issues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3749039"/>
            <a:ext cx="0" cy="411481"/>
          </a:xfrm>
          <a:prstGeom prst="line">
            <a:avLst/>
          </a:prstGeom>
          <a:ln w="19050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5961888" y="4087368"/>
            <a:ext cx="146304" cy="146304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45920" y="4206240"/>
            <a:ext cx="8778240" cy="731520"/>
          </a:xfrm>
          <a:prstGeom prst="roundRect">
            <a:avLst>
              <a:gd name="adj" fmla="val 8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206240"/>
            <a:ext cx="822960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1" i="0">
                <a:solidFill>
                  <a:srgbClr val="0F2A43"/>
                </a:solidFill>
                <a:latin typeface="Courier New"/>
              </a:rPr>
              <a:t>issue_signature(blocking_issues(issues)) → 這一輪的「問題指紋」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4937760"/>
            <a:ext cx="0" cy="411480"/>
          </a:xfrm>
          <a:prstGeom prst="line">
            <a:avLst/>
          </a:prstGeom>
          <a:ln w="19050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5961888" y="5276088"/>
            <a:ext cx="146304" cy="146304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720" y="5394960"/>
            <a:ext cx="9692640" cy="868680"/>
          </a:xfrm>
          <a:prstGeom prst="roundRect">
            <a:avLst>
              <a:gd name="adj" fmla="val 8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5394960"/>
            <a:ext cx="914400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1" i="0">
                <a:solidFill>
                  <a:srgbClr val="16242F"/>
                </a:solidFill>
                <a:latin typeface="Courier New"/>
              </a:rPr>
              <a:t>跟上一輪的 signature 比較 → 相同：no_progress_rounds + 1／不同：歸零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迴圈邏輯 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run_loop()：三個判斷分岔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issues（這一輪）</a:t>
            </a:r>
          </a:p>
        </p:txBody>
      </p:sp>
      <p:sp>
        <p:nvSpPr>
          <p:cNvPr id="8" name="Diamond 7"/>
          <p:cNvSpPr/>
          <p:nvPr/>
        </p:nvSpPr>
        <p:spPr>
          <a:xfrm>
            <a:off x="502920" y="2286000"/>
            <a:ext cx="2743200" cy="914400"/>
          </a:xfrm>
          <a:prstGeom prst="diamond">
            <a:avLst/>
          </a:prstGeom>
          <a:solidFill>
            <a:srgbClr val="EAF2F5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50" b="1">
                <a:solidFill>
                  <a:srgbClr val="0F2A43"/>
                </a:solidFill>
                <a:latin typeface="Calibri"/>
              </a:rPr>
              <a:t>沒有 blocking issue？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08760" y="3200400"/>
            <a:ext cx="0" cy="228600"/>
          </a:xfrm>
          <a:prstGeom prst="line">
            <a:avLst/>
          </a:prstGeom>
          <a:ln w="15875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45920" y="3218688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5B7184"/>
                </a:solidFill>
                <a:latin typeface="Calibri"/>
              </a:rPr>
              <a:t>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2743200"/>
            <a:ext cx="502919" cy="0"/>
          </a:xfrm>
          <a:prstGeom prst="line">
            <a:avLst/>
          </a:prstGeom>
          <a:ln w="15875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3639312" y="2679192"/>
            <a:ext cx="128016" cy="128016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45059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5B7184"/>
                </a:solidFill>
                <a:latin typeface="Calibri"/>
              </a:rPr>
              <a:t>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240280"/>
            <a:ext cx="3017520" cy="1005840"/>
          </a:xfrm>
          <a:prstGeom prst="roundRect">
            <a:avLst>
              <a:gd name="adj" fmla="val 16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23360" y="2459736"/>
            <a:ext cx="146304" cy="14630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2368296"/>
            <a:ext cx="2450591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2F"/>
                </a:solidFill>
                <a:latin typeface="Cambria"/>
              </a:rPr>
              <a:t>passed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2953512"/>
            <a:ext cx="24140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7184"/>
                </a:solidFill>
                <a:latin typeface="Calibri"/>
              </a:rPr>
              <a:t>結束</a:t>
            </a:r>
          </a:p>
        </p:txBody>
      </p:sp>
      <p:sp>
        <p:nvSpPr>
          <p:cNvPr id="18" name="Diamond 17"/>
          <p:cNvSpPr/>
          <p:nvPr/>
        </p:nvSpPr>
        <p:spPr>
          <a:xfrm>
            <a:off x="502920" y="3429000"/>
            <a:ext cx="2743200" cy="914400"/>
          </a:xfrm>
          <a:prstGeom prst="diamond">
            <a:avLst/>
          </a:prstGeom>
          <a:solidFill>
            <a:srgbClr val="EAF2F5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50" b="1">
                <a:solidFill>
                  <a:srgbClr val="0F2A43"/>
                </a:solidFill>
                <a:latin typeface="Calibri"/>
              </a:rPr>
              <a:t>no_progress_rounds
≥ 上限？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08760" y="4343400"/>
            <a:ext cx="0" cy="228600"/>
          </a:xfrm>
          <a:prstGeom prst="line">
            <a:avLst/>
          </a:prstGeom>
          <a:ln w="15875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45920" y="4361688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5B7184"/>
                </a:solidFill>
                <a:latin typeface="Calibri"/>
              </a:rPr>
              <a:t>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6120" y="3886200"/>
            <a:ext cx="502919" cy="0"/>
          </a:xfrm>
          <a:prstGeom prst="line">
            <a:avLst/>
          </a:prstGeom>
          <a:ln w="15875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3639312" y="3822191"/>
            <a:ext cx="128016" cy="128016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59359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5B7184"/>
                </a:solidFill>
                <a:latin typeface="Calibri"/>
              </a:rPr>
              <a:t>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383280"/>
            <a:ext cx="3017520" cy="1005840"/>
          </a:xfrm>
          <a:prstGeom prst="roundRect">
            <a:avLst>
              <a:gd name="adj" fmla="val 1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23360" y="3602736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4" y="3511296"/>
            <a:ext cx="2450591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2F"/>
                </a:solidFill>
                <a:latin typeface="Cambria"/>
              </a:rPr>
              <a:t>stalled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1104" y="4096512"/>
            <a:ext cx="24140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7184"/>
                </a:solidFill>
                <a:latin typeface="Calibri"/>
              </a:rPr>
              <a:t>結束</a:t>
            </a:r>
          </a:p>
        </p:txBody>
      </p:sp>
      <p:sp>
        <p:nvSpPr>
          <p:cNvPr id="28" name="Diamond 27"/>
          <p:cNvSpPr/>
          <p:nvPr/>
        </p:nvSpPr>
        <p:spPr>
          <a:xfrm>
            <a:off x="502920" y="4572000"/>
            <a:ext cx="2743200" cy="914400"/>
          </a:xfrm>
          <a:prstGeom prst="diamond">
            <a:avLst/>
          </a:prstGeom>
          <a:solidFill>
            <a:srgbClr val="EAF2F5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50" b="1">
                <a:solidFill>
                  <a:srgbClr val="0F2A43"/>
                </a:solidFill>
                <a:latin typeface="Calibri"/>
              </a:rPr>
              <a:t>剩下的問題
都需要人工判斷？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08760" y="5486400"/>
            <a:ext cx="0" cy="228600"/>
          </a:xfrm>
          <a:prstGeom prst="line">
            <a:avLst/>
          </a:prstGeom>
          <a:ln w="15875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45920" y="5504688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5B7184"/>
                </a:solidFill>
                <a:latin typeface="Calibri"/>
              </a:rPr>
              <a:t>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46120" y="5029200"/>
            <a:ext cx="502919" cy="0"/>
          </a:xfrm>
          <a:prstGeom prst="line">
            <a:avLst/>
          </a:prstGeom>
          <a:ln w="15875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3639312" y="4965192"/>
            <a:ext cx="128016" cy="128016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473659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5B7184"/>
                </a:solidFill>
                <a:latin typeface="Calibri"/>
              </a:rPr>
              <a:t>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4526280"/>
            <a:ext cx="3017520" cy="1005840"/>
          </a:xfrm>
          <a:prstGeom prst="roundRect">
            <a:avLst>
              <a:gd name="adj" fmla="val 16000"/>
            </a:avLst>
          </a:prstGeom>
          <a:solidFill>
            <a:srgbClr val="EE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023360" y="4745736"/>
            <a:ext cx="146304" cy="146304"/>
          </a:xfrm>
          <a:prstGeom prst="ellipse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1104" y="4654296"/>
            <a:ext cx="2450591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2F"/>
                </a:solidFill>
                <a:latin typeface="Cambria"/>
              </a:rPr>
              <a:t>needs_human_review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1104" y="5239512"/>
            <a:ext cx="24140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7184"/>
                </a:solidFill>
                <a:latin typeface="Calibri"/>
              </a:rPr>
              <a:t>結束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80644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806440"/>
            <a:ext cx="27432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revise_summary() 產生新草稿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46120" y="6080759"/>
            <a:ext cx="5394960" cy="0"/>
          </a:xfrm>
          <a:prstGeom prst="line">
            <a:avLst/>
          </a:prstGeom>
          <a:ln w="1905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41080" y="1760219"/>
            <a:ext cx="0" cy="4320540"/>
          </a:xfrm>
          <a:prstGeom prst="line">
            <a:avLst/>
          </a:prstGeom>
          <a:ln w="1905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291839" y="1760219"/>
            <a:ext cx="5349241" cy="0"/>
          </a:xfrm>
          <a:prstGeom prst="line">
            <a:avLst/>
          </a:prstGeom>
          <a:ln w="1905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16200000">
            <a:off x="3264408" y="1687067"/>
            <a:ext cx="146304" cy="146304"/>
          </a:xfrm>
          <a:prstGeom prst="triangl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3774185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154F64"/>
                </a:solidFill>
                <a:latin typeface="Calibri"/>
              </a:rPr>
              <a:t>回到 Part 2，下一輪評估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迴圈邏輯 04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run_loop()：收尾與寫入 Memory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91640"/>
            <a:ext cx="365760" cy="365760"/>
          </a:xfrm>
          <a:prstGeom prst="ellipse">
            <a:avLst/>
          </a:prstGeom>
          <a:solidFill>
            <a:srgbClr val="15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64208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最終複檢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65960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對 final_summary 再做一次完整檢查（check_summary + mock_evaluator）。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148840"/>
            <a:ext cx="0" cy="457200"/>
          </a:xfrm>
          <a:prstGeom prst="line">
            <a:avLst/>
          </a:prstGeom>
          <a:ln w="19050">
            <a:solidFill>
              <a:srgbClr val="D8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14400" y="2606040"/>
            <a:ext cx="365760" cy="365760"/>
          </a:xfrm>
          <a:prstGeom prst="ellipse">
            <a:avLst/>
          </a:prstGeom>
          <a:solidFill>
            <a:srgbClr val="15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78608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覆蓋為 passed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80360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如果最終複檢已經沒有 blocking issue，狀態直接改成 passed。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063240"/>
            <a:ext cx="0" cy="457200"/>
          </a:xfrm>
          <a:prstGeom prst="line">
            <a:avLst/>
          </a:prstGeom>
          <a:ln w="19050">
            <a:solidFill>
              <a:srgbClr val="D8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400" y="3520440"/>
            <a:ext cx="365760" cy="365760"/>
          </a:xfrm>
          <a:prstGeom prst="ellipse">
            <a:avLst/>
          </a:prstGeom>
          <a:solidFill>
            <a:srgbClr val="15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93008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合法性保底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94760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確認 status 在 terminal_states 清單內，不在的話強制設成 failed_validation。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" y="3977639"/>
            <a:ext cx="0" cy="457201"/>
          </a:xfrm>
          <a:prstGeom prst="line">
            <a:avLst/>
          </a:prstGeom>
          <a:ln w="19050">
            <a:solidFill>
              <a:srgbClr val="D8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14400" y="4434840"/>
            <a:ext cx="365760" cy="365760"/>
          </a:xfrm>
          <a:prstGeom prst="ellipse">
            <a:avLst/>
          </a:prstGeom>
          <a:solidFill>
            <a:srgbClr val="15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07407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寫入 outputs/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09159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把 final_summary、issue_log、report 全部透過 write_memory() 寫出。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97280" y="4892040"/>
            <a:ext cx="0" cy="457200"/>
          </a:xfrm>
          <a:prstGeom prst="line">
            <a:avLst/>
          </a:prstGeom>
          <a:ln w="19050">
            <a:solidFill>
              <a:srgbClr val="D8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14400" y="5349240"/>
            <a:ext cx="365760" cy="365760"/>
          </a:xfrm>
          <a:prstGeom prst="ellipse">
            <a:avLst/>
          </a:prstGeom>
          <a:solidFill>
            <a:srgbClr val="15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321807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回傳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623559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main() 印出這份 report，裡面含 status、iterations、sources_used…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迴圈邏輯 · 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run_loop() 完整流程圖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508760"/>
            <a:ext cx="7955279" cy="914400"/>
          </a:xfrm>
          <a:prstGeom prst="roundRect">
            <a:avLst>
              <a:gd name="adj" fmla="val 8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1691639"/>
            <a:ext cx="548640" cy="54864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691639"/>
            <a:ext cx="54864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18488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初始化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47672"/>
            <a:ext cx="685799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6242F"/>
                </a:solidFill>
                <a:latin typeface="Calibri"/>
              </a:rPr>
              <a:t>讀規格 → 讀輸入 → 產生第一版草稿 → 寫入 draft_summary.md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2743200"/>
            <a:ext cx="7955279" cy="914400"/>
          </a:xfrm>
          <a:prstGeom prst="roundRect">
            <a:avLst>
              <a:gd name="adj" fmla="val 8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86000" y="2926080"/>
            <a:ext cx="548640" cy="54864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926080"/>
            <a:ext cx="54864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52928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迭代評估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82112"/>
            <a:ext cx="685799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6242F"/>
                </a:solidFill>
                <a:latin typeface="Calibri"/>
              </a:rPr>
              <a:t>mock_evaluator + check_summary → 合併 issues → 算出 issue 指紋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3977639"/>
            <a:ext cx="7955279" cy="914400"/>
          </a:xfrm>
          <a:prstGeom prst="roundRect">
            <a:avLst>
              <a:gd name="adj" fmla="val 8000"/>
            </a:avLst>
          </a:prstGeom>
          <a:solidFill>
            <a:srgbClr val="E3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86000" y="4160520"/>
            <a:ext cx="548640" cy="54864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160520"/>
            <a:ext cx="54864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087368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判斷分岔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416552"/>
            <a:ext cx="685799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6242F"/>
                </a:solidFill>
                <a:latin typeface="Calibri"/>
              </a:rPr>
              <a:t>passed／stalled／needs_human_review／不然就 revise 再跑一輪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5212079"/>
            <a:ext cx="7955279" cy="914400"/>
          </a:xfrm>
          <a:prstGeom prst="roundRect">
            <a:avLst>
              <a:gd name="adj" fmla="val 8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86000" y="5394959"/>
            <a:ext cx="548640" cy="548640"/>
          </a:xfrm>
          <a:prstGeom prst="ellipse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394959"/>
            <a:ext cx="54864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321807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收尾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650992"/>
            <a:ext cx="685799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6242F"/>
                </a:solidFill>
                <a:latin typeface="Calibri"/>
              </a:rPr>
              <a:t>最終複檢 → 合法性保底 → 寫入 outputs/ → 回傳 report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59" y="2423160"/>
            <a:ext cx="0" cy="274319"/>
          </a:xfrm>
          <a:prstGeom prst="line">
            <a:avLst/>
          </a:prstGeom>
          <a:ln w="19050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6012179" y="2610611"/>
            <a:ext cx="137160" cy="137160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080759" y="3657600"/>
            <a:ext cx="0" cy="274320"/>
          </a:xfrm>
          <a:prstGeom prst="line">
            <a:avLst/>
          </a:prstGeom>
          <a:ln w="19050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12179" y="3845052"/>
            <a:ext cx="137160" cy="137160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080759" y="4892040"/>
            <a:ext cx="0" cy="274319"/>
          </a:xfrm>
          <a:prstGeom prst="line">
            <a:avLst/>
          </a:prstGeom>
          <a:ln w="19050">
            <a:solidFill>
              <a:srgbClr val="5B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0800000">
            <a:off x="6012179" y="5079492"/>
            <a:ext cx="137160" cy="137160"/>
          </a:xfrm>
          <a:prstGeom prst="triangle">
            <a:avLst/>
          </a:prstGeom>
          <a:solidFill>
            <a:srgbClr val="5B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0058400" y="4434840"/>
            <a:ext cx="640080" cy="0"/>
          </a:xfrm>
          <a:prstGeom prst="line">
            <a:avLst/>
          </a:prstGeom>
          <a:ln w="1905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698480" y="3200400"/>
            <a:ext cx="0" cy="1234440"/>
          </a:xfrm>
          <a:prstGeom prst="line">
            <a:avLst/>
          </a:prstGeom>
          <a:ln w="1905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0058400" y="3200400"/>
            <a:ext cx="640080" cy="0"/>
          </a:xfrm>
          <a:prstGeom prst="line">
            <a:avLst/>
          </a:prstGeom>
          <a:ln w="19050">
            <a:solidFill>
              <a:srgbClr val="E8A3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6200000">
            <a:off x="10049256" y="3136392"/>
            <a:ext cx="128016" cy="128016"/>
          </a:xfrm>
          <a:prstGeom prst="triangl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19" y="3680459"/>
            <a:ext cx="21945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154F64"/>
                </a:solidFill>
                <a:latin typeface="Calibri"/>
              </a:rPr>
              <a:t>不通過 →
修正後再跑一輪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迴圈邏輯 · 細節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no_progress_rounds 是怎麼判斷出來的？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3112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6242F"/>
                </a:solidFill>
                <a:latin typeface="Calibri"/>
              </a:rPr>
              <a:t>issue_signature() 把這一輪所有 blocking issue 的 (issue_type, sentence) 排序後打包成一組指紋，拿去跟上一輪的指紋比較。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5257800" cy="228600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459736"/>
            <a:ext cx="4892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round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52344"/>
            <a:ext cx="4892040" cy="1755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第 1 輪 signature：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[('clinical_recommendation',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  'Patients should take...')]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31720"/>
            <a:ext cx="5257800" cy="228600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459736"/>
            <a:ext cx="4892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round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752344"/>
            <a:ext cx="4892040" cy="1755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第 2 輪 signature：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[('clinical_recommendation',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  'Patients should take...')]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246120"/>
            <a:ext cx="1371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E8A33D"/>
                </a:solidFill>
                <a:latin typeface="Calibri"/>
              </a:rPr>
              <a:t>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92040"/>
            <a:ext cx="11183112" cy="1325880"/>
          </a:xfrm>
          <a:prstGeom prst="roundRect">
            <a:avLst>
              <a:gd name="adj" fmla="val 8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1042416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6242F"/>
                </a:solidFill>
                <a:latin typeface="Calibri"/>
              </a:rPr>
              <a:t>兩輪完全相同 → no_progress_rounds += 1；只要有任何一個 issue 不一樣（type 或句子不同）→ 立刻歸零。連續達到 max_no_progress_rounds，就判定 stalled——這是避免 loop 原地打轉、無限燒 token 的關鍵機制。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檔案解析 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outputs/：迴圈執行後的記憶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644902" cy="393192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06854"/>
            <a:ext cx="231571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F2A43"/>
                </a:solidFill>
                <a:latin typeface="Courier New"/>
              </a:rPr>
              <a:t>draft_summary.md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0902"/>
            <a:ext cx="2315718" cy="33174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第一版草稿
用來對照「修正前 vs 修正後」差在哪裡。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8990" y="1691640"/>
            <a:ext cx="2644902" cy="3931920"/>
          </a:xfrm>
          <a:prstGeom prst="roundRect">
            <a:avLst>
              <a:gd name="adj" fmla="val 6000"/>
            </a:avLst>
          </a:prstGeom>
          <a:solidFill>
            <a:srgbClr val="E3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3582" y="1806854"/>
            <a:ext cx="231571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F2A43"/>
                </a:solidFill>
                <a:latin typeface="Courier New"/>
              </a:rPr>
              <a:t>final_summary.md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3582" y="2190902"/>
            <a:ext cx="2315718" cy="33174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迴圈結束版本
老師 / 學生驗收的最終產出。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1691640"/>
            <a:ext cx="2644902" cy="393192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1806854"/>
            <a:ext cx="231571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F2A43"/>
                </a:solidFill>
                <a:latin typeface="Courier New"/>
              </a:rPr>
              <a:t>issue_log.json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9652" y="2190902"/>
            <a:ext cx="2315718" cy="33174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每輪問題清單
看得出問題是不是真的在減少，還是在原地打轉。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1130" y="1691640"/>
            <a:ext cx="2644902" cy="3931920"/>
          </a:xfrm>
          <a:prstGeom prst="roundRect">
            <a:avLst>
              <a:gd name="adj" fmla="val 6000"/>
            </a:avLst>
          </a:prstGeom>
          <a:solidFill>
            <a:srgbClr val="E3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5722" y="1806854"/>
            <a:ext cx="231571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F2A43"/>
                </a:solidFill>
                <a:latin typeface="Courier New"/>
              </a:rPr>
              <a:t>loop_report.json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5722" y="2190902"/>
            <a:ext cx="2315718" cy="33174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最終報告
status、iterations、no_progress_rounds、sources_used 都在這裡。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實測結果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空白 TODO 狀態下，實際跑一次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394960" cy="393192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36776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outputs/loop_report.json（節錄）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29384"/>
            <a:ext cx="5029200" cy="34015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450">
                <a:solidFill>
                  <a:srgbClr val="CFE8EF"/>
                </a:solidFill>
                <a:latin typeface="Courier New"/>
              </a:rPr>
              <a:t>"status": "needs_human_review",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CFE8EF"/>
                </a:solidFill>
                <a:latin typeface="Courier New"/>
              </a:rPr>
              <a:t>"iterations": 2,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CFE8EF"/>
                </a:solidFill>
                <a:latin typeface="Courier New"/>
              </a:rPr>
              <a:t>"blocking_issues_remaining": 2,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CFE8EF"/>
                </a:solidFill>
                <a:latin typeface="Courier New"/>
              </a:rPr>
              <a:t>"human_review_required": true,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CFE8EF"/>
                </a:solidFill>
                <a:latin typeface="Courier New"/>
              </a:rPr>
              <a:t>"sources_used": ["S1", "S2"]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00200"/>
            <a:ext cx="5394960" cy="3931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indent="-182880" marL="182880">
              <a:lnSpc>
                <a:spcPct val="125000"/>
              </a:lnSpc>
              <a:spcAft>
                <a:spcPts val="1400"/>
              </a:spcAft>
              <a:buClr>
                <a:srgbClr val="1F6F8B"/>
              </a:buClr>
              <a:buFont typeface="Arial"/>
              <a:buChar char="›"/>
            </a:pPr>
            <a:r>
              <a:rPr sz="1350">
                <a:solidFill>
                  <a:srgbClr val="16242F"/>
                </a:solidFill>
                <a:latin typeface="Calibri"/>
              </a:rPr>
              <a:t>TODO 沒補，mock_evaluator 只抓到 overstatement。</a:t>
            </a:r>
          </a:p>
          <a:p>
            <a:pPr indent="-182880" marL="182880">
              <a:lnSpc>
                <a:spcPct val="125000"/>
              </a:lnSpc>
              <a:spcAft>
                <a:spcPts val="1400"/>
              </a:spcAft>
              <a:buClr>
                <a:srgbClr val="1F6F8B"/>
              </a:buClr>
              <a:buFont typeface="Arial"/>
              <a:buChar char="›"/>
            </a:pPr>
            <a:r>
              <a:rPr sz="1350">
                <a:solidFill>
                  <a:srgbClr val="16242F"/>
                </a:solidFill>
                <a:latin typeface="Calibri"/>
              </a:rPr>
              <a:t>但 check_summary.py 的 rule 層仍然抓到「should take」「first-line therapy」兩個 clinical_recommendation，且都標記 needs_human_review=True。</a:t>
            </a:r>
          </a:p>
          <a:p>
            <a:pPr indent="-182880" marL="182880">
              <a:lnSpc>
                <a:spcPct val="125000"/>
              </a:lnSpc>
              <a:spcAft>
                <a:spcPts val="1400"/>
              </a:spcAft>
              <a:buClr>
                <a:srgbClr val="1F6F8B"/>
              </a:buClr>
              <a:buFont typeface="Arial"/>
              <a:buChar char="›"/>
            </a:pPr>
            <a:r>
              <a:rPr sz="1350">
                <a:solidFill>
                  <a:srgbClr val="16242F"/>
                </a:solidFill>
                <a:latin typeface="Calibri"/>
              </a:rPr>
              <a:t>剩下的 blocking issue 全部都需要人工判斷 → 停在 needs_human_review，而不是 stalled。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623560"/>
            <a:ext cx="11183112" cy="73152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623560"/>
            <a:ext cx="1042416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1">
                <a:solidFill>
                  <a:srgbClr val="FFFFFF"/>
                </a:solidFill>
                <a:latin typeface="Calibri"/>
              </a:rPr>
              <a:t>關鍵教學重點：驗證是多層的，不是只靠你正在寫的那一層——這正是 verification ladder 存在的意義。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課堂操作 01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全班共同：跑一次空白骨架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64208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執行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cd loop-practice &amp;&amp; python3 scripts/loop_demo.py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78608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打開 loop_report.json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80360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看 status 停在哪個 terminal state。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520440"/>
            <a:ext cx="365760" cy="36576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93008"/>
            <a:ext cx="9692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mbria"/>
              </a:rPr>
              <a:t>打開 issue_log.json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94760"/>
            <a:ext cx="96926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B7184"/>
                </a:solidFill>
                <a:latin typeface="Calibri"/>
              </a:rPr>
              <a:t>看每一輪各抓到哪些 blocking issue。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744200" cy="164592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736592"/>
            <a:ext cx="10058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F2A43"/>
                </a:solidFill>
                <a:latin typeface="Cambria"/>
              </a:rPr>
              <a:t>課堂討論問題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102352"/>
            <a:ext cx="1014984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indent="-182880" marL="182880">
              <a:lnSpc>
                <a:spcPct val="110000"/>
              </a:lnSpc>
              <a:spcAft>
                <a:spcPts val="600"/>
              </a:spcAft>
              <a:buClr>
                <a:srgbClr val="1F6F8B"/>
              </a:buClr>
              <a:buFont typeface="Arial"/>
              <a:buChar char="›"/>
            </a:pPr>
            <a:r>
              <a:rPr sz="1250">
                <a:solidFill>
                  <a:srgbClr val="16242F"/>
                </a:solidFill>
                <a:latin typeface="Calibri"/>
              </a:rPr>
              <a:t>為什麼會停在 needs_human_review，而不是 stalled？</a:t>
            </a:r>
          </a:p>
          <a:p>
            <a:pPr indent="-182880" marL="182880">
              <a:lnSpc>
                <a:spcPct val="110000"/>
              </a:lnSpc>
              <a:spcAft>
                <a:spcPts val="600"/>
              </a:spcAft>
              <a:buClr>
                <a:srgbClr val="1F6F8B"/>
              </a:buClr>
              <a:buFont typeface="Arial"/>
              <a:buChar char="›"/>
            </a:pPr>
            <a:r>
              <a:rPr sz="1250">
                <a:solidFill>
                  <a:srgbClr val="16242F"/>
                </a:solidFill>
                <a:latin typeface="Calibri"/>
              </a:rPr>
              <a:t>為什麼 mock_evaluator 什麼都沒抓到，loop 卻還是抓到了問題？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課堂操作 02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分組實作：補完 TODO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06854"/>
            <a:ext cx="5020055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階段 A · 先補 evaluator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0902"/>
            <a:ext cx="5020055" cy="33174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6242F"/>
                </a:solidFill>
                <a:latin typeface="Calibri"/>
              </a:rPr>
              <a:t>補完 TODO 1、2（mock_evaluator 抓 clinical_recommendation 與 missing_source_id）。
重跑一次，打開 issue_log.json，觀察第一輪有沒有多抓到問題。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806854"/>
            <a:ext cx="5020055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階段 B · 再補 reviser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190902"/>
            <a:ext cx="5020055" cy="33174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6242F"/>
                </a:solidFill>
                <a:latin typeface="Calibri"/>
              </a:rPr>
              <a:t>補完 TODO 3、4（revise_summary 修正另外兩種問題）。
重跑一次，確認 loop_report.json 的 status 能拿到 passed。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60720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104241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分兩步做，比較容易看出「抓到問題」跟「修正問題」是兩件獨立的事。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課堂操作 03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修改 loop_spec.yaml：測試 Stop Rule 邊界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212080" cy="246888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19656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原本設定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12264"/>
            <a:ext cx="4846320" cy="1938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600">
                <a:solidFill>
                  <a:srgbClr val="CFE8EF"/>
                </a:solidFill>
                <a:latin typeface="Courier New"/>
              </a:rPr>
              <a:t>max_iterations: 3</a:t>
            </a:r>
          </a:p>
          <a:p>
            <a:pPr>
              <a:lnSpc>
                <a:spcPct val="118000"/>
              </a:lnSpc>
            </a:pPr>
            <a:r>
              <a:rPr sz="1600">
                <a:solidFill>
                  <a:srgbClr val="CFE8EF"/>
                </a:solidFill>
                <a:latin typeface="Courier New"/>
              </a:rPr>
              <a:t>max_no_progress_rounds: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212080" cy="246888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819656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極限測試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112264"/>
            <a:ext cx="4846320" cy="1938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600">
                <a:solidFill>
                  <a:srgbClr val="CFE8EF"/>
                </a:solidFill>
                <a:latin typeface="Courier New"/>
              </a:rPr>
              <a:t>max_iterations: 1</a:t>
            </a:r>
          </a:p>
          <a:p>
            <a:pPr>
              <a:lnSpc>
                <a:spcPct val="118000"/>
              </a:lnSpc>
            </a:pPr>
            <a:r>
              <a:rPr sz="1600">
                <a:solidFill>
                  <a:srgbClr val="CFE8EF"/>
                </a:solidFill>
                <a:latin typeface="Courier New"/>
              </a:rPr>
              <a:t>max_no_progress_rounds: 1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5678424" y="2798064"/>
            <a:ext cx="256032" cy="256032"/>
          </a:xfrm>
          <a:prstGeom prst="triangl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434840"/>
            <a:ext cx="11183112" cy="173736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10424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F2A43"/>
                </a:solidFill>
                <a:latin typeface="Cambria"/>
              </a:rPr>
              <a:t>討論重點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042416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indent="-182880" marL="182880">
              <a:lnSpc>
                <a:spcPct val="110000"/>
              </a:lnSpc>
              <a:spcAft>
                <a:spcPts val="600"/>
              </a:spcAft>
              <a:buClr>
                <a:srgbClr val="1F6F8B"/>
              </a:buClr>
              <a:buFont typeface="Arial"/>
              <a:buChar char="›"/>
            </a:pPr>
            <a:r>
              <a:rPr sz="1250">
                <a:solidFill>
                  <a:srgbClr val="16242F"/>
                </a:solidFill>
                <a:latin typeface="Calibri"/>
              </a:rPr>
              <a:t>重跑後觀察：loop 提早在哪個狀態停下來？跟原本設定差在哪？</a:t>
            </a:r>
          </a:p>
          <a:p>
            <a:pPr indent="-182880" marL="182880">
              <a:lnSpc>
                <a:spcPct val="110000"/>
              </a:lnSpc>
              <a:spcAft>
                <a:spcPts val="600"/>
              </a:spcAft>
              <a:buClr>
                <a:srgbClr val="1F6F8B"/>
              </a:buClr>
              <a:buFont typeface="Arial"/>
              <a:buChar char="›"/>
            </a:pPr>
            <a:r>
              <a:rPr sz="1250">
                <a:solidFill>
                  <a:srgbClr val="16242F"/>
                </a:solidFill>
                <a:latin typeface="Calibri"/>
              </a:rPr>
              <a:t>體會「stopping rule 不是越寬鬆越好」——上限太低會提早放棄，太高會浪費 token。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延伸與驗收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延伸練習與驗收清單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49240" cy="443484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延伸練習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754880" cy="3566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6242F"/>
                </a:solidFill>
                <a:latin typeface="Calibri"/>
              </a:rPr>
              <a:t>把 evidence_table.csv 的 S3 拿掉，或是把 S1 的 confidence 改成 low，重跑一次。
觀察 final_summary.md 跟 loop_report.json 的反應是否合理——這是很好的批判性思考練習，不是只會照抄範例。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00200"/>
            <a:ext cx="5349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驗收清單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267712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75704" y="2240280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空白 TODO 狀態下跑過一次，看懂為什麼會停在那個狀態。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926079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75704" y="2898648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補完三個 TODO 後能拿到 status: passed。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584447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75704" y="3557015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final_summary.md 每個 claim 都有來源標記，沒有治療 / 劑量建議。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242816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75704" y="4215383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能解釋 no_progress_rounds 是怎麼被判斷出來的。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901183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75704" y="4873751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改過至少一個 loop_spec.yaml 參數並觀察到 terminal state 變化。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對照與總結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與 Claude Code /loop、/goal 對照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183112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5148072"/>
              </a:tblGrid>
              <a:tr h="5105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這裡的 mock 概念</a:t>
                      </a:r>
                    </a:p>
                  </a:txBody>
                  <a:tcPr marL="128016" anchor="ctr"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Claude Code 對應的東西</a:t>
                      </a:r>
                    </a:p>
                  </a:txBody>
                  <a:tcPr marL="128016" anchor="ctr">
                    <a:solidFill>
                      <a:srgbClr val="1F6F8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3EEF7"/>
                          </a:solidFill>
                          <a:latin typeface="Calibri"/>
                        </a:rPr>
                        <a:t>trigger + max_iterations</a:t>
                      </a:r>
                    </a:p>
                  </a:txBody>
                  <a:tcPr marL="128016" anchor="ctr">
                    <a:solidFill>
                      <a:srgbClr val="1233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3EEF7"/>
                          </a:solidFill>
                          <a:latin typeface="Calibri"/>
                        </a:rPr>
                        <a:t>/loop [interval]</a:t>
                      </a:r>
                    </a:p>
                  </a:txBody>
                  <a:tcPr marL="128016" anchor="ctr">
                    <a:solidFill>
                      <a:srgbClr val="12334E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3EEF7"/>
                          </a:solidFill>
                          <a:latin typeface="Calibri"/>
                        </a:rPr>
                        <a:t>goal + terminal_states</a:t>
                      </a:r>
                    </a:p>
                  </a:txBody>
                  <a:tcPr marL="128016" anchor="ctr">
                    <a:solidFill>
                      <a:srgbClr val="0C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3EEF7"/>
                          </a:solidFill>
                          <a:latin typeface="Calibri"/>
                        </a:rPr>
                        <a:t>/goal + /loop until: ...</a:t>
                      </a:r>
                    </a:p>
                  </a:txBody>
                  <a:tcPr marL="128016" anchor="ctr">
                    <a:solidFill>
                      <a:srgbClr val="0C243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3EEF7"/>
                          </a:solidFill>
                          <a:latin typeface="Calibri"/>
                        </a:rPr>
                        <a:t>mock_evaluator + check_summary.py</a:t>
                      </a:r>
                    </a:p>
                  </a:txBody>
                  <a:tcPr marL="128016" anchor="ctr">
                    <a:solidFill>
                      <a:srgbClr val="1233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3EEF7"/>
                          </a:solidFill>
                          <a:latin typeface="Calibri"/>
                        </a:rPr>
                        <a:t>Claude 每輪自我檢查／驗證 subagent</a:t>
                      </a:r>
                    </a:p>
                  </a:txBody>
                  <a:tcPr marL="128016" anchor="ctr">
                    <a:solidFill>
                      <a:srgbClr val="12334E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3EEF7"/>
                          </a:solidFill>
                          <a:latin typeface="Calibri"/>
                        </a:rPr>
                        <a:t>memory（draft/final/issue_log/report）</a:t>
                      </a:r>
                    </a:p>
                  </a:txBody>
                  <a:tcPr marL="128016" anchor="ctr">
                    <a:solidFill>
                      <a:srgbClr val="0C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3EEF7"/>
                          </a:solidFill>
                          <a:latin typeface="Calibri"/>
                        </a:rPr>
                        <a:t>loop.md 或 memory 檔案</a:t>
                      </a:r>
                    </a:p>
                  </a:txBody>
                  <a:tcPr marL="128016" anchor="ctr">
                    <a:solidFill>
                      <a:srgbClr val="0C243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3EEF7"/>
                          </a:solidFill>
                          <a:latin typeface="Calibri"/>
                        </a:rPr>
                        <a:t>stalled / max_iterations_reached</a:t>
                      </a:r>
                    </a:p>
                  </a:txBody>
                  <a:tcPr marL="128016" anchor="ctr">
                    <a:solidFill>
                      <a:srgbClr val="1233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3EEF7"/>
                          </a:solidFill>
                          <a:latin typeface="Calibri"/>
                        </a:rPr>
                        <a:t>按 Esc 停止，或連續失敗達上限</a:t>
                      </a:r>
                    </a:p>
                  </a:txBody>
                  <a:tcPr marL="128016" anchor="ctr">
                    <a:solidFill>
                      <a:srgbClr val="12334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983480"/>
            <a:ext cx="11183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8A33D"/>
                </a:solidFill>
                <a:latin typeface="Cambria"/>
              </a:rPr>
              <a:t>三個總結重點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21808"/>
            <a:ext cx="11183112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indent="-182880" marL="182880">
              <a:lnSpc>
                <a:spcPct val="110000"/>
              </a:lnSpc>
              <a:spcAft>
                <a:spcPts val="500"/>
              </a:spcAft>
              <a:buClr>
                <a:srgbClr val="E8A33D"/>
              </a:buClr>
              <a:buFont typeface="Arial"/>
              <a:buChar char="›"/>
            </a:pPr>
            <a:r>
              <a:rPr sz="1250">
                <a:solidFill>
                  <a:srgbClr val="E3EEF7"/>
                </a:solidFill>
                <a:latin typeface="Calibri"/>
              </a:rPr>
              <a:t>Loop 的價值不是「AI 很努力」，而是每一輪都留下 issue log，並且最後能說清楚為什麼停止。</a:t>
            </a:r>
          </a:p>
          <a:p>
            <a:pPr indent="-182880" marL="182880">
              <a:lnSpc>
                <a:spcPct val="110000"/>
              </a:lnSpc>
              <a:spcAft>
                <a:spcPts val="500"/>
              </a:spcAft>
              <a:buClr>
                <a:srgbClr val="E8A33D"/>
              </a:buClr>
              <a:buFont typeface="Arial"/>
              <a:buChar char="›"/>
            </a:pPr>
            <a:r>
              <a:rPr sz="1250">
                <a:solidFill>
                  <a:srgbClr val="E3EEF7"/>
                </a:solidFill>
                <a:latin typeface="Calibri"/>
              </a:rPr>
              <a:t>驗證要分層：便宜的機械檢查先擋，貴的模型判斷 / 人工檢查留給真的需要的情況。</a:t>
            </a:r>
          </a:p>
          <a:p>
            <a:pPr indent="-182880" marL="182880">
              <a:lnSpc>
                <a:spcPct val="110000"/>
              </a:lnSpc>
              <a:spcAft>
                <a:spcPts val="500"/>
              </a:spcAft>
              <a:buClr>
                <a:srgbClr val="E8A33D"/>
              </a:buClr>
              <a:buFont typeface="Arial"/>
              <a:buChar char="›"/>
            </a:pPr>
            <a:r>
              <a:rPr sz="1250">
                <a:solidFill>
                  <a:srgbClr val="E3EEF7"/>
                </a:solidFill>
                <a:latin typeface="Calibri"/>
              </a:rPr>
              <a:t>state file 讓「這一輪」跟「下一輪」不是各自獨立，而是真正累積進度。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8FA6B8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8FA6B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34439" y="2423160"/>
            <a:ext cx="1280160" cy="128016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1516075" y="2704795"/>
            <a:ext cx="716889" cy="716889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54680" y="2331720"/>
            <a:ext cx="85039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進階示範：真的用 Claude 跑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3246120"/>
            <a:ext cx="8503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老師課堂 Demo · loop-practice/teacher-demo-claude/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3977639"/>
            <a:ext cx="4754880" cy="502920"/>
          </a:xfrm>
          <a:prstGeom prst="roundRect">
            <a:avLst>
              <a:gd name="adj" fmla="val 50000"/>
            </a:avLst>
          </a:prstGeom>
          <a:solidFill>
            <a:srgbClr val="2A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3977639"/>
            <a:ext cx="47548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E8A33D"/>
                </a:solidFill>
                <a:latin typeface="Calibri"/>
              </a:rPr>
              <a:t>⚠ 僅供教師示範，不建議發給學生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8FA6B8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8FA6B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進階示範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跟 mock 版差在哪裡？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831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97680"/>
                <a:gridCol w="4690872"/>
              </a:tblGrid>
              <a:tr h="6705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項目</a:t>
                      </a:r>
                    </a:p>
                  </a:txBody>
                  <a:tcPr marL="128016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mock 版（loop_demo.py）</a:t>
                      </a:r>
                    </a:p>
                  </a:txBody>
                  <a:tcPr marL="128016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Claude 版（loop_demo_claude.py）</a:t>
                      </a:r>
                    </a:p>
                  </a:txBody>
                  <a:tcPr marL="128016" anchor="ctr">
                    <a:solidFill>
                      <a:srgbClr val="0F2A4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generator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寫死回傳一段固定文字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送 generator_prompt.txt 給 Claude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evaluator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if/else 硬判斷三種錯誤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送 evaluator_prompt.txt，要求回 JSON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reviser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用 regex 替換固定句子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送 revise_prompt.txt 給 Claude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L1/L2 規則層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check_summary.py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原封不動重用同一份 check_summary.py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242F"/>
                          </a:solidFill>
                          <a:latin typeface="Calibri"/>
                        </a:rPr>
                        <a:t>loop 控制邏輯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stop rule／signature／memory</a:t>
                      </a:r>
                    </a:p>
                  </a:txBody>
                  <a:tcPr marL="128016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50">
                          <a:solidFill>
                            <a:srgbClr val="16242F"/>
                          </a:solidFill>
                          <a:latin typeface="Calibri"/>
                        </a:rPr>
                        <a:t>完全一樣，一行都沒改</a:t>
                      </a:r>
                    </a:p>
                  </a:txBody>
                  <a:tcPr marL="128016" anchor="ctr">
                    <a:solidFill>
                      <a:srgbClr val="FBF0D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06440"/>
            <a:ext cx="11183112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 i="1">
                <a:solidFill>
                  <a:srgbClr val="5B7184"/>
                </a:solidFill>
                <a:latin typeface="Calibri"/>
              </a:rPr>
              <a:t>換掉的只有「內容怎麼產生」，loop 本身的骨架（verification／signature／stopping rule）完全不動。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進階示範 02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事前準備與執行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94960" cy="292608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28216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終端機指令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20824"/>
            <a:ext cx="5029200" cy="2395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pip install anthropic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export ANTHROPIC_API_KEY=sk-ant-...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/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cd loop-practice/teacher-demo-claude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CFE8EF"/>
                </a:solidFill>
                <a:latin typeface="Courier New"/>
              </a:rPr>
              <a:t>python3 scripts/loop_demo_claude.py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94960" cy="4160520"/>
          </a:xfrm>
          <a:prstGeom prst="roundRect">
            <a:avLst>
              <a:gd name="adj" fmla="val 3500"/>
            </a:avLst>
          </a:prstGeom>
          <a:solidFill>
            <a:srgbClr val="09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728216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8A33D"/>
                </a:solidFill>
                <a:latin typeface="Courier New"/>
              </a:rPr>
              <a:t>資料夾結構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20824"/>
            <a:ext cx="5029200" cy="3630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teacher-demo-claude/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├── README.md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├── loop_spec.yaml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├── prompts/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│   ├── generator_prompt.txt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│   ├── evaluator_prompt.txt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│   └── revise_prompt.txt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├── scripts/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│   └── loop_demo_claude.py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CFE8EF"/>
                </a:solidFill>
                <a:latin typeface="Courier New"/>
              </a:rPr>
              <a:t>└── outputs/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548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48463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question.md、evidence_table.csv、check_summary.py 都直接重用 loop-practice/ 裡的檔案，沒有另外複製一份，維持同一個例子。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F6F8B"/>
                </a:solidFill>
                <a:latin typeface="Calibri"/>
              </a:rPr>
              <a:t>進階示範 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F2A43"/>
                </a:solidFill>
                <a:latin typeface="Cambria"/>
              </a:rPr>
              <a:t>課堂展示重點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結果不是每次都一樣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106070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同一個 prompt 重跑兩次，issue、輪數、最後停在哪個 terminal state 都可能不同——這正是為什麼 loop 需要 verification 跟 stopping rule，不能假設模型每次都乖乖照做。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0040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evaluator 的 JSON 有時候會歪掉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30752"/>
            <a:ext cx="106070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parse_issues() 故意做了容錯：解析失敗就印出原始回應、當作 0 個 issue 繼續跑，而不是整個程式崩潰——呼叫真實 LLM 時，連 verification 的輸出格式都需要防呆。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0916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mbria"/>
              </a:rPr>
              <a:t>L1/L2 規則層是重用的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9512"/>
            <a:ext cx="106070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6242F"/>
                </a:solidFill>
                <a:latin typeface="Calibri"/>
              </a:rPr>
              <a:t>就算 evaluator 換成真的 Claude，check_summary.py 這層機械檢查完全沒變——便宜、快、穩定的那層不需要因為換了模型就跟著變。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7184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5B718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" y="365760"/>
            <a:ext cx="402336" cy="402336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ular Arrow 2"/>
          <p:cNvSpPr/>
          <p:nvPr/>
        </p:nvSpPr>
        <p:spPr>
          <a:xfrm>
            <a:off x="573145" y="454273"/>
            <a:ext cx="225308" cy="225308"/>
          </a:xfrm>
          <a:prstGeom prst="circularArrow">
            <a:avLst>
              <a:gd name="adj1" fmla="val 15000"/>
              <a:gd name="adj2" fmla="val 50000"/>
              <a:gd name="adj3" fmla="val 400000"/>
              <a:gd name="adj4" fmla="val 10800000"/>
              <a:gd name="adj5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29184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E8A33D"/>
                </a:solidFill>
                <a:latin typeface="Calibri"/>
              </a:rPr>
              <a:t>進階示範 04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費用與使用原則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183112" cy="1234440"/>
          </a:xfrm>
          <a:prstGeom prst="roundRect">
            <a:avLst>
              <a:gd name="adj" fmla="val 8000"/>
            </a:avLst>
          </a:prstGeom>
          <a:solidFill>
            <a:srgbClr val="12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05156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3EEF7"/>
                </a:solidFill>
                <a:latin typeface="Calibri"/>
              </a:rPr>
              <a:t>一次完整 demo 大約 7～9 次 API 呼叫（1 次 generator + 最多 3 輪 × 2 次 + 1 次最終複檢），每次都在千字內，成本很低，但建議用老師自己的 key 展示，不要放給學生各自執行。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11831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8A33D"/>
                </a:solidFill>
                <a:latin typeface="Cambria"/>
              </a:rPr>
              <a:t>為什麼不給學生用這個版本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39312"/>
            <a:ext cx="11183112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indent="-182880" marL="182880">
              <a:lnSpc>
                <a:spcPct val="115000"/>
              </a:lnSpc>
              <a:spcAft>
                <a:spcPts val="600"/>
              </a:spcAft>
              <a:buClr>
                <a:srgbClr val="E8A33D"/>
              </a:buClr>
              <a:buFont typeface="Arial"/>
              <a:buChar char="›"/>
            </a:pPr>
            <a:r>
              <a:rPr sz="1300">
                <a:solidFill>
                  <a:srgbClr val="E3EEF7"/>
                </a:solidFill>
                <a:latin typeface="Calibri"/>
              </a:rPr>
              <a:t>需要 API key 跟網路，loop-practice/ 的 mock 版本刻意設計成不需要這些。</a:t>
            </a:r>
          </a:p>
          <a:p>
            <a:pPr indent="-182880" marL="182880">
              <a:lnSpc>
                <a:spcPct val="115000"/>
              </a:lnSpc>
              <a:spcAft>
                <a:spcPts val="600"/>
              </a:spcAft>
              <a:buClr>
                <a:srgbClr val="E8A33D"/>
              </a:buClr>
              <a:buFont typeface="Arial"/>
              <a:buChar char="›"/>
            </a:pPr>
            <a:r>
              <a:rPr sz="1300">
                <a:solidFill>
                  <a:srgbClr val="E3EEF7"/>
                </a:solidFill>
                <a:latin typeface="Calibri"/>
              </a:rPr>
              <a:t>結果不確定，不適合當作有標準答案的練習題。</a:t>
            </a:r>
          </a:p>
          <a:p>
            <a:pPr indent="-182880" marL="182880">
              <a:lnSpc>
                <a:spcPct val="115000"/>
              </a:lnSpc>
              <a:spcAft>
                <a:spcPts val="600"/>
              </a:spcAft>
              <a:buClr>
                <a:srgbClr val="E8A33D"/>
              </a:buClr>
              <a:buFont typeface="Arial"/>
              <a:buChar char="›"/>
            </a:pPr>
            <a:r>
              <a:rPr sz="1300">
                <a:solidFill>
                  <a:srgbClr val="E3EEF7"/>
                </a:solidFill>
                <a:latin typeface="Calibri"/>
              </a:rPr>
              <a:t>會產生 API 費用。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57800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91B2E"/>
                </a:solidFill>
                <a:latin typeface="Calibri"/>
              </a:rPr>
              <a:t>學生練習永遠用 loop-practice/（mock 版）；這裡只給老師示範「real world 版本長什麼樣子」。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8FA6B8"/>
                </a:solidFill>
                <a:latin typeface="Calibri"/>
              </a:rPr>
              <a:t>Loop Engineering · loop-practice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50" b="0" i="0">
                <a:solidFill>
                  <a:srgbClr val="8FA6B8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