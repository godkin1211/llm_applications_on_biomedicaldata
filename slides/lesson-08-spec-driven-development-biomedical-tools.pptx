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173e7255b14c86" /><Relationship Type="http://schemas.openxmlformats.org/officeDocument/2006/relationships/extended-properties" Target="/docProps/app.xml" Id="R481280669645435c" /><Relationship Type="http://schemas.openxmlformats.org/officeDocument/2006/relationships/officeDocument" Target="/ppt/presentation.xml" Id="R45550ac9120945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9264906190410a"/>
  </p:sldMasterIdLst>
  <p:notesMasterIdLst>
    <p:notesMasterId xmlns:r="http://schemas.openxmlformats.org/officeDocument/2006/relationships" r:id="R64f9bf74f5444229"/>
  </p:notesMasterIdLst>
  <p:sldIdLst>
    <p:sldId xmlns:r="http://schemas.openxmlformats.org/officeDocument/2006/relationships" id="256" r:id="R8251d8e6c1c7405f"/>
    <p:sldId xmlns:r="http://schemas.openxmlformats.org/officeDocument/2006/relationships" id="257" r:id="Rba5f46e38fd54d8a"/>
    <p:sldId xmlns:r="http://schemas.openxmlformats.org/officeDocument/2006/relationships" id="258" r:id="Rf8e417bddd984c16"/>
    <p:sldId xmlns:r="http://schemas.openxmlformats.org/officeDocument/2006/relationships" id="259" r:id="Rc5aff32c62344202"/>
    <p:sldId xmlns:r="http://schemas.openxmlformats.org/officeDocument/2006/relationships" id="260" r:id="R503587c3f9104f5e"/>
    <p:sldId xmlns:r="http://schemas.openxmlformats.org/officeDocument/2006/relationships" id="261" r:id="R3f17cdcf45224396"/>
    <p:sldId xmlns:r="http://schemas.openxmlformats.org/officeDocument/2006/relationships" id="262" r:id="R2a2fbd165e25490d"/>
    <p:sldId xmlns:r="http://schemas.openxmlformats.org/officeDocument/2006/relationships" id="263" r:id="Ra9bdc723815f4b90"/>
    <p:sldId xmlns:r="http://schemas.openxmlformats.org/officeDocument/2006/relationships" id="264" r:id="Re748c98ea1e04056"/>
    <p:sldId xmlns:r="http://schemas.openxmlformats.org/officeDocument/2006/relationships" id="265" r:id="Rc61b43e3f66d4ec7"/>
    <p:sldId xmlns:r="http://schemas.openxmlformats.org/officeDocument/2006/relationships" id="266" r:id="R036f5b52331f4f6e"/>
    <p:sldId xmlns:r="http://schemas.openxmlformats.org/officeDocument/2006/relationships" id="267" r:id="R60c5ba65bf8149bb"/>
    <p:sldId xmlns:r="http://schemas.openxmlformats.org/officeDocument/2006/relationships" id="268" r:id="R4542ea4031aa450a"/>
    <p:sldId xmlns:r="http://schemas.openxmlformats.org/officeDocument/2006/relationships" id="269" r:id="R83d6b62db2904a2c"/>
    <p:sldId xmlns:r="http://schemas.openxmlformats.org/officeDocument/2006/relationships" id="270" r:id="R87e65a5ee032417c"/>
    <p:sldId xmlns:r="http://schemas.openxmlformats.org/officeDocument/2006/relationships" id="271" r:id="R09e8a942f9714875"/>
    <p:sldId xmlns:r="http://schemas.openxmlformats.org/officeDocument/2006/relationships" id="272" r:id="R7c3763518eae479e"/>
    <p:sldId xmlns:r="http://schemas.openxmlformats.org/officeDocument/2006/relationships" id="273" r:id="R5d6be510d5ce45bd"/>
    <p:sldId xmlns:r="http://schemas.openxmlformats.org/officeDocument/2006/relationships" id="274" r:id="R7d9456742b3f49b6"/>
    <p:sldId xmlns:r="http://schemas.openxmlformats.org/officeDocument/2006/relationships" id="275" r:id="R8293a11822554914"/>
    <p:sldId xmlns:r="http://schemas.openxmlformats.org/officeDocument/2006/relationships" id="276" r:id="R0f0f55c2625d48ab"/>
    <p:sldId xmlns:r="http://schemas.openxmlformats.org/officeDocument/2006/relationships" id="277" r:id="R9f63f8e042f64a92"/>
    <p:sldId xmlns:r="http://schemas.openxmlformats.org/officeDocument/2006/relationships" id="278" r:id="R278904da92d44d5b"/>
    <p:sldId xmlns:r="http://schemas.openxmlformats.org/officeDocument/2006/relationships" id="279" r:id="R972e6f22ce79435a"/>
    <p:sldId xmlns:r="http://schemas.openxmlformats.org/officeDocument/2006/relationships" id="280" r:id="R57fbea0a70e34724"/>
    <p:sldId xmlns:r="http://schemas.openxmlformats.org/officeDocument/2006/relationships" id="281" r:id="R92ec5a5e678c4263"/>
    <p:sldId xmlns:r="http://schemas.openxmlformats.org/officeDocument/2006/relationships" id="282" r:id="R180056e5dc50429c"/>
    <p:sldId xmlns:r="http://schemas.openxmlformats.org/officeDocument/2006/relationships" id="283" r:id="Rc6fbb33f6a5d4d36"/>
    <p:sldId xmlns:r="http://schemas.openxmlformats.org/officeDocument/2006/relationships" id="284" r:id="Rfdaf3a7e4d914eab"/>
    <p:sldId xmlns:r="http://schemas.openxmlformats.org/officeDocument/2006/relationships" id="285" r:id="R56cb12e87ee647d6"/>
    <p:sldId xmlns:r="http://schemas.openxmlformats.org/officeDocument/2006/relationships" id="286" r:id="R74a7d592ada64621"/>
    <p:sldId xmlns:r="http://schemas.openxmlformats.org/officeDocument/2006/relationships" id="287" r:id="Rf46b9f0728174da8"/>
    <p:sldId xmlns:r="http://schemas.openxmlformats.org/officeDocument/2006/relationships" id="288" r:id="R639c746f14fa4d34"/>
    <p:sldId xmlns:r="http://schemas.openxmlformats.org/officeDocument/2006/relationships" id="289" r:id="R26e77fcb2d9846cf"/>
    <p:sldId xmlns:r="http://schemas.openxmlformats.org/officeDocument/2006/relationships" id="290" r:id="Rce15ff71639a45e5"/>
    <p:sldId xmlns:r="http://schemas.openxmlformats.org/officeDocument/2006/relationships" id="291" r:id="Re1e2e238166e44d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30db9be4be456a" /><Relationship Type="http://schemas.openxmlformats.org/officeDocument/2006/relationships/slideMaster" Target="/ppt/slideMasters/slideMaster1.xml" Id="Rb39264906190410a" /><Relationship Type="http://schemas.openxmlformats.org/officeDocument/2006/relationships/notesMaster" Target="/ppt/notesMasters/notesMaster1.xml" Id="R64f9bf74f5444229" /><Relationship Type="http://schemas.openxmlformats.org/officeDocument/2006/relationships/presProps" Target="/ppt/presProps.xml" Id="R99bb1e374396406a" /><Relationship Type="http://schemas.openxmlformats.org/officeDocument/2006/relationships/tableStyles" Target="/ppt/tableStyles.xml" Id="Re22ed220ceb4448f" /><Relationship Type="http://schemas.openxmlformats.org/officeDocument/2006/relationships/slide" Target="/ppt/slides/slide1.xml" Id="R8251d8e6c1c7405f" /><Relationship Type="http://schemas.openxmlformats.org/officeDocument/2006/relationships/slide" Target="/ppt/slides/slide2.xml" Id="Rba5f46e38fd54d8a" /><Relationship Type="http://schemas.openxmlformats.org/officeDocument/2006/relationships/slide" Target="/ppt/slides/slide3.xml" Id="Rf8e417bddd984c16" /><Relationship Type="http://schemas.openxmlformats.org/officeDocument/2006/relationships/slide" Target="/ppt/slides/slide4.xml" Id="Rc5aff32c62344202" /><Relationship Type="http://schemas.openxmlformats.org/officeDocument/2006/relationships/slide" Target="/ppt/slides/slide5.xml" Id="R503587c3f9104f5e" /><Relationship Type="http://schemas.openxmlformats.org/officeDocument/2006/relationships/slide" Target="/ppt/slides/slide6.xml" Id="R3f17cdcf45224396" /><Relationship Type="http://schemas.openxmlformats.org/officeDocument/2006/relationships/slide" Target="/ppt/slides/slide7.xml" Id="R2a2fbd165e25490d" /><Relationship Type="http://schemas.openxmlformats.org/officeDocument/2006/relationships/slide" Target="/ppt/slides/slide8.xml" Id="Ra9bdc723815f4b90" /><Relationship Type="http://schemas.openxmlformats.org/officeDocument/2006/relationships/slide" Target="/ppt/slides/slide9.xml" Id="Re748c98ea1e04056" /><Relationship Type="http://schemas.openxmlformats.org/officeDocument/2006/relationships/slide" Target="/ppt/slides/slide10.xml" Id="Rc61b43e3f66d4ec7" /><Relationship Type="http://schemas.openxmlformats.org/officeDocument/2006/relationships/slide" Target="/ppt/slides/slide11.xml" Id="R036f5b52331f4f6e" /><Relationship Type="http://schemas.openxmlformats.org/officeDocument/2006/relationships/slide" Target="/ppt/slides/slide12.xml" Id="R60c5ba65bf8149bb" /><Relationship Type="http://schemas.openxmlformats.org/officeDocument/2006/relationships/slide" Target="/ppt/slides/slide13.xml" Id="R4542ea4031aa450a" /><Relationship Type="http://schemas.openxmlformats.org/officeDocument/2006/relationships/slide" Target="/ppt/slides/slide14.xml" Id="R83d6b62db2904a2c" /><Relationship Type="http://schemas.openxmlformats.org/officeDocument/2006/relationships/slide" Target="/ppt/slides/slide15.xml" Id="R87e65a5ee032417c" /><Relationship Type="http://schemas.openxmlformats.org/officeDocument/2006/relationships/slide" Target="/ppt/slides/slide16.xml" Id="R09e8a942f9714875" /><Relationship Type="http://schemas.openxmlformats.org/officeDocument/2006/relationships/slide" Target="/ppt/slides/slide17.xml" Id="R7c3763518eae479e" /><Relationship Type="http://schemas.openxmlformats.org/officeDocument/2006/relationships/slide" Target="/ppt/slides/slide18.xml" Id="R5d6be510d5ce45bd" /><Relationship Type="http://schemas.openxmlformats.org/officeDocument/2006/relationships/slide" Target="/ppt/slides/slide19.xml" Id="R7d9456742b3f49b6" /><Relationship Type="http://schemas.openxmlformats.org/officeDocument/2006/relationships/slide" Target="/ppt/slides/slide20.xml" Id="R8293a11822554914" /><Relationship Type="http://schemas.openxmlformats.org/officeDocument/2006/relationships/slide" Target="/ppt/slides/slide21.xml" Id="R0f0f55c2625d48ab" /><Relationship Type="http://schemas.openxmlformats.org/officeDocument/2006/relationships/slide" Target="/ppt/slides/slide22.xml" Id="R9f63f8e042f64a92" /><Relationship Type="http://schemas.openxmlformats.org/officeDocument/2006/relationships/slide" Target="/ppt/slides/slide23.xml" Id="R278904da92d44d5b" /><Relationship Type="http://schemas.openxmlformats.org/officeDocument/2006/relationships/slide" Target="/ppt/slides/slide24.xml" Id="R972e6f22ce79435a" /><Relationship Type="http://schemas.openxmlformats.org/officeDocument/2006/relationships/slide" Target="/ppt/slides/slide25.xml" Id="R57fbea0a70e34724" /><Relationship Type="http://schemas.openxmlformats.org/officeDocument/2006/relationships/slide" Target="/ppt/slides/slide26.xml" Id="R92ec5a5e678c4263" /><Relationship Type="http://schemas.openxmlformats.org/officeDocument/2006/relationships/slide" Target="/ppt/slides/slide27.xml" Id="R180056e5dc50429c" /><Relationship Type="http://schemas.openxmlformats.org/officeDocument/2006/relationships/slide" Target="/ppt/slides/slide28.xml" Id="Rc6fbb33f6a5d4d36" /><Relationship Type="http://schemas.openxmlformats.org/officeDocument/2006/relationships/slide" Target="/ppt/slides/slide29.xml" Id="Rfdaf3a7e4d914eab" /><Relationship Type="http://schemas.openxmlformats.org/officeDocument/2006/relationships/slide" Target="/ppt/slides/slide30.xml" Id="R56cb12e87ee647d6" /><Relationship Type="http://schemas.openxmlformats.org/officeDocument/2006/relationships/slide" Target="/ppt/slides/slide31.xml" Id="R74a7d592ada64621" /><Relationship Type="http://schemas.openxmlformats.org/officeDocument/2006/relationships/slide" Target="/ppt/slides/slide32.xml" Id="Rf46b9f0728174da8" /><Relationship Type="http://schemas.openxmlformats.org/officeDocument/2006/relationships/slide" Target="/ppt/slides/slide33.xml" Id="R639c746f14fa4d34" /><Relationship Type="http://schemas.openxmlformats.org/officeDocument/2006/relationships/slide" Target="/ppt/slides/slide34.xml" Id="R26e77fcb2d9846cf" /><Relationship Type="http://schemas.openxmlformats.org/officeDocument/2006/relationships/slide" Target="/ppt/slides/slide35.xml" Id="Rce15ff71639a45e5" /><Relationship Type="http://schemas.openxmlformats.org/officeDocument/2006/relationships/slide" Target="/ppt/slides/slide36.xml" Id="Re1e2e238166e44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564a2a5a0a42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a6991d550a4c17" /><Relationship Type="http://schemas.openxmlformats.org/officeDocument/2006/relationships/notesMaster" Target="/ppt/notesMasters/notesMaster1.xml" Id="R16abc3cc859244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60af9c0b9c4b92" /><Relationship Type="http://schemas.openxmlformats.org/officeDocument/2006/relationships/notesMaster" Target="/ppt/notesMasters/notesMaster1.xml" Id="R3b57c3562aeb42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29f86195134625" /><Relationship Type="http://schemas.openxmlformats.org/officeDocument/2006/relationships/notesMaster" Target="/ppt/notesMasters/notesMaster1.xml" Id="R755f01d821cc46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6f9ada5697443f" /><Relationship Type="http://schemas.openxmlformats.org/officeDocument/2006/relationships/notesMaster" Target="/ppt/notesMasters/notesMaster1.xml" Id="R348a6abde6da48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2dbe1c6eb94a34" /><Relationship Type="http://schemas.openxmlformats.org/officeDocument/2006/relationships/notesMaster" Target="/ppt/notesMasters/notesMaster1.xml" Id="R922576f3bd7444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21f65449204d8e" /><Relationship Type="http://schemas.openxmlformats.org/officeDocument/2006/relationships/notesMaster" Target="/ppt/notesMasters/notesMaster1.xml" Id="R4a4c25723a824a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37cd4960f74b32" /><Relationship Type="http://schemas.openxmlformats.org/officeDocument/2006/relationships/notesMaster" Target="/ppt/notesMasters/notesMaster1.xml" Id="Rc92124204ee74e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227531b15048b9" /><Relationship Type="http://schemas.openxmlformats.org/officeDocument/2006/relationships/notesMaster" Target="/ppt/notesMasters/notesMaster1.xml" Id="R224aa32eff4546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3771910de14841" /><Relationship Type="http://schemas.openxmlformats.org/officeDocument/2006/relationships/notesMaster" Target="/ppt/notesMasters/notesMaster1.xml" Id="R2c147cf7b4d143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1e7b302d2d47ef" /><Relationship Type="http://schemas.openxmlformats.org/officeDocument/2006/relationships/notesMaster" Target="/ppt/notesMasters/notesMaster1.xml" Id="Rf8bf7a3374ab47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7fba1351624615" /><Relationship Type="http://schemas.openxmlformats.org/officeDocument/2006/relationships/notesMaster" Target="/ppt/notesMasters/notesMaster1.xml" Id="R89bc48b236464a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32cc80f93c479a" /><Relationship Type="http://schemas.openxmlformats.org/officeDocument/2006/relationships/notesMaster" Target="/ppt/notesMasters/notesMaster1.xml" Id="R410990d8522046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6d6459c2434e8f" /><Relationship Type="http://schemas.openxmlformats.org/officeDocument/2006/relationships/notesMaster" Target="/ppt/notesMasters/notesMaster1.xml" Id="Rc0cdcf29a47549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8210f188f345de" /><Relationship Type="http://schemas.openxmlformats.org/officeDocument/2006/relationships/notesMaster" Target="/ppt/notesMasters/notesMaster1.xml" Id="R5591c3e398c84f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3fab6ec8f54a9c" /><Relationship Type="http://schemas.openxmlformats.org/officeDocument/2006/relationships/notesMaster" Target="/ppt/notesMasters/notesMaster1.xml" Id="R48338e860f3746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563a12ddda14170" /><Relationship Type="http://schemas.openxmlformats.org/officeDocument/2006/relationships/notesMaster" Target="/ppt/notesMasters/notesMaster1.xml" Id="Ra4e44c98c90345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3ebd04175e4e61" /><Relationship Type="http://schemas.openxmlformats.org/officeDocument/2006/relationships/notesMaster" Target="/ppt/notesMasters/notesMaster1.xml" Id="R32d03364c86840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5000059a7764da7" /><Relationship Type="http://schemas.openxmlformats.org/officeDocument/2006/relationships/notesMaster" Target="/ppt/notesMasters/notesMaster1.xml" Id="R5dcbe812225949f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1d7cbce4efd429f" /><Relationship Type="http://schemas.openxmlformats.org/officeDocument/2006/relationships/notesMaster" Target="/ppt/notesMasters/notesMaster1.xml" Id="R1da1bdf8eab848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a512d50fefb48f9" /><Relationship Type="http://schemas.openxmlformats.org/officeDocument/2006/relationships/notesMaster" Target="/ppt/notesMasters/notesMaster1.xml" Id="Rdcd47557e581413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e30bda06e144554" /><Relationship Type="http://schemas.openxmlformats.org/officeDocument/2006/relationships/notesMaster" Target="/ppt/notesMasters/notesMaster1.xml" Id="R634da1bb3ba3438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36e8ea317ab42c8" /><Relationship Type="http://schemas.openxmlformats.org/officeDocument/2006/relationships/notesMaster" Target="/ppt/notesMasters/notesMaster1.xml" Id="Rddaf59827d904ad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c0b740e71d84b86" /><Relationship Type="http://schemas.openxmlformats.org/officeDocument/2006/relationships/notesMaster" Target="/ppt/notesMasters/notesMaster1.xml" Id="Radc5299ef88b408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168f7cc27334b97" /><Relationship Type="http://schemas.openxmlformats.org/officeDocument/2006/relationships/notesMaster" Target="/ppt/notesMasters/notesMaster1.xml" Id="R047d94e8558c47e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701455fdc284d8d" /><Relationship Type="http://schemas.openxmlformats.org/officeDocument/2006/relationships/notesMaster" Target="/ppt/notesMasters/notesMaster1.xml" Id="Re77be8dc4d5f4f4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d11207b1ad34b64" /><Relationship Type="http://schemas.openxmlformats.org/officeDocument/2006/relationships/notesMaster" Target="/ppt/notesMasters/notesMaster1.xml" Id="R21939e41c3f6440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892ead07be242e3" /><Relationship Type="http://schemas.openxmlformats.org/officeDocument/2006/relationships/notesMaster" Target="/ppt/notesMasters/notesMaster1.xml" Id="Rf749714d6ecf463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c13d2b909a74723" /><Relationship Type="http://schemas.openxmlformats.org/officeDocument/2006/relationships/notesMaster" Target="/ppt/notesMasters/notesMaster1.xml" Id="R7dbb74ec746a4c9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5b9aeefa004f81" /><Relationship Type="http://schemas.openxmlformats.org/officeDocument/2006/relationships/notesMaster" Target="/ppt/notesMasters/notesMaster1.xml" Id="Rb607f45f72044fa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0b148672f024168" /><Relationship Type="http://schemas.openxmlformats.org/officeDocument/2006/relationships/notesMaster" Target="/ppt/notesMasters/notesMaster1.xml" Id="R539354c8b529476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9c74c0dff7b4417" /><Relationship Type="http://schemas.openxmlformats.org/officeDocument/2006/relationships/notesMaster" Target="/ppt/notesMasters/notesMaster1.xml" Id="Rc27c135a212b4e5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36771cb76e34f84" /><Relationship Type="http://schemas.openxmlformats.org/officeDocument/2006/relationships/notesMaster" Target="/ppt/notesMasters/notesMaster1.xml" Id="Rd2ac2fcf83f8439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b9e3319ec7c48c7" /><Relationship Type="http://schemas.openxmlformats.org/officeDocument/2006/relationships/notesMaster" Target="/ppt/notesMasters/notesMaster1.xml" Id="R404fd88f950845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494298fff784739" /><Relationship Type="http://schemas.openxmlformats.org/officeDocument/2006/relationships/notesMaster" Target="/ppt/notesMasters/notesMaster1.xml" Id="R8ac0d8577d654a3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49f186938194139" /><Relationship Type="http://schemas.openxmlformats.org/officeDocument/2006/relationships/notesMaster" Target="/ppt/notesMasters/notesMaster1.xml" Id="R2b9065db7663415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48b28cb9409484c" /><Relationship Type="http://schemas.openxmlformats.org/officeDocument/2006/relationships/notesMaster" Target="/ppt/notesMasters/notesMaster1.xml" Id="R68ee5b5dedf440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lesson teaches lightweight spec-driven development for biomedical tools. It adapts SDD ideas from the provided sources and official Spec Kit docs, with emphasis on biomedical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今天的核心能力是把願望改寫成可驗證的工具合約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解釋為什麼 agent 動手前要先有 spec 把模糊需求拆成 input、output、boundary、error、validation 替 PubMed extractor、gene annotation、trial summarizer 寫出最小可用規格 知道 SDD 何時有用，何時會變成文件負擔 90 分鐘後: 能寫 SPEC.md 能問 clarification 能定義 acceptance criteria 能交給 coding agent 實作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工具最怕的不是不能跑，而是跑出看似合理的錯結果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文獻 evidence extractor 可能編造 PMID 或混淆模型推測 Gene annotation tool 可能混用物種、舊名與 approved symbol Clinical trial summarizer 可能把 recruitment status 或 eligibility 寫錯 先寫 spec 是先定義什麼叫做正確，而不是先叫 AI 寫 code Spec 的工作: 限制猜測空間 把錯誤變可見 讓測試有依據 讓 review 有標準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這幾篇文章的共同結論：SDD 有用，但不能變成 Markdown 堆高機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正面 | 先釐清 what/why、acceptance criteria、design、tasks | 用規格降低 agent 猜測</a:t>
            </a:r>
          </a:p>
          <a:p xmlns:a="http://schemas.openxmlformats.org/drawingml/2006/main">
            <a:r>
              <a:t>警告 | 文件過量、spec drift、假安全感、雙重 review | 只寫能被驗證的最小規格</a:t>
            </a:r>
          </a:p>
          <a:p xmlns:a="http://schemas.openxmlformats.org/drawingml/2006/main">
            <a:r>
              <a:t>工具 | Spec Kit、OpenSpec、Spectra 提供流程與狀態追蹤 | 工具當 scaffold，不取代工程判斷</a:t>
            </a:r>
          </a:p>
          <a:p xmlns:a="http://schemas.openxmlformats.org/drawingml/2006/main">
            <a:r>
              <a:t>生醫調整 | 把來源、not found、review gate 寫進規格 | 避免把推測偽裝成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好的 spec 不是作文，而是三方共同遵守的合約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Human: 負責定義意圖、限制、風險和 review gate。</a:t>
            </a:r>
          </a:p>
          <a:p xmlns:a="http://schemas.openxmlformats.org/drawingml/2006/main">
            <a:r>
              <a:t>Agent: 依照規格讀檔、改程式、產生測試與回報差異。</a:t>
            </a:r>
          </a:p>
          <a:p xmlns:a="http://schemas.openxmlformats.org/drawingml/2006/main">
            <a:r>
              <a:t>Validator: 用 schema、fixtures、golden outputs 和命令檢查結果。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SDD 的流程應該支援迭代，不是把人鎖進瀑布流程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Discuss: 先釐清研究任務與風險</a:t>
            </a:r>
          </a:p>
          <a:p xmlns:a="http://schemas.openxmlformats.org/drawingml/2006/main">
            <a:r>
              <a:t>2. Specify: 寫 what/why 和驗收標準</a:t>
            </a:r>
          </a:p>
          <a:p xmlns:a="http://schemas.openxmlformats.org/drawingml/2006/main">
            <a:r>
              <a:t>3. Plan: 決定資料源、介面、測試</a:t>
            </a:r>
          </a:p>
          <a:p xmlns:a="http://schemas.openxmlformats.org/drawingml/2006/main">
            <a:r>
              <a:t>4. Tasks: 拆成可 review 小任務</a:t>
            </a:r>
          </a:p>
          <a:p xmlns:a="http://schemas.openxmlformats.org/drawingml/2006/main">
            <a:r>
              <a:t>5. Build: agent 小 patch 實作</a:t>
            </a:r>
          </a:p>
          <a:p xmlns:a="http://schemas.openxmlformats.org/drawingml/2006/main">
            <a:r>
              <a:t>6. Update: 結果回寫 spec 與限制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Prompt 是一次指令；spec 是可以版本控制的共同記憶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生命週期 | 一次對話中的指令 | 跟 repo 一起演進</a:t>
            </a:r>
          </a:p>
          <a:p xmlns:a="http://schemas.openxmlformats.org/drawingml/2006/main">
            <a:r>
              <a:t>可審查性 | 容易散在聊天紀錄 | 可被 reviewer、助教、agent 反覆檢查</a:t>
            </a:r>
          </a:p>
          <a:p xmlns:a="http://schemas.openxmlformats.org/drawingml/2006/main">
            <a:r>
              <a:t>測試關係 | 常只描述想要什麼 | 明確列出 acceptance criteria</a:t>
            </a:r>
          </a:p>
          <a:p xmlns:a="http://schemas.openxmlformats.org/drawingml/2006/main">
            <a:r>
              <a:t>失敗處理 | 常靠 agent 自己補 | 先定義錯誤、not found、human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生醫工具的最小 SPEC.md 要回答九個問題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| 工具要解決的研究任務 | 把 exploratory 和 production 混在一起</a:t>
            </a:r>
          </a:p>
          <a:p xmlns:a="http://schemas.openxmlformats.org/drawingml/2006/main">
            <a:r>
              <a:t>Inputs | 格式、必填欄位、版本、資料源 | 只寫檔名，不寫 schema</a:t>
            </a:r>
          </a:p>
          <a:p xmlns:a="http://schemas.openxmlformats.org/drawingml/2006/main">
            <a:r>
              <a:t>Outputs | 欄位、型別、允許值、排序 | 輸出看起來整齊但不能驗證</a:t>
            </a:r>
          </a:p>
          <a:p xmlns:a="http://schemas.openxmlformats.org/drawingml/2006/main">
            <a:r>
              <a:t>Boundaries | 物種、疾病、日期、資料庫、隱私限制 | agent 自行擴大範圍</a:t>
            </a:r>
          </a:p>
          <a:p xmlns:a="http://schemas.openxmlformats.org/drawingml/2006/main">
            <a:r>
              <a:t>Validation | fixtures、golden outputs、命令、通過標準 | 只說 manually checked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模糊需求要先變成問題清單，不要直接變成 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Vague request:</a:t>
            </a:r>
          </a:p>
          <a:p xmlns:a="http://schemas.openxmlformats.org/drawingml/2006/main">
            <a:r>
              <a:t>幫我做一個工具，輸入一些基因，</a:t>
            </a:r>
          </a:p>
          <a:p xmlns:a="http://schemas.openxmlformats.org/drawingml/2006/main">
            <a:r>
              <a:t>然後整理跟癌症和藥物有關的資料。</a:t>
            </a:r>
          </a:p>
          <a:p xmlns:a="http://schemas.openxmlformats.org/drawingml/2006/main">
            <a:r>
              <a:t>最好可以輸出成表格。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先問: 人類還是小鼠？ 癌症範圍是 pan-cancer 還是單癌種？ 證據來源允許哪些資料庫？ 找不到資料要怎麼寫？ 輸出欄位和驗收標準是什麼？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可測試需求要有觸發條件、行為與可檢查結果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Requirement pattern:</a:t>
            </a:r>
          </a:p>
          <a:p xmlns:a="http://schemas.openxmlformats.org/drawingml/2006/main">
            <a:r>
              <a:t>WHEN the input row contains an invalid gene symbol</a:t>
            </a:r>
          </a:p>
          <a:p xmlns:a="http://schemas.openxmlformats.org/drawingml/2006/main">
            <a:r>
              <a:t>THEN the tool SHALL mark status = "invalid_symbol"</a:t>
            </a:r>
          </a:p>
          <a:p xmlns:a="http://schemas.openxmlformats.org/drawingml/2006/main">
            <a:r>
              <a:t>AND SHALL preserve the original input string</a:t>
            </a:r>
          </a:p>
          <a:p xmlns:a="http://schemas.openxmlformats.org/drawingml/2006/main">
            <a:r>
              <a:t>AND SHALL NOT infer a replacement symbol without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no PubMed evidence is found</a:t>
            </a:r>
          </a:p>
          <a:p xmlns:a="http://schemas.openxmlformats.org/drawingml/2006/main">
            <a:r>
              <a:t>THEN the tool SHALL set evidence_status = "not_found"</a:t>
            </a:r>
          </a:p>
          <a:p xmlns:a="http://schemas.openxmlformats.org/drawingml/2006/main">
            <a:r>
              <a:t>AND SHALL leave pmid empty.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每個工具都要先定義四個檢查點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Input: 接受什麼、拒絕什麼、如何報錯、資料版本如何記錄。</a:t>
            </a:r>
          </a:p>
          <a:p xmlns:a="http://schemas.openxmlformats.org/drawingml/2006/main">
            <a:r>
              <a:t>Output: 欄位、型別、允許值、空值規則與排序。</a:t>
            </a:r>
          </a:p>
          <a:p xmlns:a="http://schemas.openxmlformats.org/drawingml/2006/main">
            <a:r>
              <a:t>Validation: sample fixtures、golden file、unit tests、not found cases。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把『整理文獻』改成可驗證需求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Before:</a:t>
            </a:r>
          </a:p>
          <a:p xmlns:a="http://schemas.openxmlformats.org/drawingml/2006/main">
            <a:r>
              <a:t>請幫我搜尋 PubMed，</a:t>
            </a:r>
          </a:p>
          <a:p xmlns:a="http://schemas.openxmlformats.org/drawingml/2006/main">
            <a:r>
              <a:t>整理 EGFR 跟肺癌治療的文獻，</a:t>
            </a:r>
          </a:p>
          <a:p xmlns:a="http://schemas.openxmlformats.org/drawingml/2006/main">
            <a:r>
              <a:t>做成 evidence 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After: 輸入：gene、disease、query_date 來源：PubMed only 輸出：PMID、title、study_type、claim 不確定：寫 needs_review 找不到：寫 not_found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 input spec 要限制搜尋範圍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 | string | HGNC approved symbol；原始輸入另存 original_gene</a:t>
            </a:r>
          </a:p>
          <a:p xmlns:a="http://schemas.openxmlformats.org/drawingml/2006/main">
            <a:r>
              <a:t>disease | string | 使用指定疾病詞，不讓 agent 自行擴大癌種</a:t>
            </a:r>
          </a:p>
          <a:p xmlns:a="http://schemas.openxmlformats.org/drawingml/2006/main">
            <a:r>
              <a:t>query | string | 可由工具生成，但必須保存實際搜尋字串</a:t>
            </a:r>
          </a:p>
          <a:p xmlns:a="http://schemas.openxmlformats.org/drawingml/2006/main">
            <a:r>
              <a:t>max_records | integer | 預設 20，上限 100，避免不可審查輸出</a:t>
            </a:r>
          </a:p>
          <a:p xmlns:a="http://schemas.openxmlformats.org/drawingml/2006/main">
            <a:r>
              <a:t>query_date | date | 保存搜尋日期，讓結果可重現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table 必須把文獻證據和模型推測分開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pmid: string</a:t>
            </a:r>
          </a:p>
          <a:p xmlns:a="http://schemas.openxmlformats.org/drawingml/2006/main">
            <a:r>
              <a:t>title: string</a:t>
            </a:r>
          </a:p>
          <a:p xmlns:a="http://schemas.openxmlformats.org/drawingml/2006/main">
            <a:r>
              <a:t>year: integer</a:t>
            </a:r>
          </a:p>
          <a:p xmlns:a="http://schemas.openxmlformats.org/drawingml/2006/main">
            <a:r>
              <a:t>journal: string</a:t>
            </a:r>
          </a:p>
          <a:p xmlns:a="http://schemas.openxmlformats.org/drawingml/2006/main">
            <a:r>
              <a:t>entity: gene | disease | drug | variant</a:t>
            </a:r>
          </a:p>
          <a:p xmlns:a="http://schemas.openxmlformats.org/drawingml/2006/main">
            <a:r>
              <a:t>claim: string</a:t>
            </a:r>
          </a:p>
          <a:p xmlns:a="http://schemas.openxmlformats.org/drawingml/2006/main">
            <a:r>
              <a:t>evidence_type: clinical | cohort | preclinical | review</a:t>
            </a:r>
          </a:p>
          <a:p xmlns:a="http://schemas.openxmlformats.org/drawingml/2006/main">
            <a:r>
              <a:t>evidence_status: supported | conflicting | not_found</a:t>
            </a:r>
          </a:p>
          <a:p xmlns:a="http://schemas.openxmlformats.org/drawingml/2006/main">
            <a:r>
              <a:t>model_inference: string</a:t>
            </a:r>
          </a:p>
          <a:p xmlns:a="http://schemas.openxmlformats.org/drawingml/2006/main">
            <a:r>
              <a:t>review_status: pass | needs_review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核心規則: PMID 不得編造 claim 只寫來源支持的內容 推測放 model_inference review_status 可擋高風險輸出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的邊界要直接寫進 spec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 | 只使用 PubMed metadata 或明確提供的 abstract | 標記 source_missing</a:t>
            </a:r>
          </a:p>
          <a:p xmlns:a="http://schemas.openxmlformats.org/drawingml/2006/main">
            <a:r>
              <a:t>Clinical claim | 不得產生治療建議 | needs_human_review</a:t>
            </a:r>
          </a:p>
          <a:p xmlns:a="http://schemas.openxmlformats.org/drawingml/2006/main">
            <a:r>
              <a:t>Study type | 無法判斷時不得猜 | unknown</a:t>
            </a:r>
          </a:p>
          <a:p xmlns:a="http://schemas.openxmlformats.org/drawingml/2006/main">
            <a:r>
              <a:t>Conflict | 相反結論要分列 | conflicting</a:t>
            </a:r>
          </a:p>
          <a:p xmlns:a="http://schemas.openxmlformats.org/drawingml/2006/main">
            <a:r>
              <a:t>No evidence | 不得補常識或模型記憶 | not_found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 acceptance criteria 要能用 fixtures 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給定含 3 筆 PMID 的 fixture，輸出列數必須等於 fixture record 數 每列 PMID 必須存在且不得重複 `not_found` case 不得有 claim 或 model-generated PMID 任何 therapeutic implication 都必須標記 `needs_review` 測試命令: pytest -q schema validation golden CSV diff PMID existence check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annotation 的 input spec 必須保留原始值與物種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gene_input | 保留原始字串，不可覆蓋 | review 時需要追溯</a:t>
            </a:r>
          </a:p>
          <a:p xmlns:a="http://schemas.openxmlformats.org/drawingml/2006/main">
            <a:r>
              <a:t>species | 預設 human；可接受 mouse 但要明示 | 避免跨物種混淆</a:t>
            </a:r>
          </a:p>
          <a:p xmlns:a="http://schemas.openxmlformats.org/drawingml/2006/main">
            <a:r>
              <a:t>source | HGNC / NCBI Gene / Ensembl 擇一或多個 | 資料庫版本影響結果</a:t>
            </a:r>
          </a:p>
          <a:p xmlns:a="http://schemas.openxmlformats.org/drawingml/2006/main">
            <a:r>
              <a:t>allow_synonym | 預設 false；若 true 要列出 evidence | 避免自行替換</a:t>
            </a:r>
          </a:p>
          <a:p xmlns:a="http://schemas.openxmlformats.org/drawingml/2006/main">
            <a:r>
              <a:t>batch_id | 保存本批輸入與版本 | 輸出可重跑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Annotation output 要同時服務機器檢查與人工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gene_input</a:t>
            </a:r>
          </a:p>
          <a:p xmlns:a="http://schemas.openxmlformats.org/drawingml/2006/main">
            <a:r>
              <a:t>approved_symbol</a:t>
            </a:r>
          </a:p>
          <a:p xmlns:a="http://schemas.openxmlformats.org/drawingml/2006/main">
            <a:r>
              <a:t>gene_id</a:t>
            </a:r>
          </a:p>
          <a:p xmlns:a="http://schemas.openxmlformats.org/drawingml/2006/main">
            <a:r>
              <a:t>species</a:t>
            </a:r>
          </a:p>
          <a:p xmlns:a="http://schemas.openxmlformats.org/drawingml/2006/main">
            <a:r>
              <a:t>match_type: exact | synonym | withdrawn | not_found</a:t>
            </a:r>
          </a:p>
          <a:p xmlns:a="http://schemas.openxmlformats.org/drawingml/2006/main">
            <a:r>
              <a:t>confidence: high | medium | low</a:t>
            </a:r>
          </a:p>
          <a:p xmlns:a="http://schemas.openxmlformats.org/drawingml/2006/main">
            <a:r>
              <a:t>evidence_source</a:t>
            </a:r>
          </a:p>
          <a:p xmlns:a="http://schemas.openxmlformats.org/drawingml/2006/main">
            <a:r>
              <a:t>evidence_version</a:t>
            </a:r>
          </a:p>
          <a:p xmlns:a="http://schemas.openxmlformats.org/drawingml/2006/main">
            <a:r>
              <a:t>message</a:t>
            </a:r>
          </a:p>
          <a:p xmlns:a="http://schemas.openxmlformats.org/drawingml/2006/main">
            <a:r>
              <a:t>review_status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注意: not_found 是合法輸出 synonym 需要來源 confidence 不等於臨床證據等級 保留 message 給人工審查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list tool 要先決定什麼不能自動做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舊名 | 可標記 withdrawn，但不可自動替換成 approved | 避免錯誤合併</a:t>
            </a:r>
          </a:p>
          <a:p xmlns:a="http://schemas.openxmlformats.org/drawingml/2006/main">
            <a:r>
              <a:t>跨物種 | species 不明時 needs_review | 同名基因可能不同</a:t>
            </a:r>
          </a:p>
          <a:p xmlns:a="http://schemas.openxmlformats.org/drawingml/2006/main">
            <a:r>
              <a:t>多重 match | 列出候選，不選唯一答案 | 降低錯 annotation</a:t>
            </a:r>
          </a:p>
          <a:p xmlns:a="http://schemas.openxmlformats.org/drawingml/2006/main">
            <a:r>
              <a:t>非 gene term | 標記 invalid_input | 不要把 pathway 或 drug 當 gene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annotation 的測試要包含正常、舊名、找不到與跨物種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Fixture 至少包含 TP53、ERBB2、舊名、錯拼、mouse-only symbol Golden output 固定 `match_type`、`review_status`、`message` 資料庫版本或 retrieval date 要出現在 output metadata 更新資料庫版本時 golden output 可以變，但必須在 changelog 說明 最小驗收: schema pass golden pass no silent correction version recorded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trial summarizer 的 input spec 要鎖定來源與日期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nct_id | 必填；格式 `NCT` + 8 digits | 避免錯 trial</a:t>
            </a:r>
          </a:p>
          <a:p xmlns:a="http://schemas.openxmlformats.org/drawingml/2006/main">
            <a:r>
              <a:t>source_record | ClinicalTrials.gov record 或本地 JSON | 不靠模型記憶</a:t>
            </a:r>
          </a:p>
          <a:p xmlns:a="http://schemas.openxmlformats.org/drawingml/2006/main">
            <a:r>
              <a:t>retrieved_date | 必填 | 狀態會變動</a:t>
            </a:r>
          </a:p>
          <a:p xmlns:a="http://schemas.openxmlformats.org/drawingml/2006/main">
            <a:r>
              <a:t>summary_scope | status、phase、criteria、intervention、outcomes | 避免亂擴充</a:t>
            </a:r>
          </a:p>
          <a:p xmlns:a="http://schemas.openxmlformats.org/drawingml/2006/main">
            <a:r>
              <a:t>audience | research note only | 避免臨床建議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Trial summary 要保留 eligibility 與 status 的原始依據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nct_id</a:t>
            </a:r>
          </a:p>
          <a:p xmlns:a="http://schemas.openxmlformats.org/drawingml/2006/main">
            <a:r>
              <a:t>official_title</a:t>
            </a:r>
          </a:p>
          <a:p xmlns:a="http://schemas.openxmlformats.org/drawingml/2006/main">
            <a:r>
              <a:t>phase</a:t>
            </a:r>
          </a:p>
          <a:p xmlns:a="http://schemas.openxmlformats.org/drawingml/2006/main">
            <a:r>
              <a:t>recruitment_status</a:t>
            </a:r>
          </a:p>
          <a:p xmlns:a="http://schemas.openxmlformats.org/drawingml/2006/main">
            <a:r>
              <a:t>condition</a:t>
            </a:r>
          </a:p>
          <a:p xmlns:a="http://schemas.openxmlformats.org/drawingml/2006/main">
            <a:r>
              <a:t>interventions[]</a:t>
            </a:r>
          </a:p>
          <a:p xmlns:a="http://schemas.openxmlformats.org/drawingml/2006/main">
            <a:r>
              <a:t>primary_outcomes[]</a:t>
            </a:r>
          </a:p>
          <a:p xmlns:a="http://schemas.openxmlformats.org/drawingml/2006/main">
            <a:r>
              <a:t>inclusion_summary</a:t>
            </a:r>
          </a:p>
          <a:p xmlns:a="http://schemas.openxmlformats.org/drawingml/2006/main">
            <a:r>
              <a:t>exclusion_summary</a:t>
            </a:r>
          </a:p>
          <a:p xmlns:a="http://schemas.openxmlformats.org/drawingml/2006/main">
            <a:r>
              <a:t>source_fields[]</a:t>
            </a:r>
          </a:p>
          <a:p xmlns:a="http://schemas.openxmlformats.org/drawingml/2006/main">
            <a:r>
              <a:t>retrieved_date</a:t>
            </a:r>
          </a:p>
          <a:p xmlns:a="http://schemas.openxmlformats.org/drawingml/2006/main">
            <a:r>
              <a:t>review_status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必要規則: status 不得憑記憶更新 criteria summary 要標 source_fields 不得寫病人適不適合參加 高風險解讀標 needs_review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Trial summarizer 的錯誤處理要比一般摘要更嚴格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找不到 NCT | status = not_found | 自行產生 trial title</a:t>
            </a:r>
          </a:p>
          <a:p xmlns:a="http://schemas.openxmlformats.org/drawingml/2006/main">
            <a:r>
              <a:t>欄位缺失 | field_status = missing | 用常識補 eligibility</a:t>
            </a:r>
          </a:p>
          <a:p xmlns:a="http://schemas.openxmlformats.org/drawingml/2006/main">
            <a:r>
              <a:t>多版本衝突 | status = conflicting | 只選一個版本</a:t>
            </a:r>
          </a:p>
          <a:p xmlns:a="http://schemas.openxmlformats.org/drawingml/2006/main">
            <a:r>
              <a:t>PII 出現 | stop_and_report | 繼續摘要或外傳資料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trial summary 的驗收標準要防止過度推論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 summary 欄位都能追到原始 JSON path 或 source field NCT ID format 錯誤時必須 fail fast recruitment status 必須與 retrieved record 一致 不得產生 eligibility recommendation 或 treatment recommendation Validation: JSON schema field trace check negative fixtures human review gate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 SDD 工具都在解同一個問題：讓需求、設計與任務可追蹤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Spec Kit | constitution、specify、plan、tasks、implement | constitution 加入 citation / PHI / clinical claim 規則</a:t>
            </a:r>
          </a:p>
          <a:p xmlns:a="http://schemas.openxmlformats.org/drawingml/2006/main">
            <a:r>
              <a:t>OpenSpec | proposal、spec、design、tasks 與狀態追蹤 | 用 dependency order 管理 spec artifacts</a:t>
            </a:r>
          </a:p>
          <a:p xmlns:a="http://schemas.openxmlformats.org/drawingml/2006/main">
            <a:r>
              <a:t>Spectra | GUI/CLI 讓規格流程更可見，並檢查遺漏與矛盾 | 用於教學展示 spec review</a:t>
            </a:r>
          </a:p>
          <a:p xmlns:a="http://schemas.openxmlformats.org/drawingml/2006/main">
            <a:r>
              <a:t>Lightweight SDD | 先寫小規格，再小 patch 實作 | 避免過度文件化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先讓 agent 寫 spec，但要求它先問問題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Prompt:</a:t>
            </a:r>
          </a:p>
          <a:p xmlns:a="http://schemas.openxmlformats.org/drawingml/2006/main">
            <a:r>
              <a:t>請不要開始寫程式。</a:t>
            </a:r>
          </a:p>
          <a:p xmlns:a="http://schemas.openxmlformats.org/drawingml/2006/main">
            <a:r>
              <a:t>請先根據下列 biomedical tool idea 建立 SPEC.md。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你必須先列出最多 8 個 clarification questions。</a:t>
            </a:r>
          </a:p>
          <a:p xmlns:a="http://schemas.openxmlformats.org/drawingml/2006/main">
            <a:r>
              <a:t>沒有答案時，提出保守預設並標記 assumption。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SPEC.md 必須包含：</a:t>
            </a:r>
          </a:p>
          <a:p xmlns:a="http://schemas.openxmlformats.org/drawingml/2006/main">
            <a:r>
              <a:t>- Goal / non-goals</a:t>
            </a:r>
          </a:p>
          <a:p xmlns:a="http://schemas.openxmlformats.org/drawingml/2006/main">
            <a:r>
              <a:t>- Inputs / outputs</a:t>
            </a:r>
          </a:p>
          <a:p xmlns:a="http://schemas.openxmlformats.org/drawingml/2006/main">
            <a:r>
              <a:t>- Boundary conditions</a:t>
            </a:r>
          </a:p>
          <a:p xmlns:a="http://schemas.openxmlformats.org/drawingml/2006/main">
            <a:r>
              <a:t>- Error handling</a:t>
            </a:r>
          </a:p>
          <a:p xmlns:a="http://schemas.openxmlformats.org/drawingml/2006/main">
            <a:r>
              <a:t>- Validation commands</a:t>
            </a:r>
          </a:p>
          <a:p xmlns:a="http://schemas.openxmlformats.org/drawingml/2006/main">
            <a:r>
              <a:t>- Human review 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教學重點: 禁止先寫 code 先逼出 ambiguity 沒有答案要標 assumption spec 要包含驗證與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 agent 實作時，要把 spec 變成 acceptance contract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Prompt:</a:t>
            </a:r>
          </a:p>
          <a:p xmlns:a="http://schemas.openxmlformats.org/drawingml/2006/main">
            <a:r>
              <a:t>請依照 SPEC.md 實作最小版本。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規則：</a:t>
            </a:r>
          </a:p>
          <a:p xmlns:a="http://schemas.openxmlformats.org/drawingml/2006/main">
            <a:r>
              <a:t>- 只改 tasks.md 指定的檔案</a:t>
            </a:r>
          </a:p>
          <a:p xmlns:a="http://schemas.openxmlformats.org/drawingml/2006/main">
            <a:r>
              <a:t>- 每完成一個 task 就跑相對應測試</a:t>
            </a:r>
          </a:p>
          <a:p xmlns:a="http://schemas.openxmlformats.org/drawingml/2006/main">
            <a:r>
              <a:t>- 不得新增 SPEC.md 沒提到的功能</a:t>
            </a:r>
          </a:p>
          <a:p xmlns:a="http://schemas.openxmlformats.org/drawingml/2006/main">
            <a:r>
              <a:t>- 若 SPEC.md 不清楚，先停下來問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回報：</a:t>
            </a:r>
          </a:p>
          <a:p xmlns:a="http://schemas.openxmlformats.org/drawingml/2006/main">
            <a:r>
              <a:t>- completed tasks</a:t>
            </a:r>
          </a:p>
          <a:p xmlns:a="http://schemas.openxmlformats.org/drawingml/2006/main">
            <a:r>
              <a:t>- files changed</a:t>
            </a:r>
          </a:p>
          <a:p xmlns:a="http://schemas.openxmlformats.org/drawingml/2006/main">
            <a:r>
              <a:t>- validation commands</a:t>
            </a:r>
          </a:p>
          <a:p xmlns:a="http://schemas.openxmlformats.org/drawingml/2006/main">
            <a:r>
              <a:t>- deviations from SPEC.md</a:t>
            </a:r>
          </a:p>
          <a:p xmlns:a="http://schemas.openxmlformats.org/drawingml/2006/main">
            <a:r>
              <a:t>- remaining risks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完成定義: 不是它說完成 是 acceptance criteria pass 所有 deviation 要列出 spec drift 要回寫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drift 會讓 SDD 失效，所以規格要跟 commit 一起活著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程式碼行為改了，SPEC.md 必須同步改 測試暴露新邊界條件時，要補回 requirements 或 validation 資料庫版本、API schema、source policy 改了，要記錄在 changelog 不要把過時 spec 留給 agent 當錯誤 context Change rule: spec first small patch test evidence review gate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spec review 的重點是可追溯、可驗證、可停止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 | 允許資料源和版本寫清楚了嗎？ | 補來源或縮小 scope</a:t>
            </a:r>
          </a:p>
          <a:p xmlns:a="http://schemas.openxmlformats.org/drawingml/2006/main">
            <a:r>
              <a:t>Schema | 每個 output 欄位都有型別與允許值嗎？ | 補 schema</a:t>
            </a:r>
          </a:p>
          <a:p xmlns:a="http://schemas.openxmlformats.org/drawingml/2006/main">
            <a:r>
              <a:t>Not found | 找不到資料時會停止還是亂補？ | 補 not_found rule</a:t>
            </a:r>
          </a:p>
          <a:p xmlns:a="http://schemas.openxmlformats.org/drawingml/2006/main">
            <a:r>
              <a:t>Boundary | PHI、clinical claim、external action 有 gate 嗎？ | 補 human review</a:t>
            </a:r>
          </a:p>
          <a:p xmlns:a="http://schemas.openxmlformats.org/drawingml/2006/main">
            <a:r>
              <a:t>Validation | 有 sample fixtures 和命令可以重跑嗎？ | 補 tests/golden 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學生要交的是 spec，不是看起來很厲害的 prompt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Pick | 選一個工具：PubMed / gene / trial | scope 是否夠小</a:t>
            </a:r>
          </a:p>
          <a:p xmlns:a="http://schemas.openxmlformats.org/drawingml/2006/main">
            <a:r>
              <a:t>2. Clarify | 列 5 個 clarification questions | 是否問到資料源與邊界</a:t>
            </a:r>
          </a:p>
          <a:p xmlns:a="http://schemas.openxmlformats.org/drawingml/2006/main">
            <a:r>
              <a:t>3. Specify | 填入 SPEC.md template | schema、errors、validation 是否完整</a:t>
            </a:r>
          </a:p>
          <a:p xmlns:a="http://schemas.openxmlformats.org/drawingml/2006/main">
            <a:r>
              <a:t>4. Handoff | 寫給 coding agent 的 implementation prompt | 是否限制改檔與測試命令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 used: https://ihower.tw/blog/13480-sdd-spec-driven-development ; https://kaochenlong.com/sdd-spec-driven-development ; https://kaochenlong.com/spectra-with-openspec ; https://kaochenlong.com/spectra-app-2 ; https://milkmidi.medium.com/ai-%E6%99%82%E4%BB%A3-%E4%B8%80%E5%AE%9A%E8%A6%81%E5%AD%B8%E6%9C%83%E4%BD%BF%E7%94%A8-github-spec-kit-sdd-%E8%A6%8F%E6%A0%BC%E9%A9%85%E5%8B%95%E9%96%8B%E7%99%BC-f2df57cfdf3c ; https://xn--uy0a.tw/AI/sdd-ai-copilot-codex-devops-workflow/ ; https://tenten.co/learning/specdriven-developmentai/ ; https://github.com/github/spec-kit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Wrap-up: SDD for biomedical tools should be lightweight, explicit, verifiable, and traceable.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eed8c58dec45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007e25c9904c49" /><Relationship Type="http://schemas.openxmlformats.org/officeDocument/2006/relationships/slideLayout" Target="/ppt/slideLayouts/slideLayout1.xml" Id="Rac1e249b866b47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1e249b866b47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f1e898ef24a4d" /><Relationship Type="http://schemas.openxmlformats.org/officeDocument/2006/relationships/notesSlide" Target="/ppt/notesSlides/notesSlide1.xml" Id="R68b183677cf344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3f6c74a454349" /><Relationship Type="http://schemas.openxmlformats.org/officeDocument/2006/relationships/notesSlide" Target="/ppt/notesSlides/notesSlide2.xml" Id="R76adf6eee21c43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7d216b0d942ea" /><Relationship Type="http://schemas.openxmlformats.org/officeDocument/2006/relationships/notesSlide" Target="/ppt/notesSlides/notesSlide3.xml" Id="R49d8d0eeac7247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2274ade8f49c1" /><Relationship Type="http://schemas.openxmlformats.org/officeDocument/2006/relationships/notesSlide" Target="/ppt/notesSlides/notesSlide4.xml" Id="R88924a34a89e46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69d6635084632" /><Relationship Type="http://schemas.openxmlformats.org/officeDocument/2006/relationships/notesSlide" Target="/ppt/notesSlides/notesSlide5.xml" Id="R7f6b75336b9940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72b8ee6be4f92" /><Relationship Type="http://schemas.openxmlformats.org/officeDocument/2006/relationships/notesSlide" Target="/ppt/notesSlides/notesSlide6.xml" Id="R74bec423d53442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e4be788c34883" /><Relationship Type="http://schemas.openxmlformats.org/officeDocument/2006/relationships/notesSlide" Target="/ppt/notesSlides/notesSlide7.xml" Id="Rfc76761c9b234d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f39b573f647c9" /><Relationship Type="http://schemas.openxmlformats.org/officeDocument/2006/relationships/notesSlide" Target="/ppt/notesSlides/notesSlide8.xml" Id="R8cf6a6ff938043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1ca3f7ac546fd" /><Relationship Type="http://schemas.openxmlformats.org/officeDocument/2006/relationships/notesSlide" Target="/ppt/notesSlides/notesSlide9.xml" Id="Rb41e9d1003c049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cc8b03b06450d" /><Relationship Type="http://schemas.openxmlformats.org/officeDocument/2006/relationships/notesSlide" Target="/ppt/notesSlides/notesSlide10.xml" Id="R88ef8d26a05948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041a5ae9c4991" /><Relationship Type="http://schemas.openxmlformats.org/officeDocument/2006/relationships/notesSlide" Target="/ppt/notesSlides/notesSlide11.xml" Id="R5dc70b02f5544d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e0f57c86b4d8d" /><Relationship Type="http://schemas.openxmlformats.org/officeDocument/2006/relationships/notesSlide" Target="/ppt/notesSlides/notesSlide12.xml" Id="R38b563e7e5b244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4885130744f20" /><Relationship Type="http://schemas.openxmlformats.org/officeDocument/2006/relationships/notesSlide" Target="/ppt/notesSlides/notesSlide13.xml" Id="R7eb857eaaf9d47d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6d84c791e4137" /><Relationship Type="http://schemas.openxmlformats.org/officeDocument/2006/relationships/notesSlide" Target="/ppt/notesSlides/notesSlide14.xml" Id="Rb48d281a34a546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9fc1558744efb" /><Relationship Type="http://schemas.openxmlformats.org/officeDocument/2006/relationships/notesSlide" Target="/ppt/notesSlides/notesSlide15.xml" Id="R6307bfa463c74a6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b5e114f77491a" /><Relationship Type="http://schemas.openxmlformats.org/officeDocument/2006/relationships/notesSlide" Target="/ppt/notesSlides/notesSlide16.xml" Id="R8b27c41b8cd548b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4893056fc43e1" /><Relationship Type="http://schemas.openxmlformats.org/officeDocument/2006/relationships/notesSlide" Target="/ppt/notesSlides/notesSlide17.xml" Id="Rb6962a20cfa5428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baf5881fe42b7" /><Relationship Type="http://schemas.openxmlformats.org/officeDocument/2006/relationships/notesSlide" Target="/ppt/notesSlides/notesSlide18.xml" Id="R8ccde5bf8fb542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6dd74eef04176" /><Relationship Type="http://schemas.openxmlformats.org/officeDocument/2006/relationships/notesSlide" Target="/ppt/notesSlides/notesSlide19.xml" Id="Ra2e9644579104c5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0a6f63f0f4884" /><Relationship Type="http://schemas.openxmlformats.org/officeDocument/2006/relationships/notesSlide" Target="/ppt/notesSlides/notesSlide20.xml" Id="R169f424c624c4a9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d61359bfb4ef7" /><Relationship Type="http://schemas.openxmlformats.org/officeDocument/2006/relationships/notesSlide" Target="/ppt/notesSlides/notesSlide21.xml" Id="Re4683edd722142a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702be86174a1f" /><Relationship Type="http://schemas.openxmlformats.org/officeDocument/2006/relationships/notesSlide" Target="/ppt/notesSlides/notesSlide22.xml" Id="Ref9e5352a3b844d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26c06e53b4951" /><Relationship Type="http://schemas.openxmlformats.org/officeDocument/2006/relationships/notesSlide" Target="/ppt/notesSlides/notesSlide23.xml" Id="R410379321113409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8605b6ed944b2" /><Relationship Type="http://schemas.openxmlformats.org/officeDocument/2006/relationships/notesSlide" Target="/ppt/notesSlides/notesSlide24.xml" Id="Ree02d9387adc428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36b95b87f41f3" /><Relationship Type="http://schemas.openxmlformats.org/officeDocument/2006/relationships/notesSlide" Target="/ppt/notesSlides/notesSlide25.xml" Id="R27355ccce3ed42c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7d474ec97497b" /><Relationship Type="http://schemas.openxmlformats.org/officeDocument/2006/relationships/notesSlide" Target="/ppt/notesSlides/notesSlide26.xml" Id="Rd3346c2ec7a948f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7cd1230c14b4d" /><Relationship Type="http://schemas.openxmlformats.org/officeDocument/2006/relationships/notesSlide" Target="/ppt/notesSlides/notesSlide27.xml" Id="Rb4dc32bce7ae44a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c456fc7dd489d" /><Relationship Type="http://schemas.openxmlformats.org/officeDocument/2006/relationships/notesSlide" Target="/ppt/notesSlides/notesSlide28.xml" Id="R5cb61429a9e14ff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fa0b839214318" /><Relationship Type="http://schemas.openxmlformats.org/officeDocument/2006/relationships/notesSlide" Target="/ppt/notesSlides/notesSlide29.xml" Id="R825b595637e940f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b39c2c3994ecc" /><Relationship Type="http://schemas.openxmlformats.org/officeDocument/2006/relationships/notesSlide" Target="/ppt/notesSlides/notesSlide30.xml" Id="R7daf49b1d344489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924817c914862" /><Relationship Type="http://schemas.openxmlformats.org/officeDocument/2006/relationships/notesSlide" Target="/ppt/notesSlides/notesSlide31.xml" Id="Rc15edd268d444c9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2dfdf37254616" /><Relationship Type="http://schemas.openxmlformats.org/officeDocument/2006/relationships/notesSlide" Target="/ppt/notesSlides/notesSlide32.xml" Id="Rd47c9e3d53134c0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739a5d8ca47e8" /><Relationship Type="http://schemas.openxmlformats.org/officeDocument/2006/relationships/notesSlide" Target="/ppt/notesSlides/notesSlide33.xml" Id="R2481523da56740f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02b9174034a54" /><Relationship Type="http://schemas.openxmlformats.org/officeDocument/2006/relationships/notesSlide" Target="/ppt/notesSlides/notesSlide34.xml" Id="R277edcb76ead4e6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1f4d16be243cb" /><Relationship Type="http://schemas.openxmlformats.org/officeDocument/2006/relationships/notesSlide" Target="/ppt/notesSlides/notesSlide35.xml" Id="R900df90937a146e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1cd1818844d62" /><Relationship Type="http://schemas.openxmlformats.org/officeDocument/2006/relationships/notesSlide" Target="/ppt/notesSlides/notesSlide36.xml" Id="Rb0c9d4f3c3d444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urse">
            <a:extLst xmlns:a="http://schemas.openxmlformats.org/drawingml/2006/main">
              <a:ext uri="{FF2B5EF4-FFF2-40B4-BE49-F238E27FC236}">
                <a16:creationId xmlns:a16="http://schemas.microsoft.com/office/drawing/2014/main" id="{A4077C70-7099-4FAB-A55B-C6ADC667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08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CCA1A7A-0941-437B-9B8A-8E3C523E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8001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Spec-Driven Development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Biomedical Tools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58A628E-A4D5-4C2D-A620-F1AD16C5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把模糊需求轉成 agent 能執行、人能審查、工具能測試的規格</a:t>
            </a:r>
          </a:p>
        </p:txBody>
      </p:sp>
      <p:sp>
        <p:nvSpPr>
          <p:cNvPr id="4" name="right-panel">
            <a:extLst xmlns:a="http://schemas.openxmlformats.org/drawingml/2006/main">
              <a:ext uri="{FF2B5EF4-FFF2-40B4-BE49-F238E27FC236}">
                <a16:creationId xmlns:a16="http://schemas.microsoft.com/office/drawing/2014/main" id="{08D28189-174A-4423-8420-8C25E5FF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38250"/>
            <a:ext cx="2781300" cy="33909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24313D"/>
          </a:solidFill>
          <a:ln xmlns:a="http://schemas.openxmlformats.org/drawingml/2006/main" w="9525">
            <a:solidFill>
              <a:srgbClr val="526171"/>
            </a:solidFill>
            <a:prstDash val="solid"/>
          </a:ln>
        </p:spPr>
      </p:sp>
      <p:sp>
        <p:nvSpPr>
          <p:cNvPr id="5" name="panel-title">
            <a:extLst xmlns:a="http://schemas.openxmlformats.org/drawingml/2006/main">
              <a:ext uri="{FF2B5EF4-FFF2-40B4-BE49-F238E27FC236}">
                <a16:creationId xmlns:a16="http://schemas.microsoft.com/office/drawing/2014/main" id="{ACE02323-1062-4C35-9E77-6589AA54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38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 xmlns:a="http://schemas.openxmlformats.org/drawingml/2006/main">
              <a:ext uri="{FF2B5EF4-FFF2-40B4-BE49-F238E27FC236}">
                <a16:creationId xmlns:a16="http://schemas.microsoft.com/office/drawing/2014/main" id="{7D5C63C2-D91D-4BE0-A30F-3F00EBC7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90750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one reusable SPEC.md template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three biomedical tool specs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acceptance checklist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agent handoff prompt</a:t>
            </a:r>
          </a:p>
        </p:txBody>
      </p:sp>
      <p:sp>
        <p:nvSpPr>
          <p:cNvPr id="7" name="footer-dark">
            <a:extLst xmlns:a="http://schemas.openxmlformats.org/drawingml/2006/main">
              <a:ext uri="{FF2B5EF4-FFF2-40B4-BE49-F238E27FC236}">
                <a16:creationId xmlns:a16="http://schemas.microsoft.com/office/drawing/2014/main" id="{1F5AACDE-B079-4C50-BC6E-F3A93E30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Spec-driven development for biomedical tools  |  1/36</a:t>
            </a:r>
          </a:p>
        </p:txBody>
      </p:sp>
    </p:spTree>
    <p:extLst>
      <p:ext uri="{BB962C8B-B14F-4D97-AF65-F5344CB8AC3E}">
        <p14:creationId xmlns:p14="http://schemas.microsoft.com/office/powerpoint/2010/main" val="1890656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8321486-0DEC-48A5-AFBF-E0BFCBC4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4B8AE1A-04E5-4DDC-9676-951B49C6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今天的核心能力是把願望改寫成可驗證的工具合約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5F07B36-BFEA-4746-9345-9C455CC9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3A4685A2-01D4-4FB6-BD5B-26B37CB9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解釋為什麼 agent 動手前要先有 spec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把模糊需求拆成 input、output、boundary、error、validation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替 PubMed extractor、gene annotation、trial summarizer 寫出最小可用規格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 SDD 何時有用，何時會變成文件負擔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5936CC0D-4EA9-43D7-8FA1-93654D02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601C1B0A-48EA-420E-B2D5-CD9A58F1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9DCCFCE3-DDA7-4498-92EC-06DF48D5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能寫 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能問 clarification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能定義 acceptance criteria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能交給 coding agent 實作</a:t>
            </a:r>
          </a:p>
        </p:txBody>
      </p:sp>
    </p:spTree>
    <p:extLst>
      <p:ext uri="{BB962C8B-B14F-4D97-AF65-F5344CB8AC3E}">
        <p14:creationId xmlns:p14="http://schemas.microsoft.com/office/powerpoint/2010/main" val="20550851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F5F0B3-8FD6-4484-AD53-F279CB0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SPEC FIRST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48CC52F-ECBD-4322-95B6-B602E3C5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工具最怕的不是不能跑，而是跑出看似合理的錯結果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62164C5-3DA9-4E1B-9F04-C4B56F96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9388E306-8579-4535-8125-21B0FE25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文獻 evidence extractor 可能編造 PMID 或混淆模型推測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tool 可能混用物種、舊名與 approved symbol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可能把 recruitment status 或 eligibility 寫錯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先寫 spec 是先定義什麼叫做正確，而不是先叫 AI 寫 code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BBF8AF4D-750B-4F2F-83C5-896E149C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1A19F6E-17B6-458A-B35B-11EE5EE7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Spec 的工作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29ADAC46-B234-460A-BD17-FB6A0F9A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限制猜測空間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把錯誤變可見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讓測試有依據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review 有標準</a:t>
            </a:r>
          </a:p>
        </p:txBody>
      </p:sp>
    </p:spTree>
    <p:extLst>
      <p:ext uri="{BB962C8B-B14F-4D97-AF65-F5344CB8AC3E}">
        <p14:creationId xmlns:p14="http://schemas.microsoft.com/office/powerpoint/2010/main" val="17660215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DA80E92-1252-47A2-8EDF-70E5E2D8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PERSPECTIVE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5CDE0D9-EA5B-4511-A236-75F5F872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這幾篇文章的共同結論：SDD 有用，但不能變成 Markdown 堆高機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2C7C976-0DB2-40C9-998A-EEC2DA3A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4144763C-EAA9-4EA3-8814-46D8F808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524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C7BDE63B-323A-4144-B664-B24AA55E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觀點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3323CAAE-2C19-483D-958E-6A01944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476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53A9C240-A140-4183-93A9-528BEF1F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00250"/>
            <a:ext cx="424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可取之處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2936D04B-F6CA-400A-8CA2-507B515D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85950"/>
            <a:ext cx="4381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7BE488C0-47AC-47A6-849A-FFC6E559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002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課堂採用方式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861E8FD9-4E3D-4F99-95F0-1C18598F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C298F2AC-3B55-4917-AB3E-1065F85E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正面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866BF566-189F-4CFD-B50C-77AD5201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0505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2EA0E0A8-6D87-464F-9A6F-9AA2C3C9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003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先釐清 what/why、acceptance criteria、design、tasks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493A5ED8-4BCD-4138-A850-4CBF9FA2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0505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799341A6-E1C0-4206-9E98-D4D4C0D3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0030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用規格降低 agent 猜測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44078C6-5EFE-4258-9BE2-A64B93FF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BAB5A8BF-C9E2-473C-B897-AA3B122F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警告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A06477B2-6D74-4308-8729-962B5BDB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93370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2220E7C7-7ECC-49BD-B9E8-F0E6D4D1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0289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文件過量、spec drift、假安全感、雙重 review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4B15017E-CC1E-4213-976D-17B48194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3370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8A62BEFB-5BC4-4361-B22D-3D891A7E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2895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只寫能被驗證的最小規格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A267340B-F394-4168-8F4F-9E99C229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9EA15F59-4734-4F46-8F94-9EA21C1A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ED044B14-C5D3-43BD-B49E-3733CB93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6235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E401F84F-AF1E-4B84-9878-F17C5CD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576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 Kit、OpenSpec、Spectra 提供流程與狀態追蹤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47DE7D49-C3D3-4640-B329-1662A146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D5FB2A9E-AA21-48E1-AAAC-95AF7AF9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5760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工具當 scaffold，不取代工程判斷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F1DCED9C-B94A-4459-A894-2ADADF9D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28E046AD-2BAC-43D8-BC9B-16D7E8E5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D776FA85-51B2-4D63-A737-E91458F7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C26C8FD8-AE08-4CE2-9911-929F79FB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862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把來源、not found、review gate 寫進規格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B2762519-17FE-48DC-BC99-82EA6964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B085828C-967E-4276-8086-63332B13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8625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避免把推測偽裝成 evidence</a:t>
            </a:r>
          </a:p>
        </p:txBody>
      </p:sp>
      <p:sp>
        <p:nvSpPr>
          <p:cNvPr id="34" name="source">
            <a:extLst xmlns:a="http://schemas.openxmlformats.org/drawingml/2006/main">
              <a:ext uri="{FF2B5EF4-FFF2-40B4-BE49-F238E27FC236}">
                <a16:creationId xmlns:a16="http://schemas.microsoft.com/office/drawing/2014/main" id="{9DC51C70-69E7-43B7-90D5-929B32C7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62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ihower, Kao Chen Long, Milk Midi, 琳.tw, Tenten</a:t>
            </a:r>
          </a:p>
        </p:txBody>
      </p:sp>
    </p:spTree>
    <p:extLst>
      <p:ext uri="{BB962C8B-B14F-4D97-AF65-F5344CB8AC3E}">
        <p14:creationId xmlns:p14="http://schemas.microsoft.com/office/powerpoint/2010/main" val="2532142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89FF6F4-7B97-4488-A707-C01745C3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IS A CONTRACT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C04AE9-8454-41D4-BA35-578AC807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spec 不是作文，而是三方共同遵守的合約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FBA5DE1-4DFA-4731-8871-78A426DB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5/36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7CABFDDE-F61B-41C5-81F6-89291E6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card-title-0">
            <a:extLst xmlns:a="http://schemas.openxmlformats.org/drawingml/2006/main">
              <a:ext uri="{FF2B5EF4-FFF2-40B4-BE49-F238E27FC236}">
                <a16:creationId xmlns:a16="http://schemas.microsoft.com/office/drawing/2014/main" id="{00930D17-680F-4601-B77E-E217C018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6" name="card-copy-0">
            <a:extLst xmlns:a="http://schemas.openxmlformats.org/drawingml/2006/main">
              <a:ext uri="{FF2B5EF4-FFF2-40B4-BE49-F238E27FC236}">
                <a16:creationId xmlns:a16="http://schemas.microsoft.com/office/drawing/2014/main" id="{42343F87-F97D-4944-9349-3DD296F0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負責定義意圖、限制、風險和 review gate。</a:t>
            </a:r>
          </a:p>
        </p:txBody>
      </p:sp>
      <p:sp>
        <p:nvSpPr>
          <p:cNvPr id="7" name="card-1">
            <a:extLst xmlns:a="http://schemas.openxmlformats.org/drawingml/2006/main">
              <a:ext uri="{FF2B5EF4-FFF2-40B4-BE49-F238E27FC236}">
                <a16:creationId xmlns:a16="http://schemas.microsoft.com/office/drawing/2014/main" id="{DED4A0C4-3F4E-409A-88D3-D3512970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card-title-1">
            <a:extLst xmlns:a="http://schemas.openxmlformats.org/drawingml/2006/main">
              <a:ext uri="{FF2B5EF4-FFF2-40B4-BE49-F238E27FC236}">
                <a16:creationId xmlns:a16="http://schemas.microsoft.com/office/drawing/2014/main" id="{0ED50603-89BB-40FC-9AFD-D13EF37B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</a:t>
            </a:r>
          </a:p>
        </p:txBody>
      </p:sp>
      <p:sp>
        <p:nvSpPr>
          <p:cNvPr id="9" name="card-copy-1">
            <a:extLst xmlns:a="http://schemas.openxmlformats.org/drawingml/2006/main">
              <a:ext uri="{FF2B5EF4-FFF2-40B4-BE49-F238E27FC236}">
                <a16:creationId xmlns:a16="http://schemas.microsoft.com/office/drawing/2014/main" id="{4C3A0968-5237-404F-807F-1ACBEE45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依照規格讀檔、改程式、產生測試與回報差異。</a:t>
            </a:r>
          </a:p>
        </p:txBody>
      </p:sp>
      <p:sp>
        <p:nvSpPr>
          <p:cNvPr id="10" name="card-2">
            <a:extLst xmlns:a="http://schemas.openxmlformats.org/drawingml/2006/main">
              <a:ext uri="{FF2B5EF4-FFF2-40B4-BE49-F238E27FC236}">
                <a16:creationId xmlns:a16="http://schemas.microsoft.com/office/drawing/2014/main" id="{FA2D390D-AC8C-4E5A-ADDD-BAC8BDFF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11" name="card-title-2">
            <a:extLst xmlns:a="http://schemas.openxmlformats.org/drawingml/2006/main">
              <a:ext uri="{FF2B5EF4-FFF2-40B4-BE49-F238E27FC236}">
                <a16:creationId xmlns:a16="http://schemas.microsoft.com/office/drawing/2014/main" id="{541525E7-BE0D-417F-B253-C40D9C64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Validator</a:t>
            </a:r>
          </a:p>
        </p:txBody>
      </p:sp>
      <p:sp>
        <p:nvSpPr>
          <p:cNvPr id="12" name="card-copy-2">
            <a:extLst xmlns:a="http://schemas.openxmlformats.org/drawingml/2006/main">
              <a:ext uri="{FF2B5EF4-FFF2-40B4-BE49-F238E27FC236}">
                <a16:creationId xmlns:a16="http://schemas.microsoft.com/office/drawing/2014/main" id="{1FAFDD9D-7C8B-4CF8-A320-72A66BF1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schema、fixtures、golden outputs 和命令檢查結果。</a:t>
            </a:r>
          </a:p>
        </p:txBody>
      </p:sp>
    </p:spTree>
    <p:extLst>
      <p:ext uri="{BB962C8B-B14F-4D97-AF65-F5344CB8AC3E}">
        <p14:creationId xmlns:p14="http://schemas.microsoft.com/office/powerpoint/2010/main" val="8796827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CD608B8-D99A-4547-BDA0-D4813DA1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10440B5-6507-45DB-9BA6-E34187CF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SDD 的流程應該支援迭代，不是把人鎖進瀑布流程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B3A2296-F0A9-4455-A8BE-5823CAA7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6/36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0C1C7DE6-EBCC-4601-8E43-B369F6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ep-no-0">
            <a:extLst xmlns:a="http://schemas.openxmlformats.org/drawingml/2006/main">
              <a:ext uri="{FF2B5EF4-FFF2-40B4-BE49-F238E27FC236}">
                <a16:creationId xmlns:a16="http://schemas.microsoft.com/office/drawing/2014/main" id="{EFE818B4-E7E5-453C-94CA-A34BBCE4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42C2FBC4-ADCB-4E53-ACAF-7E2AFBBF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 xmlns:a="http://schemas.openxmlformats.org/drawingml/2006/main">
              <a:ext uri="{FF2B5EF4-FFF2-40B4-BE49-F238E27FC236}">
                <a16:creationId xmlns:a16="http://schemas.microsoft.com/office/drawing/2014/main" id="{3EF5B37F-5D1C-4F28-8E3F-8C95B463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先釐清研究任務與風險</a:t>
            </a:r>
          </a:p>
        </p:txBody>
      </p:sp>
      <p:sp>
        <p:nvSpPr>
          <p:cNvPr id="8" name="step-arrow-0">
            <a:extLst xmlns:a="http://schemas.openxmlformats.org/drawingml/2006/main">
              <a:ext uri="{FF2B5EF4-FFF2-40B4-BE49-F238E27FC236}">
                <a16:creationId xmlns:a16="http://schemas.microsoft.com/office/drawing/2014/main" id="{07FC35B0-8122-416A-A74A-54A3842B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16F8C8DE-2BDC-4F4D-B659-DE105C49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0" name="step-no-1">
            <a:extLst xmlns:a="http://schemas.openxmlformats.org/drawingml/2006/main">
              <a:ext uri="{FF2B5EF4-FFF2-40B4-BE49-F238E27FC236}">
                <a16:creationId xmlns:a16="http://schemas.microsoft.com/office/drawing/2014/main" id="{9050F73C-CBF2-4D2A-AD14-1E08B54E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F167469-DCF4-486B-B0D9-3A0A15E8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Specify</a:t>
            </a:r>
          </a:p>
        </p:txBody>
      </p:sp>
      <p:sp>
        <p:nvSpPr>
          <p:cNvPr id="12" name="step-copy-1">
            <a:extLst xmlns:a="http://schemas.openxmlformats.org/drawingml/2006/main">
              <a:ext uri="{FF2B5EF4-FFF2-40B4-BE49-F238E27FC236}">
                <a16:creationId xmlns:a16="http://schemas.microsoft.com/office/drawing/2014/main" id="{1AFFF6E5-44FC-4D2C-A921-C466D4F5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 what/why 和驗收標準</a:t>
            </a:r>
          </a:p>
        </p:txBody>
      </p:sp>
      <p:sp>
        <p:nvSpPr>
          <p:cNvPr id="13" name="step-arrow-1">
            <a:extLst xmlns:a="http://schemas.openxmlformats.org/drawingml/2006/main">
              <a:ext uri="{FF2B5EF4-FFF2-40B4-BE49-F238E27FC236}">
                <a16:creationId xmlns:a16="http://schemas.microsoft.com/office/drawing/2014/main" id="{C628C492-293D-4F21-B025-598423AA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0D4627C8-178C-40CE-85A9-2F746B74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15" name="step-no-2">
            <a:extLst xmlns:a="http://schemas.openxmlformats.org/drawingml/2006/main">
              <a:ext uri="{FF2B5EF4-FFF2-40B4-BE49-F238E27FC236}">
                <a16:creationId xmlns:a16="http://schemas.microsoft.com/office/drawing/2014/main" id="{3D242084-E350-4A8E-A7EC-94E223F7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E7ECE185-6430-4DA5-A67D-DE6BB2C8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7" name="step-copy-2">
            <a:extLst xmlns:a="http://schemas.openxmlformats.org/drawingml/2006/main">
              <a:ext uri="{FF2B5EF4-FFF2-40B4-BE49-F238E27FC236}">
                <a16:creationId xmlns:a16="http://schemas.microsoft.com/office/drawing/2014/main" id="{CDE0DCDB-096E-4EFE-B99D-BC3471FA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決定資料源、介面、測試</a:t>
            </a:r>
          </a:p>
        </p:txBody>
      </p:sp>
      <p:sp>
        <p:nvSpPr>
          <p:cNvPr id="18" name="step-arrow-2">
            <a:extLst xmlns:a="http://schemas.openxmlformats.org/drawingml/2006/main">
              <a:ext uri="{FF2B5EF4-FFF2-40B4-BE49-F238E27FC236}">
                <a16:creationId xmlns:a16="http://schemas.microsoft.com/office/drawing/2014/main" id="{3D68421F-9FEE-44AD-99E0-E3D08880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 xmlns:a="http://schemas.openxmlformats.org/drawingml/2006/main">
              <a:ext uri="{FF2B5EF4-FFF2-40B4-BE49-F238E27FC236}">
                <a16:creationId xmlns:a16="http://schemas.microsoft.com/office/drawing/2014/main" id="{A8D1FB57-FC27-4305-991B-C6F06E09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step-no-3">
            <a:extLst xmlns:a="http://schemas.openxmlformats.org/drawingml/2006/main">
              <a:ext uri="{FF2B5EF4-FFF2-40B4-BE49-F238E27FC236}">
                <a16:creationId xmlns:a16="http://schemas.microsoft.com/office/drawing/2014/main" id="{14F5FB02-0820-4E76-9063-0B32B09B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029794A0-1997-4C1E-BE83-27BED9E0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22" name="step-copy-3">
            <a:extLst xmlns:a="http://schemas.openxmlformats.org/drawingml/2006/main">
              <a:ext uri="{FF2B5EF4-FFF2-40B4-BE49-F238E27FC236}">
                <a16:creationId xmlns:a16="http://schemas.microsoft.com/office/drawing/2014/main" id="{144EA048-4945-4CD2-8612-C6C9B3F4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拆成可 review 小任務</a:t>
            </a:r>
          </a:p>
        </p:txBody>
      </p:sp>
      <p:sp>
        <p:nvSpPr>
          <p:cNvPr id="23" name="step-arrow-3">
            <a:extLst xmlns:a="http://schemas.openxmlformats.org/drawingml/2006/main">
              <a:ext uri="{FF2B5EF4-FFF2-40B4-BE49-F238E27FC236}">
                <a16:creationId xmlns:a16="http://schemas.microsoft.com/office/drawing/2014/main" id="{E8030809-916E-427D-8430-6D811498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337900FE-D574-4414-B7FF-1B3AD6D6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25" name="step-no-4">
            <a:extLst xmlns:a="http://schemas.openxmlformats.org/drawingml/2006/main">
              <a:ext uri="{FF2B5EF4-FFF2-40B4-BE49-F238E27FC236}">
                <a16:creationId xmlns:a16="http://schemas.microsoft.com/office/drawing/2014/main" id="{46159FAD-5A7D-4DCA-B784-43E81D15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 xmlns:a="http://schemas.openxmlformats.org/drawingml/2006/main">
              <a:ext uri="{FF2B5EF4-FFF2-40B4-BE49-F238E27FC236}">
                <a16:creationId xmlns:a16="http://schemas.microsoft.com/office/drawing/2014/main" id="{85266585-FB4A-46D2-88A0-7843ED03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Build</a:t>
            </a:r>
          </a:p>
        </p:txBody>
      </p:sp>
      <p:sp>
        <p:nvSpPr>
          <p:cNvPr id="27" name="step-copy-4">
            <a:extLst xmlns:a="http://schemas.openxmlformats.org/drawingml/2006/main">
              <a:ext uri="{FF2B5EF4-FFF2-40B4-BE49-F238E27FC236}">
                <a16:creationId xmlns:a16="http://schemas.microsoft.com/office/drawing/2014/main" id="{BFFD04E3-6553-4951-9766-540DC5A4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小 patch 實作</a:t>
            </a:r>
          </a:p>
        </p:txBody>
      </p:sp>
      <p:sp>
        <p:nvSpPr>
          <p:cNvPr id="28" name="step-arrow-4">
            <a:extLst xmlns:a="http://schemas.openxmlformats.org/drawingml/2006/main">
              <a:ext uri="{FF2B5EF4-FFF2-40B4-BE49-F238E27FC236}">
                <a16:creationId xmlns:a16="http://schemas.microsoft.com/office/drawing/2014/main" id="{945B4146-71CD-4B38-AFA3-B7341187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 xmlns:a="http://schemas.openxmlformats.org/drawingml/2006/main">
              <a:ext uri="{FF2B5EF4-FFF2-40B4-BE49-F238E27FC236}">
                <a16:creationId xmlns:a16="http://schemas.microsoft.com/office/drawing/2014/main" id="{AB1B96DE-1BB1-4505-9460-5F6E8359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0" name="step-no-5">
            <a:extLst xmlns:a="http://schemas.openxmlformats.org/drawingml/2006/main">
              <a:ext uri="{FF2B5EF4-FFF2-40B4-BE49-F238E27FC236}">
                <a16:creationId xmlns:a16="http://schemas.microsoft.com/office/drawing/2014/main" id="{F56455E5-4698-436B-A2AF-326A315C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38244F82-2A30-4715-812D-5A22F456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Update</a:t>
            </a:r>
          </a:p>
        </p:txBody>
      </p:sp>
      <p:sp>
        <p:nvSpPr>
          <p:cNvPr id="32" name="step-copy-5">
            <a:extLst xmlns:a="http://schemas.openxmlformats.org/drawingml/2006/main">
              <a:ext uri="{FF2B5EF4-FFF2-40B4-BE49-F238E27FC236}">
                <a16:creationId xmlns:a16="http://schemas.microsoft.com/office/drawing/2014/main" id="{EEC875F8-0253-4E5E-B087-560BCE06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結果回寫 spec 與限制</a:t>
            </a:r>
          </a:p>
        </p:txBody>
      </p:sp>
    </p:spTree>
    <p:extLst>
      <p:ext uri="{BB962C8B-B14F-4D97-AF65-F5344CB8AC3E}">
        <p14:creationId xmlns:p14="http://schemas.microsoft.com/office/powerpoint/2010/main" val="18528713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4895B0A-A89A-4384-A191-6770AA94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VS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BCD3E8-8345-48EB-9B60-50CB2FE4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是一次指令；spec 是可以版本控制的共同記憶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F089B31-D8D7-442E-AE5D-4099543C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7/36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B25F40EF-465A-40E1-B248-4C25203C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714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0F9CC211-6C69-4E82-A564-FEB614A2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ADD8471B-0B79-47BE-89F0-8D0DEBFD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85950"/>
            <a:ext cx="4095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796E295A-CF9B-4D94-A117-ACF3DCF6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00250"/>
            <a:ext cx="3867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A2CE1F19-68C3-4AE6-AAB6-F951CB64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85950"/>
            <a:ext cx="4572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2E5F41E-053C-4296-906A-73382B71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00250"/>
            <a:ext cx="434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3D8ADE9C-2B98-4708-85BA-65894E2D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B7C3FE35-3CDC-4208-A2DF-944939BD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生命週期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C627CE5E-A316-4A15-BB1C-59504FE9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05050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A4E1526D-8EB6-456B-94FD-778D0A1D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00300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一次對話中的指令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F24355CB-4647-4239-ADA5-FFD52A8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05050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5D6E1970-FC8B-4ABE-9240-EE078F1D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00300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跟 repo 一起演進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FDC9DD63-F514-4F28-B1C0-B9C6C550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F6F629FB-E5CB-4D3C-876A-71485895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可審查性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48D3C522-219E-4C90-9506-2561E178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43225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D9A97365-C86F-4057-BFFE-FE6053D1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38475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容易散在聊天紀錄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36BBFA72-8F2C-4469-AA67-CA3AEABB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43225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785EDFE8-55DD-4093-B1A3-364C3D2E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38475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可被 reviewer、助教、agent 反覆檢查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16AB815-3B36-4006-9979-7B9902E6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CEE907C8-E2C4-4BA3-9B85-3CD5C73A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測試關係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F6C99CE6-4F67-43C6-8FFE-2A569CA6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81400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8369EC36-EADC-4DDE-9085-6E9FDF2E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76650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常只描述想要什麼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B434F4E1-C4AA-4B78-BEC1-DBCF2838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4D22E217-1F94-40DC-9465-A8CB67E9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76650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明確列出 acceptance criteria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A309B11B-5C7D-47B2-8898-8E3DCAA9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9575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177571C9-BD15-418D-8A8A-38A4E808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失敗處理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3FA30380-E712-4291-AE7B-6C17527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19575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284CF7DA-99DA-46B9-816C-4550DC98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14825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常靠 agent 自己補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0B56EC44-88DD-45F0-AA96-C222C5AE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9575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970D8E55-FB6A-4842-B148-2B19B80F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14825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先定義錯誤、not found、human review</a:t>
            </a:r>
          </a:p>
        </p:txBody>
      </p:sp>
    </p:spTree>
    <p:extLst>
      <p:ext uri="{BB962C8B-B14F-4D97-AF65-F5344CB8AC3E}">
        <p14:creationId xmlns:p14="http://schemas.microsoft.com/office/powerpoint/2010/main" val="15701386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DB51D55-3E86-4F65-8A41-FC7F7B8A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ANATOMY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5F5B15F-27E0-4C72-8509-6C5A8611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生醫工具的最小 SPEC.md 要回答九個問題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DC26068-B56C-4C03-BB96-B554E2FF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8/36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564A7ECC-070F-4EF9-ADE9-BE81B66F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428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2E8426E0-7BF1-44CA-BD97-454FF94C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F472BF6E-AD6C-4819-9422-91F516DC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85950"/>
            <a:ext cx="4857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E6076B7C-46F2-4593-B7C3-5A0B5A47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002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要寫清楚什麼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8E9506F7-07B2-4112-921F-23B5EED5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85950"/>
            <a:ext cx="4095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862EF549-9B47-4EC0-933F-C9504BAB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00250"/>
            <a:ext cx="3867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常見錯誤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F6776665-0B4C-4CDC-8A19-00E482BA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28899E4-DCD0-41BE-8A8C-182B0CE7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4A74C8BF-1AC3-4606-8810-68843CA3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050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3D6C44E7-79B0-411E-9CAF-2F998A2F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工具要解決的研究任務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C5C4ECAD-B5E6-4540-B64E-1B81DBE8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050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FE5239D3-B6D8-49CA-B99A-C3676C24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 exploratory 和 production 混在一起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974ACD49-14AE-4641-A413-CE881704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568FA3D-46FA-4F01-9EB4-56646EC0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27F22EEA-A550-4185-8BA2-B7362474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85750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4D4C1359-AA18-4FC2-AAFB-A9C3A761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5275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格式、必填欄位、版本、資料源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53C711FE-DA07-4C21-A7CE-891DFB41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45C6E66E-962D-48FE-973D-2ECAEFD4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527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只寫檔名，不寫 schema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77A3801-B763-4DB5-9995-8E7F1F08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BD13FB56-F690-45DF-8378-249E30DA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DF0FAA06-88EF-437C-82EF-20FC42F1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099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1C5C1C76-59B1-4060-8A73-A5EBEA97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5052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欄位、型別、允許值、排序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6D04AD1D-990A-4DB8-ACC7-2CCB130D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099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8C006BFE-3B78-4934-85E7-BB7E0A22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052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輸出看起來整齊但不能驗證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15AF971B-AC1D-4E73-B7A9-448056A8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EED4586-7A02-43FB-A75A-C7965E5D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Boundaries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49A99565-54F4-46E8-971B-E1D78F46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6240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64F30627-B6C3-4998-8661-C7D95E90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5765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物種、疾病、日期、資料庫、隱私限制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E81FF3E1-A0DC-4AB8-9E48-678B168E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6240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04045A5A-5D26-40F5-8CB3-53EBCF5D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自行擴大範圍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1E61C26D-AFF1-41C2-BC80-FFBB39D7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CF9644A0-717E-4413-9CC8-14993E15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E663C1AC-B4FF-4FE4-9A0F-4FD9D371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7B6C2E77-CBBC-4582-90C1-1AC0270F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101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fixtures、golden outputs、命令、通過標準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36D07CCE-FAB5-4DC1-BF1C-F4C1E221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148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47E40E67-2940-40F3-93B1-F05C31BD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101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只說 manually checked</a:t>
            </a:r>
          </a:p>
        </p:txBody>
      </p:sp>
    </p:spTree>
    <p:extLst>
      <p:ext uri="{BB962C8B-B14F-4D97-AF65-F5344CB8AC3E}">
        <p14:creationId xmlns:p14="http://schemas.microsoft.com/office/powerpoint/2010/main" val="14830123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DD1EC65-4DF1-4160-95D6-7229296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CLARIFICATION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45CDDC1-5EF7-464F-A45C-E6458FFC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模糊需求要先變成問題清單，不要直接變成 code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691F2DA-BF66-4213-8BC4-1F1724D1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9/36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6F5D5EF0-5F29-4B54-B374-3C3B99BD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Vague request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657AD58C-BE8C-4467-BCE5-8FC144E9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D2E27BF3-91AC-4A32-BDF6-388633BF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幫我做一個工具，輸入一些基因，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然後整理跟癌症和藥物有關的資料。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最好可以輸出成表格。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53C4B5C8-E3BA-4669-B324-E5FEA2C3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A8E7FCAC-D034-4C6D-933A-5A347DFF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先問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53B4B830-2984-45C6-BC4A-6879C719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人類還是小鼠？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癌症範圍是 pan-cancer 還是單癌種？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證據來源允許哪些資料庫？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找不到資料要怎麼寫？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輸出欄位和驗收標準是什麼？</a:t>
            </a:r>
          </a:p>
        </p:txBody>
      </p:sp>
    </p:spTree>
    <p:extLst>
      <p:ext uri="{BB962C8B-B14F-4D97-AF65-F5344CB8AC3E}">
        <p14:creationId xmlns:p14="http://schemas.microsoft.com/office/powerpoint/2010/main" val="9796675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70546F7-2C2E-48D9-B3DD-20C749D9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EARS STYLE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24541F-E5EE-43E0-9FBC-C8AC8C87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可測試需求要有觸發條件、行為與可檢查結果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535195A-B778-4D13-954F-65FF179E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10/36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E815A8A1-E03D-4C29-9BC5-2D8722AB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Requirement pattern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4CEE9AF6-CFAC-4607-8AFA-4A317351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BC85A8AA-0932-4B9E-A304-D7507A10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the input row contains an invalid gene symbol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mark status = "invalid_symbol"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preserve the original input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NOT infer a replacement symbol without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no PubMed evidence is 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set evidence_status = "not_found"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leave pmid empty.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D925441A-D47E-4EEC-8950-65448647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A2326796-FF48-4028-A5D7-D6F0E18F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好處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38676490-91EF-4C49-9ECC-52234EF6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迫使需求具體化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直接轉成測試案例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降低 agent 猜測空間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biomedical edge cases</a:t>
            </a:r>
          </a:p>
        </p:txBody>
      </p:sp>
    </p:spTree>
    <p:extLst>
      <p:ext uri="{BB962C8B-B14F-4D97-AF65-F5344CB8AC3E}">
        <p14:creationId xmlns:p14="http://schemas.microsoft.com/office/powerpoint/2010/main" val="7315109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D8A7497-0DCE-44EE-91D9-987D7484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CHECKPOINTS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D66FCCA-2080-4FA6-A36F-F6A962B4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每個工具都要先定義四個檢查點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854B561-42E8-46EC-9A5F-5C4880E8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11/36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C04657D2-16CB-4501-9D82-E54CACCD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card-title-0">
            <a:extLst xmlns:a="http://schemas.openxmlformats.org/drawingml/2006/main">
              <a:ext uri="{FF2B5EF4-FFF2-40B4-BE49-F238E27FC236}">
                <a16:creationId xmlns:a16="http://schemas.microsoft.com/office/drawing/2014/main" id="{E8084060-5C21-46C2-9B7D-4BC7E5D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Input</a:t>
            </a:r>
          </a:p>
        </p:txBody>
      </p:sp>
      <p:sp>
        <p:nvSpPr>
          <p:cNvPr id="6" name="card-copy-0">
            <a:extLst xmlns:a="http://schemas.openxmlformats.org/drawingml/2006/main">
              <a:ext uri="{FF2B5EF4-FFF2-40B4-BE49-F238E27FC236}">
                <a16:creationId xmlns:a16="http://schemas.microsoft.com/office/drawing/2014/main" id="{A5AA6FCD-630E-43D2-BEC8-E36CFB98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接受什麼、拒絕什麼、如何報錯、資料版本如何記錄。</a:t>
            </a:r>
          </a:p>
        </p:txBody>
      </p:sp>
      <p:sp>
        <p:nvSpPr>
          <p:cNvPr id="7" name="card-1">
            <a:extLst xmlns:a="http://schemas.openxmlformats.org/drawingml/2006/main">
              <a:ext uri="{FF2B5EF4-FFF2-40B4-BE49-F238E27FC236}">
                <a16:creationId xmlns:a16="http://schemas.microsoft.com/office/drawing/2014/main" id="{44512C03-D0E1-4BA4-AEFE-1D3A59BF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card-title-1">
            <a:extLst xmlns:a="http://schemas.openxmlformats.org/drawingml/2006/main">
              <a:ext uri="{FF2B5EF4-FFF2-40B4-BE49-F238E27FC236}">
                <a16:creationId xmlns:a16="http://schemas.microsoft.com/office/drawing/2014/main" id="{92E61FFD-5FE0-4182-871F-854DE4E2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9" name="card-copy-1">
            <a:extLst xmlns:a="http://schemas.openxmlformats.org/drawingml/2006/main">
              <a:ext uri="{FF2B5EF4-FFF2-40B4-BE49-F238E27FC236}">
                <a16:creationId xmlns:a16="http://schemas.microsoft.com/office/drawing/2014/main" id="{ADAD613C-892C-43C2-9D22-2AD95212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欄位、型別、允許值、空值規則與排序。</a:t>
            </a:r>
          </a:p>
        </p:txBody>
      </p:sp>
      <p:sp>
        <p:nvSpPr>
          <p:cNvPr id="10" name="card-2">
            <a:extLst xmlns:a="http://schemas.openxmlformats.org/drawingml/2006/main">
              <a:ext uri="{FF2B5EF4-FFF2-40B4-BE49-F238E27FC236}">
                <a16:creationId xmlns:a16="http://schemas.microsoft.com/office/drawing/2014/main" id="{1F38E70D-ED28-4606-8B5E-68666DE6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11" name="card-title-2">
            <a:extLst xmlns:a="http://schemas.openxmlformats.org/drawingml/2006/main">
              <a:ext uri="{FF2B5EF4-FFF2-40B4-BE49-F238E27FC236}">
                <a16:creationId xmlns:a16="http://schemas.microsoft.com/office/drawing/2014/main" id="{0A621C35-ADFA-44CC-90D7-3C5BE984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12" name="card-copy-2">
            <a:extLst xmlns:a="http://schemas.openxmlformats.org/drawingml/2006/main">
              <a:ext uri="{FF2B5EF4-FFF2-40B4-BE49-F238E27FC236}">
                <a16:creationId xmlns:a16="http://schemas.microsoft.com/office/drawing/2014/main" id="{D0438B0A-9CB5-4E3C-8E91-198D6142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fixtures、golden file、unit tests、not found cases。</a:t>
            </a:r>
          </a:p>
        </p:txBody>
      </p:sp>
    </p:spTree>
    <p:extLst>
      <p:ext uri="{BB962C8B-B14F-4D97-AF65-F5344CB8AC3E}">
        <p14:creationId xmlns:p14="http://schemas.microsoft.com/office/powerpoint/2010/main" val="5798057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2C7CA9C-9490-4298-817A-7745CCC0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 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7D1CD90A-EA31-435F-AD01-E0C06A3D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evidence extractor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56656E0E-3EE5-421E-B4B3-939865DA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D8B58C4-DF76-47A3-BE29-B8CDEF65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12/36</a:t>
            </a:r>
          </a:p>
        </p:txBody>
      </p:sp>
    </p:spTree>
    <p:extLst>
      <p:ext uri="{BB962C8B-B14F-4D97-AF65-F5344CB8AC3E}">
        <p14:creationId xmlns:p14="http://schemas.microsoft.com/office/powerpoint/2010/main" val="19221803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C3D387D-6016-429B-9120-911DC3D4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EXTRACTOR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E0D840-C3E3-4D8C-BCBD-4F5F11CA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把『整理文獻』改成可驗證需求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3EA9D92-E7FB-4B55-AE6B-594CB380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13/36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1457126C-DFE3-4D64-AFFB-989722CE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Before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EEF238DF-D8EF-4F0F-8AD0-4E26923D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83ECE18D-4CE9-4993-9806-FA65CDFB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請幫我搜尋 PubMed，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整理 EGFR 跟肺癌治療的文獻，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做成 evidence table。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E8AC1104-B293-44A5-9553-0B22CA31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3635056-E096-4EEF-B7BD-940B3F21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After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A7D10967-DD50-491B-BB0A-CBFE7BA9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輸入：gene、disease、query_date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來源：PubMed only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輸出：PMID、title、study_type、claim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不確定：寫 needs_review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找不到：寫 not_found</a:t>
            </a:r>
          </a:p>
        </p:txBody>
      </p:sp>
    </p:spTree>
    <p:extLst>
      <p:ext uri="{BB962C8B-B14F-4D97-AF65-F5344CB8AC3E}">
        <p14:creationId xmlns:p14="http://schemas.microsoft.com/office/powerpoint/2010/main" val="15190200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8BB2A36-03C9-4B26-954B-04315985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FE32EA9-A815-4DA2-B27A-C6D55E1B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input spec 要限制搜尋範圍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812BECF-1530-430F-B488-E9C44843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14/36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6D58A7DE-7F2B-4D41-9E73-B30A4A23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6644EA5A-46B8-41E4-A3FF-49B8AFC9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3A25C394-776A-4C59-B944-6ACF0130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92C72E06-1DD3-4E57-A79A-BB9D801C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型別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829305DE-BC20-465C-A7DC-432E68A2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7143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258C3087-6785-4340-AF44-D01054AA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0250"/>
            <a:ext cx="691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C12B7AE6-1E10-4946-8B99-0D0C84F7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36B76195-8CEE-46B2-B5CE-0B1A87D6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90E1DD55-7558-4BAC-A365-969C5ACC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1F25E1AF-22D5-4847-971C-451E071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2D7F2245-815D-4BA0-94AC-DFE88789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050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18F85E78-FB83-4AF4-B3EE-C69F8DEA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approved symbol；原始輸入另存 original_gene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42E3755A-6456-42C2-9C4C-6BA97FEC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86BCB053-D2D1-4F86-8959-344CB385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disease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653ED75F-97ED-4F51-9C8C-34E31CC6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1EA673E0-B2B6-47A1-AF29-9A0A7C20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FB8E72A4-28D4-405A-8244-9D2E11D2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5750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50A8222B-EF1F-4624-B197-C0E62F63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5275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使用指定疾病詞，不讓 agent 自行擴大癌種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200E14E4-EBE6-4674-B363-3D7422BD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74C3F0A8-799B-43EF-A380-F9B80918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7848083F-E417-4CCC-8C08-B1A07863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8B58B7D0-BC30-40EB-A5A9-1624136E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216C65ED-DA23-429C-92F9-BAD93E09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4099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2D398161-8153-4872-9C2D-CA49D3DE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052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可由工具生成，但必須保存實際搜尋字串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A33CACE1-F271-4EAE-AEB2-59495968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22B29B0D-A782-4ED9-8102-769DC06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max_records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5D1A14F5-DC80-4AF7-97D9-37924725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2DACA9D5-A57D-4693-A061-22FD91A1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integer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4A5AA12E-8556-4F3A-ABFF-BBC992F5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6240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DC910C4D-04B8-46D4-ABAD-75E3441C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5765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20，上限 100，避免不可審查輸出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F4EB6736-C40B-444D-AEA5-515FA529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26EBA089-FA06-4AB1-9CB4-50CC6916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query_date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E80778C9-BC08-496F-962A-7BE00C09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05BECFB4-B02A-45B8-8DE8-2022AE98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date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50386019-6753-432C-AF4A-60076A9A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148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FCBF6683-6C85-49D0-B7BD-FA2BDE0C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101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保存搜尋日期，讓結果可重現</a:t>
            </a:r>
          </a:p>
        </p:txBody>
      </p:sp>
    </p:spTree>
    <p:extLst>
      <p:ext uri="{BB962C8B-B14F-4D97-AF65-F5344CB8AC3E}">
        <p14:creationId xmlns:p14="http://schemas.microsoft.com/office/powerpoint/2010/main" val="12727643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49BAECF-94DC-481C-8DFA-7A57216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F58348F-7D84-43C3-A473-0159EC95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必須把文獻證據和模型推測分開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5C7420D-6469-46F7-ADA5-738030A2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15/36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F656C914-43F5-4B87-A9BC-83F94F12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62E5162E-774A-45C3-953C-6D7236CD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593567C4-1841-47BC-BE92-9578ED0F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pmid: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title: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year: integer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journal: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entity: gene | disease | drug | variant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claim: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evidence_type: clinical | cohort | preclinical | review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evidence_status: supported | conflicting | not_found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model_inference: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review_status: pass | needs_review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EB02CFF6-E1A1-4D92-B193-47477CF2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68F4AE00-9307-407E-BADF-0638DA40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核心規則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07E7EF5C-AA97-440D-88C0-E9866DC7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不得編造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只寫來源支持的內容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推測放 model_inference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review_status 可擋高風險輸出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18309199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3004C06-2DDB-4DC4-B454-5ACEB30C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PUBMED BOUNDARIES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97D9D58-028D-4ECD-897B-93B6E847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的邊界要直接寫進 spec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69FF5EE-4004-4F17-86D4-746EFAF4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16/36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215F494E-3E5D-4CE3-A48C-32573C63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937C9BE2-8FDF-4BAB-AD1A-86D5E9A7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邊界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D5D3DB78-E3BF-4DFD-AD81-E7B7A86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1C88DE03-C0D5-4B54-9BCD-6E72F0C5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1F43E532-7D84-4EF0-9CDF-6C9A3243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A0287816-FFC9-402D-B681-C82359E3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失敗時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091372E3-5106-41CF-BD63-3B723547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EEA03CEC-05E3-4465-8D38-9507549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9C80365D-1527-4D6C-8FD8-60299EC5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B6A98D11-2BAB-4104-AC06-89BAF656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只使用 PubMed metadata 或明確提供的 abstract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C7754166-BADC-4743-9B65-F0C8EA98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01295007-30FE-4D9C-A8B8-25764A66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source_missing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29A5079D-A92A-4FA0-882A-A21FE63F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4DC7A62-D034-409B-9BB2-5B0A812D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557DE0CF-480E-401E-B403-8700CDB3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F737BFDD-A39A-4AB7-A229-F65189A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不得產生治療建議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1705E27A-2C16-438B-809D-79894651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575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3AB6A6C5-CA89-4704-A39C-57F61396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527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needs_human_review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B5700CC6-0117-4CEC-A66F-BA0C928E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DD537612-788F-423A-A1BE-C4A727CD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2E5923A6-1CA5-46D8-AB05-B61DD3C9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2921DED4-8D06-4217-9C5E-1F4C5058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無法判斷時不得猜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D4655280-45E7-45F1-8CAE-C8795B94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099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F680C52E-2BAF-4C54-BCB6-8EFD9D60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unknown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B47D9C5B-7ECD-4F7C-A0E9-4F6E7C6C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16045758-E02B-4851-951B-05FB345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2A4DB5C7-117B-40F1-8A6C-6677311E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1B43591B-65FB-44E6-B58F-3306FAAF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相反結論要分列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2F4A4833-00B0-4C15-A9E4-5D38E2F7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ED7C9161-DC44-4588-99AD-E4B17135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576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conflicting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0ABBCD6D-6B0A-4E70-8F0E-11A8F1B6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731370DC-9D52-4BDC-8CD2-8388D199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evidence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BF5214C7-3315-4F9D-9111-78D6735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C185FF3F-94C1-4705-9020-96AC3629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不得補常識或模型記憶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77F2A235-96C5-4F79-8C43-F606AC19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37950C26-6141-4D01-9D68-E666BE0F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101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</p:spTree>
    <p:extLst>
      <p:ext uri="{BB962C8B-B14F-4D97-AF65-F5344CB8AC3E}">
        <p14:creationId xmlns:p14="http://schemas.microsoft.com/office/powerpoint/2010/main" val="9063871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57E08C3-B0B0-4B64-96AE-B29E525F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PUBMED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78D6FBF-53F1-4E05-8C0E-69F5E88E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acceptance criteria 要能用 fixtures 測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B216772-6F99-4B4D-9EB3-A69B3044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17/36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69169C7D-7F64-4FC5-B201-5DB15EB6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給定含 3 筆 PMID 的 fixture，輸出列數必須等於 fixture record 數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每列 PMID 必須存在且不得重複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`not_found` case 不得有 claim 或 model-generated PMID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任何 therapeutic implication 都必須標記 `needs_review`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12CD60C6-B457-497A-B2EF-C369461E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A178221E-CEB9-48AD-93C7-B7F9E6E3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測試命令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39118523-F736-48D9-9D3B-DE96FB6E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pytest -q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CSV diff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existence check</a:t>
            </a:r>
          </a:p>
        </p:txBody>
      </p:sp>
    </p:spTree>
    <p:extLst>
      <p:ext uri="{BB962C8B-B14F-4D97-AF65-F5344CB8AC3E}">
        <p14:creationId xmlns:p14="http://schemas.microsoft.com/office/powerpoint/2010/main" val="12795414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915AB98-2749-45E0-907D-AE01E12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EXAMPLE 2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53E38A23-CF81-46E6-84BD-4557F2AA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 list annotation tool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7F275122-59EC-4CFF-A678-99D40CD8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9155B23C-45FA-4C37-A000-9E1F286C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18/36</a:t>
            </a:r>
          </a:p>
        </p:txBody>
      </p:sp>
    </p:spTree>
    <p:extLst>
      <p:ext uri="{BB962C8B-B14F-4D97-AF65-F5344CB8AC3E}">
        <p14:creationId xmlns:p14="http://schemas.microsoft.com/office/powerpoint/2010/main" val="5180748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3E5395B-1FE7-495A-BB08-192D5E57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09ED31-1062-40FE-BE8F-D29F09B3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 input spec 必須保留原始值與物種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16DBBBB-B298-4B7E-BFF0-FDF8B99A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19/36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AD14647E-3976-4B9C-8DDC-2A6D9A28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8CD8C042-8648-4EF6-9097-D65DEF7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654041DA-55A8-4EB1-8FBA-65273A8C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686EDDA0-D1C6-4D0C-96B1-66E8520E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09B4015E-6D72-4042-B46A-75FB8CA9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85950"/>
            <a:ext cx="3619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27DACF43-6812-4F84-8122-45B6E0BD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002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3FC946D4-4B3C-4CF2-8956-977CC657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64B7B5E2-EC8E-4E45-96DD-E4176207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gene_input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05875CF8-FA3D-4BA4-8F5D-E6B5A056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C73DB33E-A247-4037-BFFD-ED5C5B52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保留原始字串，不可覆蓋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E193D3AC-C89E-4D25-B7C7-1C77BFB6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050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966BD677-131B-487D-8BF2-1F4048B4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003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review 時需要追溯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114EE77-5D99-4591-83F9-E70B9A8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BCDB466-F2E7-48A7-9476-6C761D24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species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16EE4857-E1A6-4099-BEA2-3A13DCA1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575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BACABEE2-E578-4A02-8C1E-7086A50D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527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human；可接受 mouse 但要明示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B9EB453E-371E-42AB-BD93-7982AB43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5750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73946C27-C30B-4334-8E4B-1AB66FEB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527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避免跨物種混淆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C9987F66-9A81-4B72-BE41-263F7F9D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715C3F4A-1F84-4A5F-BB4E-B74708A8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2ADB5323-0FED-4A37-8A19-C9CB5DF9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99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F7E0B4DA-8F94-42BC-A656-458ADF9E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052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/ NCBI Gene / Ensembl 擇一或多個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30819206-BC0A-4011-9636-0A421097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099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53F49FD5-A619-4F37-9200-36A7F243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052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資料庫版本影響結果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D7E692D2-17C9-4B3E-AEE6-A12EB59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82A881F6-A7E0-420C-A860-B2DA6D58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allow_synonym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F359E0D9-D65D-450D-9361-9DEE816B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624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64391C5A-9529-4D3B-9772-FC77FEC2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false；若 true 要列出 evidence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76D96069-931B-41DD-9A82-53990609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6240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5233C27F-F749-41FD-AA49-2AC1C253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57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避免自行替換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937F46D8-AF62-480B-A7D3-CE783EB3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11A15E9D-95A2-46E9-9BCF-0E650825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batch_id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F7CB4F9A-F11C-4C55-913E-CC3BE6EC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5148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D852A893-CF36-4BE6-8F8A-6F7759F8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101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保存本批輸入與版本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E846F50D-A770-4FA1-9FC4-6FD5A064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148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58BAE7CD-E7A7-4FC6-BDD0-D99917D7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101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輸出可重跑</a:t>
            </a:r>
          </a:p>
        </p:txBody>
      </p:sp>
    </p:spTree>
    <p:extLst>
      <p:ext uri="{BB962C8B-B14F-4D97-AF65-F5344CB8AC3E}">
        <p14:creationId xmlns:p14="http://schemas.microsoft.com/office/powerpoint/2010/main" val="6279052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6F3EF05-9336-47DA-B95D-30AD26F9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9E4434-803B-4CE6-8164-E3C70A1E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Annotation output 要同時服務機器檢查與人工 review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15FAEA3-4B5E-4024-BB61-3C2A57B2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20/36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4FF32423-003D-4496-A419-AA5DDF8A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A43B7C5A-4EC0-4148-980A-F74F6CE8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4E53D0F8-794B-4603-B245-2366DF73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gene_input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approved_symbol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species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match_type: exact | synonym | withdrawn | not_found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confidence: high | medium | low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evidence_source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evidence_version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message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86397C41-EAA0-40A6-A07A-AE0F1C12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8B050089-CAA6-4C18-B416-83DB51FA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3731B0DB-6D5B-4A11-B39C-EDDE43F4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是合法輸出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synonym 需要來源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confidence 不等於臨床證據等級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message 給人工審查</a:t>
            </a:r>
          </a:p>
        </p:txBody>
      </p:sp>
    </p:spTree>
    <p:extLst>
      <p:ext uri="{BB962C8B-B14F-4D97-AF65-F5344CB8AC3E}">
        <p14:creationId xmlns:p14="http://schemas.microsoft.com/office/powerpoint/2010/main" val="20302311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9DE5435-9C68-4BAF-A061-E56B708B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BOUNDARIES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C71C6F8-58EC-48FF-BDC3-FBF1FA64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list tool 要先決定什麼不能自動做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6123EC4-E8C4-4171-B5C6-31703929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21/36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249C1324-9F9F-4D4C-884B-1A3A3D72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411727CB-EDDD-4D65-AAC1-DC4EB8F3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情境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B56EA002-7FFB-40A4-B4A6-A5D92A7B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33178BD5-FA75-4FBA-BBAC-F0B79511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規格決定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89C83731-CFF6-4DE5-B9A2-6A485DBC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5472C9D-E690-4CA7-A1BE-A78CF0C1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B3795DA8-B971-4FE4-AE6A-09EA2B2E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F197010E-9685-49CA-8E6A-5966C4FF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586DB5FD-1655-439C-8397-0E465C93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A38D7338-B74B-4B6E-A961-B6CF8882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可標記 withdrawn，但不可自動替換成 approved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CBB6BCA6-FD37-42C6-BEEA-32DEF1C5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0DEC8BA6-F472-4863-8C7F-1A45F7B8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避免錯誤合併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D9BAE1A3-EEA0-44CE-A717-7786D942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94B6084E-24AA-4CD2-AACF-9CF18E7A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跨物種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D3557AE5-4CEC-484C-ADCC-FE69D6B7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C505218B-1A73-46B8-9C1A-DA13E257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species 不明時 needs_review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359CC8A6-1116-4354-87B3-E90823AF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337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355F1C4A-D1F5-4462-BFB3-0ACFA549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同名基因可能不同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4D978D2B-507E-4AA4-82C4-FA6750D1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134BF43-0D5A-4084-8304-10E071E7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多重 match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22AB02E2-A23F-4EBF-A3AC-15323124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EB4D2C45-847B-48A0-9DD2-E7E5F40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列出候選，不選唯一答案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09031551-3054-4726-B455-09F7324E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A6447157-5F18-47F6-89DD-C5ACEE89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576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降低錯 annotation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FEB7DE2B-D59E-493F-BAA0-AFCB51E2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249C6308-D177-41C2-8519-3854D5B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非 gene term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50B38746-9F56-462E-A268-C7EB5454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6275C69F-0A46-4DAA-9C32-1BA9DF5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invalid_input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11485E2F-775F-48B1-9FA5-4C667CA6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910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7FC1A409-E255-4413-9417-78014A55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862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 pathway 或 drug 當 gene</a:t>
            </a:r>
          </a:p>
        </p:txBody>
      </p:sp>
    </p:spTree>
    <p:extLst>
      <p:ext uri="{BB962C8B-B14F-4D97-AF65-F5344CB8AC3E}">
        <p14:creationId xmlns:p14="http://schemas.microsoft.com/office/powerpoint/2010/main" val="23928925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D46FC72-322C-4212-B7F5-E19E659D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GENE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B50129D-6C3E-4F3D-9DBA-5BC08378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的測試要包含正常、舊名、找不到與跨物種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12470F8-088B-4F54-824B-2C027CB9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22/36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8D87F260-B12C-47DD-A98F-332975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Fixture 至少包含 TP53、ERBB2、舊名、錯拼、mouse-only symbol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output 固定 `match_type`、`review_status`、`message`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資料庫版本或 retrieval date 要出現在 output metadata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更新資料庫版本時 golden output 可以變，但必須在 changelog 說明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41817346-4843-40C0-8458-076DB914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D681DCD-AACC-4004-9818-BF31AD7C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最小驗收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CD4368CB-C8F4-4D54-9158-6F8EA5E5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silent correction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version recorded</a:t>
            </a:r>
          </a:p>
        </p:txBody>
      </p:sp>
    </p:spTree>
    <p:extLst>
      <p:ext uri="{BB962C8B-B14F-4D97-AF65-F5344CB8AC3E}">
        <p14:creationId xmlns:p14="http://schemas.microsoft.com/office/powerpoint/2010/main" val="1520803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1E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0342AD2-B6C5-4871-AA5C-3D4A702F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EXAMPLE 3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4F9F41EE-9F37-47F3-90D2-D3FEB423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Clinical trial summarizer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E377AED-531D-4FEF-A9DA-F42099CD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55E04D7-9D17-4F62-92E0-BD4F5397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23/36</a:t>
            </a:r>
          </a:p>
        </p:txBody>
      </p:sp>
    </p:spTree>
    <p:extLst>
      <p:ext uri="{BB962C8B-B14F-4D97-AF65-F5344CB8AC3E}">
        <p14:creationId xmlns:p14="http://schemas.microsoft.com/office/powerpoint/2010/main" val="65093894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E176975-AFC4-4473-A483-774DF82A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70A9C53-1BA4-41CA-A130-B9A6C100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的 input spec 要鎖定來源與日期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3683901-03FE-4716-AB32-D0A79D51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24/36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3788B06D-F2CE-49E6-9150-C3097746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4EBD79B2-4D4F-4BA1-943B-4D30A334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輸入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D3B70CCD-33C6-4A97-B328-17B9670D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68EFD68C-69BA-4F77-A2ED-5E4EC52B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3F6D1D01-7618-4AEC-88A8-11E4BB40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BC9BBA2F-FEFD-4DEF-9374-57363215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風險控制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52A48AE6-E12A-4D0D-9FB2-312DEC80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9B28F18-5318-4FDB-A511-0DBDAF76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nct_id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72629638-052C-4073-AB6D-6BB0EF7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A5D9F1A3-2392-4120-B92E-37B7ACCA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必填；格式 `NCT` + 8 digits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05039D0B-1FF2-4FF8-8D8F-38E34477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F16352F2-05DA-4906-9124-4E1F9DC9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 trial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27A2160F-BFD9-411E-900F-B83149EC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683DB1B7-A270-4B27-B5E9-AF3F531F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source_record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6F7129DD-4937-47D5-8F65-FB14681F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5750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E4F686C3-B9F9-4C19-A08C-CEF74ECF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527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ClinicalTrials.gov record 或本地 JSON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8B5E6D69-0133-478D-AC08-E55E7075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575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15E92B5-A20E-4FA9-87B2-981F105C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527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不靠模型記憶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DA60070A-CB3C-4E44-A2DD-5E102A3A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967E2D0B-10F2-4DE8-A6FE-A24AE2EC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retrieved_date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556C82FA-13AF-4BDA-93D7-7FA0CCA5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99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11DCB019-4A5A-4EA0-95B8-6A6315E1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052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81804907-1D39-47B7-8485-815264C5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099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49ECD9EC-C248-4187-B07B-71575C59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狀態會變動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4847A1C4-3F82-4B70-9AF9-E4A66226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ECDC69D-3900-4981-A6D8-D103FF3F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summary_scope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AC694C8A-F770-4021-AD7C-8FCA8214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6240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4A2F8E46-1188-4CB8-B2EC-3D8569EE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status、phase、criteria、intervention、outcomes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9C9AAA76-EE1A-4CC8-AF8B-C9ACBB7F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2276B21E-32D3-4EC9-92DE-6332ED4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576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避免亂擴充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E397D6CD-62B1-4120-8326-C443DEFF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D1413C39-5517-4701-8C97-1E5C1B95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audience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9BB465AC-B8B5-40C7-AA35-DD8AC6F8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5148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43C32A6F-5832-40C1-ADC4-EC8A2FF1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101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note only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F888FA0B-9669-4746-ADB7-D4DDAD38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C2025FD9-21EF-4BC7-97E8-91E9EF7E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101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避免臨床建議</a:t>
            </a:r>
          </a:p>
        </p:txBody>
      </p:sp>
    </p:spTree>
    <p:extLst>
      <p:ext uri="{BB962C8B-B14F-4D97-AF65-F5344CB8AC3E}">
        <p14:creationId xmlns:p14="http://schemas.microsoft.com/office/powerpoint/2010/main" val="11455677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049A856-F3F8-4F39-B365-DD4A55E8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8DCE33E-22A9-4EFF-8227-07B39929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summary 要保留 eligibility 與 status 的原始依據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B8BFB59-0E0E-4D73-884D-10A4154F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25/36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DE2BB076-D93F-4FBE-816A-76B8BCA0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B23505DF-A9E0-418C-B441-75280EF5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9B113209-0907-41E8-A3FF-837FB975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nct_id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official_title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phase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recruitment_status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condition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interventions[]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primary_outcomes[]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inclusion_summary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exclusion_summary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source_fields[]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retrieved_date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BFBBB043-E388-46CB-90DD-3223CE2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927901C8-81C2-44D9-ACB7-DCD05FD9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必要規則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AA82E72C-D985-4946-85F7-E8B9789C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不得憑記憶更新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criteria summary 要標 source_fields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不得寫病人適不適合參加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高風險解讀標 needs_review</a:t>
            </a:r>
          </a:p>
        </p:txBody>
      </p:sp>
    </p:spTree>
    <p:extLst>
      <p:ext uri="{BB962C8B-B14F-4D97-AF65-F5344CB8AC3E}">
        <p14:creationId xmlns:p14="http://schemas.microsoft.com/office/powerpoint/2010/main" val="38844106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D9113A6-6E7C-4592-B86D-6EF7D864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TRIAL ERRORS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A1338FB-B317-404D-8F94-07E81701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summarizer 的錯誤處理要比一般摘要更嚴格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B9188FF-3C3E-4070-8D25-132E4489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26/36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479A1395-2B55-4EB8-99FF-1ED93845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905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D7D90721-35A9-4DA9-9A1E-DA73173E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錯誤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BF89887E-946E-4408-AC44-9C1090A9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885950"/>
            <a:ext cx="3714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716A79E0-F9D3-4126-BFB3-6487C1E0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輸出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55668E47-0B18-4A9D-9967-2D786353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7FD536C2-DA64-46EB-9719-EBE581D6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不能做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A67E5688-F900-478D-8F71-9990F9EE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8CF2FF41-EE8F-463A-90B4-5A16794F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 NCT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F4EA76FB-F737-4B7D-AD0E-C4CEC726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30505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B9457096-067A-446B-B353-FA771FAD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0030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not_found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0186F31A-BBD0-4AA7-9A08-C4F1F977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29A4929C-AF00-4061-BD4C-4851539A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自行產生 trial title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AFF61953-08A1-4741-88EF-63CA2C62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1EE752D8-7290-4C5D-A80B-267D8567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欄位缺失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C68C915F-5C59-480F-BFF9-CFF43FFF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BEF21251-62AA-4F57-8AF2-7A330B7F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2895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field_status = missing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EA3C0FE2-BDFB-434E-A0C1-1D132AA6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627B12AB-8A1D-4C56-8451-41DA810D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用常識補 eligibility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4D2DC00-9B70-4963-B8CC-70B78B7A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D863314-7724-47B0-A106-B39F2A12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多版本衝突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88D94575-D888-46AC-85D3-83F7F02A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6235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4203D39E-B1FB-464F-A8B4-9F1BBA38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5760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conflicting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F831DBFB-92CE-4725-BA2F-0B628944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AA9D870B-ACA5-4E0A-9BDB-786F684E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只選一個版本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3026D873-621C-4BFE-BE0B-4C30A364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F4037F8D-83DF-401E-B3A3-53E03F8A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PII 出現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E861DDC1-58DD-4395-9359-A0B44774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9100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24936D5D-C600-4339-B366-6ACC446A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28625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stop_and_report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E99FE27F-9BE5-4626-A157-AE6A5A52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CC45126A-FD12-4286-95CC-77C417F2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繼續摘要或外傳資料</a:t>
            </a:r>
          </a:p>
        </p:txBody>
      </p:sp>
    </p:spTree>
    <p:extLst>
      <p:ext uri="{BB962C8B-B14F-4D97-AF65-F5344CB8AC3E}">
        <p14:creationId xmlns:p14="http://schemas.microsoft.com/office/powerpoint/2010/main" val="108435024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77AACDE-B82A-453D-A025-72E2D3BD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TRIAL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9D7BF83-A54E-49F0-BD4B-AA6D3F9E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summary 的驗收標準要防止過度推論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5649DB7-5A7C-44C2-91AB-9E073CA2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27/36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45354B7C-47BB-4BCA-BF3D-138641CD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summary 欄位都能追到原始 JSON path 或 source field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 ID format 錯誤時必須 fail fast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recruitment status 必須與 retrieved record 一致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不得產生 eligibility recommendation 或 treatment recommendation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F68A53C8-CBC0-4DAE-944A-B54D77EA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9BBB0C8-02A9-4A10-B0DF-97E06E73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AE43B620-C2EA-4102-AFA3-FC705380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JSON schema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field trace check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negative fixtures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 review gate</a:t>
            </a:r>
          </a:p>
        </p:txBody>
      </p:sp>
    </p:spTree>
    <p:extLst>
      <p:ext uri="{BB962C8B-B14F-4D97-AF65-F5344CB8AC3E}">
        <p14:creationId xmlns:p14="http://schemas.microsoft.com/office/powerpoint/2010/main" val="46556943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6C9BB4F-94CB-4EF0-84C3-97D36CFE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FE29B10-E574-4AC5-B3C2-4D013DF4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Kit、OpenSpec、Spectra 是 scaffold，不是答案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D35EC317-469E-4B09-A371-D30C8965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8DDE4AF-60B0-47A4-A6C7-0B5E156F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28/36</a:t>
            </a:r>
          </a:p>
        </p:txBody>
      </p:sp>
    </p:spTree>
    <p:extLst>
      <p:ext uri="{BB962C8B-B14F-4D97-AF65-F5344CB8AC3E}">
        <p14:creationId xmlns:p14="http://schemas.microsoft.com/office/powerpoint/2010/main" val="4095480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3C6A54E-F266-456E-A5D3-8E052383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TOOLING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07EC50D-E69F-4502-91F4-4D515AA2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 SDD 工具都在解同一個問題：讓需求、設計與任務可追蹤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0B5F0F-B6F8-49B2-B53A-2BBF0565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29/36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45107E8C-3D0F-44FC-897C-B4C13B6F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714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902A20C5-6BD5-4C01-B321-B4E0D0E0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工具或概念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04B89864-40FA-4AD2-B3BE-0BE27367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F701E27C-4A3A-420F-9BFB-8A8ABA9C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課堂採用的想法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AE3B0774-1B65-4D42-9DCC-7A50C587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85950"/>
            <a:ext cx="3905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D73F454-AABB-4F63-8898-D150A798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002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2ABD4A18-E005-4227-B8F9-0B1E2756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FBC6CB5D-1683-40A3-B87F-D7074DBF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Kit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6E588820-6D77-4646-BDBE-F9107AE9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FE82B2BC-FB0F-44D4-A612-0B1EE8F8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constitution、specify、plan、tasks、implement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92045013-D3F5-4922-8A67-EE658732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0505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6BCB72FB-B71B-4F12-81C7-1D427969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030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 加入 citation / PHI / clinical claim 規則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7607CBF3-9F2B-4108-AF30-4C9E7DF6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30BBCC0-44EA-48C5-99E4-E9E505AA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AF5D6D79-6E46-442F-95DE-3328BC42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FF054C57-E6E6-4F19-BF98-87356D5A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proposal、spec、design、tasks 與狀態追蹤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0D762BA4-7421-46BC-BA14-4EFA86F9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3370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7365D2E2-1772-4ADA-AC19-58C9F1FF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289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dependency order 管理 spec artifacts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46B8311F-1038-470D-BCA9-EBFC85D1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6E56D825-48DD-4379-B267-5490C648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7B70B5AC-262C-4058-A263-81068C7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16F2F5DD-5D2E-4B80-9704-2994BF00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GUI/CLI 讓規格流程更可見，並檢查遺漏與矛盾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B3584D62-EEA2-4CAC-B6ED-9E7BFF62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6235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B7262A64-6888-4B9F-9469-50376C9D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5760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用於教學展示 spec review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CB4FD291-C49E-4FFB-AF54-8A5891B1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DF5BBFD7-E41B-4968-89B5-1883BDF6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Lightweight SDD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14C0A19D-14E1-4DCD-854B-010C33B6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9F24B386-D493-4D77-9B06-187C798E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先寫小規格，再小 patch 實作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FCDAFEDC-B521-4792-96A8-5F21A284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9100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E05E6995-9889-4B6A-9C52-05AAB89D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862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避免過度文件化</a:t>
            </a:r>
          </a:p>
        </p:txBody>
      </p:sp>
      <p:sp>
        <p:nvSpPr>
          <p:cNvPr id="34" name="source">
            <a:extLst xmlns:a="http://schemas.openxmlformats.org/drawingml/2006/main">
              <a:ext uri="{FF2B5EF4-FFF2-40B4-BE49-F238E27FC236}">
                <a16:creationId xmlns:a16="http://schemas.microsoft.com/office/drawing/2014/main" id="{63B8D953-55D9-49D8-AFE6-8EB25C24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62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GitHub Spec Kit, OpenSpec/Spectra articles</a:t>
            </a:r>
          </a:p>
        </p:txBody>
      </p:sp>
    </p:spTree>
    <p:extLst>
      <p:ext uri="{BB962C8B-B14F-4D97-AF65-F5344CB8AC3E}">
        <p14:creationId xmlns:p14="http://schemas.microsoft.com/office/powerpoint/2010/main" val="2307558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549DEEC-CD8B-4473-9C7F-DA486CD7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ASK FOR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D8521DF-FE06-44AD-A25B-C4909937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先讓 agent 寫 spec，但要求它先問問題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E138854-2169-4352-9BCE-B6937672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30/36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004BB1F7-C395-427F-A225-25D65B3E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7A403396-7F6F-4172-B5D5-E950F3DF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87FBB7BB-6679-4303-82A1-7BC5F7AA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請不要開始寫程式。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請先根據下列 biomedical tool idea 建立 SPEC.md。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你必須先列出最多 8 個 clarification questions。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沒有答案時，提出保守預設並標記 assumption。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SPEC.md 必須包含：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Goal / non-goals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Inputs / outputs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Boundary conditions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Error handling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Human review gate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31F132B5-DE10-412F-A930-61172632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4D745833-72B4-424F-92AE-065A8514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C2ED6FEE-D033-4F1D-88D1-52E026E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禁止先寫 code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先逼出 ambiguity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沒有答案要標 assumption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要包含驗證與 review</a:t>
            </a:r>
          </a:p>
        </p:txBody>
      </p:sp>
    </p:spTree>
    <p:extLst>
      <p:ext uri="{BB962C8B-B14F-4D97-AF65-F5344CB8AC3E}">
        <p14:creationId xmlns:p14="http://schemas.microsoft.com/office/powerpoint/2010/main" val="143106142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E4EB904-AC6B-40B0-8BF1-19A4DE24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IMPLEMENT FROM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589B45-A699-499C-9228-8CB374EB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實作時，要把 spec 變成 acceptance contract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10AEB85-0BED-4569-B35B-429D56F4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31/36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F39DCEE0-AC2D-49AC-A8D2-077CE994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A117FEA4-C3D4-4986-9BFF-5E34CFCE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6EB54D1D-0506-4A2F-8602-3CAD77B0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請依照 SPEC.md 實作最小版本。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規則：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只改 tasks.md 指定的檔案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每完成一個 task 就跑相對應測試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不得新增 SPEC.md 沒提到的功能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若 SPEC.md 不清楚，先停下來問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completed tasks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files changed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deviations from SPEC.md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remaining risks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8010C6D3-F4A4-4375-85D4-9578C034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17B7DD07-7422-4771-AA07-3EB0C53D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完成定義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8BA24BAF-5656-433C-9B3B-5F3544C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不是它說完成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 acceptance criteria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所有 deviation 要列出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要回寫</a:t>
            </a:r>
          </a:p>
        </p:txBody>
      </p:sp>
    </p:spTree>
    <p:extLst>
      <p:ext uri="{BB962C8B-B14F-4D97-AF65-F5344CB8AC3E}">
        <p14:creationId xmlns:p14="http://schemas.microsoft.com/office/powerpoint/2010/main" val="128868048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CD32EDE-0DEA-4ED6-9A90-2E4FB550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 DRIFT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4210FB-C864-4218-A4B2-8582CA18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會讓 SDD 失效，所以規格要跟 commit 一起活著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50DA0CA-59FC-4DBB-8E9D-56B16C30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32/36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D2701DA7-80A2-4B80-9197-60DD58C2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程式碼行為改了，SPEC.md 必須同步改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測試暴露新邊界條件時，要補回 requirements 或 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資料庫版本、API schema、source policy 改了，要記錄在 changelog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不要把過時 spec 留給 agent 當錯誤 context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257CE620-F965-46B2-AE29-19602455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9F6B93F-44CC-41C0-A0A1-D45F60F2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Change rule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1F924BA5-1ACA-4504-82C4-0604541B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first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small patch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test evidence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gate</a:t>
            </a:r>
          </a:p>
        </p:txBody>
      </p:sp>
    </p:spTree>
    <p:extLst>
      <p:ext uri="{BB962C8B-B14F-4D97-AF65-F5344CB8AC3E}">
        <p14:creationId xmlns:p14="http://schemas.microsoft.com/office/powerpoint/2010/main" val="6115589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FC06106-AE8B-414F-9AA2-93661986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D2FADEF-3644-4F02-8E0D-E850408E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spec review 的重點是可追溯、可驗證、可停止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BC215A2-087E-4484-9283-6F083D6B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33/36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739C2B72-255A-400C-BC8A-98132CA8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0192DA14-56EC-4C0E-962C-952F8F16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檢查項目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586E302D-AFAE-48FC-9644-79AB499D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5334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D968581D-CC86-4805-BF74-96E56252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510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要問的問題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9AA6F89C-E303-4890-9878-B6A2F59E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85950"/>
            <a:ext cx="3429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E23A3AB-DC37-4468-9301-7D713F45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002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不通過時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291E2F17-3CE8-4B63-96AB-42A556EC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C867B2A3-DE9C-4BF5-A1B4-05AF9135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8B5A0906-E1A9-49AE-B5AC-7DCA7B06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B2B2F829-B07F-4A82-8B8C-64A30610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允許資料源和版本寫清楚了嗎？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CF232887-EFAE-4370-8A45-4C6814A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8D7DFBED-B699-466E-AF79-CCF35A87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003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補來源或縮小 scope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5AF0D59B-5AD9-4A06-BA76-6E8A6F1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B4558DF3-043A-479C-A6E3-A18B43A9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BD109C4C-113E-47C0-8650-D329D813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0BF5E7F7-4119-4772-88EC-95E5093E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output 欄位都有型別與允許值嗎？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5C452BF2-0480-4514-9B90-C4FB4A02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5750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EE842473-CC49-4A62-BAE9-0BD89DC9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schema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06B38DAD-3727-4589-A654-4519F411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030AD1BA-6511-4F9E-80B8-B9B9DFED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 found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B438D4DB-BD86-4793-8EE1-7200EE85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C8C5846B-0542-4BE4-911D-9DD63B3F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找不到資料時會停止還是亂補？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78626A30-278A-4E57-98B9-5380C68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183BA48D-4F49-4B4B-8E19-6229D0D7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052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not_found rule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A94EC882-F7AB-4A26-B682-1099EBF5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AE788807-A48B-48C3-865C-848ACC41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895E6473-E3DA-45C3-B93A-3E800D5B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3C77A0BE-8BA4-4CE4-A49B-9F8ECE17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PHI、clinical claim、external action 有 gate 嗎？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C20C37F6-C344-4A65-8416-00F6781B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6240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0BAFCD3A-F3FF-4F88-BB0F-BD93EA03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human review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CDBDE17C-1F9C-4E0E-AF37-56B97B68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26902DA2-1944-4FFA-875E-A3A8CF1A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7F776C2D-866E-49E0-A505-5DCF4520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94B6D5DE-3C7F-45E3-A1B0-213A4174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sample fixtures 和命令可以重跑嗎？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13D290B7-1AF3-4114-8C33-2EE0BDA0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148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8DF11579-510E-43A8-A8F0-778C0327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tests/golden file</a:t>
            </a:r>
          </a:p>
        </p:txBody>
      </p:sp>
    </p:spTree>
    <p:extLst>
      <p:ext uri="{BB962C8B-B14F-4D97-AF65-F5344CB8AC3E}">
        <p14:creationId xmlns:p14="http://schemas.microsoft.com/office/powerpoint/2010/main" val="150809450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0B84E2C-57B5-4D26-AE61-59EDA433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068467-5A42-4BC4-BE06-E2B16FDA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學生要交的是 spec，不是看起來很厲害的 prompt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C05BAB1-C5F7-474D-843C-7F43F59B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34/36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56A0DBEC-B414-445D-A21E-D18A4168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428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1E60E1A7-55E7-4226-B8EB-A5474DD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步驟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87F1AD96-3E3F-4704-891B-4AAE2794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FE44FABE-BEF2-45C5-8E6B-61406D05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9ABDD5D7-0385-4CDE-AD7E-BAAE1E37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85950"/>
            <a:ext cx="4000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D27A4D41-F648-4288-9E89-80CAD735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0025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01160C89-D74E-400A-B5C6-99CC973F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FDAE76D-53A8-4176-84F9-E3C6A1ED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Pick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A047D232-09AF-48F5-9EFA-66F86332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0505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1E797503-6F58-43F0-9810-E9BC0159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選一個工具：PubMed / gene / trial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52347C31-48F1-41C3-8311-848EDCC8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0505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E5AEC6F4-F24B-4EA8-9681-43E431FD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 是否夠小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956A6A7-419D-41BC-81D8-A4D134DA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5E3ACC5C-82D5-48A3-96C9-9AC1710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Clarify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82AB9D8B-3A7B-4F0B-B2FD-68CD7B6C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7180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683E3A77-69B3-4DE1-85DD-5E972239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6705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 5 個 clarification questions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127EA49F-0ADB-455A-A441-973B01C3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7180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87F5D5BC-0660-4B7D-A81F-2D6B9DE9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6705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是否問到資料源與邊界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5AACE52F-9631-4490-9C6F-BF3F541B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F7E3E7C0-E14B-4532-B6F1-017A81E7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Specify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A27193CA-3DE4-4642-B688-8309D00D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63855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E6505526-4900-4DF6-87C0-40DAE984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3380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填入 SPEC.md template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942C17F8-7F7E-45FB-8432-A6E99069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3855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6FFA6011-CA34-428C-82DD-825F3E83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3380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schema、errors、validation 是否完整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B3D22A21-81EA-4F03-A505-B0DC9A03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F602F51-1EBD-4021-8F29-1A5ABD31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Handoff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BCD1A3FA-313A-4192-A0A3-B526E34C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0530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EAFF3C21-498D-44FB-8C35-DF7760B8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0055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寫給 coding agent 的 implementation prompt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6BA588F4-ABE2-4637-A52A-483413B1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0530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BBBD4685-B4B5-463A-BE1D-11E70C52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0055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是否限制改檔與測試命令</a:t>
            </a:r>
          </a:p>
        </p:txBody>
      </p:sp>
    </p:spTree>
    <p:extLst>
      <p:ext uri="{BB962C8B-B14F-4D97-AF65-F5344CB8AC3E}">
        <p14:creationId xmlns:p14="http://schemas.microsoft.com/office/powerpoint/2010/main" val="51759168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AA33D5C-2AA5-4993-BF7D-DE1E570D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MATERIALS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B2473A-280F-4619-A719-0FD99CFC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bundle 包含一個範本與三個完整生醫工具 spec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E7D64E0-17F3-4A6E-B1FA-E754B1E5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35/36</a:t>
            </a:r>
          </a:p>
        </p:txBody>
      </p:sp>
      <p:sp>
        <p:nvSpPr>
          <p:cNvPr id="4" name="lab-box">
            <a:extLst xmlns:a="http://schemas.openxmlformats.org/drawingml/2006/main">
              <a:ext uri="{FF2B5EF4-FFF2-40B4-BE49-F238E27FC236}">
                <a16:creationId xmlns:a16="http://schemas.microsoft.com/office/drawing/2014/main" id="{5647E190-8088-465B-94EB-CA67E61A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7625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5" name="lab-title">
            <a:extLst xmlns:a="http://schemas.openxmlformats.org/drawingml/2006/main">
              <a:ext uri="{FF2B5EF4-FFF2-40B4-BE49-F238E27FC236}">
                <a16:creationId xmlns:a16="http://schemas.microsoft.com/office/drawing/2014/main" id="{C415F7AC-0074-4C02-86D8-067E9C99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86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 xmlns:a="http://schemas.openxmlformats.org/drawingml/2006/main">
              <a:ext uri="{FF2B5EF4-FFF2-40B4-BE49-F238E27FC236}">
                <a16:creationId xmlns:a16="http://schemas.microsoft.com/office/drawing/2014/main" id="{23E6DF99-1E9C-4028-9954-C78D2FDC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95600"/>
            <a:ext cx="3790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0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050">
                <a:solidFill>
                  <a:srgbClr val="17202A"/>
                </a:solidFill>
                <a:latin typeface="Menlo"/>
                <a:ea typeface="Menlo"/>
                <a:cs typeface="Menlo"/>
              </a:rPr>
              <a:t>templates/biomedical-tool-spec-template.md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0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0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examples/pubmed-evidence-extractor/SPEC.md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0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0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examples/gene-list-annotation-tool/SPEC.md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0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0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examples/clinical-trial-summarizer/SPEC.md</a:t>
            </a:r>
          </a:p>
        </p:txBody>
      </p:sp>
      <p:sp>
        <p:nvSpPr>
          <p:cNvPr id="7" name="src-box">
            <a:extLst xmlns:a="http://schemas.openxmlformats.org/drawingml/2006/main">
              <a:ext uri="{FF2B5EF4-FFF2-40B4-BE49-F238E27FC236}">
                <a16:creationId xmlns:a16="http://schemas.microsoft.com/office/drawing/2014/main" id="{75A19244-4F84-41BC-A4A0-F0BA0711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47675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src-title">
            <a:extLst xmlns:a="http://schemas.openxmlformats.org/drawingml/2006/main">
              <a:ext uri="{FF2B5EF4-FFF2-40B4-BE49-F238E27FC236}">
                <a16:creationId xmlns:a16="http://schemas.microsoft.com/office/drawing/2014/main" id="{34475C04-68A3-415E-A81E-B77092F8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86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Referenced sources</a:t>
            </a:r>
          </a:p>
        </p:txBody>
      </p:sp>
      <p:sp>
        <p:nvSpPr>
          <p:cNvPr id="9" name="src-list">
            <a:extLst xmlns:a="http://schemas.openxmlformats.org/drawingml/2006/main">
              <a:ext uri="{FF2B5EF4-FFF2-40B4-BE49-F238E27FC236}">
                <a16:creationId xmlns:a16="http://schemas.microsoft.com/office/drawing/2014/main" id="{196E8209-90CC-4BC3-BBAA-56DD9C0D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3638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ihower.tw SDD critique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Kao Chen Long SDD / Spectra articles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Milk Midi GitHub Spec Kit walkthrough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琳.tw SDD workflow guide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Tenten SDD overview</a:t>
            </a:r>
          </a:p>
        </p:txBody>
      </p:sp>
    </p:spTree>
    <p:extLst>
      <p:ext uri="{BB962C8B-B14F-4D97-AF65-F5344CB8AC3E}">
        <p14:creationId xmlns:p14="http://schemas.microsoft.com/office/powerpoint/2010/main" val="9230159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3DC02D7-EA4B-4ADF-97BA-47C75849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C13E0D-35C7-4F23-B33A-89110373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B392BD1-D86A-4352-A49F-5619CCE3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36/36</a:t>
            </a:r>
          </a:p>
        </p:txBody>
      </p:sp>
      <p:sp>
        <p:nvSpPr>
          <p:cNvPr id="4" name="wrap-0">
            <a:extLst xmlns:a="http://schemas.openxmlformats.org/drawingml/2006/main">
              <a:ext uri="{FF2B5EF4-FFF2-40B4-BE49-F238E27FC236}">
                <a16:creationId xmlns:a16="http://schemas.microsoft.com/office/drawing/2014/main" id="{9B3F4413-CEE5-4241-AE14-037B9EA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811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wrap-text-0">
            <a:extLst xmlns:a="http://schemas.openxmlformats.org/drawingml/2006/main">
              <a:ext uri="{FF2B5EF4-FFF2-40B4-BE49-F238E27FC236}">
                <a16:creationId xmlns:a16="http://schemas.microsoft.com/office/drawing/2014/main" id="{4AD15135-7886-461E-BFC5-413578E0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335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Spec 不是文件崇拜，而是讓正確性可以被檢查。</a:t>
            </a:r>
          </a:p>
        </p:txBody>
      </p:sp>
      <p:sp>
        <p:nvSpPr>
          <p:cNvPr id="6" name="wrap-1">
            <a:extLst xmlns:a="http://schemas.openxmlformats.org/drawingml/2006/main">
              <a:ext uri="{FF2B5EF4-FFF2-40B4-BE49-F238E27FC236}">
                <a16:creationId xmlns:a16="http://schemas.microsoft.com/office/drawing/2014/main" id="{4B42F0CD-2DD3-4EAD-947B-0755DE59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wrap-text-1">
            <a:extLst xmlns:a="http://schemas.openxmlformats.org/drawingml/2006/main">
              <a:ext uri="{FF2B5EF4-FFF2-40B4-BE49-F238E27FC236}">
                <a16:creationId xmlns:a16="http://schemas.microsoft.com/office/drawing/2014/main" id="{FAB98B5C-5906-4E67-8666-81D5724D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146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模糊需求要先問清楚，不能直接交給 agent 寫 code。</a:t>
            </a:r>
          </a:p>
        </p:txBody>
      </p:sp>
      <p:sp>
        <p:nvSpPr>
          <p:cNvPr id="8" name="wrap-2">
            <a:extLst xmlns:a="http://schemas.openxmlformats.org/drawingml/2006/main">
              <a:ext uri="{FF2B5EF4-FFF2-40B4-BE49-F238E27FC236}">
                <a16:creationId xmlns:a16="http://schemas.microsoft.com/office/drawing/2014/main" id="{862897C7-D77F-4E01-B315-95EDA1D2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wrap-text-2">
            <a:extLst xmlns:a="http://schemas.openxmlformats.org/drawingml/2006/main">
              <a:ext uri="{FF2B5EF4-FFF2-40B4-BE49-F238E27FC236}">
                <a16:creationId xmlns:a16="http://schemas.microsoft.com/office/drawing/2014/main" id="{D533E3C8-1FB0-4C68-A974-D4C33F56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Input、output、boundary、error、validation 是最小骨架。</a:t>
            </a:r>
          </a:p>
        </p:txBody>
      </p:sp>
      <p:sp>
        <p:nvSpPr>
          <p:cNvPr id="10" name="wrap-3">
            <a:extLst xmlns:a="http://schemas.openxmlformats.org/drawingml/2006/main">
              <a:ext uri="{FF2B5EF4-FFF2-40B4-BE49-F238E27FC236}">
                <a16:creationId xmlns:a16="http://schemas.microsoft.com/office/drawing/2014/main" id="{6EBA5319-FE25-45EA-95AA-A5035372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243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11" name="wrap-text-3">
            <a:extLst xmlns:a="http://schemas.openxmlformats.org/drawingml/2006/main">
              <a:ext uri="{FF2B5EF4-FFF2-40B4-BE49-F238E27FC236}">
                <a16:creationId xmlns:a16="http://schemas.microsoft.com/office/drawing/2014/main" id="{A00DA761-C8BF-4A5E-8544-3003BE81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767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生醫工具要把 evidence、not found、human review 寫進規格。</a:t>
            </a:r>
          </a:p>
        </p:txBody>
      </p:sp>
      <p:sp>
        <p:nvSpPr>
          <p:cNvPr id="12" name="wrap-4">
            <a:extLst xmlns:a="http://schemas.openxmlformats.org/drawingml/2006/main">
              <a:ext uri="{FF2B5EF4-FFF2-40B4-BE49-F238E27FC236}">
                <a16:creationId xmlns:a16="http://schemas.microsoft.com/office/drawing/2014/main" id="{C69AF47A-CCE1-40C2-BA15-AF90A168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053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3" name="wrap-text-4">
            <a:extLst xmlns:a="http://schemas.openxmlformats.org/drawingml/2006/main">
              <a:ext uri="{FF2B5EF4-FFF2-40B4-BE49-F238E27FC236}">
                <a16:creationId xmlns:a16="http://schemas.microsoft.com/office/drawing/2014/main" id="{016DF971-B7D3-4656-9287-5133911A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577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SDD 成敗取決於 spec 是否跟測試和 commit 一起演進。</a:t>
            </a:r>
          </a:p>
        </p:txBody>
      </p:sp>
    </p:spTree>
    <p:extLst>
      <p:ext uri="{BB962C8B-B14F-4D97-AF65-F5344CB8AC3E}">
        <p14:creationId xmlns:p14="http://schemas.microsoft.com/office/powerpoint/2010/main" val="8478482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2026-07-07T12:52:00.6930000Z</dcterms:created>
  <dcterms:modified xsi:type="dcterms:W3CDTF">2026-07-07T12:52:00.6930000Z</dcterms:modified>
</coreProperties>
</file>