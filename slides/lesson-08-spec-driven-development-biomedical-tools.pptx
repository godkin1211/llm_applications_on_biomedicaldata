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357" r:id="rId2"/>
    <p:sldId id="358" r:id="rId3"/>
    <p:sldId id="359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56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375" r:id="rId21"/>
    <p:sldId id="376" r:id="rId22"/>
    <p:sldId id="377" r:id="rId23"/>
    <p:sldId id="378" r:id="rId24"/>
    <p:sldId id="379" r:id="rId25"/>
    <p:sldId id="380" r:id="rId26"/>
    <p:sldId id="381" r:id="rId27"/>
    <p:sldId id="382" r:id="rId28"/>
    <p:sldId id="383" r:id="rId29"/>
    <p:sldId id="384" r:id="rId30"/>
    <p:sldId id="385" r:id="rId31"/>
    <p:sldId id="397" r:id="rId32"/>
    <p:sldId id="398" r:id="rId33"/>
    <p:sldId id="399" r:id="rId34"/>
    <p:sldId id="386" r:id="rId35"/>
    <p:sldId id="400" r:id="rId36"/>
    <p:sldId id="387" r:id="rId37"/>
    <p:sldId id="388" r:id="rId38"/>
    <p:sldId id="389" r:id="rId39"/>
    <p:sldId id="401" r:id="rId40"/>
    <p:sldId id="402" r:id="rId41"/>
    <p:sldId id="403" r:id="rId42"/>
    <p:sldId id="404" r:id="rId43"/>
    <p:sldId id="405" r:id="rId44"/>
    <p:sldId id="390" r:id="rId45"/>
    <p:sldId id="391" r:id="rId46"/>
    <p:sldId id="392" r:id="rId47"/>
    <p:sldId id="393" r:id="rId48"/>
    <p:sldId id="394" r:id="rId49"/>
    <p:sldId id="395" r:id="rId50"/>
    <p:sldId id="396" r:id="rId5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2"/>
    <p:restoredTop sz="94658"/>
  </p:normalViewPr>
  <p:slideViewPr>
    <p:cSldViewPr snapToGrid="0">
      <p:cViewPr>
        <p:scale>
          <a:sx n="188" d="100"/>
          <a:sy n="188" d="100"/>
        </p:scale>
        <p:origin x="-952" y="-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lesson teaches lightweight spec-driven development for biomedical tools. It adapts SDD ideas from the provided sources and official Spec Kit docs, with emphasis on biomedical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今天的核心能力是把願望改寫成可驗證的工具合約</a:t>
            </a:r>
          </a:p>
          <a:p>
            <a:endParaRPr/>
          </a:p>
          <a:p>
            <a:r>
              <a:t>解釋為什麼 agent 動手前要先有 spec 把模糊需求拆成 input、output、boundary、error、validation 替 PubMed extractor、gene annotation、trial summarizer 寫出最小可用規格 知道 SDD 何時有用，何時會變成文件負擔 90 分鐘後: 能寫 SPEC.md 能問 clarification 能定義 acceptance criteria 能交給 coding agent 實作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Biomedical 工具最怕的不是不能跑，而是跑出看似合理的錯結果</a:t>
            </a:r>
          </a:p>
          <a:p>
            <a:endParaRPr/>
          </a:p>
          <a:p>
            <a:r>
              <a:t>文獻 evidence extractor 可能編造 PMID 或混淆模型推測 Gene annotation tool 可能混用物種、舊名與 approved symbol Clinical trial summarizer 可能把 recruitment status 或 eligibility 寫錯 先寫 spec 是先定義什麼叫做正確，而不是先叫 AI 寫 code Spec 的工作: 限制猜測空間 把錯誤變可見 讓測試有依據 讓 review 有標準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這幾篇文章的共同結論：SDD 有用，但不能變成 Markdown 堆高機</a:t>
            </a:r>
          </a:p>
          <a:p>
            <a:endParaRPr/>
          </a:p>
          <a:p>
            <a:r>
              <a:t>正面 | 先釐清 what/why、acceptance criteria、design、tasks | 用規格降低 agent 猜測</a:t>
            </a:r>
          </a:p>
          <a:p>
            <a:r>
              <a:t>警告 | 文件過量、spec drift、假安全感、雙重 review | 只寫能被驗證的最小規格</a:t>
            </a:r>
          </a:p>
          <a:p>
            <a:r>
              <a:t>工具 | Spec Kit、OpenSpec、Spectra 提供流程與狀態追蹤 | 工具當 scaffold，不取代工程判斷</a:t>
            </a:r>
          </a:p>
          <a:p>
            <a:r>
              <a:t>生醫調整 | 把來源、not found、review gate 寫進規格 | 避免把推測偽裝成 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好的 spec 不是作文，而是三方共同遵守的合約</a:t>
            </a:r>
          </a:p>
          <a:p>
            <a:endParaRPr/>
          </a:p>
          <a:p>
            <a:r>
              <a:t>Human: 負責定義意圖、限制、風險和 review gate。</a:t>
            </a:r>
          </a:p>
          <a:p>
            <a:r>
              <a:t>Agent: 依照規格讀檔、改程式、產生測試與回報差異。</a:t>
            </a:r>
          </a:p>
          <a:p>
            <a:r>
              <a:t>Validator: 用 schema、fixtures、golden outputs 和命令檢查結果。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SDD 的流程應該支援迭代，不是把人鎖進瀑布流程</a:t>
            </a:r>
          </a:p>
          <a:p>
            <a:endParaRPr/>
          </a:p>
          <a:p>
            <a:r>
              <a:t>1. Discuss: 先釐清研究任務與風險</a:t>
            </a:r>
          </a:p>
          <a:p>
            <a:r>
              <a:t>2. Specify: 寫 what/why 和驗收標準</a:t>
            </a:r>
          </a:p>
          <a:p>
            <a:r>
              <a:t>3. Plan: 決定資料源、介面、測試</a:t>
            </a:r>
          </a:p>
          <a:p>
            <a:r>
              <a:t>4. Tasks: 拆成可 review 小任務</a:t>
            </a:r>
          </a:p>
          <a:p>
            <a:r>
              <a:t>5. Build: agent 小 patch 實作</a:t>
            </a:r>
          </a:p>
          <a:p>
            <a:r>
              <a:t>6. Update: 結果回寫 spec 與限制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Prompt 是一次指令；spec 是可以版本控制的共同記憶</a:t>
            </a:r>
          </a:p>
          <a:p>
            <a:endParaRPr/>
          </a:p>
          <a:p>
            <a:r>
              <a:t>生命週期 | 一次對話中的指令 | 跟 repo 一起演進</a:t>
            </a:r>
          </a:p>
          <a:p>
            <a:r>
              <a:t>可審查性 | 容易散在聊天紀錄 | 可被 reviewer、助教、agent 反覆檢查</a:t>
            </a:r>
          </a:p>
          <a:p>
            <a:r>
              <a:t>測試關係 | 常只描述想要什麼 | 明確列出 acceptance criteria</a:t>
            </a:r>
          </a:p>
          <a:p>
            <a:r>
              <a:t>失敗處理 | 常靠 agent 自己補 | 先定義錯誤、not found、human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生醫工具的最小 SPEC.md 要回答九個問題</a:t>
            </a:r>
          </a:p>
          <a:p>
            <a:endParaRPr/>
          </a:p>
          <a:p>
            <a:r>
              <a:t>Goal | 工具要解決的研究任務 | 把 exploratory 和 production 混在一起</a:t>
            </a:r>
          </a:p>
          <a:p>
            <a:r>
              <a:t>Inputs | 格式、必填欄位、版本、資料源 | 只寫檔名，不寫 schema</a:t>
            </a:r>
          </a:p>
          <a:p>
            <a:r>
              <a:t>Outputs | 欄位、型別、允許值、排序 | 輸出看起來整齊但不能驗證</a:t>
            </a:r>
          </a:p>
          <a:p>
            <a:r>
              <a:t>Boundaries | 物種、疾病、日期、資料庫、隱私限制 | agent 自行擴大範圍</a:t>
            </a:r>
          </a:p>
          <a:p>
            <a:r>
              <a:t>Validation | fixtures、golden outputs、命令、通過標準 | 只說 manually checked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模糊需求要先變成問題清單，不要直接變成 code</a:t>
            </a:r>
          </a:p>
          <a:p>
            <a:endParaRPr/>
          </a:p>
          <a:p>
            <a:r>
              <a:t>Vague request:</a:t>
            </a:r>
          </a:p>
          <a:p>
            <a:r>
              <a:t>幫我做一個工具，輸入一些基因，</a:t>
            </a:r>
          </a:p>
          <a:p>
            <a:r>
              <a:t>然後整理跟癌症和藥物有關的資料。</a:t>
            </a:r>
          </a:p>
          <a:p>
            <a:r>
              <a:t>最好可以輸出成表格。</a:t>
            </a:r>
          </a:p>
          <a:p>
            <a:endParaRPr/>
          </a:p>
          <a:p>
            <a:r>
              <a:t>先問: 人類還是小鼠？ 癌症範圍是 pan-cancer 還是單癌種？ 證據來源允許哪些資料庫？ 找不到資料要怎麼寫？ 輸出欄位和驗收標準是什麼？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可測試需求要有觸發條件、行為與可檢查結果</a:t>
            </a:r>
          </a:p>
          <a:p>
            <a:endParaRPr/>
          </a:p>
          <a:p>
            <a:r>
              <a:t>Requirement pattern:</a:t>
            </a:r>
          </a:p>
          <a:p>
            <a:r>
              <a:t>WHEN the input row contains an invalid gene symbol</a:t>
            </a:r>
          </a:p>
          <a:p>
            <a:r>
              <a:t>THEN the tool SHALL mark status = "invalid_symbol"</a:t>
            </a:r>
          </a:p>
          <a:p>
            <a:r>
              <a:t>AND SHALL preserve the original input string</a:t>
            </a:r>
          </a:p>
          <a:p>
            <a:r>
              <a:t>AND SHALL NOT infer a replacement symbol without evidence.</a:t>
            </a:r>
          </a:p>
          <a:p>
            <a:endParaRPr/>
          </a:p>
          <a:p>
            <a:r>
              <a:t>WHEN no PubMed evidence is found</a:t>
            </a:r>
          </a:p>
          <a:p>
            <a:r>
              <a:t>THEN the tool SHALL set evidence_status = "not_found"</a:t>
            </a:r>
          </a:p>
          <a:p>
            <a:r>
              <a:t>AND SHALL leave pmid empty.</a:t>
            </a:r>
          </a:p>
          <a:p>
            <a:endParaRPr/>
          </a:p>
          <a:p>
            <a:r>
              <a:t>好處: 迫使需求具體化 直接轉成測試案例 降低 agent 猜測空間 適合 biomedical edge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每個工具都要先定義四個檢查點</a:t>
            </a:r>
          </a:p>
          <a:p>
            <a:endParaRPr/>
          </a:p>
          <a:p>
            <a:r>
              <a:t>Input: 接受什麼、拒絕什麼、如何報錯、資料版本如何記錄。</a:t>
            </a:r>
          </a:p>
          <a:p>
            <a:r>
              <a:t>Output: 欄位、型別、允許值、空值規則與排序。</a:t>
            </a:r>
          </a:p>
          <a:p>
            <a:r>
              <a:t>Validation: sample fixtures、golden file、unit tests、not found cases。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可測試需求要有觸發條件、行為與可檢查結果</a:t>
            </a:r>
          </a:p>
          <a:p>
            <a:endParaRPr/>
          </a:p>
          <a:p>
            <a:r>
              <a:t>Requirement pattern:</a:t>
            </a:r>
          </a:p>
          <a:p>
            <a:r>
              <a:t>WHEN the input row contains an invalid gene symbol</a:t>
            </a:r>
          </a:p>
          <a:p>
            <a:r>
              <a:t>THEN the tool SHALL mark status = "invalid_symbol"</a:t>
            </a:r>
          </a:p>
          <a:p>
            <a:r>
              <a:t>AND SHALL preserve the original input string</a:t>
            </a:r>
          </a:p>
          <a:p>
            <a:r>
              <a:t>AND SHALL NOT infer a replacement symbol without evidence.</a:t>
            </a:r>
          </a:p>
          <a:p>
            <a:endParaRPr/>
          </a:p>
          <a:p>
            <a:r>
              <a:t>WHEN no PubMed evidence is found</a:t>
            </a:r>
          </a:p>
          <a:p>
            <a:r>
              <a:t>THEN the tool SHALL set evidence_status = "not_found"</a:t>
            </a:r>
          </a:p>
          <a:p>
            <a:r>
              <a:t>AND SHALL leave pmid empty.</a:t>
            </a:r>
          </a:p>
          <a:p>
            <a:endParaRPr/>
          </a:p>
          <a:p>
            <a:r>
              <a:t>好處: 迫使需求具體化 直接轉成測試案例 降低 agent 猜測空間 適合 biomedical edge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第一個例子聚焦 evidence extraction：重點不是摘要得漂亮，而是每個 claim 都能追到 PMID 與來源欄位。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把『整理文獻』改成可驗證需求</a:t>
            </a:r>
          </a:p>
          <a:p>
            <a:endParaRPr/>
          </a:p>
          <a:p>
            <a:r>
              <a:t>Before:</a:t>
            </a:r>
          </a:p>
          <a:p>
            <a:r>
              <a:t>請幫我搜尋 PubMed，</a:t>
            </a:r>
          </a:p>
          <a:p>
            <a:r>
              <a:t>整理 EGFR 跟肺癌治療的文獻，</a:t>
            </a:r>
          </a:p>
          <a:p>
            <a:r>
              <a:t>做成 evidence table。</a:t>
            </a:r>
          </a:p>
          <a:p>
            <a:endParaRPr/>
          </a:p>
          <a:p>
            <a:r>
              <a:t>After: 輸入：gene、disease、query_date 來源：PubMed only 輸出：PMID、title、study_type、claim 不確定：寫 needs_review 找不到：寫 not_found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PubMed extractor 的 input spec 要限制搜尋範圍</a:t>
            </a:r>
          </a:p>
          <a:p>
            <a:endParaRPr/>
          </a:p>
          <a:p>
            <a:r>
              <a:t>gene | string | HGNC approved symbol；原始輸入另存 original_gene</a:t>
            </a:r>
          </a:p>
          <a:p>
            <a:r>
              <a:t>disease | string | 使用指定疾病詞，不讓 agent 自行擴大癌種</a:t>
            </a:r>
          </a:p>
          <a:p>
            <a:r>
              <a:t>query | string | 可由工具生成，但必須保存實際搜尋字串</a:t>
            </a:r>
          </a:p>
          <a:p>
            <a:r>
              <a:t>max_records | integer | 預設 20，上限 100，避免不可審查輸出</a:t>
            </a:r>
          </a:p>
          <a:p>
            <a:r>
              <a:t>query_date | date | 保存搜尋日期，讓結果可重現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table 必須把文獻證據和模型推測分開</a:t>
            </a:r>
          </a:p>
          <a:p>
            <a:endParaRPr/>
          </a:p>
          <a:p>
            <a:r>
              <a:t>Output schema:</a:t>
            </a:r>
          </a:p>
          <a:p>
            <a:r>
              <a:t>pmid: string</a:t>
            </a:r>
          </a:p>
          <a:p>
            <a:r>
              <a:t>title: string</a:t>
            </a:r>
          </a:p>
          <a:p>
            <a:r>
              <a:t>year: integer</a:t>
            </a:r>
          </a:p>
          <a:p>
            <a:r>
              <a:t>journal: string</a:t>
            </a:r>
          </a:p>
          <a:p>
            <a:r>
              <a:t>entity: gene | disease | drug | variant</a:t>
            </a:r>
          </a:p>
          <a:p>
            <a:r>
              <a:t>claim: string</a:t>
            </a:r>
          </a:p>
          <a:p>
            <a:r>
              <a:t>evidence_type: clinical | cohort | preclinical | review</a:t>
            </a:r>
          </a:p>
          <a:p>
            <a:r>
              <a:t>evidence_status: supported | conflicting | not_found</a:t>
            </a:r>
          </a:p>
          <a:p>
            <a:r>
              <a:t>model_inference: string</a:t>
            </a:r>
          </a:p>
          <a:p>
            <a:r>
              <a:t>review_status: pass | needs_review</a:t>
            </a:r>
          </a:p>
          <a:p>
            <a:endParaRPr/>
          </a:p>
          <a:p>
            <a:r>
              <a:t>核心規則: PMID 不得編造 claim 只寫來源支持的內容 推測放 model_inference review_status 可擋高風險輸出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PubMed extractor 的邊界要直接寫進 spec</a:t>
            </a:r>
          </a:p>
          <a:p>
            <a:endParaRPr/>
          </a:p>
          <a:p>
            <a:r>
              <a:t>Source | 只使用 PubMed metadata 或明確提供的 abstract | 標記 source_missing</a:t>
            </a:r>
          </a:p>
          <a:p>
            <a:r>
              <a:t>Clinical claim | 不得產生治療建議 | needs_human_review</a:t>
            </a:r>
          </a:p>
          <a:p>
            <a:r>
              <a:t>Study type | 無法判斷時不得猜 | unknown</a:t>
            </a:r>
          </a:p>
          <a:p>
            <a:r>
              <a:t>Conflict | 相反結論要分列 | conflicting</a:t>
            </a:r>
          </a:p>
          <a:p>
            <a:r>
              <a:t>No evidence | 不得補常識或模型記憶 | not_found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PubMed extractor 的 acceptance criteria 要能用 fixtures 測</a:t>
            </a:r>
          </a:p>
          <a:p>
            <a:endParaRPr/>
          </a:p>
          <a:p>
            <a:r>
              <a:t>給定含 3 筆 PMID 的 fixture，輸出列數必須等於 fixture record 數 每列 PMID 必須存在且不得重複 `not_found` case 不得有 claim 或 model-generated PMID 任何 therapeutic implication 都必須標記 `needs_review` 測試命令: pytest -q schema validation golden CSV diff PMID existence check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第二個例子聚焦 entity normalization：gene symbol 看起來簡單，但物種、舊名與 synonym 會讓 agent 很容易過度推論。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 annotation 的 input spec 必須保留原始值與物種</a:t>
            </a:r>
          </a:p>
          <a:p>
            <a:endParaRPr/>
          </a:p>
          <a:p>
            <a:r>
              <a:t>gene_input | 保留原始字串，不可覆蓋 | review 時需要追溯</a:t>
            </a:r>
          </a:p>
          <a:p>
            <a:r>
              <a:t>species | 預設 human；可接受 mouse 但要明示 | 避免跨物種混淆</a:t>
            </a:r>
          </a:p>
          <a:p>
            <a:r>
              <a:t>source | HGNC / NCBI Gene / Ensembl 擇一或多個 | 資料庫版本影響結果</a:t>
            </a:r>
          </a:p>
          <a:p>
            <a:r>
              <a:t>allow_synonym | 預設 false；若 true 要列出 evidence | 避免自行替換</a:t>
            </a:r>
          </a:p>
          <a:p>
            <a:r>
              <a:t>batch_id | 保存本批輸入與版本 | 輸出可重跑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Annotation output 要同時服務機器檢查與人工 review</a:t>
            </a:r>
          </a:p>
          <a:p>
            <a:endParaRPr/>
          </a:p>
          <a:p>
            <a:r>
              <a:t>Output schema:</a:t>
            </a:r>
          </a:p>
          <a:p>
            <a:r>
              <a:t>gene_input</a:t>
            </a:r>
          </a:p>
          <a:p>
            <a:r>
              <a:t>approved_symbol</a:t>
            </a:r>
          </a:p>
          <a:p>
            <a:r>
              <a:t>gene_id</a:t>
            </a:r>
          </a:p>
          <a:p>
            <a:r>
              <a:t>species</a:t>
            </a:r>
          </a:p>
          <a:p>
            <a:r>
              <a:t>match_type: exact | synonym | withdrawn | not_found</a:t>
            </a:r>
          </a:p>
          <a:p>
            <a:r>
              <a:t>confidence: high | medium | low</a:t>
            </a:r>
          </a:p>
          <a:p>
            <a:r>
              <a:t>evidence_source</a:t>
            </a:r>
          </a:p>
          <a:p>
            <a:r>
              <a:t>evidence_version</a:t>
            </a:r>
          </a:p>
          <a:p>
            <a:r>
              <a:t>message</a:t>
            </a:r>
          </a:p>
          <a:p>
            <a:r>
              <a:t>review_status</a:t>
            </a:r>
          </a:p>
          <a:p>
            <a:endParaRPr/>
          </a:p>
          <a:p>
            <a:r>
              <a:t>注意: not_found 是合法輸出 synonym 需要來源 confidence 不等於臨床證據等級 保留 message 給人工審查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 list tool 要先決定什麼不能自動做</a:t>
            </a:r>
          </a:p>
          <a:p>
            <a:endParaRPr/>
          </a:p>
          <a:p>
            <a:r>
              <a:t>舊名 | 可標記 withdrawn，但不可自動替換成 approved | 避免錯誤合併</a:t>
            </a:r>
          </a:p>
          <a:p>
            <a:r>
              <a:t>跨物種 | species 不明時 needs_review | 同名基因可能不同</a:t>
            </a:r>
          </a:p>
          <a:p>
            <a:r>
              <a:t>多重 match | 列出候選，不選唯一答案 | 降低錯 annotation</a:t>
            </a:r>
          </a:p>
          <a:p>
            <a:r>
              <a:t>非 gene term | 標記 invalid_input | 不要把 pathway 或 drug 當 gene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 annotation 的測試要包含正常、舊名、找不到與跨物種</a:t>
            </a:r>
          </a:p>
          <a:p>
            <a:endParaRPr/>
          </a:p>
          <a:p>
            <a:r>
              <a:t>Fixture 至少包含 TP53、ERBB2、舊名、錯拼、mouse-only symbol Golden output 固定 `match_type`、`review_status`、`message` 資料庫版本或 retrieval date 要出現在 output metadata 更新資料庫版本時 golden output 可以變，但必須在 changelog 說明 最小驗收: schema pass golden pass no silent correction version recorded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第三個例子聚焦高風險摘要：trial summary 可以幫研究工作，但不能變成招募建議或治療建議。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Clinical trial summarizer 的 input spec 要鎖定來源與日期</a:t>
            </a:r>
          </a:p>
          <a:p>
            <a:endParaRPr/>
          </a:p>
          <a:p>
            <a:r>
              <a:t>nct_id | 必填；格式 `NCT` + 8 digits | 避免錯 trial</a:t>
            </a:r>
          </a:p>
          <a:p>
            <a:r>
              <a:t>source_record | ClinicalTrials.gov record 或本地 JSON | 不靠模型記憶</a:t>
            </a:r>
          </a:p>
          <a:p>
            <a:r>
              <a:t>retrieved_date | 必填 | 狀態會變動</a:t>
            </a:r>
          </a:p>
          <a:p>
            <a:r>
              <a:t>summary_scope | status、phase、criteria、intervention、outcomes | 避免亂擴充</a:t>
            </a:r>
          </a:p>
          <a:p>
            <a:r>
              <a:t>audience | research note only | 避免臨床建議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Trial summary 要保留 eligibility 與 status 的原始依據</a:t>
            </a:r>
          </a:p>
          <a:p>
            <a:endParaRPr/>
          </a:p>
          <a:p>
            <a:r>
              <a:t>Output schema:</a:t>
            </a:r>
          </a:p>
          <a:p>
            <a:r>
              <a:t>nct_id</a:t>
            </a:r>
          </a:p>
          <a:p>
            <a:r>
              <a:t>official_title</a:t>
            </a:r>
          </a:p>
          <a:p>
            <a:r>
              <a:t>phase</a:t>
            </a:r>
          </a:p>
          <a:p>
            <a:r>
              <a:t>recruitment_status</a:t>
            </a:r>
          </a:p>
          <a:p>
            <a:r>
              <a:t>condition</a:t>
            </a:r>
          </a:p>
          <a:p>
            <a:r>
              <a:t>interventions[]</a:t>
            </a:r>
          </a:p>
          <a:p>
            <a:r>
              <a:t>primary_outcomes[]</a:t>
            </a:r>
          </a:p>
          <a:p>
            <a:r>
              <a:t>inclusion_summary</a:t>
            </a:r>
          </a:p>
          <a:p>
            <a:r>
              <a:t>exclusion_summary</a:t>
            </a:r>
          </a:p>
          <a:p>
            <a:r>
              <a:t>source_fields[]</a:t>
            </a:r>
          </a:p>
          <a:p>
            <a:r>
              <a:t>retrieved_date</a:t>
            </a:r>
          </a:p>
          <a:p>
            <a:r>
              <a:t>review_status</a:t>
            </a:r>
          </a:p>
          <a:p>
            <a:endParaRPr/>
          </a:p>
          <a:p>
            <a:r>
              <a:t>必要規則: status 不得憑記憶更新 criteria summary 要標 source_fields 不得寫病人適不適合參加 高風險解讀標 needs_review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Trial summarizer 的錯誤處理要比一般摘要更嚴格</a:t>
            </a:r>
          </a:p>
          <a:p>
            <a:endParaRPr/>
          </a:p>
          <a:p>
            <a:r>
              <a:t>找不到 NCT | status = not_found | 自行產生 trial title</a:t>
            </a:r>
          </a:p>
          <a:p>
            <a:r>
              <a:t>欄位缺失 | field_status = missing | 用常識補 eligibility</a:t>
            </a:r>
          </a:p>
          <a:p>
            <a:r>
              <a:t>多版本衝突 | status = conflicting | 只選一個版本</a:t>
            </a:r>
          </a:p>
          <a:p>
            <a:r>
              <a:t>PII 出現 | stop_and_report | 繼續摘要或外傳資料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Clinical trial summary 的驗收標準要防止過度推論</a:t>
            </a:r>
          </a:p>
          <a:p>
            <a:endParaRPr/>
          </a:p>
          <a:p>
            <a:r>
              <a:t>每個 summary 欄位都能追到原始 JSON path 或 source field NCT ID format 錯誤時必須 fail fast recruitment status 必須與 retrieved record 一致 不得產生 eligibility recommendation 或 treatment recommendation Validation: JSON schema field trace check negative fixtures human review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工具可以幫你產出 constitution、spec、plan、tasks，也可以追蹤進度；但 biomedical source、review gate、not found rule 必須由我們定義。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不同 SDD 工具都在解同一個問題：讓需求、設計與任務可追蹤</a:t>
            </a:r>
          </a:p>
          <a:p>
            <a:endParaRPr/>
          </a:p>
          <a:p>
            <a:r>
              <a:t>Spec Kit | constitution、specify、plan、tasks、implement | constitution 加入 citation / PHI / clinical claim 規則</a:t>
            </a:r>
          </a:p>
          <a:p>
            <a:r>
              <a:t>OpenSpec | proposal、spec、design、tasks 與狀態追蹤 | 用 dependency order 管理 spec artifacts</a:t>
            </a:r>
          </a:p>
          <a:p>
            <a:r>
              <a:t>Spectra | GUI/CLI 讓規格流程更可見，支援 discuss、propose、ingest | 用於教學展示 spec review 與迭代更新</a:t>
            </a:r>
          </a:p>
          <a:p>
            <a:r>
              <a:t>Lightweight SDD | 先寫小規格，再小 patch 實作 | 避免過度文件化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Spectra demo 要展示的是規格如何被建立、修正、實作與歸檔</a:t>
            </a:r>
          </a:p>
          <a:p>
            <a:endParaRPr/>
          </a:p>
          <a:p>
            <a:r>
              <a:t>1. Discuss: 用 /spectra:discuss 收斂需求</a:t>
            </a:r>
          </a:p>
          <a:p>
            <a:r>
              <a:t>2. Propose: 用 /spectra:propose 產出規格文件</a:t>
            </a:r>
          </a:p>
          <a:p>
            <a:r>
              <a:t>3. Review: 人工檢查 evidence 與邊界</a:t>
            </a:r>
          </a:p>
          <a:p>
            <a:r>
              <a:t>4. Apply: 用 /spectra:apply 逐項實作</a:t>
            </a:r>
          </a:p>
          <a:p>
            <a:r>
              <a:t>5. Ingest: 缺口回寫規格，不急著改 code</a:t>
            </a:r>
          </a:p>
          <a:p>
            <a:r>
              <a:t>6. Archive: 驗收後歸檔並保留 trace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PubMed extractor 示範 Spectra 如何把討論變成規格</a:t>
            </a:r>
          </a:p>
          <a:p>
            <a:endParaRPr/>
          </a:p>
          <a:p>
            <a:r>
              <a:t>Demo prompt:</a:t>
            </a:r>
          </a:p>
          <a:p>
            <a:r>
              <a:t>/spectra:discuss</a:t>
            </a:r>
          </a:p>
          <a:p>
            <a:endParaRPr/>
          </a:p>
          <a:p>
            <a:r>
              <a:t>Topic:</a:t>
            </a:r>
          </a:p>
          <a:p>
            <a:r>
              <a:t>設計一個 PubMed evidence extractor。</a:t>
            </a:r>
          </a:p>
          <a:p>
            <a:endParaRPr/>
          </a:p>
          <a:p>
            <a:r>
              <a:t>請先讀目前 repo 裡的：</a:t>
            </a:r>
          </a:p>
          <a:p>
            <a:r>
              <a:t>- templates/biomedical-tool-spec-template.md</a:t>
            </a:r>
          </a:p>
          <a:p>
            <a:r>
              <a:t>- examples/pubmed-evidence-extractor/SPEC.md</a:t>
            </a:r>
          </a:p>
          <a:p>
            <a:endParaRPr/>
          </a:p>
          <a:p>
            <a:r>
              <a:t>請收斂到：</a:t>
            </a:r>
          </a:p>
          <a:p>
            <a:r>
              <a:t>1. 允許資料來源</a:t>
            </a:r>
          </a:p>
          <a:p>
            <a:r>
              <a:t>2. input/output schema</a:t>
            </a:r>
          </a:p>
          <a:p>
            <a:r>
              <a:t>3. not_found rule</a:t>
            </a:r>
          </a:p>
          <a:p>
            <a:r>
              <a:t>4. human review gate</a:t>
            </a:r>
          </a:p>
          <a:p>
            <a:r>
              <a:t>5. validation fixtures</a:t>
            </a:r>
          </a:p>
          <a:p>
            <a:endParaRPr/>
          </a:p>
          <a:p>
            <a:r>
              <a:t>先不要寫 code。</a:t>
            </a:r>
          </a:p>
          <a:p>
            <a:endParaRPr/>
          </a:p>
          <a:p>
            <a:r>
              <a:t>教師示範: 先用 discuss 收斂問題 再用 propose 產出 artifacts review 後才 apply 缺口用 ingest 回寫 spec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Spectra demo 的重點是讓學生看懂每個 artifact 的責任</a:t>
            </a:r>
          </a:p>
          <a:p>
            <a:endParaRPr/>
          </a:p>
          <a:p>
            <a:r>
              <a:t>proposal | 為什麼要做、scope 多大、哪些不做 | 不得包含臨床建議</a:t>
            </a:r>
          </a:p>
          <a:p>
            <a:r>
              <a:t>spec | input/output、acceptance criteria、edge cases | PMID、not_found、review gate</a:t>
            </a:r>
          </a:p>
          <a:p>
            <a:r>
              <a:t>design | 資料流、API、schema、錯誤處理 | source version 與 retrieval date</a:t>
            </a:r>
          </a:p>
          <a:p>
            <a:r>
              <a:t>tasks | 小任務是否可獨立驗證 | 先測 schema/golden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Spectra 可以讓流程可見，但 biomedical gate 仍然要人工負責</a:t>
            </a:r>
          </a:p>
          <a:p>
            <a:endParaRPr/>
          </a:p>
          <a:p>
            <a:r>
              <a:t>在 `/spectra:apply` 前，先 review spec 是否有資料源、not found rule 和 validation 任務執行中發現需求缺口時，不要讓 agent 直接補功能，先 `/spectra:ingest` 更新規格 若任務涉及 citation、trial status、gene symbol 或 clinical wording，要保留 `needs_review` 歸檔前確認 spec、tasks、測試輸出與 commit 都能互相追溯 不要交給工具: clinical judgment sensitive data source authority merge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先讓 agent 寫 spec，但要求它先問問題</a:t>
            </a:r>
          </a:p>
          <a:p>
            <a:endParaRPr/>
          </a:p>
          <a:p>
            <a:r>
              <a:t>Prompt:</a:t>
            </a:r>
          </a:p>
          <a:p>
            <a:r>
              <a:t>請不要開始寫程式。</a:t>
            </a:r>
          </a:p>
          <a:p>
            <a:r>
              <a:t>請先根據下列 biomedical tool idea 建立 SPEC.md。</a:t>
            </a:r>
          </a:p>
          <a:p>
            <a:endParaRPr/>
          </a:p>
          <a:p>
            <a:r>
              <a:t>你必須先列出最多 8 個 clarification questions。</a:t>
            </a:r>
          </a:p>
          <a:p>
            <a:r>
              <a:t>沒有答案時，提出保守預設並標記 assumption。</a:t>
            </a:r>
          </a:p>
          <a:p>
            <a:endParaRPr/>
          </a:p>
          <a:p>
            <a:r>
              <a:t>SPEC.md 必須包含：</a:t>
            </a:r>
          </a:p>
          <a:p>
            <a:r>
              <a:t>- Goal / non-goals</a:t>
            </a:r>
          </a:p>
          <a:p>
            <a:r>
              <a:t>- Inputs / outputs</a:t>
            </a:r>
          </a:p>
          <a:p>
            <a:r>
              <a:t>- Boundary conditions</a:t>
            </a:r>
          </a:p>
          <a:p>
            <a:r>
              <a:t>- Error handling</a:t>
            </a:r>
          </a:p>
          <a:p>
            <a:r>
              <a:t>- Validation commands</a:t>
            </a:r>
          </a:p>
          <a:p>
            <a:r>
              <a:t>- Human review gate</a:t>
            </a:r>
          </a:p>
          <a:p>
            <a:endParaRPr/>
          </a:p>
          <a:p>
            <a:r>
              <a:t>教學重點: 禁止先寫 code 先逼出 ambiguity 沒有答案要標 assumption spec 要包含驗證與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讓 agent 實作時，要把 spec 變成 acceptance contract</a:t>
            </a:r>
          </a:p>
          <a:p>
            <a:endParaRPr/>
          </a:p>
          <a:p>
            <a:r>
              <a:t>Prompt:</a:t>
            </a:r>
          </a:p>
          <a:p>
            <a:r>
              <a:t>請依照 SPEC.md 實作最小版本。</a:t>
            </a:r>
          </a:p>
          <a:p>
            <a:endParaRPr/>
          </a:p>
          <a:p>
            <a:r>
              <a:t>規則：</a:t>
            </a:r>
          </a:p>
          <a:p>
            <a:r>
              <a:t>- 只改 tasks.md 指定的檔案</a:t>
            </a:r>
          </a:p>
          <a:p>
            <a:r>
              <a:t>- 每完成一個 task 就跑相對應測試</a:t>
            </a:r>
          </a:p>
          <a:p>
            <a:r>
              <a:t>- 不得新增 SPEC.md 沒提到的功能</a:t>
            </a:r>
          </a:p>
          <a:p>
            <a:r>
              <a:t>- 若 SPEC.md 不清楚，先停下來問</a:t>
            </a:r>
          </a:p>
          <a:p>
            <a:endParaRPr/>
          </a:p>
          <a:p>
            <a:r>
              <a:t>回報：</a:t>
            </a:r>
          </a:p>
          <a:p>
            <a:r>
              <a:t>- completed tasks</a:t>
            </a:r>
          </a:p>
          <a:p>
            <a:r>
              <a:t>- files changed</a:t>
            </a:r>
          </a:p>
          <a:p>
            <a:r>
              <a:t>- validation commands</a:t>
            </a:r>
          </a:p>
          <a:p>
            <a:r>
              <a:t>- deviations from SPEC.md</a:t>
            </a:r>
          </a:p>
          <a:p>
            <a:r>
              <a:t>- remaining risks</a:t>
            </a:r>
          </a:p>
          <a:p>
            <a:endParaRPr/>
          </a:p>
          <a:p>
            <a:r>
              <a:t>完成定義: 不是它說完成 是 acceptance criteria pass 所有 deviation 要列出 spec drift 要回寫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 drift 會讓 SDD 失效，所以規格要跟 commit 一起活著</a:t>
            </a:r>
          </a:p>
          <a:p>
            <a:endParaRPr/>
          </a:p>
          <a:p>
            <a:r>
              <a:t>程式碼行為改了，SPEC.md 必須同步改 測試暴露新邊界條件時，要補回 requirements 或 validation 資料庫版本、API schema、source policy 改了，要記錄在 changelog 不要把過時 spec 留給 agent 當錯誤 context Change rule: spec first small patch test evidence review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Biomedical spec review 的重點是可追溯、可驗證、可停止</a:t>
            </a:r>
          </a:p>
          <a:p>
            <a:endParaRPr/>
          </a:p>
          <a:p>
            <a:r>
              <a:t>Source | 允許資料源和版本寫清楚了嗎？ | 補來源或縮小 scope</a:t>
            </a:r>
          </a:p>
          <a:p>
            <a:r>
              <a:t>Schema | 每個 output 欄位都有型別與允許值嗎？ | 補 schema</a:t>
            </a:r>
          </a:p>
          <a:p>
            <a:r>
              <a:t>Not found | 找不到資料時會停止還是亂補？ | 補 not_found rule</a:t>
            </a:r>
          </a:p>
          <a:p>
            <a:r>
              <a:t>Boundary | PHI、clinical claim、external action 有 gate 嗎？ | 補 human review</a:t>
            </a:r>
          </a:p>
          <a:p>
            <a:r>
              <a:t>Validation | 有 sample fixtures 和命令可以重跑嗎？ | 補 tests/golden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學生要交的是 spec，不是看起來很厲害的 prompt</a:t>
            </a:r>
          </a:p>
          <a:p>
            <a:endParaRPr/>
          </a:p>
          <a:p>
            <a:r>
              <a:t>1. Pick | 選一個工具：PubMed / gene / trial | scope 是否夠小</a:t>
            </a:r>
          </a:p>
          <a:p>
            <a:r>
              <a:t>2. Clarify | 列 5 個 clarification questions | 是否問到資料源與邊界</a:t>
            </a:r>
          </a:p>
          <a:p>
            <a:r>
              <a:t>3. Specify | 填入 SPEC.md template | schema、errors、validation 是否完整</a:t>
            </a:r>
          </a:p>
          <a:p>
            <a:r>
              <a:t>4. Handoff | 寫給 coding agent 的 implementation prompt | 是否限制改檔與測試命令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used: https://ihower.tw/blog/13480-sdd-spec-driven-development ; https://kaochenlong.com/sdd-spec-driven-development ; https://kaochenlong.com/spectra-with-openspec ; https://kaochenlong.com/spectra-app-2 ; https://milkmidi.medium.com/ai-%E6%99%82%E4%BB%A3-%E4%B8%80%E5%AE%9A%E8%A6%81%E5%AD%B8%E6%9C%83%E4%BD%BF%E7%94%A8-github-spec-kit-sdd-%E8%A6%8F%E6%A0%BC%E9%A9%85%E5%8B%95%E9%96%8B%E7%99%BC-f2df57cfdf3c ; https://xn--uy0a.tw/AI/sdd-ai-copilot-codex-devops-workflow/ ; https://tenten.co/learning/specdriven-developmentai/ ; https://github.com/github/spec-kit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Wrap-up: SDD for biomedical tools should be lightweight, explicit, verifiable, and traceable.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9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10" Type="http://schemas.openxmlformats.org/officeDocument/2006/relationships/image" Target="../media/image11.svg"/><Relationship Id="rId4" Type="http://schemas.openxmlformats.org/officeDocument/2006/relationships/image" Target="../media/image23.svg"/><Relationship Id="rId9" Type="http://schemas.openxmlformats.org/officeDocument/2006/relationships/image" Target="../media/image27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6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9.svg"/><Relationship Id="rId10" Type="http://schemas.openxmlformats.org/officeDocument/2006/relationships/image" Target="../media/image10.svg"/><Relationship Id="rId4" Type="http://schemas.openxmlformats.org/officeDocument/2006/relationships/image" Target="../media/image24.svg"/><Relationship Id="rId9" Type="http://schemas.openxmlformats.org/officeDocument/2006/relationships/image" Target="../media/image27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svg"/><Relationship Id="rId7" Type="http://schemas.openxmlformats.org/officeDocument/2006/relationships/image" Target="../media/image25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22.svg"/><Relationship Id="rId4" Type="http://schemas.openxmlformats.org/officeDocument/2006/relationships/image" Target="../media/image29.svg"/><Relationship Id="rId9" Type="http://schemas.openxmlformats.org/officeDocument/2006/relationships/image" Target="../media/image10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svg"/><Relationship Id="rId7" Type="http://schemas.openxmlformats.org/officeDocument/2006/relationships/image" Target="../media/image25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22.svg"/><Relationship Id="rId4" Type="http://schemas.openxmlformats.org/officeDocument/2006/relationships/image" Target="../media/image29.svg"/><Relationship Id="rId9" Type="http://schemas.openxmlformats.org/officeDocument/2006/relationships/image" Target="../media/image10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4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9.svg"/><Relationship Id="rId10" Type="http://schemas.openxmlformats.org/officeDocument/2006/relationships/image" Target="../media/image11.svg"/><Relationship Id="rId4" Type="http://schemas.openxmlformats.org/officeDocument/2006/relationships/image" Target="../media/image23.svg"/><Relationship Id="rId9" Type="http://schemas.openxmlformats.org/officeDocument/2006/relationships/image" Target="../media/image27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urse">
            <a:extLst>
              <a:ext uri="{FF2B5EF4-FFF2-40B4-BE49-F238E27FC236}">
                <a16:creationId xmlns:a16="http://schemas.microsoft.com/office/drawing/2014/main" id="{A0CFAA9D-5EB9-479F-A06E-2B2B323DECA5}"/>
              </a:ext>
            </a:extLst>
          </p:cNvPr>
          <p:cNvSpPr>
            <a:spLocks noGrp="1"/>
          </p:cNvSpPr>
          <p:nvPr/>
        </p:nvSpPr>
        <p:spPr>
          <a:xfrm>
            <a:off x="723900" y="6667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2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FC2FF"/>
                </a:solidFill>
                <a:latin typeface="Aptos"/>
                <a:ea typeface="Aptos"/>
                <a:cs typeface="Aptos"/>
              </a:rPr>
              <a:t>Day 2 · Lesson 08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ABE38F-D9DD-454E-920F-EBAF3EA000FB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80010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Spec-Driven Development</a:t>
            </a:r>
          </a:p>
          <a:p>
            <a:pPr algn="l">
              <a:lnSpc>
                <a:spcPct val="98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Biomedical Tools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DBA8ADB-D54C-4B81-82AA-D35326CC750B}"/>
              </a:ext>
            </a:extLst>
          </p:cNvPr>
          <p:cNvSpPr>
            <a:spLocks noGrp="1"/>
          </p:cNvSpPr>
          <p:nvPr/>
        </p:nvSpPr>
        <p:spPr>
          <a:xfrm>
            <a:off x="762000" y="3276600"/>
            <a:ext cx="809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E2E8EE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E2E8EE"/>
                </a:solidFill>
                <a:latin typeface="PingFang TC"/>
                <a:ea typeface="PingFang TC"/>
                <a:cs typeface="PingFang TC"/>
              </a:rPr>
              <a:t>把模糊需求轉成 agent 能執行、人能審查、工具能測試的規格</a:t>
            </a:r>
          </a:p>
        </p:txBody>
      </p:sp>
      <p:sp>
        <p:nvSpPr>
          <p:cNvPr id="4" name="right-panel">
            <a:extLst>
              <a:ext uri="{FF2B5EF4-FFF2-40B4-BE49-F238E27FC236}">
                <a16:creationId xmlns:a16="http://schemas.microsoft.com/office/drawing/2014/main" id="{063CFE45-8605-432A-9DD8-063438E8A0D4}"/>
              </a:ext>
            </a:extLst>
          </p:cNvPr>
          <p:cNvSpPr>
            <a:spLocks noGrp="1"/>
          </p:cNvSpPr>
          <p:nvPr/>
        </p:nvSpPr>
        <p:spPr>
          <a:xfrm>
            <a:off x="8267700" y="1238250"/>
            <a:ext cx="2781300" cy="3390900"/>
          </a:xfrm>
          <a:prstGeom prst="roundRect">
            <a:avLst>
              <a:gd name="adj" fmla="val 2740"/>
            </a:avLst>
          </a:prstGeom>
          <a:solidFill>
            <a:srgbClr val="24313D"/>
          </a:solidFill>
          <a:ln w="9525">
            <a:solidFill>
              <a:srgbClr val="5261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panel-title">
            <a:extLst>
              <a:ext uri="{FF2B5EF4-FFF2-40B4-BE49-F238E27FC236}">
                <a16:creationId xmlns:a16="http://schemas.microsoft.com/office/drawing/2014/main" id="{DB589AE7-3F4F-496E-A242-3E627116D67F}"/>
              </a:ext>
            </a:extLst>
          </p:cNvPr>
          <p:cNvSpPr>
            <a:spLocks noGrp="1"/>
          </p:cNvSpPr>
          <p:nvPr/>
        </p:nvSpPr>
        <p:spPr>
          <a:xfrm>
            <a:off x="8572500" y="1638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Today output</a:t>
            </a:r>
          </a:p>
        </p:txBody>
      </p:sp>
      <p:sp>
        <p:nvSpPr>
          <p:cNvPr id="6" name="panel-list">
            <a:extLst>
              <a:ext uri="{FF2B5EF4-FFF2-40B4-BE49-F238E27FC236}">
                <a16:creationId xmlns:a16="http://schemas.microsoft.com/office/drawing/2014/main" id="{520CB548-2478-4D98-AE21-0CE54CAF4F8F}"/>
              </a:ext>
            </a:extLst>
          </p:cNvPr>
          <p:cNvSpPr>
            <a:spLocks noGrp="1"/>
          </p:cNvSpPr>
          <p:nvPr/>
        </p:nvSpPr>
        <p:spPr>
          <a:xfrm>
            <a:off x="8610600" y="2190750"/>
            <a:ext cx="2076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0F9ED5"/>
              </a:buClr>
              <a:buFont typeface="Arial"/>
              <a:buChar char="•"/>
              <a:defRPr sz="1400">
                <a:solidFill>
                  <a:srgbClr val="E2E8EE"/>
                </a:solidFill>
                <a:latin typeface="PingFang TC"/>
                <a:ea typeface="PingFang TC"/>
                <a:cs typeface="PingFang TC"/>
              </a:defRPr>
            </a:pPr>
            <a:r>
              <a:rPr sz="1400">
                <a:solidFill>
                  <a:srgbClr val="E2E8EE"/>
                </a:solidFill>
                <a:latin typeface="PingFang TC"/>
                <a:ea typeface="PingFang TC"/>
                <a:cs typeface="PingFang TC"/>
              </a:rPr>
              <a:t>one reusable SPEC.md template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0F9ED5"/>
              </a:buClr>
              <a:buFont typeface="Arial"/>
              <a:buChar char="•"/>
              <a:defRPr sz="1400">
                <a:solidFill>
                  <a:srgbClr val="E2E8EE"/>
                </a:solidFill>
                <a:latin typeface="PingFang TC"/>
                <a:ea typeface="PingFang TC"/>
                <a:cs typeface="PingFang TC"/>
              </a:defRPr>
            </a:pPr>
            <a:r>
              <a:rPr sz="1400">
                <a:solidFill>
                  <a:srgbClr val="E2E8EE"/>
                </a:solidFill>
                <a:latin typeface="PingFang TC"/>
                <a:ea typeface="PingFang TC"/>
                <a:cs typeface="PingFang TC"/>
              </a:rPr>
              <a:t>three biomedical tool specs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0F9ED5"/>
              </a:buClr>
              <a:buFont typeface="Arial"/>
              <a:buChar char="•"/>
              <a:defRPr sz="1400">
                <a:solidFill>
                  <a:srgbClr val="E2E8EE"/>
                </a:solidFill>
                <a:latin typeface="PingFang TC"/>
                <a:ea typeface="PingFang TC"/>
                <a:cs typeface="PingFang TC"/>
              </a:defRPr>
            </a:pPr>
            <a:r>
              <a:rPr sz="1400">
                <a:solidFill>
                  <a:srgbClr val="E2E8EE"/>
                </a:solidFill>
                <a:latin typeface="PingFang TC"/>
                <a:ea typeface="PingFang TC"/>
                <a:cs typeface="PingFang TC"/>
              </a:rPr>
              <a:t>Spectra demo flow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0F9ED5"/>
              </a:buClr>
              <a:buFont typeface="Arial"/>
              <a:buChar char="•"/>
              <a:defRPr sz="1400">
                <a:solidFill>
                  <a:srgbClr val="E2E8EE"/>
                </a:solidFill>
                <a:latin typeface="PingFang TC"/>
                <a:ea typeface="PingFang TC"/>
                <a:cs typeface="PingFang TC"/>
              </a:defRPr>
            </a:pPr>
            <a:r>
              <a:rPr sz="1400">
                <a:solidFill>
                  <a:srgbClr val="E2E8EE"/>
                </a:solidFill>
                <a:latin typeface="PingFang TC"/>
                <a:ea typeface="PingFang TC"/>
                <a:cs typeface="PingFang TC"/>
              </a:rPr>
              <a:t>agent handoff prompt</a:t>
            </a:r>
          </a:p>
        </p:txBody>
      </p:sp>
      <p:sp>
        <p:nvSpPr>
          <p:cNvPr id="7" name="footer-dark">
            <a:extLst>
              <a:ext uri="{FF2B5EF4-FFF2-40B4-BE49-F238E27FC236}">
                <a16:creationId xmlns:a16="http://schemas.microsoft.com/office/drawing/2014/main" id="{3E233CE0-0CDC-4950-A157-2AD272BA2B88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Spec-driven development for biomedical tools  |  1/50</a:t>
            </a:r>
          </a:p>
        </p:txBody>
      </p:sp>
      <p:sp>
        <p:nvSpPr>
          <p:cNvPr id="9" name="title-accent-bar">
            <a:extLst>
              <a:ext uri="{FF2B5EF4-FFF2-40B4-BE49-F238E27FC236}">
                <a16:creationId xmlns:a16="http://schemas.microsoft.com/office/drawing/2014/main" id="{E1818D2B-A563-B049-85A0-4AE21B57E49D}"/>
              </a:ext>
            </a:extLst>
          </p:cNvPr>
          <p:cNvSpPr/>
          <p:nvPr/>
        </p:nvSpPr>
        <p:spPr>
          <a:xfrm>
            <a:off x="723900" y="3086100"/>
            <a:ext cx="660400" cy="50800"/>
          </a:xfrm>
          <a:prstGeom prst="rect">
            <a:avLst/>
          </a:prstGeom>
          <a:solidFill>
            <a:srgbClr val="0F9ED5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panel-accent-bar">
            <a:extLst>
              <a:ext uri="{FF2B5EF4-FFF2-40B4-BE49-F238E27FC236}">
                <a16:creationId xmlns:a16="http://schemas.microsoft.com/office/drawing/2014/main" id="{77BE6448-8DFB-A443-A57F-242188BD19F2}"/>
              </a:ext>
            </a:extLst>
          </p:cNvPr>
          <p:cNvSpPr/>
          <p:nvPr/>
        </p:nvSpPr>
        <p:spPr>
          <a:xfrm>
            <a:off x="8267700" y="1238250"/>
            <a:ext cx="2781300" cy="50800"/>
          </a:xfrm>
          <a:prstGeom prst="rect">
            <a:avLst/>
          </a:prstGeom>
          <a:solidFill>
            <a:srgbClr val="0F9ED5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492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6C8F2108-D826-4EC7-AD8E-1531E0262CCF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LEARNING TARGET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4B6F188-16A6-427B-8C74-E4AFABF1A71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今天的核心能力是把願望改寫成可驗證的工具合約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39B505C-9254-4BF1-9142-F7DD751E9441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2/50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D2A4099A-3A44-4879-B8D5-B32F59FB182A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3290D2C2-4B8F-455E-979A-96783922D774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90 分鐘後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96133CF-EFE2-BC41-94B2-E69F1C62004F}"/>
              </a:ext>
            </a:extLst>
          </p:cNvPr>
          <p:cNvSpPr txBox="1"/>
          <p:nvPr/>
        </p:nvSpPr>
        <p:spPr>
          <a:xfrm>
            <a:off x="1333500" y="20447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解釋為什麼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agent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動手前要先有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spec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085D72C-64F1-8E47-B507-CABDAB50441A}"/>
              </a:ext>
            </a:extLst>
          </p:cNvPr>
          <p:cNvSpPr txBox="1"/>
          <p:nvPr/>
        </p:nvSpPr>
        <p:spPr>
          <a:xfrm>
            <a:off x="1333500" y="28829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把模糊需求拆成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input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、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output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、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boundary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、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error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、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validation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F213B0-94A1-1E46-B62E-1E4ACB812F28}"/>
              </a:ext>
            </a:extLst>
          </p:cNvPr>
          <p:cNvSpPr txBox="1"/>
          <p:nvPr/>
        </p:nvSpPr>
        <p:spPr>
          <a:xfrm>
            <a:off x="1333500" y="37211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替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PubMed extractor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、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gene annotation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、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trial summarizer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寫出最小可用規格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2985D1D-25FA-5F4E-A5D1-1AABDF0D87D3}"/>
              </a:ext>
            </a:extLst>
          </p:cNvPr>
          <p:cNvSpPr txBox="1"/>
          <p:nvPr/>
        </p:nvSpPr>
        <p:spPr>
          <a:xfrm>
            <a:off x="1333500" y="45593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知道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SDD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何時有用，何時會變成文件負擔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FF9FC66-6C32-DA45-855F-2342CA69CEC0}"/>
              </a:ext>
            </a:extLst>
          </p:cNvPr>
          <p:cNvSpPr txBox="1"/>
          <p:nvPr/>
        </p:nvSpPr>
        <p:spPr>
          <a:xfrm>
            <a:off x="7493000" y="27813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>
                <a:solidFill>
                  <a:srgbClr val="17202A"/>
                </a:solidFill>
                <a:latin typeface="PingFang TC"/>
              </a:rPr>
              <a:t>能寫 </a:t>
            </a:r>
            <a:r>
              <a:rPr lang="en" altLang="zh-TW" sz="1500">
                <a:solidFill>
                  <a:srgbClr val="17202A"/>
                </a:solidFill>
                <a:latin typeface="PingFang TC"/>
              </a:rPr>
              <a:t>SPEC.md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040B94F-EE38-9E48-801E-EC1A39508BA1}"/>
              </a:ext>
            </a:extLst>
          </p:cNvPr>
          <p:cNvSpPr txBox="1"/>
          <p:nvPr/>
        </p:nvSpPr>
        <p:spPr>
          <a:xfrm>
            <a:off x="7493000" y="33401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>
                <a:solidFill>
                  <a:srgbClr val="17202A"/>
                </a:solidFill>
                <a:latin typeface="PingFang TC"/>
              </a:rPr>
              <a:t>能問 </a:t>
            </a:r>
            <a:r>
              <a:rPr lang="en" altLang="zh-TW" sz="1500">
                <a:solidFill>
                  <a:srgbClr val="17202A"/>
                </a:solidFill>
                <a:latin typeface="PingFang TC"/>
              </a:rPr>
              <a:t>clarification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853A631-CE7B-E34E-978D-03255B533C14}"/>
              </a:ext>
            </a:extLst>
          </p:cNvPr>
          <p:cNvSpPr txBox="1"/>
          <p:nvPr/>
        </p:nvSpPr>
        <p:spPr>
          <a:xfrm>
            <a:off x="7493000" y="38989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>
                <a:solidFill>
                  <a:srgbClr val="17202A"/>
                </a:solidFill>
                <a:latin typeface="PingFang TC"/>
              </a:rPr>
              <a:t>能定義 </a:t>
            </a:r>
            <a:r>
              <a:rPr lang="en" altLang="zh-TW" sz="1500">
                <a:solidFill>
                  <a:srgbClr val="17202A"/>
                </a:solidFill>
                <a:latin typeface="PingFang TC"/>
              </a:rPr>
              <a:t>acceptance criteria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8C4154E-B7A2-D145-850A-26908FE25453}"/>
              </a:ext>
            </a:extLst>
          </p:cNvPr>
          <p:cNvSpPr txBox="1"/>
          <p:nvPr/>
        </p:nvSpPr>
        <p:spPr>
          <a:xfrm>
            <a:off x="7493000" y="44577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>
                <a:solidFill>
                  <a:srgbClr val="17202A"/>
                </a:solidFill>
                <a:latin typeface="PingFang TC"/>
              </a:rPr>
              <a:t>能交給 </a:t>
            </a:r>
            <a:r>
              <a:rPr lang="en" altLang="zh-TW" sz="1500">
                <a:solidFill>
                  <a:srgbClr val="17202A"/>
                </a:solidFill>
                <a:latin typeface="PingFang TC"/>
              </a:rPr>
              <a:t>coding agent </a:t>
            </a:r>
            <a:r>
              <a:rPr lang="zh-TW" altLang="en-US" sz="1500">
                <a:solidFill>
                  <a:srgbClr val="17202A"/>
                </a:solidFill>
                <a:latin typeface="PingFang TC"/>
              </a:rPr>
              <a:t>實作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BB8FE408-7002-1347-AE8E-DC4BCAD8D8C6}"/>
              </a:ext>
            </a:extLst>
          </p:cNvPr>
          <p:cNvSpPr/>
          <p:nvPr/>
        </p:nvSpPr>
        <p:spPr>
          <a:xfrm>
            <a:off x="876300" y="5562600"/>
            <a:ext cx="9766300" cy="609600"/>
          </a:xfrm>
          <a:prstGeom prst="roundRect">
            <a:avLst/>
          </a:prstGeom>
          <a:solidFill>
            <a:srgbClr val="EEF1FF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0D111F-AF44-C042-9509-15AD4A8CA14C}"/>
              </a:ext>
            </a:extLst>
          </p:cNvPr>
          <p:cNvSpPr/>
          <p:nvPr/>
        </p:nvSpPr>
        <p:spPr>
          <a:xfrm>
            <a:off x="876300" y="5562600"/>
            <a:ext cx="50800" cy="609600"/>
          </a:xfrm>
          <a:prstGeom prst="rect">
            <a:avLst/>
          </a:prstGeom>
          <a:solidFill>
            <a:srgbClr val="3446A8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62E9D4C-6FAE-B648-842D-10CDE214C588}"/>
              </a:ext>
            </a:extLst>
          </p:cNvPr>
          <p:cNvSpPr txBox="1"/>
          <p:nvPr/>
        </p:nvSpPr>
        <p:spPr>
          <a:xfrm>
            <a:off x="1181100" y="5562600"/>
            <a:ext cx="9271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TW" altLang="en-US" sz="1500" b="1">
                <a:solidFill>
                  <a:srgbClr val="3446A8"/>
                </a:solidFill>
                <a:latin typeface="PingFang TC"/>
              </a:rPr>
              <a:t>這堂課的目標：把願望變成 </a:t>
            </a:r>
            <a:r>
              <a:rPr lang="en" altLang="zh-TW" sz="1500" b="1">
                <a:solidFill>
                  <a:srgbClr val="3446A8"/>
                </a:solidFill>
                <a:latin typeface="PingFang TC"/>
              </a:rPr>
              <a:t>agent </a:t>
            </a:r>
            <a:r>
              <a:rPr lang="zh-TW" altLang="en-US" sz="1500" b="1">
                <a:solidFill>
                  <a:srgbClr val="3446A8"/>
                </a:solidFill>
                <a:latin typeface="PingFang TC"/>
              </a:rPr>
              <a:t>能動手的規格</a:t>
            </a:r>
          </a:p>
        </p:txBody>
      </p:sp>
      <p:pic>
        <p:nvPicPr>
          <p:cNvPr id="20" name="Graphic 20" descr="目標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" y="2095500"/>
            <a:ext cx="304800" cy="304800"/>
          </a:xfrm>
          <a:prstGeom prst="rect">
            <a:avLst/>
          </a:prstGeom>
        </p:spPr>
      </p:pic>
      <p:pic>
        <p:nvPicPr>
          <p:cNvPr id="21" name="Graphic 21" descr="拆解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" y="2933700"/>
            <a:ext cx="304800" cy="304800"/>
          </a:xfrm>
          <a:prstGeom prst="rect">
            <a:avLst/>
          </a:prstGeom>
        </p:spPr>
      </p:pic>
      <p:pic>
        <p:nvPicPr>
          <p:cNvPr id="22" name="Graphic 22" descr="撰寫規格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3771900"/>
            <a:ext cx="304800" cy="304800"/>
          </a:xfrm>
          <a:prstGeom prst="rect">
            <a:avLst/>
          </a:prstGeom>
        </p:spPr>
      </p:pic>
      <p:pic>
        <p:nvPicPr>
          <p:cNvPr id="23" name="Graphic 23" descr="注意事項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" y="4610100"/>
            <a:ext cx="304800" cy="304800"/>
          </a:xfrm>
          <a:prstGeom prst="rect">
            <a:avLst/>
          </a:prstGeom>
        </p:spPr>
      </p:pic>
      <p:pic>
        <p:nvPicPr>
          <p:cNvPr id="24" name="Graphic 24" descr="能力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2832100"/>
            <a:ext cx="254000" cy="254000"/>
          </a:xfrm>
          <a:prstGeom prst="rect">
            <a:avLst/>
          </a:prstGeom>
        </p:spPr>
      </p:pic>
      <p:pic>
        <p:nvPicPr>
          <p:cNvPr id="25" name="Graphic 25" descr="能力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3390900"/>
            <a:ext cx="254000" cy="254000"/>
          </a:xfrm>
          <a:prstGeom prst="rect">
            <a:avLst/>
          </a:prstGeom>
        </p:spPr>
      </p:pic>
      <p:pic>
        <p:nvPicPr>
          <p:cNvPr id="26" name="Graphic 26" descr="能力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3949700"/>
            <a:ext cx="254000" cy="254000"/>
          </a:xfrm>
          <a:prstGeom prst="rect">
            <a:avLst/>
          </a:prstGeom>
        </p:spPr>
      </p:pic>
      <p:pic>
        <p:nvPicPr>
          <p:cNvPr id="27" name="Graphic 27" descr="能力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45085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26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0008C1DB-8F55-4522-88F7-4F88966CE68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WHY SPEC FIRST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230CC-B70C-4FA8-B03A-7ADE11F774F9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Biomedical 工具最怕的不是不能跑，而是跑出看似合理的錯結果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D1E2034D-CE94-40D0-B550-ABF47485602E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3/50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79213A08-9F2B-4BB8-AE45-7A0075FC40EC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BB8075B7-A6FF-469C-8C0C-0D338DC93CD6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Spec 的工作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87B2D6B-5570-2349-B429-97FCE58B144A}"/>
              </a:ext>
            </a:extLst>
          </p:cNvPr>
          <p:cNvSpPr txBox="1"/>
          <p:nvPr/>
        </p:nvSpPr>
        <p:spPr>
          <a:xfrm>
            <a:off x="1333500" y="2044700"/>
            <a:ext cx="48768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文獻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evidence extractor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可能編造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PMID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或混淆模型推測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BFD5A35-03E2-6D49-9C9C-EADF97B113B5}"/>
              </a:ext>
            </a:extLst>
          </p:cNvPr>
          <p:cNvSpPr txBox="1"/>
          <p:nvPr/>
        </p:nvSpPr>
        <p:spPr>
          <a:xfrm>
            <a:off x="1333500" y="2857500"/>
            <a:ext cx="48768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650">
                <a:solidFill>
                  <a:srgbClr val="17202A"/>
                </a:solidFill>
                <a:latin typeface="PingFang TC"/>
              </a:rPr>
              <a:t>Gene annotation tool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可能混用物種、舊名與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approved symbol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3EAA9F6-9C31-F340-9828-297D3AFB75DC}"/>
              </a:ext>
            </a:extLst>
          </p:cNvPr>
          <p:cNvSpPr txBox="1"/>
          <p:nvPr/>
        </p:nvSpPr>
        <p:spPr>
          <a:xfrm>
            <a:off x="1333500" y="3670300"/>
            <a:ext cx="48768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650">
                <a:solidFill>
                  <a:srgbClr val="17202A"/>
                </a:solidFill>
                <a:latin typeface="PingFang TC"/>
              </a:rPr>
              <a:t>Clinical trial summarizer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可能把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recruitment status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或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eligibility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寫錯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11A44CE-C183-5A41-A316-865F774BF54B}"/>
              </a:ext>
            </a:extLst>
          </p:cNvPr>
          <p:cNvSpPr txBox="1"/>
          <p:nvPr/>
        </p:nvSpPr>
        <p:spPr>
          <a:xfrm>
            <a:off x="1333500" y="4483100"/>
            <a:ext cx="48768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先寫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spec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是先定義什麼叫做正確，而不是先叫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AI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寫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code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FBA03EA-1BFB-1A4F-B37D-54ECA42B27E0}"/>
              </a:ext>
            </a:extLst>
          </p:cNvPr>
          <p:cNvSpPr txBox="1"/>
          <p:nvPr/>
        </p:nvSpPr>
        <p:spPr>
          <a:xfrm>
            <a:off x="7493000" y="27813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>
                <a:solidFill>
                  <a:srgbClr val="17202A"/>
                </a:solidFill>
                <a:latin typeface="PingFang TC"/>
              </a:rPr>
              <a:t>限制猜測空間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A158E09-6177-4A4C-8EA7-C4CE457020AC}"/>
              </a:ext>
            </a:extLst>
          </p:cNvPr>
          <p:cNvSpPr txBox="1"/>
          <p:nvPr/>
        </p:nvSpPr>
        <p:spPr>
          <a:xfrm>
            <a:off x="7493000" y="33401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>
                <a:solidFill>
                  <a:srgbClr val="17202A"/>
                </a:solidFill>
                <a:latin typeface="PingFang TC"/>
              </a:rPr>
              <a:t>把錯誤變可見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E76D040-156C-9742-B53F-685062EE0FA7}"/>
              </a:ext>
            </a:extLst>
          </p:cNvPr>
          <p:cNvSpPr txBox="1"/>
          <p:nvPr/>
        </p:nvSpPr>
        <p:spPr>
          <a:xfrm>
            <a:off x="7493000" y="38989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>
                <a:solidFill>
                  <a:srgbClr val="17202A"/>
                </a:solidFill>
                <a:latin typeface="PingFang TC"/>
              </a:rPr>
              <a:t>讓測試有依據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CD2AF54-E5AF-2B4E-A55D-101091D31FE4}"/>
              </a:ext>
            </a:extLst>
          </p:cNvPr>
          <p:cNvSpPr txBox="1"/>
          <p:nvPr/>
        </p:nvSpPr>
        <p:spPr>
          <a:xfrm>
            <a:off x="7493000" y="44577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>
                <a:solidFill>
                  <a:srgbClr val="17202A"/>
                </a:solidFill>
                <a:latin typeface="PingFang TC"/>
              </a:rPr>
              <a:t>讓 </a:t>
            </a:r>
            <a:r>
              <a:rPr lang="en" altLang="zh-TW" sz="1500">
                <a:solidFill>
                  <a:srgbClr val="17202A"/>
                </a:solidFill>
                <a:latin typeface="PingFang TC"/>
              </a:rPr>
              <a:t>review </a:t>
            </a:r>
            <a:r>
              <a:rPr lang="zh-TW" altLang="en-US" sz="1500">
                <a:solidFill>
                  <a:srgbClr val="17202A"/>
                </a:solidFill>
                <a:latin typeface="PingFang TC"/>
              </a:rPr>
              <a:t>有標準</a:t>
            </a:r>
          </a:p>
        </p:txBody>
      </p:sp>
      <p:sp>
        <p:nvSpPr>
          <p:cNvPr id="17" name="card-no-spec">
            <a:extLst>
              <a:ext uri="{FF2B5EF4-FFF2-40B4-BE49-F238E27FC236}">
                <a16:creationId xmlns:a16="http://schemas.microsoft.com/office/drawing/2014/main" id="{FE101DE0-B8B9-0440-9F60-D5DC8B1E04C4}"/>
              </a:ext>
            </a:extLst>
          </p:cNvPr>
          <p:cNvSpPr/>
          <p:nvPr/>
        </p:nvSpPr>
        <p:spPr>
          <a:xfrm>
            <a:off x="723900" y="5308600"/>
            <a:ext cx="4851400" cy="914400"/>
          </a:xfrm>
          <a:prstGeom prst="roundRect">
            <a:avLst/>
          </a:prstGeom>
          <a:solidFill>
            <a:srgbClr val="FBEDE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card-no-spec-bar">
            <a:extLst>
              <a:ext uri="{FF2B5EF4-FFF2-40B4-BE49-F238E27FC236}">
                <a16:creationId xmlns:a16="http://schemas.microsoft.com/office/drawing/2014/main" id="{E8038613-8D09-0B4A-B7F2-12BFA4F30EC9}"/>
              </a:ext>
            </a:extLst>
          </p:cNvPr>
          <p:cNvSpPr/>
          <p:nvPr/>
        </p:nvSpPr>
        <p:spPr>
          <a:xfrm>
            <a:off x="723900" y="5308600"/>
            <a:ext cx="50800" cy="914400"/>
          </a:xfrm>
          <a:prstGeom prst="rect">
            <a:avLst/>
          </a:prstGeom>
          <a:solidFill>
            <a:srgbClr val="C85A4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card-with-spec">
            <a:extLst>
              <a:ext uri="{FF2B5EF4-FFF2-40B4-BE49-F238E27FC236}">
                <a16:creationId xmlns:a16="http://schemas.microsoft.com/office/drawing/2014/main" id="{F458ACDE-B267-9345-B773-50143198A804}"/>
              </a:ext>
            </a:extLst>
          </p:cNvPr>
          <p:cNvSpPr/>
          <p:nvPr/>
        </p:nvSpPr>
        <p:spPr>
          <a:xfrm>
            <a:off x="5778500" y="5308600"/>
            <a:ext cx="4851400" cy="914400"/>
          </a:xfrm>
          <a:prstGeom prst="roundRect">
            <a:avLst/>
          </a:prstGeom>
          <a:solidFill>
            <a:srgbClr val="EAF5EC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card-with-spec-bar">
            <a:extLst>
              <a:ext uri="{FF2B5EF4-FFF2-40B4-BE49-F238E27FC236}">
                <a16:creationId xmlns:a16="http://schemas.microsoft.com/office/drawing/2014/main" id="{EB666BDA-CC3E-A241-B8AA-47058A09E07E}"/>
              </a:ext>
            </a:extLst>
          </p:cNvPr>
          <p:cNvSpPr/>
          <p:nvPr/>
        </p:nvSpPr>
        <p:spPr>
          <a:xfrm>
            <a:off x="5778500" y="5308600"/>
            <a:ext cx="50800" cy="914400"/>
          </a:xfrm>
          <a:prstGeom prst="rect">
            <a:avLst/>
          </a:prstGeom>
          <a:solidFill>
            <a:srgbClr val="196B2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3DA9B76-446A-1C40-9F1E-15982453160D}"/>
              </a:ext>
            </a:extLst>
          </p:cNvPr>
          <p:cNvSpPr txBox="1"/>
          <p:nvPr/>
        </p:nvSpPr>
        <p:spPr>
          <a:xfrm>
            <a:off x="977900" y="54102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solidFill>
                  <a:srgbClr val="C85A4A"/>
                </a:solidFill>
                <a:latin typeface="PingFang TC"/>
              </a:rPr>
              <a:t>沒有 </a:t>
            </a:r>
            <a:r>
              <a:rPr lang="en" altLang="zh-TW" sz="1400" b="1">
                <a:solidFill>
                  <a:srgbClr val="C85A4A"/>
                </a:solidFill>
                <a:latin typeface="PingFang TC"/>
              </a:rPr>
              <a:t>Spec</a:t>
            </a:r>
            <a:endParaRPr lang="zh-TW" altLang="en-US" sz="1400" b="1">
              <a:solidFill>
                <a:srgbClr val="C85A4A"/>
              </a:solidFill>
              <a:latin typeface="PingFang TC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DC930DF-E5A4-3940-964C-FBEB8E90CD52}"/>
              </a:ext>
            </a:extLst>
          </p:cNvPr>
          <p:cNvSpPr txBox="1"/>
          <p:nvPr/>
        </p:nvSpPr>
        <p:spPr>
          <a:xfrm>
            <a:off x="977900" y="5689600"/>
            <a:ext cx="4445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400">
                <a:solidFill>
                  <a:srgbClr val="5C6670"/>
                </a:solidFill>
                <a:latin typeface="PingFang TC"/>
              </a:rPr>
              <a:t>AI </a:t>
            </a:r>
            <a:r>
              <a:rPr lang="zh-TW" altLang="en-US" sz="1400">
                <a:solidFill>
                  <a:srgbClr val="5C6670"/>
                </a:solidFill>
                <a:latin typeface="PingFang TC"/>
              </a:rPr>
              <a:t>自由發揮，錯誤藏在看似合理的輸出裡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72C1E14-100E-B448-8815-B80D277236D6}"/>
              </a:ext>
            </a:extLst>
          </p:cNvPr>
          <p:cNvSpPr txBox="1"/>
          <p:nvPr/>
        </p:nvSpPr>
        <p:spPr>
          <a:xfrm>
            <a:off x="6032500" y="54102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PingFang TC"/>
              </a:rPr>
              <a:t>先寫 </a:t>
            </a:r>
            <a:r>
              <a:rPr lang="en" altLang="zh-TW" sz="1400" b="1">
                <a:solidFill>
                  <a:srgbClr val="196B24"/>
                </a:solidFill>
                <a:latin typeface="PingFang TC"/>
              </a:rPr>
              <a:t>Spec</a:t>
            </a:r>
            <a:endParaRPr lang="zh-TW" altLang="en-US" sz="1400" b="1">
              <a:solidFill>
                <a:srgbClr val="196B24"/>
              </a:solidFill>
              <a:latin typeface="PingFang TC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5DFCE1B-1925-4F43-A81B-5EDFFD1E93DB}"/>
              </a:ext>
            </a:extLst>
          </p:cNvPr>
          <p:cNvSpPr txBox="1"/>
          <p:nvPr/>
        </p:nvSpPr>
        <p:spPr>
          <a:xfrm>
            <a:off x="6032500" y="5689600"/>
            <a:ext cx="4445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5C6670"/>
                </a:solidFill>
                <a:latin typeface="PingFang TC"/>
              </a:rPr>
              <a:t>先定義正確答案，錯誤在測試階段就被攔下</a:t>
            </a:r>
          </a:p>
        </p:txBody>
      </p:sp>
      <p:pic>
        <p:nvPicPr>
          <p:cNvPr id="25" name="Graphic 25" descr="文獻搜尋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" y="2095500"/>
            <a:ext cx="304800" cy="304800"/>
          </a:xfrm>
          <a:prstGeom prst="rect">
            <a:avLst/>
          </a:prstGeom>
        </p:spPr>
      </p:pic>
      <p:pic>
        <p:nvPicPr>
          <p:cNvPr id="26" name="Graphic 26" descr="基因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" y="2908300"/>
            <a:ext cx="304800" cy="304800"/>
          </a:xfrm>
          <a:prstGeom prst="rect">
            <a:avLst/>
          </a:prstGeom>
        </p:spPr>
      </p:pic>
      <p:pic>
        <p:nvPicPr>
          <p:cNvPr id="27" name="Graphic 27" descr="臨床試驗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3721100"/>
            <a:ext cx="304800" cy="304800"/>
          </a:xfrm>
          <a:prstGeom prst="rect">
            <a:avLst/>
          </a:prstGeom>
        </p:spPr>
      </p:pic>
      <p:pic>
        <p:nvPicPr>
          <p:cNvPr id="28" name="Graphic 28" descr="撰寫 spec 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" y="4533900"/>
            <a:ext cx="304800" cy="304800"/>
          </a:xfrm>
          <a:prstGeom prst="rect">
            <a:avLst/>
          </a:prstGeom>
        </p:spPr>
      </p:pic>
      <p:pic>
        <p:nvPicPr>
          <p:cNvPr id="29" name="Graphic 29" descr="限制猜測空間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2832100"/>
            <a:ext cx="254000" cy="254000"/>
          </a:xfrm>
          <a:prstGeom prst="rect">
            <a:avLst/>
          </a:prstGeom>
        </p:spPr>
      </p:pic>
      <p:pic>
        <p:nvPicPr>
          <p:cNvPr id="30" name="Graphic 30" descr="把錯誤變可見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0" y="3390900"/>
            <a:ext cx="254000" cy="254000"/>
          </a:xfrm>
          <a:prstGeom prst="rect">
            <a:avLst/>
          </a:prstGeom>
        </p:spPr>
      </p:pic>
      <p:pic>
        <p:nvPicPr>
          <p:cNvPr id="31" name="Graphic 31" descr="讓測試有依據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3949700"/>
            <a:ext cx="254000" cy="254000"/>
          </a:xfrm>
          <a:prstGeom prst="rect">
            <a:avLst/>
          </a:prstGeom>
        </p:spPr>
      </p:pic>
      <p:pic>
        <p:nvPicPr>
          <p:cNvPr id="32" name="Graphic 32" descr="讓 review 有標準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2000" y="45085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1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">
            <a:extLst>
              <a:ext uri="{FF2B5EF4-FFF2-40B4-BE49-F238E27FC236}">
                <a16:creationId xmlns:a16="http://schemas.microsoft.com/office/drawing/2014/main" id="{148A089D-BECC-409E-9A4C-21721D22124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SDD PERSPECTIVE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B3C3A9-8A85-4DF8-9BF0-D4539FEB384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這幾篇文章的共同結論：SDD 有用，但不能變成 Markdown 堆高機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2EF9982-D568-40C5-AA54-1C0CDF1EEF86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15A5426B-1844-4B78-8272-FCFCFB325AA1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52400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CA7802C4-734D-4E5E-8B7C-34A100CCC392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觀點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1337D3A4-1344-4F18-ABE7-3B2B1507461B}"/>
              </a:ext>
            </a:extLst>
          </p:cNvPr>
          <p:cNvSpPr>
            <a:spLocks noGrp="1"/>
          </p:cNvSpPr>
          <p:nvPr/>
        </p:nvSpPr>
        <p:spPr>
          <a:xfrm>
            <a:off x="2324100" y="1885950"/>
            <a:ext cx="447675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A365208F-3BFC-4FE1-9648-CAC19A2A60DE}"/>
              </a:ext>
            </a:extLst>
          </p:cNvPr>
          <p:cNvSpPr>
            <a:spLocks noGrp="1"/>
          </p:cNvSpPr>
          <p:nvPr/>
        </p:nvSpPr>
        <p:spPr>
          <a:xfrm>
            <a:off x="2438400" y="2000250"/>
            <a:ext cx="424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可取之處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3B3A40EA-C975-4F7D-A215-7FA9C84EEC97}"/>
              </a:ext>
            </a:extLst>
          </p:cNvPr>
          <p:cNvSpPr>
            <a:spLocks noGrp="1"/>
          </p:cNvSpPr>
          <p:nvPr/>
        </p:nvSpPr>
        <p:spPr>
          <a:xfrm>
            <a:off x="6800850" y="1885950"/>
            <a:ext cx="438150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54B3E246-F104-4DF7-8FF9-BD6695679FB2}"/>
              </a:ext>
            </a:extLst>
          </p:cNvPr>
          <p:cNvSpPr>
            <a:spLocks noGrp="1"/>
          </p:cNvSpPr>
          <p:nvPr/>
        </p:nvSpPr>
        <p:spPr>
          <a:xfrm>
            <a:off x="6915150" y="2000250"/>
            <a:ext cx="415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課堂採用方式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21DABC0C-4F74-4B23-BDC6-5DFEBBAFC840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5240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19F9DE3C-3710-49C2-BAAA-05D9CF4B77E1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29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正面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F0A580E7-8979-433B-8D64-6E2E15B60E33}"/>
              </a:ext>
            </a:extLst>
          </p:cNvPr>
          <p:cNvSpPr>
            <a:spLocks noGrp="1"/>
          </p:cNvSpPr>
          <p:nvPr/>
        </p:nvSpPr>
        <p:spPr>
          <a:xfrm>
            <a:off x="2324100" y="2305050"/>
            <a:ext cx="44767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2F9BA327-D410-41F6-A77B-EFA29AE28978}"/>
              </a:ext>
            </a:extLst>
          </p:cNvPr>
          <p:cNvSpPr>
            <a:spLocks noGrp="1"/>
          </p:cNvSpPr>
          <p:nvPr/>
        </p:nvSpPr>
        <p:spPr>
          <a:xfrm>
            <a:off x="2438400" y="240030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先釐清 what/why、acceptance criteria、design、tasks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5F0B5D5A-0847-438D-9756-8D4621F774D7}"/>
              </a:ext>
            </a:extLst>
          </p:cNvPr>
          <p:cNvSpPr>
            <a:spLocks noGrp="1"/>
          </p:cNvSpPr>
          <p:nvPr/>
        </p:nvSpPr>
        <p:spPr>
          <a:xfrm>
            <a:off x="6800850" y="2305050"/>
            <a:ext cx="4381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2BA1F9A5-6224-48CF-A3FE-6DDFE2462B8C}"/>
              </a:ext>
            </a:extLst>
          </p:cNvPr>
          <p:cNvSpPr>
            <a:spLocks noGrp="1"/>
          </p:cNvSpPr>
          <p:nvPr/>
        </p:nvSpPr>
        <p:spPr>
          <a:xfrm>
            <a:off x="6915150" y="240030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用規格降低 agent 猜測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1B0D91B7-3DBB-40A0-9E55-D21B0EDA97AB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15240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71D72E7A-12F5-4031-9CC2-1DF367E3674A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129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警告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892F1589-763E-4E33-9FC5-F9E9D29B518A}"/>
              </a:ext>
            </a:extLst>
          </p:cNvPr>
          <p:cNvSpPr>
            <a:spLocks noGrp="1"/>
          </p:cNvSpPr>
          <p:nvPr/>
        </p:nvSpPr>
        <p:spPr>
          <a:xfrm>
            <a:off x="2324100" y="2933700"/>
            <a:ext cx="44767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22AF0E1B-7A46-4F5E-8396-2101C8195447}"/>
              </a:ext>
            </a:extLst>
          </p:cNvPr>
          <p:cNvSpPr>
            <a:spLocks noGrp="1"/>
          </p:cNvSpPr>
          <p:nvPr/>
        </p:nvSpPr>
        <p:spPr>
          <a:xfrm>
            <a:off x="2438400" y="302895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文件過量、spec drift、假安全感、雙重 review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18D76D35-A57A-4619-ABE8-64981C0BE30B}"/>
              </a:ext>
            </a:extLst>
          </p:cNvPr>
          <p:cNvSpPr>
            <a:spLocks noGrp="1"/>
          </p:cNvSpPr>
          <p:nvPr/>
        </p:nvSpPr>
        <p:spPr>
          <a:xfrm>
            <a:off x="6800850" y="2933700"/>
            <a:ext cx="4381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C8C678B9-B2CD-4F03-B35D-27077D90C3C0}"/>
              </a:ext>
            </a:extLst>
          </p:cNvPr>
          <p:cNvSpPr>
            <a:spLocks noGrp="1"/>
          </p:cNvSpPr>
          <p:nvPr/>
        </p:nvSpPr>
        <p:spPr>
          <a:xfrm>
            <a:off x="6915150" y="30289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只寫能被驗證的最小規格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901E6EB6-0C26-4F80-9444-230DC5A4DE70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15240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A443B153-78B2-4E11-A408-627A0AE9E78B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29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工具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C9210E40-4EC0-4F83-86AE-6AF0FAC0F5F4}"/>
              </a:ext>
            </a:extLst>
          </p:cNvPr>
          <p:cNvSpPr>
            <a:spLocks noGrp="1"/>
          </p:cNvSpPr>
          <p:nvPr/>
        </p:nvSpPr>
        <p:spPr>
          <a:xfrm>
            <a:off x="2324100" y="3562350"/>
            <a:ext cx="44767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B71B7EC7-B3F6-4A09-A730-0A7A17A1109A}"/>
              </a:ext>
            </a:extLst>
          </p:cNvPr>
          <p:cNvSpPr>
            <a:spLocks noGrp="1"/>
          </p:cNvSpPr>
          <p:nvPr/>
        </p:nvSpPr>
        <p:spPr>
          <a:xfrm>
            <a:off x="2438400" y="365760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Spec Kit、OpenSpec、Spectra 提供流程與狀態追蹤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F4222D12-F4E7-43A4-AD6F-01F524CD9064}"/>
              </a:ext>
            </a:extLst>
          </p:cNvPr>
          <p:cNvSpPr>
            <a:spLocks noGrp="1"/>
          </p:cNvSpPr>
          <p:nvPr/>
        </p:nvSpPr>
        <p:spPr>
          <a:xfrm>
            <a:off x="6800850" y="3562350"/>
            <a:ext cx="4381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CBA76A18-40FD-46FB-AAF3-1F00DC24A984}"/>
              </a:ext>
            </a:extLst>
          </p:cNvPr>
          <p:cNvSpPr>
            <a:spLocks noGrp="1"/>
          </p:cNvSpPr>
          <p:nvPr/>
        </p:nvSpPr>
        <p:spPr>
          <a:xfrm>
            <a:off x="6915150" y="365760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工具當 scaffold，不取代工程判斷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027114D0-2804-47D3-AC61-F443AF2C42F8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15240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023FBA82-102C-4235-B086-21D70A706D23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129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生醫調整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6A8DC9C5-9D54-4A29-8F71-C5F1C90D45FE}"/>
              </a:ext>
            </a:extLst>
          </p:cNvPr>
          <p:cNvSpPr>
            <a:spLocks noGrp="1"/>
          </p:cNvSpPr>
          <p:nvPr/>
        </p:nvSpPr>
        <p:spPr>
          <a:xfrm>
            <a:off x="2324100" y="4191000"/>
            <a:ext cx="44767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F6C22316-DE95-4A1C-8D06-C75994B89DFC}"/>
              </a:ext>
            </a:extLst>
          </p:cNvPr>
          <p:cNvSpPr>
            <a:spLocks noGrp="1"/>
          </p:cNvSpPr>
          <p:nvPr/>
        </p:nvSpPr>
        <p:spPr>
          <a:xfrm>
            <a:off x="2438400" y="428625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把來源、not found、review gate 寫進規格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B20CC256-4001-4B92-9B17-D215F87BE347}"/>
              </a:ext>
            </a:extLst>
          </p:cNvPr>
          <p:cNvSpPr>
            <a:spLocks noGrp="1"/>
          </p:cNvSpPr>
          <p:nvPr/>
        </p:nvSpPr>
        <p:spPr>
          <a:xfrm>
            <a:off x="6800850" y="4191000"/>
            <a:ext cx="4381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99E43506-8E37-4440-A0B4-94407C1973FF}"/>
              </a:ext>
            </a:extLst>
          </p:cNvPr>
          <p:cNvSpPr>
            <a:spLocks noGrp="1"/>
          </p:cNvSpPr>
          <p:nvPr/>
        </p:nvSpPr>
        <p:spPr>
          <a:xfrm>
            <a:off x="6915150" y="42862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避免把推測偽裝成 evidence</a:t>
            </a:r>
          </a:p>
        </p:txBody>
      </p:sp>
      <p:sp>
        <p:nvSpPr>
          <p:cNvPr id="34" name="source">
            <a:extLst>
              <a:ext uri="{FF2B5EF4-FFF2-40B4-BE49-F238E27FC236}">
                <a16:creationId xmlns:a16="http://schemas.microsoft.com/office/drawing/2014/main" id="{152AD43E-E309-47FC-8BEC-3B88F6788690}"/>
              </a:ext>
            </a:extLst>
          </p:cNvPr>
          <p:cNvSpPr>
            <a:spLocks noGrp="1"/>
          </p:cNvSpPr>
          <p:nvPr/>
        </p:nvSpPr>
        <p:spPr>
          <a:xfrm>
            <a:off x="6858000" y="619000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Sources: ihower, Kao Chen Long, Milk Midi, 琳.tw, Tenten</a:t>
            </a:r>
          </a:p>
        </p:txBody>
      </p:sp>
    </p:spTree>
    <p:extLst>
      <p:ext uri="{BB962C8B-B14F-4D97-AF65-F5344CB8AC3E}">
        <p14:creationId xmlns:p14="http://schemas.microsoft.com/office/powerpoint/2010/main" val="338921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">
            <a:extLst>
              <a:ext uri="{FF2B5EF4-FFF2-40B4-BE49-F238E27FC236}">
                <a16:creationId xmlns:a16="http://schemas.microsoft.com/office/drawing/2014/main" id="{5B70D4F0-EF65-4865-9AA9-1BD51125CE2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SPEC IS A CONTRACT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88565B-2A60-4E80-9528-C14B08FE089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好的 spec 不是作文，而是三方共同遵守的合約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23F8FB6C-6464-4B65-9BE0-BAC2B693461C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5/50</a:t>
            </a:r>
          </a:p>
        </p:txBody>
      </p:sp>
      <p:sp>
        <p:nvSpPr>
          <p:cNvPr id="4" name="card-0">
            <a:extLst>
              <a:ext uri="{FF2B5EF4-FFF2-40B4-BE49-F238E27FC236}">
                <a16:creationId xmlns:a16="http://schemas.microsoft.com/office/drawing/2014/main" id="{4F416051-64AA-4FA0-9396-EF182EDA57DA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card-title-0">
            <a:extLst>
              <a:ext uri="{FF2B5EF4-FFF2-40B4-BE49-F238E27FC236}">
                <a16:creationId xmlns:a16="http://schemas.microsoft.com/office/drawing/2014/main" id="{8B6EBAA4-7C3D-4871-ACCD-E20179B43A7D}"/>
              </a:ext>
            </a:extLst>
          </p:cNvPr>
          <p:cNvSpPr>
            <a:spLocks noGrp="1"/>
          </p:cNvSpPr>
          <p:nvPr/>
        </p:nvSpPr>
        <p:spPr>
          <a:xfrm>
            <a:off x="1143000" y="23622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Human</a:t>
            </a:r>
          </a:p>
        </p:txBody>
      </p:sp>
      <p:sp>
        <p:nvSpPr>
          <p:cNvPr id="6" name="card-copy-0">
            <a:extLst>
              <a:ext uri="{FF2B5EF4-FFF2-40B4-BE49-F238E27FC236}">
                <a16:creationId xmlns:a16="http://schemas.microsoft.com/office/drawing/2014/main" id="{E871672E-BE2C-4631-8357-EE9BC07DCFA4}"/>
              </a:ext>
            </a:extLst>
          </p:cNvPr>
          <p:cNvSpPr>
            <a:spLocks noGrp="1"/>
          </p:cNvSpPr>
          <p:nvPr/>
        </p:nvSpPr>
        <p:spPr>
          <a:xfrm>
            <a:off x="1143000" y="3105150"/>
            <a:ext cx="24574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負責定義意圖、限制、風險和 review gate。</a:t>
            </a:r>
          </a:p>
        </p:txBody>
      </p:sp>
      <p:sp>
        <p:nvSpPr>
          <p:cNvPr id="7" name="card-1">
            <a:extLst>
              <a:ext uri="{FF2B5EF4-FFF2-40B4-BE49-F238E27FC236}">
                <a16:creationId xmlns:a16="http://schemas.microsoft.com/office/drawing/2014/main" id="{552A26EE-F465-4598-8D1B-826DF6920489}"/>
              </a:ext>
            </a:extLst>
          </p:cNvPr>
          <p:cNvSpPr>
            <a:spLocks noGrp="1"/>
          </p:cNvSpPr>
          <p:nvPr/>
        </p:nvSpPr>
        <p:spPr>
          <a:xfrm>
            <a:off x="443865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card-title-1">
            <a:extLst>
              <a:ext uri="{FF2B5EF4-FFF2-40B4-BE49-F238E27FC236}">
                <a16:creationId xmlns:a16="http://schemas.microsoft.com/office/drawing/2014/main" id="{BB43738E-0AF1-4C53-BE74-AC8A458FCB61}"/>
              </a:ext>
            </a:extLst>
          </p:cNvPr>
          <p:cNvSpPr>
            <a:spLocks noGrp="1"/>
          </p:cNvSpPr>
          <p:nvPr/>
        </p:nvSpPr>
        <p:spPr>
          <a:xfrm>
            <a:off x="4705350" y="23622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Agent</a:t>
            </a:r>
          </a:p>
        </p:txBody>
      </p:sp>
      <p:sp>
        <p:nvSpPr>
          <p:cNvPr id="9" name="card-copy-1">
            <a:extLst>
              <a:ext uri="{FF2B5EF4-FFF2-40B4-BE49-F238E27FC236}">
                <a16:creationId xmlns:a16="http://schemas.microsoft.com/office/drawing/2014/main" id="{5656C67D-A196-433A-9B78-8D5C5805013F}"/>
              </a:ext>
            </a:extLst>
          </p:cNvPr>
          <p:cNvSpPr>
            <a:spLocks noGrp="1"/>
          </p:cNvSpPr>
          <p:nvPr/>
        </p:nvSpPr>
        <p:spPr>
          <a:xfrm>
            <a:off x="4705350" y="3105150"/>
            <a:ext cx="24574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依照規格讀檔、改程式、產生測試與回報差異。</a:t>
            </a:r>
          </a:p>
        </p:txBody>
      </p:sp>
      <p:sp>
        <p:nvSpPr>
          <p:cNvPr id="10" name="card-2">
            <a:extLst>
              <a:ext uri="{FF2B5EF4-FFF2-40B4-BE49-F238E27FC236}">
                <a16:creationId xmlns:a16="http://schemas.microsoft.com/office/drawing/2014/main" id="{23F1B865-E384-4760-8232-BDA1C3A4D8C1}"/>
              </a:ext>
            </a:extLst>
          </p:cNvPr>
          <p:cNvSpPr>
            <a:spLocks noGrp="1"/>
          </p:cNvSpPr>
          <p:nvPr/>
        </p:nvSpPr>
        <p:spPr>
          <a:xfrm>
            <a:off x="800100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ard-title-2">
            <a:extLst>
              <a:ext uri="{FF2B5EF4-FFF2-40B4-BE49-F238E27FC236}">
                <a16:creationId xmlns:a16="http://schemas.microsoft.com/office/drawing/2014/main" id="{6AD802FA-FEEA-4B57-B469-0A47C0501825}"/>
              </a:ext>
            </a:extLst>
          </p:cNvPr>
          <p:cNvSpPr>
            <a:spLocks noGrp="1"/>
          </p:cNvSpPr>
          <p:nvPr/>
        </p:nvSpPr>
        <p:spPr>
          <a:xfrm>
            <a:off x="8267700" y="23622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Validator</a:t>
            </a:r>
          </a:p>
        </p:txBody>
      </p:sp>
      <p:sp>
        <p:nvSpPr>
          <p:cNvPr id="12" name="card-copy-2">
            <a:extLst>
              <a:ext uri="{FF2B5EF4-FFF2-40B4-BE49-F238E27FC236}">
                <a16:creationId xmlns:a16="http://schemas.microsoft.com/office/drawing/2014/main" id="{2D403AA3-95C9-454F-B80B-D349C9E754ED}"/>
              </a:ext>
            </a:extLst>
          </p:cNvPr>
          <p:cNvSpPr>
            <a:spLocks noGrp="1"/>
          </p:cNvSpPr>
          <p:nvPr/>
        </p:nvSpPr>
        <p:spPr>
          <a:xfrm>
            <a:off x="8267700" y="3105150"/>
            <a:ext cx="24574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 schema、fixtures、golden outputs 和命令檢查結果。</a:t>
            </a:r>
          </a:p>
        </p:txBody>
      </p:sp>
    </p:spTree>
    <p:extLst>
      <p:ext uri="{BB962C8B-B14F-4D97-AF65-F5344CB8AC3E}">
        <p14:creationId xmlns:p14="http://schemas.microsoft.com/office/powerpoint/2010/main" val="2538999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00AA343E-CC66-4019-AF56-ED153EF21DC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A973596-28DC-4E65-8485-F7FC6501B84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SDD </a:t>
            </a:r>
            <a:r>
              <a:rPr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的流程應該支援迭代，不是把人鎖進瀑布流程</a:t>
            </a:r>
            <a:endParaRPr sz="27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41C085AD-1F07-441C-8A29-4383727E4B98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6/50</a:t>
            </a:r>
          </a:p>
        </p:txBody>
      </p:sp>
      <p:sp>
        <p:nvSpPr>
          <p:cNvPr id="4" name="step-0">
            <a:extLst>
              <a:ext uri="{FF2B5EF4-FFF2-40B4-BE49-F238E27FC236}">
                <a16:creationId xmlns:a16="http://schemas.microsoft.com/office/drawing/2014/main" id="{F453B14C-ADE0-4814-82CF-99D60CED8101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tep-no-0">
            <a:extLst>
              <a:ext uri="{FF2B5EF4-FFF2-40B4-BE49-F238E27FC236}">
                <a16:creationId xmlns:a16="http://schemas.microsoft.com/office/drawing/2014/main" id="{1A32B3DB-94C1-46CA-BF88-F91392F55FB0}"/>
              </a:ext>
            </a:extLst>
          </p:cNvPr>
          <p:cNvSpPr>
            <a:spLocks noGrp="1"/>
          </p:cNvSpPr>
          <p:nvPr/>
        </p:nvSpPr>
        <p:spPr>
          <a:xfrm>
            <a:off x="108585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title-0">
            <a:extLst>
              <a:ext uri="{FF2B5EF4-FFF2-40B4-BE49-F238E27FC236}">
                <a16:creationId xmlns:a16="http://schemas.microsoft.com/office/drawing/2014/main" id="{DC238F21-D3A6-4F4A-AE88-37D838189E98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Discuss</a:t>
            </a:r>
          </a:p>
        </p:txBody>
      </p:sp>
      <p:sp>
        <p:nvSpPr>
          <p:cNvPr id="7" name="step-copy-0">
            <a:extLst>
              <a:ext uri="{FF2B5EF4-FFF2-40B4-BE49-F238E27FC236}">
                <a16:creationId xmlns:a16="http://schemas.microsoft.com/office/drawing/2014/main" id="{0550BD9F-C339-4F47-9A99-4E8A907C0551}"/>
              </a:ext>
            </a:extLst>
          </p:cNvPr>
          <p:cNvSpPr>
            <a:spLocks noGrp="1"/>
          </p:cNvSpPr>
          <p:nvPr/>
        </p:nvSpPr>
        <p:spPr>
          <a:xfrm>
            <a:off x="108585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先釐清研究任務與風險</a:t>
            </a:r>
          </a:p>
        </p:txBody>
      </p:sp>
      <p:sp>
        <p:nvSpPr>
          <p:cNvPr id="8" name="step-arrow-0">
            <a:extLst>
              <a:ext uri="{FF2B5EF4-FFF2-40B4-BE49-F238E27FC236}">
                <a16:creationId xmlns:a16="http://schemas.microsoft.com/office/drawing/2014/main" id="{07C96D47-4BB0-4469-BBA4-E6BF4910E52B}"/>
              </a:ext>
            </a:extLst>
          </p:cNvPr>
          <p:cNvSpPr>
            <a:spLocks noGrp="1"/>
          </p:cNvSpPr>
          <p:nvPr/>
        </p:nvSpPr>
        <p:spPr>
          <a:xfrm>
            <a:off x="241935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step-1">
            <a:extLst>
              <a:ext uri="{FF2B5EF4-FFF2-40B4-BE49-F238E27FC236}">
                <a16:creationId xmlns:a16="http://schemas.microsoft.com/office/drawing/2014/main" id="{D4B35E58-773A-4B0E-86B3-225EE7644F00}"/>
              </a:ext>
            </a:extLst>
          </p:cNvPr>
          <p:cNvSpPr>
            <a:spLocks noGrp="1"/>
          </p:cNvSpPr>
          <p:nvPr/>
        </p:nvSpPr>
        <p:spPr>
          <a:xfrm>
            <a:off x="260032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no-1">
            <a:extLst>
              <a:ext uri="{FF2B5EF4-FFF2-40B4-BE49-F238E27FC236}">
                <a16:creationId xmlns:a16="http://schemas.microsoft.com/office/drawing/2014/main" id="{6807547F-23E3-417A-B825-1E1992EBA475}"/>
              </a:ext>
            </a:extLst>
          </p:cNvPr>
          <p:cNvSpPr>
            <a:spLocks noGrp="1"/>
          </p:cNvSpPr>
          <p:nvPr/>
        </p:nvSpPr>
        <p:spPr>
          <a:xfrm>
            <a:off x="277177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ep-title-1">
            <a:extLst>
              <a:ext uri="{FF2B5EF4-FFF2-40B4-BE49-F238E27FC236}">
                <a16:creationId xmlns:a16="http://schemas.microsoft.com/office/drawing/2014/main" id="{8808FAA9-0400-42D4-A0B5-8FF1B8969059}"/>
              </a:ext>
            </a:extLst>
          </p:cNvPr>
          <p:cNvSpPr>
            <a:spLocks noGrp="1"/>
          </p:cNvSpPr>
          <p:nvPr/>
        </p:nvSpPr>
        <p:spPr>
          <a:xfrm>
            <a:off x="277177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Specify</a:t>
            </a:r>
          </a:p>
        </p:txBody>
      </p:sp>
      <p:sp>
        <p:nvSpPr>
          <p:cNvPr id="12" name="step-copy-1">
            <a:extLst>
              <a:ext uri="{FF2B5EF4-FFF2-40B4-BE49-F238E27FC236}">
                <a16:creationId xmlns:a16="http://schemas.microsoft.com/office/drawing/2014/main" id="{9026E779-996E-4933-8448-0A7578E3E35F}"/>
              </a:ext>
            </a:extLst>
          </p:cNvPr>
          <p:cNvSpPr>
            <a:spLocks noGrp="1"/>
          </p:cNvSpPr>
          <p:nvPr/>
        </p:nvSpPr>
        <p:spPr>
          <a:xfrm>
            <a:off x="277177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寫 what/why 和驗收標準</a:t>
            </a:r>
          </a:p>
        </p:txBody>
      </p:sp>
      <p:sp>
        <p:nvSpPr>
          <p:cNvPr id="13" name="step-arrow-1">
            <a:extLst>
              <a:ext uri="{FF2B5EF4-FFF2-40B4-BE49-F238E27FC236}">
                <a16:creationId xmlns:a16="http://schemas.microsoft.com/office/drawing/2014/main" id="{A03287E4-4B18-4814-839B-E59F172CEADB}"/>
              </a:ext>
            </a:extLst>
          </p:cNvPr>
          <p:cNvSpPr>
            <a:spLocks noGrp="1"/>
          </p:cNvSpPr>
          <p:nvPr/>
        </p:nvSpPr>
        <p:spPr>
          <a:xfrm>
            <a:off x="4105275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step-2">
            <a:extLst>
              <a:ext uri="{FF2B5EF4-FFF2-40B4-BE49-F238E27FC236}">
                <a16:creationId xmlns:a16="http://schemas.microsoft.com/office/drawing/2014/main" id="{14BE407D-C7A0-4FBB-98D7-73B9B5888B31}"/>
              </a:ext>
            </a:extLst>
          </p:cNvPr>
          <p:cNvSpPr>
            <a:spLocks noGrp="1"/>
          </p:cNvSpPr>
          <p:nvPr/>
        </p:nvSpPr>
        <p:spPr>
          <a:xfrm>
            <a:off x="428625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tep-no-2">
            <a:extLst>
              <a:ext uri="{FF2B5EF4-FFF2-40B4-BE49-F238E27FC236}">
                <a16:creationId xmlns:a16="http://schemas.microsoft.com/office/drawing/2014/main" id="{15335A12-E628-4EBE-B459-88E0823571AE}"/>
              </a:ext>
            </a:extLst>
          </p:cNvPr>
          <p:cNvSpPr>
            <a:spLocks noGrp="1"/>
          </p:cNvSpPr>
          <p:nvPr/>
        </p:nvSpPr>
        <p:spPr>
          <a:xfrm>
            <a:off x="445770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tep-title-2">
            <a:extLst>
              <a:ext uri="{FF2B5EF4-FFF2-40B4-BE49-F238E27FC236}">
                <a16:creationId xmlns:a16="http://schemas.microsoft.com/office/drawing/2014/main" id="{180E5589-660C-49FA-8379-6A9E389385A5}"/>
              </a:ext>
            </a:extLst>
          </p:cNvPr>
          <p:cNvSpPr>
            <a:spLocks noGrp="1"/>
          </p:cNvSpPr>
          <p:nvPr/>
        </p:nvSpPr>
        <p:spPr>
          <a:xfrm>
            <a:off x="445770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Plan</a:t>
            </a:r>
          </a:p>
        </p:txBody>
      </p:sp>
      <p:sp>
        <p:nvSpPr>
          <p:cNvPr id="17" name="step-copy-2">
            <a:extLst>
              <a:ext uri="{FF2B5EF4-FFF2-40B4-BE49-F238E27FC236}">
                <a16:creationId xmlns:a16="http://schemas.microsoft.com/office/drawing/2014/main" id="{E24519FC-75D2-4302-9FAA-C7DBF85AE8B0}"/>
              </a:ext>
            </a:extLst>
          </p:cNvPr>
          <p:cNvSpPr>
            <a:spLocks noGrp="1"/>
          </p:cNvSpPr>
          <p:nvPr/>
        </p:nvSpPr>
        <p:spPr>
          <a:xfrm>
            <a:off x="445770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決定資料源、介面、測試</a:t>
            </a:r>
          </a:p>
        </p:txBody>
      </p:sp>
      <p:sp>
        <p:nvSpPr>
          <p:cNvPr id="18" name="step-arrow-2">
            <a:extLst>
              <a:ext uri="{FF2B5EF4-FFF2-40B4-BE49-F238E27FC236}">
                <a16:creationId xmlns:a16="http://schemas.microsoft.com/office/drawing/2014/main" id="{F0E9B9A6-D165-4361-81D8-604D1A891FF3}"/>
              </a:ext>
            </a:extLst>
          </p:cNvPr>
          <p:cNvSpPr>
            <a:spLocks noGrp="1"/>
          </p:cNvSpPr>
          <p:nvPr/>
        </p:nvSpPr>
        <p:spPr>
          <a:xfrm>
            <a:off x="579120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step-3">
            <a:extLst>
              <a:ext uri="{FF2B5EF4-FFF2-40B4-BE49-F238E27FC236}">
                <a16:creationId xmlns:a16="http://schemas.microsoft.com/office/drawing/2014/main" id="{E14E0FA3-B581-4D0B-85D0-F46A26AE4F92}"/>
              </a:ext>
            </a:extLst>
          </p:cNvPr>
          <p:cNvSpPr>
            <a:spLocks noGrp="1"/>
          </p:cNvSpPr>
          <p:nvPr/>
        </p:nvSpPr>
        <p:spPr>
          <a:xfrm>
            <a:off x="597217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tep-no-3">
            <a:extLst>
              <a:ext uri="{FF2B5EF4-FFF2-40B4-BE49-F238E27FC236}">
                <a16:creationId xmlns:a16="http://schemas.microsoft.com/office/drawing/2014/main" id="{FCFF06B0-D9E6-4718-A658-646F537DA8E6}"/>
              </a:ext>
            </a:extLst>
          </p:cNvPr>
          <p:cNvSpPr>
            <a:spLocks noGrp="1"/>
          </p:cNvSpPr>
          <p:nvPr/>
        </p:nvSpPr>
        <p:spPr>
          <a:xfrm>
            <a:off x="614362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tep-title-3">
            <a:extLst>
              <a:ext uri="{FF2B5EF4-FFF2-40B4-BE49-F238E27FC236}">
                <a16:creationId xmlns:a16="http://schemas.microsoft.com/office/drawing/2014/main" id="{35C0FEC5-E554-4ECC-86EA-7D5D448F368C}"/>
              </a:ext>
            </a:extLst>
          </p:cNvPr>
          <p:cNvSpPr>
            <a:spLocks noGrp="1"/>
          </p:cNvSpPr>
          <p:nvPr/>
        </p:nvSpPr>
        <p:spPr>
          <a:xfrm>
            <a:off x="614362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Tasks</a:t>
            </a:r>
          </a:p>
        </p:txBody>
      </p:sp>
      <p:sp>
        <p:nvSpPr>
          <p:cNvPr id="22" name="step-copy-3">
            <a:extLst>
              <a:ext uri="{FF2B5EF4-FFF2-40B4-BE49-F238E27FC236}">
                <a16:creationId xmlns:a16="http://schemas.microsoft.com/office/drawing/2014/main" id="{6D22F43A-9D40-4F90-9CD8-1D9B4B9F5AF3}"/>
              </a:ext>
            </a:extLst>
          </p:cNvPr>
          <p:cNvSpPr>
            <a:spLocks noGrp="1"/>
          </p:cNvSpPr>
          <p:nvPr/>
        </p:nvSpPr>
        <p:spPr>
          <a:xfrm>
            <a:off x="614362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拆成可 review 小任務</a:t>
            </a:r>
          </a:p>
        </p:txBody>
      </p:sp>
      <p:sp>
        <p:nvSpPr>
          <p:cNvPr id="23" name="step-arrow-3">
            <a:extLst>
              <a:ext uri="{FF2B5EF4-FFF2-40B4-BE49-F238E27FC236}">
                <a16:creationId xmlns:a16="http://schemas.microsoft.com/office/drawing/2014/main" id="{34DCC56E-653C-42C0-B8FE-A6F9DF7A05C4}"/>
              </a:ext>
            </a:extLst>
          </p:cNvPr>
          <p:cNvSpPr>
            <a:spLocks noGrp="1"/>
          </p:cNvSpPr>
          <p:nvPr/>
        </p:nvSpPr>
        <p:spPr>
          <a:xfrm>
            <a:off x="7477125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step-4">
            <a:extLst>
              <a:ext uri="{FF2B5EF4-FFF2-40B4-BE49-F238E27FC236}">
                <a16:creationId xmlns:a16="http://schemas.microsoft.com/office/drawing/2014/main" id="{64AE7A4A-FA69-4656-9309-09D46637D830}"/>
              </a:ext>
            </a:extLst>
          </p:cNvPr>
          <p:cNvSpPr>
            <a:spLocks noGrp="1"/>
          </p:cNvSpPr>
          <p:nvPr/>
        </p:nvSpPr>
        <p:spPr>
          <a:xfrm>
            <a:off x="765810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tep-no-4">
            <a:extLst>
              <a:ext uri="{FF2B5EF4-FFF2-40B4-BE49-F238E27FC236}">
                <a16:creationId xmlns:a16="http://schemas.microsoft.com/office/drawing/2014/main" id="{2A119B7A-0290-403B-8B3B-0BF3BD77207F}"/>
              </a:ext>
            </a:extLst>
          </p:cNvPr>
          <p:cNvSpPr>
            <a:spLocks noGrp="1"/>
          </p:cNvSpPr>
          <p:nvPr/>
        </p:nvSpPr>
        <p:spPr>
          <a:xfrm>
            <a:off x="782955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step-title-4">
            <a:extLst>
              <a:ext uri="{FF2B5EF4-FFF2-40B4-BE49-F238E27FC236}">
                <a16:creationId xmlns:a16="http://schemas.microsoft.com/office/drawing/2014/main" id="{0C13A379-5C56-446D-A487-0C6B0CDFD64E}"/>
              </a:ext>
            </a:extLst>
          </p:cNvPr>
          <p:cNvSpPr>
            <a:spLocks noGrp="1"/>
          </p:cNvSpPr>
          <p:nvPr/>
        </p:nvSpPr>
        <p:spPr>
          <a:xfrm>
            <a:off x="782955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Build</a:t>
            </a:r>
          </a:p>
        </p:txBody>
      </p:sp>
      <p:sp>
        <p:nvSpPr>
          <p:cNvPr id="27" name="step-copy-4">
            <a:extLst>
              <a:ext uri="{FF2B5EF4-FFF2-40B4-BE49-F238E27FC236}">
                <a16:creationId xmlns:a16="http://schemas.microsoft.com/office/drawing/2014/main" id="{A175DEFD-3097-4372-807B-867C753194B5}"/>
              </a:ext>
            </a:extLst>
          </p:cNvPr>
          <p:cNvSpPr>
            <a:spLocks noGrp="1"/>
          </p:cNvSpPr>
          <p:nvPr/>
        </p:nvSpPr>
        <p:spPr>
          <a:xfrm>
            <a:off x="782955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小 patch 實作</a:t>
            </a:r>
          </a:p>
        </p:txBody>
      </p:sp>
      <p:sp>
        <p:nvSpPr>
          <p:cNvPr id="28" name="step-arrow-4">
            <a:extLst>
              <a:ext uri="{FF2B5EF4-FFF2-40B4-BE49-F238E27FC236}">
                <a16:creationId xmlns:a16="http://schemas.microsoft.com/office/drawing/2014/main" id="{26D656A2-C7C8-484F-8212-8F993B32E82B}"/>
              </a:ext>
            </a:extLst>
          </p:cNvPr>
          <p:cNvSpPr>
            <a:spLocks noGrp="1"/>
          </p:cNvSpPr>
          <p:nvPr/>
        </p:nvSpPr>
        <p:spPr>
          <a:xfrm>
            <a:off x="916305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step-5">
            <a:extLst>
              <a:ext uri="{FF2B5EF4-FFF2-40B4-BE49-F238E27FC236}">
                <a16:creationId xmlns:a16="http://schemas.microsoft.com/office/drawing/2014/main" id="{2346928B-39B7-432B-A9FF-010E3DE82DBB}"/>
              </a:ext>
            </a:extLst>
          </p:cNvPr>
          <p:cNvSpPr>
            <a:spLocks noGrp="1"/>
          </p:cNvSpPr>
          <p:nvPr/>
        </p:nvSpPr>
        <p:spPr>
          <a:xfrm>
            <a:off x="934402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tep-no-5">
            <a:extLst>
              <a:ext uri="{FF2B5EF4-FFF2-40B4-BE49-F238E27FC236}">
                <a16:creationId xmlns:a16="http://schemas.microsoft.com/office/drawing/2014/main" id="{76690A70-6854-4F8E-951F-87981D86C21E}"/>
              </a:ext>
            </a:extLst>
          </p:cNvPr>
          <p:cNvSpPr>
            <a:spLocks noGrp="1"/>
          </p:cNvSpPr>
          <p:nvPr/>
        </p:nvSpPr>
        <p:spPr>
          <a:xfrm>
            <a:off x="951547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step-title-5">
            <a:extLst>
              <a:ext uri="{FF2B5EF4-FFF2-40B4-BE49-F238E27FC236}">
                <a16:creationId xmlns:a16="http://schemas.microsoft.com/office/drawing/2014/main" id="{5E141F47-A60D-4C6D-B999-CBC0D4284845}"/>
              </a:ext>
            </a:extLst>
          </p:cNvPr>
          <p:cNvSpPr>
            <a:spLocks noGrp="1"/>
          </p:cNvSpPr>
          <p:nvPr/>
        </p:nvSpPr>
        <p:spPr>
          <a:xfrm>
            <a:off x="951547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Update</a:t>
            </a:r>
          </a:p>
        </p:txBody>
      </p:sp>
      <p:sp>
        <p:nvSpPr>
          <p:cNvPr id="32" name="step-copy-5">
            <a:extLst>
              <a:ext uri="{FF2B5EF4-FFF2-40B4-BE49-F238E27FC236}">
                <a16:creationId xmlns:a16="http://schemas.microsoft.com/office/drawing/2014/main" id="{AC7E91DD-C2B7-4B14-94B0-3F575490B620}"/>
              </a:ext>
            </a:extLst>
          </p:cNvPr>
          <p:cNvSpPr>
            <a:spLocks noGrp="1"/>
          </p:cNvSpPr>
          <p:nvPr/>
        </p:nvSpPr>
        <p:spPr>
          <a:xfrm>
            <a:off x="951547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結果回寫 spec 與限制</a:t>
            </a:r>
          </a:p>
        </p:txBody>
      </p:sp>
      <p:cxnSp>
        <p:nvCxnSpPr>
          <p:cNvPr id="101" name="loop-drop"/>
          <p:cNvCxnSpPr/>
          <p:nvPr/>
        </p:nvCxnSpPr>
        <p:spPr>
          <a:xfrm>
            <a:off x="10064750" y="4140200"/>
            <a:ext cx="0" cy="100330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</a:ln>
        </p:spPr>
      </p:cxnSp>
      <p:cxnSp>
        <p:nvCxnSpPr>
          <p:cNvPr id="102" name="loop-horizontal"/>
          <p:cNvCxnSpPr/>
          <p:nvPr/>
        </p:nvCxnSpPr>
        <p:spPr>
          <a:xfrm>
            <a:off x="3321050" y="5143500"/>
            <a:ext cx="6743700" cy="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</a:ln>
        </p:spPr>
      </p:cxnSp>
      <p:cxnSp>
        <p:nvCxnSpPr>
          <p:cNvPr id="103" name="loop-rise"/>
          <p:cNvCxnSpPr/>
          <p:nvPr/>
        </p:nvCxnSpPr>
        <p:spPr>
          <a:xfrm flipV="1">
            <a:off x="3321050" y="4140200"/>
            <a:ext cx="0" cy="100330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  <a:tailEnd type="triangle" w="med" len="med"/>
          </a:ln>
        </p:spPr>
      </p:cxnSp>
      <p:sp>
        <p:nvSpPr>
          <p:cNvPr id="104" name="loop-label"/>
          <p:cNvSpPr txBox="1"/>
          <p:nvPr/>
        </p:nvSpPr>
        <p:spPr>
          <a:xfrm>
            <a:off x="4406900" y="5270500"/>
            <a:ext cx="4572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E97132"/>
                </a:solidFill>
                <a:latin typeface="PingFang TC"/>
                <a:ea typeface="PingFang TC"/>
                <a:cs typeface="PingFang TC"/>
              </a:rPr>
              <a:t>驗收未過 → 回到 Specify 重新迭代</a:t>
            </a:r>
          </a:p>
        </p:txBody>
      </p:sp>
    </p:spTree>
    <p:extLst>
      <p:ext uri="{BB962C8B-B14F-4D97-AF65-F5344CB8AC3E}">
        <p14:creationId xmlns:p14="http://schemas.microsoft.com/office/powerpoint/2010/main" val="344003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FB8266F0-49EE-4B3E-9B61-59D160DCB23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PROMPT VS SPEC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8AF1CBB-8311-4458-97A3-6FBB3D0922DE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Prompt 是一次指令；spec 是可以版本控制的共同記憶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A497A300-0CD1-4BE1-AE74-4CD0176687DE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7/50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06D91668-EE7A-4D2B-AFB8-8AFD372E233F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71450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4ABF320E-9082-4D4A-943C-9DE163CC5F07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面向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11F8FDF6-0908-43F6-95AE-E418B9631C26}"/>
              </a:ext>
            </a:extLst>
          </p:cNvPr>
          <p:cNvSpPr>
            <a:spLocks noGrp="1"/>
          </p:cNvSpPr>
          <p:nvPr/>
        </p:nvSpPr>
        <p:spPr>
          <a:xfrm>
            <a:off x="2514600" y="1885950"/>
            <a:ext cx="409575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34603AAD-F43F-4376-B9C8-E5E7CC337915}"/>
              </a:ext>
            </a:extLst>
          </p:cNvPr>
          <p:cNvSpPr>
            <a:spLocks noGrp="1"/>
          </p:cNvSpPr>
          <p:nvPr/>
        </p:nvSpPr>
        <p:spPr>
          <a:xfrm>
            <a:off x="2628900" y="2000250"/>
            <a:ext cx="3867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Prompt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E404AF99-33C7-4DF8-909D-14908F0866E7}"/>
              </a:ext>
            </a:extLst>
          </p:cNvPr>
          <p:cNvSpPr>
            <a:spLocks noGrp="1"/>
          </p:cNvSpPr>
          <p:nvPr/>
        </p:nvSpPr>
        <p:spPr>
          <a:xfrm>
            <a:off x="6610350" y="1885950"/>
            <a:ext cx="457200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66AD9390-821C-4512-9AE3-2D3FEA55AA3A}"/>
              </a:ext>
            </a:extLst>
          </p:cNvPr>
          <p:cNvSpPr>
            <a:spLocks noGrp="1"/>
          </p:cNvSpPr>
          <p:nvPr/>
        </p:nvSpPr>
        <p:spPr>
          <a:xfrm>
            <a:off x="6724650" y="2000250"/>
            <a:ext cx="434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Spec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1C111800-842F-4CE5-A165-3C3B0976FAF9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714500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760B4D13-BF18-47BE-B737-FF4F7E7F3E7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485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生命週期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31D8751C-B3C8-4C28-9A0E-00AF833D91C1}"/>
              </a:ext>
            </a:extLst>
          </p:cNvPr>
          <p:cNvSpPr>
            <a:spLocks noGrp="1"/>
          </p:cNvSpPr>
          <p:nvPr/>
        </p:nvSpPr>
        <p:spPr>
          <a:xfrm>
            <a:off x="2514600" y="2305050"/>
            <a:ext cx="4095750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68564377-9DA3-4312-9EC0-4FE732812D8B}"/>
              </a:ext>
            </a:extLst>
          </p:cNvPr>
          <p:cNvSpPr>
            <a:spLocks noGrp="1"/>
          </p:cNvSpPr>
          <p:nvPr/>
        </p:nvSpPr>
        <p:spPr>
          <a:xfrm>
            <a:off x="2628900" y="2400300"/>
            <a:ext cx="3867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一次對話中的指令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79BAF770-04DB-4EDF-BB5E-16D3EA623B0E}"/>
              </a:ext>
            </a:extLst>
          </p:cNvPr>
          <p:cNvSpPr>
            <a:spLocks noGrp="1"/>
          </p:cNvSpPr>
          <p:nvPr/>
        </p:nvSpPr>
        <p:spPr>
          <a:xfrm>
            <a:off x="6610350" y="2305050"/>
            <a:ext cx="4572000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0C84B7D8-62B5-43A8-BB4B-B1B6618C8B15}"/>
              </a:ext>
            </a:extLst>
          </p:cNvPr>
          <p:cNvSpPr>
            <a:spLocks noGrp="1"/>
          </p:cNvSpPr>
          <p:nvPr/>
        </p:nvSpPr>
        <p:spPr>
          <a:xfrm>
            <a:off x="6724650" y="2400300"/>
            <a:ext cx="4343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跟 repo 一起演進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1E795DF5-39BC-460B-9B01-A659E22F453C}"/>
              </a:ext>
            </a:extLst>
          </p:cNvPr>
          <p:cNvSpPr>
            <a:spLocks noGrp="1"/>
          </p:cNvSpPr>
          <p:nvPr/>
        </p:nvSpPr>
        <p:spPr>
          <a:xfrm>
            <a:off x="800100" y="2943225"/>
            <a:ext cx="1714500" cy="638175"/>
          </a:xfrm>
          <a:prstGeom prst="roundRect">
            <a:avLst>
              <a:gd name="adj" fmla="val 5970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1FFEE024-2F74-4539-9201-AED2542FC0EE}"/>
              </a:ext>
            </a:extLst>
          </p:cNvPr>
          <p:cNvSpPr>
            <a:spLocks noGrp="1"/>
          </p:cNvSpPr>
          <p:nvPr/>
        </p:nvSpPr>
        <p:spPr>
          <a:xfrm>
            <a:off x="914400" y="3038475"/>
            <a:ext cx="1485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可審查性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D9DD0170-C7E7-4FF6-B269-703F0B8265BE}"/>
              </a:ext>
            </a:extLst>
          </p:cNvPr>
          <p:cNvSpPr>
            <a:spLocks noGrp="1"/>
          </p:cNvSpPr>
          <p:nvPr/>
        </p:nvSpPr>
        <p:spPr>
          <a:xfrm>
            <a:off x="2514600" y="2943225"/>
            <a:ext cx="4095750" cy="638175"/>
          </a:xfrm>
          <a:prstGeom prst="roundRect">
            <a:avLst>
              <a:gd name="adj" fmla="val 5970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C63C1BA4-CDB4-4F3B-A18B-268C003A35DB}"/>
              </a:ext>
            </a:extLst>
          </p:cNvPr>
          <p:cNvSpPr>
            <a:spLocks noGrp="1"/>
          </p:cNvSpPr>
          <p:nvPr/>
        </p:nvSpPr>
        <p:spPr>
          <a:xfrm>
            <a:off x="2628900" y="3038475"/>
            <a:ext cx="3867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容易散在聊天紀錄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C38B8740-3D2E-47AE-A5C8-F9EA06A6976F}"/>
              </a:ext>
            </a:extLst>
          </p:cNvPr>
          <p:cNvSpPr>
            <a:spLocks noGrp="1"/>
          </p:cNvSpPr>
          <p:nvPr/>
        </p:nvSpPr>
        <p:spPr>
          <a:xfrm>
            <a:off x="6610350" y="2943225"/>
            <a:ext cx="4572000" cy="638175"/>
          </a:xfrm>
          <a:prstGeom prst="roundRect">
            <a:avLst>
              <a:gd name="adj" fmla="val 5970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77378B69-C01C-448F-AF20-7C87E7227300}"/>
              </a:ext>
            </a:extLst>
          </p:cNvPr>
          <p:cNvSpPr>
            <a:spLocks noGrp="1"/>
          </p:cNvSpPr>
          <p:nvPr/>
        </p:nvSpPr>
        <p:spPr>
          <a:xfrm>
            <a:off x="6724650" y="3038475"/>
            <a:ext cx="4343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可被 reviewer、助教、agent 反覆檢查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E16D9C0E-13A1-4FAB-A47C-961658C0CC0B}"/>
              </a:ext>
            </a:extLst>
          </p:cNvPr>
          <p:cNvSpPr>
            <a:spLocks noGrp="1"/>
          </p:cNvSpPr>
          <p:nvPr/>
        </p:nvSpPr>
        <p:spPr>
          <a:xfrm>
            <a:off x="800100" y="3581400"/>
            <a:ext cx="1714500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3B939593-23D8-4163-AAC2-88E942B17EC4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1485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測試關係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438C629F-5AE6-45E6-99E5-9A0747A1B0F1}"/>
              </a:ext>
            </a:extLst>
          </p:cNvPr>
          <p:cNvSpPr>
            <a:spLocks noGrp="1"/>
          </p:cNvSpPr>
          <p:nvPr/>
        </p:nvSpPr>
        <p:spPr>
          <a:xfrm>
            <a:off x="2514600" y="3581400"/>
            <a:ext cx="4095750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F6B0A3FE-7D89-4AEA-90CB-3FD0F699AF4B}"/>
              </a:ext>
            </a:extLst>
          </p:cNvPr>
          <p:cNvSpPr>
            <a:spLocks noGrp="1"/>
          </p:cNvSpPr>
          <p:nvPr/>
        </p:nvSpPr>
        <p:spPr>
          <a:xfrm>
            <a:off x="2628900" y="3676650"/>
            <a:ext cx="3867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常只描述想要什麼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FB225455-66DD-49E8-8A5F-8B42DC73B84B}"/>
              </a:ext>
            </a:extLst>
          </p:cNvPr>
          <p:cNvSpPr>
            <a:spLocks noGrp="1"/>
          </p:cNvSpPr>
          <p:nvPr/>
        </p:nvSpPr>
        <p:spPr>
          <a:xfrm>
            <a:off x="6610350" y="3581400"/>
            <a:ext cx="4572000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162B0788-FAB0-488D-ACF9-230CCBD0603E}"/>
              </a:ext>
            </a:extLst>
          </p:cNvPr>
          <p:cNvSpPr>
            <a:spLocks noGrp="1"/>
          </p:cNvSpPr>
          <p:nvPr/>
        </p:nvSpPr>
        <p:spPr>
          <a:xfrm>
            <a:off x="6724650" y="3676650"/>
            <a:ext cx="4343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明確列出 acceptance criteria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BCCB66DA-41D6-4478-A7E7-2C3960528DCC}"/>
              </a:ext>
            </a:extLst>
          </p:cNvPr>
          <p:cNvSpPr>
            <a:spLocks noGrp="1"/>
          </p:cNvSpPr>
          <p:nvPr/>
        </p:nvSpPr>
        <p:spPr>
          <a:xfrm>
            <a:off x="800100" y="4219575"/>
            <a:ext cx="1714500" cy="638175"/>
          </a:xfrm>
          <a:prstGeom prst="roundRect">
            <a:avLst>
              <a:gd name="adj" fmla="val 5970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0DFDA93B-3217-4F94-A8D1-181E06FB70E0}"/>
              </a:ext>
            </a:extLst>
          </p:cNvPr>
          <p:cNvSpPr>
            <a:spLocks noGrp="1"/>
          </p:cNvSpPr>
          <p:nvPr/>
        </p:nvSpPr>
        <p:spPr>
          <a:xfrm>
            <a:off x="914400" y="4314825"/>
            <a:ext cx="1485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失敗處理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B5266BB2-FAEA-4DC1-9160-D052D067F65F}"/>
              </a:ext>
            </a:extLst>
          </p:cNvPr>
          <p:cNvSpPr>
            <a:spLocks noGrp="1"/>
          </p:cNvSpPr>
          <p:nvPr/>
        </p:nvSpPr>
        <p:spPr>
          <a:xfrm>
            <a:off x="2514600" y="4219575"/>
            <a:ext cx="4095750" cy="638175"/>
          </a:xfrm>
          <a:prstGeom prst="roundRect">
            <a:avLst>
              <a:gd name="adj" fmla="val 5970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620D3BC1-30A3-4C21-9F63-EE095BFE79C4}"/>
              </a:ext>
            </a:extLst>
          </p:cNvPr>
          <p:cNvSpPr>
            <a:spLocks noGrp="1"/>
          </p:cNvSpPr>
          <p:nvPr/>
        </p:nvSpPr>
        <p:spPr>
          <a:xfrm>
            <a:off x="2628900" y="4314825"/>
            <a:ext cx="3867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常靠 agent 自己補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AB73C01C-43D7-448D-8B45-FFCDE92B20E2}"/>
              </a:ext>
            </a:extLst>
          </p:cNvPr>
          <p:cNvSpPr>
            <a:spLocks noGrp="1"/>
          </p:cNvSpPr>
          <p:nvPr/>
        </p:nvSpPr>
        <p:spPr>
          <a:xfrm>
            <a:off x="6610350" y="4219575"/>
            <a:ext cx="4572000" cy="638175"/>
          </a:xfrm>
          <a:prstGeom prst="roundRect">
            <a:avLst>
              <a:gd name="adj" fmla="val 5970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9E478A56-CABC-4D77-A135-95ED53A4277F}"/>
              </a:ext>
            </a:extLst>
          </p:cNvPr>
          <p:cNvSpPr>
            <a:spLocks noGrp="1"/>
          </p:cNvSpPr>
          <p:nvPr/>
        </p:nvSpPr>
        <p:spPr>
          <a:xfrm>
            <a:off x="6724650" y="4314825"/>
            <a:ext cx="4343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先定義錯誤、not found、human review</a:t>
            </a:r>
          </a:p>
        </p:txBody>
      </p:sp>
    </p:spTree>
    <p:extLst>
      <p:ext uri="{BB962C8B-B14F-4D97-AF65-F5344CB8AC3E}">
        <p14:creationId xmlns:p14="http://schemas.microsoft.com/office/powerpoint/2010/main" val="3254749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yebrow">
            <a:extLst>
              <a:ext uri="{FF2B5EF4-FFF2-40B4-BE49-F238E27FC236}">
                <a16:creationId xmlns:a16="http://schemas.microsoft.com/office/drawing/2014/main" id="{633B5100-2C0B-4AD4-9900-5BE6C9DFDB7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SPEC ANATOMY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3B1229E-1DA9-4F09-8390-8D9B852A303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生醫工具的最小</a:t>
            </a:r>
            <a:r>
              <a:rPr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SPEC.md</a:t>
            </a:r>
            <a:r>
              <a:rPr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要回答</a:t>
            </a:r>
            <a:r>
              <a:rPr lang="zh-TW" alt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幾</a:t>
            </a:r>
            <a:r>
              <a:rPr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個問題</a:t>
            </a:r>
            <a:endParaRPr sz="27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D3035840-C262-454F-BBF5-DCB0D56A8EDA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8/50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EDD3CA41-97E2-49C5-A3E6-59F46D79E300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428750" cy="419100"/>
          </a:xfrm>
          <a:prstGeom prst="roundRect">
            <a:avLst>
              <a:gd name="adj" fmla="val 9091"/>
            </a:avLst>
          </a:prstGeom>
          <a:solidFill>
            <a:srgbClr val="438D4A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9855875B-CCD8-4487-80FB-793A93216CDC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欄位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F65A9B67-D8FB-4291-96A5-7634DFCE4941}"/>
              </a:ext>
            </a:extLst>
          </p:cNvPr>
          <p:cNvSpPr>
            <a:spLocks noGrp="1"/>
          </p:cNvSpPr>
          <p:nvPr/>
        </p:nvSpPr>
        <p:spPr>
          <a:xfrm>
            <a:off x="2228850" y="1885950"/>
            <a:ext cx="4857750" cy="419100"/>
          </a:xfrm>
          <a:prstGeom prst="roundRect">
            <a:avLst>
              <a:gd name="adj" fmla="val 9091"/>
            </a:avLst>
          </a:prstGeom>
          <a:solidFill>
            <a:srgbClr val="438D4A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6F7393F4-227A-45A2-9BCE-1E60D699C005}"/>
              </a:ext>
            </a:extLst>
          </p:cNvPr>
          <p:cNvSpPr>
            <a:spLocks noGrp="1"/>
          </p:cNvSpPr>
          <p:nvPr/>
        </p:nvSpPr>
        <p:spPr>
          <a:xfrm>
            <a:off x="2343150" y="2000250"/>
            <a:ext cx="462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要寫清楚什麼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8A567603-FE7A-4575-896C-9051A3FB8162}"/>
              </a:ext>
            </a:extLst>
          </p:cNvPr>
          <p:cNvSpPr>
            <a:spLocks noGrp="1"/>
          </p:cNvSpPr>
          <p:nvPr/>
        </p:nvSpPr>
        <p:spPr>
          <a:xfrm>
            <a:off x="7086600" y="1885950"/>
            <a:ext cx="4095750" cy="419100"/>
          </a:xfrm>
          <a:prstGeom prst="roundRect">
            <a:avLst>
              <a:gd name="adj" fmla="val 9091"/>
            </a:avLst>
          </a:prstGeom>
          <a:solidFill>
            <a:srgbClr val="438D4A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4A4BCAE3-15FF-4BE7-B01E-CF9E8BDB164A}"/>
              </a:ext>
            </a:extLst>
          </p:cNvPr>
          <p:cNvSpPr>
            <a:spLocks noGrp="1"/>
          </p:cNvSpPr>
          <p:nvPr/>
        </p:nvSpPr>
        <p:spPr>
          <a:xfrm>
            <a:off x="7200900" y="2000250"/>
            <a:ext cx="3867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常見錯誤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AF0D8EBC-9CE1-44A9-980C-7E8E70ED8851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428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CF5F319F-4A10-41AF-8F6A-668AB861FF9C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Goal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47754F12-EDD3-4469-B58F-91D1645DA07F}"/>
              </a:ext>
            </a:extLst>
          </p:cNvPr>
          <p:cNvSpPr>
            <a:spLocks noGrp="1"/>
          </p:cNvSpPr>
          <p:nvPr/>
        </p:nvSpPr>
        <p:spPr>
          <a:xfrm>
            <a:off x="2228850" y="2305050"/>
            <a:ext cx="4857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E40566B8-1F48-4D71-9577-2920914DB687}"/>
              </a:ext>
            </a:extLst>
          </p:cNvPr>
          <p:cNvSpPr>
            <a:spLocks noGrp="1"/>
          </p:cNvSpPr>
          <p:nvPr/>
        </p:nvSpPr>
        <p:spPr>
          <a:xfrm>
            <a:off x="2343150" y="240030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工具要解決的研究任務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43CF1C7B-C3B9-4AE2-8125-D4F3E4C1593C}"/>
              </a:ext>
            </a:extLst>
          </p:cNvPr>
          <p:cNvSpPr>
            <a:spLocks noGrp="1"/>
          </p:cNvSpPr>
          <p:nvPr/>
        </p:nvSpPr>
        <p:spPr>
          <a:xfrm>
            <a:off x="7086600" y="2305050"/>
            <a:ext cx="4095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B9B05260-0068-4710-9DBF-D1A012BD6EFA}"/>
              </a:ext>
            </a:extLst>
          </p:cNvPr>
          <p:cNvSpPr>
            <a:spLocks noGrp="1"/>
          </p:cNvSpPr>
          <p:nvPr/>
        </p:nvSpPr>
        <p:spPr>
          <a:xfrm>
            <a:off x="7200900" y="240030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把 exploratory 和 production 混在一起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76193391-0259-443F-87FA-83E793BBDE03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1428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2F6E62AB-4CAC-47B7-9A64-CA59B0BA4052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Inputs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0891F56F-397D-4F66-82BF-AF858AF2329E}"/>
              </a:ext>
            </a:extLst>
          </p:cNvPr>
          <p:cNvSpPr>
            <a:spLocks noGrp="1"/>
          </p:cNvSpPr>
          <p:nvPr/>
        </p:nvSpPr>
        <p:spPr>
          <a:xfrm>
            <a:off x="2228850" y="2857500"/>
            <a:ext cx="4857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C9E61CFB-DD73-4501-A105-3770C24FCE6E}"/>
              </a:ext>
            </a:extLst>
          </p:cNvPr>
          <p:cNvSpPr>
            <a:spLocks noGrp="1"/>
          </p:cNvSpPr>
          <p:nvPr/>
        </p:nvSpPr>
        <p:spPr>
          <a:xfrm>
            <a:off x="2343150" y="295275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格式、必填欄位、版本、資料源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836585DF-95BE-4D5B-828A-F0DC764C2D64}"/>
              </a:ext>
            </a:extLst>
          </p:cNvPr>
          <p:cNvSpPr>
            <a:spLocks noGrp="1"/>
          </p:cNvSpPr>
          <p:nvPr/>
        </p:nvSpPr>
        <p:spPr>
          <a:xfrm>
            <a:off x="7086600" y="2857500"/>
            <a:ext cx="4095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DD43F1BD-363E-400A-8F80-9E266EAEE6ED}"/>
              </a:ext>
            </a:extLst>
          </p:cNvPr>
          <p:cNvSpPr>
            <a:spLocks noGrp="1"/>
          </p:cNvSpPr>
          <p:nvPr/>
        </p:nvSpPr>
        <p:spPr>
          <a:xfrm>
            <a:off x="7200900" y="29527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只寫檔名，不寫 schema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752874DA-5E0C-4861-822C-4CFC48C06530}"/>
              </a:ext>
            </a:extLst>
          </p:cNvPr>
          <p:cNvSpPr>
            <a:spLocks noGrp="1"/>
          </p:cNvSpPr>
          <p:nvPr/>
        </p:nvSpPr>
        <p:spPr>
          <a:xfrm>
            <a:off x="800100" y="3409950"/>
            <a:ext cx="1428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A00243BC-40EE-465D-9C16-898448D331E4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Outputs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72C1E0B4-18D9-4F97-B014-26292FD8EEDA}"/>
              </a:ext>
            </a:extLst>
          </p:cNvPr>
          <p:cNvSpPr>
            <a:spLocks noGrp="1"/>
          </p:cNvSpPr>
          <p:nvPr/>
        </p:nvSpPr>
        <p:spPr>
          <a:xfrm>
            <a:off x="2228850" y="3409950"/>
            <a:ext cx="4857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C5A53FFF-FCAB-4248-8DC4-C93D55555E00}"/>
              </a:ext>
            </a:extLst>
          </p:cNvPr>
          <p:cNvSpPr>
            <a:spLocks noGrp="1"/>
          </p:cNvSpPr>
          <p:nvPr/>
        </p:nvSpPr>
        <p:spPr>
          <a:xfrm>
            <a:off x="2343150" y="350520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欄位、型別、允許值、排序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936046FA-D8CC-4582-8E3B-ED56A013C40C}"/>
              </a:ext>
            </a:extLst>
          </p:cNvPr>
          <p:cNvSpPr>
            <a:spLocks noGrp="1"/>
          </p:cNvSpPr>
          <p:nvPr/>
        </p:nvSpPr>
        <p:spPr>
          <a:xfrm>
            <a:off x="7086600" y="3409950"/>
            <a:ext cx="4095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EF2F058F-BDB5-4934-8021-F7523788D49E}"/>
              </a:ext>
            </a:extLst>
          </p:cNvPr>
          <p:cNvSpPr>
            <a:spLocks noGrp="1"/>
          </p:cNvSpPr>
          <p:nvPr/>
        </p:nvSpPr>
        <p:spPr>
          <a:xfrm>
            <a:off x="7200900" y="350520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輸出看起來整齊但不能驗證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38566044-7633-4149-9EC2-57DF3124CC9D}"/>
              </a:ext>
            </a:extLst>
          </p:cNvPr>
          <p:cNvSpPr>
            <a:spLocks noGrp="1"/>
          </p:cNvSpPr>
          <p:nvPr/>
        </p:nvSpPr>
        <p:spPr>
          <a:xfrm>
            <a:off x="800100" y="3962400"/>
            <a:ext cx="1428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3DC34387-296A-4875-8AE7-15A47C50560C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Boundaries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E2E9AF27-D8FA-4305-B6FB-7B401F9AE7CD}"/>
              </a:ext>
            </a:extLst>
          </p:cNvPr>
          <p:cNvSpPr>
            <a:spLocks noGrp="1"/>
          </p:cNvSpPr>
          <p:nvPr/>
        </p:nvSpPr>
        <p:spPr>
          <a:xfrm>
            <a:off x="2228850" y="3962400"/>
            <a:ext cx="4857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AD736677-49F9-4164-B7C8-0759D58620D0}"/>
              </a:ext>
            </a:extLst>
          </p:cNvPr>
          <p:cNvSpPr>
            <a:spLocks noGrp="1"/>
          </p:cNvSpPr>
          <p:nvPr/>
        </p:nvSpPr>
        <p:spPr>
          <a:xfrm>
            <a:off x="2343150" y="405765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物種、疾病、日期、資料庫、隱私限制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C87421EB-9FA6-499D-BEAD-9564C30A30F6}"/>
              </a:ext>
            </a:extLst>
          </p:cNvPr>
          <p:cNvSpPr>
            <a:spLocks noGrp="1"/>
          </p:cNvSpPr>
          <p:nvPr/>
        </p:nvSpPr>
        <p:spPr>
          <a:xfrm>
            <a:off x="7086600" y="3962400"/>
            <a:ext cx="4095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23DFB93A-3798-4C12-AC7C-C88457047DE7}"/>
              </a:ext>
            </a:extLst>
          </p:cNvPr>
          <p:cNvSpPr>
            <a:spLocks noGrp="1"/>
          </p:cNvSpPr>
          <p:nvPr/>
        </p:nvSpPr>
        <p:spPr>
          <a:xfrm>
            <a:off x="7200900" y="40576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agent 自行擴大範圍</a:t>
            </a:r>
          </a:p>
        </p:txBody>
      </p:sp>
      <p:sp>
        <p:nvSpPr>
          <p:cNvPr id="34" name="cell-4-0">
            <a:extLst>
              <a:ext uri="{FF2B5EF4-FFF2-40B4-BE49-F238E27FC236}">
                <a16:creationId xmlns:a16="http://schemas.microsoft.com/office/drawing/2014/main" id="{3078F72B-5EF9-4FD7-B318-7BC27198728E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1428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cell-text-4-0">
            <a:extLst>
              <a:ext uri="{FF2B5EF4-FFF2-40B4-BE49-F238E27FC236}">
                <a16:creationId xmlns:a16="http://schemas.microsoft.com/office/drawing/2014/main" id="{538870B6-140C-47D6-9288-24395996C7DF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Validation</a:t>
            </a:r>
          </a:p>
        </p:txBody>
      </p:sp>
      <p:sp>
        <p:nvSpPr>
          <p:cNvPr id="36" name="cell-4-1">
            <a:extLst>
              <a:ext uri="{FF2B5EF4-FFF2-40B4-BE49-F238E27FC236}">
                <a16:creationId xmlns:a16="http://schemas.microsoft.com/office/drawing/2014/main" id="{A383A16E-ADC8-4E4F-8C11-9D0E2B5A3B34}"/>
              </a:ext>
            </a:extLst>
          </p:cNvPr>
          <p:cNvSpPr>
            <a:spLocks noGrp="1"/>
          </p:cNvSpPr>
          <p:nvPr/>
        </p:nvSpPr>
        <p:spPr>
          <a:xfrm>
            <a:off x="2228850" y="4514850"/>
            <a:ext cx="4857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cell-text-4-1">
            <a:extLst>
              <a:ext uri="{FF2B5EF4-FFF2-40B4-BE49-F238E27FC236}">
                <a16:creationId xmlns:a16="http://schemas.microsoft.com/office/drawing/2014/main" id="{E9DECAAA-92CB-4659-88E4-A96069B63E98}"/>
              </a:ext>
            </a:extLst>
          </p:cNvPr>
          <p:cNvSpPr>
            <a:spLocks noGrp="1"/>
          </p:cNvSpPr>
          <p:nvPr/>
        </p:nvSpPr>
        <p:spPr>
          <a:xfrm>
            <a:off x="2343150" y="461010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fixtures、golden outputs、命令、通過標準</a:t>
            </a:r>
          </a:p>
        </p:txBody>
      </p:sp>
      <p:sp>
        <p:nvSpPr>
          <p:cNvPr id="38" name="cell-4-2">
            <a:extLst>
              <a:ext uri="{FF2B5EF4-FFF2-40B4-BE49-F238E27FC236}">
                <a16:creationId xmlns:a16="http://schemas.microsoft.com/office/drawing/2014/main" id="{B6A1C866-B86B-49EB-8B33-839C30D999D7}"/>
              </a:ext>
            </a:extLst>
          </p:cNvPr>
          <p:cNvSpPr>
            <a:spLocks noGrp="1"/>
          </p:cNvSpPr>
          <p:nvPr/>
        </p:nvSpPr>
        <p:spPr>
          <a:xfrm>
            <a:off x="7086600" y="4514850"/>
            <a:ext cx="4095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cell-text-4-2">
            <a:extLst>
              <a:ext uri="{FF2B5EF4-FFF2-40B4-BE49-F238E27FC236}">
                <a16:creationId xmlns:a16="http://schemas.microsoft.com/office/drawing/2014/main" id="{F2F6DC2D-E1C0-49AE-9011-EAE14CF67CDC}"/>
              </a:ext>
            </a:extLst>
          </p:cNvPr>
          <p:cNvSpPr>
            <a:spLocks noGrp="1"/>
          </p:cNvSpPr>
          <p:nvPr/>
        </p:nvSpPr>
        <p:spPr>
          <a:xfrm>
            <a:off x="7200900" y="461010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只說 manually checked</a:t>
            </a:r>
          </a:p>
        </p:txBody>
      </p:sp>
    </p:spTree>
    <p:extLst>
      <p:ext uri="{BB962C8B-B14F-4D97-AF65-F5344CB8AC3E}">
        <p14:creationId xmlns:p14="http://schemas.microsoft.com/office/powerpoint/2010/main" val="3726797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FAF14D83-38BA-4A9F-BE34-8FC755AE504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CLARIFICATION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3DD1498-EDCB-4D10-81E1-34D63B9B8E25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模糊需求要先變成問題清單，不要直接變成 code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A632FB5-E5E6-4B84-9F28-5440587A87A7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9/50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C699079B-4261-432D-80F8-98D93F911893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Vague request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CC1F1755-F393-44C7-B0A5-35B524F45B95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287655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E5B2322D-D8ED-465F-9692-9A94CAF1DFCF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幫我做一個工具，輸入一些基因，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然後整理跟癌症和藥物有關的資料。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最好可以輸出成表格。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5EF2FA4E-C4A7-47BB-8738-DAC2521FEFDE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BB0DDCB4-D204-4349-B3A6-F410BEB26FD2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先問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57AE0C2B-B03E-4ABB-9688-93F1C92377E4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人類還是小鼠？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癌症範圍是 pan-cancer 還是單癌種？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證據來源允許哪些資料庫？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找不到資料要怎麼寫？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輸出欄位和驗收標準是什麼？</a:t>
            </a:r>
          </a:p>
        </p:txBody>
      </p:sp>
    </p:spTree>
    <p:extLst>
      <p:ext uri="{BB962C8B-B14F-4D97-AF65-F5344CB8AC3E}">
        <p14:creationId xmlns:p14="http://schemas.microsoft.com/office/powerpoint/2010/main" val="102445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4174E3CC-20A8-4EF6-9B8B-2A3F7435D4BF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EARS STYLE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547F884-E52D-47D3-AD58-57FC118A9CB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可測試需求要有觸發條件、行為與可檢查結果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876054B-D76A-4652-A9A1-624A8706FEC4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10/50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7D6E7E24-E101-45C5-9D76-2A2973136527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Requirement pattern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3DBD8881-12E5-468E-84C2-9C0A348A3143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287655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A0608092-7C52-4755-B366-C28C946B6F12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WHEN the input row contains an invalid gene symbol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THEN the tool SHALL mark status = "invalid_symbol"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AND SHALL preserve the original input string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AND SHALL NOT infer a replacement symbol without evidence.</a:t>
            </a:r>
          </a:p>
          <a:p>
            <a:endParaRPr sz="9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WHEN no PubMed evidence is found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THEN the tool SHALL set evidence_status = "not_found"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AND SHALL leave pmid empty.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6B90D86E-D287-47AE-802C-189BDD78095B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8178DC22-36B0-4083-9993-EC0F9BE3DC7E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好處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CB99B165-D2D2-4C77-8916-5934D0D9C952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迫使需求具體化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直接轉成測試案例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降低 agent 猜測空間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適合 biomedical edge cases</a:t>
            </a:r>
          </a:p>
        </p:txBody>
      </p:sp>
    </p:spTree>
    <p:extLst>
      <p:ext uri="{BB962C8B-B14F-4D97-AF65-F5344CB8AC3E}">
        <p14:creationId xmlns:p14="http://schemas.microsoft.com/office/powerpoint/2010/main" val="1576875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">
            <a:extLst>
              <a:ext uri="{FF2B5EF4-FFF2-40B4-BE49-F238E27FC236}">
                <a16:creationId xmlns:a16="http://schemas.microsoft.com/office/drawing/2014/main" id="{04EE456A-66BC-45B9-9256-E3864421BC8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SPEC CHECKPOINTS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312B3BF-8C0E-4D8E-8DCB-90FC88DDB07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每個工具都要先定義四個檢查點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00480D31-E5A2-4D72-87E8-DC548883FE99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11/50</a:t>
            </a:r>
          </a:p>
        </p:txBody>
      </p:sp>
      <p:sp>
        <p:nvSpPr>
          <p:cNvPr id="4" name="card-0">
            <a:extLst>
              <a:ext uri="{FF2B5EF4-FFF2-40B4-BE49-F238E27FC236}">
                <a16:creationId xmlns:a16="http://schemas.microsoft.com/office/drawing/2014/main" id="{DA54FCF0-FF8A-412D-A932-BA4E24812152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card-title-0">
            <a:extLst>
              <a:ext uri="{FF2B5EF4-FFF2-40B4-BE49-F238E27FC236}">
                <a16:creationId xmlns:a16="http://schemas.microsoft.com/office/drawing/2014/main" id="{01C94318-A19E-4285-90CF-1C14E827DFB8}"/>
              </a:ext>
            </a:extLst>
          </p:cNvPr>
          <p:cNvSpPr>
            <a:spLocks noGrp="1"/>
          </p:cNvSpPr>
          <p:nvPr/>
        </p:nvSpPr>
        <p:spPr>
          <a:xfrm>
            <a:off x="1143000" y="23622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Input</a:t>
            </a:r>
          </a:p>
        </p:txBody>
      </p:sp>
      <p:sp>
        <p:nvSpPr>
          <p:cNvPr id="6" name="card-copy-0">
            <a:extLst>
              <a:ext uri="{FF2B5EF4-FFF2-40B4-BE49-F238E27FC236}">
                <a16:creationId xmlns:a16="http://schemas.microsoft.com/office/drawing/2014/main" id="{BEDDAD0F-F360-4B6E-B8B3-EBD65FB431A0}"/>
              </a:ext>
            </a:extLst>
          </p:cNvPr>
          <p:cNvSpPr>
            <a:spLocks noGrp="1"/>
          </p:cNvSpPr>
          <p:nvPr/>
        </p:nvSpPr>
        <p:spPr>
          <a:xfrm>
            <a:off x="1143000" y="3105150"/>
            <a:ext cx="24574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接受什麼、拒絕什麼、如何報錯、資料版本如何記錄。</a:t>
            </a:r>
          </a:p>
        </p:txBody>
      </p:sp>
      <p:sp>
        <p:nvSpPr>
          <p:cNvPr id="7" name="card-1">
            <a:extLst>
              <a:ext uri="{FF2B5EF4-FFF2-40B4-BE49-F238E27FC236}">
                <a16:creationId xmlns:a16="http://schemas.microsoft.com/office/drawing/2014/main" id="{2EB13195-FDA2-439D-AB86-6D4C14E589F7}"/>
              </a:ext>
            </a:extLst>
          </p:cNvPr>
          <p:cNvSpPr>
            <a:spLocks noGrp="1"/>
          </p:cNvSpPr>
          <p:nvPr/>
        </p:nvSpPr>
        <p:spPr>
          <a:xfrm>
            <a:off x="443865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card-title-1">
            <a:extLst>
              <a:ext uri="{FF2B5EF4-FFF2-40B4-BE49-F238E27FC236}">
                <a16:creationId xmlns:a16="http://schemas.microsoft.com/office/drawing/2014/main" id="{864A5311-49A1-4970-A28E-7A9BA4306C3D}"/>
              </a:ext>
            </a:extLst>
          </p:cNvPr>
          <p:cNvSpPr>
            <a:spLocks noGrp="1"/>
          </p:cNvSpPr>
          <p:nvPr/>
        </p:nvSpPr>
        <p:spPr>
          <a:xfrm>
            <a:off x="4705350" y="23622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Output</a:t>
            </a:r>
          </a:p>
        </p:txBody>
      </p:sp>
      <p:sp>
        <p:nvSpPr>
          <p:cNvPr id="9" name="card-copy-1">
            <a:extLst>
              <a:ext uri="{FF2B5EF4-FFF2-40B4-BE49-F238E27FC236}">
                <a16:creationId xmlns:a16="http://schemas.microsoft.com/office/drawing/2014/main" id="{516A2DB3-770D-4D90-9ECA-1180C3596E4A}"/>
              </a:ext>
            </a:extLst>
          </p:cNvPr>
          <p:cNvSpPr>
            <a:spLocks noGrp="1"/>
          </p:cNvSpPr>
          <p:nvPr/>
        </p:nvSpPr>
        <p:spPr>
          <a:xfrm>
            <a:off x="4705350" y="3105150"/>
            <a:ext cx="24574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欄位、型別、允許值、空值規則與排序。</a:t>
            </a:r>
          </a:p>
        </p:txBody>
      </p:sp>
      <p:sp>
        <p:nvSpPr>
          <p:cNvPr id="10" name="card-2">
            <a:extLst>
              <a:ext uri="{FF2B5EF4-FFF2-40B4-BE49-F238E27FC236}">
                <a16:creationId xmlns:a16="http://schemas.microsoft.com/office/drawing/2014/main" id="{5F64BEE4-65DF-40D6-B9FF-23EC827567A0}"/>
              </a:ext>
            </a:extLst>
          </p:cNvPr>
          <p:cNvSpPr>
            <a:spLocks noGrp="1"/>
          </p:cNvSpPr>
          <p:nvPr/>
        </p:nvSpPr>
        <p:spPr>
          <a:xfrm>
            <a:off x="800100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ard-title-2">
            <a:extLst>
              <a:ext uri="{FF2B5EF4-FFF2-40B4-BE49-F238E27FC236}">
                <a16:creationId xmlns:a16="http://schemas.microsoft.com/office/drawing/2014/main" id="{7DC2B13B-DB3F-4DE1-9243-7F8C13FA5429}"/>
              </a:ext>
            </a:extLst>
          </p:cNvPr>
          <p:cNvSpPr>
            <a:spLocks noGrp="1"/>
          </p:cNvSpPr>
          <p:nvPr/>
        </p:nvSpPr>
        <p:spPr>
          <a:xfrm>
            <a:off x="8267700" y="23622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Validation</a:t>
            </a:r>
          </a:p>
        </p:txBody>
      </p:sp>
      <p:sp>
        <p:nvSpPr>
          <p:cNvPr id="12" name="card-copy-2">
            <a:extLst>
              <a:ext uri="{FF2B5EF4-FFF2-40B4-BE49-F238E27FC236}">
                <a16:creationId xmlns:a16="http://schemas.microsoft.com/office/drawing/2014/main" id="{0B135C8A-F31C-437F-B87E-0B19BA3457C5}"/>
              </a:ext>
            </a:extLst>
          </p:cNvPr>
          <p:cNvSpPr>
            <a:spLocks noGrp="1"/>
          </p:cNvSpPr>
          <p:nvPr/>
        </p:nvSpPr>
        <p:spPr>
          <a:xfrm>
            <a:off x="8267700" y="3105150"/>
            <a:ext cx="24574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sample fixtures、golden file、unit tests、not found cases。</a:t>
            </a:r>
          </a:p>
        </p:txBody>
      </p:sp>
    </p:spTree>
    <p:extLst>
      <p:ext uri="{BB962C8B-B14F-4D97-AF65-F5344CB8AC3E}">
        <p14:creationId xmlns:p14="http://schemas.microsoft.com/office/powerpoint/2010/main" val="3471346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4174E3CC-20A8-4EF6-9B8B-2A3F7435D4BF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SPEC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547F884-E52D-47D3-AD58-57FC118A9CB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把前面的問題清單，整理成一份可以照抄的 SPEC.md 範本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876054B-D76A-4652-A9A1-624A8706FEC4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12/50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7D6E7E24-E101-45C5-9D76-2A2973136527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SPEC.md 骨架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3DBD8881-12E5-468E-84C2-9C0A348A3143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381000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A0608092-7C52-4755-B366-C28C946B6F12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340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5EC8E0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5EC8E0"/>
                </a:solidFill>
                <a:latin typeface="Menlo"/>
                <a:ea typeface="Menlo"/>
                <a:cs typeface="Menlo"/>
              </a:rPr>
              <a:t># SPEC.md — &lt;tool_name&gt;</a:t>
            </a:r>
          </a:p>
          <a:p>
            <a:pPr algn="l">
              <a:lnSpc>
                <a:spcPct val="106000"/>
              </a:lnSpc>
              <a:buNone/>
              <a:defRPr sz="150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endParaRPr sz="1500" b="1">
              <a:solidFill>
                <a:srgbClr val="5EC8E0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500" b="1">
                <a:solidFill>
                  <a:srgbClr val="5EC8E0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5EC8E0"/>
                </a:solidFill>
                <a:latin typeface="Menlo"/>
                <a:ea typeface="Menlo"/>
                <a:cs typeface="Menlo"/>
              </a:rPr>
              <a:t>## Goal</a:t>
            </a:r>
          </a:p>
          <a:p>
            <a:pPr algn="l">
              <a:lnSpc>
                <a:spcPct val="106000"/>
              </a:lnSpc>
              <a:buNone/>
              <a:defRPr sz="150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F3F7FA"/>
                </a:solidFill>
                <a:latin typeface="Menlo"/>
                <a:ea typeface="Menlo"/>
                <a:cs typeface="Menlo"/>
              </a:rPr>
              <a:t>&lt;工具要解決的研究任務&gt;</a:t>
            </a:r>
          </a:p>
          <a:p>
            <a:pPr algn="l">
              <a:lnSpc>
                <a:spcPct val="106000"/>
              </a:lnSpc>
              <a:buNone/>
              <a:defRPr sz="1500" b="1">
                <a:solidFill>
                  <a:srgbClr val="5EC8E0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5EC8E0"/>
                </a:solidFill>
                <a:latin typeface="Menlo"/>
                <a:ea typeface="Menlo"/>
                <a:cs typeface="Menlo"/>
              </a:rPr>
              <a:t>## Inputs</a:t>
            </a:r>
          </a:p>
          <a:p>
            <a:pPr algn="l">
              <a:lnSpc>
                <a:spcPct val="106000"/>
              </a:lnSpc>
              <a:buNone/>
              <a:defRPr sz="150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F3F7FA"/>
                </a:solidFill>
                <a:latin typeface="Menlo"/>
                <a:ea typeface="Menlo"/>
                <a:cs typeface="Menlo"/>
              </a:rPr>
              <a:t>&lt;格式、必填欄位、版本、資料源&gt;</a:t>
            </a:r>
          </a:p>
          <a:p>
            <a:pPr algn="l">
              <a:lnSpc>
                <a:spcPct val="106000"/>
              </a:lnSpc>
              <a:buNone/>
              <a:defRPr sz="1500" b="1">
                <a:solidFill>
                  <a:srgbClr val="5EC8E0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5EC8E0"/>
                </a:solidFill>
                <a:latin typeface="Menlo"/>
                <a:ea typeface="Menlo"/>
                <a:cs typeface="Menlo"/>
              </a:rPr>
              <a:t>## Outputs</a:t>
            </a:r>
          </a:p>
          <a:p>
            <a:pPr algn="l">
              <a:lnSpc>
                <a:spcPct val="106000"/>
              </a:lnSpc>
              <a:buNone/>
              <a:defRPr sz="150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F3F7FA"/>
                </a:solidFill>
                <a:latin typeface="Menlo"/>
                <a:ea typeface="Menlo"/>
                <a:cs typeface="Menlo"/>
              </a:rPr>
              <a:t>&lt;欄位、型別、允許值、排序&gt;</a:t>
            </a:r>
          </a:p>
          <a:p>
            <a:pPr algn="l">
              <a:lnSpc>
                <a:spcPct val="106000"/>
              </a:lnSpc>
              <a:buNone/>
              <a:defRPr sz="1500" b="1">
                <a:solidFill>
                  <a:srgbClr val="5EC8E0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5EC8E0"/>
                </a:solidFill>
                <a:latin typeface="Menlo"/>
                <a:ea typeface="Menlo"/>
                <a:cs typeface="Menlo"/>
              </a:rPr>
              <a:t>## Boundaries</a:t>
            </a:r>
          </a:p>
          <a:p>
            <a:pPr algn="l">
              <a:lnSpc>
                <a:spcPct val="106000"/>
              </a:lnSpc>
              <a:buNone/>
              <a:defRPr sz="150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F3F7FA"/>
                </a:solidFill>
                <a:latin typeface="Menlo"/>
                <a:ea typeface="Menlo"/>
                <a:cs typeface="Menlo"/>
              </a:rPr>
              <a:t>&lt;物種、疾病、日期、資料庫、隱私限制&gt;</a:t>
            </a:r>
          </a:p>
          <a:p>
            <a:pPr algn="l">
              <a:lnSpc>
                <a:spcPct val="106000"/>
              </a:lnSpc>
              <a:buNone/>
              <a:defRPr sz="1500" b="1">
                <a:solidFill>
                  <a:srgbClr val="5EC8E0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5EC8E0"/>
                </a:solidFill>
                <a:latin typeface="Menlo"/>
                <a:ea typeface="Menlo"/>
                <a:cs typeface="Menlo"/>
              </a:rPr>
              <a:t>## Validation</a:t>
            </a:r>
          </a:p>
          <a:p>
            <a:pPr algn="l">
              <a:lnSpc>
                <a:spcPct val="106000"/>
              </a:lnSpc>
              <a:buNone/>
              <a:defRPr sz="150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F3F7FA"/>
                </a:solidFill>
                <a:latin typeface="Menlo"/>
                <a:ea typeface="Menlo"/>
                <a:cs typeface="Menlo"/>
              </a:rPr>
              <a:t>&lt;fixtures、golden outputs、指令、通過標準&gt;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6B90D86E-D287-47AE-802C-189BDD78095B}"/>
              </a:ext>
            </a:extLst>
          </p:cNvPr>
          <p:cNvSpPr>
            <a:spLocks noGrp="1"/>
          </p:cNvSpPr>
          <p:nvPr/>
        </p:nvSpPr>
        <p:spPr>
          <a:xfrm>
            <a:off x="6705600" y="2120900"/>
            <a:ext cx="3924300" cy="2984500"/>
          </a:xfrm>
          <a:prstGeom prst="roundRect">
            <a:avLst>
              <a:gd name="adj" fmla="val 2797"/>
            </a:avLst>
          </a:prstGeom>
          <a:solidFill>
            <a:srgbClr val="E3F4F2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8178DC22-36B0-4083-9993-EC0F9BE3DC7E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使用這份範本的 4 個重點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CB99B165-D2D2-4C77-8916-5934D0D9C952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241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171450" indent="-17145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&lt;&gt; 內容換成你工具的實際細節</a:t>
            </a:r>
          </a:p>
          <a:p>
            <a:pPr marL="171450" indent="-17145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五個標題都要填，不能省略 Boundaries 或 Validation</a:t>
            </a:r>
          </a:p>
          <a:p>
            <a:pPr marL="171450" indent="-17145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先寫完這份骨架，再讓 agent 動手寫程式</a:t>
            </a:r>
          </a:p>
          <a:p>
            <a:pPr marL="171450" indent="-17145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之後每次迭代，只改被打回的那一節</a:t>
            </a:r>
          </a:p>
        </p:txBody>
      </p:sp>
    </p:spTree>
    <p:extLst>
      <p:ext uri="{BB962C8B-B14F-4D97-AF65-F5344CB8AC3E}">
        <p14:creationId xmlns:p14="http://schemas.microsoft.com/office/powerpoint/2010/main" val="1336541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F2F94EC3-E5E7-4E0B-AE57-327EC723EC12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EXAMPLE 1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D0147ADE-3E15-41E7-B866-6D766EC24079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9525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PubMed evidence extractor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BF1EDABB-C448-4E3D-BD69-B18D6E273C9C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8667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第一個例子聚焦 evidence extraction：重點不是摘要得漂亮，而是每個 claim 都能追到 PMID 與來源欄位。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C0F1A9F-143D-4D8D-B233-13C857C2D558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13/50</a:t>
            </a:r>
          </a:p>
        </p:txBody>
      </p:sp>
    </p:spTree>
    <p:extLst>
      <p:ext uri="{BB962C8B-B14F-4D97-AF65-F5344CB8AC3E}">
        <p14:creationId xmlns:p14="http://schemas.microsoft.com/office/powerpoint/2010/main" val="332463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3AA2AE57-53D1-4F33-BBE2-A9A50EC1CDD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PUBMED EXTRACTOR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C6E9612-B725-41C4-B3DC-454AF72BD92D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把『整理文獻』改成可驗證需求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B82336C9-C6D2-414A-A37B-56D522206D24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14/50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92A91E0A-7622-41C7-B818-11D297D496E0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Before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4C188B73-EBE9-4450-B59E-D6E4F471C74C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287655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70024AE5-944C-470E-B7F6-56647FF27A1C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請幫我搜尋 PubMed，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整理 EGFR 跟肺癌治療的文獻，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做成 evidence table。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3B297BD8-B88A-499B-9C3F-11ED173843C7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81920FF5-CD58-47F3-AE31-99573E4F9845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After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669586A5-4CF9-4792-A8EB-6540A515BF6A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輸入：gene、disease、query_date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來源：PubMed only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輸出：PMID、title、study_type、claim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不確定：寫 needs_review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找不到：寫 not_found</a:t>
            </a:r>
          </a:p>
        </p:txBody>
      </p:sp>
    </p:spTree>
    <p:extLst>
      <p:ext uri="{BB962C8B-B14F-4D97-AF65-F5344CB8AC3E}">
        <p14:creationId xmlns:p14="http://schemas.microsoft.com/office/powerpoint/2010/main" val="786883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yebrow">
            <a:extLst>
              <a:ext uri="{FF2B5EF4-FFF2-40B4-BE49-F238E27FC236}">
                <a16:creationId xmlns:a16="http://schemas.microsoft.com/office/drawing/2014/main" id="{6D9C0C95-C4B7-4B41-A452-5D94D99A761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PUBMED INPUTS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FFDBC2C-DA1F-4979-B407-3D3E5D4D3CB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PubMed extractor 的 input spec 要限制搜尋範圍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B9A5CDD-F945-4A05-924C-A56CE9038C49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15/50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6CF68C1A-BDE6-4770-810D-8C764CFBC8C7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61925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1C4EA6C5-7E17-4BEA-889D-16A531E9B7CA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39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欄位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E2B4B07F-9109-46E8-A511-CFB5948B4CA3}"/>
              </a:ext>
            </a:extLst>
          </p:cNvPr>
          <p:cNvSpPr>
            <a:spLocks noGrp="1"/>
          </p:cNvSpPr>
          <p:nvPr/>
        </p:nvSpPr>
        <p:spPr>
          <a:xfrm>
            <a:off x="2419350" y="1885950"/>
            <a:ext cx="161925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9177D137-57B3-4C68-A523-169EDF4CAF8B}"/>
              </a:ext>
            </a:extLst>
          </p:cNvPr>
          <p:cNvSpPr>
            <a:spLocks noGrp="1"/>
          </p:cNvSpPr>
          <p:nvPr/>
        </p:nvSpPr>
        <p:spPr>
          <a:xfrm>
            <a:off x="2533650" y="2000250"/>
            <a:ext cx="139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型別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53D6118B-077D-4F9B-B0A7-49C9EEFF2797}"/>
              </a:ext>
            </a:extLst>
          </p:cNvPr>
          <p:cNvSpPr>
            <a:spLocks noGrp="1"/>
          </p:cNvSpPr>
          <p:nvPr/>
        </p:nvSpPr>
        <p:spPr>
          <a:xfrm>
            <a:off x="4038600" y="1885950"/>
            <a:ext cx="714375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D3439555-903E-4F1A-B512-39631E551E29}"/>
              </a:ext>
            </a:extLst>
          </p:cNvPr>
          <p:cNvSpPr>
            <a:spLocks noGrp="1"/>
          </p:cNvSpPr>
          <p:nvPr/>
        </p:nvSpPr>
        <p:spPr>
          <a:xfrm>
            <a:off x="4152900" y="2000250"/>
            <a:ext cx="6915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規則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189191D4-D834-4290-84DF-DFC96585946D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8587975D-400F-41F9-A083-BDE272606F2D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gene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F61457DD-2BA2-4670-BD2D-E9DF049A18F3}"/>
              </a:ext>
            </a:extLst>
          </p:cNvPr>
          <p:cNvSpPr>
            <a:spLocks noGrp="1"/>
          </p:cNvSpPr>
          <p:nvPr/>
        </p:nvSpPr>
        <p:spPr>
          <a:xfrm>
            <a:off x="2419350" y="23050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CEC8A3E6-CE81-48E3-9390-674F90361819}"/>
              </a:ext>
            </a:extLst>
          </p:cNvPr>
          <p:cNvSpPr>
            <a:spLocks noGrp="1"/>
          </p:cNvSpPr>
          <p:nvPr/>
        </p:nvSpPr>
        <p:spPr>
          <a:xfrm>
            <a:off x="2533650" y="24003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string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93BF2D67-238B-4C52-B560-9FDA95896267}"/>
              </a:ext>
            </a:extLst>
          </p:cNvPr>
          <p:cNvSpPr>
            <a:spLocks noGrp="1"/>
          </p:cNvSpPr>
          <p:nvPr/>
        </p:nvSpPr>
        <p:spPr>
          <a:xfrm>
            <a:off x="4038600" y="2305050"/>
            <a:ext cx="7143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4684F03A-8704-4625-BDEF-ECCA207F49D4}"/>
              </a:ext>
            </a:extLst>
          </p:cNvPr>
          <p:cNvSpPr>
            <a:spLocks noGrp="1"/>
          </p:cNvSpPr>
          <p:nvPr/>
        </p:nvSpPr>
        <p:spPr>
          <a:xfrm>
            <a:off x="4152900" y="2400300"/>
            <a:ext cx="691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HGNC approved symbol；原始輸入另存 original_gene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A176C57A-1205-457A-9409-B32F0900F393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E8FD8968-474A-4757-86A6-81E4198514DA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disease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9F8AB6E1-7E6E-4D74-BF40-51D8E9FAC1C9}"/>
              </a:ext>
            </a:extLst>
          </p:cNvPr>
          <p:cNvSpPr>
            <a:spLocks noGrp="1"/>
          </p:cNvSpPr>
          <p:nvPr/>
        </p:nvSpPr>
        <p:spPr>
          <a:xfrm>
            <a:off x="2419350" y="285750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7A32CB1B-EB81-4157-B37B-F36E0F5D8171}"/>
              </a:ext>
            </a:extLst>
          </p:cNvPr>
          <p:cNvSpPr>
            <a:spLocks noGrp="1"/>
          </p:cNvSpPr>
          <p:nvPr/>
        </p:nvSpPr>
        <p:spPr>
          <a:xfrm>
            <a:off x="2533650" y="295275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string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72AEBBB0-3C35-457E-9A00-5DFECCAD2369}"/>
              </a:ext>
            </a:extLst>
          </p:cNvPr>
          <p:cNvSpPr>
            <a:spLocks noGrp="1"/>
          </p:cNvSpPr>
          <p:nvPr/>
        </p:nvSpPr>
        <p:spPr>
          <a:xfrm>
            <a:off x="4038600" y="2857500"/>
            <a:ext cx="7143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EA158840-BC8B-44BE-9187-C45130C91B14}"/>
              </a:ext>
            </a:extLst>
          </p:cNvPr>
          <p:cNvSpPr>
            <a:spLocks noGrp="1"/>
          </p:cNvSpPr>
          <p:nvPr/>
        </p:nvSpPr>
        <p:spPr>
          <a:xfrm>
            <a:off x="4152900" y="2952750"/>
            <a:ext cx="691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使用指定疾病詞，不讓 agent 自行擴大癌種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5533024D-B6D6-44D7-BFC8-4482B2F2E78D}"/>
              </a:ext>
            </a:extLst>
          </p:cNvPr>
          <p:cNvSpPr>
            <a:spLocks noGrp="1"/>
          </p:cNvSpPr>
          <p:nvPr/>
        </p:nvSpPr>
        <p:spPr>
          <a:xfrm>
            <a:off x="800100" y="34099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E6525ACE-19F0-4FEE-930E-805EBB9076B9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query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F4D5CE38-B723-4A90-A1BD-85BD34CAF793}"/>
              </a:ext>
            </a:extLst>
          </p:cNvPr>
          <p:cNvSpPr>
            <a:spLocks noGrp="1"/>
          </p:cNvSpPr>
          <p:nvPr/>
        </p:nvSpPr>
        <p:spPr>
          <a:xfrm>
            <a:off x="2419350" y="34099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92D0EEBF-8E7D-426E-96D4-FD917B88D416}"/>
              </a:ext>
            </a:extLst>
          </p:cNvPr>
          <p:cNvSpPr>
            <a:spLocks noGrp="1"/>
          </p:cNvSpPr>
          <p:nvPr/>
        </p:nvSpPr>
        <p:spPr>
          <a:xfrm>
            <a:off x="2533650" y="35052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string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ADA975AE-EAC4-40FF-9A41-2D9E0A6675F5}"/>
              </a:ext>
            </a:extLst>
          </p:cNvPr>
          <p:cNvSpPr>
            <a:spLocks noGrp="1"/>
          </p:cNvSpPr>
          <p:nvPr/>
        </p:nvSpPr>
        <p:spPr>
          <a:xfrm>
            <a:off x="4038600" y="3409950"/>
            <a:ext cx="7143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ECCCDD6B-DFB3-436D-A46A-3392CCA4691B}"/>
              </a:ext>
            </a:extLst>
          </p:cNvPr>
          <p:cNvSpPr>
            <a:spLocks noGrp="1"/>
          </p:cNvSpPr>
          <p:nvPr/>
        </p:nvSpPr>
        <p:spPr>
          <a:xfrm>
            <a:off x="4152900" y="3505200"/>
            <a:ext cx="691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可由工具生成，但必須保存實際搜尋字串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4FEC148E-362E-426B-B306-E50087DF2D15}"/>
              </a:ext>
            </a:extLst>
          </p:cNvPr>
          <p:cNvSpPr>
            <a:spLocks noGrp="1"/>
          </p:cNvSpPr>
          <p:nvPr/>
        </p:nvSpPr>
        <p:spPr>
          <a:xfrm>
            <a:off x="800100" y="396240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E6A7B3EA-8682-4FEE-9428-EFEAAA98F8E8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max_records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EF64F574-D4F7-4809-A871-ECFD18890967}"/>
              </a:ext>
            </a:extLst>
          </p:cNvPr>
          <p:cNvSpPr>
            <a:spLocks noGrp="1"/>
          </p:cNvSpPr>
          <p:nvPr/>
        </p:nvSpPr>
        <p:spPr>
          <a:xfrm>
            <a:off x="2419350" y="396240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E4244DE6-345C-4A83-BD5E-B945F0BF8FF7}"/>
              </a:ext>
            </a:extLst>
          </p:cNvPr>
          <p:cNvSpPr>
            <a:spLocks noGrp="1"/>
          </p:cNvSpPr>
          <p:nvPr/>
        </p:nvSpPr>
        <p:spPr>
          <a:xfrm>
            <a:off x="2533650" y="405765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integer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CA2D3CE3-67BB-4612-9470-1CAF9BC699DD}"/>
              </a:ext>
            </a:extLst>
          </p:cNvPr>
          <p:cNvSpPr>
            <a:spLocks noGrp="1"/>
          </p:cNvSpPr>
          <p:nvPr/>
        </p:nvSpPr>
        <p:spPr>
          <a:xfrm>
            <a:off x="4038600" y="3962400"/>
            <a:ext cx="7143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E23A4EFA-DA1D-4837-A717-8E540B4BBCC2}"/>
              </a:ext>
            </a:extLst>
          </p:cNvPr>
          <p:cNvSpPr>
            <a:spLocks noGrp="1"/>
          </p:cNvSpPr>
          <p:nvPr/>
        </p:nvSpPr>
        <p:spPr>
          <a:xfrm>
            <a:off x="4152900" y="4057650"/>
            <a:ext cx="691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預設 20，上限 100，避免不可審查輸出</a:t>
            </a:r>
          </a:p>
        </p:txBody>
      </p:sp>
      <p:sp>
        <p:nvSpPr>
          <p:cNvPr id="34" name="cell-4-0">
            <a:extLst>
              <a:ext uri="{FF2B5EF4-FFF2-40B4-BE49-F238E27FC236}">
                <a16:creationId xmlns:a16="http://schemas.microsoft.com/office/drawing/2014/main" id="{C9F78F90-35F1-4B59-999E-B8B8DFE66DDD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cell-text-4-0">
            <a:extLst>
              <a:ext uri="{FF2B5EF4-FFF2-40B4-BE49-F238E27FC236}">
                <a16:creationId xmlns:a16="http://schemas.microsoft.com/office/drawing/2014/main" id="{D15417F9-C9D9-4BBE-AC60-E942D1F31648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query_date</a:t>
            </a:r>
          </a:p>
        </p:txBody>
      </p:sp>
      <p:sp>
        <p:nvSpPr>
          <p:cNvPr id="36" name="cell-4-1">
            <a:extLst>
              <a:ext uri="{FF2B5EF4-FFF2-40B4-BE49-F238E27FC236}">
                <a16:creationId xmlns:a16="http://schemas.microsoft.com/office/drawing/2014/main" id="{79A3E1A5-C33F-42E3-82E2-9052615C619F}"/>
              </a:ext>
            </a:extLst>
          </p:cNvPr>
          <p:cNvSpPr>
            <a:spLocks noGrp="1"/>
          </p:cNvSpPr>
          <p:nvPr/>
        </p:nvSpPr>
        <p:spPr>
          <a:xfrm>
            <a:off x="2419350" y="45148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cell-text-4-1">
            <a:extLst>
              <a:ext uri="{FF2B5EF4-FFF2-40B4-BE49-F238E27FC236}">
                <a16:creationId xmlns:a16="http://schemas.microsoft.com/office/drawing/2014/main" id="{58AD039B-C29C-4CC7-9B22-423418FA4C4C}"/>
              </a:ext>
            </a:extLst>
          </p:cNvPr>
          <p:cNvSpPr>
            <a:spLocks noGrp="1"/>
          </p:cNvSpPr>
          <p:nvPr/>
        </p:nvSpPr>
        <p:spPr>
          <a:xfrm>
            <a:off x="2533650" y="46101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date</a:t>
            </a:r>
          </a:p>
        </p:txBody>
      </p:sp>
      <p:sp>
        <p:nvSpPr>
          <p:cNvPr id="38" name="cell-4-2">
            <a:extLst>
              <a:ext uri="{FF2B5EF4-FFF2-40B4-BE49-F238E27FC236}">
                <a16:creationId xmlns:a16="http://schemas.microsoft.com/office/drawing/2014/main" id="{B713F4B4-5369-451C-BB74-E4A067DCE87D}"/>
              </a:ext>
            </a:extLst>
          </p:cNvPr>
          <p:cNvSpPr>
            <a:spLocks noGrp="1"/>
          </p:cNvSpPr>
          <p:nvPr/>
        </p:nvSpPr>
        <p:spPr>
          <a:xfrm>
            <a:off x="4038600" y="4514850"/>
            <a:ext cx="7143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cell-text-4-2">
            <a:extLst>
              <a:ext uri="{FF2B5EF4-FFF2-40B4-BE49-F238E27FC236}">
                <a16:creationId xmlns:a16="http://schemas.microsoft.com/office/drawing/2014/main" id="{CD372DFE-9F34-4F3F-A95E-DEC3AE67874B}"/>
              </a:ext>
            </a:extLst>
          </p:cNvPr>
          <p:cNvSpPr>
            <a:spLocks noGrp="1"/>
          </p:cNvSpPr>
          <p:nvPr/>
        </p:nvSpPr>
        <p:spPr>
          <a:xfrm>
            <a:off x="4152900" y="4610100"/>
            <a:ext cx="691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保存搜尋日期，讓結果可重現</a:t>
            </a:r>
          </a:p>
        </p:txBody>
      </p:sp>
    </p:spTree>
    <p:extLst>
      <p:ext uri="{BB962C8B-B14F-4D97-AF65-F5344CB8AC3E}">
        <p14:creationId xmlns:p14="http://schemas.microsoft.com/office/powerpoint/2010/main" val="2058541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BF868159-D189-44E1-AA2E-9FCBD2A5595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PUBMED OUTPUT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1427AC6-8AFF-429C-8255-4511E01B102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Evidence table 必須把文獻證據和模型推測分開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A099E5E-620F-4FD7-B9E0-1B4AEA150B05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16/50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B30DD82D-A689-4291-B266-EAF4D5730B24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Output schema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01DB468D-1121-4D13-9856-5D19AF89321A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287655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CF98C824-14A4-462A-84D5-8D7908973F25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pmid: string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title: string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year: integer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journal: string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entity: gene | disease | drug | variant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claim: string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evidence_type: clinical | cohort | preclinical | review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evidence_status: supported | conflicting | not_found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model_inference: string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review_status: pass | needs_review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27D45A2F-2574-4FF7-BC69-4D460A9DD55D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C89FAECC-98DF-4F98-A802-2043675B81CE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核心規則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FDA94024-5CAC-4C81-946F-483607B38D6B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 不得編造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claim 只寫來源支持的內容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推測放 model_inference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review_status 可擋高風險輸出</a:t>
            </a:r>
          </a:p>
        </p:txBody>
      </p:sp>
    </p:spTree>
    <p:extLst>
      <p:ext uri="{BB962C8B-B14F-4D97-AF65-F5344CB8AC3E}">
        <p14:creationId xmlns:p14="http://schemas.microsoft.com/office/powerpoint/2010/main" val="2946414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yebrow">
            <a:extLst>
              <a:ext uri="{FF2B5EF4-FFF2-40B4-BE49-F238E27FC236}">
                <a16:creationId xmlns:a16="http://schemas.microsoft.com/office/drawing/2014/main" id="{7E6A635C-57F6-4003-B9BD-03E0C4DFAB6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PUBMED BOUNDARIES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087042-FF92-4622-961F-E3461447198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PubMed extractor 的邊界要直接寫進 spec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4FF314D1-EA57-4213-BACB-D2E74F956E29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17/50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C31F3F94-958A-41F9-9A74-55088184D507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619250" cy="419100"/>
          </a:xfrm>
          <a:prstGeom prst="roundRect">
            <a:avLst>
              <a:gd name="adj" fmla="val 9091"/>
            </a:avLst>
          </a:prstGeom>
          <a:solidFill>
            <a:srgbClr val="C85A4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726920E7-AB3A-45FA-96D7-145451A8808B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39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邊界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6337B087-3E9F-4BF0-AE66-9F5B91E83641}"/>
              </a:ext>
            </a:extLst>
          </p:cNvPr>
          <p:cNvSpPr>
            <a:spLocks noGrp="1"/>
          </p:cNvSpPr>
          <p:nvPr/>
        </p:nvSpPr>
        <p:spPr>
          <a:xfrm>
            <a:off x="2419350" y="1885950"/>
            <a:ext cx="4953000" cy="419100"/>
          </a:xfrm>
          <a:prstGeom prst="roundRect">
            <a:avLst>
              <a:gd name="adj" fmla="val 9091"/>
            </a:avLst>
          </a:prstGeom>
          <a:solidFill>
            <a:srgbClr val="C85A4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CEF9FF5F-92AB-4850-A6A8-C1450575ED08}"/>
              </a:ext>
            </a:extLst>
          </p:cNvPr>
          <p:cNvSpPr>
            <a:spLocks noGrp="1"/>
          </p:cNvSpPr>
          <p:nvPr/>
        </p:nvSpPr>
        <p:spPr>
          <a:xfrm>
            <a:off x="2533650" y="2000250"/>
            <a:ext cx="472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規則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1F92B273-238C-469A-BF97-310425E0C4FD}"/>
              </a:ext>
            </a:extLst>
          </p:cNvPr>
          <p:cNvSpPr>
            <a:spLocks noGrp="1"/>
          </p:cNvSpPr>
          <p:nvPr/>
        </p:nvSpPr>
        <p:spPr>
          <a:xfrm>
            <a:off x="7372350" y="1885950"/>
            <a:ext cx="3810000" cy="419100"/>
          </a:xfrm>
          <a:prstGeom prst="roundRect">
            <a:avLst>
              <a:gd name="adj" fmla="val 9091"/>
            </a:avLst>
          </a:prstGeom>
          <a:solidFill>
            <a:srgbClr val="C85A4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96395C1F-DFE4-4D2A-B079-509A66A5BBE8}"/>
              </a:ext>
            </a:extLst>
          </p:cNvPr>
          <p:cNvSpPr>
            <a:spLocks noGrp="1"/>
          </p:cNvSpPr>
          <p:nvPr/>
        </p:nvSpPr>
        <p:spPr>
          <a:xfrm>
            <a:off x="7486650" y="2000250"/>
            <a:ext cx="358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失敗時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95866C0B-CC5D-46C1-A851-05D12D88681A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6DED0C36-2FC8-4EAC-B2C3-F17B9E542D5C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0B520A13-BAA1-469B-9E67-AC6AFE23170B}"/>
              </a:ext>
            </a:extLst>
          </p:cNvPr>
          <p:cNvSpPr>
            <a:spLocks noGrp="1"/>
          </p:cNvSpPr>
          <p:nvPr/>
        </p:nvSpPr>
        <p:spPr>
          <a:xfrm>
            <a:off x="2419350" y="2305050"/>
            <a:ext cx="4953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DF8CFB5D-D841-4547-83D6-6A63692A75AD}"/>
              </a:ext>
            </a:extLst>
          </p:cNvPr>
          <p:cNvSpPr>
            <a:spLocks noGrp="1"/>
          </p:cNvSpPr>
          <p:nvPr/>
        </p:nvSpPr>
        <p:spPr>
          <a:xfrm>
            <a:off x="2533650" y="240030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只使用 PubMed metadata 或明確提供的 abstract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4F84F9FB-38E7-4C15-BD9F-129D240D3D38}"/>
              </a:ext>
            </a:extLst>
          </p:cNvPr>
          <p:cNvSpPr>
            <a:spLocks noGrp="1"/>
          </p:cNvSpPr>
          <p:nvPr/>
        </p:nvSpPr>
        <p:spPr>
          <a:xfrm>
            <a:off x="7372350" y="2305050"/>
            <a:ext cx="3810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0915BE7D-C56E-457C-9A9C-2F6F9D62B075}"/>
              </a:ext>
            </a:extLst>
          </p:cNvPr>
          <p:cNvSpPr>
            <a:spLocks noGrp="1"/>
          </p:cNvSpPr>
          <p:nvPr/>
        </p:nvSpPr>
        <p:spPr>
          <a:xfrm>
            <a:off x="7486650" y="2400300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標記 source_missing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7B45F738-79C0-486D-BAB6-BE5F6EF9279E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A4C6CFC5-1C22-4E13-8E99-752040C27D16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Clinical claim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DA3C2A51-30B1-466C-9D25-72108A514E4F}"/>
              </a:ext>
            </a:extLst>
          </p:cNvPr>
          <p:cNvSpPr>
            <a:spLocks noGrp="1"/>
          </p:cNvSpPr>
          <p:nvPr/>
        </p:nvSpPr>
        <p:spPr>
          <a:xfrm>
            <a:off x="2419350" y="2857500"/>
            <a:ext cx="4953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AD0B342D-96CC-42E9-B739-B96303A94F89}"/>
              </a:ext>
            </a:extLst>
          </p:cNvPr>
          <p:cNvSpPr>
            <a:spLocks noGrp="1"/>
          </p:cNvSpPr>
          <p:nvPr/>
        </p:nvSpPr>
        <p:spPr>
          <a:xfrm>
            <a:off x="2533650" y="29527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不得產生治療建議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1F4E5EA7-77C0-433F-8A61-CE0FB42D3E79}"/>
              </a:ext>
            </a:extLst>
          </p:cNvPr>
          <p:cNvSpPr>
            <a:spLocks noGrp="1"/>
          </p:cNvSpPr>
          <p:nvPr/>
        </p:nvSpPr>
        <p:spPr>
          <a:xfrm>
            <a:off x="7372350" y="2857500"/>
            <a:ext cx="3810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D9C59CF1-8C49-441F-AA15-A834FCDD4615}"/>
              </a:ext>
            </a:extLst>
          </p:cNvPr>
          <p:cNvSpPr>
            <a:spLocks noGrp="1"/>
          </p:cNvSpPr>
          <p:nvPr/>
        </p:nvSpPr>
        <p:spPr>
          <a:xfrm>
            <a:off x="7486650" y="2952750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needs_human_review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9F588E31-E2F6-4BCB-A255-C29A0E3853DC}"/>
              </a:ext>
            </a:extLst>
          </p:cNvPr>
          <p:cNvSpPr>
            <a:spLocks noGrp="1"/>
          </p:cNvSpPr>
          <p:nvPr/>
        </p:nvSpPr>
        <p:spPr>
          <a:xfrm>
            <a:off x="800100" y="34099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8568D6E3-5E19-4CA4-A411-4D7F4B0BBADB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Study type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A8D27A6E-0A0C-4158-92C6-143BD9A689AB}"/>
              </a:ext>
            </a:extLst>
          </p:cNvPr>
          <p:cNvSpPr>
            <a:spLocks noGrp="1"/>
          </p:cNvSpPr>
          <p:nvPr/>
        </p:nvSpPr>
        <p:spPr>
          <a:xfrm>
            <a:off x="2419350" y="3409950"/>
            <a:ext cx="4953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F7152F77-781A-4A93-89A6-CA1D9552AD54}"/>
              </a:ext>
            </a:extLst>
          </p:cNvPr>
          <p:cNvSpPr>
            <a:spLocks noGrp="1"/>
          </p:cNvSpPr>
          <p:nvPr/>
        </p:nvSpPr>
        <p:spPr>
          <a:xfrm>
            <a:off x="2533650" y="350520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無法判斷時不得猜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775B7130-90A6-4616-8093-4109CF828750}"/>
              </a:ext>
            </a:extLst>
          </p:cNvPr>
          <p:cNvSpPr>
            <a:spLocks noGrp="1"/>
          </p:cNvSpPr>
          <p:nvPr/>
        </p:nvSpPr>
        <p:spPr>
          <a:xfrm>
            <a:off x="7372350" y="3409950"/>
            <a:ext cx="3810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AEE9274C-975F-4913-B670-033B2A8096E2}"/>
              </a:ext>
            </a:extLst>
          </p:cNvPr>
          <p:cNvSpPr>
            <a:spLocks noGrp="1"/>
          </p:cNvSpPr>
          <p:nvPr/>
        </p:nvSpPr>
        <p:spPr>
          <a:xfrm>
            <a:off x="7486650" y="3505200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unknown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C95D10FD-477C-493B-8378-E71C458DCF6C}"/>
              </a:ext>
            </a:extLst>
          </p:cNvPr>
          <p:cNvSpPr>
            <a:spLocks noGrp="1"/>
          </p:cNvSpPr>
          <p:nvPr/>
        </p:nvSpPr>
        <p:spPr>
          <a:xfrm>
            <a:off x="800100" y="396240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28344044-3CC2-483E-9639-9202430E076C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Conflict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530C1C6B-760E-4324-A3DA-FE8AE64229E9}"/>
              </a:ext>
            </a:extLst>
          </p:cNvPr>
          <p:cNvSpPr>
            <a:spLocks noGrp="1"/>
          </p:cNvSpPr>
          <p:nvPr/>
        </p:nvSpPr>
        <p:spPr>
          <a:xfrm>
            <a:off x="2419350" y="3962400"/>
            <a:ext cx="4953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FB78FDEC-2AD8-48F1-B160-75B0A002850B}"/>
              </a:ext>
            </a:extLst>
          </p:cNvPr>
          <p:cNvSpPr>
            <a:spLocks noGrp="1"/>
          </p:cNvSpPr>
          <p:nvPr/>
        </p:nvSpPr>
        <p:spPr>
          <a:xfrm>
            <a:off x="2533650" y="40576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相反結論要分列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4B9CD457-E556-4F85-8505-F4B5099A7F16}"/>
              </a:ext>
            </a:extLst>
          </p:cNvPr>
          <p:cNvSpPr>
            <a:spLocks noGrp="1"/>
          </p:cNvSpPr>
          <p:nvPr/>
        </p:nvSpPr>
        <p:spPr>
          <a:xfrm>
            <a:off x="7372350" y="3962400"/>
            <a:ext cx="3810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0A001590-52FA-41E5-B446-75A92233F1A8}"/>
              </a:ext>
            </a:extLst>
          </p:cNvPr>
          <p:cNvSpPr>
            <a:spLocks noGrp="1"/>
          </p:cNvSpPr>
          <p:nvPr/>
        </p:nvSpPr>
        <p:spPr>
          <a:xfrm>
            <a:off x="7486650" y="4057650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conflicting</a:t>
            </a:r>
          </a:p>
        </p:txBody>
      </p:sp>
      <p:sp>
        <p:nvSpPr>
          <p:cNvPr id="34" name="cell-4-0">
            <a:extLst>
              <a:ext uri="{FF2B5EF4-FFF2-40B4-BE49-F238E27FC236}">
                <a16:creationId xmlns:a16="http://schemas.microsoft.com/office/drawing/2014/main" id="{B730D312-DDCF-4717-85A6-1DFF9D24A1CD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cell-text-4-0">
            <a:extLst>
              <a:ext uri="{FF2B5EF4-FFF2-40B4-BE49-F238E27FC236}">
                <a16:creationId xmlns:a16="http://schemas.microsoft.com/office/drawing/2014/main" id="{518CA7F5-4205-46E4-93D2-3E4FCFD854EC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No evidence</a:t>
            </a:r>
          </a:p>
        </p:txBody>
      </p:sp>
      <p:sp>
        <p:nvSpPr>
          <p:cNvPr id="36" name="cell-4-1">
            <a:extLst>
              <a:ext uri="{FF2B5EF4-FFF2-40B4-BE49-F238E27FC236}">
                <a16:creationId xmlns:a16="http://schemas.microsoft.com/office/drawing/2014/main" id="{4FA49F97-155A-4C0A-9854-22E6E88712FE}"/>
              </a:ext>
            </a:extLst>
          </p:cNvPr>
          <p:cNvSpPr>
            <a:spLocks noGrp="1"/>
          </p:cNvSpPr>
          <p:nvPr/>
        </p:nvSpPr>
        <p:spPr>
          <a:xfrm>
            <a:off x="2419350" y="4514850"/>
            <a:ext cx="4953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cell-text-4-1">
            <a:extLst>
              <a:ext uri="{FF2B5EF4-FFF2-40B4-BE49-F238E27FC236}">
                <a16:creationId xmlns:a16="http://schemas.microsoft.com/office/drawing/2014/main" id="{BB85AEE1-DBA7-4F2B-A1C0-0B29CEBD3A46}"/>
              </a:ext>
            </a:extLst>
          </p:cNvPr>
          <p:cNvSpPr>
            <a:spLocks noGrp="1"/>
          </p:cNvSpPr>
          <p:nvPr/>
        </p:nvSpPr>
        <p:spPr>
          <a:xfrm>
            <a:off x="2533650" y="461010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不得補常識或模型記憶</a:t>
            </a:r>
          </a:p>
        </p:txBody>
      </p:sp>
      <p:sp>
        <p:nvSpPr>
          <p:cNvPr id="38" name="cell-4-2">
            <a:extLst>
              <a:ext uri="{FF2B5EF4-FFF2-40B4-BE49-F238E27FC236}">
                <a16:creationId xmlns:a16="http://schemas.microsoft.com/office/drawing/2014/main" id="{A3A5F514-E763-4E72-8C3F-32328A244E40}"/>
              </a:ext>
            </a:extLst>
          </p:cNvPr>
          <p:cNvSpPr>
            <a:spLocks noGrp="1"/>
          </p:cNvSpPr>
          <p:nvPr/>
        </p:nvSpPr>
        <p:spPr>
          <a:xfrm>
            <a:off x="7372350" y="4514850"/>
            <a:ext cx="3810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cell-text-4-2">
            <a:extLst>
              <a:ext uri="{FF2B5EF4-FFF2-40B4-BE49-F238E27FC236}">
                <a16:creationId xmlns:a16="http://schemas.microsoft.com/office/drawing/2014/main" id="{3743B058-6DE5-492B-B6A6-764142FF5690}"/>
              </a:ext>
            </a:extLst>
          </p:cNvPr>
          <p:cNvSpPr>
            <a:spLocks noGrp="1"/>
          </p:cNvSpPr>
          <p:nvPr/>
        </p:nvSpPr>
        <p:spPr>
          <a:xfrm>
            <a:off x="7486650" y="4610100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not_found</a:t>
            </a:r>
          </a:p>
        </p:txBody>
      </p:sp>
    </p:spTree>
    <p:extLst>
      <p:ext uri="{BB962C8B-B14F-4D97-AF65-F5344CB8AC3E}">
        <p14:creationId xmlns:p14="http://schemas.microsoft.com/office/powerpoint/2010/main" val="1987971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EABED21B-28ED-4645-AA97-45406A08039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PUBMED VALIDATION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1EA7931-520B-4CDD-AB52-363C1CE9601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PubMed extractor 的 acceptance criteria 要能用 fixtures 測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771D7AE3-F54A-43CC-AC41-C8E478B43C61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18/50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6680ACA6-F85F-4C1B-B4A5-0D60491BEAB2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79BB23D6-2FEC-48C5-87F5-4470D8838431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測試命令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B66F8F-FE1B-0D40-A924-5E6168B1B799}"/>
              </a:ext>
            </a:extLst>
          </p:cNvPr>
          <p:cNvSpPr txBox="1"/>
          <p:nvPr/>
        </p:nvSpPr>
        <p:spPr>
          <a:xfrm>
            <a:off x="1333500" y="20447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給定含 </a:t>
            </a:r>
            <a:r>
              <a:rPr lang="en-US" altLang="zh-TW" sz="1650">
                <a:solidFill>
                  <a:srgbClr val="17202A"/>
                </a:solidFill>
                <a:latin typeface="PingFang TC"/>
              </a:rPr>
              <a:t>3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筆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PMID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的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fixture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，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輸出列數必須等於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fixture record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數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8C2BD38-2D54-ED4C-B75F-082D98BB62C2}"/>
              </a:ext>
            </a:extLst>
          </p:cNvPr>
          <p:cNvSpPr txBox="1"/>
          <p:nvPr/>
        </p:nvSpPr>
        <p:spPr>
          <a:xfrm>
            <a:off x="1333500" y="28829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每列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PMID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必須存在且不得重複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C823284-FE3C-2445-BD9D-47B67E31C1FB}"/>
              </a:ext>
            </a:extLst>
          </p:cNvPr>
          <p:cNvSpPr txBox="1"/>
          <p:nvPr/>
        </p:nvSpPr>
        <p:spPr>
          <a:xfrm>
            <a:off x="1333500" y="37211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650">
                <a:solidFill>
                  <a:srgbClr val="17202A"/>
                </a:solidFill>
                <a:latin typeface="PingFang TC"/>
              </a:rPr>
              <a:t>`not_found` case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不得有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claim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或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model-generated PMID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12C074A-C916-DB46-B4C6-6FB7CA41437B}"/>
              </a:ext>
            </a:extLst>
          </p:cNvPr>
          <p:cNvSpPr txBox="1"/>
          <p:nvPr/>
        </p:nvSpPr>
        <p:spPr>
          <a:xfrm>
            <a:off x="1333500" y="45593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任何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therapeutic implication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都必須標記 </a:t>
            </a:r>
            <a:r>
              <a:rPr lang="en-US" altLang="zh-TW" sz="1650">
                <a:solidFill>
                  <a:srgbClr val="17202A"/>
                </a:solidFill>
                <a:latin typeface="PingFang TC"/>
              </a:rPr>
              <a:t>`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needs_review`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D148448-E331-8445-A2BD-B11A11A87CEC}"/>
              </a:ext>
            </a:extLst>
          </p:cNvPr>
          <p:cNvSpPr txBox="1"/>
          <p:nvPr/>
        </p:nvSpPr>
        <p:spPr>
          <a:xfrm>
            <a:off x="7493000" y="27813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pytest -q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58A89B3-05CB-AC4D-9D7D-35793FAC169D}"/>
              </a:ext>
            </a:extLst>
          </p:cNvPr>
          <p:cNvSpPr txBox="1"/>
          <p:nvPr/>
        </p:nvSpPr>
        <p:spPr>
          <a:xfrm>
            <a:off x="7493000" y="33401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schema validation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0D8D863-1DC5-E140-91BA-9EE903F48059}"/>
              </a:ext>
            </a:extLst>
          </p:cNvPr>
          <p:cNvSpPr txBox="1"/>
          <p:nvPr/>
        </p:nvSpPr>
        <p:spPr>
          <a:xfrm>
            <a:off x="7493000" y="38989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golden CSV diff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85D66FB-A93A-AA46-B6BC-4F426E32D1BF}"/>
              </a:ext>
            </a:extLst>
          </p:cNvPr>
          <p:cNvSpPr txBox="1"/>
          <p:nvPr/>
        </p:nvSpPr>
        <p:spPr>
          <a:xfrm>
            <a:off x="7493000" y="44577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PMID existence check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2D4C8A40-736B-AA44-8024-183948345EED}"/>
              </a:ext>
            </a:extLst>
          </p:cNvPr>
          <p:cNvSpPr/>
          <p:nvPr/>
        </p:nvSpPr>
        <p:spPr>
          <a:xfrm>
            <a:off x="876300" y="5562600"/>
            <a:ext cx="9766300" cy="609600"/>
          </a:xfrm>
          <a:prstGeom prst="roundRect">
            <a:avLst/>
          </a:prstGeom>
          <a:solidFill>
            <a:srgbClr val="EDF8EE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53D3C3-0D4A-AA42-A914-9A68639BB3FE}"/>
              </a:ext>
            </a:extLst>
          </p:cNvPr>
          <p:cNvSpPr/>
          <p:nvPr/>
        </p:nvSpPr>
        <p:spPr>
          <a:xfrm>
            <a:off x="876300" y="5562600"/>
            <a:ext cx="50800" cy="609600"/>
          </a:xfrm>
          <a:prstGeom prst="rect">
            <a:avLst/>
          </a:prstGeom>
          <a:solidFill>
            <a:srgbClr val="438D4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F224E06-3C2E-F24C-9063-4C45DE2C8F06}"/>
              </a:ext>
            </a:extLst>
          </p:cNvPr>
          <p:cNvSpPr txBox="1"/>
          <p:nvPr/>
        </p:nvSpPr>
        <p:spPr>
          <a:xfrm>
            <a:off x="1181100" y="5562600"/>
            <a:ext cx="9271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TW" altLang="en-US" sz="1500" b="1">
                <a:solidFill>
                  <a:srgbClr val="438D4A"/>
                </a:solidFill>
                <a:latin typeface="PingFang TC"/>
              </a:rPr>
              <a:t>四個規則都通過，才代表 </a:t>
            </a:r>
            <a:r>
              <a:rPr lang="en" altLang="zh-TW" sz="1500" b="1">
                <a:solidFill>
                  <a:srgbClr val="438D4A"/>
                </a:solidFill>
                <a:latin typeface="PingFang TC"/>
              </a:rPr>
              <a:t>extractor </a:t>
            </a:r>
            <a:r>
              <a:rPr lang="zh-TW" altLang="en-US" sz="1500" b="1">
                <a:solidFill>
                  <a:srgbClr val="438D4A"/>
                </a:solidFill>
                <a:latin typeface="PingFang TC"/>
              </a:rPr>
              <a:t>的 </a:t>
            </a:r>
            <a:r>
              <a:rPr lang="en" altLang="zh-TW" sz="1500" b="1">
                <a:solidFill>
                  <a:srgbClr val="438D4A"/>
                </a:solidFill>
                <a:latin typeface="PingFang TC"/>
              </a:rPr>
              <a:t>spec </a:t>
            </a:r>
            <a:r>
              <a:rPr lang="zh-TW" altLang="en-US" sz="1500" b="1">
                <a:solidFill>
                  <a:srgbClr val="438D4A"/>
                </a:solidFill>
                <a:latin typeface="PingFang TC"/>
              </a:rPr>
              <a:t>真的做完</a:t>
            </a:r>
          </a:p>
        </p:txBody>
      </p:sp>
      <p:pic>
        <p:nvPicPr>
          <p:cNvPr id="20" name="Graphic 20" descr="列數檢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" y="2095500"/>
            <a:ext cx="304800" cy="304800"/>
          </a:xfrm>
          <a:prstGeom prst="rect">
            <a:avLst/>
          </a:prstGeom>
        </p:spPr>
      </p:pic>
      <p:pic>
        <p:nvPicPr>
          <p:cNvPr id="21" name="Graphic 21" descr="重複檢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" y="2933700"/>
            <a:ext cx="304800" cy="304800"/>
          </a:xfrm>
          <a:prstGeom prst="rect">
            <a:avLst/>
          </a:prstGeom>
        </p:spPr>
      </p:pic>
      <p:pic>
        <p:nvPicPr>
          <p:cNvPr id="22" name="Graphic 22" descr="禁止編造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3771900"/>
            <a:ext cx="304800" cy="304800"/>
          </a:xfrm>
          <a:prstGeom prst="rect">
            <a:avLst/>
          </a:prstGeom>
        </p:spPr>
      </p:pic>
      <p:pic>
        <p:nvPicPr>
          <p:cNvPr id="23" name="Graphic 23" descr="標記需審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" y="4610100"/>
            <a:ext cx="304800" cy="304800"/>
          </a:xfrm>
          <a:prstGeom prst="rect">
            <a:avLst/>
          </a:prstGeom>
        </p:spPr>
      </p:pic>
      <p:pic>
        <p:nvPicPr>
          <p:cNvPr id="24" name="Graphic 24" descr="測試指令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2832100"/>
            <a:ext cx="254000" cy="254000"/>
          </a:xfrm>
          <a:prstGeom prst="rect">
            <a:avLst/>
          </a:prstGeom>
        </p:spPr>
      </p:pic>
      <p:pic>
        <p:nvPicPr>
          <p:cNvPr id="25" name="Graphic 25" descr="測試指令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3390900"/>
            <a:ext cx="254000" cy="254000"/>
          </a:xfrm>
          <a:prstGeom prst="rect">
            <a:avLst/>
          </a:prstGeom>
        </p:spPr>
      </p:pic>
      <p:pic>
        <p:nvPicPr>
          <p:cNvPr id="26" name="Graphic 26" descr="測試指令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3949700"/>
            <a:ext cx="254000" cy="254000"/>
          </a:xfrm>
          <a:prstGeom prst="rect">
            <a:avLst/>
          </a:prstGeom>
        </p:spPr>
      </p:pic>
      <p:pic>
        <p:nvPicPr>
          <p:cNvPr id="27" name="Graphic 27" descr="測試指令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45085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051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9677D253-709A-4175-ADA5-A1E83B6B63B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EXAMPLE 2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3AB898FB-6389-42D2-A8A8-904362D6391B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9525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Gene list annotation tool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5DE82BBD-1ED1-42C9-88C0-D9E7C7133210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8667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第二個例子聚焦 entity normalization：gene symbol 看起來簡單，但物種、舊名與 synonym 會讓 agent 很容易過度推論。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3C81629D-8862-447F-882B-81F4C70A5C81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19/50</a:t>
            </a:r>
          </a:p>
        </p:txBody>
      </p:sp>
    </p:spTree>
    <p:extLst>
      <p:ext uri="{BB962C8B-B14F-4D97-AF65-F5344CB8AC3E}">
        <p14:creationId xmlns:p14="http://schemas.microsoft.com/office/powerpoint/2010/main" val="1769040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yebrow">
            <a:extLst>
              <a:ext uri="{FF2B5EF4-FFF2-40B4-BE49-F238E27FC236}">
                <a16:creationId xmlns:a16="http://schemas.microsoft.com/office/drawing/2014/main" id="{538C48E3-159B-4AEB-BE9F-066B73DBD5F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GENE INPUTS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A72BB4-4224-4E5D-B4C3-955D979A790C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Gene annotation 的 input spec 必須保留原始值與物種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139E5F8-270A-4705-BE36-561A7716DBC2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20/50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B4A0A2EC-F7BA-478E-B4F9-4D7720773B69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809750" cy="419100"/>
          </a:xfrm>
          <a:prstGeom prst="roundRect">
            <a:avLst>
              <a:gd name="adj" fmla="val 9091"/>
            </a:avLst>
          </a:prstGeom>
          <a:solidFill>
            <a:srgbClr val="0E8F88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E0238833-0E87-4BE6-846B-4E10C2E37D46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欄位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24F4BCBC-39F5-43D8-B2F9-B20B45CCB851}"/>
              </a:ext>
            </a:extLst>
          </p:cNvPr>
          <p:cNvSpPr>
            <a:spLocks noGrp="1"/>
          </p:cNvSpPr>
          <p:nvPr/>
        </p:nvSpPr>
        <p:spPr>
          <a:xfrm>
            <a:off x="2609850" y="1885950"/>
            <a:ext cx="4953000" cy="419100"/>
          </a:xfrm>
          <a:prstGeom prst="roundRect">
            <a:avLst>
              <a:gd name="adj" fmla="val 9091"/>
            </a:avLst>
          </a:prstGeom>
          <a:solidFill>
            <a:srgbClr val="0E8F88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0F48DDB8-50E2-4FBC-AC5E-0A50594EDB4E}"/>
              </a:ext>
            </a:extLst>
          </p:cNvPr>
          <p:cNvSpPr>
            <a:spLocks noGrp="1"/>
          </p:cNvSpPr>
          <p:nvPr/>
        </p:nvSpPr>
        <p:spPr>
          <a:xfrm>
            <a:off x="2724150" y="2000250"/>
            <a:ext cx="472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規則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9032E10C-4780-4004-894E-6DCA57579B49}"/>
              </a:ext>
            </a:extLst>
          </p:cNvPr>
          <p:cNvSpPr>
            <a:spLocks noGrp="1"/>
          </p:cNvSpPr>
          <p:nvPr/>
        </p:nvSpPr>
        <p:spPr>
          <a:xfrm>
            <a:off x="7562850" y="1885950"/>
            <a:ext cx="3619500" cy="419100"/>
          </a:xfrm>
          <a:prstGeom prst="roundRect">
            <a:avLst>
              <a:gd name="adj" fmla="val 9091"/>
            </a:avLst>
          </a:prstGeom>
          <a:solidFill>
            <a:srgbClr val="0E8F88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F4A8AF6B-10F3-4502-A07B-651AB43E2698}"/>
              </a:ext>
            </a:extLst>
          </p:cNvPr>
          <p:cNvSpPr>
            <a:spLocks noGrp="1"/>
          </p:cNvSpPr>
          <p:nvPr/>
        </p:nvSpPr>
        <p:spPr>
          <a:xfrm>
            <a:off x="7677150" y="2000250"/>
            <a:ext cx="3390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原因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49DC03EA-1673-4CB4-A8B5-E5029B235442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809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1EE71566-DDDA-4E5D-9A63-B4892CD61431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gene_input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3B8E2A5A-3623-4436-AFF2-A92FBE4299E7}"/>
              </a:ext>
            </a:extLst>
          </p:cNvPr>
          <p:cNvSpPr>
            <a:spLocks noGrp="1"/>
          </p:cNvSpPr>
          <p:nvPr/>
        </p:nvSpPr>
        <p:spPr>
          <a:xfrm>
            <a:off x="2609850" y="2305050"/>
            <a:ext cx="4953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4B32DBBC-4D3F-4299-ABB1-5B0A7FB8A684}"/>
              </a:ext>
            </a:extLst>
          </p:cNvPr>
          <p:cNvSpPr>
            <a:spLocks noGrp="1"/>
          </p:cNvSpPr>
          <p:nvPr/>
        </p:nvSpPr>
        <p:spPr>
          <a:xfrm>
            <a:off x="2724150" y="240030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保留原始字串，不可覆蓋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5A47BFBE-7C7C-4948-8D37-138FB0234A0A}"/>
              </a:ext>
            </a:extLst>
          </p:cNvPr>
          <p:cNvSpPr>
            <a:spLocks noGrp="1"/>
          </p:cNvSpPr>
          <p:nvPr/>
        </p:nvSpPr>
        <p:spPr>
          <a:xfrm>
            <a:off x="7562850" y="2305050"/>
            <a:ext cx="36195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FE887555-B205-45B1-B500-41264DA1ECF1}"/>
              </a:ext>
            </a:extLst>
          </p:cNvPr>
          <p:cNvSpPr>
            <a:spLocks noGrp="1"/>
          </p:cNvSpPr>
          <p:nvPr/>
        </p:nvSpPr>
        <p:spPr>
          <a:xfrm>
            <a:off x="7677150" y="24003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review 時需要追溯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38CFB6FB-6473-4518-B974-E4B5DFCE874E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1809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9481B189-EAF4-4423-96A1-32450EEB3A63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species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F0C2CEB4-3CC9-4637-84B8-C860342AF2B9}"/>
              </a:ext>
            </a:extLst>
          </p:cNvPr>
          <p:cNvSpPr>
            <a:spLocks noGrp="1"/>
          </p:cNvSpPr>
          <p:nvPr/>
        </p:nvSpPr>
        <p:spPr>
          <a:xfrm>
            <a:off x="2609850" y="2857500"/>
            <a:ext cx="4953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5D527BBB-4779-4BE7-AA74-A6B7895263F4}"/>
              </a:ext>
            </a:extLst>
          </p:cNvPr>
          <p:cNvSpPr>
            <a:spLocks noGrp="1"/>
          </p:cNvSpPr>
          <p:nvPr/>
        </p:nvSpPr>
        <p:spPr>
          <a:xfrm>
            <a:off x="2724150" y="29527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預設 human；可接受 mouse 但要明示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F43F77E8-E408-4290-B23A-1814C78037AA}"/>
              </a:ext>
            </a:extLst>
          </p:cNvPr>
          <p:cNvSpPr>
            <a:spLocks noGrp="1"/>
          </p:cNvSpPr>
          <p:nvPr/>
        </p:nvSpPr>
        <p:spPr>
          <a:xfrm>
            <a:off x="7562850" y="2857500"/>
            <a:ext cx="36195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EEF00292-F2C2-44C0-B622-050592F7D295}"/>
              </a:ext>
            </a:extLst>
          </p:cNvPr>
          <p:cNvSpPr>
            <a:spLocks noGrp="1"/>
          </p:cNvSpPr>
          <p:nvPr/>
        </p:nvSpPr>
        <p:spPr>
          <a:xfrm>
            <a:off x="7677150" y="295275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避免跨物種混淆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94DCEBCE-00F0-4451-B4F4-52C701DE76A7}"/>
              </a:ext>
            </a:extLst>
          </p:cNvPr>
          <p:cNvSpPr>
            <a:spLocks noGrp="1"/>
          </p:cNvSpPr>
          <p:nvPr/>
        </p:nvSpPr>
        <p:spPr>
          <a:xfrm>
            <a:off x="800100" y="3409950"/>
            <a:ext cx="1809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5CA5CD01-D37C-48C1-BC9F-34846AE8D892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E2A656CB-0CFD-4FB1-9DB7-FB3249AE4E13}"/>
              </a:ext>
            </a:extLst>
          </p:cNvPr>
          <p:cNvSpPr>
            <a:spLocks noGrp="1"/>
          </p:cNvSpPr>
          <p:nvPr/>
        </p:nvSpPr>
        <p:spPr>
          <a:xfrm>
            <a:off x="2609850" y="3409950"/>
            <a:ext cx="4953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0AAEA50E-6E54-4EE1-987D-8F3793E6254D}"/>
              </a:ext>
            </a:extLst>
          </p:cNvPr>
          <p:cNvSpPr>
            <a:spLocks noGrp="1"/>
          </p:cNvSpPr>
          <p:nvPr/>
        </p:nvSpPr>
        <p:spPr>
          <a:xfrm>
            <a:off x="2724150" y="350520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HGNC / NCBI Gene / Ensembl 擇一或多個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5978A010-53D9-490A-946D-BAD73CFA773E}"/>
              </a:ext>
            </a:extLst>
          </p:cNvPr>
          <p:cNvSpPr>
            <a:spLocks noGrp="1"/>
          </p:cNvSpPr>
          <p:nvPr/>
        </p:nvSpPr>
        <p:spPr>
          <a:xfrm>
            <a:off x="7562850" y="3409950"/>
            <a:ext cx="36195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897F484D-5629-4411-81CB-F87654443310}"/>
              </a:ext>
            </a:extLst>
          </p:cNvPr>
          <p:cNvSpPr>
            <a:spLocks noGrp="1"/>
          </p:cNvSpPr>
          <p:nvPr/>
        </p:nvSpPr>
        <p:spPr>
          <a:xfrm>
            <a:off x="7677150" y="35052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資料庫版本影響結果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77161694-9B1A-4548-A0D4-C56CC2F2843F}"/>
              </a:ext>
            </a:extLst>
          </p:cNvPr>
          <p:cNvSpPr>
            <a:spLocks noGrp="1"/>
          </p:cNvSpPr>
          <p:nvPr/>
        </p:nvSpPr>
        <p:spPr>
          <a:xfrm>
            <a:off x="800100" y="3962400"/>
            <a:ext cx="1809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5380DE72-49E2-412B-946F-14D3693A234D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allow_synonym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1811C086-90B0-4A64-AD18-6783CD2516C3}"/>
              </a:ext>
            </a:extLst>
          </p:cNvPr>
          <p:cNvSpPr>
            <a:spLocks noGrp="1"/>
          </p:cNvSpPr>
          <p:nvPr/>
        </p:nvSpPr>
        <p:spPr>
          <a:xfrm>
            <a:off x="2609850" y="3962400"/>
            <a:ext cx="4953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3444498A-8472-4B16-BD29-68E6AB5F47FB}"/>
              </a:ext>
            </a:extLst>
          </p:cNvPr>
          <p:cNvSpPr>
            <a:spLocks noGrp="1"/>
          </p:cNvSpPr>
          <p:nvPr/>
        </p:nvSpPr>
        <p:spPr>
          <a:xfrm>
            <a:off x="2724150" y="40576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預設 false；若 true 要列出 evidence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44CF527B-2C71-4300-9D3C-42C344FA6C2E}"/>
              </a:ext>
            </a:extLst>
          </p:cNvPr>
          <p:cNvSpPr>
            <a:spLocks noGrp="1"/>
          </p:cNvSpPr>
          <p:nvPr/>
        </p:nvSpPr>
        <p:spPr>
          <a:xfrm>
            <a:off x="7562850" y="3962400"/>
            <a:ext cx="36195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D8398114-3FC3-4A35-B8BB-05407D2A5A8D}"/>
              </a:ext>
            </a:extLst>
          </p:cNvPr>
          <p:cNvSpPr>
            <a:spLocks noGrp="1"/>
          </p:cNvSpPr>
          <p:nvPr/>
        </p:nvSpPr>
        <p:spPr>
          <a:xfrm>
            <a:off x="7677150" y="405765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避免自行替換</a:t>
            </a:r>
          </a:p>
        </p:txBody>
      </p:sp>
      <p:sp>
        <p:nvSpPr>
          <p:cNvPr id="34" name="cell-4-0">
            <a:extLst>
              <a:ext uri="{FF2B5EF4-FFF2-40B4-BE49-F238E27FC236}">
                <a16:creationId xmlns:a16="http://schemas.microsoft.com/office/drawing/2014/main" id="{3052AE50-8990-44D8-A8BA-7EEA901D0E88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1809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cell-text-4-0">
            <a:extLst>
              <a:ext uri="{FF2B5EF4-FFF2-40B4-BE49-F238E27FC236}">
                <a16:creationId xmlns:a16="http://schemas.microsoft.com/office/drawing/2014/main" id="{80CF79CA-A16B-4BDE-BA63-B712E599BAF5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batch_id</a:t>
            </a:r>
          </a:p>
        </p:txBody>
      </p:sp>
      <p:sp>
        <p:nvSpPr>
          <p:cNvPr id="36" name="cell-4-1">
            <a:extLst>
              <a:ext uri="{FF2B5EF4-FFF2-40B4-BE49-F238E27FC236}">
                <a16:creationId xmlns:a16="http://schemas.microsoft.com/office/drawing/2014/main" id="{09EE824B-E4DE-4B3E-97B2-A43350269A64}"/>
              </a:ext>
            </a:extLst>
          </p:cNvPr>
          <p:cNvSpPr>
            <a:spLocks noGrp="1"/>
          </p:cNvSpPr>
          <p:nvPr/>
        </p:nvSpPr>
        <p:spPr>
          <a:xfrm>
            <a:off x="2609850" y="4514850"/>
            <a:ext cx="4953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cell-text-4-1">
            <a:extLst>
              <a:ext uri="{FF2B5EF4-FFF2-40B4-BE49-F238E27FC236}">
                <a16:creationId xmlns:a16="http://schemas.microsoft.com/office/drawing/2014/main" id="{2CC10C5B-B2D4-4DA2-93CE-17503D728685}"/>
              </a:ext>
            </a:extLst>
          </p:cNvPr>
          <p:cNvSpPr>
            <a:spLocks noGrp="1"/>
          </p:cNvSpPr>
          <p:nvPr/>
        </p:nvSpPr>
        <p:spPr>
          <a:xfrm>
            <a:off x="2724150" y="461010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保存本批輸入與版本</a:t>
            </a:r>
          </a:p>
        </p:txBody>
      </p:sp>
      <p:sp>
        <p:nvSpPr>
          <p:cNvPr id="38" name="cell-4-2">
            <a:extLst>
              <a:ext uri="{FF2B5EF4-FFF2-40B4-BE49-F238E27FC236}">
                <a16:creationId xmlns:a16="http://schemas.microsoft.com/office/drawing/2014/main" id="{E4885479-7105-429B-9945-37910193B733}"/>
              </a:ext>
            </a:extLst>
          </p:cNvPr>
          <p:cNvSpPr>
            <a:spLocks noGrp="1"/>
          </p:cNvSpPr>
          <p:nvPr/>
        </p:nvSpPr>
        <p:spPr>
          <a:xfrm>
            <a:off x="7562850" y="4514850"/>
            <a:ext cx="36195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cell-text-4-2">
            <a:extLst>
              <a:ext uri="{FF2B5EF4-FFF2-40B4-BE49-F238E27FC236}">
                <a16:creationId xmlns:a16="http://schemas.microsoft.com/office/drawing/2014/main" id="{E0D57ECE-E948-4057-9DD9-651C9DE2ABCF}"/>
              </a:ext>
            </a:extLst>
          </p:cNvPr>
          <p:cNvSpPr>
            <a:spLocks noGrp="1"/>
          </p:cNvSpPr>
          <p:nvPr/>
        </p:nvSpPr>
        <p:spPr>
          <a:xfrm>
            <a:off x="7677150" y="46101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輸出可重跑</a:t>
            </a:r>
          </a:p>
        </p:txBody>
      </p:sp>
    </p:spTree>
    <p:extLst>
      <p:ext uri="{BB962C8B-B14F-4D97-AF65-F5344CB8AC3E}">
        <p14:creationId xmlns:p14="http://schemas.microsoft.com/office/powerpoint/2010/main" val="2412095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4241328C-FDFF-45A8-AEA4-55B8B8FF1E8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GENE OUTPUT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30E30A-47F1-4725-9C58-C8D0531C8C04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Annotation output 要同時服務機器檢查與人工 review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33C23C3-CB48-49F7-B7B9-F7E1D5227842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21/50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8DA867E9-62D0-4CEF-956A-8365E2651562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Output schema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62C0BF66-53A1-466E-9E24-6F0BD8CF48A5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287655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27CF4EDC-D895-4728-A2AB-2EA7DFA98347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gene_input</a:t>
            </a:r>
          </a:p>
          <a:p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approved_symbol</a:t>
            </a:r>
          </a:p>
          <a:p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gene_id</a:t>
            </a:r>
          </a:p>
          <a:p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species</a:t>
            </a:r>
          </a:p>
          <a:p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match_type: exact | synonym | withdrawn | not_found</a:t>
            </a:r>
          </a:p>
          <a:p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confidence: high | medium | low</a:t>
            </a:r>
          </a:p>
          <a:p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evidence_source</a:t>
            </a:r>
          </a:p>
          <a:p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evidence_version</a:t>
            </a:r>
          </a:p>
          <a:p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message</a:t>
            </a:r>
          </a:p>
          <a:p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review_status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486AEF2A-469C-46B2-8587-F7A8B10E70BB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EEF1FF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45139D22-F719-4ABC-A17A-5FB1AFB14089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注意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E7111570-4A7E-4238-87C8-8AC06FBE295F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not_found 是合法輸出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synonym 需要來源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confidence 不等於臨床證據等級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保留 message 給人工審查</a:t>
            </a:r>
          </a:p>
        </p:txBody>
      </p:sp>
    </p:spTree>
    <p:extLst>
      <p:ext uri="{BB962C8B-B14F-4D97-AF65-F5344CB8AC3E}">
        <p14:creationId xmlns:p14="http://schemas.microsoft.com/office/powerpoint/2010/main" val="3808374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17EFB517-55D0-488A-9A36-937514E44A0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GENE BOUNDARIES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ED18779-4FAA-4156-97D4-7543F8EDF9C9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Gene list tool 要先決定什麼不能自動做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D96E42AC-2C61-4BB9-ABD5-D90B60FC6019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22/50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8E4DFA81-0D9B-4F25-84EF-CD7B971583D2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809750" cy="419100"/>
          </a:xfrm>
          <a:prstGeom prst="roundRect">
            <a:avLst>
              <a:gd name="adj" fmla="val 9091"/>
            </a:avLst>
          </a:prstGeom>
          <a:solidFill>
            <a:srgbClr val="C85A4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8C4E69B0-4C83-487B-9E1A-0F0A8C4E1426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情境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ED7DD25F-71B8-49D9-821C-2B476A6FF05C}"/>
              </a:ext>
            </a:extLst>
          </p:cNvPr>
          <p:cNvSpPr>
            <a:spLocks noGrp="1"/>
          </p:cNvSpPr>
          <p:nvPr/>
        </p:nvSpPr>
        <p:spPr>
          <a:xfrm>
            <a:off x="2609850" y="1885950"/>
            <a:ext cx="4762500" cy="419100"/>
          </a:xfrm>
          <a:prstGeom prst="roundRect">
            <a:avLst>
              <a:gd name="adj" fmla="val 9091"/>
            </a:avLst>
          </a:prstGeom>
          <a:solidFill>
            <a:srgbClr val="C85A4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B7C3223D-F8F5-439F-8D2D-12C1700A3369}"/>
              </a:ext>
            </a:extLst>
          </p:cNvPr>
          <p:cNvSpPr>
            <a:spLocks noGrp="1"/>
          </p:cNvSpPr>
          <p:nvPr/>
        </p:nvSpPr>
        <p:spPr>
          <a:xfrm>
            <a:off x="2724150" y="2000250"/>
            <a:ext cx="453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規格決定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297D3A7A-2920-45C9-B801-D04469CC978E}"/>
              </a:ext>
            </a:extLst>
          </p:cNvPr>
          <p:cNvSpPr>
            <a:spLocks noGrp="1"/>
          </p:cNvSpPr>
          <p:nvPr/>
        </p:nvSpPr>
        <p:spPr>
          <a:xfrm>
            <a:off x="7372350" y="1885950"/>
            <a:ext cx="3810000" cy="419100"/>
          </a:xfrm>
          <a:prstGeom prst="roundRect">
            <a:avLst>
              <a:gd name="adj" fmla="val 9091"/>
            </a:avLst>
          </a:prstGeom>
          <a:solidFill>
            <a:srgbClr val="C85A4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BC3012F5-9642-4628-937F-D353877FBDAD}"/>
              </a:ext>
            </a:extLst>
          </p:cNvPr>
          <p:cNvSpPr>
            <a:spLocks noGrp="1"/>
          </p:cNvSpPr>
          <p:nvPr/>
        </p:nvSpPr>
        <p:spPr>
          <a:xfrm>
            <a:off x="7486650" y="2000250"/>
            <a:ext cx="358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理由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30CB3397-12D2-48AE-B9DD-A975BEAD45BB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8097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ED319B4E-0307-4B94-AF1B-9E2ABEF995B0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舊名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685B917F-671E-468E-9617-52E0BC5ED901}"/>
              </a:ext>
            </a:extLst>
          </p:cNvPr>
          <p:cNvSpPr>
            <a:spLocks noGrp="1"/>
          </p:cNvSpPr>
          <p:nvPr/>
        </p:nvSpPr>
        <p:spPr>
          <a:xfrm>
            <a:off x="2609850" y="230505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5C7494D4-9059-4C26-A61E-B357514FE6EC}"/>
              </a:ext>
            </a:extLst>
          </p:cNvPr>
          <p:cNvSpPr>
            <a:spLocks noGrp="1"/>
          </p:cNvSpPr>
          <p:nvPr/>
        </p:nvSpPr>
        <p:spPr>
          <a:xfrm>
            <a:off x="2724150" y="240030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可標記 withdrawn，但不可自動替換成 approved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241F735C-85AD-4893-A4AA-87B9C49BB369}"/>
              </a:ext>
            </a:extLst>
          </p:cNvPr>
          <p:cNvSpPr>
            <a:spLocks noGrp="1"/>
          </p:cNvSpPr>
          <p:nvPr/>
        </p:nvSpPr>
        <p:spPr>
          <a:xfrm>
            <a:off x="7372350" y="2305050"/>
            <a:ext cx="38100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5BA181AF-415A-4EAA-B4D8-DA20D93DF9F5}"/>
              </a:ext>
            </a:extLst>
          </p:cNvPr>
          <p:cNvSpPr>
            <a:spLocks noGrp="1"/>
          </p:cNvSpPr>
          <p:nvPr/>
        </p:nvSpPr>
        <p:spPr>
          <a:xfrm>
            <a:off x="7486650" y="2400300"/>
            <a:ext cx="3581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避免錯誤合併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8DA2AA9C-52F2-4998-8376-8393994FDF2D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18097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18BC350B-2C58-4277-ACA0-1BDF5538B576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跨物種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035E5FD2-ABAD-4702-97ED-E1C6700E9730}"/>
              </a:ext>
            </a:extLst>
          </p:cNvPr>
          <p:cNvSpPr>
            <a:spLocks noGrp="1"/>
          </p:cNvSpPr>
          <p:nvPr/>
        </p:nvSpPr>
        <p:spPr>
          <a:xfrm>
            <a:off x="2609850" y="293370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ABE6193E-4CC2-4DD6-8EFC-4CAF1B383361}"/>
              </a:ext>
            </a:extLst>
          </p:cNvPr>
          <p:cNvSpPr>
            <a:spLocks noGrp="1"/>
          </p:cNvSpPr>
          <p:nvPr/>
        </p:nvSpPr>
        <p:spPr>
          <a:xfrm>
            <a:off x="2724150" y="302895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species 不明時 needs_review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0806A6B8-CE53-41CD-89B2-5249C1F16EDF}"/>
              </a:ext>
            </a:extLst>
          </p:cNvPr>
          <p:cNvSpPr>
            <a:spLocks noGrp="1"/>
          </p:cNvSpPr>
          <p:nvPr/>
        </p:nvSpPr>
        <p:spPr>
          <a:xfrm>
            <a:off x="7372350" y="2933700"/>
            <a:ext cx="38100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284CBCD3-469A-4F64-B038-51D8CCC01C60}"/>
              </a:ext>
            </a:extLst>
          </p:cNvPr>
          <p:cNvSpPr>
            <a:spLocks noGrp="1"/>
          </p:cNvSpPr>
          <p:nvPr/>
        </p:nvSpPr>
        <p:spPr>
          <a:xfrm>
            <a:off x="7486650" y="3028950"/>
            <a:ext cx="3581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同名基因可能不同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A010DA74-89F0-4B6A-BBD7-355F032C0628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18097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8D740E16-16D5-429C-9D6C-06DE1C8CB47F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多重 match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F246C894-4A0E-48D2-A375-4B72F1798356}"/>
              </a:ext>
            </a:extLst>
          </p:cNvPr>
          <p:cNvSpPr>
            <a:spLocks noGrp="1"/>
          </p:cNvSpPr>
          <p:nvPr/>
        </p:nvSpPr>
        <p:spPr>
          <a:xfrm>
            <a:off x="2609850" y="356235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1978516B-A52D-4A89-990F-A0F7FC109DD1}"/>
              </a:ext>
            </a:extLst>
          </p:cNvPr>
          <p:cNvSpPr>
            <a:spLocks noGrp="1"/>
          </p:cNvSpPr>
          <p:nvPr/>
        </p:nvSpPr>
        <p:spPr>
          <a:xfrm>
            <a:off x="2724150" y="365760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列出候選，不選唯一答案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757FCFE9-4157-4438-BAAC-81D856BC8DD3}"/>
              </a:ext>
            </a:extLst>
          </p:cNvPr>
          <p:cNvSpPr>
            <a:spLocks noGrp="1"/>
          </p:cNvSpPr>
          <p:nvPr/>
        </p:nvSpPr>
        <p:spPr>
          <a:xfrm>
            <a:off x="7372350" y="3562350"/>
            <a:ext cx="38100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3B876968-DD31-4375-B4C7-4C8C9BDCB965}"/>
              </a:ext>
            </a:extLst>
          </p:cNvPr>
          <p:cNvSpPr>
            <a:spLocks noGrp="1"/>
          </p:cNvSpPr>
          <p:nvPr/>
        </p:nvSpPr>
        <p:spPr>
          <a:xfrm>
            <a:off x="7486650" y="3657600"/>
            <a:ext cx="3581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降低錯 annotation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A07CD14C-DACE-482D-9982-78353D87A236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18097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2CC23C91-C4A8-4CCE-83F5-CEE5E78CB755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非 gene term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053719DF-D0DE-4048-BA4C-A2C740F27639}"/>
              </a:ext>
            </a:extLst>
          </p:cNvPr>
          <p:cNvSpPr>
            <a:spLocks noGrp="1"/>
          </p:cNvSpPr>
          <p:nvPr/>
        </p:nvSpPr>
        <p:spPr>
          <a:xfrm>
            <a:off x="2609850" y="419100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60547BAE-ECEA-4606-96DB-D6C91404F44F}"/>
              </a:ext>
            </a:extLst>
          </p:cNvPr>
          <p:cNvSpPr>
            <a:spLocks noGrp="1"/>
          </p:cNvSpPr>
          <p:nvPr/>
        </p:nvSpPr>
        <p:spPr>
          <a:xfrm>
            <a:off x="2724150" y="428625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標記 invalid_input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F0560BC7-EAB2-4A29-8654-ED0A2E23BDE3}"/>
              </a:ext>
            </a:extLst>
          </p:cNvPr>
          <p:cNvSpPr>
            <a:spLocks noGrp="1"/>
          </p:cNvSpPr>
          <p:nvPr/>
        </p:nvSpPr>
        <p:spPr>
          <a:xfrm>
            <a:off x="7372350" y="4191000"/>
            <a:ext cx="38100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4ECDDCC5-612D-4C09-BCCE-C60C12187507}"/>
              </a:ext>
            </a:extLst>
          </p:cNvPr>
          <p:cNvSpPr>
            <a:spLocks noGrp="1"/>
          </p:cNvSpPr>
          <p:nvPr/>
        </p:nvSpPr>
        <p:spPr>
          <a:xfrm>
            <a:off x="7486650" y="4286250"/>
            <a:ext cx="3581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不要把 pathway 或 drug 當 gene</a:t>
            </a:r>
          </a:p>
        </p:txBody>
      </p:sp>
    </p:spTree>
    <p:extLst>
      <p:ext uri="{BB962C8B-B14F-4D97-AF65-F5344CB8AC3E}">
        <p14:creationId xmlns:p14="http://schemas.microsoft.com/office/powerpoint/2010/main" val="3697736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0BD08B42-844A-42A4-8E66-FCFC85B53B3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GENE VALIDATION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045EA8D-A670-4A2C-89FC-9420C3A114CE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Gene annotation 的測試要包含正常、舊名、找不到與跨物種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386063BA-64B6-4DD4-BAC0-EC48E32B9D1F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23/50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37D85A46-4C9C-4D5A-9931-3FC48DF220A9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BDD72759-73DD-43F7-ACF3-8B4B440FA8A4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最小驗收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0355143-C19C-194C-86DA-E41A04BC4949}"/>
              </a:ext>
            </a:extLst>
          </p:cNvPr>
          <p:cNvSpPr txBox="1"/>
          <p:nvPr/>
        </p:nvSpPr>
        <p:spPr>
          <a:xfrm>
            <a:off x="1333500" y="20447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650">
                <a:solidFill>
                  <a:srgbClr val="17202A"/>
                </a:solidFill>
                <a:latin typeface="PingFang TC"/>
              </a:rPr>
              <a:t>Fixture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至少包含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TP53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、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ERBB2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、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舊名、錯拼、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mouse-only symbol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9D65643-BC53-C64D-863F-E6ECEB2E7983}"/>
              </a:ext>
            </a:extLst>
          </p:cNvPr>
          <p:cNvSpPr txBox="1"/>
          <p:nvPr/>
        </p:nvSpPr>
        <p:spPr>
          <a:xfrm>
            <a:off x="1333500" y="28829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650">
                <a:solidFill>
                  <a:srgbClr val="17202A"/>
                </a:solidFill>
                <a:latin typeface="PingFang TC"/>
              </a:rPr>
              <a:t>Golden output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固定 </a:t>
            </a:r>
            <a:r>
              <a:rPr lang="en-US" altLang="zh-TW" sz="1650">
                <a:solidFill>
                  <a:srgbClr val="17202A"/>
                </a:solidFill>
                <a:latin typeface="PingFang TC"/>
              </a:rPr>
              <a:t>`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match_type`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、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`review_status`</a:t>
            </a:r>
            <a:r>
              <a:rPr lang="zh-TW" altLang="en" sz="1650">
                <a:solidFill>
                  <a:srgbClr val="17202A"/>
                </a:solidFill>
                <a:latin typeface="PingFang TC"/>
              </a:rPr>
              <a:t>、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`message`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91D147F-8F05-2C4B-8209-11F5D5567CBD}"/>
              </a:ext>
            </a:extLst>
          </p:cNvPr>
          <p:cNvSpPr txBox="1"/>
          <p:nvPr/>
        </p:nvSpPr>
        <p:spPr>
          <a:xfrm>
            <a:off x="1333500" y="37211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資料庫版本或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retrieval date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要出現在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output metadata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6A2EC0-0E84-314F-90C8-6091009FF18F}"/>
              </a:ext>
            </a:extLst>
          </p:cNvPr>
          <p:cNvSpPr txBox="1"/>
          <p:nvPr/>
        </p:nvSpPr>
        <p:spPr>
          <a:xfrm>
            <a:off x="1333500" y="45593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更新資料庫版本時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golden output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可以變，但必須在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changelog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說明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BD02073-A771-EF47-B8F8-245C718BFE38}"/>
              </a:ext>
            </a:extLst>
          </p:cNvPr>
          <p:cNvSpPr txBox="1"/>
          <p:nvPr/>
        </p:nvSpPr>
        <p:spPr>
          <a:xfrm>
            <a:off x="7493000" y="27813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schema pass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1A8483C-8DC4-074F-92E8-E2C79D23879C}"/>
              </a:ext>
            </a:extLst>
          </p:cNvPr>
          <p:cNvSpPr txBox="1"/>
          <p:nvPr/>
        </p:nvSpPr>
        <p:spPr>
          <a:xfrm>
            <a:off x="7493000" y="33401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golden pass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5B89683-5C5F-BC4B-BD5A-6C71964EBBA6}"/>
              </a:ext>
            </a:extLst>
          </p:cNvPr>
          <p:cNvSpPr txBox="1"/>
          <p:nvPr/>
        </p:nvSpPr>
        <p:spPr>
          <a:xfrm>
            <a:off x="7493000" y="38989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no silent correction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0B5BD52-C4E4-6646-B76A-9E24F3217401}"/>
              </a:ext>
            </a:extLst>
          </p:cNvPr>
          <p:cNvSpPr txBox="1"/>
          <p:nvPr/>
        </p:nvSpPr>
        <p:spPr>
          <a:xfrm>
            <a:off x="7493000" y="44577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version recorded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AA5C31A4-559E-2F49-8083-D2C054804A35}"/>
              </a:ext>
            </a:extLst>
          </p:cNvPr>
          <p:cNvSpPr/>
          <p:nvPr/>
        </p:nvSpPr>
        <p:spPr>
          <a:xfrm>
            <a:off x="876300" y="5562600"/>
            <a:ext cx="9766300" cy="609600"/>
          </a:xfrm>
          <a:prstGeom prst="roundRect">
            <a:avLst/>
          </a:prstGeom>
          <a:solidFill>
            <a:srgbClr val="EDF8EE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110059-7EE8-904B-97BD-D521267E5D33}"/>
              </a:ext>
            </a:extLst>
          </p:cNvPr>
          <p:cNvSpPr/>
          <p:nvPr/>
        </p:nvSpPr>
        <p:spPr>
          <a:xfrm>
            <a:off x="876300" y="5562600"/>
            <a:ext cx="50800" cy="609600"/>
          </a:xfrm>
          <a:prstGeom prst="rect">
            <a:avLst/>
          </a:prstGeom>
          <a:solidFill>
            <a:srgbClr val="438D4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AD6783C-88E6-9B4E-B648-0850DE66D3F6}"/>
              </a:ext>
            </a:extLst>
          </p:cNvPr>
          <p:cNvSpPr txBox="1"/>
          <p:nvPr/>
        </p:nvSpPr>
        <p:spPr>
          <a:xfrm>
            <a:off x="1181100" y="5562600"/>
            <a:ext cx="9271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zh-TW" sz="1500" b="1">
                <a:solidFill>
                  <a:srgbClr val="438D4A"/>
                </a:solidFill>
                <a:latin typeface="PingFang TC"/>
              </a:rPr>
              <a:t>gene annotation </a:t>
            </a:r>
            <a:r>
              <a:rPr lang="zh-TW" altLang="en-US" sz="1500" b="1">
                <a:solidFill>
                  <a:srgbClr val="438D4A"/>
                </a:solidFill>
                <a:latin typeface="PingFang TC"/>
              </a:rPr>
              <a:t>的正確答案要能重現，不能每次都不一樣</a:t>
            </a:r>
          </a:p>
        </p:txBody>
      </p:sp>
      <p:pic>
        <p:nvPicPr>
          <p:cNvPr id="20" name="Graphic 20" descr="基因符號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" y="2095500"/>
            <a:ext cx="304800" cy="304800"/>
          </a:xfrm>
          <a:prstGeom prst="rect">
            <a:avLst/>
          </a:prstGeom>
        </p:spPr>
      </p:pic>
      <p:pic>
        <p:nvPicPr>
          <p:cNvPr id="21" name="Graphic 21" descr="固定欄位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" y="2933700"/>
            <a:ext cx="304800" cy="304800"/>
          </a:xfrm>
          <a:prstGeom prst="rect">
            <a:avLst/>
          </a:prstGeom>
        </p:spPr>
      </p:pic>
      <p:pic>
        <p:nvPicPr>
          <p:cNvPr id="22" name="Graphic 22" descr="版本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3771900"/>
            <a:ext cx="304800" cy="304800"/>
          </a:xfrm>
          <a:prstGeom prst="rect">
            <a:avLst/>
          </a:prstGeom>
        </p:spPr>
      </p:pic>
      <p:pic>
        <p:nvPicPr>
          <p:cNvPr id="23" name="Graphic 23" descr="changelog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" y="4610100"/>
            <a:ext cx="304800" cy="304800"/>
          </a:xfrm>
          <a:prstGeom prst="rect">
            <a:avLst/>
          </a:prstGeom>
        </p:spPr>
      </p:pic>
      <p:pic>
        <p:nvPicPr>
          <p:cNvPr id="24" name="Graphic 24" descr="通過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2832100"/>
            <a:ext cx="254000" cy="254000"/>
          </a:xfrm>
          <a:prstGeom prst="rect">
            <a:avLst/>
          </a:prstGeom>
        </p:spPr>
      </p:pic>
      <p:pic>
        <p:nvPicPr>
          <p:cNvPr id="25" name="Graphic 25" descr="通過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3390900"/>
            <a:ext cx="254000" cy="254000"/>
          </a:xfrm>
          <a:prstGeom prst="rect">
            <a:avLst/>
          </a:prstGeom>
        </p:spPr>
      </p:pic>
      <p:pic>
        <p:nvPicPr>
          <p:cNvPr id="26" name="Graphic 26" descr="禁止靜默修正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0" y="3949700"/>
            <a:ext cx="254000" cy="254000"/>
          </a:xfrm>
          <a:prstGeom prst="rect">
            <a:avLst/>
          </a:prstGeom>
        </p:spPr>
      </p:pic>
      <p:pic>
        <p:nvPicPr>
          <p:cNvPr id="27" name="Graphic 27" descr="版本紀錄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0" y="45085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7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D90B1F32-5A2F-402E-875F-A84C14FAEC4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EXAMPLE 3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80A98C2F-6089-4013-9186-B3E964062B04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9525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Clinical trial summarizer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F1842C5F-87CF-49A3-A666-143098DC6090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8667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第三個例子聚焦高風險摘要：trial summary 可以幫研究工作，但不能變成招募建議或治療建議。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DE4E0073-63FB-4C2E-A7BA-6F0954A866A5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24/50</a:t>
            </a:r>
          </a:p>
        </p:txBody>
      </p:sp>
    </p:spTree>
    <p:extLst>
      <p:ext uri="{BB962C8B-B14F-4D97-AF65-F5344CB8AC3E}">
        <p14:creationId xmlns:p14="http://schemas.microsoft.com/office/powerpoint/2010/main" val="2480959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yebrow">
            <a:extLst>
              <a:ext uri="{FF2B5EF4-FFF2-40B4-BE49-F238E27FC236}">
                <a16:creationId xmlns:a16="http://schemas.microsoft.com/office/drawing/2014/main" id="{1F4B92EF-A315-4616-999A-D2E34C34846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TRIAL INPUTS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8F572B0-F2FB-4510-B296-90D98EEB44F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Clinical trial summarizer 的 input spec 要鎖定來源與日期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D5EB6285-8E07-4016-A67D-D65E32544334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25/50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6468432A-7D07-4B41-B558-A5A48B9F3E26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809750" cy="419100"/>
          </a:xfrm>
          <a:prstGeom prst="roundRect">
            <a:avLst>
              <a:gd name="adj" fmla="val 9091"/>
            </a:avLst>
          </a:prstGeom>
          <a:solidFill>
            <a:srgbClr val="6B4AA0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30886DEF-125D-4FC8-BA30-BACBC1BE547F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輸入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1C4DC16F-D6DB-494D-854C-74B2D9407669}"/>
              </a:ext>
            </a:extLst>
          </p:cNvPr>
          <p:cNvSpPr>
            <a:spLocks noGrp="1"/>
          </p:cNvSpPr>
          <p:nvPr/>
        </p:nvSpPr>
        <p:spPr>
          <a:xfrm>
            <a:off x="2609850" y="1885950"/>
            <a:ext cx="4762500" cy="419100"/>
          </a:xfrm>
          <a:prstGeom prst="roundRect">
            <a:avLst>
              <a:gd name="adj" fmla="val 9091"/>
            </a:avLst>
          </a:prstGeom>
          <a:solidFill>
            <a:srgbClr val="6B4AA0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CC5FDD1D-316E-4B5A-96A5-AF88B21140F2}"/>
              </a:ext>
            </a:extLst>
          </p:cNvPr>
          <p:cNvSpPr>
            <a:spLocks noGrp="1"/>
          </p:cNvSpPr>
          <p:nvPr/>
        </p:nvSpPr>
        <p:spPr>
          <a:xfrm>
            <a:off x="2724150" y="2000250"/>
            <a:ext cx="453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規則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104992A4-BA9F-4325-BE30-679AD1C684C9}"/>
              </a:ext>
            </a:extLst>
          </p:cNvPr>
          <p:cNvSpPr>
            <a:spLocks noGrp="1"/>
          </p:cNvSpPr>
          <p:nvPr/>
        </p:nvSpPr>
        <p:spPr>
          <a:xfrm>
            <a:off x="7372350" y="1885950"/>
            <a:ext cx="3810000" cy="419100"/>
          </a:xfrm>
          <a:prstGeom prst="roundRect">
            <a:avLst>
              <a:gd name="adj" fmla="val 9091"/>
            </a:avLst>
          </a:prstGeom>
          <a:solidFill>
            <a:srgbClr val="6B4AA0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BD55FBFF-BA63-41A9-A81B-2CDD43423B47}"/>
              </a:ext>
            </a:extLst>
          </p:cNvPr>
          <p:cNvSpPr>
            <a:spLocks noGrp="1"/>
          </p:cNvSpPr>
          <p:nvPr/>
        </p:nvSpPr>
        <p:spPr>
          <a:xfrm>
            <a:off x="7486650" y="2000250"/>
            <a:ext cx="358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風險控制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B0533E12-CFCD-40B1-8484-F32CCF5EA487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809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A7C21FD0-3585-446A-8960-E45EDFF32D25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nct_id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CB00BA81-339F-4EE0-A36D-49CC5358719A}"/>
              </a:ext>
            </a:extLst>
          </p:cNvPr>
          <p:cNvSpPr>
            <a:spLocks noGrp="1"/>
          </p:cNvSpPr>
          <p:nvPr/>
        </p:nvSpPr>
        <p:spPr>
          <a:xfrm>
            <a:off x="2609850" y="2305050"/>
            <a:ext cx="47625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02347511-7574-43D4-993B-B62373321F33}"/>
              </a:ext>
            </a:extLst>
          </p:cNvPr>
          <p:cNvSpPr>
            <a:spLocks noGrp="1"/>
          </p:cNvSpPr>
          <p:nvPr/>
        </p:nvSpPr>
        <p:spPr>
          <a:xfrm>
            <a:off x="2724150" y="240030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必填；格式 `NCT` + 8 digits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74125EC1-D32A-4714-87B3-06D84D3AF018}"/>
              </a:ext>
            </a:extLst>
          </p:cNvPr>
          <p:cNvSpPr>
            <a:spLocks noGrp="1"/>
          </p:cNvSpPr>
          <p:nvPr/>
        </p:nvSpPr>
        <p:spPr>
          <a:xfrm>
            <a:off x="7372350" y="2305050"/>
            <a:ext cx="3810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A6FC170A-5050-470E-ABC0-3D9CB7FDD31A}"/>
              </a:ext>
            </a:extLst>
          </p:cNvPr>
          <p:cNvSpPr>
            <a:spLocks noGrp="1"/>
          </p:cNvSpPr>
          <p:nvPr/>
        </p:nvSpPr>
        <p:spPr>
          <a:xfrm>
            <a:off x="7486650" y="2400300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避免錯 trial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D70D7CA0-81EF-4167-A9EF-C4ED4178A8E6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1809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C2F681C4-0AE6-4FE3-B09F-4417923C6343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source_record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5560AD4E-6F45-420A-BFE3-E394D9871D89}"/>
              </a:ext>
            </a:extLst>
          </p:cNvPr>
          <p:cNvSpPr>
            <a:spLocks noGrp="1"/>
          </p:cNvSpPr>
          <p:nvPr/>
        </p:nvSpPr>
        <p:spPr>
          <a:xfrm>
            <a:off x="2609850" y="2857500"/>
            <a:ext cx="47625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76FA5B91-E785-4F79-B530-DAF5B9A0C1FF}"/>
              </a:ext>
            </a:extLst>
          </p:cNvPr>
          <p:cNvSpPr>
            <a:spLocks noGrp="1"/>
          </p:cNvSpPr>
          <p:nvPr/>
        </p:nvSpPr>
        <p:spPr>
          <a:xfrm>
            <a:off x="2724150" y="295275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ClinicalTrials.gov record 或本地 JSON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4DDEBFC4-9A54-4E3E-87DF-E26A53CE61D9}"/>
              </a:ext>
            </a:extLst>
          </p:cNvPr>
          <p:cNvSpPr>
            <a:spLocks noGrp="1"/>
          </p:cNvSpPr>
          <p:nvPr/>
        </p:nvSpPr>
        <p:spPr>
          <a:xfrm>
            <a:off x="7372350" y="2857500"/>
            <a:ext cx="3810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7F759D77-D45A-4096-AE31-3271CFD5ABEC}"/>
              </a:ext>
            </a:extLst>
          </p:cNvPr>
          <p:cNvSpPr>
            <a:spLocks noGrp="1"/>
          </p:cNvSpPr>
          <p:nvPr/>
        </p:nvSpPr>
        <p:spPr>
          <a:xfrm>
            <a:off x="7486650" y="2952750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不靠模型記憶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546251E0-C528-4692-9DF1-9AE1668B8C64}"/>
              </a:ext>
            </a:extLst>
          </p:cNvPr>
          <p:cNvSpPr>
            <a:spLocks noGrp="1"/>
          </p:cNvSpPr>
          <p:nvPr/>
        </p:nvSpPr>
        <p:spPr>
          <a:xfrm>
            <a:off x="800100" y="3409950"/>
            <a:ext cx="1809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E3890883-477F-4DF6-9A0E-C5EE6409742A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retrieved_date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522AD28A-9454-41FF-8CAA-D301D234E8EE}"/>
              </a:ext>
            </a:extLst>
          </p:cNvPr>
          <p:cNvSpPr>
            <a:spLocks noGrp="1"/>
          </p:cNvSpPr>
          <p:nvPr/>
        </p:nvSpPr>
        <p:spPr>
          <a:xfrm>
            <a:off x="2609850" y="3409950"/>
            <a:ext cx="47625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5D0989F6-9A31-4599-8AC2-50E078C320F0}"/>
              </a:ext>
            </a:extLst>
          </p:cNvPr>
          <p:cNvSpPr>
            <a:spLocks noGrp="1"/>
          </p:cNvSpPr>
          <p:nvPr/>
        </p:nvSpPr>
        <p:spPr>
          <a:xfrm>
            <a:off x="2724150" y="350520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必填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2334AF45-D631-401F-BB72-F0E2C2ECF1EB}"/>
              </a:ext>
            </a:extLst>
          </p:cNvPr>
          <p:cNvSpPr>
            <a:spLocks noGrp="1"/>
          </p:cNvSpPr>
          <p:nvPr/>
        </p:nvSpPr>
        <p:spPr>
          <a:xfrm>
            <a:off x="7372350" y="3409950"/>
            <a:ext cx="3810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856E574B-852E-4669-BB6B-F96D08ED39CC}"/>
              </a:ext>
            </a:extLst>
          </p:cNvPr>
          <p:cNvSpPr>
            <a:spLocks noGrp="1"/>
          </p:cNvSpPr>
          <p:nvPr/>
        </p:nvSpPr>
        <p:spPr>
          <a:xfrm>
            <a:off x="7486650" y="3505200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狀態會變動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939868FF-F674-491A-819C-04484A2DD6A6}"/>
              </a:ext>
            </a:extLst>
          </p:cNvPr>
          <p:cNvSpPr>
            <a:spLocks noGrp="1"/>
          </p:cNvSpPr>
          <p:nvPr/>
        </p:nvSpPr>
        <p:spPr>
          <a:xfrm>
            <a:off x="800100" y="3962400"/>
            <a:ext cx="18097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77B37DB2-12C1-4922-895C-A2F1489590AE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summary_scope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811E60EC-41E2-4DDB-80C5-AF8F5A43320B}"/>
              </a:ext>
            </a:extLst>
          </p:cNvPr>
          <p:cNvSpPr>
            <a:spLocks noGrp="1"/>
          </p:cNvSpPr>
          <p:nvPr/>
        </p:nvSpPr>
        <p:spPr>
          <a:xfrm>
            <a:off x="2609850" y="3962400"/>
            <a:ext cx="47625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1167CC14-3BF3-4054-BF40-80FE0D729071}"/>
              </a:ext>
            </a:extLst>
          </p:cNvPr>
          <p:cNvSpPr>
            <a:spLocks noGrp="1"/>
          </p:cNvSpPr>
          <p:nvPr/>
        </p:nvSpPr>
        <p:spPr>
          <a:xfrm>
            <a:off x="2724150" y="405765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status、phase、criteria、intervention、outcomes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3F749DAC-A231-4D79-9BAF-D75A06B3D58A}"/>
              </a:ext>
            </a:extLst>
          </p:cNvPr>
          <p:cNvSpPr>
            <a:spLocks noGrp="1"/>
          </p:cNvSpPr>
          <p:nvPr/>
        </p:nvSpPr>
        <p:spPr>
          <a:xfrm>
            <a:off x="7372350" y="3962400"/>
            <a:ext cx="3810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D892784C-BA5A-4D6B-B12C-4AF603A457DB}"/>
              </a:ext>
            </a:extLst>
          </p:cNvPr>
          <p:cNvSpPr>
            <a:spLocks noGrp="1"/>
          </p:cNvSpPr>
          <p:nvPr/>
        </p:nvSpPr>
        <p:spPr>
          <a:xfrm>
            <a:off x="7486650" y="4057650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避免亂擴充</a:t>
            </a:r>
          </a:p>
        </p:txBody>
      </p:sp>
      <p:sp>
        <p:nvSpPr>
          <p:cNvPr id="34" name="cell-4-0">
            <a:extLst>
              <a:ext uri="{FF2B5EF4-FFF2-40B4-BE49-F238E27FC236}">
                <a16:creationId xmlns:a16="http://schemas.microsoft.com/office/drawing/2014/main" id="{6BA6BBFC-6B19-4F4C-8627-BF5E17B7F3C1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1809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cell-text-4-0">
            <a:extLst>
              <a:ext uri="{FF2B5EF4-FFF2-40B4-BE49-F238E27FC236}">
                <a16:creationId xmlns:a16="http://schemas.microsoft.com/office/drawing/2014/main" id="{ADE606AC-8C0E-4769-BBAF-941723246AA1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audience</a:t>
            </a:r>
          </a:p>
        </p:txBody>
      </p:sp>
      <p:sp>
        <p:nvSpPr>
          <p:cNvPr id="36" name="cell-4-1">
            <a:extLst>
              <a:ext uri="{FF2B5EF4-FFF2-40B4-BE49-F238E27FC236}">
                <a16:creationId xmlns:a16="http://schemas.microsoft.com/office/drawing/2014/main" id="{46DCB9D3-C59E-4AF7-8DA5-C6F58844BB30}"/>
              </a:ext>
            </a:extLst>
          </p:cNvPr>
          <p:cNvSpPr>
            <a:spLocks noGrp="1"/>
          </p:cNvSpPr>
          <p:nvPr/>
        </p:nvSpPr>
        <p:spPr>
          <a:xfrm>
            <a:off x="2609850" y="4514850"/>
            <a:ext cx="47625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cell-text-4-1">
            <a:extLst>
              <a:ext uri="{FF2B5EF4-FFF2-40B4-BE49-F238E27FC236}">
                <a16:creationId xmlns:a16="http://schemas.microsoft.com/office/drawing/2014/main" id="{0E0907DB-E315-48B9-BA03-C1DE3760E7F2}"/>
              </a:ext>
            </a:extLst>
          </p:cNvPr>
          <p:cNvSpPr>
            <a:spLocks noGrp="1"/>
          </p:cNvSpPr>
          <p:nvPr/>
        </p:nvSpPr>
        <p:spPr>
          <a:xfrm>
            <a:off x="2724150" y="461010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research note only</a:t>
            </a:r>
          </a:p>
        </p:txBody>
      </p:sp>
      <p:sp>
        <p:nvSpPr>
          <p:cNvPr id="38" name="cell-4-2">
            <a:extLst>
              <a:ext uri="{FF2B5EF4-FFF2-40B4-BE49-F238E27FC236}">
                <a16:creationId xmlns:a16="http://schemas.microsoft.com/office/drawing/2014/main" id="{79718763-F937-443B-ADC4-8A2C24DDE1CA}"/>
              </a:ext>
            </a:extLst>
          </p:cNvPr>
          <p:cNvSpPr>
            <a:spLocks noGrp="1"/>
          </p:cNvSpPr>
          <p:nvPr/>
        </p:nvSpPr>
        <p:spPr>
          <a:xfrm>
            <a:off x="7372350" y="4514850"/>
            <a:ext cx="3810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cell-text-4-2">
            <a:extLst>
              <a:ext uri="{FF2B5EF4-FFF2-40B4-BE49-F238E27FC236}">
                <a16:creationId xmlns:a16="http://schemas.microsoft.com/office/drawing/2014/main" id="{607BAF0E-836E-437F-AA6E-907C22043D04}"/>
              </a:ext>
            </a:extLst>
          </p:cNvPr>
          <p:cNvSpPr>
            <a:spLocks noGrp="1"/>
          </p:cNvSpPr>
          <p:nvPr/>
        </p:nvSpPr>
        <p:spPr>
          <a:xfrm>
            <a:off x="7486650" y="4610100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避免臨床建議</a:t>
            </a:r>
          </a:p>
        </p:txBody>
      </p:sp>
    </p:spTree>
    <p:extLst>
      <p:ext uri="{BB962C8B-B14F-4D97-AF65-F5344CB8AC3E}">
        <p14:creationId xmlns:p14="http://schemas.microsoft.com/office/powerpoint/2010/main" val="1154435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C6A4179E-EB71-40B0-B38B-741502DBBD3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TRIAL OUTPUT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B132B2C-65DB-406E-9096-E6D4813B2E85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Trial summary 要保留 eligibility 與 status 的原始依據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30943F76-3F3C-4FC4-94A9-3F1F310786F1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26/50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F187A304-1250-4930-A66A-B6200D3994C1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Output schema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BDEEF27C-2778-46E8-B2CD-5BA955368802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287655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DFEE8AEC-2C81-4336-8EA1-DCEFFE3CBCCE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nct_id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official_title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phase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recruitment_status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condition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interventions[]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primary_outcomes[]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inclusion_summary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exclusion_summary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source_fields[]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retrieved_date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review_status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FD463A0C-1060-4B31-B02C-2F58D84810BD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9764B1CC-4341-4B02-BD66-EC70ADC138CE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必要規則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616508B2-DDC1-4CE8-A948-63585D154D8A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status 不得憑記憶更新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criteria summary 要標 source_fields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不得寫病人適不適合參加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高風險解讀標 needs_review</a:t>
            </a:r>
          </a:p>
        </p:txBody>
      </p:sp>
    </p:spTree>
    <p:extLst>
      <p:ext uri="{BB962C8B-B14F-4D97-AF65-F5344CB8AC3E}">
        <p14:creationId xmlns:p14="http://schemas.microsoft.com/office/powerpoint/2010/main" val="1834600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904C68FE-9857-4B18-9AB1-0CC8500F5CA3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TRIAL ERRORS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42ED96-B16C-4841-B57A-CE8F71B12D53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Trial summarizer 的錯誤處理要比一般摘要更嚴格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EBF3ADA0-88DB-4BAE-939F-5E943AE458F9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27/50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02B23786-F668-4551-B2C7-3C41A32B07F9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905000" cy="419100"/>
          </a:xfrm>
          <a:prstGeom prst="roundRect">
            <a:avLst>
              <a:gd name="adj" fmla="val 9091"/>
            </a:avLst>
          </a:prstGeom>
          <a:solidFill>
            <a:srgbClr val="C85A4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848166DC-9A19-46B8-991B-CEC236D04A75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錯誤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F509057D-426B-4915-8D19-D74BE72D42F7}"/>
              </a:ext>
            </a:extLst>
          </p:cNvPr>
          <p:cNvSpPr>
            <a:spLocks noGrp="1"/>
          </p:cNvSpPr>
          <p:nvPr/>
        </p:nvSpPr>
        <p:spPr>
          <a:xfrm>
            <a:off x="2705100" y="1885950"/>
            <a:ext cx="3714750" cy="419100"/>
          </a:xfrm>
          <a:prstGeom prst="roundRect">
            <a:avLst>
              <a:gd name="adj" fmla="val 9091"/>
            </a:avLst>
          </a:prstGeom>
          <a:solidFill>
            <a:srgbClr val="C85A4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603B4D01-C1F5-4B42-9F22-7F0EB434D43F}"/>
              </a:ext>
            </a:extLst>
          </p:cNvPr>
          <p:cNvSpPr>
            <a:spLocks noGrp="1"/>
          </p:cNvSpPr>
          <p:nvPr/>
        </p:nvSpPr>
        <p:spPr>
          <a:xfrm>
            <a:off x="2819400" y="2000250"/>
            <a:ext cx="3486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輸出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437DCC4C-9955-4997-A0D1-F3749EB9F248}"/>
              </a:ext>
            </a:extLst>
          </p:cNvPr>
          <p:cNvSpPr>
            <a:spLocks noGrp="1"/>
          </p:cNvSpPr>
          <p:nvPr/>
        </p:nvSpPr>
        <p:spPr>
          <a:xfrm>
            <a:off x="6419850" y="1885950"/>
            <a:ext cx="4762500" cy="419100"/>
          </a:xfrm>
          <a:prstGeom prst="roundRect">
            <a:avLst>
              <a:gd name="adj" fmla="val 9091"/>
            </a:avLst>
          </a:prstGeom>
          <a:solidFill>
            <a:srgbClr val="C85A4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E5599FCF-BFD1-4401-9CBD-423FF7BEE9E8}"/>
              </a:ext>
            </a:extLst>
          </p:cNvPr>
          <p:cNvSpPr>
            <a:spLocks noGrp="1"/>
          </p:cNvSpPr>
          <p:nvPr/>
        </p:nvSpPr>
        <p:spPr>
          <a:xfrm>
            <a:off x="6534150" y="2000250"/>
            <a:ext cx="453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不能做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37DC8DDC-8EF7-4991-A5AD-674C0CA75BA9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9050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2FFCE93E-2B33-4BF5-B11C-9C7572F3D5AF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676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找不到 NCT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DCA5C082-7254-40D4-B5B6-4D70951FC20C}"/>
              </a:ext>
            </a:extLst>
          </p:cNvPr>
          <p:cNvSpPr>
            <a:spLocks noGrp="1"/>
          </p:cNvSpPr>
          <p:nvPr/>
        </p:nvSpPr>
        <p:spPr>
          <a:xfrm>
            <a:off x="2705100" y="2305050"/>
            <a:ext cx="37147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E3BA59C5-84B8-4F68-80E8-55038924F7E3}"/>
              </a:ext>
            </a:extLst>
          </p:cNvPr>
          <p:cNvSpPr>
            <a:spLocks noGrp="1"/>
          </p:cNvSpPr>
          <p:nvPr/>
        </p:nvSpPr>
        <p:spPr>
          <a:xfrm>
            <a:off x="2819400" y="240030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status = not_found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20DFD6EE-22FC-4E6B-BA63-05D0BB612A96}"/>
              </a:ext>
            </a:extLst>
          </p:cNvPr>
          <p:cNvSpPr>
            <a:spLocks noGrp="1"/>
          </p:cNvSpPr>
          <p:nvPr/>
        </p:nvSpPr>
        <p:spPr>
          <a:xfrm>
            <a:off x="6419850" y="230505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92366898-CD06-48ED-88B0-72D6D820C4FB}"/>
              </a:ext>
            </a:extLst>
          </p:cNvPr>
          <p:cNvSpPr>
            <a:spLocks noGrp="1"/>
          </p:cNvSpPr>
          <p:nvPr/>
        </p:nvSpPr>
        <p:spPr>
          <a:xfrm>
            <a:off x="6534150" y="240030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自行產生 trial title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083191D7-75BD-4AAB-9451-1AFC80255F96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19050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8F59F030-7F1C-4C55-B336-93414641A56B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1676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欄位缺失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BFF3F6BB-4785-47EA-B50B-BB1DE84A1CC6}"/>
              </a:ext>
            </a:extLst>
          </p:cNvPr>
          <p:cNvSpPr>
            <a:spLocks noGrp="1"/>
          </p:cNvSpPr>
          <p:nvPr/>
        </p:nvSpPr>
        <p:spPr>
          <a:xfrm>
            <a:off x="2705100" y="2933700"/>
            <a:ext cx="37147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25DB48C0-8AB0-43ED-B8A0-AF792ECA52C4}"/>
              </a:ext>
            </a:extLst>
          </p:cNvPr>
          <p:cNvSpPr>
            <a:spLocks noGrp="1"/>
          </p:cNvSpPr>
          <p:nvPr/>
        </p:nvSpPr>
        <p:spPr>
          <a:xfrm>
            <a:off x="2819400" y="302895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field_status = missing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B1932171-BB97-434B-986F-D85AC35C4702}"/>
              </a:ext>
            </a:extLst>
          </p:cNvPr>
          <p:cNvSpPr>
            <a:spLocks noGrp="1"/>
          </p:cNvSpPr>
          <p:nvPr/>
        </p:nvSpPr>
        <p:spPr>
          <a:xfrm>
            <a:off x="6419850" y="293370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BE5DF91B-34F7-45CD-89E2-84F4F8382EEB}"/>
              </a:ext>
            </a:extLst>
          </p:cNvPr>
          <p:cNvSpPr>
            <a:spLocks noGrp="1"/>
          </p:cNvSpPr>
          <p:nvPr/>
        </p:nvSpPr>
        <p:spPr>
          <a:xfrm>
            <a:off x="6534150" y="302895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用常識補 eligibility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A9A512E4-14E5-41C5-BF9D-2B7DC1548A8F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19050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455F916D-3F96-43ED-9FE6-BA1BBE0EEB19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676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多版本衝突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AC5D655A-D601-4EDB-9D65-8F352543D17A}"/>
              </a:ext>
            </a:extLst>
          </p:cNvPr>
          <p:cNvSpPr>
            <a:spLocks noGrp="1"/>
          </p:cNvSpPr>
          <p:nvPr/>
        </p:nvSpPr>
        <p:spPr>
          <a:xfrm>
            <a:off x="2705100" y="3562350"/>
            <a:ext cx="37147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7AB887D8-332E-41E6-BF5F-5FF318AE1EC7}"/>
              </a:ext>
            </a:extLst>
          </p:cNvPr>
          <p:cNvSpPr>
            <a:spLocks noGrp="1"/>
          </p:cNvSpPr>
          <p:nvPr/>
        </p:nvSpPr>
        <p:spPr>
          <a:xfrm>
            <a:off x="2819400" y="365760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status = conflicting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4849403B-39B2-49BC-9A67-3EA23A7AD076}"/>
              </a:ext>
            </a:extLst>
          </p:cNvPr>
          <p:cNvSpPr>
            <a:spLocks noGrp="1"/>
          </p:cNvSpPr>
          <p:nvPr/>
        </p:nvSpPr>
        <p:spPr>
          <a:xfrm>
            <a:off x="6419850" y="356235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2E07CF82-D285-48B5-8FDA-A748B888D331}"/>
              </a:ext>
            </a:extLst>
          </p:cNvPr>
          <p:cNvSpPr>
            <a:spLocks noGrp="1"/>
          </p:cNvSpPr>
          <p:nvPr/>
        </p:nvSpPr>
        <p:spPr>
          <a:xfrm>
            <a:off x="6534150" y="365760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只選一個版本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AE6275A0-69F5-4218-871E-D98235574F66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19050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946BDE04-CA78-4947-9C16-BEF83F89E7DB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1676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PII 出現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F04648FB-22D0-4C67-B580-18FE9CA53196}"/>
              </a:ext>
            </a:extLst>
          </p:cNvPr>
          <p:cNvSpPr>
            <a:spLocks noGrp="1"/>
          </p:cNvSpPr>
          <p:nvPr/>
        </p:nvSpPr>
        <p:spPr>
          <a:xfrm>
            <a:off x="2705100" y="4191000"/>
            <a:ext cx="37147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D9768FE3-CD28-4BA1-9C4E-ECF478923A2E}"/>
              </a:ext>
            </a:extLst>
          </p:cNvPr>
          <p:cNvSpPr>
            <a:spLocks noGrp="1"/>
          </p:cNvSpPr>
          <p:nvPr/>
        </p:nvSpPr>
        <p:spPr>
          <a:xfrm>
            <a:off x="2819400" y="428625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stop_and_report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AD4BB7E8-74AC-49B3-9C89-F767166E1334}"/>
              </a:ext>
            </a:extLst>
          </p:cNvPr>
          <p:cNvSpPr>
            <a:spLocks noGrp="1"/>
          </p:cNvSpPr>
          <p:nvPr/>
        </p:nvSpPr>
        <p:spPr>
          <a:xfrm>
            <a:off x="6419850" y="419100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7ECD6C77-29F6-4219-9F8C-3A8271A20A5A}"/>
              </a:ext>
            </a:extLst>
          </p:cNvPr>
          <p:cNvSpPr>
            <a:spLocks noGrp="1"/>
          </p:cNvSpPr>
          <p:nvPr/>
        </p:nvSpPr>
        <p:spPr>
          <a:xfrm>
            <a:off x="6534150" y="428625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繼續摘要或外傳資料</a:t>
            </a:r>
          </a:p>
        </p:txBody>
      </p:sp>
    </p:spTree>
    <p:extLst>
      <p:ext uri="{BB962C8B-B14F-4D97-AF65-F5344CB8AC3E}">
        <p14:creationId xmlns:p14="http://schemas.microsoft.com/office/powerpoint/2010/main" val="2839555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BEC4A42D-F21F-4B5E-B4C4-D8D21EB6185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TRIAL VALIDATION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418BC1D-9B78-4E6D-9C42-AAEE86E1BD6E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Clinical trial summary 的驗收標準要防止過度推論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AAF9D74C-1E0F-4D9A-B955-61DB44741C03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28/50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AF0F49E8-2DA2-4DFC-A9BB-EF3FC587F0AC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386F3B73-C4DB-46C1-A66D-97A74D69A193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Validation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78D699-D82F-6A44-B4AC-E5801AD078E2}"/>
              </a:ext>
            </a:extLst>
          </p:cNvPr>
          <p:cNvSpPr txBox="1"/>
          <p:nvPr/>
        </p:nvSpPr>
        <p:spPr>
          <a:xfrm>
            <a:off x="1333500" y="20447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每個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summary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欄位都能追到原始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JSON path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或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source field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6063DD0-1D06-6D4F-A6C5-2D3DDF8A1290}"/>
              </a:ext>
            </a:extLst>
          </p:cNvPr>
          <p:cNvSpPr txBox="1"/>
          <p:nvPr/>
        </p:nvSpPr>
        <p:spPr>
          <a:xfrm>
            <a:off x="1333500" y="28829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650">
                <a:solidFill>
                  <a:srgbClr val="17202A"/>
                </a:solidFill>
                <a:latin typeface="PingFang TC"/>
              </a:rPr>
              <a:t>NCT ID format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錯誤時必須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fail fast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E1E7611-5053-FC43-9337-EC3232893550}"/>
              </a:ext>
            </a:extLst>
          </p:cNvPr>
          <p:cNvSpPr txBox="1"/>
          <p:nvPr/>
        </p:nvSpPr>
        <p:spPr>
          <a:xfrm>
            <a:off x="1333500" y="37211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650">
                <a:solidFill>
                  <a:srgbClr val="17202A"/>
                </a:solidFill>
                <a:latin typeface="PingFang TC"/>
              </a:rPr>
              <a:t>recruitment status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必須與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retrieved record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一致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E248947-06EF-AA41-A62C-F68DFBDBD07A}"/>
              </a:ext>
            </a:extLst>
          </p:cNvPr>
          <p:cNvSpPr txBox="1"/>
          <p:nvPr/>
        </p:nvSpPr>
        <p:spPr>
          <a:xfrm>
            <a:off x="1333500" y="45593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不得產生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eligibility recommendation </a:t>
            </a:r>
            <a:r>
              <a:rPr lang="zh-TW" altLang="en-US" sz="1650">
                <a:solidFill>
                  <a:srgbClr val="17202A"/>
                </a:solidFill>
                <a:latin typeface="PingFang TC"/>
              </a:rPr>
              <a:t>或 </a:t>
            </a:r>
            <a:r>
              <a:rPr lang="en" altLang="zh-TW" sz="1650">
                <a:solidFill>
                  <a:srgbClr val="17202A"/>
                </a:solidFill>
                <a:latin typeface="PingFang TC"/>
              </a:rPr>
              <a:t>treatment recommendation</a:t>
            </a:r>
            <a:endParaRPr lang="zh-TW" altLang="en-US" sz="16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212AACE-415C-3148-BCB6-7B0190A99C24}"/>
              </a:ext>
            </a:extLst>
          </p:cNvPr>
          <p:cNvSpPr txBox="1"/>
          <p:nvPr/>
        </p:nvSpPr>
        <p:spPr>
          <a:xfrm>
            <a:off x="7493000" y="27813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JSON schema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9AF1D4F-00A7-B347-9546-5A5D51B6A202}"/>
              </a:ext>
            </a:extLst>
          </p:cNvPr>
          <p:cNvSpPr txBox="1"/>
          <p:nvPr/>
        </p:nvSpPr>
        <p:spPr>
          <a:xfrm>
            <a:off x="7493000" y="33401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field trace check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7370120-BB97-0E44-BF6F-89CFCEF83BE7}"/>
              </a:ext>
            </a:extLst>
          </p:cNvPr>
          <p:cNvSpPr txBox="1"/>
          <p:nvPr/>
        </p:nvSpPr>
        <p:spPr>
          <a:xfrm>
            <a:off x="7493000" y="38989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negative fixtures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8CC166D-530F-D140-80FA-8A0CE0B4FA28}"/>
              </a:ext>
            </a:extLst>
          </p:cNvPr>
          <p:cNvSpPr txBox="1"/>
          <p:nvPr/>
        </p:nvSpPr>
        <p:spPr>
          <a:xfrm>
            <a:off x="7493000" y="44577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human review gate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B39D6C44-FCC8-CF45-BA61-775BE2219D2E}"/>
              </a:ext>
            </a:extLst>
          </p:cNvPr>
          <p:cNvSpPr/>
          <p:nvPr/>
        </p:nvSpPr>
        <p:spPr>
          <a:xfrm>
            <a:off x="876300" y="5562600"/>
            <a:ext cx="9766300" cy="609600"/>
          </a:xfrm>
          <a:prstGeom prst="roundRect">
            <a:avLst/>
          </a:prstGeom>
          <a:solidFill>
            <a:srgbClr val="FDEDE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7E7DFA-61A8-DE49-A110-4463733B7AA4}"/>
              </a:ext>
            </a:extLst>
          </p:cNvPr>
          <p:cNvSpPr/>
          <p:nvPr/>
        </p:nvSpPr>
        <p:spPr>
          <a:xfrm>
            <a:off x="876300" y="5562600"/>
            <a:ext cx="50800" cy="609600"/>
          </a:xfrm>
          <a:prstGeom prst="rect">
            <a:avLst/>
          </a:prstGeom>
          <a:solidFill>
            <a:srgbClr val="C85A4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3BC22E4-6C64-5748-B4A5-5271D765BC61}"/>
              </a:ext>
            </a:extLst>
          </p:cNvPr>
          <p:cNvSpPr txBox="1"/>
          <p:nvPr/>
        </p:nvSpPr>
        <p:spPr>
          <a:xfrm>
            <a:off x="1181100" y="5562600"/>
            <a:ext cx="9271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zh-TW" sz="1500" b="1">
                <a:solidFill>
                  <a:srgbClr val="C85A4A"/>
                </a:solidFill>
                <a:latin typeface="PingFang TC"/>
              </a:rPr>
              <a:t>clinical trial </a:t>
            </a:r>
            <a:r>
              <a:rPr lang="zh-TW" altLang="en-US" sz="1500" b="1">
                <a:solidFill>
                  <a:srgbClr val="C85A4A"/>
                </a:solidFill>
                <a:latin typeface="PingFang TC"/>
              </a:rPr>
              <a:t>工具寧可 </a:t>
            </a:r>
            <a:r>
              <a:rPr lang="en" altLang="zh-TW" sz="1500" b="1">
                <a:solidFill>
                  <a:srgbClr val="C85A4A"/>
                </a:solidFill>
                <a:latin typeface="PingFang TC"/>
              </a:rPr>
              <a:t>fail fast</a:t>
            </a:r>
            <a:r>
              <a:rPr lang="zh-TW" altLang="en" sz="1500" b="1">
                <a:solidFill>
                  <a:srgbClr val="C85A4A"/>
                </a:solidFill>
                <a:latin typeface="PingFang TC"/>
              </a:rPr>
              <a:t>，</a:t>
            </a:r>
            <a:r>
              <a:rPr lang="zh-TW" altLang="en-US" sz="1500" b="1">
                <a:solidFill>
                  <a:srgbClr val="C85A4A"/>
                </a:solidFill>
                <a:latin typeface="PingFang TC"/>
              </a:rPr>
              <a:t>也不要生成臨床建議</a:t>
            </a:r>
          </a:p>
        </p:txBody>
      </p:sp>
      <p:pic>
        <p:nvPicPr>
          <p:cNvPr id="20" name="Graphic 20" descr="追溯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" y="2095500"/>
            <a:ext cx="304800" cy="304800"/>
          </a:xfrm>
          <a:prstGeom prst="rect">
            <a:avLst/>
          </a:prstGeom>
        </p:spPr>
      </p:pic>
      <p:pic>
        <p:nvPicPr>
          <p:cNvPr id="21" name="Graphic 21" descr="fail fast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" y="2933700"/>
            <a:ext cx="304800" cy="304800"/>
          </a:xfrm>
          <a:prstGeom prst="rect">
            <a:avLst/>
          </a:prstGeom>
        </p:spPr>
      </p:pic>
      <p:pic>
        <p:nvPicPr>
          <p:cNvPr id="22" name="Graphic 22" descr="一致性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3771900"/>
            <a:ext cx="304800" cy="304800"/>
          </a:xfrm>
          <a:prstGeom prst="rect">
            <a:avLst/>
          </a:prstGeom>
        </p:spPr>
      </p:pic>
      <p:pic>
        <p:nvPicPr>
          <p:cNvPr id="23" name="Graphic 23" descr="禁止建議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" y="4610100"/>
            <a:ext cx="304800" cy="304800"/>
          </a:xfrm>
          <a:prstGeom prst="rect">
            <a:avLst/>
          </a:prstGeom>
        </p:spPr>
      </p:pic>
      <p:pic>
        <p:nvPicPr>
          <p:cNvPr id="24" name="Graphic 24" descr="schema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2832100"/>
            <a:ext cx="254000" cy="254000"/>
          </a:xfrm>
          <a:prstGeom prst="rect">
            <a:avLst/>
          </a:prstGeom>
        </p:spPr>
      </p:pic>
      <p:pic>
        <p:nvPicPr>
          <p:cNvPr id="25" name="Graphic 25" descr="追蹤檢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0" y="3390900"/>
            <a:ext cx="254000" cy="254000"/>
          </a:xfrm>
          <a:prstGeom prst="rect">
            <a:avLst/>
          </a:prstGeom>
        </p:spPr>
      </p:pic>
      <p:pic>
        <p:nvPicPr>
          <p:cNvPr id="26" name="Graphic 26" descr="負向測試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3949700"/>
            <a:ext cx="254000" cy="254000"/>
          </a:xfrm>
          <a:prstGeom prst="rect">
            <a:avLst/>
          </a:prstGeom>
        </p:spPr>
      </p:pic>
      <p:pic>
        <p:nvPicPr>
          <p:cNvPr id="27" name="Graphic 27" descr="人工審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2000" y="45085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8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A2B58CED-6E6A-48EB-85E2-BDC554BA78E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202D657C-32E9-4EF8-A1F6-294CF784B1D7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9525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Spec Kit、OpenSpec、Spectra 是 scaffold，不是答案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9B92FE3B-9947-464E-886B-B0110C052A5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8667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工具可以幫你產出 constitution、spec、plan、tasks，也可以追蹤進度；但 biomedical source、review gate、not found rule 必須由我們定義。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84E5429A-5875-4216-804B-619810FF6FD4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29/50</a:t>
            </a:r>
          </a:p>
        </p:txBody>
      </p:sp>
    </p:spTree>
    <p:extLst>
      <p:ext uri="{BB962C8B-B14F-4D97-AF65-F5344CB8AC3E}">
        <p14:creationId xmlns:p14="http://schemas.microsoft.com/office/powerpoint/2010/main" val="4011479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">
            <a:extLst>
              <a:ext uri="{FF2B5EF4-FFF2-40B4-BE49-F238E27FC236}">
                <a16:creationId xmlns:a16="http://schemas.microsoft.com/office/drawing/2014/main" id="{0D2163CC-CA97-43CA-906A-C6099852180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SDD TOOLING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04ACA63-BF1D-4C56-94BC-68767BA6E29D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不同 SDD 工具都在解同一個問題：讓需求、設計與任務可追蹤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75B12CD-EC1A-4DDF-BE97-B57569779523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30/50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BA8AA15C-9A0A-4E4D-9753-35E3EB012C7E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71450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50E6D648-0A57-4F53-B319-635D62F0F362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工具或概念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A9E5F50C-3149-472C-846C-FBC6A5E383D8}"/>
              </a:ext>
            </a:extLst>
          </p:cNvPr>
          <p:cNvSpPr>
            <a:spLocks noGrp="1"/>
          </p:cNvSpPr>
          <p:nvPr/>
        </p:nvSpPr>
        <p:spPr>
          <a:xfrm>
            <a:off x="2514600" y="1885950"/>
            <a:ext cx="476250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CB73E5AB-770C-4190-A729-D435C7DFEAAD}"/>
              </a:ext>
            </a:extLst>
          </p:cNvPr>
          <p:cNvSpPr>
            <a:spLocks noGrp="1"/>
          </p:cNvSpPr>
          <p:nvPr/>
        </p:nvSpPr>
        <p:spPr>
          <a:xfrm>
            <a:off x="2628900" y="2000250"/>
            <a:ext cx="453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課堂採用的想法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694131F4-7D97-49F8-906C-B036C7305EAF}"/>
              </a:ext>
            </a:extLst>
          </p:cNvPr>
          <p:cNvSpPr>
            <a:spLocks noGrp="1"/>
          </p:cNvSpPr>
          <p:nvPr/>
        </p:nvSpPr>
        <p:spPr>
          <a:xfrm>
            <a:off x="7277100" y="1885950"/>
            <a:ext cx="390525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3BE90656-BA1C-45CB-85A8-C2E1D2AB462A}"/>
              </a:ext>
            </a:extLst>
          </p:cNvPr>
          <p:cNvSpPr>
            <a:spLocks noGrp="1"/>
          </p:cNvSpPr>
          <p:nvPr/>
        </p:nvSpPr>
        <p:spPr>
          <a:xfrm>
            <a:off x="7391400" y="2000250"/>
            <a:ext cx="3676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生醫調整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1893012E-B691-41C1-B118-3D8510FEB02C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714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7FB7641B-2E21-482F-B495-0AC72FB18D20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485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 Kit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FD72D59E-2A79-4D8E-ADA2-A3CA8277230E}"/>
              </a:ext>
            </a:extLst>
          </p:cNvPr>
          <p:cNvSpPr>
            <a:spLocks noGrp="1"/>
          </p:cNvSpPr>
          <p:nvPr/>
        </p:nvSpPr>
        <p:spPr>
          <a:xfrm>
            <a:off x="2514600" y="230505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A1E5F9EB-24CA-491E-8B76-4149B84265E8}"/>
              </a:ext>
            </a:extLst>
          </p:cNvPr>
          <p:cNvSpPr>
            <a:spLocks noGrp="1"/>
          </p:cNvSpPr>
          <p:nvPr/>
        </p:nvSpPr>
        <p:spPr>
          <a:xfrm>
            <a:off x="2628900" y="240030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constitution、specify、plan、tasks、implement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40031DA9-7402-41CA-B363-E973F7F30A99}"/>
              </a:ext>
            </a:extLst>
          </p:cNvPr>
          <p:cNvSpPr>
            <a:spLocks noGrp="1"/>
          </p:cNvSpPr>
          <p:nvPr/>
        </p:nvSpPr>
        <p:spPr>
          <a:xfrm>
            <a:off x="7277100" y="2305050"/>
            <a:ext cx="39052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1D163E13-FC07-4FF3-9D8A-F667547F7AC1}"/>
              </a:ext>
            </a:extLst>
          </p:cNvPr>
          <p:cNvSpPr>
            <a:spLocks noGrp="1"/>
          </p:cNvSpPr>
          <p:nvPr/>
        </p:nvSpPr>
        <p:spPr>
          <a:xfrm>
            <a:off x="7391400" y="2400300"/>
            <a:ext cx="3676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constitution 加入 citation / PHI / clinical claim 規則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05922B1B-46D5-4E62-A63C-374F9329AEE9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1714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FE1545C3-974A-4B51-BDF7-15B740D719F9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1485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OpenSpec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7496D1FE-7FE1-4D90-AAFA-AF71B142E530}"/>
              </a:ext>
            </a:extLst>
          </p:cNvPr>
          <p:cNvSpPr>
            <a:spLocks noGrp="1"/>
          </p:cNvSpPr>
          <p:nvPr/>
        </p:nvSpPr>
        <p:spPr>
          <a:xfrm>
            <a:off x="2514600" y="293370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F3D6F733-362D-4EFA-9B90-DA120A0FFC91}"/>
              </a:ext>
            </a:extLst>
          </p:cNvPr>
          <p:cNvSpPr>
            <a:spLocks noGrp="1"/>
          </p:cNvSpPr>
          <p:nvPr/>
        </p:nvSpPr>
        <p:spPr>
          <a:xfrm>
            <a:off x="2628900" y="302895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proposal、spec、design、tasks 與狀態追蹤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176C5012-4007-4398-B0E7-95E78B4DD7E9}"/>
              </a:ext>
            </a:extLst>
          </p:cNvPr>
          <p:cNvSpPr>
            <a:spLocks noGrp="1"/>
          </p:cNvSpPr>
          <p:nvPr/>
        </p:nvSpPr>
        <p:spPr>
          <a:xfrm>
            <a:off x="7277100" y="2933700"/>
            <a:ext cx="39052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C46544DF-1DD6-44B9-9A44-CFE3F95F3837}"/>
              </a:ext>
            </a:extLst>
          </p:cNvPr>
          <p:cNvSpPr>
            <a:spLocks noGrp="1"/>
          </p:cNvSpPr>
          <p:nvPr/>
        </p:nvSpPr>
        <p:spPr>
          <a:xfrm>
            <a:off x="7391400" y="3028950"/>
            <a:ext cx="3676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用 dependency order 管理 spec artifacts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0A3D63A0-6BF8-4B64-BAF0-CC05177521AE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1714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DE3631C4-B7AB-43F7-9E94-4AFE46FBE28B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485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Spectra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35775536-92F9-46C9-82D5-54FFBD9E4E90}"/>
              </a:ext>
            </a:extLst>
          </p:cNvPr>
          <p:cNvSpPr>
            <a:spLocks noGrp="1"/>
          </p:cNvSpPr>
          <p:nvPr/>
        </p:nvSpPr>
        <p:spPr>
          <a:xfrm>
            <a:off x="2514600" y="356235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DF0B4349-57F7-4E37-B75E-A0430F8C5FD2}"/>
              </a:ext>
            </a:extLst>
          </p:cNvPr>
          <p:cNvSpPr>
            <a:spLocks noGrp="1"/>
          </p:cNvSpPr>
          <p:nvPr/>
        </p:nvSpPr>
        <p:spPr>
          <a:xfrm>
            <a:off x="2628900" y="365760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GUI/CLI 讓規格流程更可見，支援 discuss、propose、ingest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8E48A41B-977F-4BDA-BECF-5E3A703303DA}"/>
              </a:ext>
            </a:extLst>
          </p:cNvPr>
          <p:cNvSpPr>
            <a:spLocks noGrp="1"/>
          </p:cNvSpPr>
          <p:nvPr/>
        </p:nvSpPr>
        <p:spPr>
          <a:xfrm>
            <a:off x="7277100" y="3562350"/>
            <a:ext cx="39052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563C70A9-6E0B-4C11-BF86-F281ADA319EA}"/>
              </a:ext>
            </a:extLst>
          </p:cNvPr>
          <p:cNvSpPr>
            <a:spLocks noGrp="1"/>
          </p:cNvSpPr>
          <p:nvPr/>
        </p:nvSpPr>
        <p:spPr>
          <a:xfrm>
            <a:off x="7391400" y="3657600"/>
            <a:ext cx="3676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用於教學展示 spec review 與迭代更新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3029B2B3-ACDE-4891-9D7F-8FA7F38390EC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1714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ADF2CA46-BCB7-49B6-AA33-84C5185069CD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1485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Lightweight SDD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9554F6E1-6595-4A12-834E-FED6265DFE74}"/>
              </a:ext>
            </a:extLst>
          </p:cNvPr>
          <p:cNvSpPr>
            <a:spLocks noGrp="1"/>
          </p:cNvSpPr>
          <p:nvPr/>
        </p:nvSpPr>
        <p:spPr>
          <a:xfrm>
            <a:off x="2514600" y="419100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5C0F2B31-64CD-4F0D-8EC4-EB0EE2D31D39}"/>
              </a:ext>
            </a:extLst>
          </p:cNvPr>
          <p:cNvSpPr>
            <a:spLocks noGrp="1"/>
          </p:cNvSpPr>
          <p:nvPr/>
        </p:nvSpPr>
        <p:spPr>
          <a:xfrm>
            <a:off x="2628900" y="428625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先寫小規格，再小 patch 實作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FD0E49A6-0801-417E-B04F-778408068531}"/>
              </a:ext>
            </a:extLst>
          </p:cNvPr>
          <p:cNvSpPr>
            <a:spLocks noGrp="1"/>
          </p:cNvSpPr>
          <p:nvPr/>
        </p:nvSpPr>
        <p:spPr>
          <a:xfrm>
            <a:off x="7277100" y="4191000"/>
            <a:ext cx="39052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38A9172A-5906-42AC-BAF5-20E41083B812}"/>
              </a:ext>
            </a:extLst>
          </p:cNvPr>
          <p:cNvSpPr>
            <a:spLocks noGrp="1"/>
          </p:cNvSpPr>
          <p:nvPr/>
        </p:nvSpPr>
        <p:spPr>
          <a:xfrm>
            <a:off x="7391400" y="4286250"/>
            <a:ext cx="3676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避免過度文件化</a:t>
            </a:r>
          </a:p>
        </p:txBody>
      </p:sp>
      <p:sp>
        <p:nvSpPr>
          <p:cNvPr id="34" name="source">
            <a:extLst>
              <a:ext uri="{FF2B5EF4-FFF2-40B4-BE49-F238E27FC236}">
                <a16:creationId xmlns:a16="http://schemas.microsoft.com/office/drawing/2014/main" id="{46E94500-44EF-4B8E-B663-892C292EFEF6}"/>
              </a:ext>
            </a:extLst>
          </p:cNvPr>
          <p:cNvSpPr>
            <a:spLocks noGrp="1"/>
          </p:cNvSpPr>
          <p:nvPr/>
        </p:nvSpPr>
        <p:spPr>
          <a:xfrm>
            <a:off x="6858000" y="619000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Sources: GitHub Spec Kit, OpenSpec/Spectra articles</a:t>
            </a:r>
          </a:p>
        </p:txBody>
      </p:sp>
    </p:spTree>
    <p:extLst>
      <p:ext uri="{BB962C8B-B14F-4D97-AF65-F5344CB8AC3E}">
        <p14:creationId xmlns:p14="http://schemas.microsoft.com/office/powerpoint/2010/main" val="3215652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">
            <a:extLst>
              <a:ext uri="{FF2B5EF4-FFF2-40B4-BE49-F238E27FC236}">
                <a16:creationId xmlns:a16="http://schemas.microsoft.com/office/drawing/2014/main" id="{0D2163CC-CA97-43CA-906A-C6099852180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OPENSPEC × SPECTRA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04ACA63-BF1D-4C56-94BC-68767BA6E29D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OpenSpec 定義規格骨架；Spectra 把生命週期變成可視化工作流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75B12CD-EC1A-4DDF-BE97-B57569779523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31/50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BA8AA15C-9A0A-4E4D-9753-35E3EB012C7E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71450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50E6D648-0A57-4F53-B319-635D62F0F362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DIMENSION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A9E5F50C-3149-472C-846C-FBC6A5E383D8}"/>
              </a:ext>
            </a:extLst>
          </p:cNvPr>
          <p:cNvSpPr>
            <a:spLocks noGrp="1"/>
          </p:cNvSpPr>
          <p:nvPr/>
        </p:nvSpPr>
        <p:spPr>
          <a:xfrm>
            <a:off x="2514600" y="1885950"/>
            <a:ext cx="476250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CB73E5AB-770C-4190-A729-D435C7DFEAAD}"/>
              </a:ext>
            </a:extLst>
          </p:cNvPr>
          <p:cNvSpPr>
            <a:spLocks noGrp="1"/>
          </p:cNvSpPr>
          <p:nvPr/>
        </p:nvSpPr>
        <p:spPr>
          <a:xfrm>
            <a:off x="2628900" y="2000250"/>
            <a:ext cx="453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OpenSpec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694131F4-7D97-49F8-906C-B036C7305EAF}"/>
              </a:ext>
            </a:extLst>
          </p:cNvPr>
          <p:cNvSpPr>
            <a:spLocks noGrp="1"/>
          </p:cNvSpPr>
          <p:nvPr/>
        </p:nvSpPr>
        <p:spPr>
          <a:xfrm>
            <a:off x="7277100" y="1885950"/>
            <a:ext cx="390525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3BE90656-BA1C-45CB-85A8-C2E1D2AB462A}"/>
              </a:ext>
            </a:extLst>
          </p:cNvPr>
          <p:cNvSpPr>
            <a:spLocks noGrp="1"/>
          </p:cNvSpPr>
          <p:nvPr/>
        </p:nvSpPr>
        <p:spPr>
          <a:xfrm>
            <a:off x="7391400" y="2000250"/>
            <a:ext cx="3676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Spectra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1893012E-B691-41C1-B118-3D8510FEB02C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714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7FB7641B-2E21-482F-B495-0AC72FB18D20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485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ROLE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FD72D59E-2A79-4D8E-ADA2-A3CA8277230E}"/>
              </a:ext>
            </a:extLst>
          </p:cNvPr>
          <p:cNvSpPr>
            <a:spLocks noGrp="1"/>
          </p:cNvSpPr>
          <p:nvPr/>
        </p:nvSpPr>
        <p:spPr>
          <a:xfrm>
            <a:off x="2514600" y="230505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A1E5F9EB-24CA-491E-8B76-4149B84265E8}"/>
              </a:ext>
            </a:extLst>
          </p:cNvPr>
          <p:cNvSpPr>
            <a:spLocks noGrp="1"/>
          </p:cNvSpPr>
          <p:nvPr/>
        </p:nvSpPr>
        <p:spPr>
          <a:xfrm>
            <a:off x="2628900" y="240030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輕量 spec layer、CLI 與 agent workflow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40031DA9-7402-41CA-B363-E973F7F30A99}"/>
              </a:ext>
            </a:extLst>
          </p:cNvPr>
          <p:cNvSpPr>
            <a:spLocks noGrp="1"/>
          </p:cNvSpPr>
          <p:nvPr/>
        </p:nvSpPr>
        <p:spPr>
          <a:xfrm>
            <a:off x="7277100" y="2305050"/>
            <a:ext cx="39052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1D163E13-FC07-4FF3-9D8A-F667547F7AC1}"/>
              </a:ext>
            </a:extLst>
          </p:cNvPr>
          <p:cNvSpPr>
            <a:spLocks noGrp="1"/>
          </p:cNvSpPr>
          <p:nvPr/>
        </p:nvSpPr>
        <p:spPr>
          <a:xfrm>
            <a:off x="7391400" y="2400300"/>
            <a:ext cx="3676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Desktop app、optional CLI 與 AI workflow skills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05922B1B-46D5-4E62-A63C-374F9329AEE9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1714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FE1545C3-974A-4B51-BDF7-15B740D719F9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1485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DATA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7496D1FE-7FE1-4D90-AAFA-AF71B142E530}"/>
              </a:ext>
            </a:extLst>
          </p:cNvPr>
          <p:cNvSpPr>
            <a:spLocks noGrp="1"/>
          </p:cNvSpPr>
          <p:nvPr/>
        </p:nvSpPr>
        <p:spPr>
          <a:xfrm>
            <a:off x="2514600" y="293370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F3D6F733-362D-4EFA-9B90-DA120A0FFC91}"/>
              </a:ext>
            </a:extLst>
          </p:cNvPr>
          <p:cNvSpPr>
            <a:spLocks noGrp="1"/>
          </p:cNvSpPr>
          <p:nvPr/>
        </p:nvSpPr>
        <p:spPr>
          <a:xfrm>
            <a:off x="2628900" y="302895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openspec/ 內的 Markdown、YAML 與 change artifacts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176C5012-4007-4398-B0E7-95E78B4DD7E9}"/>
              </a:ext>
            </a:extLst>
          </p:cNvPr>
          <p:cNvSpPr>
            <a:spLocks noGrp="1"/>
          </p:cNvSpPr>
          <p:nvPr/>
        </p:nvSpPr>
        <p:spPr>
          <a:xfrm>
            <a:off x="7277100" y="2933700"/>
            <a:ext cx="39052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C46544DF-1DD6-44B9-9A44-CFE3F95F3837}"/>
              </a:ext>
            </a:extLst>
          </p:cNvPr>
          <p:cNvSpPr>
            <a:spLocks noGrp="1"/>
          </p:cNvSpPr>
          <p:nvPr/>
        </p:nvSpPr>
        <p:spPr>
          <a:xfrm>
            <a:off x="7391400" y="3028950"/>
            <a:ext cx="3676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相容 OpenSpec，可直接開啟既有 openspec/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0A3D63A0-6BF8-4B64-BAF0-CC05177521AE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1714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DE3631C4-B7AB-43F7-9E94-4AFE46FBE28B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485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WORKFLOW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35775536-92F9-46C9-82D5-54FFBD9E4E90}"/>
              </a:ext>
            </a:extLst>
          </p:cNvPr>
          <p:cNvSpPr>
            <a:spLocks noGrp="1"/>
          </p:cNvSpPr>
          <p:nvPr/>
        </p:nvSpPr>
        <p:spPr>
          <a:xfrm>
            <a:off x="2514600" y="356235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DF0B4349-57F7-4E37-B75E-A0430F8C5FD2}"/>
              </a:ext>
            </a:extLst>
          </p:cNvPr>
          <p:cNvSpPr>
            <a:spLocks noGrp="1"/>
          </p:cNvSpPr>
          <p:nvPr/>
        </p:nvSpPr>
        <p:spPr>
          <a:xfrm>
            <a:off x="2628900" y="365760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/opsx:explore → propose → apply → archive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8E48A41B-977F-4BDA-BECF-5E3A703303DA}"/>
              </a:ext>
            </a:extLst>
          </p:cNvPr>
          <p:cNvSpPr>
            <a:spLocks noGrp="1"/>
          </p:cNvSpPr>
          <p:nvPr/>
        </p:nvSpPr>
        <p:spPr>
          <a:xfrm>
            <a:off x="7277100" y="3562350"/>
            <a:ext cx="39052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563C70A9-6E0B-4C11-BF86-F281ADA319EA}"/>
              </a:ext>
            </a:extLst>
          </p:cNvPr>
          <p:cNvSpPr>
            <a:spLocks noGrp="1"/>
          </p:cNvSpPr>
          <p:nvPr/>
        </p:nvSpPr>
        <p:spPr>
          <a:xfrm>
            <a:off x="7391400" y="3657600"/>
            <a:ext cx="3676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/spectra:discuss → propose → apply → ingest → archive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3029B2B3-ACDE-4891-9D7F-8FA7F38390EC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1714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ADF2CA46-BCB7-49B6-AA33-84C5185069CD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1485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BEST FIT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9554F6E1-6595-4A12-834E-FED6265DFE74}"/>
              </a:ext>
            </a:extLst>
          </p:cNvPr>
          <p:cNvSpPr>
            <a:spLocks noGrp="1"/>
          </p:cNvSpPr>
          <p:nvPr/>
        </p:nvSpPr>
        <p:spPr>
          <a:xfrm>
            <a:off x="2514600" y="4191000"/>
            <a:ext cx="47625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5C0F2B31-64CD-4F0D-8EC4-EB0EE2D31D39}"/>
              </a:ext>
            </a:extLst>
          </p:cNvPr>
          <p:cNvSpPr>
            <a:spLocks noGrp="1"/>
          </p:cNvSpPr>
          <p:nvPr/>
        </p:nvSpPr>
        <p:spPr>
          <a:xfrm>
            <a:off x="2628900" y="4286250"/>
            <a:ext cx="453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偏好 CLI、跨 agent、維持原生 OpenSpec workflow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FD0E49A6-0801-417E-B04F-778408068531}"/>
              </a:ext>
            </a:extLst>
          </p:cNvPr>
          <p:cNvSpPr>
            <a:spLocks noGrp="1"/>
          </p:cNvSpPr>
          <p:nvPr/>
        </p:nvSpPr>
        <p:spPr>
          <a:xfrm>
            <a:off x="7277100" y="4191000"/>
            <a:ext cx="39052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38A9172A-5906-42AC-BAF5-20E41083B812}"/>
              </a:ext>
            </a:extLst>
          </p:cNvPr>
          <p:cNvSpPr>
            <a:spLocks noGrp="1"/>
          </p:cNvSpPr>
          <p:nvPr/>
        </p:nvSpPr>
        <p:spPr>
          <a:xfrm>
            <a:off x="7391400" y="4286250"/>
            <a:ext cx="3676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需要 GUI、task progress、搜尋與 artifact 一致性檢查</a:t>
            </a:r>
          </a:p>
        </p:txBody>
      </p:sp>
      <p:sp>
        <p:nvSpPr>
          <p:cNvPr id="34" name="source">
            <a:extLst>
              <a:ext uri="{FF2B5EF4-FFF2-40B4-BE49-F238E27FC236}">
                <a16:creationId xmlns:a16="http://schemas.microsoft.com/office/drawing/2014/main" id="{46E94500-44EF-4B8E-B663-892C292EFEF6}"/>
              </a:ext>
            </a:extLst>
          </p:cNvPr>
          <p:cNvSpPr>
            <a:spLocks noGrp="1"/>
          </p:cNvSpPr>
          <p:nvPr/>
        </p:nvSpPr>
        <p:spPr>
          <a:xfrm>
            <a:off x="6858000" y="619000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Sources: OpenSpec README; Spectra official website and GitHub</a:t>
            </a:r>
          </a:p>
        </p:txBody>
      </p:sp>
    </p:spTree>
    <p:extLst>
      <p:ext uri="{BB962C8B-B14F-4D97-AF65-F5344CB8AC3E}">
        <p14:creationId xmlns:p14="http://schemas.microsoft.com/office/powerpoint/2010/main" val="3215652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4EC8B653-D543-4F31-A68A-EBB44A2DCE7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WHAT IS SPECTRA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6F6C843-53CC-4D08-98EC-33EEFD67072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Spectra combines a desktop app, CLI, and agent workflow skills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7C997C37-20D8-4110-9A9A-F23B3EBFA363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32/50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5FE97059-1CBA-438E-8431-8571B596DB4B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核心定位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E8601BC4-41E7-4629-9AF5-6E623D638FA9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287655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F3E84D7C-0311-4026-9CBA-86129D589958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Desktop app + CLI</a:t>
            </a:r>
          </a:p>
          <a:p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Change management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管理 proposal、spec、design、tasks 與 archive</a:t>
            </a:r>
          </a:p>
          <a:p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OpenSpec-compatible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可直接開啟既有 openspec/ 目錄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AI workflow skills</a:t>
            </a:r>
          </a:p>
          <a:p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提供 /spectra:* skills 與 commands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Visibility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任務進度、全文搜尋、artifact consistency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Multi-agent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官方網站列出 23 種主流 coding agent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Human-in-the-loop</a:t>
            </a:r>
          </a:p>
          <a:p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流程可見，不代表規格已被人工核准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51193DC9-28B7-4B53-9CF7-602C787D9F0E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7D84D867-38E7-475C-A346-5A38CC71934D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Official Spectra UI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17B0A591-6F59-4E2D-9478-C399B046393C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Changes：active / archived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Specs：requirements / scenarios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Tasks：Markdown checkbox progress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Import：既有 openspec/ project</a:t>
            </a:r>
          </a:p>
        </p:txBody>
      </p:sp>
      <p:pic>
        <p:nvPicPr>
          <p:cNvPr id="50" name="Official Spectra UI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1800000"/>
            <a:ext cx="5700000" cy="3440000"/>
          </a:xfrm>
          <a:prstGeom prst="rect">
            <a:avLst/>
          </a:prstGeom>
          <a:ln w="12700">
            <a:solidFill>
              <a:srgbClr val="D7DCE1"/>
            </a:solidFill>
          </a:ln>
        </p:spPr>
      </p:pic>
    </p:spTree>
    <p:extLst>
      <p:ext uri="{BB962C8B-B14F-4D97-AF65-F5344CB8AC3E}">
        <p14:creationId xmlns:p14="http://schemas.microsoft.com/office/powerpoint/2010/main" val="1954712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4EC8B653-D543-4F31-A68A-EBB44A2DCE7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INSTALL &amp; OPEN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6F6C843-53CC-4D08-98EC-33EEFD67072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三分鐘完成 Spectra 安裝、開啟專案與 agent workflow 準備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7C997C37-20D8-4110-9A9A-F23B3EBFA363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33/50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5FE97059-1CBA-438E-8431-8571B596DB4B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macOS quick start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E8601BC4-41E7-4629-9AF5-6E623D638FA9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335000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F3E84D7C-0311-4026-9CBA-86129D589958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30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macOS</a:t>
            </a:r>
          </a:p>
          <a:p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brew install --cask spectra-app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Open a project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cd biomedical-sdd-demo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spectra .</a:t>
            </a:r>
          </a:p>
          <a:p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GUI alternative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Open Project → select repository root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Project data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reads or creates openspec/</a:t>
            </a:r>
          </a:p>
          <a:p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No account required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51193DC9-28B7-4B53-9CF7-602C787D9F0E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7D84D867-38E7-475C-A346-5A38CC71934D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第一次開啟要確認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17B0A591-6F59-4E2D-9478-C399B046393C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macOS 與 Windows 都有安裝檔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選 repository root，不要只選子目錄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中能看到 /spectra:* skills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openspec/ 會與程式碼一起進 Git</a:t>
            </a:r>
          </a:p>
        </p:txBody>
      </p:sp>
    </p:spTree>
    <p:extLst>
      <p:ext uri="{BB962C8B-B14F-4D97-AF65-F5344CB8AC3E}">
        <p14:creationId xmlns:p14="http://schemas.microsoft.com/office/powerpoint/2010/main" val="1954712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C1BFAE4B-32FD-4B73-B954-E7E0E896F53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SPECTRA WORKFLOW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66446E1-A3E8-46FE-AD42-48C1E334195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Spectra 的核心循環：先對齊規格，再讓 agent 實作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224AA40-B28C-464F-93F1-3CD199C3020A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34/50</a:t>
            </a:r>
          </a:p>
        </p:txBody>
      </p:sp>
      <p:sp>
        <p:nvSpPr>
          <p:cNvPr id="4" name="step-0">
            <a:extLst>
              <a:ext uri="{FF2B5EF4-FFF2-40B4-BE49-F238E27FC236}">
                <a16:creationId xmlns:a16="http://schemas.microsoft.com/office/drawing/2014/main" id="{46F92B2C-33B4-48F1-A943-61C628A50468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tep-no-0">
            <a:extLst>
              <a:ext uri="{FF2B5EF4-FFF2-40B4-BE49-F238E27FC236}">
                <a16:creationId xmlns:a16="http://schemas.microsoft.com/office/drawing/2014/main" id="{1F2B0ED0-ECC3-4263-A14F-2539C6DAFF31}"/>
              </a:ext>
            </a:extLst>
          </p:cNvPr>
          <p:cNvSpPr>
            <a:spLocks noGrp="1"/>
          </p:cNvSpPr>
          <p:nvPr/>
        </p:nvSpPr>
        <p:spPr>
          <a:xfrm>
            <a:off x="108585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title-0">
            <a:extLst>
              <a:ext uri="{FF2B5EF4-FFF2-40B4-BE49-F238E27FC236}">
                <a16:creationId xmlns:a16="http://schemas.microsoft.com/office/drawing/2014/main" id="{CDA70C51-158F-461B-A0E2-A1AFB0F4F49A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Discuss</a:t>
            </a:r>
          </a:p>
        </p:txBody>
      </p:sp>
      <p:sp>
        <p:nvSpPr>
          <p:cNvPr id="7" name="step-copy-0">
            <a:extLst>
              <a:ext uri="{FF2B5EF4-FFF2-40B4-BE49-F238E27FC236}">
                <a16:creationId xmlns:a16="http://schemas.microsoft.com/office/drawing/2014/main" id="{D53DD064-C081-4329-A1E0-F0812D606F41}"/>
              </a:ext>
            </a:extLst>
          </p:cNvPr>
          <p:cNvSpPr>
            <a:spLocks noGrp="1"/>
          </p:cNvSpPr>
          <p:nvPr/>
        </p:nvSpPr>
        <p:spPr>
          <a:xfrm>
            <a:off x="108585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讀 code、問問題、收斂選項</a:t>
            </a:r>
          </a:p>
        </p:txBody>
      </p:sp>
      <p:sp>
        <p:nvSpPr>
          <p:cNvPr id="8" name="step-arrow-0">
            <a:extLst>
              <a:ext uri="{FF2B5EF4-FFF2-40B4-BE49-F238E27FC236}">
                <a16:creationId xmlns:a16="http://schemas.microsoft.com/office/drawing/2014/main" id="{DFD626F8-5B6E-453A-AC46-2C468BF93B16}"/>
              </a:ext>
            </a:extLst>
          </p:cNvPr>
          <p:cNvSpPr>
            <a:spLocks noGrp="1"/>
          </p:cNvSpPr>
          <p:nvPr/>
        </p:nvSpPr>
        <p:spPr>
          <a:xfrm>
            <a:off x="241935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step-1">
            <a:extLst>
              <a:ext uri="{FF2B5EF4-FFF2-40B4-BE49-F238E27FC236}">
                <a16:creationId xmlns:a16="http://schemas.microsoft.com/office/drawing/2014/main" id="{28DC70EA-004D-455E-BA6D-EB08E39A2DBB}"/>
              </a:ext>
            </a:extLst>
          </p:cNvPr>
          <p:cNvSpPr>
            <a:spLocks noGrp="1"/>
          </p:cNvSpPr>
          <p:nvPr/>
        </p:nvSpPr>
        <p:spPr>
          <a:xfrm>
            <a:off x="260032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no-1">
            <a:extLst>
              <a:ext uri="{FF2B5EF4-FFF2-40B4-BE49-F238E27FC236}">
                <a16:creationId xmlns:a16="http://schemas.microsoft.com/office/drawing/2014/main" id="{416C4457-366B-45FD-B8CC-8AD446331031}"/>
              </a:ext>
            </a:extLst>
          </p:cNvPr>
          <p:cNvSpPr>
            <a:spLocks noGrp="1"/>
          </p:cNvSpPr>
          <p:nvPr/>
        </p:nvSpPr>
        <p:spPr>
          <a:xfrm>
            <a:off x="277177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ep-title-1">
            <a:extLst>
              <a:ext uri="{FF2B5EF4-FFF2-40B4-BE49-F238E27FC236}">
                <a16:creationId xmlns:a16="http://schemas.microsoft.com/office/drawing/2014/main" id="{E9673309-C351-4B68-8720-76DE29D2F656}"/>
              </a:ext>
            </a:extLst>
          </p:cNvPr>
          <p:cNvSpPr>
            <a:spLocks noGrp="1"/>
          </p:cNvSpPr>
          <p:nvPr/>
        </p:nvSpPr>
        <p:spPr>
          <a:xfrm>
            <a:off x="277177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Propose</a:t>
            </a:r>
          </a:p>
        </p:txBody>
      </p:sp>
      <p:sp>
        <p:nvSpPr>
          <p:cNvPr id="12" name="step-copy-1">
            <a:extLst>
              <a:ext uri="{FF2B5EF4-FFF2-40B4-BE49-F238E27FC236}">
                <a16:creationId xmlns:a16="http://schemas.microsoft.com/office/drawing/2014/main" id="{7B76B807-8CE7-48B4-A3A4-BEA80ACD4A3C}"/>
              </a:ext>
            </a:extLst>
          </p:cNvPr>
          <p:cNvSpPr>
            <a:spLocks noGrp="1"/>
          </p:cNvSpPr>
          <p:nvPr/>
        </p:nvSpPr>
        <p:spPr>
          <a:xfrm>
            <a:off x="277177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建立 proposal / spec / design / tasks</a:t>
            </a:r>
          </a:p>
        </p:txBody>
      </p:sp>
      <p:sp>
        <p:nvSpPr>
          <p:cNvPr id="13" name="step-arrow-1">
            <a:extLst>
              <a:ext uri="{FF2B5EF4-FFF2-40B4-BE49-F238E27FC236}">
                <a16:creationId xmlns:a16="http://schemas.microsoft.com/office/drawing/2014/main" id="{1BB4F79F-7A23-407B-A2D5-7C4C667A5E71}"/>
              </a:ext>
            </a:extLst>
          </p:cNvPr>
          <p:cNvSpPr>
            <a:spLocks noGrp="1"/>
          </p:cNvSpPr>
          <p:nvPr/>
        </p:nvSpPr>
        <p:spPr>
          <a:xfrm>
            <a:off x="4105275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step-2">
            <a:extLst>
              <a:ext uri="{FF2B5EF4-FFF2-40B4-BE49-F238E27FC236}">
                <a16:creationId xmlns:a16="http://schemas.microsoft.com/office/drawing/2014/main" id="{12E2196D-C7E2-431D-825D-B4E98D45C291}"/>
              </a:ext>
            </a:extLst>
          </p:cNvPr>
          <p:cNvSpPr>
            <a:spLocks noGrp="1"/>
          </p:cNvSpPr>
          <p:nvPr/>
        </p:nvSpPr>
        <p:spPr>
          <a:xfrm>
            <a:off x="428625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tep-no-2">
            <a:extLst>
              <a:ext uri="{FF2B5EF4-FFF2-40B4-BE49-F238E27FC236}">
                <a16:creationId xmlns:a16="http://schemas.microsoft.com/office/drawing/2014/main" id="{38C2B10C-C78A-490B-8C76-46C8760076A1}"/>
              </a:ext>
            </a:extLst>
          </p:cNvPr>
          <p:cNvSpPr>
            <a:spLocks noGrp="1"/>
          </p:cNvSpPr>
          <p:nvPr/>
        </p:nvSpPr>
        <p:spPr>
          <a:xfrm>
            <a:off x="445770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tep-title-2">
            <a:extLst>
              <a:ext uri="{FF2B5EF4-FFF2-40B4-BE49-F238E27FC236}">
                <a16:creationId xmlns:a16="http://schemas.microsoft.com/office/drawing/2014/main" id="{ACD7C26F-7DC7-488B-96A8-07FC71DDEF2C}"/>
              </a:ext>
            </a:extLst>
          </p:cNvPr>
          <p:cNvSpPr>
            <a:spLocks noGrp="1"/>
          </p:cNvSpPr>
          <p:nvPr/>
        </p:nvSpPr>
        <p:spPr>
          <a:xfrm>
            <a:off x="445770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Review</a:t>
            </a:r>
          </a:p>
        </p:txBody>
      </p:sp>
      <p:sp>
        <p:nvSpPr>
          <p:cNvPr id="17" name="step-copy-2">
            <a:extLst>
              <a:ext uri="{FF2B5EF4-FFF2-40B4-BE49-F238E27FC236}">
                <a16:creationId xmlns:a16="http://schemas.microsoft.com/office/drawing/2014/main" id="{CFF17B8E-0788-46ED-9054-CB308F711E85}"/>
              </a:ext>
            </a:extLst>
          </p:cNvPr>
          <p:cNvSpPr>
            <a:spLocks noGrp="1"/>
          </p:cNvSpPr>
          <p:nvPr/>
        </p:nvSpPr>
        <p:spPr>
          <a:xfrm>
            <a:off x="445770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人工核准 scope、evidence 與 tests</a:t>
            </a:r>
          </a:p>
        </p:txBody>
      </p:sp>
      <p:sp>
        <p:nvSpPr>
          <p:cNvPr id="18" name="step-arrow-2">
            <a:extLst>
              <a:ext uri="{FF2B5EF4-FFF2-40B4-BE49-F238E27FC236}">
                <a16:creationId xmlns:a16="http://schemas.microsoft.com/office/drawing/2014/main" id="{A2A9E9B2-B107-4FD6-8856-F2BCF40131A3}"/>
              </a:ext>
            </a:extLst>
          </p:cNvPr>
          <p:cNvSpPr>
            <a:spLocks noGrp="1"/>
          </p:cNvSpPr>
          <p:nvPr/>
        </p:nvSpPr>
        <p:spPr>
          <a:xfrm>
            <a:off x="579120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step-3">
            <a:extLst>
              <a:ext uri="{FF2B5EF4-FFF2-40B4-BE49-F238E27FC236}">
                <a16:creationId xmlns:a16="http://schemas.microsoft.com/office/drawing/2014/main" id="{C4C83922-B803-49E3-9F1D-A5F4D59A383D}"/>
              </a:ext>
            </a:extLst>
          </p:cNvPr>
          <p:cNvSpPr>
            <a:spLocks noGrp="1"/>
          </p:cNvSpPr>
          <p:nvPr/>
        </p:nvSpPr>
        <p:spPr>
          <a:xfrm>
            <a:off x="597217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tep-no-3">
            <a:extLst>
              <a:ext uri="{FF2B5EF4-FFF2-40B4-BE49-F238E27FC236}">
                <a16:creationId xmlns:a16="http://schemas.microsoft.com/office/drawing/2014/main" id="{CC3CBA76-4331-4365-B88D-6AF03F6F8BD0}"/>
              </a:ext>
            </a:extLst>
          </p:cNvPr>
          <p:cNvSpPr>
            <a:spLocks noGrp="1"/>
          </p:cNvSpPr>
          <p:nvPr/>
        </p:nvSpPr>
        <p:spPr>
          <a:xfrm>
            <a:off x="614362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tep-title-3">
            <a:extLst>
              <a:ext uri="{FF2B5EF4-FFF2-40B4-BE49-F238E27FC236}">
                <a16:creationId xmlns:a16="http://schemas.microsoft.com/office/drawing/2014/main" id="{93CB6F3C-3C52-45EE-B2B5-A8ADABD79D90}"/>
              </a:ext>
            </a:extLst>
          </p:cNvPr>
          <p:cNvSpPr>
            <a:spLocks noGrp="1"/>
          </p:cNvSpPr>
          <p:nvPr/>
        </p:nvSpPr>
        <p:spPr>
          <a:xfrm>
            <a:off x="614362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Apply</a:t>
            </a:r>
          </a:p>
        </p:txBody>
      </p:sp>
      <p:sp>
        <p:nvSpPr>
          <p:cNvPr id="22" name="step-copy-3">
            <a:extLst>
              <a:ext uri="{FF2B5EF4-FFF2-40B4-BE49-F238E27FC236}">
                <a16:creationId xmlns:a16="http://schemas.microsoft.com/office/drawing/2014/main" id="{7CF1C2E1-B34A-43B9-AB1D-AA43672EEFFA}"/>
              </a:ext>
            </a:extLst>
          </p:cNvPr>
          <p:cNvSpPr>
            <a:spLocks noGrp="1"/>
          </p:cNvSpPr>
          <p:nvPr/>
        </p:nvSpPr>
        <p:spPr>
          <a:xfrm>
            <a:off x="614362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只依 tasks 實作並驗證</a:t>
            </a:r>
          </a:p>
        </p:txBody>
      </p:sp>
      <p:sp>
        <p:nvSpPr>
          <p:cNvPr id="23" name="step-arrow-3">
            <a:extLst>
              <a:ext uri="{FF2B5EF4-FFF2-40B4-BE49-F238E27FC236}">
                <a16:creationId xmlns:a16="http://schemas.microsoft.com/office/drawing/2014/main" id="{8C7B4479-757E-4898-B904-6753D6981D09}"/>
              </a:ext>
            </a:extLst>
          </p:cNvPr>
          <p:cNvSpPr>
            <a:spLocks noGrp="1"/>
          </p:cNvSpPr>
          <p:nvPr/>
        </p:nvSpPr>
        <p:spPr>
          <a:xfrm>
            <a:off x="7477125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step-4">
            <a:extLst>
              <a:ext uri="{FF2B5EF4-FFF2-40B4-BE49-F238E27FC236}">
                <a16:creationId xmlns:a16="http://schemas.microsoft.com/office/drawing/2014/main" id="{43ADFC4D-ECBE-4C44-AFEB-717005D83BAA}"/>
              </a:ext>
            </a:extLst>
          </p:cNvPr>
          <p:cNvSpPr>
            <a:spLocks noGrp="1"/>
          </p:cNvSpPr>
          <p:nvPr/>
        </p:nvSpPr>
        <p:spPr>
          <a:xfrm>
            <a:off x="765810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tep-no-4">
            <a:extLst>
              <a:ext uri="{FF2B5EF4-FFF2-40B4-BE49-F238E27FC236}">
                <a16:creationId xmlns:a16="http://schemas.microsoft.com/office/drawing/2014/main" id="{639A868E-6EF2-4C79-B16D-866C8B4ABB98}"/>
              </a:ext>
            </a:extLst>
          </p:cNvPr>
          <p:cNvSpPr>
            <a:spLocks noGrp="1"/>
          </p:cNvSpPr>
          <p:nvPr/>
        </p:nvSpPr>
        <p:spPr>
          <a:xfrm>
            <a:off x="782955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step-title-4">
            <a:extLst>
              <a:ext uri="{FF2B5EF4-FFF2-40B4-BE49-F238E27FC236}">
                <a16:creationId xmlns:a16="http://schemas.microsoft.com/office/drawing/2014/main" id="{D24CA2B6-864A-44D8-89FF-3F6D8D7FF3BA}"/>
              </a:ext>
            </a:extLst>
          </p:cNvPr>
          <p:cNvSpPr>
            <a:spLocks noGrp="1"/>
          </p:cNvSpPr>
          <p:nvPr/>
        </p:nvSpPr>
        <p:spPr>
          <a:xfrm>
            <a:off x="782955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Ingest</a:t>
            </a:r>
          </a:p>
        </p:txBody>
      </p:sp>
      <p:sp>
        <p:nvSpPr>
          <p:cNvPr id="27" name="step-copy-4">
            <a:extLst>
              <a:ext uri="{FF2B5EF4-FFF2-40B4-BE49-F238E27FC236}">
                <a16:creationId xmlns:a16="http://schemas.microsoft.com/office/drawing/2014/main" id="{29219025-D8C2-4570-9A99-55C9F152A0EB}"/>
              </a:ext>
            </a:extLst>
          </p:cNvPr>
          <p:cNvSpPr>
            <a:spLocks noGrp="1"/>
          </p:cNvSpPr>
          <p:nvPr/>
        </p:nvSpPr>
        <p:spPr>
          <a:xfrm>
            <a:off x="782955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需求變更先回寫 artifacts</a:t>
            </a:r>
          </a:p>
        </p:txBody>
      </p:sp>
      <p:sp>
        <p:nvSpPr>
          <p:cNvPr id="28" name="step-arrow-4">
            <a:extLst>
              <a:ext uri="{FF2B5EF4-FFF2-40B4-BE49-F238E27FC236}">
                <a16:creationId xmlns:a16="http://schemas.microsoft.com/office/drawing/2014/main" id="{4D51C3BB-2975-4CDB-9380-D3B25219E4D3}"/>
              </a:ext>
            </a:extLst>
          </p:cNvPr>
          <p:cNvSpPr>
            <a:spLocks noGrp="1"/>
          </p:cNvSpPr>
          <p:nvPr/>
        </p:nvSpPr>
        <p:spPr>
          <a:xfrm>
            <a:off x="916305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step-5">
            <a:extLst>
              <a:ext uri="{FF2B5EF4-FFF2-40B4-BE49-F238E27FC236}">
                <a16:creationId xmlns:a16="http://schemas.microsoft.com/office/drawing/2014/main" id="{FB329B9B-D692-49BD-BF2A-AB67FC70B03F}"/>
              </a:ext>
            </a:extLst>
          </p:cNvPr>
          <p:cNvSpPr>
            <a:spLocks noGrp="1"/>
          </p:cNvSpPr>
          <p:nvPr/>
        </p:nvSpPr>
        <p:spPr>
          <a:xfrm>
            <a:off x="934402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tep-no-5">
            <a:extLst>
              <a:ext uri="{FF2B5EF4-FFF2-40B4-BE49-F238E27FC236}">
                <a16:creationId xmlns:a16="http://schemas.microsoft.com/office/drawing/2014/main" id="{8CD040F8-537B-4F09-AA3C-00436538C6CD}"/>
              </a:ext>
            </a:extLst>
          </p:cNvPr>
          <p:cNvSpPr>
            <a:spLocks noGrp="1"/>
          </p:cNvSpPr>
          <p:nvPr/>
        </p:nvSpPr>
        <p:spPr>
          <a:xfrm>
            <a:off x="951547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step-title-5">
            <a:extLst>
              <a:ext uri="{FF2B5EF4-FFF2-40B4-BE49-F238E27FC236}">
                <a16:creationId xmlns:a16="http://schemas.microsoft.com/office/drawing/2014/main" id="{CBDB177F-F02F-4609-A049-BFC53365C356}"/>
              </a:ext>
            </a:extLst>
          </p:cNvPr>
          <p:cNvSpPr>
            <a:spLocks noGrp="1"/>
          </p:cNvSpPr>
          <p:nvPr/>
        </p:nvSpPr>
        <p:spPr>
          <a:xfrm>
            <a:off x="951547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Archive</a:t>
            </a:r>
          </a:p>
        </p:txBody>
      </p:sp>
      <p:sp>
        <p:nvSpPr>
          <p:cNvPr id="32" name="step-copy-5">
            <a:extLst>
              <a:ext uri="{FF2B5EF4-FFF2-40B4-BE49-F238E27FC236}">
                <a16:creationId xmlns:a16="http://schemas.microsoft.com/office/drawing/2014/main" id="{1F83C7F0-0207-4030-9F9E-5BB178033EF5}"/>
              </a:ext>
            </a:extLst>
          </p:cNvPr>
          <p:cNvSpPr>
            <a:spLocks noGrp="1"/>
          </p:cNvSpPr>
          <p:nvPr/>
        </p:nvSpPr>
        <p:spPr>
          <a:xfrm>
            <a:off x="951547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合併 spec 並保留變更歷史</a:t>
            </a:r>
          </a:p>
        </p:txBody>
      </p:sp>
      <p:sp>
        <p:nvSpPr>
          <p:cNvPr id="33" name="source">
            <a:extLst>
              <a:ext uri="{FF2B5EF4-FFF2-40B4-BE49-F238E27FC236}">
                <a16:creationId xmlns:a16="http://schemas.microsoft.com/office/drawing/2014/main" id="{7BB0B918-190D-4600-96AF-238F4039F106}"/>
              </a:ext>
            </a:extLst>
          </p:cNvPr>
          <p:cNvSpPr>
            <a:spLocks noGrp="1"/>
          </p:cNvSpPr>
          <p:nvPr/>
        </p:nvSpPr>
        <p:spPr>
          <a:xfrm>
            <a:off x="6858000" y="619000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Sources: Spectra official website; Spectra 2.0 workflow article</a:t>
            </a:r>
          </a:p>
        </p:txBody>
      </p:sp>
      <p:cxnSp>
        <p:nvCxnSpPr>
          <p:cNvPr id="35" name="loop-horizontal">
            <a:extLst>
              <a:ext uri="{FF2B5EF4-FFF2-40B4-BE49-F238E27FC236}">
                <a16:creationId xmlns:a16="http://schemas.microsoft.com/office/drawing/2014/main" id="{3596ABB4-924D-4A4D-5DCE-1AC3D1B73FFB}"/>
              </a:ext>
            </a:extLst>
          </p:cNvPr>
          <p:cNvCxnSpPr>
            <a:cxnSpLocks/>
          </p:cNvCxnSpPr>
          <p:nvPr/>
        </p:nvCxnSpPr>
        <p:spPr>
          <a:xfrm>
            <a:off x="3321050" y="5143500"/>
            <a:ext cx="4917603" cy="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</a:ln>
        </p:spPr>
      </p:cxnSp>
      <p:cxnSp>
        <p:nvCxnSpPr>
          <p:cNvPr id="36" name="loop-drop">
            <a:extLst>
              <a:ext uri="{FF2B5EF4-FFF2-40B4-BE49-F238E27FC236}">
                <a16:creationId xmlns:a16="http://schemas.microsoft.com/office/drawing/2014/main" id="{418E7A51-CFB9-472C-0953-7AFF5450D2DA}"/>
              </a:ext>
            </a:extLst>
          </p:cNvPr>
          <p:cNvCxnSpPr/>
          <p:nvPr/>
        </p:nvCxnSpPr>
        <p:spPr>
          <a:xfrm>
            <a:off x="8238653" y="4140200"/>
            <a:ext cx="0" cy="100330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</a:ln>
        </p:spPr>
      </p:cxnSp>
      <p:cxnSp>
        <p:nvCxnSpPr>
          <p:cNvPr id="37" name="loop-rise">
            <a:extLst>
              <a:ext uri="{FF2B5EF4-FFF2-40B4-BE49-F238E27FC236}">
                <a16:creationId xmlns:a16="http://schemas.microsoft.com/office/drawing/2014/main" id="{E7B220E5-88B4-5E75-8E7B-6239C5353D2C}"/>
              </a:ext>
            </a:extLst>
          </p:cNvPr>
          <p:cNvCxnSpPr/>
          <p:nvPr/>
        </p:nvCxnSpPr>
        <p:spPr>
          <a:xfrm flipV="1">
            <a:off x="3321050" y="4140200"/>
            <a:ext cx="0" cy="100330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93897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C1BFAE4B-32FD-4B73-B954-E7E0E896F53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DEMO SETUP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66446E1-A3E8-46FE-AD42-48C1E334195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執行 /spectra:discuss 前，先準備六個可檢查的教學資產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224AA40-B28C-464F-93F1-3CD199C3020A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35/50</a:t>
            </a:r>
          </a:p>
        </p:txBody>
      </p:sp>
      <p:sp>
        <p:nvSpPr>
          <p:cNvPr id="4" name="step-0">
            <a:extLst>
              <a:ext uri="{FF2B5EF4-FFF2-40B4-BE49-F238E27FC236}">
                <a16:creationId xmlns:a16="http://schemas.microsoft.com/office/drawing/2014/main" id="{46F92B2C-33B4-48F1-A943-61C628A50468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tep-no-0">
            <a:extLst>
              <a:ext uri="{FF2B5EF4-FFF2-40B4-BE49-F238E27FC236}">
                <a16:creationId xmlns:a16="http://schemas.microsoft.com/office/drawing/2014/main" id="{1F2B0ED0-ECC3-4263-A14F-2539C6DAFF31}"/>
              </a:ext>
            </a:extLst>
          </p:cNvPr>
          <p:cNvSpPr>
            <a:spLocks noGrp="1"/>
          </p:cNvSpPr>
          <p:nvPr/>
        </p:nvSpPr>
        <p:spPr>
          <a:xfrm>
            <a:off x="108585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title-0">
            <a:extLst>
              <a:ext uri="{FF2B5EF4-FFF2-40B4-BE49-F238E27FC236}">
                <a16:creationId xmlns:a16="http://schemas.microsoft.com/office/drawing/2014/main" id="{CDA70C51-158F-461B-A0E2-A1AFB0F4F49A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Repo</a:t>
            </a:r>
          </a:p>
        </p:txBody>
      </p:sp>
      <p:sp>
        <p:nvSpPr>
          <p:cNvPr id="7" name="step-copy-0">
            <a:extLst>
              <a:ext uri="{FF2B5EF4-FFF2-40B4-BE49-F238E27FC236}">
                <a16:creationId xmlns:a16="http://schemas.microsoft.com/office/drawing/2014/main" id="{D53DD064-C081-4329-A1E0-F0812D606F41}"/>
              </a:ext>
            </a:extLst>
          </p:cNvPr>
          <p:cNvSpPr>
            <a:spLocks noGrp="1"/>
          </p:cNvSpPr>
          <p:nvPr/>
        </p:nvSpPr>
        <p:spPr>
          <a:xfrm>
            <a:off x="108585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在 demo branch / copy 開啟</a:t>
            </a:r>
          </a:p>
        </p:txBody>
      </p:sp>
      <p:sp>
        <p:nvSpPr>
          <p:cNvPr id="8" name="step-arrow-0">
            <a:extLst>
              <a:ext uri="{FF2B5EF4-FFF2-40B4-BE49-F238E27FC236}">
                <a16:creationId xmlns:a16="http://schemas.microsoft.com/office/drawing/2014/main" id="{DFD626F8-5B6E-453A-AC46-2C468BF93B16}"/>
              </a:ext>
            </a:extLst>
          </p:cNvPr>
          <p:cNvSpPr>
            <a:spLocks noGrp="1"/>
          </p:cNvSpPr>
          <p:nvPr/>
        </p:nvSpPr>
        <p:spPr>
          <a:xfrm>
            <a:off x="241935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step-1">
            <a:extLst>
              <a:ext uri="{FF2B5EF4-FFF2-40B4-BE49-F238E27FC236}">
                <a16:creationId xmlns:a16="http://schemas.microsoft.com/office/drawing/2014/main" id="{28DC70EA-004D-455E-BA6D-EB08E39A2DBB}"/>
              </a:ext>
            </a:extLst>
          </p:cNvPr>
          <p:cNvSpPr>
            <a:spLocks noGrp="1"/>
          </p:cNvSpPr>
          <p:nvPr/>
        </p:nvSpPr>
        <p:spPr>
          <a:xfrm>
            <a:off x="260032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no-1">
            <a:extLst>
              <a:ext uri="{FF2B5EF4-FFF2-40B4-BE49-F238E27FC236}">
                <a16:creationId xmlns:a16="http://schemas.microsoft.com/office/drawing/2014/main" id="{416C4457-366B-45FD-B8CC-8AD446331031}"/>
              </a:ext>
            </a:extLst>
          </p:cNvPr>
          <p:cNvSpPr>
            <a:spLocks noGrp="1"/>
          </p:cNvSpPr>
          <p:nvPr/>
        </p:nvSpPr>
        <p:spPr>
          <a:xfrm>
            <a:off x="277177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ep-title-1">
            <a:extLst>
              <a:ext uri="{FF2B5EF4-FFF2-40B4-BE49-F238E27FC236}">
                <a16:creationId xmlns:a16="http://schemas.microsoft.com/office/drawing/2014/main" id="{E9673309-C351-4B68-8720-76DE29D2F656}"/>
              </a:ext>
            </a:extLst>
          </p:cNvPr>
          <p:cNvSpPr>
            <a:spLocks noGrp="1"/>
          </p:cNvSpPr>
          <p:nvPr/>
        </p:nvSpPr>
        <p:spPr>
          <a:xfrm>
            <a:off x="277177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Template</a:t>
            </a:r>
          </a:p>
        </p:txBody>
      </p:sp>
      <p:sp>
        <p:nvSpPr>
          <p:cNvPr id="12" name="step-copy-1">
            <a:extLst>
              <a:ext uri="{FF2B5EF4-FFF2-40B4-BE49-F238E27FC236}">
                <a16:creationId xmlns:a16="http://schemas.microsoft.com/office/drawing/2014/main" id="{7B76B807-8CE7-48B4-A3A4-BEA80ACD4A3C}"/>
              </a:ext>
            </a:extLst>
          </p:cNvPr>
          <p:cNvSpPr>
            <a:spLocks noGrp="1"/>
          </p:cNvSpPr>
          <p:nvPr/>
        </p:nvSpPr>
        <p:spPr>
          <a:xfrm>
            <a:off x="277177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先讀 biomedical spec template</a:t>
            </a:r>
          </a:p>
        </p:txBody>
      </p:sp>
      <p:sp>
        <p:nvSpPr>
          <p:cNvPr id="13" name="step-arrow-1">
            <a:extLst>
              <a:ext uri="{FF2B5EF4-FFF2-40B4-BE49-F238E27FC236}">
                <a16:creationId xmlns:a16="http://schemas.microsoft.com/office/drawing/2014/main" id="{1BB4F79F-7A23-407B-A2D5-7C4C667A5E71}"/>
              </a:ext>
            </a:extLst>
          </p:cNvPr>
          <p:cNvSpPr>
            <a:spLocks noGrp="1"/>
          </p:cNvSpPr>
          <p:nvPr/>
        </p:nvSpPr>
        <p:spPr>
          <a:xfrm>
            <a:off x="4105275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step-2">
            <a:extLst>
              <a:ext uri="{FF2B5EF4-FFF2-40B4-BE49-F238E27FC236}">
                <a16:creationId xmlns:a16="http://schemas.microsoft.com/office/drawing/2014/main" id="{12E2196D-C7E2-431D-825D-B4E98D45C291}"/>
              </a:ext>
            </a:extLst>
          </p:cNvPr>
          <p:cNvSpPr>
            <a:spLocks noGrp="1"/>
          </p:cNvSpPr>
          <p:nvPr/>
        </p:nvSpPr>
        <p:spPr>
          <a:xfrm>
            <a:off x="428625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tep-no-2">
            <a:extLst>
              <a:ext uri="{FF2B5EF4-FFF2-40B4-BE49-F238E27FC236}">
                <a16:creationId xmlns:a16="http://schemas.microsoft.com/office/drawing/2014/main" id="{38C2B10C-C78A-490B-8C76-46C8760076A1}"/>
              </a:ext>
            </a:extLst>
          </p:cNvPr>
          <p:cNvSpPr>
            <a:spLocks noGrp="1"/>
          </p:cNvSpPr>
          <p:nvPr/>
        </p:nvSpPr>
        <p:spPr>
          <a:xfrm>
            <a:off x="445770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tep-title-2">
            <a:extLst>
              <a:ext uri="{FF2B5EF4-FFF2-40B4-BE49-F238E27FC236}">
                <a16:creationId xmlns:a16="http://schemas.microsoft.com/office/drawing/2014/main" id="{ACD7C26F-7DC7-488B-96A8-07FC71DDEF2C}"/>
              </a:ext>
            </a:extLst>
          </p:cNvPr>
          <p:cNvSpPr>
            <a:spLocks noGrp="1"/>
          </p:cNvSpPr>
          <p:nvPr/>
        </p:nvSpPr>
        <p:spPr>
          <a:xfrm>
            <a:off x="445770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Example</a:t>
            </a:r>
          </a:p>
        </p:txBody>
      </p:sp>
      <p:sp>
        <p:nvSpPr>
          <p:cNvPr id="17" name="step-copy-2">
            <a:extLst>
              <a:ext uri="{FF2B5EF4-FFF2-40B4-BE49-F238E27FC236}">
                <a16:creationId xmlns:a16="http://schemas.microsoft.com/office/drawing/2014/main" id="{CFF17B8E-0788-46ED-9054-CB308F711E85}"/>
              </a:ext>
            </a:extLst>
          </p:cNvPr>
          <p:cNvSpPr>
            <a:spLocks noGrp="1"/>
          </p:cNvSpPr>
          <p:nvPr/>
        </p:nvSpPr>
        <p:spPr>
          <a:xfrm>
            <a:off x="445770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比對 PubMed extractor SPEC</a:t>
            </a:r>
          </a:p>
        </p:txBody>
      </p:sp>
      <p:sp>
        <p:nvSpPr>
          <p:cNvPr id="18" name="step-arrow-2">
            <a:extLst>
              <a:ext uri="{FF2B5EF4-FFF2-40B4-BE49-F238E27FC236}">
                <a16:creationId xmlns:a16="http://schemas.microsoft.com/office/drawing/2014/main" id="{A2A9E9B2-B107-4FD6-8856-F2BCF40131A3}"/>
              </a:ext>
            </a:extLst>
          </p:cNvPr>
          <p:cNvSpPr>
            <a:spLocks noGrp="1"/>
          </p:cNvSpPr>
          <p:nvPr/>
        </p:nvSpPr>
        <p:spPr>
          <a:xfrm>
            <a:off x="579120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step-3">
            <a:extLst>
              <a:ext uri="{FF2B5EF4-FFF2-40B4-BE49-F238E27FC236}">
                <a16:creationId xmlns:a16="http://schemas.microsoft.com/office/drawing/2014/main" id="{C4C83922-B803-49E3-9F1D-A5F4D59A383D}"/>
              </a:ext>
            </a:extLst>
          </p:cNvPr>
          <p:cNvSpPr>
            <a:spLocks noGrp="1"/>
          </p:cNvSpPr>
          <p:nvPr/>
        </p:nvSpPr>
        <p:spPr>
          <a:xfrm>
            <a:off x="597217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tep-no-3">
            <a:extLst>
              <a:ext uri="{FF2B5EF4-FFF2-40B4-BE49-F238E27FC236}">
                <a16:creationId xmlns:a16="http://schemas.microsoft.com/office/drawing/2014/main" id="{CC3CBA76-4331-4365-B88D-6AF03F6F8BD0}"/>
              </a:ext>
            </a:extLst>
          </p:cNvPr>
          <p:cNvSpPr>
            <a:spLocks noGrp="1"/>
          </p:cNvSpPr>
          <p:nvPr/>
        </p:nvSpPr>
        <p:spPr>
          <a:xfrm>
            <a:off x="614362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tep-title-3">
            <a:extLst>
              <a:ext uri="{FF2B5EF4-FFF2-40B4-BE49-F238E27FC236}">
                <a16:creationId xmlns:a16="http://schemas.microsoft.com/office/drawing/2014/main" id="{93CB6F3C-3C52-45EE-B2B5-A8ADABD79D90}"/>
              </a:ext>
            </a:extLst>
          </p:cNvPr>
          <p:cNvSpPr>
            <a:spLocks noGrp="1"/>
          </p:cNvSpPr>
          <p:nvPr/>
        </p:nvSpPr>
        <p:spPr>
          <a:xfrm>
            <a:off x="614362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Prompt</a:t>
            </a:r>
          </a:p>
        </p:txBody>
      </p:sp>
      <p:sp>
        <p:nvSpPr>
          <p:cNvPr id="22" name="step-copy-3">
            <a:extLst>
              <a:ext uri="{FF2B5EF4-FFF2-40B4-BE49-F238E27FC236}">
                <a16:creationId xmlns:a16="http://schemas.microsoft.com/office/drawing/2014/main" id="{7CF1C2E1-B34A-43B9-AB1D-AA43672EEFFA}"/>
              </a:ext>
            </a:extLst>
          </p:cNvPr>
          <p:cNvSpPr>
            <a:spLocks noGrp="1"/>
          </p:cNvSpPr>
          <p:nvPr/>
        </p:nvSpPr>
        <p:spPr>
          <a:xfrm>
            <a:off x="614362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使用 Spectra demo prompt</a:t>
            </a:r>
          </a:p>
        </p:txBody>
      </p:sp>
      <p:sp>
        <p:nvSpPr>
          <p:cNvPr id="23" name="step-arrow-3">
            <a:extLst>
              <a:ext uri="{FF2B5EF4-FFF2-40B4-BE49-F238E27FC236}">
                <a16:creationId xmlns:a16="http://schemas.microsoft.com/office/drawing/2014/main" id="{8C7B4479-757E-4898-B904-6753D6981D09}"/>
              </a:ext>
            </a:extLst>
          </p:cNvPr>
          <p:cNvSpPr>
            <a:spLocks noGrp="1"/>
          </p:cNvSpPr>
          <p:nvPr/>
        </p:nvSpPr>
        <p:spPr>
          <a:xfrm>
            <a:off x="7477125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step-4">
            <a:extLst>
              <a:ext uri="{FF2B5EF4-FFF2-40B4-BE49-F238E27FC236}">
                <a16:creationId xmlns:a16="http://schemas.microsoft.com/office/drawing/2014/main" id="{43ADFC4D-ECBE-4C44-AFEB-717005D83BAA}"/>
              </a:ext>
            </a:extLst>
          </p:cNvPr>
          <p:cNvSpPr>
            <a:spLocks noGrp="1"/>
          </p:cNvSpPr>
          <p:nvPr/>
        </p:nvSpPr>
        <p:spPr>
          <a:xfrm>
            <a:off x="765810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tep-no-4">
            <a:extLst>
              <a:ext uri="{FF2B5EF4-FFF2-40B4-BE49-F238E27FC236}">
                <a16:creationId xmlns:a16="http://schemas.microsoft.com/office/drawing/2014/main" id="{639A868E-6EF2-4C79-B16D-866C8B4ABB98}"/>
              </a:ext>
            </a:extLst>
          </p:cNvPr>
          <p:cNvSpPr>
            <a:spLocks noGrp="1"/>
          </p:cNvSpPr>
          <p:nvPr/>
        </p:nvSpPr>
        <p:spPr>
          <a:xfrm>
            <a:off x="782955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step-title-4">
            <a:extLst>
              <a:ext uri="{FF2B5EF4-FFF2-40B4-BE49-F238E27FC236}">
                <a16:creationId xmlns:a16="http://schemas.microsoft.com/office/drawing/2014/main" id="{D24CA2B6-864A-44D8-89FF-3F6D8D7FF3BA}"/>
              </a:ext>
            </a:extLst>
          </p:cNvPr>
          <p:cNvSpPr>
            <a:spLocks noGrp="1"/>
          </p:cNvSpPr>
          <p:nvPr/>
        </p:nvSpPr>
        <p:spPr>
          <a:xfrm>
            <a:off x="782955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Fixture</a:t>
            </a:r>
          </a:p>
        </p:txBody>
      </p:sp>
      <p:sp>
        <p:nvSpPr>
          <p:cNvPr id="27" name="step-copy-4">
            <a:extLst>
              <a:ext uri="{FF2B5EF4-FFF2-40B4-BE49-F238E27FC236}">
                <a16:creationId xmlns:a16="http://schemas.microsoft.com/office/drawing/2014/main" id="{29219025-D8C2-4570-9A99-55C9F152A0EB}"/>
              </a:ext>
            </a:extLst>
          </p:cNvPr>
          <p:cNvSpPr>
            <a:spLocks noGrp="1"/>
          </p:cNvSpPr>
          <p:nvPr/>
        </p:nvSpPr>
        <p:spPr>
          <a:xfrm>
            <a:off x="782955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valid / empty / malformed</a:t>
            </a:r>
          </a:p>
        </p:txBody>
      </p:sp>
      <p:sp>
        <p:nvSpPr>
          <p:cNvPr id="28" name="step-arrow-4">
            <a:extLst>
              <a:ext uri="{FF2B5EF4-FFF2-40B4-BE49-F238E27FC236}">
                <a16:creationId xmlns:a16="http://schemas.microsoft.com/office/drawing/2014/main" id="{4D51C3BB-2975-4CDB-9380-D3B25219E4D3}"/>
              </a:ext>
            </a:extLst>
          </p:cNvPr>
          <p:cNvSpPr>
            <a:spLocks noGrp="1"/>
          </p:cNvSpPr>
          <p:nvPr/>
        </p:nvSpPr>
        <p:spPr>
          <a:xfrm>
            <a:off x="916305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step-5">
            <a:extLst>
              <a:ext uri="{FF2B5EF4-FFF2-40B4-BE49-F238E27FC236}">
                <a16:creationId xmlns:a16="http://schemas.microsoft.com/office/drawing/2014/main" id="{FB329B9B-D692-49BD-BF2A-AB67FC70B03F}"/>
              </a:ext>
            </a:extLst>
          </p:cNvPr>
          <p:cNvSpPr>
            <a:spLocks noGrp="1"/>
          </p:cNvSpPr>
          <p:nvPr/>
        </p:nvSpPr>
        <p:spPr>
          <a:xfrm>
            <a:off x="934402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tep-no-5">
            <a:extLst>
              <a:ext uri="{FF2B5EF4-FFF2-40B4-BE49-F238E27FC236}">
                <a16:creationId xmlns:a16="http://schemas.microsoft.com/office/drawing/2014/main" id="{8CD040F8-537B-4F09-AA3C-00436538C6CD}"/>
              </a:ext>
            </a:extLst>
          </p:cNvPr>
          <p:cNvSpPr>
            <a:spLocks noGrp="1"/>
          </p:cNvSpPr>
          <p:nvPr/>
        </p:nvSpPr>
        <p:spPr>
          <a:xfrm>
            <a:off x="951547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step-title-5">
            <a:extLst>
              <a:ext uri="{FF2B5EF4-FFF2-40B4-BE49-F238E27FC236}">
                <a16:creationId xmlns:a16="http://schemas.microsoft.com/office/drawing/2014/main" id="{CBDB177F-F02F-4609-A049-BFC53365C356}"/>
              </a:ext>
            </a:extLst>
          </p:cNvPr>
          <p:cNvSpPr>
            <a:spLocks noGrp="1"/>
          </p:cNvSpPr>
          <p:nvPr/>
        </p:nvSpPr>
        <p:spPr>
          <a:xfrm>
            <a:off x="951547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Gate</a:t>
            </a:r>
          </a:p>
        </p:txBody>
      </p:sp>
      <p:sp>
        <p:nvSpPr>
          <p:cNvPr id="32" name="step-copy-5">
            <a:extLst>
              <a:ext uri="{FF2B5EF4-FFF2-40B4-BE49-F238E27FC236}">
                <a16:creationId xmlns:a16="http://schemas.microsoft.com/office/drawing/2014/main" id="{1F83C7F0-0207-4030-9F9E-5BB178033EF5}"/>
              </a:ext>
            </a:extLst>
          </p:cNvPr>
          <p:cNvSpPr>
            <a:spLocks noGrp="1"/>
          </p:cNvSpPr>
          <p:nvPr/>
        </p:nvSpPr>
        <p:spPr>
          <a:xfrm>
            <a:off x="951547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 / not_found / needs_review</a:t>
            </a:r>
          </a:p>
        </p:txBody>
      </p:sp>
      <p:sp>
        <p:nvSpPr>
          <p:cNvPr id="33" name="source">
            <a:extLst>
              <a:ext uri="{FF2B5EF4-FFF2-40B4-BE49-F238E27FC236}">
                <a16:creationId xmlns:a16="http://schemas.microsoft.com/office/drawing/2014/main" id="{7BB0B918-190D-4600-96AF-238F4039F106}"/>
              </a:ext>
            </a:extLst>
          </p:cNvPr>
          <p:cNvSpPr>
            <a:spLocks noGrp="1"/>
          </p:cNvSpPr>
          <p:nvPr/>
        </p:nvSpPr>
        <p:spPr>
          <a:xfrm>
            <a:off x="6858000" y="619000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Course assets: labs/lesson-08-spec-driven-development-biomedical-tools</a:t>
            </a:r>
          </a:p>
        </p:txBody>
      </p:sp>
      <p:cxnSp>
        <p:nvCxnSpPr>
          <p:cNvPr id="35" name="loop-horizontal">
            <a:extLst>
              <a:ext uri="{FF2B5EF4-FFF2-40B4-BE49-F238E27FC236}">
                <a16:creationId xmlns:a16="http://schemas.microsoft.com/office/drawing/2014/main" id="{3596ABB4-924D-4A4D-5DCE-1AC3D1B73FFB}"/>
              </a:ext>
            </a:extLst>
          </p:cNvPr>
          <p:cNvCxnSpPr>
            <a:cxnSpLocks/>
          </p:cNvCxnSpPr>
          <p:nvPr/>
        </p:nvCxnSpPr>
        <p:spPr>
          <a:xfrm>
            <a:off x="3321050" y="5143500"/>
            <a:ext cx="4917603" cy="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</a:ln>
        </p:spPr>
      </p:cxnSp>
      <p:cxnSp>
        <p:nvCxnSpPr>
          <p:cNvPr id="36" name="loop-drop">
            <a:extLst>
              <a:ext uri="{FF2B5EF4-FFF2-40B4-BE49-F238E27FC236}">
                <a16:creationId xmlns:a16="http://schemas.microsoft.com/office/drawing/2014/main" id="{418E7A51-CFB9-472C-0953-7AFF5450D2DA}"/>
              </a:ext>
            </a:extLst>
          </p:cNvPr>
          <p:cNvCxnSpPr/>
          <p:nvPr/>
        </p:nvCxnSpPr>
        <p:spPr>
          <a:xfrm>
            <a:off x="8238653" y="4140200"/>
            <a:ext cx="0" cy="100330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</a:ln>
        </p:spPr>
      </p:cxnSp>
      <p:cxnSp>
        <p:nvCxnSpPr>
          <p:cNvPr id="37" name="loop-rise">
            <a:extLst>
              <a:ext uri="{FF2B5EF4-FFF2-40B4-BE49-F238E27FC236}">
                <a16:creationId xmlns:a16="http://schemas.microsoft.com/office/drawing/2014/main" id="{E7B220E5-88B4-5E75-8E7B-6239C5353D2C}"/>
              </a:ext>
            </a:extLst>
          </p:cNvPr>
          <p:cNvCxnSpPr/>
          <p:nvPr/>
        </p:nvCxnSpPr>
        <p:spPr>
          <a:xfrm flipV="1">
            <a:off x="3321050" y="4140200"/>
            <a:ext cx="0" cy="100330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93897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4EC8B653-D543-4F31-A68A-EBB44A2DCE7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STEP 1 | DISCUSS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6F6C843-53CC-4D08-98EC-33EEFD67072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/spectra:discuss：先把模糊需求收斂成可驗收問題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7C997C37-20D8-4110-9A9A-F23B3EBFA363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36/50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5FE97059-1CBA-438E-8431-8571B596DB4B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課堂 prompt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E8601BC4-41E7-4629-9AF5-6E623D638FA9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335000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F3E84D7C-0311-4026-9CBA-86129D589958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30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/</a:t>
            </a:r>
            <a:r>
              <a:rPr sz="1050" b="0" dirty="0" err="1">
                <a:solidFill>
                  <a:srgbClr val="F3F7FA"/>
                </a:solidFill>
                <a:latin typeface="Menlo"/>
                <a:ea typeface="Menlo"/>
                <a:cs typeface="Menlo"/>
              </a:rPr>
              <a:t>spectra:discuss</a:t>
            </a:r>
            <a:endParaRPr sz="1050" b="0" dirty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endParaRPr sz="1050" b="0" dirty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Goal: PubMed evidence extractor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Read the template and example SPEC</a:t>
            </a:r>
          </a:p>
          <a:p>
            <a:endParaRPr sz="1050" b="0" dirty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Clarify: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1. allowed source = PubMed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2. input / output schema</a:t>
            </a:r>
          </a:p>
          <a:p>
            <a:endParaRPr sz="1050" b="0" dirty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3. </a:t>
            </a:r>
            <a:r>
              <a:rPr sz="1050" b="0" dirty="0" err="1">
                <a:solidFill>
                  <a:srgbClr val="F3F7FA"/>
                </a:solidFill>
                <a:latin typeface="Menlo"/>
                <a:ea typeface="Menlo"/>
                <a:cs typeface="Menlo"/>
              </a:rPr>
              <a:t>not_found</a:t>
            </a: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behavior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4. human review gate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5. validation fixtures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Constraint: no code yet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Ask one question at a time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Output: scope + non-goals</a:t>
            </a:r>
          </a:p>
          <a:p>
            <a:endParaRPr sz="1050" b="0" dirty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 dirty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Stop when evidence policy is unclear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51193DC9-28B7-4B53-9CF7-602C787D9F0E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7D84D867-38E7-475C-A346-5A38CC71934D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這一步要得到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17B0A591-6F59-4E2D-9478-C399B046393C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一句話 scope 與明確 non-goals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PubMed source policy 與 query metadata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input / output schema 與 not_found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validation fixtures 與 human gate</a:t>
            </a:r>
          </a:p>
        </p:txBody>
      </p:sp>
    </p:spTree>
    <p:extLst>
      <p:ext uri="{BB962C8B-B14F-4D97-AF65-F5344CB8AC3E}">
        <p14:creationId xmlns:p14="http://schemas.microsoft.com/office/powerpoint/2010/main" val="19547121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AE4ABEA2-2D46-4D62-BFDD-150EF8B3B64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STEP 2 | PROPOSE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266623-2815-45C1-9421-6B25855B83C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/spectra:propose：把討論轉成四份可互相檢查的 artifacts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7EB4F7B-2B57-471B-AF4C-BAE8A226C6C9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37/50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AF635E6A-E43D-4432-8F49-1714B8E3C3F3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619250" cy="419100"/>
          </a:xfrm>
          <a:prstGeom prst="roundRect">
            <a:avLst>
              <a:gd name="adj" fmla="val 9091"/>
            </a:avLst>
          </a:prstGeom>
          <a:solidFill>
            <a:srgbClr val="6B4AA0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A5D63A63-E202-420A-99BB-1C4F9F83B195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39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Artifact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7F66D3CD-2C30-405D-B04A-7D42E54D921E}"/>
              </a:ext>
            </a:extLst>
          </p:cNvPr>
          <p:cNvSpPr>
            <a:spLocks noGrp="1"/>
          </p:cNvSpPr>
          <p:nvPr/>
        </p:nvSpPr>
        <p:spPr>
          <a:xfrm>
            <a:off x="2419350" y="1885950"/>
            <a:ext cx="4953000" cy="419100"/>
          </a:xfrm>
          <a:prstGeom prst="roundRect">
            <a:avLst>
              <a:gd name="adj" fmla="val 9091"/>
            </a:avLst>
          </a:prstGeom>
          <a:solidFill>
            <a:srgbClr val="6B4AA0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708FFAD5-55EE-467A-ABD5-F6A3905C70AF}"/>
              </a:ext>
            </a:extLst>
          </p:cNvPr>
          <p:cNvSpPr>
            <a:spLocks noGrp="1"/>
          </p:cNvSpPr>
          <p:nvPr/>
        </p:nvSpPr>
        <p:spPr>
          <a:xfrm>
            <a:off x="2533650" y="2000250"/>
            <a:ext cx="472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這份 artifact 應回答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8E15204A-89CA-4214-82A9-E4A62C63AE1D}"/>
              </a:ext>
            </a:extLst>
          </p:cNvPr>
          <p:cNvSpPr>
            <a:spLocks noGrp="1"/>
          </p:cNvSpPr>
          <p:nvPr/>
        </p:nvSpPr>
        <p:spPr>
          <a:xfrm>
            <a:off x="7372350" y="1885950"/>
            <a:ext cx="3810000" cy="419100"/>
          </a:xfrm>
          <a:prstGeom prst="roundRect">
            <a:avLst>
              <a:gd name="adj" fmla="val 9091"/>
            </a:avLst>
          </a:prstGeom>
          <a:solidFill>
            <a:srgbClr val="6B4AA0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4365D983-4063-4229-9E2E-44C5061F690E}"/>
              </a:ext>
            </a:extLst>
          </p:cNvPr>
          <p:cNvSpPr>
            <a:spLocks noGrp="1"/>
          </p:cNvSpPr>
          <p:nvPr/>
        </p:nvSpPr>
        <p:spPr>
          <a:xfrm>
            <a:off x="7486650" y="2000250"/>
            <a:ext cx="358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PubMed extractor checkpoint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4E685EF9-2879-4EF4-9BDC-B9F6FA025AA2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6192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CFE582B0-124A-4853-82A4-7082B859397F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390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proposal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199D0644-E9FE-495B-BCAD-DD593626373C}"/>
              </a:ext>
            </a:extLst>
          </p:cNvPr>
          <p:cNvSpPr>
            <a:spLocks noGrp="1"/>
          </p:cNvSpPr>
          <p:nvPr/>
        </p:nvSpPr>
        <p:spPr>
          <a:xfrm>
            <a:off x="2419350" y="2305050"/>
            <a:ext cx="49530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38914534-4598-45B4-8A96-C8ACA9DAE6F2}"/>
              </a:ext>
            </a:extLst>
          </p:cNvPr>
          <p:cNvSpPr>
            <a:spLocks noGrp="1"/>
          </p:cNvSpPr>
          <p:nvPr/>
        </p:nvSpPr>
        <p:spPr>
          <a:xfrm>
            <a:off x="2533650" y="2400300"/>
            <a:ext cx="4724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why、scope、non-goals 與影響範圍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FA9C509C-E1A7-4AAF-8007-5F6AB8E6C948}"/>
              </a:ext>
            </a:extLst>
          </p:cNvPr>
          <p:cNvSpPr>
            <a:spLocks noGrp="1"/>
          </p:cNvSpPr>
          <p:nvPr/>
        </p:nvSpPr>
        <p:spPr>
          <a:xfrm>
            <a:off x="7372350" y="2305050"/>
            <a:ext cx="38100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35EE7AFA-8AEA-4B20-AED5-0160D1B3E782}"/>
              </a:ext>
            </a:extLst>
          </p:cNvPr>
          <p:cNvSpPr>
            <a:spLocks noGrp="1"/>
          </p:cNvSpPr>
          <p:nvPr/>
        </p:nvSpPr>
        <p:spPr>
          <a:xfrm>
            <a:off x="7486650" y="2400300"/>
            <a:ext cx="3581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只用 PubMed；不產生臨床建議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5FD5D5B3-9099-45B6-9545-B2622875B7E3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16192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4A8971A9-D5F6-4D94-8CB0-7A521B719C6B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1390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6ACB013E-0A11-4D3F-AC52-4B5BFAF8CEEE}"/>
              </a:ext>
            </a:extLst>
          </p:cNvPr>
          <p:cNvSpPr>
            <a:spLocks noGrp="1"/>
          </p:cNvSpPr>
          <p:nvPr/>
        </p:nvSpPr>
        <p:spPr>
          <a:xfrm>
            <a:off x="2419350" y="2933700"/>
            <a:ext cx="49530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9B2B8799-CDA3-42D1-8013-D000DCDC20EE}"/>
              </a:ext>
            </a:extLst>
          </p:cNvPr>
          <p:cNvSpPr>
            <a:spLocks noGrp="1"/>
          </p:cNvSpPr>
          <p:nvPr/>
        </p:nvSpPr>
        <p:spPr>
          <a:xfrm>
            <a:off x="2533650" y="3028950"/>
            <a:ext cx="4724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requirements、scenarios、acceptance criteria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768C7191-9FAB-448F-8506-B49816244016}"/>
              </a:ext>
            </a:extLst>
          </p:cNvPr>
          <p:cNvSpPr>
            <a:spLocks noGrp="1"/>
          </p:cNvSpPr>
          <p:nvPr/>
        </p:nvSpPr>
        <p:spPr>
          <a:xfrm>
            <a:off x="7372350" y="2933700"/>
            <a:ext cx="38100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A03FE386-286E-4286-835A-72002C901465}"/>
              </a:ext>
            </a:extLst>
          </p:cNvPr>
          <p:cNvSpPr>
            <a:spLocks noGrp="1"/>
          </p:cNvSpPr>
          <p:nvPr/>
        </p:nvSpPr>
        <p:spPr>
          <a:xfrm>
            <a:off x="7486650" y="3028950"/>
            <a:ext cx="3581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PMID、not_found、evidence_status、review_status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198A01A0-3E99-4989-921E-E5E6B5874B48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16192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2FDE7F61-37B3-4B73-9826-A1CC71FE1644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390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design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75EBE199-F55D-48B0-8DA9-2F3A91DA9DFA}"/>
              </a:ext>
            </a:extLst>
          </p:cNvPr>
          <p:cNvSpPr>
            <a:spLocks noGrp="1"/>
          </p:cNvSpPr>
          <p:nvPr/>
        </p:nvSpPr>
        <p:spPr>
          <a:xfrm>
            <a:off x="2419350" y="3562350"/>
            <a:ext cx="49530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15818E99-23AB-40D0-A71A-4907800ECF47}"/>
              </a:ext>
            </a:extLst>
          </p:cNvPr>
          <p:cNvSpPr>
            <a:spLocks noGrp="1"/>
          </p:cNvSpPr>
          <p:nvPr/>
        </p:nvSpPr>
        <p:spPr>
          <a:xfrm>
            <a:off x="2533650" y="3657600"/>
            <a:ext cx="4724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data flow、API、schema 與 error policy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C4CA9383-92D5-48FC-805C-E0D2AABD929D}"/>
              </a:ext>
            </a:extLst>
          </p:cNvPr>
          <p:cNvSpPr>
            <a:spLocks noGrp="1"/>
          </p:cNvSpPr>
          <p:nvPr/>
        </p:nvSpPr>
        <p:spPr>
          <a:xfrm>
            <a:off x="7372350" y="3562350"/>
            <a:ext cx="38100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E250459E-F3DC-4A4F-810D-33001AB5CC26}"/>
              </a:ext>
            </a:extLst>
          </p:cNvPr>
          <p:cNvSpPr>
            <a:spLocks noGrp="1"/>
          </p:cNvSpPr>
          <p:nvPr/>
        </p:nvSpPr>
        <p:spPr>
          <a:xfrm>
            <a:off x="7486650" y="3657600"/>
            <a:ext cx="3581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query string、query_date、source version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7A96937B-4CAF-46A3-89DB-325DEB3A56DB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161925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FD0F1D49-4076-4E55-8A13-F13F463B3256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1390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tasks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5DD7254D-EA50-4E37-97C2-9F7BAF388B27}"/>
              </a:ext>
            </a:extLst>
          </p:cNvPr>
          <p:cNvSpPr>
            <a:spLocks noGrp="1"/>
          </p:cNvSpPr>
          <p:nvPr/>
        </p:nvSpPr>
        <p:spPr>
          <a:xfrm>
            <a:off x="2419350" y="4191000"/>
            <a:ext cx="49530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D3CF34C8-CE30-43F9-9BEA-629F5BE9B9BE}"/>
              </a:ext>
            </a:extLst>
          </p:cNvPr>
          <p:cNvSpPr>
            <a:spLocks noGrp="1"/>
          </p:cNvSpPr>
          <p:nvPr/>
        </p:nvSpPr>
        <p:spPr>
          <a:xfrm>
            <a:off x="2533650" y="4286250"/>
            <a:ext cx="4724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每個 implementation unit 是否可獨立驗證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D9BC5609-B52F-4504-8063-6B885726A0B5}"/>
              </a:ext>
            </a:extLst>
          </p:cNvPr>
          <p:cNvSpPr>
            <a:spLocks noGrp="1"/>
          </p:cNvSpPr>
          <p:nvPr/>
        </p:nvSpPr>
        <p:spPr>
          <a:xfrm>
            <a:off x="7372350" y="4191000"/>
            <a:ext cx="3810000" cy="628650"/>
          </a:xfrm>
          <a:prstGeom prst="roundRect">
            <a:avLst>
              <a:gd name="adj" fmla="val 6061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2B6020F6-39EC-4868-AB66-25A420856598}"/>
              </a:ext>
            </a:extLst>
          </p:cNvPr>
          <p:cNvSpPr>
            <a:spLocks noGrp="1"/>
          </p:cNvSpPr>
          <p:nvPr/>
        </p:nvSpPr>
        <p:spPr>
          <a:xfrm>
            <a:off x="7486650" y="4286250"/>
            <a:ext cx="3581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schema test、golden file、negative fixtures</a:t>
            </a:r>
          </a:p>
        </p:txBody>
      </p:sp>
    </p:spTree>
    <p:extLst>
      <p:ext uri="{BB962C8B-B14F-4D97-AF65-F5344CB8AC3E}">
        <p14:creationId xmlns:p14="http://schemas.microsoft.com/office/powerpoint/2010/main" val="25210528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AEED340F-B63C-4E15-9E82-A621F31764D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STEP 3 | REVIEW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C8F1EAA-485C-465E-BE94-5A381E6C89A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在 /spectra:apply 前，把 artifacts 當作 acceptance contract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27233ACA-CB8E-4D71-907D-AACFF94414FE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38/50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8AE5CAA0-F48F-4751-B630-581DA3C82E7E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5E396340-271D-46FC-B79A-95E185091EF1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人工不能外包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F020915-84A5-2A4B-A226-86EF73822219}"/>
              </a:ext>
            </a:extLst>
          </p:cNvPr>
          <p:cNvSpPr txBox="1"/>
          <p:nvPr/>
        </p:nvSpPr>
        <p:spPr>
          <a:xfrm>
            <a:off x="1333500" y="20447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200">
                <a:solidFill>
                  <a:srgbClr val="17202A"/>
                </a:solidFill>
                <a:latin typeface="PingFang TC"/>
              </a:rPr>
              <a:t>Before apply: source policy + not_found + validation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8C0742B-3F09-DA4E-8090-6498A06A55E2}"/>
              </a:ext>
            </a:extLst>
          </p:cNvPr>
          <p:cNvSpPr txBox="1"/>
          <p:nvPr/>
        </p:nvSpPr>
        <p:spPr>
          <a:xfrm>
            <a:off x="1333500" y="28829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200">
                <a:solidFill>
                  <a:srgbClr val="17202A"/>
                </a:solidFill>
                <a:latin typeface="PingFang TC"/>
              </a:rPr>
              <a:t>Requirement gap: stop and run /spectra:ingest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B7B60B7-F1F3-4948-8677-627B57EABDC3}"/>
              </a:ext>
            </a:extLst>
          </p:cNvPr>
          <p:cNvSpPr txBox="1"/>
          <p:nvPr/>
        </p:nvSpPr>
        <p:spPr>
          <a:xfrm>
            <a:off x="1333500" y="37211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200">
                <a:solidFill>
                  <a:srgbClr val="17202A"/>
                </a:solidFill>
                <a:latin typeface="PingFang TC"/>
              </a:rPr>
              <a:t>Biomedical fields: preserve needs_review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4A201CA-43BB-5B49-944E-03F552321D22}"/>
              </a:ext>
            </a:extLst>
          </p:cNvPr>
          <p:cNvSpPr txBox="1"/>
          <p:nvPr/>
        </p:nvSpPr>
        <p:spPr>
          <a:xfrm>
            <a:off x="1333500" y="45593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200">
                <a:solidFill>
                  <a:srgbClr val="17202A"/>
                </a:solidFill>
                <a:latin typeface="PingFang TC"/>
              </a:rPr>
              <a:t>Archive: spec + tasks + tests + commit must trace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109B723-846F-D64F-A786-0D20C04AE326}"/>
              </a:ext>
            </a:extLst>
          </p:cNvPr>
          <p:cNvSpPr txBox="1"/>
          <p:nvPr/>
        </p:nvSpPr>
        <p:spPr>
          <a:xfrm>
            <a:off x="7493000" y="27813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clinical interpretation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722C6BF-A295-FC4E-A3E3-45631EA168BA}"/>
              </a:ext>
            </a:extLst>
          </p:cNvPr>
          <p:cNvSpPr txBox="1"/>
          <p:nvPr/>
        </p:nvSpPr>
        <p:spPr>
          <a:xfrm>
            <a:off x="7493000" y="33401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PHI / sensitive data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812E849-18A9-D446-9494-D9594A3BDAC2}"/>
              </a:ext>
            </a:extLst>
          </p:cNvPr>
          <p:cNvSpPr txBox="1"/>
          <p:nvPr/>
        </p:nvSpPr>
        <p:spPr>
          <a:xfrm>
            <a:off x="7493000" y="38989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source authority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2CCA749-5B18-A34D-9B8F-8EC32E458AD3}"/>
              </a:ext>
            </a:extLst>
          </p:cNvPr>
          <p:cNvSpPr txBox="1"/>
          <p:nvPr/>
        </p:nvSpPr>
        <p:spPr>
          <a:xfrm>
            <a:off x="7493000" y="44577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merge / release decision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3AEF5456-294B-704B-8D7C-79A708A1C99E}"/>
              </a:ext>
            </a:extLst>
          </p:cNvPr>
          <p:cNvSpPr/>
          <p:nvPr/>
        </p:nvSpPr>
        <p:spPr>
          <a:xfrm>
            <a:off x="876300" y="5200000"/>
            <a:ext cx="9766300" cy="609600"/>
          </a:xfrm>
          <a:prstGeom prst="roundRect">
            <a:avLst/>
          </a:prstGeom>
          <a:solidFill>
            <a:srgbClr val="FDEDE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F8A3EB-33D9-B24D-A740-A4089A06304D}"/>
              </a:ext>
            </a:extLst>
          </p:cNvPr>
          <p:cNvSpPr/>
          <p:nvPr/>
        </p:nvSpPr>
        <p:spPr>
          <a:xfrm>
            <a:off x="876300" y="5200000"/>
            <a:ext cx="50800" cy="609600"/>
          </a:xfrm>
          <a:prstGeom prst="rect">
            <a:avLst/>
          </a:prstGeom>
          <a:solidFill>
            <a:srgbClr val="C85A4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B200A96-CFA3-CD47-A179-856064015DFE}"/>
              </a:ext>
            </a:extLst>
          </p:cNvPr>
          <p:cNvSpPr txBox="1"/>
          <p:nvPr/>
        </p:nvSpPr>
        <p:spPr>
          <a:xfrm>
            <a:off x="1181100" y="5200000"/>
            <a:ext cx="9271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TW" altLang="en-US" sz="1200" b="1">
                <a:solidFill>
                  <a:srgbClr val="C85A4A"/>
                </a:solidFill>
                <a:latin typeface="PingFang TC"/>
              </a:rPr>
              <a:t>Spectra checks artifacts; humans approve biomedical correctness.</a:t>
            </a:r>
          </a:p>
        </p:txBody>
      </p:sp>
      <p:pic>
        <p:nvPicPr>
          <p:cNvPr id="20" name="Graphic 20" descr="審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" y="2095500"/>
            <a:ext cx="304800" cy="304800"/>
          </a:xfrm>
          <a:prstGeom prst="rect">
            <a:avLst/>
          </a:prstGeom>
        </p:spPr>
      </p:pic>
      <p:pic>
        <p:nvPicPr>
          <p:cNvPr id="21" name="Graphic 21" descr="更新規格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" y="2933700"/>
            <a:ext cx="304800" cy="304800"/>
          </a:xfrm>
          <a:prstGeom prst="rect">
            <a:avLst/>
          </a:prstGeom>
        </p:spPr>
      </p:pic>
      <p:pic>
        <p:nvPicPr>
          <p:cNvPr id="22" name="Graphic 22" descr="需審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3771900"/>
            <a:ext cx="304800" cy="304800"/>
          </a:xfrm>
          <a:prstGeom prst="rect">
            <a:avLst/>
          </a:prstGeom>
        </p:spPr>
      </p:pic>
      <p:pic>
        <p:nvPicPr>
          <p:cNvPr id="23" name="Graphic 23" descr="追溯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" y="4610100"/>
            <a:ext cx="304800" cy="304800"/>
          </a:xfrm>
          <a:prstGeom prst="rect">
            <a:avLst/>
          </a:prstGeom>
        </p:spPr>
      </p:pic>
      <p:pic>
        <p:nvPicPr>
          <p:cNvPr id="24" name="Graphic 24" descr="臨床判斷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2832100"/>
            <a:ext cx="254000" cy="254000"/>
          </a:xfrm>
          <a:prstGeom prst="rect">
            <a:avLst/>
          </a:prstGeom>
        </p:spPr>
      </p:pic>
      <p:pic>
        <p:nvPicPr>
          <p:cNvPr id="25" name="Graphic 25" descr="敏感資料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0" y="3390900"/>
            <a:ext cx="254000" cy="254000"/>
          </a:xfrm>
          <a:prstGeom prst="rect">
            <a:avLst/>
          </a:prstGeom>
        </p:spPr>
      </p:pic>
      <p:pic>
        <p:nvPicPr>
          <p:cNvPr id="26" name="Graphic 26" descr="來源權威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3949700"/>
            <a:ext cx="254000" cy="254000"/>
          </a:xfrm>
          <a:prstGeom prst="rect">
            <a:avLst/>
          </a:prstGeom>
        </p:spPr>
      </p:pic>
      <p:pic>
        <p:nvPicPr>
          <p:cNvPr id="27" name="Graphic 27" descr="合併決策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2000" y="45085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552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C1BFAE4B-32FD-4B73-B954-E7E0E896F53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STEP 4 | APPLY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66446E1-A3E8-46FE-AD42-48C1E334195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/spectra:apply：只執行已核准的 tasks，並用測試逐項回報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224AA40-B28C-464F-93F1-3CD199C3020A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39/50</a:t>
            </a:r>
          </a:p>
        </p:txBody>
      </p:sp>
      <p:sp>
        <p:nvSpPr>
          <p:cNvPr id="4" name="step-0">
            <a:extLst>
              <a:ext uri="{FF2B5EF4-FFF2-40B4-BE49-F238E27FC236}">
                <a16:creationId xmlns:a16="http://schemas.microsoft.com/office/drawing/2014/main" id="{46F92B2C-33B4-48F1-A943-61C628A50468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tep-no-0">
            <a:extLst>
              <a:ext uri="{FF2B5EF4-FFF2-40B4-BE49-F238E27FC236}">
                <a16:creationId xmlns:a16="http://schemas.microsoft.com/office/drawing/2014/main" id="{1F2B0ED0-ECC3-4263-A14F-2539C6DAFF31}"/>
              </a:ext>
            </a:extLst>
          </p:cNvPr>
          <p:cNvSpPr>
            <a:spLocks noGrp="1"/>
          </p:cNvSpPr>
          <p:nvPr/>
        </p:nvSpPr>
        <p:spPr>
          <a:xfrm>
            <a:off x="108585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title-0">
            <a:extLst>
              <a:ext uri="{FF2B5EF4-FFF2-40B4-BE49-F238E27FC236}">
                <a16:creationId xmlns:a16="http://schemas.microsoft.com/office/drawing/2014/main" id="{CDA70C51-158F-461B-A0E2-A1AFB0F4F49A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Inspect</a:t>
            </a:r>
          </a:p>
        </p:txBody>
      </p:sp>
      <p:sp>
        <p:nvSpPr>
          <p:cNvPr id="7" name="step-copy-0">
            <a:extLst>
              <a:ext uri="{FF2B5EF4-FFF2-40B4-BE49-F238E27FC236}">
                <a16:creationId xmlns:a16="http://schemas.microsoft.com/office/drawing/2014/main" id="{D53DD064-C081-4329-A1E0-F0812D606F41}"/>
              </a:ext>
            </a:extLst>
          </p:cNvPr>
          <p:cNvSpPr>
            <a:spLocks noGrp="1"/>
          </p:cNvSpPr>
          <p:nvPr/>
        </p:nvSpPr>
        <p:spPr>
          <a:xfrm>
            <a:off x="108585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讀 tasks.md 與 dependency</a:t>
            </a:r>
          </a:p>
        </p:txBody>
      </p:sp>
      <p:sp>
        <p:nvSpPr>
          <p:cNvPr id="8" name="step-arrow-0">
            <a:extLst>
              <a:ext uri="{FF2B5EF4-FFF2-40B4-BE49-F238E27FC236}">
                <a16:creationId xmlns:a16="http://schemas.microsoft.com/office/drawing/2014/main" id="{DFD626F8-5B6E-453A-AC46-2C468BF93B16}"/>
              </a:ext>
            </a:extLst>
          </p:cNvPr>
          <p:cNvSpPr>
            <a:spLocks noGrp="1"/>
          </p:cNvSpPr>
          <p:nvPr/>
        </p:nvSpPr>
        <p:spPr>
          <a:xfrm>
            <a:off x="241935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step-1">
            <a:extLst>
              <a:ext uri="{FF2B5EF4-FFF2-40B4-BE49-F238E27FC236}">
                <a16:creationId xmlns:a16="http://schemas.microsoft.com/office/drawing/2014/main" id="{28DC70EA-004D-455E-BA6D-EB08E39A2DBB}"/>
              </a:ext>
            </a:extLst>
          </p:cNvPr>
          <p:cNvSpPr>
            <a:spLocks noGrp="1"/>
          </p:cNvSpPr>
          <p:nvPr/>
        </p:nvSpPr>
        <p:spPr>
          <a:xfrm>
            <a:off x="260032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no-1">
            <a:extLst>
              <a:ext uri="{FF2B5EF4-FFF2-40B4-BE49-F238E27FC236}">
                <a16:creationId xmlns:a16="http://schemas.microsoft.com/office/drawing/2014/main" id="{416C4457-366B-45FD-B8CC-8AD446331031}"/>
              </a:ext>
            </a:extLst>
          </p:cNvPr>
          <p:cNvSpPr>
            <a:spLocks noGrp="1"/>
          </p:cNvSpPr>
          <p:nvPr/>
        </p:nvSpPr>
        <p:spPr>
          <a:xfrm>
            <a:off x="277177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ep-title-1">
            <a:extLst>
              <a:ext uri="{FF2B5EF4-FFF2-40B4-BE49-F238E27FC236}">
                <a16:creationId xmlns:a16="http://schemas.microsoft.com/office/drawing/2014/main" id="{E9673309-C351-4B68-8720-76DE29D2F656}"/>
              </a:ext>
            </a:extLst>
          </p:cNvPr>
          <p:cNvSpPr>
            <a:spLocks noGrp="1"/>
          </p:cNvSpPr>
          <p:nvPr/>
        </p:nvSpPr>
        <p:spPr>
          <a:xfrm>
            <a:off x="277177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Approve</a:t>
            </a:r>
          </a:p>
        </p:txBody>
      </p:sp>
      <p:sp>
        <p:nvSpPr>
          <p:cNvPr id="12" name="step-copy-1">
            <a:extLst>
              <a:ext uri="{FF2B5EF4-FFF2-40B4-BE49-F238E27FC236}">
                <a16:creationId xmlns:a16="http://schemas.microsoft.com/office/drawing/2014/main" id="{7B76B807-8CE7-48B4-A3A4-BEA80ACD4A3C}"/>
              </a:ext>
            </a:extLst>
          </p:cNvPr>
          <p:cNvSpPr>
            <a:spLocks noGrp="1"/>
          </p:cNvSpPr>
          <p:nvPr/>
        </p:nvSpPr>
        <p:spPr>
          <a:xfrm>
            <a:off x="277177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只核准本輪 scope</a:t>
            </a:r>
          </a:p>
        </p:txBody>
      </p:sp>
      <p:sp>
        <p:nvSpPr>
          <p:cNvPr id="13" name="step-arrow-1">
            <a:extLst>
              <a:ext uri="{FF2B5EF4-FFF2-40B4-BE49-F238E27FC236}">
                <a16:creationId xmlns:a16="http://schemas.microsoft.com/office/drawing/2014/main" id="{1BB4F79F-7A23-407B-A2D5-7C4C667A5E71}"/>
              </a:ext>
            </a:extLst>
          </p:cNvPr>
          <p:cNvSpPr>
            <a:spLocks noGrp="1"/>
          </p:cNvSpPr>
          <p:nvPr/>
        </p:nvSpPr>
        <p:spPr>
          <a:xfrm>
            <a:off x="4105275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step-2">
            <a:extLst>
              <a:ext uri="{FF2B5EF4-FFF2-40B4-BE49-F238E27FC236}">
                <a16:creationId xmlns:a16="http://schemas.microsoft.com/office/drawing/2014/main" id="{12E2196D-C7E2-431D-825D-B4E98D45C291}"/>
              </a:ext>
            </a:extLst>
          </p:cNvPr>
          <p:cNvSpPr>
            <a:spLocks noGrp="1"/>
          </p:cNvSpPr>
          <p:nvPr/>
        </p:nvSpPr>
        <p:spPr>
          <a:xfrm>
            <a:off x="428625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tep-no-2">
            <a:extLst>
              <a:ext uri="{FF2B5EF4-FFF2-40B4-BE49-F238E27FC236}">
                <a16:creationId xmlns:a16="http://schemas.microsoft.com/office/drawing/2014/main" id="{38C2B10C-C78A-490B-8C76-46C8760076A1}"/>
              </a:ext>
            </a:extLst>
          </p:cNvPr>
          <p:cNvSpPr>
            <a:spLocks noGrp="1"/>
          </p:cNvSpPr>
          <p:nvPr/>
        </p:nvSpPr>
        <p:spPr>
          <a:xfrm>
            <a:off x="445770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tep-title-2">
            <a:extLst>
              <a:ext uri="{FF2B5EF4-FFF2-40B4-BE49-F238E27FC236}">
                <a16:creationId xmlns:a16="http://schemas.microsoft.com/office/drawing/2014/main" id="{ACD7C26F-7DC7-488B-96A8-07FC71DDEF2C}"/>
              </a:ext>
            </a:extLst>
          </p:cNvPr>
          <p:cNvSpPr>
            <a:spLocks noGrp="1"/>
          </p:cNvSpPr>
          <p:nvPr/>
        </p:nvSpPr>
        <p:spPr>
          <a:xfrm>
            <a:off x="445770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Apply</a:t>
            </a:r>
          </a:p>
        </p:txBody>
      </p:sp>
      <p:sp>
        <p:nvSpPr>
          <p:cNvPr id="17" name="step-copy-2">
            <a:extLst>
              <a:ext uri="{FF2B5EF4-FFF2-40B4-BE49-F238E27FC236}">
                <a16:creationId xmlns:a16="http://schemas.microsoft.com/office/drawing/2014/main" id="{CFF17B8E-0788-46ED-9054-CB308F711E85}"/>
              </a:ext>
            </a:extLst>
          </p:cNvPr>
          <p:cNvSpPr>
            <a:spLocks noGrp="1"/>
          </p:cNvSpPr>
          <p:nvPr/>
        </p:nvSpPr>
        <p:spPr>
          <a:xfrm>
            <a:off x="445770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執行 /spectra:apply</a:t>
            </a:r>
          </a:p>
        </p:txBody>
      </p:sp>
      <p:sp>
        <p:nvSpPr>
          <p:cNvPr id="18" name="step-arrow-2">
            <a:extLst>
              <a:ext uri="{FF2B5EF4-FFF2-40B4-BE49-F238E27FC236}">
                <a16:creationId xmlns:a16="http://schemas.microsoft.com/office/drawing/2014/main" id="{A2A9E9B2-B107-4FD6-8856-F2BCF40131A3}"/>
              </a:ext>
            </a:extLst>
          </p:cNvPr>
          <p:cNvSpPr>
            <a:spLocks noGrp="1"/>
          </p:cNvSpPr>
          <p:nvPr/>
        </p:nvSpPr>
        <p:spPr>
          <a:xfrm>
            <a:off x="579120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step-3">
            <a:extLst>
              <a:ext uri="{FF2B5EF4-FFF2-40B4-BE49-F238E27FC236}">
                <a16:creationId xmlns:a16="http://schemas.microsoft.com/office/drawing/2014/main" id="{C4C83922-B803-49E3-9F1D-A5F4D59A383D}"/>
              </a:ext>
            </a:extLst>
          </p:cNvPr>
          <p:cNvSpPr>
            <a:spLocks noGrp="1"/>
          </p:cNvSpPr>
          <p:nvPr/>
        </p:nvSpPr>
        <p:spPr>
          <a:xfrm>
            <a:off x="597217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tep-no-3">
            <a:extLst>
              <a:ext uri="{FF2B5EF4-FFF2-40B4-BE49-F238E27FC236}">
                <a16:creationId xmlns:a16="http://schemas.microsoft.com/office/drawing/2014/main" id="{CC3CBA76-4331-4365-B88D-6AF03F6F8BD0}"/>
              </a:ext>
            </a:extLst>
          </p:cNvPr>
          <p:cNvSpPr>
            <a:spLocks noGrp="1"/>
          </p:cNvSpPr>
          <p:nvPr/>
        </p:nvSpPr>
        <p:spPr>
          <a:xfrm>
            <a:off x="614362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tep-title-3">
            <a:extLst>
              <a:ext uri="{FF2B5EF4-FFF2-40B4-BE49-F238E27FC236}">
                <a16:creationId xmlns:a16="http://schemas.microsoft.com/office/drawing/2014/main" id="{93CB6F3C-3C52-45EE-B2B5-A8ADABD79D90}"/>
              </a:ext>
            </a:extLst>
          </p:cNvPr>
          <p:cNvSpPr>
            <a:spLocks noGrp="1"/>
          </p:cNvSpPr>
          <p:nvPr/>
        </p:nvSpPr>
        <p:spPr>
          <a:xfrm>
            <a:off x="614362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Validate</a:t>
            </a:r>
          </a:p>
        </p:txBody>
      </p:sp>
      <p:sp>
        <p:nvSpPr>
          <p:cNvPr id="22" name="step-copy-3">
            <a:extLst>
              <a:ext uri="{FF2B5EF4-FFF2-40B4-BE49-F238E27FC236}">
                <a16:creationId xmlns:a16="http://schemas.microsoft.com/office/drawing/2014/main" id="{7CF1C2E1-B34A-43B9-AB1D-AA43672EEFFA}"/>
              </a:ext>
            </a:extLst>
          </p:cNvPr>
          <p:cNvSpPr>
            <a:spLocks noGrp="1"/>
          </p:cNvSpPr>
          <p:nvPr/>
        </p:nvSpPr>
        <p:spPr>
          <a:xfrm>
            <a:off x="614362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每完成一項就跑測試</a:t>
            </a:r>
          </a:p>
        </p:txBody>
      </p:sp>
      <p:sp>
        <p:nvSpPr>
          <p:cNvPr id="23" name="step-arrow-3">
            <a:extLst>
              <a:ext uri="{FF2B5EF4-FFF2-40B4-BE49-F238E27FC236}">
                <a16:creationId xmlns:a16="http://schemas.microsoft.com/office/drawing/2014/main" id="{8C7B4479-757E-4898-B904-6753D6981D09}"/>
              </a:ext>
            </a:extLst>
          </p:cNvPr>
          <p:cNvSpPr>
            <a:spLocks noGrp="1"/>
          </p:cNvSpPr>
          <p:nvPr/>
        </p:nvSpPr>
        <p:spPr>
          <a:xfrm>
            <a:off x="7477125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step-4">
            <a:extLst>
              <a:ext uri="{FF2B5EF4-FFF2-40B4-BE49-F238E27FC236}">
                <a16:creationId xmlns:a16="http://schemas.microsoft.com/office/drawing/2014/main" id="{43ADFC4D-ECBE-4C44-AFEB-717005D83BAA}"/>
              </a:ext>
            </a:extLst>
          </p:cNvPr>
          <p:cNvSpPr>
            <a:spLocks noGrp="1"/>
          </p:cNvSpPr>
          <p:nvPr/>
        </p:nvSpPr>
        <p:spPr>
          <a:xfrm>
            <a:off x="765810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tep-no-4">
            <a:extLst>
              <a:ext uri="{FF2B5EF4-FFF2-40B4-BE49-F238E27FC236}">
                <a16:creationId xmlns:a16="http://schemas.microsoft.com/office/drawing/2014/main" id="{639A868E-6EF2-4C79-B16D-866C8B4ABB98}"/>
              </a:ext>
            </a:extLst>
          </p:cNvPr>
          <p:cNvSpPr>
            <a:spLocks noGrp="1"/>
          </p:cNvSpPr>
          <p:nvPr/>
        </p:nvSpPr>
        <p:spPr>
          <a:xfrm>
            <a:off x="782955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step-title-4">
            <a:extLst>
              <a:ext uri="{FF2B5EF4-FFF2-40B4-BE49-F238E27FC236}">
                <a16:creationId xmlns:a16="http://schemas.microsoft.com/office/drawing/2014/main" id="{D24CA2B6-864A-44D8-89FF-3F6D8D7FF3BA}"/>
              </a:ext>
            </a:extLst>
          </p:cNvPr>
          <p:cNvSpPr>
            <a:spLocks noGrp="1"/>
          </p:cNvSpPr>
          <p:nvPr/>
        </p:nvSpPr>
        <p:spPr>
          <a:xfrm>
            <a:off x="782955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Record</a:t>
            </a:r>
          </a:p>
        </p:txBody>
      </p:sp>
      <p:sp>
        <p:nvSpPr>
          <p:cNvPr id="27" name="step-copy-4">
            <a:extLst>
              <a:ext uri="{FF2B5EF4-FFF2-40B4-BE49-F238E27FC236}">
                <a16:creationId xmlns:a16="http://schemas.microsoft.com/office/drawing/2014/main" id="{29219025-D8C2-4570-9A99-55C9F152A0EB}"/>
              </a:ext>
            </a:extLst>
          </p:cNvPr>
          <p:cNvSpPr>
            <a:spLocks noGrp="1"/>
          </p:cNvSpPr>
          <p:nvPr/>
        </p:nvSpPr>
        <p:spPr>
          <a:xfrm>
            <a:off x="782955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更新 checkbox 與結果</a:t>
            </a:r>
          </a:p>
        </p:txBody>
      </p:sp>
      <p:sp>
        <p:nvSpPr>
          <p:cNvPr id="28" name="step-arrow-4">
            <a:extLst>
              <a:ext uri="{FF2B5EF4-FFF2-40B4-BE49-F238E27FC236}">
                <a16:creationId xmlns:a16="http://schemas.microsoft.com/office/drawing/2014/main" id="{4D51C3BB-2975-4CDB-9380-D3B25219E4D3}"/>
              </a:ext>
            </a:extLst>
          </p:cNvPr>
          <p:cNvSpPr>
            <a:spLocks noGrp="1"/>
          </p:cNvSpPr>
          <p:nvPr/>
        </p:nvSpPr>
        <p:spPr>
          <a:xfrm>
            <a:off x="916305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step-5">
            <a:extLst>
              <a:ext uri="{FF2B5EF4-FFF2-40B4-BE49-F238E27FC236}">
                <a16:creationId xmlns:a16="http://schemas.microsoft.com/office/drawing/2014/main" id="{FB329B9B-D692-49BD-BF2A-AB67FC70B03F}"/>
              </a:ext>
            </a:extLst>
          </p:cNvPr>
          <p:cNvSpPr>
            <a:spLocks noGrp="1"/>
          </p:cNvSpPr>
          <p:nvPr/>
        </p:nvSpPr>
        <p:spPr>
          <a:xfrm>
            <a:off x="934402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tep-no-5">
            <a:extLst>
              <a:ext uri="{FF2B5EF4-FFF2-40B4-BE49-F238E27FC236}">
                <a16:creationId xmlns:a16="http://schemas.microsoft.com/office/drawing/2014/main" id="{8CD040F8-537B-4F09-AA3C-00436538C6CD}"/>
              </a:ext>
            </a:extLst>
          </p:cNvPr>
          <p:cNvSpPr>
            <a:spLocks noGrp="1"/>
          </p:cNvSpPr>
          <p:nvPr/>
        </p:nvSpPr>
        <p:spPr>
          <a:xfrm>
            <a:off x="951547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step-title-5">
            <a:extLst>
              <a:ext uri="{FF2B5EF4-FFF2-40B4-BE49-F238E27FC236}">
                <a16:creationId xmlns:a16="http://schemas.microsoft.com/office/drawing/2014/main" id="{CBDB177F-F02F-4609-A049-BFC53365C356}"/>
              </a:ext>
            </a:extLst>
          </p:cNvPr>
          <p:cNvSpPr>
            <a:spLocks noGrp="1"/>
          </p:cNvSpPr>
          <p:nvPr/>
        </p:nvSpPr>
        <p:spPr>
          <a:xfrm>
            <a:off x="951547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Stop</a:t>
            </a:r>
          </a:p>
        </p:txBody>
      </p:sp>
      <p:sp>
        <p:nvSpPr>
          <p:cNvPr id="32" name="step-copy-5">
            <a:extLst>
              <a:ext uri="{FF2B5EF4-FFF2-40B4-BE49-F238E27FC236}">
                <a16:creationId xmlns:a16="http://schemas.microsoft.com/office/drawing/2014/main" id="{1F83C7F0-0207-4030-9F9E-5BB178033EF5}"/>
              </a:ext>
            </a:extLst>
          </p:cNvPr>
          <p:cNvSpPr>
            <a:spLocks noGrp="1"/>
          </p:cNvSpPr>
          <p:nvPr/>
        </p:nvSpPr>
        <p:spPr>
          <a:xfrm>
            <a:off x="951547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缺 requirement 就轉 ingest</a:t>
            </a:r>
          </a:p>
        </p:txBody>
      </p:sp>
      <p:sp>
        <p:nvSpPr>
          <p:cNvPr id="33" name="source">
            <a:extLst>
              <a:ext uri="{FF2B5EF4-FFF2-40B4-BE49-F238E27FC236}">
                <a16:creationId xmlns:a16="http://schemas.microsoft.com/office/drawing/2014/main" id="{7BB0B918-190D-4600-96AF-238F4039F106}"/>
              </a:ext>
            </a:extLst>
          </p:cNvPr>
          <p:cNvSpPr>
            <a:spLocks noGrp="1"/>
          </p:cNvSpPr>
          <p:nvPr/>
        </p:nvSpPr>
        <p:spPr>
          <a:xfrm>
            <a:off x="6858000" y="619000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Rule: tasks define scope; tests and artifacts define completion</a:t>
            </a:r>
          </a:p>
        </p:txBody>
      </p:sp>
      <p:cxnSp>
        <p:nvCxnSpPr>
          <p:cNvPr id="35" name="loop-horizontal">
            <a:extLst>
              <a:ext uri="{FF2B5EF4-FFF2-40B4-BE49-F238E27FC236}">
                <a16:creationId xmlns:a16="http://schemas.microsoft.com/office/drawing/2014/main" id="{3596ABB4-924D-4A4D-5DCE-1AC3D1B73FFB}"/>
              </a:ext>
            </a:extLst>
          </p:cNvPr>
          <p:cNvCxnSpPr>
            <a:cxnSpLocks/>
          </p:cNvCxnSpPr>
          <p:nvPr/>
        </p:nvCxnSpPr>
        <p:spPr>
          <a:xfrm>
            <a:off x="3321050" y="5143500"/>
            <a:ext cx="4917603" cy="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</a:ln>
        </p:spPr>
      </p:cxnSp>
      <p:cxnSp>
        <p:nvCxnSpPr>
          <p:cNvPr id="36" name="loop-drop">
            <a:extLst>
              <a:ext uri="{FF2B5EF4-FFF2-40B4-BE49-F238E27FC236}">
                <a16:creationId xmlns:a16="http://schemas.microsoft.com/office/drawing/2014/main" id="{418E7A51-CFB9-472C-0953-7AFF5450D2DA}"/>
              </a:ext>
            </a:extLst>
          </p:cNvPr>
          <p:cNvCxnSpPr/>
          <p:nvPr/>
        </p:nvCxnSpPr>
        <p:spPr>
          <a:xfrm>
            <a:off x="8238653" y="4140200"/>
            <a:ext cx="0" cy="100330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</a:ln>
        </p:spPr>
      </p:cxnSp>
      <p:cxnSp>
        <p:nvCxnSpPr>
          <p:cNvPr id="37" name="loop-rise">
            <a:extLst>
              <a:ext uri="{FF2B5EF4-FFF2-40B4-BE49-F238E27FC236}">
                <a16:creationId xmlns:a16="http://schemas.microsoft.com/office/drawing/2014/main" id="{E7B220E5-88B4-5E75-8E7B-6239C5353D2C}"/>
              </a:ext>
            </a:extLst>
          </p:cNvPr>
          <p:cNvCxnSpPr/>
          <p:nvPr/>
        </p:nvCxnSpPr>
        <p:spPr>
          <a:xfrm flipV="1">
            <a:off x="3321050" y="4140200"/>
            <a:ext cx="0" cy="100330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93897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C1BFAE4B-32FD-4B73-B954-E7E0E896F53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STEP 5 | INGEST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66446E1-A3E8-46FE-AD42-48C1E334195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/spectra:ingest：需求改變時，先更新規格，再繼續改程式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224AA40-B28C-464F-93F1-3CD199C3020A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40/50</a:t>
            </a:r>
          </a:p>
        </p:txBody>
      </p:sp>
      <p:sp>
        <p:nvSpPr>
          <p:cNvPr id="4" name="step-0">
            <a:extLst>
              <a:ext uri="{FF2B5EF4-FFF2-40B4-BE49-F238E27FC236}">
                <a16:creationId xmlns:a16="http://schemas.microsoft.com/office/drawing/2014/main" id="{46F92B2C-33B4-48F1-A943-61C628A50468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tep-no-0">
            <a:extLst>
              <a:ext uri="{FF2B5EF4-FFF2-40B4-BE49-F238E27FC236}">
                <a16:creationId xmlns:a16="http://schemas.microsoft.com/office/drawing/2014/main" id="{1F2B0ED0-ECC3-4263-A14F-2539C6DAFF31}"/>
              </a:ext>
            </a:extLst>
          </p:cNvPr>
          <p:cNvSpPr>
            <a:spLocks noGrp="1"/>
          </p:cNvSpPr>
          <p:nvPr/>
        </p:nvSpPr>
        <p:spPr>
          <a:xfrm>
            <a:off x="108585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title-0">
            <a:extLst>
              <a:ext uri="{FF2B5EF4-FFF2-40B4-BE49-F238E27FC236}">
                <a16:creationId xmlns:a16="http://schemas.microsoft.com/office/drawing/2014/main" id="{CDA70C51-158F-461B-A0E2-A1AFB0F4F49A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Observe</a:t>
            </a:r>
          </a:p>
        </p:txBody>
      </p:sp>
      <p:sp>
        <p:nvSpPr>
          <p:cNvPr id="7" name="step-copy-0">
            <a:extLst>
              <a:ext uri="{FF2B5EF4-FFF2-40B4-BE49-F238E27FC236}">
                <a16:creationId xmlns:a16="http://schemas.microsoft.com/office/drawing/2014/main" id="{D53DD064-C081-4329-A1E0-F0812D606F41}"/>
              </a:ext>
            </a:extLst>
          </p:cNvPr>
          <p:cNvSpPr>
            <a:spLocks noGrp="1"/>
          </p:cNvSpPr>
          <p:nvPr/>
        </p:nvSpPr>
        <p:spPr>
          <a:xfrm>
            <a:off x="108585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發現 query_date 必須保留</a:t>
            </a:r>
          </a:p>
        </p:txBody>
      </p:sp>
      <p:sp>
        <p:nvSpPr>
          <p:cNvPr id="8" name="step-arrow-0">
            <a:extLst>
              <a:ext uri="{FF2B5EF4-FFF2-40B4-BE49-F238E27FC236}">
                <a16:creationId xmlns:a16="http://schemas.microsoft.com/office/drawing/2014/main" id="{DFD626F8-5B6E-453A-AC46-2C468BF93B16}"/>
              </a:ext>
            </a:extLst>
          </p:cNvPr>
          <p:cNvSpPr>
            <a:spLocks noGrp="1"/>
          </p:cNvSpPr>
          <p:nvPr/>
        </p:nvSpPr>
        <p:spPr>
          <a:xfrm>
            <a:off x="241935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step-1">
            <a:extLst>
              <a:ext uri="{FF2B5EF4-FFF2-40B4-BE49-F238E27FC236}">
                <a16:creationId xmlns:a16="http://schemas.microsoft.com/office/drawing/2014/main" id="{28DC70EA-004D-455E-BA6D-EB08E39A2DBB}"/>
              </a:ext>
            </a:extLst>
          </p:cNvPr>
          <p:cNvSpPr>
            <a:spLocks noGrp="1"/>
          </p:cNvSpPr>
          <p:nvPr/>
        </p:nvSpPr>
        <p:spPr>
          <a:xfrm>
            <a:off x="260032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no-1">
            <a:extLst>
              <a:ext uri="{FF2B5EF4-FFF2-40B4-BE49-F238E27FC236}">
                <a16:creationId xmlns:a16="http://schemas.microsoft.com/office/drawing/2014/main" id="{416C4457-366B-45FD-B8CC-8AD446331031}"/>
              </a:ext>
            </a:extLst>
          </p:cNvPr>
          <p:cNvSpPr>
            <a:spLocks noGrp="1"/>
          </p:cNvSpPr>
          <p:nvPr/>
        </p:nvSpPr>
        <p:spPr>
          <a:xfrm>
            <a:off x="277177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ep-title-1">
            <a:extLst>
              <a:ext uri="{FF2B5EF4-FFF2-40B4-BE49-F238E27FC236}">
                <a16:creationId xmlns:a16="http://schemas.microsoft.com/office/drawing/2014/main" id="{E9673309-C351-4B68-8720-76DE29D2F656}"/>
              </a:ext>
            </a:extLst>
          </p:cNvPr>
          <p:cNvSpPr>
            <a:spLocks noGrp="1"/>
          </p:cNvSpPr>
          <p:nvPr/>
        </p:nvSpPr>
        <p:spPr>
          <a:xfrm>
            <a:off x="277177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Pause</a:t>
            </a:r>
          </a:p>
        </p:txBody>
      </p:sp>
      <p:sp>
        <p:nvSpPr>
          <p:cNvPr id="12" name="step-copy-1">
            <a:extLst>
              <a:ext uri="{FF2B5EF4-FFF2-40B4-BE49-F238E27FC236}">
                <a16:creationId xmlns:a16="http://schemas.microsoft.com/office/drawing/2014/main" id="{7B76B807-8CE7-48B4-A3A4-BEA80ACD4A3C}"/>
              </a:ext>
            </a:extLst>
          </p:cNvPr>
          <p:cNvSpPr>
            <a:spLocks noGrp="1"/>
          </p:cNvSpPr>
          <p:nvPr/>
        </p:nvSpPr>
        <p:spPr>
          <a:xfrm>
            <a:off x="277177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先停止直接修改 code</a:t>
            </a:r>
          </a:p>
        </p:txBody>
      </p:sp>
      <p:sp>
        <p:nvSpPr>
          <p:cNvPr id="13" name="step-arrow-1">
            <a:extLst>
              <a:ext uri="{FF2B5EF4-FFF2-40B4-BE49-F238E27FC236}">
                <a16:creationId xmlns:a16="http://schemas.microsoft.com/office/drawing/2014/main" id="{1BB4F79F-7A23-407B-A2D5-7C4C667A5E71}"/>
              </a:ext>
            </a:extLst>
          </p:cNvPr>
          <p:cNvSpPr>
            <a:spLocks noGrp="1"/>
          </p:cNvSpPr>
          <p:nvPr/>
        </p:nvSpPr>
        <p:spPr>
          <a:xfrm>
            <a:off x="4105275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step-2">
            <a:extLst>
              <a:ext uri="{FF2B5EF4-FFF2-40B4-BE49-F238E27FC236}">
                <a16:creationId xmlns:a16="http://schemas.microsoft.com/office/drawing/2014/main" id="{12E2196D-C7E2-431D-825D-B4E98D45C291}"/>
              </a:ext>
            </a:extLst>
          </p:cNvPr>
          <p:cNvSpPr>
            <a:spLocks noGrp="1"/>
          </p:cNvSpPr>
          <p:nvPr/>
        </p:nvSpPr>
        <p:spPr>
          <a:xfrm>
            <a:off x="428625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tep-no-2">
            <a:extLst>
              <a:ext uri="{FF2B5EF4-FFF2-40B4-BE49-F238E27FC236}">
                <a16:creationId xmlns:a16="http://schemas.microsoft.com/office/drawing/2014/main" id="{38C2B10C-C78A-490B-8C76-46C8760076A1}"/>
              </a:ext>
            </a:extLst>
          </p:cNvPr>
          <p:cNvSpPr>
            <a:spLocks noGrp="1"/>
          </p:cNvSpPr>
          <p:nvPr/>
        </p:nvSpPr>
        <p:spPr>
          <a:xfrm>
            <a:off x="445770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tep-title-2">
            <a:extLst>
              <a:ext uri="{FF2B5EF4-FFF2-40B4-BE49-F238E27FC236}">
                <a16:creationId xmlns:a16="http://schemas.microsoft.com/office/drawing/2014/main" id="{ACD7C26F-7DC7-488B-96A8-07FC71DDEF2C}"/>
              </a:ext>
            </a:extLst>
          </p:cNvPr>
          <p:cNvSpPr>
            <a:spLocks noGrp="1"/>
          </p:cNvSpPr>
          <p:nvPr/>
        </p:nvSpPr>
        <p:spPr>
          <a:xfrm>
            <a:off x="445770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Discuss</a:t>
            </a:r>
          </a:p>
        </p:txBody>
      </p:sp>
      <p:sp>
        <p:nvSpPr>
          <p:cNvPr id="17" name="step-copy-2">
            <a:extLst>
              <a:ext uri="{FF2B5EF4-FFF2-40B4-BE49-F238E27FC236}">
                <a16:creationId xmlns:a16="http://schemas.microsoft.com/office/drawing/2014/main" id="{CFF17B8E-0788-46ED-9054-CB308F711E85}"/>
              </a:ext>
            </a:extLst>
          </p:cNvPr>
          <p:cNvSpPr>
            <a:spLocks noGrp="1"/>
          </p:cNvSpPr>
          <p:nvPr/>
        </p:nvSpPr>
        <p:spPr>
          <a:xfrm>
            <a:off x="445770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確認是新的 requirement</a:t>
            </a:r>
          </a:p>
        </p:txBody>
      </p:sp>
      <p:sp>
        <p:nvSpPr>
          <p:cNvPr id="18" name="step-arrow-2">
            <a:extLst>
              <a:ext uri="{FF2B5EF4-FFF2-40B4-BE49-F238E27FC236}">
                <a16:creationId xmlns:a16="http://schemas.microsoft.com/office/drawing/2014/main" id="{A2A9E9B2-B107-4FD6-8856-F2BCF40131A3}"/>
              </a:ext>
            </a:extLst>
          </p:cNvPr>
          <p:cNvSpPr>
            <a:spLocks noGrp="1"/>
          </p:cNvSpPr>
          <p:nvPr/>
        </p:nvSpPr>
        <p:spPr>
          <a:xfrm>
            <a:off x="579120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step-3">
            <a:extLst>
              <a:ext uri="{FF2B5EF4-FFF2-40B4-BE49-F238E27FC236}">
                <a16:creationId xmlns:a16="http://schemas.microsoft.com/office/drawing/2014/main" id="{C4C83922-B803-49E3-9F1D-A5F4D59A383D}"/>
              </a:ext>
            </a:extLst>
          </p:cNvPr>
          <p:cNvSpPr>
            <a:spLocks noGrp="1"/>
          </p:cNvSpPr>
          <p:nvPr/>
        </p:nvSpPr>
        <p:spPr>
          <a:xfrm>
            <a:off x="597217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tep-no-3">
            <a:extLst>
              <a:ext uri="{FF2B5EF4-FFF2-40B4-BE49-F238E27FC236}">
                <a16:creationId xmlns:a16="http://schemas.microsoft.com/office/drawing/2014/main" id="{CC3CBA76-4331-4365-B88D-6AF03F6F8BD0}"/>
              </a:ext>
            </a:extLst>
          </p:cNvPr>
          <p:cNvSpPr>
            <a:spLocks noGrp="1"/>
          </p:cNvSpPr>
          <p:nvPr/>
        </p:nvSpPr>
        <p:spPr>
          <a:xfrm>
            <a:off x="614362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tep-title-3">
            <a:extLst>
              <a:ext uri="{FF2B5EF4-FFF2-40B4-BE49-F238E27FC236}">
                <a16:creationId xmlns:a16="http://schemas.microsoft.com/office/drawing/2014/main" id="{93CB6F3C-3C52-45EE-B2B5-A8ADABD79D90}"/>
              </a:ext>
            </a:extLst>
          </p:cNvPr>
          <p:cNvSpPr>
            <a:spLocks noGrp="1"/>
          </p:cNvSpPr>
          <p:nvPr/>
        </p:nvSpPr>
        <p:spPr>
          <a:xfrm>
            <a:off x="614362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Ingest</a:t>
            </a:r>
          </a:p>
        </p:txBody>
      </p:sp>
      <p:sp>
        <p:nvSpPr>
          <p:cNvPr id="22" name="step-copy-3">
            <a:extLst>
              <a:ext uri="{FF2B5EF4-FFF2-40B4-BE49-F238E27FC236}">
                <a16:creationId xmlns:a16="http://schemas.microsoft.com/office/drawing/2014/main" id="{7CF1C2E1-B34A-43B9-AB1D-AA43672EEFFA}"/>
              </a:ext>
            </a:extLst>
          </p:cNvPr>
          <p:cNvSpPr>
            <a:spLocks noGrp="1"/>
          </p:cNvSpPr>
          <p:nvPr/>
        </p:nvSpPr>
        <p:spPr>
          <a:xfrm>
            <a:off x="614362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執行 /spectra:ingest</a:t>
            </a:r>
          </a:p>
        </p:txBody>
      </p:sp>
      <p:sp>
        <p:nvSpPr>
          <p:cNvPr id="23" name="step-arrow-3">
            <a:extLst>
              <a:ext uri="{FF2B5EF4-FFF2-40B4-BE49-F238E27FC236}">
                <a16:creationId xmlns:a16="http://schemas.microsoft.com/office/drawing/2014/main" id="{8C7B4479-757E-4898-B904-6753D6981D09}"/>
              </a:ext>
            </a:extLst>
          </p:cNvPr>
          <p:cNvSpPr>
            <a:spLocks noGrp="1"/>
          </p:cNvSpPr>
          <p:nvPr/>
        </p:nvSpPr>
        <p:spPr>
          <a:xfrm>
            <a:off x="7477125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step-4">
            <a:extLst>
              <a:ext uri="{FF2B5EF4-FFF2-40B4-BE49-F238E27FC236}">
                <a16:creationId xmlns:a16="http://schemas.microsoft.com/office/drawing/2014/main" id="{43ADFC4D-ECBE-4C44-AFEB-717005D83BAA}"/>
              </a:ext>
            </a:extLst>
          </p:cNvPr>
          <p:cNvSpPr>
            <a:spLocks noGrp="1"/>
          </p:cNvSpPr>
          <p:nvPr/>
        </p:nvSpPr>
        <p:spPr>
          <a:xfrm>
            <a:off x="7658100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tep-no-4">
            <a:extLst>
              <a:ext uri="{FF2B5EF4-FFF2-40B4-BE49-F238E27FC236}">
                <a16:creationId xmlns:a16="http://schemas.microsoft.com/office/drawing/2014/main" id="{639A868E-6EF2-4C79-B16D-866C8B4ABB98}"/>
              </a:ext>
            </a:extLst>
          </p:cNvPr>
          <p:cNvSpPr>
            <a:spLocks noGrp="1"/>
          </p:cNvSpPr>
          <p:nvPr/>
        </p:nvSpPr>
        <p:spPr>
          <a:xfrm>
            <a:off x="7829550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step-title-4">
            <a:extLst>
              <a:ext uri="{FF2B5EF4-FFF2-40B4-BE49-F238E27FC236}">
                <a16:creationId xmlns:a16="http://schemas.microsoft.com/office/drawing/2014/main" id="{D24CA2B6-864A-44D8-89FF-3F6D8D7FF3BA}"/>
              </a:ext>
            </a:extLst>
          </p:cNvPr>
          <p:cNvSpPr>
            <a:spLocks noGrp="1"/>
          </p:cNvSpPr>
          <p:nvPr/>
        </p:nvSpPr>
        <p:spPr>
          <a:xfrm>
            <a:off x="7829550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Review</a:t>
            </a:r>
          </a:p>
        </p:txBody>
      </p:sp>
      <p:sp>
        <p:nvSpPr>
          <p:cNvPr id="27" name="step-copy-4">
            <a:extLst>
              <a:ext uri="{FF2B5EF4-FFF2-40B4-BE49-F238E27FC236}">
                <a16:creationId xmlns:a16="http://schemas.microsoft.com/office/drawing/2014/main" id="{29219025-D8C2-4570-9A99-55C9F152A0EB}"/>
              </a:ext>
            </a:extLst>
          </p:cNvPr>
          <p:cNvSpPr>
            <a:spLocks noGrp="1"/>
          </p:cNvSpPr>
          <p:nvPr/>
        </p:nvSpPr>
        <p:spPr>
          <a:xfrm>
            <a:off x="7829550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檢查 artifacts diff</a:t>
            </a:r>
          </a:p>
        </p:txBody>
      </p:sp>
      <p:sp>
        <p:nvSpPr>
          <p:cNvPr id="28" name="step-arrow-4">
            <a:extLst>
              <a:ext uri="{FF2B5EF4-FFF2-40B4-BE49-F238E27FC236}">
                <a16:creationId xmlns:a16="http://schemas.microsoft.com/office/drawing/2014/main" id="{4D51C3BB-2975-4CDB-9380-D3B25219E4D3}"/>
              </a:ext>
            </a:extLst>
          </p:cNvPr>
          <p:cNvSpPr>
            <a:spLocks noGrp="1"/>
          </p:cNvSpPr>
          <p:nvPr/>
        </p:nvSpPr>
        <p:spPr>
          <a:xfrm>
            <a:off x="9163050" y="2952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step-5">
            <a:extLst>
              <a:ext uri="{FF2B5EF4-FFF2-40B4-BE49-F238E27FC236}">
                <a16:creationId xmlns:a16="http://schemas.microsoft.com/office/drawing/2014/main" id="{FB329B9B-D692-49BD-BF2A-AB67FC70B03F}"/>
              </a:ext>
            </a:extLst>
          </p:cNvPr>
          <p:cNvSpPr>
            <a:spLocks noGrp="1"/>
          </p:cNvSpPr>
          <p:nvPr/>
        </p:nvSpPr>
        <p:spPr>
          <a:xfrm>
            <a:off x="9344025" y="2133600"/>
            <a:ext cx="1428750" cy="2000250"/>
          </a:xfrm>
          <a:prstGeom prst="roundRect">
            <a:avLst>
              <a:gd name="adj" fmla="val 5333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tep-no-5">
            <a:extLst>
              <a:ext uri="{FF2B5EF4-FFF2-40B4-BE49-F238E27FC236}">
                <a16:creationId xmlns:a16="http://schemas.microsoft.com/office/drawing/2014/main" id="{8CD040F8-537B-4F09-AA3C-00436538C6CD}"/>
              </a:ext>
            </a:extLst>
          </p:cNvPr>
          <p:cNvSpPr>
            <a:spLocks noGrp="1"/>
          </p:cNvSpPr>
          <p:nvPr/>
        </p:nvSpPr>
        <p:spPr>
          <a:xfrm>
            <a:off x="9515475" y="2343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step-title-5">
            <a:extLst>
              <a:ext uri="{FF2B5EF4-FFF2-40B4-BE49-F238E27FC236}">
                <a16:creationId xmlns:a16="http://schemas.microsoft.com/office/drawing/2014/main" id="{CBDB177F-F02F-4609-A049-BFC53365C356}"/>
              </a:ext>
            </a:extLst>
          </p:cNvPr>
          <p:cNvSpPr>
            <a:spLocks noGrp="1"/>
          </p:cNvSpPr>
          <p:nvPr/>
        </p:nvSpPr>
        <p:spPr>
          <a:xfrm>
            <a:off x="9515475" y="272415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Resume</a:t>
            </a:r>
          </a:p>
        </p:txBody>
      </p:sp>
      <p:sp>
        <p:nvSpPr>
          <p:cNvPr id="32" name="step-copy-5">
            <a:extLst>
              <a:ext uri="{FF2B5EF4-FFF2-40B4-BE49-F238E27FC236}">
                <a16:creationId xmlns:a16="http://schemas.microsoft.com/office/drawing/2014/main" id="{1F83C7F0-0207-4030-9F9E-5BB178033EF5}"/>
              </a:ext>
            </a:extLst>
          </p:cNvPr>
          <p:cNvSpPr>
            <a:spLocks noGrp="1"/>
          </p:cNvSpPr>
          <p:nvPr/>
        </p:nvSpPr>
        <p:spPr>
          <a:xfrm>
            <a:off x="9515475" y="340995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重新 apply 剩餘 tasks</a:t>
            </a:r>
          </a:p>
        </p:txBody>
      </p:sp>
      <p:sp>
        <p:nvSpPr>
          <p:cNvPr id="33" name="source">
            <a:extLst>
              <a:ext uri="{FF2B5EF4-FFF2-40B4-BE49-F238E27FC236}">
                <a16:creationId xmlns:a16="http://schemas.microsoft.com/office/drawing/2014/main" id="{7BB0B918-190D-4600-96AF-238F4039F106}"/>
              </a:ext>
            </a:extLst>
          </p:cNvPr>
          <p:cNvSpPr>
            <a:spLocks noGrp="1"/>
          </p:cNvSpPr>
          <p:nvPr/>
        </p:nvSpPr>
        <p:spPr>
          <a:xfrm>
            <a:off x="6858000" y="619000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Source: Spectra 2.0 workflow article</a:t>
            </a:r>
          </a:p>
        </p:txBody>
      </p:sp>
      <p:cxnSp>
        <p:nvCxnSpPr>
          <p:cNvPr id="35" name="loop-horizontal">
            <a:extLst>
              <a:ext uri="{FF2B5EF4-FFF2-40B4-BE49-F238E27FC236}">
                <a16:creationId xmlns:a16="http://schemas.microsoft.com/office/drawing/2014/main" id="{3596ABB4-924D-4A4D-5DCE-1AC3D1B73FFB}"/>
              </a:ext>
            </a:extLst>
          </p:cNvPr>
          <p:cNvCxnSpPr>
            <a:cxnSpLocks/>
          </p:cNvCxnSpPr>
          <p:nvPr/>
        </p:nvCxnSpPr>
        <p:spPr>
          <a:xfrm>
            <a:off x="3321050" y="5143500"/>
            <a:ext cx="4917603" cy="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</a:ln>
        </p:spPr>
      </p:cxnSp>
      <p:cxnSp>
        <p:nvCxnSpPr>
          <p:cNvPr id="36" name="loop-drop">
            <a:extLst>
              <a:ext uri="{FF2B5EF4-FFF2-40B4-BE49-F238E27FC236}">
                <a16:creationId xmlns:a16="http://schemas.microsoft.com/office/drawing/2014/main" id="{418E7A51-CFB9-472C-0953-7AFF5450D2DA}"/>
              </a:ext>
            </a:extLst>
          </p:cNvPr>
          <p:cNvCxnSpPr/>
          <p:nvPr/>
        </p:nvCxnSpPr>
        <p:spPr>
          <a:xfrm>
            <a:off x="8238653" y="4140200"/>
            <a:ext cx="0" cy="100330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</a:ln>
        </p:spPr>
      </p:cxnSp>
      <p:cxnSp>
        <p:nvCxnSpPr>
          <p:cNvPr id="37" name="loop-rise">
            <a:extLst>
              <a:ext uri="{FF2B5EF4-FFF2-40B4-BE49-F238E27FC236}">
                <a16:creationId xmlns:a16="http://schemas.microsoft.com/office/drawing/2014/main" id="{E7B220E5-88B4-5E75-8E7B-6239C5353D2C}"/>
              </a:ext>
            </a:extLst>
          </p:cNvPr>
          <p:cNvCxnSpPr/>
          <p:nvPr/>
        </p:nvCxnSpPr>
        <p:spPr>
          <a:xfrm flipV="1">
            <a:off x="3321050" y="4140200"/>
            <a:ext cx="0" cy="1003300"/>
          </a:xfrm>
          <a:prstGeom prst="line">
            <a:avLst/>
          </a:prstGeom>
          <a:ln w="22225" cap="rnd">
            <a:solidFill>
              <a:srgbClr val="E97132"/>
            </a:solidFill>
            <a:prstDash val="dash"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938973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AEED340F-B63C-4E15-9E82-A621F31764D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STEP 6 | ARCHIVE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C8F1EAA-485C-465E-BE94-5A381E6C89A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/spectra:archive：驗收完成後，合併正式規格並保留歷史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27233ACA-CB8E-4D71-907D-AACFF94414FE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41/50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8AE5CAA0-F48F-4751-B630-581DA3C82E7E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5E396340-271D-46FC-B79A-95E185091EF1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Archive 會做什麼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F020915-84A5-2A4B-A226-86EF73822219}"/>
              </a:ext>
            </a:extLst>
          </p:cNvPr>
          <p:cNvSpPr txBox="1"/>
          <p:nvPr/>
        </p:nvSpPr>
        <p:spPr>
          <a:xfrm>
            <a:off x="1333500" y="20447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Tasks：tasks.md 全部完成並通過人工確認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8C0742B-3F09-DA4E-8090-6498A06A55E2}"/>
              </a:ext>
            </a:extLst>
          </p:cNvPr>
          <p:cNvSpPr txBox="1"/>
          <p:nvPr/>
        </p:nvSpPr>
        <p:spPr>
          <a:xfrm>
            <a:off x="1333500" y="28829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Tests：schema、golden file、negative fixtures 全部通過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B7B60B7-F1F3-4948-8677-627B57EABDC3}"/>
              </a:ext>
            </a:extLst>
          </p:cNvPr>
          <p:cNvSpPr txBox="1"/>
          <p:nvPr/>
        </p:nvSpPr>
        <p:spPr>
          <a:xfrm>
            <a:off x="1333500" y="37211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Artifacts：proposal、spec、design、tasks 與實作一致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4A201CA-43BB-5B49-944E-03F552321D22}"/>
              </a:ext>
            </a:extLst>
          </p:cNvPr>
          <p:cNvSpPr txBox="1"/>
          <p:nvPr/>
        </p:nvSpPr>
        <p:spPr>
          <a:xfrm>
            <a:off x="1333500" y="45593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Git：diff 已 review，commit 能連回 change 與驗收證據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109B723-846F-D64F-A786-0D20C04AE326}"/>
              </a:ext>
            </a:extLst>
          </p:cNvPr>
          <p:cNvSpPr txBox="1"/>
          <p:nvPr/>
        </p:nvSpPr>
        <p:spPr>
          <a:xfrm>
            <a:off x="7493000" y="27813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將完成的 change 移至 archive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722C6BF-A295-FC4E-A3E3-45631EA168BA}"/>
              </a:ext>
            </a:extLst>
          </p:cNvPr>
          <p:cNvSpPr txBox="1"/>
          <p:nvPr/>
        </p:nvSpPr>
        <p:spPr>
          <a:xfrm>
            <a:off x="7493000" y="33401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把 delta spec 合併回正式 specs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812E849-18A9-D446-9494-D9594A3BDAC2}"/>
              </a:ext>
            </a:extLst>
          </p:cNvPr>
          <p:cNvSpPr txBox="1"/>
          <p:nvPr/>
        </p:nvSpPr>
        <p:spPr>
          <a:xfrm>
            <a:off x="7493000" y="38989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保留 decisions 與 task trace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2CCA749-5B18-A34D-9B8F-8EC32E458AD3}"/>
              </a:ext>
            </a:extLst>
          </p:cNvPr>
          <p:cNvSpPr txBox="1"/>
          <p:nvPr/>
        </p:nvSpPr>
        <p:spPr>
          <a:xfrm>
            <a:off x="7493000" y="44577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讓下一個 agent 讀到正確現況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3AEF5456-294B-704B-8D7C-79A708A1C99E}"/>
              </a:ext>
            </a:extLst>
          </p:cNvPr>
          <p:cNvSpPr/>
          <p:nvPr/>
        </p:nvSpPr>
        <p:spPr>
          <a:xfrm>
            <a:off x="876300" y="5200000"/>
            <a:ext cx="9766300" cy="609600"/>
          </a:xfrm>
          <a:prstGeom prst="roundRect">
            <a:avLst/>
          </a:prstGeom>
          <a:solidFill>
            <a:srgbClr val="FDEDE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F8A3EB-33D9-B24D-A740-A4089A06304D}"/>
              </a:ext>
            </a:extLst>
          </p:cNvPr>
          <p:cNvSpPr/>
          <p:nvPr/>
        </p:nvSpPr>
        <p:spPr>
          <a:xfrm>
            <a:off x="876300" y="5200000"/>
            <a:ext cx="50800" cy="609600"/>
          </a:xfrm>
          <a:prstGeom prst="rect">
            <a:avLst/>
          </a:prstGeom>
          <a:solidFill>
            <a:srgbClr val="C85A4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B200A96-CFA3-CD47-A179-856064015DFE}"/>
              </a:ext>
            </a:extLst>
          </p:cNvPr>
          <p:cNvSpPr txBox="1"/>
          <p:nvPr/>
        </p:nvSpPr>
        <p:spPr>
          <a:xfrm>
            <a:off x="1181100" y="5200000"/>
            <a:ext cx="9271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TW" altLang="en-US" sz="1500" b="1">
                <a:solidFill>
                  <a:srgbClr val="C85A4A"/>
                </a:solidFill>
                <a:latin typeface="PingFang TC"/>
              </a:rPr>
              <a:t>Archive 是驗收與知識保存，</a:t>
            </a:r>
            <a:r>
              <a:rPr lang="en" altLang="zh-TW" sz="1500" b="1">
                <a:solidFill>
                  <a:srgbClr val="C85A4A"/>
                </a:solidFill>
                <a:latin typeface="PingFang TC"/>
              </a:rPr>
              <a:t>不是</a:t>
            </a:r>
            <a:r>
              <a:rPr lang="zh-TW" altLang="en-US" sz="1500" b="1">
                <a:solidFill>
                  <a:srgbClr val="C85A4A"/>
                </a:solidFill>
                <a:latin typeface="PingFang TC"/>
              </a:rPr>
              <a:t>把檔案收起來而已</a:t>
            </a:r>
          </a:p>
        </p:txBody>
      </p:sp>
      <p:pic>
        <p:nvPicPr>
          <p:cNvPr id="20" name="Graphic 20" descr="審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" y="2095500"/>
            <a:ext cx="304800" cy="304800"/>
          </a:xfrm>
          <a:prstGeom prst="rect">
            <a:avLst/>
          </a:prstGeom>
        </p:spPr>
      </p:pic>
      <p:pic>
        <p:nvPicPr>
          <p:cNvPr id="21" name="Graphic 21" descr="更新規格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" y="2933700"/>
            <a:ext cx="304800" cy="304800"/>
          </a:xfrm>
          <a:prstGeom prst="rect">
            <a:avLst/>
          </a:prstGeom>
        </p:spPr>
      </p:pic>
      <p:pic>
        <p:nvPicPr>
          <p:cNvPr id="22" name="Graphic 22" descr="需審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" y="3771900"/>
            <a:ext cx="304800" cy="304800"/>
          </a:xfrm>
          <a:prstGeom prst="rect">
            <a:avLst/>
          </a:prstGeom>
        </p:spPr>
      </p:pic>
      <p:pic>
        <p:nvPicPr>
          <p:cNvPr id="23" name="Graphic 23" descr="追溯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4610100"/>
            <a:ext cx="304800" cy="304800"/>
          </a:xfrm>
          <a:prstGeom prst="rect">
            <a:avLst/>
          </a:prstGeom>
        </p:spPr>
      </p:pic>
      <p:pic>
        <p:nvPicPr>
          <p:cNvPr id="24" name="Graphic 24" descr="臨床判斷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0" y="2832100"/>
            <a:ext cx="254000" cy="254000"/>
          </a:xfrm>
          <a:prstGeom prst="rect">
            <a:avLst/>
          </a:prstGeom>
        </p:spPr>
      </p:pic>
      <p:pic>
        <p:nvPicPr>
          <p:cNvPr id="25" name="Graphic 25" descr="敏感資料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3390900"/>
            <a:ext cx="254000" cy="254000"/>
          </a:xfrm>
          <a:prstGeom prst="rect">
            <a:avLst/>
          </a:prstGeom>
        </p:spPr>
      </p:pic>
      <p:pic>
        <p:nvPicPr>
          <p:cNvPr id="26" name="Graphic 26" descr="來源權威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0" y="3949700"/>
            <a:ext cx="254000" cy="254000"/>
          </a:xfrm>
          <a:prstGeom prst="rect">
            <a:avLst/>
          </a:prstGeom>
        </p:spPr>
      </p:pic>
      <p:pic>
        <p:nvPicPr>
          <p:cNvPr id="27" name="Graphic 27" descr="合併決策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45085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552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4EC8B653-D543-4F31-A68A-EBB44A2DCE7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READ THE GUI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6F6C843-53CC-4D08-98EC-33EEFD67072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 Spectra GUI 做 live demo：每一步都指給學生看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7C997C37-20D8-4110-9A9A-F23B3EBFA363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42/50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5FE97059-1CBA-438E-8431-8571B596DB4B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教師導覽順序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E8601BC4-41E7-4629-9AF5-6E623D638FA9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287655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F3E84D7C-0311-4026-9CBA-86129D589958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1. Open Project</a:t>
            </a:r>
          </a:p>
          <a:p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選擇 course repository root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2. Changes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active / archived / task progress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3. Specs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requirements / scenarios / history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4. Apply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看 tasks checkbox 與 agent progress</a:t>
            </a: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5. Archive</a:t>
            </a:r>
          </a:p>
          <a:p>
            <a:endParaRPr sz="10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0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確認正式 specs 與 archived change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51193DC9-28B7-4B53-9CF7-602C787D9F0E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7D84D867-38E7-475C-A346-5A38CC71934D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Official Spectra UI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17B0A591-6F59-4E2D-9478-C399B046393C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先用 discuss 收斂問題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再用 propose 產出 artifacts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review 後才 apply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缺口用 ingest 回寫 spec</a:t>
            </a:r>
          </a:p>
        </p:txBody>
      </p:sp>
      <p:pic>
        <p:nvPicPr>
          <p:cNvPr id="50" name="Official Spectra dark UI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1800000"/>
            <a:ext cx="5700000" cy="3440000"/>
          </a:xfrm>
          <a:prstGeom prst="rect">
            <a:avLst/>
          </a:prstGeom>
          <a:ln w="12700">
            <a:solidFill>
              <a:srgbClr val="D7DCE1"/>
            </a:solidFill>
          </a:ln>
        </p:spPr>
      </p:pic>
    </p:spTree>
    <p:extLst>
      <p:ext uri="{BB962C8B-B14F-4D97-AF65-F5344CB8AC3E}">
        <p14:creationId xmlns:p14="http://schemas.microsoft.com/office/powerpoint/2010/main" val="19547121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AEED340F-B63C-4E15-9E82-A621F31764D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TROUBLESHOOTING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C8F1EAA-485C-465E-BE94-5A381E6C89A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Spectra demo 常見失敗：先分辨環境、專案根目錄或 spec 問題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27233ACA-CB8E-4D71-907D-AACFF94414FE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43/50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8AE5CAA0-F48F-4751-B630-581DA3C82E7E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5E396340-271D-46FC-B79A-95E185091EF1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必須停止的情況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F020915-84A5-2A4B-A226-86EF73822219}"/>
              </a:ext>
            </a:extLst>
          </p:cNvPr>
          <p:cNvSpPr txBox="1"/>
          <p:nvPr/>
        </p:nvSpPr>
        <p:spPr>
          <a:xfrm>
            <a:off x="1333500" y="20447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找不到 /spectra:*：重新開啟專案，確認 agent skills 已生成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8C0742B-3F09-DA4E-8090-6498A06A55E2}"/>
              </a:ext>
            </a:extLst>
          </p:cNvPr>
          <p:cNvSpPr txBox="1"/>
          <p:nvPr/>
        </p:nvSpPr>
        <p:spPr>
          <a:xfrm>
            <a:off x="1333500" y="28829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看不到 openspec/：確認選的是 repository root，不是子目錄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B7B60B7-F1F3-4948-8677-627B57EABDC3}"/>
              </a:ext>
            </a:extLst>
          </p:cNvPr>
          <p:cNvSpPr txBox="1"/>
          <p:nvPr/>
        </p:nvSpPr>
        <p:spPr>
          <a:xfrm>
            <a:off x="1333500" y="37211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Task progress 不動：tasks.md 必須使用 - [ ] / - [x]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4A201CA-43BB-5B49-944E-03F552321D22}"/>
              </a:ext>
            </a:extLst>
          </p:cNvPr>
          <p:cNvSpPr txBox="1"/>
          <p:nvPr/>
        </p:nvSpPr>
        <p:spPr>
          <a:xfrm>
            <a:off x="1333500" y="45593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Agent 直接寫 code：停止，回到 discuss / propose / review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109B723-846F-D64F-A786-0D20C04AE326}"/>
              </a:ext>
            </a:extLst>
          </p:cNvPr>
          <p:cNvSpPr txBox="1"/>
          <p:nvPr/>
        </p:nvSpPr>
        <p:spPr>
          <a:xfrm>
            <a:off x="7493000" y="27813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250">
                <a:solidFill>
                  <a:srgbClr val="17202A"/>
                </a:solidFill>
                <a:latin typeface="PingFang TC"/>
              </a:rPr>
              <a:t>source policy undefined</a:t>
            </a:r>
            <a:endParaRPr lang="zh-TW" altLang="en-US" sz="12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722C6BF-A295-FC4E-A3E3-45631EA168BA}"/>
              </a:ext>
            </a:extLst>
          </p:cNvPr>
          <p:cNvSpPr txBox="1"/>
          <p:nvPr/>
        </p:nvSpPr>
        <p:spPr>
          <a:xfrm>
            <a:off x="7493000" y="33401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250">
                <a:solidFill>
                  <a:srgbClr val="17202A"/>
                </a:solidFill>
                <a:latin typeface="PingFang TC"/>
              </a:rPr>
              <a:t>not_found behavior unclear</a:t>
            </a:r>
            <a:endParaRPr lang="zh-TW" altLang="en-US" sz="12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812E849-18A9-D446-9494-D9594A3BDAC2}"/>
              </a:ext>
            </a:extLst>
          </p:cNvPr>
          <p:cNvSpPr txBox="1"/>
          <p:nvPr/>
        </p:nvSpPr>
        <p:spPr>
          <a:xfrm>
            <a:off x="7493000" y="38989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250">
                <a:solidFill>
                  <a:srgbClr val="17202A"/>
                </a:solidFill>
                <a:latin typeface="PingFang TC"/>
              </a:rPr>
              <a:t>PHI or patient data present</a:t>
            </a:r>
            <a:endParaRPr lang="zh-TW" altLang="en-US" sz="12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2CCA749-5B18-A34D-9B8F-8EC32E458AD3}"/>
              </a:ext>
            </a:extLst>
          </p:cNvPr>
          <p:cNvSpPr txBox="1"/>
          <p:nvPr/>
        </p:nvSpPr>
        <p:spPr>
          <a:xfrm>
            <a:off x="7493000" y="44577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250">
                <a:solidFill>
                  <a:srgbClr val="17202A"/>
                </a:solidFill>
                <a:latin typeface="PingFang TC"/>
              </a:rPr>
              <a:t>patient-level clinical advice requested</a:t>
            </a:r>
            <a:endParaRPr lang="zh-TW" altLang="en-US" sz="125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3AEF5456-294B-704B-8D7C-79A708A1C99E}"/>
              </a:ext>
            </a:extLst>
          </p:cNvPr>
          <p:cNvSpPr/>
          <p:nvPr/>
        </p:nvSpPr>
        <p:spPr>
          <a:xfrm>
            <a:off x="876300" y="5200000"/>
            <a:ext cx="9766300" cy="609600"/>
          </a:xfrm>
          <a:prstGeom prst="roundRect">
            <a:avLst/>
          </a:prstGeom>
          <a:solidFill>
            <a:srgbClr val="FDEDE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F8A3EB-33D9-B24D-A740-A4089A06304D}"/>
              </a:ext>
            </a:extLst>
          </p:cNvPr>
          <p:cNvSpPr/>
          <p:nvPr/>
        </p:nvSpPr>
        <p:spPr>
          <a:xfrm>
            <a:off x="876300" y="5200000"/>
            <a:ext cx="50800" cy="609600"/>
          </a:xfrm>
          <a:prstGeom prst="rect">
            <a:avLst/>
          </a:prstGeom>
          <a:solidFill>
            <a:srgbClr val="C85A4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B200A96-CFA3-CD47-A179-856064015DFE}"/>
              </a:ext>
            </a:extLst>
          </p:cNvPr>
          <p:cNvSpPr txBox="1"/>
          <p:nvPr/>
        </p:nvSpPr>
        <p:spPr>
          <a:xfrm>
            <a:off x="1181100" y="5200000"/>
            <a:ext cx="9271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TW" altLang="en-US" sz="1250" b="1">
                <a:solidFill>
                  <a:srgbClr val="C85A4A"/>
                </a:solidFill>
                <a:latin typeface="PingFang TC"/>
              </a:rPr>
              <a:t>STOP WHEN THE SPEC IS UNCLEAR</a:t>
            </a:r>
          </a:p>
        </p:txBody>
      </p:sp>
      <p:pic>
        <p:nvPicPr>
          <p:cNvPr id="20" name="Graphic 20" descr="審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" y="2095500"/>
            <a:ext cx="304800" cy="304800"/>
          </a:xfrm>
          <a:prstGeom prst="rect">
            <a:avLst/>
          </a:prstGeom>
        </p:spPr>
      </p:pic>
      <p:pic>
        <p:nvPicPr>
          <p:cNvPr id="21" name="Graphic 21" descr="更新規格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" y="2933700"/>
            <a:ext cx="304800" cy="304800"/>
          </a:xfrm>
          <a:prstGeom prst="rect">
            <a:avLst/>
          </a:prstGeom>
        </p:spPr>
      </p:pic>
      <p:pic>
        <p:nvPicPr>
          <p:cNvPr id="22" name="Graphic 22" descr="需審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" y="3771900"/>
            <a:ext cx="304800" cy="304800"/>
          </a:xfrm>
          <a:prstGeom prst="rect">
            <a:avLst/>
          </a:prstGeom>
        </p:spPr>
      </p:pic>
      <p:pic>
        <p:nvPicPr>
          <p:cNvPr id="23" name="Graphic 23" descr="追溯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4610100"/>
            <a:ext cx="304800" cy="304800"/>
          </a:xfrm>
          <a:prstGeom prst="rect">
            <a:avLst/>
          </a:prstGeom>
        </p:spPr>
      </p:pic>
      <p:pic>
        <p:nvPicPr>
          <p:cNvPr id="24" name="Graphic 24" descr="臨床判斷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0" y="2832100"/>
            <a:ext cx="254000" cy="254000"/>
          </a:xfrm>
          <a:prstGeom prst="rect">
            <a:avLst/>
          </a:prstGeom>
        </p:spPr>
      </p:pic>
      <p:pic>
        <p:nvPicPr>
          <p:cNvPr id="25" name="Graphic 25" descr="敏感資料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3390900"/>
            <a:ext cx="254000" cy="254000"/>
          </a:xfrm>
          <a:prstGeom prst="rect">
            <a:avLst/>
          </a:prstGeom>
        </p:spPr>
      </p:pic>
      <p:pic>
        <p:nvPicPr>
          <p:cNvPr id="26" name="Graphic 26" descr="來源權威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0" y="3949700"/>
            <a:ext cx="254000" cy="254000"/>
          </a:xfrm>
          <a:prstGeom prst="rect">
            <a:avLst/>
          </a:prstGeom>
        </p:spPr>
      </p:pic>
      <p:pic>
        <p:nvPicPr>
          <p:cNvPr id="27" name="Graphic 27" descr="合併決策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45085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552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46A191D7-74A1-4718-8D0C-2652F14EBBD0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ASK FOR SPEC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83486AE-D502-4155-B091-565A0C1E2F2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先讓 agent 寫 spec，但要求它先問問題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99C3620-06B1-4614-9BE6-E8E183CB3D7D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44/50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3598D34E-9BF2-4694-A872-D1BFE35376E7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Prompt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C2AE0908-6AD5-45BF-B034-C07BDFA6912A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287655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5DA2336C-696D-48A0-B639-0CF6EEF21C8B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請不要開始寫程式。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請先根據下列 biomedical tool idea 建立 SPEC.md。</a:t>
            </a:r>
          </a:p>
          <a:p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你必須先列出最多 8 個 clarification questions。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沒有答案時，提出保守預設並標記 assumption。</a:t>
            </a:r>
          </a:p>
          <a:p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SPEC.md 必須包含：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Goal / non-goals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Inputs / outputs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Boundary conditions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Error handling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Validation commands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Human review gate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D4873F6A-E2B8-41F9-9083-F545D2A1FB00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EEF1FF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4EA982D0-61E5-41E9-BA84-5BF59E78B5A4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教學重點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75750D3D-2FD1-401C-8BCB-F0D4A7BBA631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禁止先寫 code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先逼出 ambiguity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沒有答案要標 assumption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 要包含驗證與 review</a:t>
            </a:r>
          </a:p>
        </p:txBody>
      </p:sp>
    </p:spTree>
    <p:extLst>
      <p:ext uri="{BB962C8B-B14F-4D97-AF65-F5344CB8AC3E}">
        <p14:creationId xmlns:p14="http://schemas.microsoft.com/office/powerpoint/2010/main" val="3886289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A4106D5B-30FC-4A2A-A246-FE4F8F1D540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IMPLEMENT FROM SPEC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5C75913-A919-4AE9-8A8B-69038DF7064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 agent 實作時，要把 spec 變成 acceptance contract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E833069-8A0C-4BB9-B64F-F5B467965328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45/50</a:t>
            </a:r>
          </a:p>
        </p:txBody>
      </p:sp>
      <p:sp>
        <p:nvSpPr>
          <p:cNvPr id="4" name="left-title">
            <a:extLst>
              <a:ext uri="{FF2B5EF4-FFF2-40B4-BE49-F238E27FC236}">
                <a16:creationId xmlns:a16="http://schemas.microsoft.com/office/drawing/2014/main" id="{031D7F7C-8759-4A17-9B30-702A7A6346E2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Prompt</a:t>
            </a:r>
          </a:p>
        </p:txBody>
      </p:sp>
      <p:sp>
        <p:nvSpPr>
          <p:cNvPr id="5" name="left-code-box">
            <a:extLst>
              <a:ext uri="{FF2B5EF4-FFF2-40B4-BE49-F238E27FC236}">
                <a16:creationId xmlns:a16="http://schemas.microsoft.com/office/drawing/2014/main" id="{8BB8A2F6-C2F7-423E-BA48-A75C14E0E31F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5181600" cy="2876550"/>
          </a:xfrm>
          <a:prstGeom prst="roundRect">
            <a:avLst>
              <a:gd name="adj" fmla="val 2649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code">
            <a:extLst>
              <a:ext uri="{FF2B5EF4-FFF2-40B4-BE49-F238E27FC236}">
                <a16:creationId xmlns:a16="http://schemas.microsoft.com/office/drawing/2014/main" id="{E352EC0A-4629-4FE6-8427-44C12451BD0A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48387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請依照 SPEC.md 實作最小版本。</a:t>
            </a:r>
          </a:p>
          <a:p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規則：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只改 tasks.md 指定的檔案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每完成一個 task 就跑相對應測試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不得新增 SPEC.md 沒提到的功能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若 SPEC.md 不清楚，先停下來問</a:t>
            </a:r>
          </a:p>
          <a:p>
            <a:endParaRPr sz="115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回報：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completed tasks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files changed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validation commands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deviations from SPEC.md</a:t>
            </a:r>
          </a:p>
          <a:p>
            <a:pPr algn="l">
              <a:lnSpc>
                <a:spcPct val="106000"/>
              </a:lnSpc>
              <a:buNone/>
              <a:defRPr sz="11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remaining risks</a:t>
            </a:r>
          </a:p>
        </p:txBody>
      </p:sp>
      <p:sp>
        <p:nvSpPr>
          <p:cNvPr id="7" name="right-box">
            <a:extLst>
              <a:ext uri="{FF2B5EF4-FFF2-40B4-BE49-F238E27FC236}">
                <a16:creationId xmlns:a16="http://schemas.microsoft.com/office/drawing/2014/main" id="{C3170AD6-FB87-4D99-8AA6-6011D4496396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3924300" cy="2724150"/>
          </a:xfrm>
          <a:prstGeom prst="roundRect">
            <a:avLst>
              <a:gd name="adj" fmla="val 2797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092416D9-9FBC-4724-9BC5-150072630C2B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20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完成定義</a:t>
            </a:r>
          </a:p>
        </p:txBody>
      </p:sp>
      <p:sp>
        <p:nvSpPr>
          <p:cNvPr id="9" name="right-bullets">
            <a:extLst>
              <a:ext uri="{FF2B5EF4-FFF2-40B4-BE49-F238E27FC236}">
                <a16:creationId xmlns:a16="http://schemas.microsoft.com/office/drawing/2014/main" id="{5E1293E0-B69F-429C-B7A1-713C55E342F8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3028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不是它說完成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是 acceptance criteria pass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所有 deviation 要列出</a:t>
            </a:r>
          </a:p>
          <a:p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 drift 要回寫</a:t>
            </a:r>
          </a:p>
        </p:txBody>
      </p:sp>
    </p:spTree>
    <p:extLst>
      <p:ext uri="{BB962C8B-B14F-4D97-AF65-F5344CB8AC3E}">
        <p14:creationId xmlns:p14="http://schemas.microsoft.com/office/powerpoint/2010/main" val="2227749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8E0BFBBF-1D24-4AF4-BF68-1409F030C3D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SPEC DRIFT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4774A0-09F8-4C02-851C-AFE54E044123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 drift 會讓 SDD 失效，所以規格要跟 commit 一起活著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CF367DF-BEEA-4291-BAED-12ECB3B7AF8C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46/50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3CF46A86-C11B-4E8E-9745-CB558C253A63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5A3F7720-5869-4A02-9441-711B6AC34E50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Change rule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BDA9E89-CCE6-434C-834A-7013843A7DE7}"/>
              </a:ext>
            </a:extLst>
          </p:cNvPr>
          <p:cNvSpPr txBox="1"/>
          <p:nvPr/>
        </p:nvSpPr>
        <p:spPr>
          <a:xfrm>
            <a:off x="1333500" y="20447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Code behavior 改變：同一個 commit 更新 SPEC.md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CE4D23B-E570-E840-B87E-640482FE2BBE}"/>
              </a:ext>
            </a:extLst>
          </p:cNvPr>
          <p:cNvSpPr txBox="1"/>
          <p:nvPr/>
        </p:nvSpPr>
        <p:spPr>
          <a:xfrm>
            <a:off x="1333500" y="28829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Tests 暴露新邊界：補 requirement 與 validation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380C63A-B268-7042-8783-47B4B2979479}"/>
              </a:ext>
            </a:extLst>
          </p:cNvPr>
          <p:cNvSpPr txBox="1"/>
          <p:nvPr/>
        </p:nvSpPr>
        <p:spPr>
          <a:xfrm>
            <a:off x="1333500" y="37211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Source / API / schema 改版：記錄 changelog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CEC0851-B2C0-8543-8A65-6B30CDF40D7D}"/>
              </a:ext>
            </a:extLst>
          </p:cNvPr>
          <p:cNvSpPr txBox="1"/>
          <p:nvPr/>
        </p:nvSpPr>
        <p:spPr>
          <a:xfrm>
            <a:off x="1333500" y="45593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50">
                <a:solidFill>
                  <a:srgbClr val="17202A"/>
                </a:solidFill>
                <a:latin typeface="PingFang TC"/>
              </a:rPr>
              <a:t>不要留下 stale spec 當作 agent context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0513FFE-72AD-7E4A-A51E-21B94AB46695}"/>
              </a:ext>
            </a:extLst>
          </p:cNvPr>
          <p:cNvSpPr txBox="1"/>
          <p:nvPr/>
        </p:nvSpPr>
        <p:spPr>
          <a:xfrm>
            <a:off x="7493000" y="27813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spec first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37F6116-BDA5-5F49-8FBF-27D754634F2B}"/>
              </a:ext>
            </a:extLst>
          </p:cNvPr>
          <p:cNvSpPr txBox="1"/>
          <p:nvPr/>
        </p:nvSpPr>
        <p:spPr>
          <a:xfrm>
            <a:off x="7493000" y="33401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small patch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FAD1147-AF58-6B43-9D8D-233C6BFE1BC5}"/>
              </a:ext>
            </a:extLst>
          </p:cNvPr>
          <p:cNvSpPr txBox="1"/>
          <p:nvPr/>
        </p:nvSpPr>
        <p:spPr>
          <a:xfrm>
            <a:off x="7493000" y="38989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test evidence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1E93FCE-A295-0A42-8715-4AA57E4EEBA3}"/>
              </a:ext>
            </a:extLst>
          </p:cNvPr>
          <p:cNvSpPr txBox="1"/>
          <p:nvPr/>
        </p:nvSpPr>
        <p:spPr>
          <a:xfrm>
            <a:off x="7493000" y="4457700"/>
            <a:ext cx="2628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500">
                <a:solidFill>
                  <a:srgbClr val="17202A"/>
                </a:solidFill>
                <a:latin typeface="PingFang TC"/>
              </a:rPr>
              <a:t>review gate</a:t>
            </a:r>
            <a:endParaRPr lang="zh-TW" altLang="en-US" sz="1500">
              <a:solidFill>
                <a:srgbClr val="17202A"/>
              </a:solidFill>
              <a:latin typeface="PingFang TC"/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0309F714-EC5D-9E4C-8DE5-513CB93BC67F}"/>
              </a:ext>
            </a:extLst>
          </p:cNvPr>
          <p:cNvSpPr/>
          <p:nvPr/>
        </p:nvSpPr>
        <p:spPr>
          <a:xfrm>
            <a:off x="876300" y="5200000"/>
            <a:ext cx="9766300" cy="609600"/>
          </a:xfrm>
          <a:prstGeom prst="roundRect">
            <a:avLst/>
          </a:prstGeom>
          <a:solidFill>
            <a:srgbClr val="FDEDE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2D4144-8A62-0642-A150-D9DF93FB51F9}"/>
              </a:ext>
            </a:extLst>
          </p:cNvPr>
          <p:cNvSpPr/>
          <p:nvPr/>
        </p:nvSpPr>
        <p:spPr>
          <a:xfrm>
            <a:off x="876300" y="5200000"/>
            <a:ext cx="50800" cy="609600"/>
          </a:xfrm>
          <a:prstGeom prst="rect">
            <a:avLst/>
          </a:prstGeom>
          <a:solidFill>
            <a:srgbClr val="C85A4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4F8D3FE-9303-E94D-9960-BB125E24FB9D}"/>
              </a:ext>
            </a:extLst>
          </p:cNvPr>
          <p:cNvSpPr txBox="1"/>
          <p:nvPr/>
        </p:nvSpPr>
        <p:spPr>
          <a:xfrm>
            <a:off x="1181100" y="5200000"/>
            <a:ext cx="9271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zh-TW" sz="1500" b="1">
                <a:solidFill>
                  <a:srgbClr val="C85A4A"/>
                </a:solidFill>
                <a:latin typeface="PingFang TC"/>
              </a:rPr>
              <a:t>spec </a:t>
            </a:r>
            <a:r>
              <a:rPr lang="zh-TW" altLang="en-US" sz="1500" b="1">
                <a:solidFill>
                  <a:srgbClr val="C85A4A"/>
                </a:solidFill>
                <a:latin typeface="PingFang TC"/>
              </a:rPr>
              <a:t>要跟著程式碼一起版本化，不要留下過時的規格</a:t>
            </a:r>
          </a:p>
        </p:txBody>
      </p:sp>
      <p:pic>
        <p:nvPicPr>
          <p:cNvPr id="20" name="Graphic 20" descr="同步更新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" y="2095500"/>
            <a:ext cx="304800" cy="304800"/>
          </a:xfrm>
          <a:prstGeom prst="rect">
            <a:avLst/>
          </a:prstGeom>
        </p:spPr>
      </p:pic>
      <p:pic>
        <p:nvPicPr>
          <p:cNvPr id="21" name="Graphic 21" descr="邊界條件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" y="2933700"/>
            <a:ext cx="304800" cy="304800"/>
          </a:xfrm>
          <a:prstGeom prst="rect">
            <a:avLst/>
          </a:prstGeom>
        </p:spPr>
      </p:pic>
      <p:pic>
        <p:nvPicPr>
          <p:cNvPr id="22" name="Graphic 22" descr="changelog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3771900"/>
            <a:ext cx="304800" cy="304800"/>
          </a:xfrm>
          <a:prstGeom prst="rect">
            <a:avLst/>
          </a:prstGeom>
        </p:spPr>
      </p:pic>
      <p:pic>
        <p:nvPicPr>
          <p:cNvPr id="23" name="Graphic 23" descr="禁止過時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" y="4610100"/>
            <a:ext cx="304800" cy="304800"/>
          </a:xfrm>
          <a:prstGeom prst="rect">
            <a:avLst/>
          </a:prstGeom>
        </p:spPr>
      </p:pic>
      <p:pic>
        <p:nvPicPr>
          <p:cNvPr id="24" name="Graphic 24" descr="spec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2832100"/>
            <a:ext cx="254000" cy="254000"/>
          </a:xfrm>
          <a:prstGeom prst="rect">
            <a:avLst/>
          </a:prstGeom>
        </p:spPr>
      </p:pic>
      <p:pic>
        <p:nvPicPr>
          <p:cNvPr id="25" name="Graphic 25" descr="小補丁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0" y="3390900"/>
            <a:ext cx="254000" cy="254000"/>
          </a:xfrm>
          <a:prstGeom prst="rect">
            <a:avLst/>
          </a:prstGeom>
        </p:spPr>
      </p:pic>
      <p:pic>
        <p:nvPicPr>
          <p:cNvPr id="26" name="Graphic 26" descr="測試證據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3949700"/>
            <a:ext cx="254000" cy="254000"/>
          </a:xfrm>
          <a:prstGeom prst="rect">
            <a:avLst/>
          </a:prstGeom>
        </p:spPr>
      </p:pic>
      <p:pic>
        <p:nvPicPr>
          <p:cNvPr id="27" name="Graphic 27" descr="審查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2000" y="45085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54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yebrow">
            <a:extLst>
              <a:ext uri="{FF2B5EF4-FFF2-40B4-BE49-F238E27FC236}">
                <a16:creationId xmlns:a16="http://schemas.microsoft.com/office/drawing/2014/main" id="{D68BE4DE-2B9F-42F5-A6F8-648BB4FD5BF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REVIEW CHECKLIST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2EA857D-31D9-4D84-9C62-143D81D7D63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Biomedical spec review 的重點是可追溯、可驗證、可停止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0C782858-8B28-4BE9-A93A-43C9F2D93FD3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47/50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AD02B780-4B11-4A90-9B08-85643869088C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61925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192CA760-EA36-43CF-B98F-2241CCC271E2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39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CHECK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461B5362-F272-4523-8B4B-8611E85C0F06}"/>
              </a:ext>
            </a:extLst>
          </p:cNvPr>
          <p:cNvSpPr>
            <a:spLocks noGrp="1"/>
          </p:cNvSpPr>
          <p:nvPr/>
        </p:nvSpPr>
        <p:spPr>
          <a:xfrm>
            <a:off x="2419350" y="1885950"/>
            <a:ext cx="533400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D9D5F15D-274A-4DEA-974E-DD1B2DBF1405}"/>
              </a:ext>
            </a:extLst>
          </p:cNvPr>
          <p:cNvSpPr>
            <a:spLocks noGrp="1"/>
          </p:cNvSpPr>
          <p:nvPr/>
        </p:nvSpPr>
        <p:spPr>
          <a:xfrm>
            <a:off x="2533650" y="2000250"/>
            <a:ext cx="510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QUESTION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4E8D92B0-AAE6-4C27-A1B7-AC7C0058387F}"/>
              </a:ext>
            </a:extLst>
          </p:cNvPr>
          <p:cNvSpPr>
            <a:spLocks noGrp="1"/>
          </p:cNvSpPr>
          <p:nvPr/>
        </p:nvSpPr>
        <p:spPr>
          <a:xfrm>
            <a:off x="7753350" y="1885950"/>
            <a:ext cx="3429000" cy="419100"/>
          </a:xfrm>
          <a:prstGeom prst="roundRect">
            <a:avLst>
              <a:gd name="adj" fmla="val 9091"/>
            </a:avLst>
          </a:prstGeom>
          <a:solidFill>
            <a:srgbClr val="3446A8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7AC7984D-16E1-48E9-BCE2-5762B7BD9ABD}"/>
              </a:ext>
            </a:extLst>
          </p:cNvPr>
          <p:cNvSpPr>
            <a:spLocks noGrp="1"/>
          </p:cNvSpPr>
          <p:nvPr/>
        </p:nvSpPr>
        <p:spPr>
          <a:xfrm>
            <a:off x="7867650" y="2000250"/>
            <a:ext cx="320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WHEN FAILED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885A9E72-EF19-4F81-B29F-CBC25B4FF642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1ED63933-C86C-4CDE-84BA-45F0259EDDAC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EBF0B2AE-F91F-4659-908F-2A1A04B74BBA}"/>
              </a:ext>
            </a:extLst>
          </p:cNvPr>
          <p:cNvSpPr>
            <a:spLocks noGrp="1"/>
          </p:cNvSpPr>
          <p:nvPr/>
        </p:nvSpPr>
        <p:spPr>
          <a:xfrm>
            <a:off x="2419350" y="2305050"/>
            <a:ext cx="5334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507F6B7C-6179-4AD5-BB0E-97C2EC9309D1}"/>
              </a:ext>
            </a:extLst>
          </p:cNvPr>
          <p:cNvSpPr>
            <a:spLocks noGrp="1"/>
          </p:cNvSpPr>
          <p:nvPr/>
        </p:nvSpPr>
        <p:spPr>
          <a:xfrm>
            <a:off x="2533650" y="2400300"/>
            <a:ext cx="510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Are allowed sources and versions explicit?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43BF82B6-137F-4A60-B699-7E6DF28AF17C}"/>
              </a:ext>
            </a:extLst>
          </p:cNvPr>
          <p:cNvSpPr>
            <a:spLocks noGrp="1"/>
          </p:cNvSpPr>
          <p:nvPr/>
        </p:nvSpPr>
        <p:spPr>
          <a:xfrm>
            <a:off x="7753350" y="2305050"/>
            <a:ext cx="3429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942BD2A9-4A16-4945-8A6F-C9646F9DBAFA}"/>
              </a:ext>
            </a:extLst>
          </p:cNvPr>
          <p:cNvSpPr>
            <a:spLocks noGrp="1"/>
          </p:cNvSpPr>
          <p:nvPr/>
        </p:nvSpPr>
        <p:spPr>
          <a:xfrm>
            <a:off x="7867650" y="2400300"/>
            <a:ext cx="320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補來源或縮小 scope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BF557107-045E-4EEB-83AF-6DAC4DCEEEFF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6C124611-EF4D-468D-B017-44BB0366E1FB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Schema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403621AB-CAB6-4C1D-9418-E84C6199AED9}"/>
              </a:ext>
            </a:extLst>
          </p:cNvPr>
          <p:cNvSpPr>
            <a:spLocks noGrp="1"/>
          </p:cNvSpPr>
          <p:nvPr/>
        </p:nvSpPr>
        <p:spPr>
          <a:xfrm>
            <a:off x="2419350" y="2857500"/>
            <a:ext cx="5334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F843BBA7-7166-4764-971D-36D839EDEF64}"/>
              </a:ext>
            </a:extLst>
          </p:cNvPr>
          <p:cNvSpPr>
            <a:spLocks noGrp="1"/>
          </p:cNvSpPr>
          <p:nvPr/>
        </p:nvSpPr>
        <p:spPr>
          <a:xfrm>
            <a:off x="2533650" y="2952750"/>
            <a:ext cx="510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Are output fields typed and constrained?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F4A4CB63-8460-4A7B-89A1-68B6B45C4576}"/>
              </a:ext>
            </a:extLst>
          </p:cNvPr>
          <p:cNvSpPr>
            <a:spLocks noGrp="1"/>
          </p:cNvSpPr>
          <p:nvPr/>
        </p:nvSpPr>
        <p:spPr>
          <a:xfrm>
            <a:off x="7753350" y="2857500"/>
            <a:ext cx="3429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4171071F-5925-40A4-A33E-6450A355E3D9}"/>
              </a:ext>
            </a:extLst>
          </p:cNvPr>
          <p:cNvSpPr>
            <a:spLocks noGrp="1"/>
          </p:cNvSpPr>
          <p:nvPr/>
        </p:nvSpPr>
        <p:spPr>
          <a:xfrm>
            <a:off x="7867650" y="2952750"/>
            <a:ext cx="320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補 schema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2BE12295-C2B0-4BBD-9154-377950CDC268}"/>
              </a:ext>
            </a:extLst>
          </p:cNvPr>
          <p:cNvSpPr>
            <a:spLocks noGrp="1"/>
          </p:cNvSpPr>
          <p:nvPr/>
        </p:nvSpPr>
        <p:spPr>
          <a:xfrm>
            <a:off x="800100" y="34099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250CD536-4597-4F6E-8A5F-69EE18D92F89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Not found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C80762A1-EAA9-4010-A5E6-1A68EF1716B2}"/>
              </a:ext>
            </a:extLst>
          </p:cNvPr>
          <p:cNvSpPr>
            <a:spLocks noGrp="1"/>
          </p:cNvSpPr>
          <p:nvPr/>
        </p:nvSpPr>
        <p:spPr>
          <a:xfrm>
            <a:off x="2419350" y="3409950"/>
            <a:ext cx="5334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39DF3E08-8A93-4A4E-9D14-006C5C31362C}"/>
              </a:ext>
            </a:extLst>
          </p:cNvPr>
          <p:cNvSpPr>
            <a:spLocks noGrp="1"/>
          </p:cNvSpPr>
          <p:nvPr/>
        </p:nvSpPr>
        <p:spPr>
          <a:xfrm>
            <a:off x="2533650" y="3505200"/>
            <a:ext cx="510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Does not_found stop instead of inventing data?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FAFB5D8A-EE07-4965-AC31-00BBA48106E0}"/>
              </a:ext>
            </a:extLst>
          </p:cNvPr>
          <p:cNvSpPr>
            <a:spLocks noGrp="1"/>
          </p:cNvSpPr>
          <p:nvPr/>
        </p:nvSpPr>
        <p:spPr>
          <a:xfrm>
            <a:off x="7753350" y="3409950"/>
            <a:ext cx="3429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157A53FD-3BD8-4AFB-A0B2-108C80459CD9}"/>
              </a:ext>
            </a:extLst>
          </p:cNvPr>
          <p:cNvSpPr>
            <a:spLocks noGrp="1"/>
          </p:cNvSpPr>
          <p:nvPr/>
        </p:nvSpPr>
        <p:spPr>
          <a:xfrm>
            <a:off x="7867650" y="3505200"/>
            <a:ext cx="320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補 not_found rule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78541C32-4B76-4F09-AA36-1DC5074CDA23}"/>
              </a:ext>
            </a:extLst>
          </p:cNvPr>
          <p:cNvSpPr>
            <a:spLocks noGrp="1"/>
          </p:cNvSpPr>
          <p:nvPr/>
        </p:nvSpPr>
        <p:spPr>
          <a:xfrm>
            <a:off x="800100" y="396240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64C52B66-75AF-41E3-908F-BCFCA7A26CC1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Boundary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B83F7810-50DE-4594-9865-805830430540}"/>
              </a:ext>
            </a:extLst>
          </p:cNvPr>
          <p:cNvSpPr>
            <a:spLocks noGrp="1"/>
          </p:cNvSpPr>
          <p:nvPr/>
        </p:nvSpPr>
        <p:spPr>
          <a:xfrm>
            <a:off x="2419350" y="3962400"/>
            <a:ext cx="5334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29FF3868-90B2-44D4-B6A7-E25229970311}"/>
              </a:ext>
            </a:extLst>
          </p:cNvPr>
          <p:cNvSpPr>
            <a:spLocks noGrp="1"/>
          </p:cNvSpPr>
          <p:nvPr/>
        </p:nvSpPr>
        <p:spPr>
          <a:xfrm>
            <a:off x="2533650" y="4057650"/>
            <a:ext cx="510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Do PHI and clinical claims have a human gate?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D5AA7300-6C96-446B-9326-18D4380FD677}"/>
              </a:ext>
            </a:extLst>
          </p:cNvPr>
          <p:cNvSpPr>
            <a:spLocks noGrp="1"/>
          </p:cNvSpPr>
          <p:nvPr/>
        </p:nvSpPr>
        <p:spPr>
          <a:xfrm>
            <a:off x="7753350" y="3962400"/>
            <a:ext cx="3429000" cy="552450"/>
          </a:xfrm>
          <a:prstGeom prst="roundRect">
            <a:avLst>
              <a:gd name="adj" fmla="val 6897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7A2000BC-CFD4-43A5-8C37-1932B3527975}"/>
              </a:ext>
            </a:extLst>
          </p:cNvPr>
          <p:cNvSpPr>
            <a:spLocks noGrp="1"/>
          </p:cNvSpPr>
          <p:nvPr/>
        </p:nvSpPr>
        <p:spPr>
          <a:xfrm>
            <a:off x="7867650" y="4057650"/>
            <a:ext cx="320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補 human review</a:t>
            </a:r>
          </a:p>
        </p:txBody>
      </p:sp>
      <p:sp>
        <p:nvSpPr>
          <p:cNvPr id="34" name="cell-4-0">
            <a:extLst>
              <a:ext uri="{FF2B5EF4-FFF2-40B4-BE49-F238E27FC236}">
                <a16:creationId xmlns:a16="http://schemas.microsoft.com/office/drawing/2014/main" id="{D57698E6-0089-4E1D-8836-5E5358F6B6B1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1619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cell-text-4-0">
            <a:extLst>
              <a:ext uri="{FF2B5EF4-FFF2-40B4-BE49-F238E27FC236}">
                <a16:creationId xmlns:a16="http://schemas.microsoft.com/office/drawing/2014/main" id="{DA51784E-1D80-4D5D-9A2F-537319BA73AB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Validation</a:t>
            </a:r>
          </a:p>
        </p:txBody>
      </p:sp>
      <p:sp>
        <p:nvSpPr>
          <p:cNvPr id="36" name="cell-4-1">
            <a:extLst>
              <a:ext uri="{FF2B5EF4-FFF2-40B4-BE49-F238E27FC236}">
                <a16:creationId xmlns:a16="http://schemas.microsoft.com/office/drawing/2014/main" id="{831FF0AA-2255-4388-97F6-6F61B2FF580E}"/>
              </a:ext>
            </a:extLst>
          </p:cNvPr>
          <p:cNvSpPr>
            <a:spLocks noGrp="1"/>
          </p:cNvSpPr>
          <p:nvPr/>
        </p:nvSpPr>
        <p:spPr>
          <a:xfrm>
            <a:off x="2419350" y="4514850"/>
            <a:ext cx="5334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cell-text-4-1">
            <a:extLst>
              <a:ext uri="{FF2B5EF4-FFF2-40B4-BE49-F238E27FC236}">
                <a16:creationId xmlns:a16="http://schemas.microsoft.com/office/drawing/2014/main" id="{99D69239-27C6-4723-8B6A-7DBF4683B6D6}"/>
              </a:ext>
            </a:extLst>
          </p:cNvPr>
          <p:cNvSpPr>
            <a:spLocks noGrp="1"/>
          </p:cNvSpPr>
          <p:nvPr/>
        </p:nvSpPr>
        <p:spPr>
          <a:xfrm>
            <a:off x="2533650" y="4610100"/>
            <a:ext cx="510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Can fixtures and validation commands be rerun?</a:t>
            </a:r>
          </a:p>
        </p:txBody>
      </p:sp>
      <p:sp>
        <p:nvSpPr>
          <p:cNvPr id="38" name="cell-4-2">
            <a:extLst>
              <a:ext uri="{FF2B5EF4-FFF2-40B4-BE49-F238E27FC236}">
                <a16:creationId xmlns:a16="http://schemas.microsoft.com/office/drawing/2014/main" id="{5562D2BE-C67F-4566-9D56-7C1684D0EB93}"/>
              </a:ext>
            </a:extLst>
          </p:cNvPr>
          <p:cNvSpPr>
            <a:spLocks noGrp="1"/>
          </p:cNvSpPr>
          <p:nvPr/>
        </p:nvSpPr>
        <p:spPr>
          <a:xfrm>
            <a:off x="7753350" y="4514850"/>
            <a:ext cx="3429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cell-text-4-2">
            <a:extLst>
              <a:ext uri="{FF2B5EF4-FFF2-40B4-BE49-F238E27FC236}">
                <a16:creationId xmlns:a16="http://schemas.microsoft.com/office/drawing/2014/main" id="{9CA9A442-A1D9-4BB5-B7CE-B33BFB6080A3}"/>
              </a:ext>
            </a:extLst>
          </p:cNvPr>
          <p:cNvSpPr>
            <a:spLocks noGrp="1"/>
          </p:cNvSpPr>
          <p:nvPr/>
        </p:nvSpPr>
        <p:spPr>
          <a:xfrm>
            <a:off x="7867650" y="4610100"/>
            <a:ext cx="320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補 tests/golden file</a:t>
            </a:r>
          </a:p>
        </p:txBody>
      </p:sp>
    </p:spTree>
    <p:extLst>
      <p:ext uri="{BB962C8B-B14F-4D97-AF65-F5344CB8AC3E}">
        <p14:creationId xmlns:p14="http://schemas.microsoft.com/office/powerpoint/2010/main" val="18165693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A2EFC67E-4428-4339-875C-A8D982E0D97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STUDENT EXERCISE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93CCC6-7406-4AFC-8DCB-83783FCC31F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學生要交的是 spec，不是看起來很厲害的 prompt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4B2B3B20-DCBA-44D1-84CD-FADAA648C083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48/50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506AB0D8-685D-4AFD-BECF-B2785185B4FA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1428750" cy="419100"/>
          </a:xfrm>
          <a:prstGeom prst="roundRect">
            <a:avLst>
              <a:gd name="adj" fmla="val 9091"/>
            </a:avLst>
          </a:prstGeom>
          <a:solidFill>
            <a:srgbClr val="438D4A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eader-text-0">
            <a:extLst>
              <a:ext uri="{FF2B5EF4-FFF2-40B4-BE49-F238E27FC236}">
                <a16:creationId xmlns:a16="http://schemas.microsoft.com/office/drawing/2014/main" id="{77FBB6C6-9955-4EF7-8A07-EC3428BFA311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STEP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1AC8C356-AD4D-4D6B-AB76-3F1FD2A1E5FC}"/>
              </a:ext>
            </a:extLst>
          </p:cNvPr>
          <p:cNvSpPr>
            <a:spLocks noGrp="1"/>
          </p:cNvSpPr>
          <p:nvPr/>
        </p:nvSpPr>
        <p:spPr>
          <a:xfrm>
            <a:off x="2228850" y="1885950"/>
            <a:ext cx="4953000" cy="419100"/>
          </a:xfrm>
          <a:prstGeom prst="roundRect">
            <a:avLst>
              <a:gd name="adj" fmla="val 9091"/>
            </a:avLst>
          </a:prstGeom>
          <a:solidFill>
            <a:srgbClr val="438D4A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header-text-1">
            <a:extLst>
              <a:ext uri="{FF2B5EF4-FFF2-40B4-BE49-F238E27FC236}">
                <a16:creationId xmlns:a16="http://schemas.microsoft.com/office/drawing/2014/main" id="{A84D8A11-17C1-4CD3-B5C1-56482D288C59}"/>
              </a:ext>
            </a:extLst>
          </p:cNvPr>
          <p:cNvSpPr>
            <a:spLocks noGrp="1"/>
          </p:cNvSpPr>
          <p:nvPr/>
        </p:nvSpPr>
        <p:spPr>
          <a:xfrm>
            <a:off x="2343150" y="2000250"/>
            <a:ext cx="472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DELIVERABLE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31A97E20-92D5-4E1D-8D6A-6E8D65953D02}"/>
              </a:ext>
            </a:extLst>
          </p:cNvPr>
          <p:cNvSpPr>
            <a:spLocks noGrp="1"/>
          </p:cNvSpPr>
          <p:nvPr/>
        </p:nvSpPr>
        <p:spPr>
          <a:xfrm>
            <a:off x="7181850" y="1885950"/>
            <a:ext cx="4000500" cy="419100"/>
          </a:xfrm>
          <a:prstGeom prst="roundRect">
            <a:avLst>
              <a:gd name="adj" fmla="val 9091"/>
            </a:avLst>
          </a:prstGeom>
          <a:solidFill>
            <a:srgbClr val="438D4A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er-text-2">
            <a:extLst>
              <a:ext uri="{FF2B5EF4-FFF2-40B4-BE49-F238E27FC236}">
                <a16:creationId xmlns:a16="http://schemas.microsoft.com/office/drawing/2014/main" id="{18FC5786-3EB0-4FD2-978C-05C840FF81EF}"/>
              </a:ext>
            </a:extLst>
          </p:cNvPr>
          <p:cNvSpPr>
            <a:spLocks noGrp="1"/>
          </p:cNvSpPr>
          <p:nvPr/>
        </p:nvSpPr>
        <p:spPr>
          <a:xfrm>
            <a:off x="7296150" y="20002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CHECK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B794F466-FA33-40C6-83D1-BEE962C3F421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42875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F1B24999-9A91-4F4E-95CA-8574D25F2FD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200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1. Pick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C82C6BDC-BDBB-4805-8EA9-9AE4C4611031}"/>
              </a:ext>
            </a:extLst>
          </p:cNvPr>
          <p:cNvSpPr>
            <a:spLocks noGrp="1"/>
          </p:cNvSpPr>
          <p:nvPr/>
        </p:nvSpPr>
        <p:spPr>
          <a:xfrm>
            <a:off x="2228850" y="2305050"/>
            <a:ext cx="495300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E143A21C-0A18-4DCD-9673-E14B70A667C2}"/>
              </a:ext>
            </a:extLst>
          </p:cNvPr>
          <p:cNvSpPr>
            <a:spLocks noGrp="1"/>
          </p:cNvSpPr>
          <p:nvPr/>
        </p:nvSpPr>
        <p:spPr>
          <a:xfrm>
            <a:off x="2343150" y="2400300"/>
            <a:ext cx="472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選一個工具：PubMed / gene / trial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22C2BF93-3DE6-4ABB-B3D3-49E6F30910E8}"/>
              </a:ext>
            </a:extLst>
          </p:cNvPr>
          <p:cNvSpPr>
            <a:spLocks noGrp="1"/>
          </p:cNvSpPr>
          <p:nvPr/>
        </p:nvSpPr>
        <p:spPr>
          <a:xfrm>
            <a:off x="7181850" y="2305050"/>
            <a:ext cx="400050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0EEEAB83-1451-43E4-B763-02D2327190CD}"/>
              </a:ext>
            </a:extLst>
          </p:cNvPr>
          <p:cNvSpPr>
            <a:spLocks noGrp="1"/>
          </p:cNvSpPr>
          <p:nvPr/>
        </p:nvSpPr>
        <p:spPr>
          <a:xfrm>
            <a:off x="7296150" y="2400300"/>
            <a:ext cx="3771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scope 是否夠小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357F2E59-3FE8-4706-B065-B4C2F0D54B85}"/>
              </a:ext>
            </a:extLst>
          </p:cNvPr>
          <p:cNvSpPr>
            <a:spLocks noGrp="1"/>
          </p:cNvSpPr>
          <p:nvPr/>
        </p:nvSpPr>
        <p:spPr>
          <a:xfrm>
            <a:off x="800100" y="2971800"/>
            <a:ext cx="1428750" cy="666750"/>
          </a:xfrm>
          <a:prstGeom prst="roundRect">
            <a:avLst>
              <a:gd name="adj" fmla="val 5714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7558826A-3EBE-4739-B71B-C2870E051C14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1200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2. Clarify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360DD5DC-2D07-4FA3-927A-3ACD4ADFF76F}"/>
              </a:ext>
            </a:extLst>
          </p:cNvPr>
          <p:cNvSpPr>
            <a:spLocks noGrp="1"/>
          </p:cNvSpPr>
          <p:nvPr/>
        </p:nvSpPr>
        <p:spPr>
          <a:xfrm>
            <a:off x="2228850" y="2971800"/>
            <a:ext cx="4953000" cy="666750"/>
          </a:xfrm>
          <a:prstGeom prst="roundRect">
            <a:avLst>
              <a:gd name="adj" fmla="val 5714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684A2BCE-5A10-4944-AA72-9D30D46669C6}"/>
              </a:ext>
            </a:extLst>
          </p:cNvPr>
          <p:cNvSpPr>
            <a:spLocks noGrp="1"/>
          </p:cNvSpPr>
          <p:nvPr/>
        </p:nvSpPr>
        <p:spPr>
          <a:xfrm>
            <a:off x="2343150" y="3067050"/>
            <a:ext cx="472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列 5 個 clarification questions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909BEECC-E4A3-4350-B75D-1EF11A71A314}"/>
              </a:ext>
            </a:extLst>
          </p:cNvPr>
          <p:cNvSpPr>
            <a:spLocks noGrp="1"/>
          </p:cNvSpPr>
          <p:nvPr/>
        </p:nvSpPr>
        <p:spPr>
          <a:xfrm>
            <a:off x="7181850" y="2971800"/>
            <a:ext cx="4000500" cy="666750"/>
          </a:xfrm>
          <a:prstGeom prst="roundRect">
            <a:avLst>
              <a:gd name="adj" fmla="val 5714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DA139333-337A-471A-B27F-372953833620}"/>
              </a:ext>
            </a:extLst>
          </p:cNvPr>
          <p:cNvSpPr>
            <a:spLocks noGrp="1"/>
          </p:cNvSpPr>
          <p:nvPr/>
        </p:nvSpPr>
        <p:spPr>
          <a:xfrm>
            <a:off x="7296150" y="3067050"/>
            <a:ext cx="3771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Does it cover source and boundary?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042B4C2E-F5D1-4066-A82B-664B956251CD}"/>
              </a:ext>
            </a:extLst>
          </p:cNvPr>
          <p:cNvSpPr>
            <a:spLocks noGrp="1"/>
          </p:cNvSpPr>
          <p:nvPr/>
        </p:nvSpPr>
        <p:spPr>
          <a:xfrm>
            <a:off x="800100" y="3638550"/>
            <a:ext cx="142875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603164D8-82D7-4975-9EAF-08A01E3510FA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1200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3. Specify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B74532CF-3F12-4ABF-872D-7B14BEE78390}"/>
              </a:ext>
            </a:extLst>
          </p:cNvPr>
          <p:cNvSpPr>
            <a:spLocks noGrp="1"/>
          </p:cNvSpPr>
          <p:nvPr/>
        </p:nvSpPr>
        <p:spPr>
          <a:xfrm>
            <a:off x="2228850" y="3638550"/>
            <a:ext cx="495300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FF9DF6F0-1C9E-4A5F-8192-3FC56D0EAF6D}"/>
              </a:ext>
            </a:extLst>
          </p:cNvPr>
          <p:cNvSpPr>
            <a:spLocks noGrp="1"/>
          </p:cNvSpPr>
          <p:nvPr/>
        </p:nvSpPr>
        <p:spPr>
          <a:xfrm>
            <a:off x="2343150" y="3733800"/>
            <a:ext cx="472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填入 SPEC.md template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B27CC8D9-5507-4754-AAB1-367C6AC9A2B2}"/>
              </a:ext>
            </a:extLst>
          </p:cNvPr>
          <p:cNvSpPr>
            <a:spLocks noGrp="1"/>
          </p:cNvSpPr>
          <p:nvPr/>
        </p:nvSpPr>
        <p:spPr>
          <a:xfrm>
            <a:off x="7181850" y="3638550"/>
            <a:ext cx="400050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4AAEF087-FBE2-4667-9BD2-AA7670183955}"/>
              </a:ext>
            </a:extLst>
          </p:cNvPr>
          <p:cNvSpPr>
            <a:spLocks noGrp="1"/>
          </p:cNvSpPr>
          <p:nvPr/>
        </p:nvSpPr>
        <p:spPr>
          <a:xfrm>
            <a:off x="7296150" y="3733800"/>
            <a:ext cx="3771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schema、errors、validation 是否完整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3A33CAB3-4E8B-4F40-98A7-3FE2E8030C11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1428750" cy="666750"/>
          </a:xfrm>
          <a:prstGeom prst="roundRect">
            <a:avLst>
              <a:gd name="adj" fmla="val 5714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3D06C029-6951-48D3-8C48-5FD138A0506B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1200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4. Handoff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9E95617A-3631-463F-B98C-22482D958E00}"/>
              </a:ext>
            </a:extLst>
          </p:cNvPr>
          <p:cNvSpPr>
            <a:spLocks noGrp="1"/>
          </p:cNvSpPr>
          <p:nvPr/>
        </p:nvSpPr>
        <p:spPr>
          <a:xfrm>
            <a:off x="2228850" y="4305300"/>
            <a:ext cx="4953000" cy="666750"/>
          </a:xfrm>
          <a:prstGeom prst="roundRect">
            <a:avLst>
              <a:gd name="adj" fmla="val 5714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BEB0E244-6CCA-46B8-A8DD-38DDC1691577}"/>
              </a:ext>
            </a:extLst>
          </p:cNvPr>
          <p:cNvSpPr>
            <a:spLocks noGrp="1"/>
          </p:cNvSpPr>
          <p:nvPr/>
        </p:nvSpPr>
        <p:spPr>
          <a:xfrm>
            <a:off x="2343150" y="4400550"/>
            <a:ext cx="472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寫給 coding agent 的 implementation prompt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6441958F-E6F1-419A-BF95-6CC850B17E63}"/>
              </a:ext>
            </a:extLst>
          </p:cNvPr>
          <p:cNvSpPr>
            <a:spLocks noGrp="1"/>
          </p:cNvSpPr>
          <p:nvPr/>
        </p:nvSpPr>
        <p:spPr>
          <a:xfrm>
            <a:off x="7181850" y="4305300"/>
            <a:ext cx="4000500" cy="666750"/>
          </a:xfrm>
          <a:prstGeom prst="roundRect">
            <a:avLst>
              <a:gd name="adj" fmla="val 5714"/>
            </a:avLst>
          </a:prstGeom>
          <a:solidFill>
            <a:srgbClr val="F1F4F5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577936DB-0892-41B9-9FBC-060D29C471FE}"/>
              </a:ext>
            </a:extLst>
          </p:cNvPr>
          <p:cNvSpPr>
            <a:spLocks noGrp="1"/>
          </p:cNvSpPr>
          <p:nvPr/>
        </p:nvSpPr>
        <p:spPr>
          <a:xfrm>
            <a:off x="7296150" y="4400550"/>
            <a:ext cx="3771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Are file scope and tests constrained?</a:t>
            </a:r>
          </a:p>
        </p:txBody>
      </p:sp>
    </p:spTree>
    <p:extLst>
      <p:ext uri="{BB962C8B-B14F-4D97-AF65-F5344CB8AC3E}">
        <p14:creationId xmlns:p14="http://schemas.microsoft.com/office/powerpoint/2010/main" val="13264509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F935635B-6CDB-4F75-B332-87FF9F26D1A3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MATERIALS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2BB3172-856C-47A1-8CFA-6D83AEE77334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Lab bundle、OpenSpec 與 Spectra 的官方學習來源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BB22F7A0-153C-46AA-A6BA-B48C09853935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49/50</a:t>
            </a:r>
          </a:p>
        </p:txBody>
      </p:sp>
      <p:sp>
        <p:nvSpPr>
          <p:cNvPr id="4" name="lab-box">
            <a:extLst>
              <a:ext uri="{FF2B5EF4-FFF2-40B4-BE49-F238E27FC236}">
                <a16:creationId xmlns:a16="http://schemas.microsoft.com/office/drawing/2014/main" id="{4138F53B-0D2E-40A1-82B3-006621629FD4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4762500" cy="2647950"/>
          </a:xfrm>
          <a:prstGeom prst="roundRect">
            <a:avLst>
              <a:gd name="adj" fmla="val 2878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lab-title">
            <a:extLst>
              <a:ext uri="{FF2B5EF4-FFF2-40B4-BE49-F238E27FC236}">
                <a16:creationId xmlns:a16="http://schemas.microsoft.com/office/drawing/2014/main" id="{51F5B367-1ED4-475C-A998-CEA6C9902F8A}"/>
              </a:ext>
            </a:extLst>
          </p:cNvPr>
          <p:cNvSpPr>
            <a:spLocks noGrp="1"/>
          </p:cNvSpPr>
          <p:nvPr/>
        </p:nvSpPr>
        <p:spPr>
          <a:xfrm>
            <a:off x="1200150" y="22860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Repo materials</a:t>
            </a:r>
          </a:p>
        </p:txBody>
      </p:sp>
      <p:sp>
        <p:nvSpPr>
          <p:cNvPr id="6" name="lab-list">
            <a:extLst>
              <a:ext uri="{FF2B5EF4-FFF2-40B4-BE49-F238E27FC236}">
                <a16:creationId xmlns:a16="http://schemas.microsoft.com/office/drawing/2014/main" id="{1037CB39-2037-4CD0-B63E-BF2D8358E7D8}"/>
              </a:ext>
            </a:extLst>
          </p:cNvPr>
          <p:cNvSpPr>
            <a:spLocks noGrp="1"/>
          </p:cNvSpPr>
          <p:nvPr/>
        </p:nvSpPr>
        <p:spPr>
          <a:xfrm>
            <a:off x="1238250" y="2895600"/>
            <a:ext cx="37909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7"/>
              </a:spcAft>
              <a:buNone/>
              <a:defRPr sz="95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50">
                <a:solidFill>
                  <a:srgbClr val="17202A"/>
                </a:solidFill>
                <a:latin typeface="Menlo"/>
                <a:ea typeface="Menlo"/>
                <a:cs typeface="Menlo"/>
              </a:rPr>
              <a:t>templates/biomedical-tool-spec-template.md</a:t>
            </a:r>
          </a:p>
          <a:p>
            <a:pPr marL="24" indent="-12">
              <a:lnSpc>
                <a:spcPct val="108000"/>
              </a:lnSpc>
              <a:spcAft>
                <a:spcPts val="7"/>
              </a:spcAft>
              <a:buNone/>
              <a:defRPr sz="95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50">
                <a:solidFill>
                  <a:srgbClr val="17202A"/>
                </a:solidFill>
                <a:latin typeface="Menlo"/>
                <a:ea typeface="Menlo"/>
                <a:cs typeface="Menlo"/>
              </a:rPr>
              <a:t>examples/pubmed-evidence-extractor/SPEC.md</a:t>
            </a:r>
          </a:p>
          <a:p>
            <a:pPr marL="24" indent="-12">
              <a:lnSpc>
                <a:spcPct val="108000"/>
              </a:lnSpc>
              <a:spcAft>
                <a:spcPts val="7"/>
              </a:spcAft>
              <a:buNone/>
              <a:defRPr sz="95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50">
                <a:solidFill>
                  <a:srgbClr val="17202A"/>
                </a:solidFill>
                <a:latin typeface="Menlo"/>
                <a:ea typeface="Menlo"/>
                <a:cs typeface="Menlo"/>
              </a:rPr>
              <a:t>examples/gene-list-annotation-tool/SPEC.md</a:t>
            </a:r>
          </a:p>
          <a:p>
            <a:pPr marL="24" indent="-12">
              <a:lnSpc>
                <a:spcPct val="108000"/>
              </a:lnSpc>
              <a:spcAft>
                <a:spcPts val="7"/>
              </a:spcAft>
              <a:buNone/>
              <a:defRPr sz="95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50">
                <a:solidFill>
                  <a:srgbClr val="17202A"/>
                </a:solidFill>
                <a:latin typeface="Menlo"/>
                <a:ea typeface="Menlo"/>
                <a:cs typeface="Menlo"/>
              </a:rPr>
              <a:t>examples/clinical-trial-summarizer/SPEC.md</a:t>
            </a:r>
          </a:p>
          <a:p>
            <a:pPr marL="24" indent="-12">
              <a:lnSpc>
                <a:spcPct val="108000"/>
              </a:lnSpc>
              <a:spcAft>
                <a:spcPts val="7"/>
              </a:spcAft>
              <a:buNone/>
              <a:defRPr sz="95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50">
                <a:solidFill>
                  <a:srgbClr val="17202A"/>
                </a:solidFill>
                <a:latin typeface="Menlo"/>
                <a:ea typeface="Menlo"/>
                <a:cs typeface="Menlo"/>
              </a:rPr>
              <a:t>prompts/spectra_demo_prompt.md</a:t>
            </a:r>
          </a:p>
        </p:txBody>
      </p:sp>
      <p:sp>
        <p:nvSpPr>
          <p:cNvPr id="7" name="src-box">
            <a:extLst>
              <a:ext uri="{FF2B5EF4-FFF2-40B4-BE49-F238E27FC236}">
                <a16:creationId xmlns:a16="http://schemas.microsoft.com/office/drawing/2014/main" id="{85C9E1E4-0AEF-4D2C-8902-E9FBF57522A3}"/>
              </a:ext>
            </a:extLst>
          </p:cNvPr>
          <p:cNvSpPr>
            <a:spLocks noGrp="1"/>
          </p:cNvSpPr>
          <p:nvPr/>
        </p:nvSpPr>
        <p:spPr>
          <a:xfrm>
            <a:off x="6191250" y="1943100"/>
            <a:ext cx="4476750" cy="264795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rc-title">
            <a:extLst>
              <a:ext uri="{FF2B5EF4-FFF2-40B4-BE49-F238E27FC236}">
                <a16:creationId xmlns:a16="http://schemas.microsoft.com/office/drawing/2014/main" id="{45B41AA3-622B-49FE-B6FC-A685F753379A}"/>
              </a:ext>
            </a:extLst>
          </p:cNvPr>
          <p:cNvSpPr>
            <a:spLocks noGrp="1"/>
          </p:cNvSpPr>
          <p:nvPr/>
        </p:nvSpPr>
        <p:spPr>
          <a:xfrm>
            <a:off x="6534150" y="22860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Referenced sources</a:t>
            </a:r>
          </a:p>
        </p:txBody>
      </p:sp>
      <p:sp>
        <p:nvSpPr>
          <p:cNvPr id="9" name="src-list">
            <a:extLst>
              <a:ext uri="{FF2B5EF4-FFF2-40B4-BE49-F238E27FC236}">
                <a16:creationId xmlns:a16="http://schemas.microsoft.com/office/drawing/2014/main" id="{989423C7-7673-456C-A34F-6E844230DDDD}"/>
              </a:ext>
            </a:extLst>
          </p:cNvPr>
          <p:cNvSpPr>
            <a:spLocks noGrp="1"/>
          </p:cNvSpPr>
          <p:nvPr/>
        </p:nvSpPr>
        <p:spPr>
          <a:xfrm>
            <a:off x="6572250" y="2895600"/>
            <a:ext cx="36385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9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OpenSpec official README / installation docs</a:t>
            </a:r>
          </a:p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9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Spectra official website / GitHub README</a:t>
            </a:r>
          </a:p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9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Kao Chen Long: Spectra 2.0 workflow</a:t>
            </a:r>
          </a:p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9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Homebrew spectra-app cask page</a:t>
            </a:r>
          </a:p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9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Course prompt: prompts/spectra_demo_prompt.md</a:t>
            </a:r>
          </a:p>
        </p:txBody>
      </p:sp>
    </p:spTree>
    <p:extLst>
      <p:ext uri="{BB962C8B-B14F-4D97-AF65-F5344CB8AC3E}">
        <p14:creationId xmlns:p14="http://schemas.microsoft.com/office/powerpoint/2010/main" val="13861301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05184107-62D5-4F34-B19F-0EA3E946FF0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WRAP-UP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4DA47E-0032-4822-8CF1-E57DC44495D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最後帶走五句話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F17E4E5-CA3B-470B-859C-CD6BFE04215B}"/>
              </a:ext>
            </a:extLst>
          </p:cNvPr>
          <p:cNvSpPr>
            <a:spLocks noGrp="1"/>
          </p:cNvSpPr>
          <p:nvPr/>
        </p:nvSpPr>
        <p:spPr>
          <a:xfrm>
            <a:off x="723900" y="6190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Spec-driven development for biomedical tools  |  50/50</a:t>
            </a:r>
          </a:p>
        </p:txBody>
      </p:sp>
      <p:sp>
        <p:nvSpPr>
          <p:cNvPr id="4" name="wrap-0">
            <a:extLst>
              <a:ext uri="{FF2B5EF4-FFF2-40B4-BE49-F238E27FC236}">
                <a16:creationId xmlns:a16="http://schemas.microsoft.com/office/drawing/2014/main" id="{2349D260-BDC4-4FE7-B956-502B31570D24}"/>
              </a:ext>
            </a:extLst>
          </p:cNvPr>
          <p:cNvSpPr>
            <a:spLocks noGrp="1"/>
          </p:cNvSpPr>
          <p:nvPr/>
        </p:nvSpPr>
        <p:spPr>
          <a:xfrm>
            <a:off x="1123950" y="1581150"/>
            <a:ext cx="9620250" cy="552450"/>
          </a:xfrm>
          <a:prstGeom prst="roundRect">
            <a:avLst>
              <a:gd name="adj" fmla="val 13793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wrap-text-0">
            <a:extLst>
              <a:ext uri="{FF2B5EF4-FFF2-40B4-BE49-F238E27FC236}">
                <a16:creationId xmlns:a16="http://schemas.microsoft.com/office/drawing/2014/main" id="{94C2D46B-8BBB-4BBA-BAA5-03E991641BEF}"/>
              </a:ext>
            </a:extLst>
          </p:cNvPr>
          <p:cNvSpPr>
            <a:spLocks noGrp="1"/>
          </p:cNvSpPr>
          <p:nvPr/>
        </p:nvSpPr>
        <p:spPr>
          <a:xfrm>
            <a:off x="1409700" y="173355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1. Spec 讓正確性可以被檢查，不是文件崇拜。</a:t>
            </a:r>
          </a:p>
        </p:txBody>
      </p:sp>
      <p:sp>
        <p:nvSpPr>
          <p:cNvPr id="6" name="wrap-1">
            <a:extLst>
              <a:ext uri="{FF2B5EF4-FFF2-40B4-BE49-F238E27FC236}">
                <a16:creationId xmlns:a16="http://schemas.microsoft.com/office/drawing/2014/main" id="{511AE600-E726-47FC-AC9E-98FFF92E7E9E}"/>
              </a:ext>
            </a:extLst>
          </p:cNvPr>
          <p:cNvSpPr>
            <a:spLocks noGrp="1"/>
          </p:cNvSpPr>
          <p:nvPr/>
        </p:nvSpPr>
        <p:spPr>
          <a:xfrm>
            <a:off x="1123950" y="2362200"/>
            <a:ext cx="9620250" cy="552450"/>
          </a:xfrm>
          <a:prstGeom prst="roundRect">
            <a:avLst>
              <a:gd name="adj" fmla="val 1379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wrap-text-1">
            <a:extLst>
              <a:ext uri="{FF2B5EF4-FFF2-40B4-BE49-F238E27FC236}">
                <a16:creationId xmlns:a16="http://schemas.microsoft.com/office/drawing/2014/main" id="{DE71588A-40A8-48DE-9391-6237B878BFB9}"/>
              </a:ext>
            </a:extLst>
          </p:cNvPr>
          <p:cNvSpPr>
            <a:spLocks noGrp="1"/>
          </p:cNvSpPr>
          <p:nvPr/>
        </p:nvSpPr>
        <p:spPr>
          <a:xfrm>
            <a:off x="1409700" y="251460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2. 需求模糊時先澄清，不要直接要求 agent 寫 code。</a:t>
            </a:r>
          </a:p>
        </p:txBody>
      </p:sp>
      <p:sp>
        <p:nvSpPr>
          <p:cNvPr id="8" name="wrap-2">
            <a:extLst>
              <a:ext uri="{FF2B5EF4-FFF2-40B4-BE49-F238E27FC236}">
                <a16:creationId xmlns:a16="http://schemas.microsoft.com/office/drawing/2014/main" id="{A454C148-3A9D-4317-9866-5A9C39E0BACA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9620250" cy="552450"/>
          </a:xfrm>
          <a:prstGeom prst="roundRect">
            <a:avLst>
              <a:gd name="adj" fmla="val 13793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wrap-text-2">
            <a:extLst>
              <a:ext uri="{FF2B5EF4-FFF2-40B4-BE49-F238E27FC236}">
                <a16:creationId xmlns:a16="http://schemas.microsoft.com/office/drawing/2014/main" id="{DC60DAA0-2D1C-4C46-8CFF-64E8934177AC}"/>
              </a:ext>
            </a:extLst>
          </p:cNvPr>
          <p:cNvSpPr>
            <a:spLocks noGrp="1"/>
          </p:cNvSpPr>
          <p:nvPr/>
        </p:nvSpPr>
        <p:spPr>
          <a:xfrm>
            <a:off x="1409700" y="329565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3. 最小規格包含 input、output、boundary、error、validation。</a:t>
            </a:r>
          </a:p>
        </p:txBody>
      </p:sp>
      <p:sp>
        <p:nvSpPr>
          <p:cNvPr id="10" name="wrap-3">
            <a:extLst>
              <a:ext uri="{FF2B5EF4-FFF2-40B4-BE49-F238E27FC236}">
                <a16:creationId xmlns:a16="http://schemas.microsoft.com/office/drawing/2014/main" id="{D11C6463-587F-4A95-BBEA-75A4455B2752}"/>
              </a:ext>
            </a:extLst>
          </p:cNvPr>
          <p:cNvSpPr>
            <a:spLocks noGrp="1"/>
          </p:cNvSpPr>
          <p:nvPr/>
        </p:nvSpPr>
        <p:spPr>
          <a:xfrm>
            <a:off x="1123950" y="3924300"/>
            <a:ext cx="9620250" cy="552450"/>
          </a:xfrm>
          <a:prstGeom prst="roundRect">
            <a:avLst>
              <a:gd name="adj" fmla="val 13793"/>
            </a:avLst>
          </a:prstGeom>
          <a:solidFill>
            <a:srgbClr val="F1ECFA"/>
          </a:solidFill>
          <a:ln w="952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wrap-text-3">
            <a:extLst>
              <a:ext uri="{FF2B5EF4-FFF2-40B4-BE49-F238E27FC236}">
                <a16:creationId xmlns:a16="http://schemas.microsoft.com/office/drawing/2014/main" id="{A6ECF759-F152-46C2-AABA-7EE5EDB2ACF1}"/>
              </a:ext>
            </a:extLst>
          </p:cNvPr>
          <p:cNvSpPr>
            <a:spLocks noGrp="1"/>
          </p:cNvSpPr>
          <p:nvPr/>
        </p:nvSpPr>
        <p:spPr>
          <a:xfrm>
            <a:off x="1409700" y="407670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4. 生醫工具必須寫明 evidence、not_found 與 human review。</a:t>
            </a:r>
          </a:p>
        </p:txBody>
      </p:sp>
      <p:sp>
        <p:nvSpPr>
          <p:cNvPr id="12" name="wrap-4">
            <a:extLst>
              <a:ext uri="{FF2B5EF4-FFF2-40B4-BE49-F238E27FC236}">
                <a16:creationId xmlns:a16="http://schemas.microsoft.com/office/drawing/2014/main" id="{CABE6E04-6F85-44CC-89FE-9A59997B501A}"/>
              </a:ext>
            </a:extLst>
          </p:cNvPr>
          <p:cNvSpPr>
            <a:spLocks noGrp="1"/>
          </p:cNvSpPr>
          <p:nvPr/>
        </p:nvSpPr>
        <p:spPr>
          <a:xfrm>
            <a:off x="1123950" y="4705350"/>
            <a:ext cx="9620250" cy="552450"/>
          </a:xfrm>
          <a:prstGeom prst="roundRect">
            <a:avLst>
              <a:gd name="adj" fmla="val 13793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wrap-text-4">
            <a:extLst>
              <a:ext uri="{FF2B5EF4-FFF2-40B4-BE49-F238E27FC236}">
                <a16:creationId xmlns:a16="http://schemas.microsoft.com/office/drawing/2014/main" id="{8F540B0B-701D-410F-803A-72BE3470A2F6}"/>
              </a:ext>
            </a:extLst>
          </p:cNvPr>
          <p:cNvSpPr>
            <a:spLocks noGrp="1"/>
          </p:cNvSpPr>
          <p:nvPr/>
        </p:nvSpPr>
        <p:spPr>
          <a:xfrm>
            <a:off x="1409700" y="485775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5. Spec、tests、code 與 commit 必須同步演進。</a:t>
            </a:r>
          </a:p>
        </p:txBody>
      </p:sp>
    </p:spTree>
    <p:extLst>
      <p:ext uri="{BB962C8B-B14F-4D97-AF65-F5344CB8AC3E}">
        <p14:creationId xmlns:p14="http://schemas.microsoft.com/office/powerpoint/2010/main" val="9850493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90C571F-0E21-DD45-BE55-E42765DDA55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24c5fc9-7ed3-4464-9bf5-552bff47ac2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5745</Words>
  <Application>Microsoft Macintosh PowerPoint</Application>
  <DocSecurity>0</DocSecurity>
  <PresentationFormat>寬螢幕</PresentationFormat>
  <Paragraphs>1153</Paragraphs>
  <Slides>50</Slides>
  <Notes>41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56" baseType="lpstr">
      <vt:lpstr>PingFang TC</vt:lpstr>
      <vt:lpstr>Aptos</vt:lpstr>
      <vt:lpstr>Arial</vt:lpstr>
      <vt:lpstr>Calibri</vt:lpstr>
      <vt:lpstr>Menlo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Michael Nostalgie Chiu</cp:lastModifiedBy>
  <cp:revision>6</cp:revision>
  <dcterms:created xsi:type="dcterms:W3CDTF">2026-07-07T12:59:58Z</dcterms:created>
  <dcterms:modified xsi:type="dcterms:W3CDTF">2026-07-12T01:06:49Z</dcterms:modified>
</cp:coreProperties>
</file>