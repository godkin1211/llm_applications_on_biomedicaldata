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3206cb68b14b35" /><Relationship Type="http://schemas.openxmlformats.org/officeDocument/2006/relationships/extended-properties" Target="/docProps/app.xml" Id="Rac0ee6cd5f3f431e" /><Relationship Type="http://schemas.openxmlformats.org/officeDocument/2006/relationships/officeDocument" Target="/ppt/presentation.xml" Id="R633fb553eb0749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3db1358fd04e6c"/>
  </p:sldMasterIdLst>
  <p:notesMasterIdLst>
    <p:notesMasterId xmlns:r="http://schemas.openxmlformats.org/officeDocument/2006/relationships" r:id="R768af011cefa4ab5"/>
  </p:notesMasterIdLst>
  <p:sldIdLst>
    <p:sldId xmlns:r="http://schemas.openxmlformats.org/officeDocument/2006/relationships" id="256" r:id="Rac624e8d3ef345f4"/>
    <p:sldId xmlns:r="http://schemas.openxmlformats.org/officeDocument/2006/relationships" id="257" r:id="R903f324d7cdb48fd"/>
    <p:sldId xmlns:r="http://schemas.openxmlformats.org/officeDocument/2006/relationships" id="258" r:id="R696846f9e010406e"/>
    <p:sldId xmlns:r="http://schemas.openxmlformats.org/officeDocument/2006/relationships" id="259" r:id="R0c753fc801a7492a"/>
    <p:sldId xmlns:r="http://schemas.openxmlformats.org/officeDocument/2006/relationships" id="260" r:id="Rf9721dc1b1ef4d0d"/>
    <p:sldId xmlns:r="http://schemas.openxmlformats.org/officeDocument/2006/relationships" id="261" r:id="Rbfafd871747a42e2"/>
    <p:sldId xmlns:r="http://schemas.openxmlformats.org/officeDocument/2006/relationships" id="262" r:id="R602605cd965446c1"/>
    <p:sldId xmlns:r="http://schemas.openxmlformats.org/officeDocument/2006/relationships" id="263" r:id="Rc7f3c6266e2e45ab"/>
    <p:sldId xmlns:r="http://schemas.openxmlformats.org/officeDocument/2006/relationships" id="264" r:id="R2d3fa47bce4147d8"/>
    <p:sldId xmlns:r="http://schemas.openxmlformats.org/officeDocument/2006/relationships" id="265" r:id="Rda81f1e8f9e34944"/>
    <p:sldId xmlns:r="http://schemas.openxmlformats.org/officeDocument/2006/relationships" id="266" r:id="R686fabee592c47b8"/>
    <p:sldId xmlns:r="http://schemas.openxmlformats.org/officeDocument/2006/relationships" id="267" r:id="Rc80cf90492304302"/>
    <p:sldId xmlns:r="http://schemas.openxmlformats.org/officeDocument/2006/relationships" id="268" r:id="Rc9b351d8ab78439c"/>
    <p:sldId xmlns:r="http://schemas.openxmlformats.org/officeDocument/2006/relationships" id="269" r:id="R4c79f88f8ecc4128"/>
    <p:sldId xmlns:r="http://schemas.openxmlformats.org/officeDocument/2006/relationships" id="270" r:id="Rce1abcc932e84ea1"/>
    <p:sldId xmlns:r="http://schemas.openxmlformats.org/officeDocument/2006/relationships" id="271" r:id="R9de85136b9c84dd8"/>
    <p:sldId xmlns:r="http://schemas.openxmlformats.org/officeDocument/2006/relationships" id="272" r:id="Rffe01ac968104146"/>
    <p:sldId xmlns:r="http://schemas.openxmlformats.org/officeDocument/2006/relationships" id="273" r:id="Rf50cf94c4f1b4a2e"/>
    <p:sldId xmlns:r="http://schemas.openxmlformats.org/officeDocument/2006/relationships" id="274" r:id="R3abcda6c10d44984"/>
    <p:sldId xmlns:r="http://schemas.openxmlformats.org/officeDocument/2006/relationships" id="275" r:id="Re2b69cb23e2241a1"/>
    <p:sldId xmlns:r="http://schemas.openxmlformats.org/officeDocument/2006/relationships" id="276" r:id="R734272d410944861"/>
    <p:sldId xmlns:r="http://schemas.openxmlformats.org/officeDocument/2006/relationships" id="277" r:id="R6df21eadb7544c3f"/>
    <p:sldId xmlns:r="http://schemas.openxmlformats.org/officeDocument/2006/relationships" id="278" r:id="Rab7ca7668ef343f0"/>
    <p:sldId xmlns:r="http://schemas.openxmlformats.org/officeDocument/2006/relationships" id="279" r:id="R95e93861ef5c4e07"/>
    <p:sldId xmlns:r="http://schemas.openxmlformats.org/officeDocument/2006/relationships" id="280" r:id="Rd4d2222719d642c7"/>
    <p:sldId xmlns:r="http://schemas.openxmlformats.org/officeDocument/2006/relationships" id="281" r:id="R6334f27827c84186"/>
    <p:sldId xmlns:r="http://schemas.openxmlformats.org/officeDocument/2006/relationships" id="282" r:id="Ra22e6e4948f94cce"/>
    <p:sldId xmlns:r="http://schemas.openxmlformats.org/officeDocument/2006/relationships" id="283" r:id="R288bef9c1bda458f"/>
    <p:sldId xmlns:r="http://schemas.openxmlformats.org/officeDocument/2006/relationships" id="284" r:id="Rfb983a77aa8146a2"/>
    <p:sldId xmlns:r="http://schemas.openxmlformats.org/officeDocument/2006/relationships" id="285" r:id="Ra4439e75e28e4eef"/>
    <p:sldId xmlns:r="http://schemas.openxmlformats.org/officeDocument/2006/relationships" id="286" r:id="R716aeb24c503438a"/>
    <p:sldId xmlns:r="http://schemas.openxmlformats.org/officeDocument/2006/relationships" id="287" r:id="Reff0c1a790f4400f"/>
    <p:sldId xmlns:r="http://schemas.openxmlformats.org/officeDocument/2006/relationships" id="288" r:id="R03abccc7a1d949fd"/>
    <p:sldId xmlns:r="http://schemas.openxmlformats.org/officeDocument/2006/relationships" id="289" r:id="Rc74bbf07fc5f4a47"/>
    <p:sldId xmlns:r="http://schemas.openxmlformats.org/officeDocument/2006/relationships" id="290" r:id="R97bd04f920da462a"/>
    <p:sldId xmlns:r="http://schemas.openxmlformats.org/officeDocument/2006/relationships" id="291" r:id="R14b2f7dd3ec24d34"/>
    <p:sldId xmlns:r="http://schemas.openxmlformats.org/officeDocument/2006/relationships" id="292" r:id="Rc58dba30c1f0455b"/>
    <p:sldId xmlns:r="http://schemas.openxmlformats.org/officeDocument/2006/relationships" id="293" r:id="Rde78dc0e7f95457b"/>
    <p:sldId xmlns:r="http://schemas.openxmlformats.org/officeDocument/2006/relationships" id="294" r:id="R5d623cf8c7684589"/>
    <p:sldId xmlns:r="http://schemas.openxmlformats.org/officeDocument/2006/relationships" id="295" r:id="R9adbc391d1e44c7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7a845d6ce146dd" /><Relationship Type="http://schemas.openxmlformats.org/officeDocument/2006/relationships/slideMaster" Target="/ppt/slideMasters/slideMaster1.xml" Id="Rf83db1358fd04e6c" /><Relationship Type="http://schemas.openxmlformats.org/officeDocument/2006/relationships/notesMaster" Target="/ppt/notesMasters/notesMaster1.xml" Id="R768af011cefa4ab5" /><Relationship Type="http://schemas.openxmlformats.org/officeDocument/2006/relationships/presProps" Target="/ppt/presProps.xml" Id="R737355f175a445b2" /><Relationship Type="http://schemas.openxmlformats.org/officeDocument/2006/relationships/tableStyles" Target="/ppt/tableStyles.xml" Id="R175dffd133574aee" /><Relationship Type="http://schemas.openxmlformats.org/officeDocument/2006/relationships/slide" Target="/ppt/slides/slide1.xml" Id="Rac624e8d3ef345f4" /><Relationship Type="http://schemas.openxmlformats.org/officeDocument/2006/relationships/slide" Target="/ppt/slides/slide2.xml" Id="R903f324d7cdb48fd" /><Relationship Type="http://schemas.openxmlformats.org/officeDocument/2006/relationships/slide" Target="/ppt/slides/slide3.xml" Id="R696846f9e010406e" /><Relationship Type="http://schemas.openxmlformats.org/officeDocument/2006/relationships/slide" Target="/ppt/slides/slide4.xml" Id="R0c753fc801a7492a" /><Relationship Type="http://schemas.openxmlformats.org/officeDocument/2006/relationships/slide" Target="/ppt/slides/slide5.xml" Id="Rf9721dc1b1ef4d0d" /><Relationship Type="http://schemas.openxmlformats.org/officeDocument/2006/relationships/slide" Target="/ppt/slides/slide6.xml" Id="Rbfafd871747a42e2" /><Relationship Type="http://schemas.openxmlformats.org/officeDocument/2006/relationships/slide" Target="/ppt/slides/slide7.xml" Id="R602605cd965446c1" /><Relationship Type="http://schemas.openxmlformats.org/officeDocument/2006/relationships/slide" Target="/ppt/slides/slide8.xml" Id="Rc7f3c6266e2e45ab" /><Relationship Type="http://schemas.openxmlformats.org/officeDocument/2006/relationships/slide" Target="/ppt/slides/slide9.xml" Id="R2d3fa47bce4147d8" /><Relationship Type="http://schemas.openxmlformats.org/officeDocument/2006/relationships/slide" Target="/ppt/slides/slide10.xml" Id="Rda81f1e8f9e34944" /><Relationship Type="http://schemas.openxmlformats.org/officeDocument/2006/relationships/slide" Target="/ppt/slides/slide11.xml" Id="R686fabee592c47b8" /><Relationship Type="http://schemas.openxmlformats.org/officeDocument/2006/relationships/slide" Target="/ppt/slides/slide12.xml" Id="Rc80cf90492304302" /><Relationship Type="http://schemas.openxmlformats.org/officeDocument/2006/relationships/slide" Target="/ppt/slides/slide13.xml" Id="Rc9b351d8ab78439c" /><Relationship Type="http://schemas.openxmlformats.org/officeDocument/2006/relationships/slide" Target="/ppt/slides/slide14.xml" Id="R4c79f88f8ecc4128" /><Relationship Type="http://schemas.openxmlformats.org/officeDocument/2006/relationships/slide" Target="/ppt/slides/slide15.xml" Id="Rce1abcc932e84ea1" /><Relationship Type="http://schemas.openxmlformats.org/officeDocument/2006/relationships/slide" Target="/ppt/slides/slide16.xml" Id="R9de85136b9c84dd8" /><Relationship Type="http://schemas.openxmlformats.org/officeDocument/2006/relationships/slide" Target="/ppt/slides/slide17.xml" Id="Rffe01ac968104146" /><Relationship Type="http://schemas.openxmlformats.org/officeDocument/2006/relationships/slide" Target="/ppt/slides/slide18.xml" Id="Rf50cf94c4f1b4a2e" /><Relationship Type="http://schemas.openxmlformats.org/officeDocument/2006/relationships/slide" Target="/ppt/slides/slide19.xml" Id="R3abcda6c10d44984" /><Relationship Type="http://schemas.openxmlformats.org/officeDocument/2006/relationships/slide" Target="/ppt/slides/slide20.xml" Id="Re2b69cb23e2241a1" /><Relationship Type="http://schemas.openxmlformats.org/officeDocument/2006/relationships/slide" Target="/ppt/slides/slide21.xml" Id="R734272d410944861" /><Relationship Type="http://schemas.openxmlformats.org/officeDocument/2006/relationships/slide" Target="/ppt/slides/slide22.xml" Id="R6df21eadb7544c3f" /><Relationship Type="http://schemas.openxmlformats.org/officeDocument/2006/relationships/slide" Target="/ppt/slides/slide23.xml" Id="Rab7ca7668ef343f0" /><Relationship Type="http://schemas.openxmlformats.org/officeDocument/2006/relationships/slide" Target="/ppt/slides/slide24.xml" Id="R95e93861ef5c4e07" /><Relationship Type="http://schemas.openxmlformats.org/officeDocument/2006/relationships/slide" Target="/ppt/slides/slide25.xml" Id="Rd4d2222719d642c7" /><Relationship Type="http://schemas.openxmlformats.org/officeDocument/2006/relationships/slide" Target="/ppt/slides/slide26.xml" Id="R6334f27827c84186" /><Relationship Type="http://schemas.openxmlformats.org/officeDocument/2006/relationships/slide" Target="/ppt/slides/slide27.xml" Id="Ra22e6e4948f94cce" /><Relationship Type="http://schemas.openxmlformats.org/officeDocument/2006/relationships/slide" Target="/ppt/slides/slide28.xml" Id="R288bef9c1bda458f" /><Relationship Type="http://schemas.openxmlformats.org/officeDocument/2006/relationships/slide" Target="/ppt/slides/slide29.xml" Id="Rfb983a77aa8146a2" /><Relationship Type="http://schemas.openxmlformats.org/officeDocument/2006/relationships/slide" Target="/ppt/slides/slide30.xml" Id="Ra4439e75e28e4eef" /><Relationship Type="http://schemas.openxmlformats.org/officeDocument/2006/relationships/slide" Target="/ppt/slides/slide31.xml" Id="R716aeb24c503438a" /><Relationship Type="http://schemas.openxmlformats.org/officeDocument/2006/relationships/slide" Target="/ppt/slides/slide32.xml" Id="Reff0c1a790f4400f" /><Relationship Type="http://schemas.openxmlformats.org/officeDocument/2006/relationships/slide" Target="/ppt/slides/slide33.xml" Id="R03abccc7a1d949fd" /><Relationship Type="http://schemas.openxmlformats.org/officeDocument/2006/relationships/slide" Target="/ppt/slides/slide34.xml" Id="Rc74bbf07fc5f4a47" /><Relationship Type="http://schemas.openxmlformats.org/officeDocument/2006/relationships/slide" Target="/ppt/slides/slide35.xml" Id="R97bd04f920da462a" /><Relationship Type="http://schemas.openxmlformats.org/officeDocument/2006/relationships/slide" Target="/ppt/slides/slide36.xml" Id="R14b2f7dd3ec24d34" /><Relationship Type="http://schemas.openxmlformats.org/officeDocument/2006/relationships/slide" Target="/ppt/slides/slide37.xml" Id="Rc58dba30c1f0455b" /><Relationship Type="http://schemas.openxmlformats.org/officeDocument/2006/relationships/slide" Target="/ppt/slides/slide38.xml" Id="Rde78dc0e7f95457b" /><Relationship Type="http://schemas.openxmlformats.org/officeDocument/2006/relationships/slide" Target="/ppt/slides/slide39.xml" Id="R5d623cf8c7684589" /><Relationship Type="http://schemas.openxmlformats.org/officeDocument/2006/relationships/slide" Target="/ppt/slides/slide40.xml" Id="R9adbc391d1e44c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95445d119d47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f5f34bd32644df" /><Relationship Type="http://schemas.openxmlformats.org/officeDocument/2006/relationships/notesMaster" Target="/ppt/notesMasters/notesMaster1.xml" Id="R44f5fd30a9ee48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d6560d449c475c" /><Relationship Type="http://schemas.openxmlformats.org/officeDocument/2006/relationships/notesMaster" Target="/ppt/notesMasters/notesMaster1.xml" Id="R8a499b2faee04d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f01c8ccba443d2" /><Relationship Type="http://schemas.openxmlformats.org/officeDocument/2006/relationships/notesMaster" Target="/ppt/notesMasters/notesMaster1.xml" Id="Rfb5cac36930f4b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ac500d2fe6453e" /><Relationship Type="http://schemas.openxmlformats.org/officeDocument/2006/relationships/notesMaster" Target="/ppt/notesMasters/notesMaster1.xml" Id="R7eced9ebc27242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9585e6df8e4950" /><Relationship Type="http://schemas.openxmlformats.org/officeDocument/2006/relationships/notesMaster" Target="/ppt/notesMasters/notesMaster1.xml" Id="Rfa021b72a61945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2f49e706dc4aa1" /><Relationship Type="http://schemas.openxmlformats.org/officeDocument/2006/relationships/notesMaster" Target="/ppt/notesMasters/notesMaster1.xml" Id="R3b99b0025b9349d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b7066bd48046ba" /><Relationship Type="http://schemas.openxmlformats.org/officeDocument/2006/relationships/notesMaster" Target="/ppt/notesMasters/notesMaster1.xml" Id="R8d7b26d03e414c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4593bf99c8f4d67" /><Relationship Type="http://schemas.openxmlformats.org/officeDocument/2006/relationships/notesMaster" Target="/ppt/notesMasters/notesMaster1.xml" Id="R8d86465c873e4c6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310e4551c2440a" /><Relationship Type="http://schemas.openxmlformats.org/officeDocument/2006/relationships/notesMaster" Target="/ppt/notesMasters/notesMaster1.xml" Id="R44c41c6672cd4c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6790f573348452d" /><Relationship Type="http://schemas.openxmlformats.org/officeDocument/2006/relationships/notesMaster" Target="/ppt/notesMasters/notesMaster1.xml" Id="Rdaceea1dcf0348f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8de5eebbef14634" /><Relationship Type="http://schemas.openxmlformats.org/officeDocument/2006/relationships/notesMaster" Target="/ppt/notesMasters/notesMaster1.xml" Id="R2b89967076a5434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e0a8817bebc4dac" /><Relationship Type="http://schemas.openxmlformats.org/officeDocument/2006/relationships/notesMaster" Target="/ppt/notesMasters/notesMaster1.xml" Id="Ra930925784654fb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492ddf71aaa40ae" /><Relationship Type="http://schemas.openxmlformats.org/officeDocument/2006/relationships/notesMaster" Target="/ppt/notesMasters/notesMaster1.xml" Id="R2464ed4f968c4e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e01619e016144ff" /><Relationship Type="http://schemas.openxmlformats.org/officeDocument/2006/relationships/notesMaster" Target="/ppt/notesMasters/notesMaster1.xml" Id="R3b9a741d61ae4c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5378449f24b4e0f" /><Relationship Type="http://schemas.openxmlformats.org/officeDocument/2006/relationships/notesMaster" Target="/ppt/notesMasters/notesMaster1.xml" Id="Rc9979e6945ff46c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103063bf8544ca0" /><Relationship Type="http://schemas.openxmlformats.org/officeDocument/2006/relationships/notesMaster" Target="/ppt/notesMasters/notesMaster1.xml" Id="R00179a6db5074e7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80cf71276a24d57" /><Relationship Type="http://schemas.openxmlformats.org/officeDocument/2006/relationships/notesMaster" Target="/ppt/notesMasters/notesMaster1.xml" Id="R9c4af2db0bf443f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29050fa5a7c4f46" /><Relationship Type="http://schemas.openxmlformats.org/officeDocument/2006/relationships/notesMaster" Target="/ppt/notesMasters/notesMaster1.xml" Id="R81f3a6ecb0af470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005a02068794f00" /><Relationship Type="http://schemas.openxmlformats.org/officeDocument/2006/relationships/notesMaster" Target="/ppt/notesMasters/notesMaster1.xml" Id="Rf75d186a2f684ef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842d72ab2c74d86" /><Relationship Type="http://schemas.openxmlformats.org/officeDocument/2006/relationships/notesMaster" Target="/ppt/notesMasters/notesMaster1.xml" Id="R4b7a08d81bef46c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17b7e55cb90495a" /><Relationship Type="http://schemas.openxmlformats.org/officeDocument/2006/relationships/notesMaster" Target="/ppt/notesMasters/notesMaster1.xml" Id="R187ead6fc54848f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7e7d131c5284fad" /><Relationship Type="http://schemas.openxmlformats.org/officeDocument/2006/relationships/notesMaster" Target="/ppt/notesMasters/notesMaster1.xml" Id="Rfc6b4837c1ed485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443b51f65684723" /><Relationship Type="http://schemas.openxmlformats.org/officeDocument/2006/relationships/notesMaster" Target="/ppt/notesMasters/notesMaster1.xml" Id="Rea82c02abb954b6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844cb3664a541cb" /><Relationship Type="http://schemas.openxmlformats.org/officeDocument/2006/relationships/notesMaster" Target="/ppt/notesMasters/notesMaster1.xml" Id="R53a4a6fc95f1485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9c133b41ac64a23" /><Relationship Type="http://schemas.openxmlformats.org/officeDocument/2006/relationships/notesMaster" Target="/ppt/notesMasters/notesMaster1.xml" Id="R45b79fa1131c40d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f65e8032f074656" /><Relationship Type="http://schemas.openxmlformats.org/officeDocument/2006/relationships/notesMaster" Target="/ppt/notesMasters/notesMaster1.xml" Id="Rf43f7ba6402c426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a9e2b50642c44dc" /><Relationship Type="http://schemas.openxmlformats.org/officeDocument/2006/relationships/notesMaster" Target="/ppt/notesMasters/notesMaster1.xml" Id="Rc750c74e66fe417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c0e2e1fd8db468f" /><Relationship Type="http://schemas.openxmlformats.org/officeDocument/2006/relationships/notesMaster" Target="/ppt/notesMasters/notesMaster1.xml" Id="Rf97af7818f3c4d7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e663cb47d8746fb" /><Relationship Type="http://schemas.openxmlformats.org/officeDocument/2006/relationships/notesMaster" Target="/ppt/notesMasters/notesMaster1.xml" Id="R28ad5c9b70644a1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1224711626d431b" /><Relationship Type="http://schemas.openxmlformats.org/officeDocument/2006/relationships/notesMaster" Target="/ppt/notesMasters/notesMaster1.xml" Id="Rc615bf0466eb43d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29ae7662c6c461f" /><Relationship Type="http://schemas.openxmlformats.org/officeDocument/2006/relationships/notesMaster" Target="/ppt/notesMasters/notesMaster1.xml" Id="Raea5ff2e528148f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e2e846959404755" /><Relationship Type="http://schemas.openxmlformats.org/officeDocument/2006/relationships/notesMaster" Target="/ppt/notesMasters/notesMaster1.xml" Id="R9843d9a9af304b5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83b42de76f244f1" /><Relationship Type="http://schemas.openxmlformats.org/officeDocument/2006/relationships/notesMaster" Target="/ppt/notesMasters/notesMaster1.xml" Id="Rb5a92b8b0e504ec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d245892f24c43d3" /><Relationship Type="http://schemas.openxmlformats.org/officeDocument/2006/relationships/notesMaster" Target="/ppt/notesMasters/notesMaster1.xml" Id="Rba3eb61f56d14b0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08caafc2c604b3c" /><Relationship Type="http://schemas.openxmlformats.org/officeDocument/2006/relationships/notesMaster" Target="/ppt/notesMasters/notesMaster1.xml" Id="R867d0819b2b54d3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e7be3b70ce8456b" /><Relationship Type="http://schemas.openxmlformats.org/officeDocument/2006/relationships/notesMaster" Target="/ppt/notesMasters/notesMaster1.xml" Id="Rcb8f8d9dcb5b4fe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8f7864b413548fa" /><Relationship Type="http://schemas.openxmlformats.org/officeDocument/2006/relationships/notesMaster" Target="/ppt/notesMasters/notesMaster1.xml" Id="R9c38d33509c84e5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51b2d8b08d944373" /><Relationship Type="http://schemas.openxmlformats.org/officeDocument/2006/relationships/notesMaster" Target="/ppt/notesMasters/notesMaster1.xml" Id="R470782486b8c443e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8dd3e57bf8b4cf5" /><Relationship Type="http://schemas.openxmlformats.org/officeDocument/2006/relationships/notesMaster" Target="/ppt/notesMasters/notesMaster1.xml" Id="R20dd0e7d15a9493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f7388a6e3724ede" /><Relationship Type="http://schemas.openxmlformats.org/officeDocument/2006/relationships/notesMaster" Target="/ppt/notesMasters/notesMaster1.xml" Id="R86d75b3d158148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lesson teaches lightweight spec-driven development for biomedical tools. It adapts SDD ideas from the provided sources and official Spec Kit docs, with emphasis on biomedical verification.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今天的核心能力是把願望改寫成可驗證的工具合約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解釋為什麼 agent 動手前要先有 spec 把模糊需求拆成 input、output、boundary、error、validation 替 PubMed extractor、gene annotation、trial summarizer 寫出最小可用規格 知道 SDD 何時有用，何時會變成文件負擔 90 分鐘後: 能寫 SPEC.md 能問 clarification 能定義 acceptance criteria 能交給 coding agent 實作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Biomedical 工具最怕的不是不能跑，而是跑出看似合理的錯結果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文獻 evidence extractor 可能編造 PMID 或混淆模型推測 Gene annotation tool 可能混用物種、舊名與 approved symbol Clinical trial summarizer 可能把 recruitment status 或 eligibility 寫錯 先寫 spec 是先定義什麼叫做正確，而不是先叫 AI 寫 code Spec 的工作: 限制猜測空間 把錯誤變可見 讓測試有依據 讓 review 有標準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這幾篇文章的共同結論：SDD 有用，但不能變成 Markdown 堆高機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正面 | 先釐清 what/why、acceptance criteria、design、tasks | 用規格降低 agent 猜測</a:t>
            </a:r>
          </a:p>
          <a:p xmlns:a="http://schemas.openxmlformats.org/drawingml/2006/main">
            <a:r>
              <a:t>警告 | 文件過量、spec drift、假安全感、雙重 review | 只寫能被驗證的最小規格</a:t>
            </a:r>
          </a:p>
          <a:p xmlns:a="http://schemas.openxmlformats.org/drawingml/2006/main">
            <a:r>
              <a:t>工具 | Spec Kit、OpenSpec、Spectra 提供流程與狀態追蹤 | 工具當 scaffold，不取代工程判斷</a:t>
            </a:r>
          </a:p>
          <a:p xmlns:a="http://schemas.openxmlformats.org/drawingml/2006/main">
            <a:r>
              <a:t>生醫調整 | 把來源、not found、review gate 寫進規格 | 避免把推測偽裝成 evidence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好的 spec 不是作文，而是三方共同遵守的合約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Human: 負責定義意圖、限制、風險和 review gate。</a:t>
            </a:r>
          </a:p>
          <a:p xmlns:a="http://schemas.openxmlformats.org/drawingml/2006/main">
            <a:r>
              <a:t>Agent: 依照規格讀檔、改程式、產生測試與回報差異。</a:t>
            </a:r>
          </a:p>
          <a:p xmlns:a="http://schemas.openxmlformats.org/drawingml/2006/main">
            <a:r>
              <a:t>Validator: 用 schema、fixtures、golden outputs 和命令檢查結果。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SDD 的流程應該支援迭代，不是把人鎖進瀑布流程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Discuss: 先釐清研究任務與風險</a:t>
            </a:r>
          </a:p>
          <a:p xmlns:a="http://schemas.openxmlformats.org/drawingml/2006/main">
            <a:r>
              <a:t>2. Specify: 寫 what/why 和驗收標準</a:t>
            </a:r>
          </a:p>
          <a:p xmlns:a="http://schemas.openxmlformats.org/drawingml/2006/main">
            <a:r>
              <a:t>3. Plan: 決定資料源、介面、測試</a:t>
            </a:r>
          </a:p>
          <a:p xmlns:a="http://schemas.openxmlformats.org/drawingml/2006/main">
            <a:r>
              <a:t>4. Tasks: 拆成可 review 小任務</a:t>
            </a:r>
          </a:p>
          <a:p xmlns:a="http://schemas.openxmlformats.org/drawingml/2006/main">
            <a:r>
              <a:t>5. Build: agent 小 patch 實作</a:t>
            </a:r>
          </a:p>
          <a:p xmlns:a="http://schemas.openxmlformats.org/drawingml/2006/main">
            <a:r>
              <a:t>6. Update: 結果回寫 spec 與限制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Prompt 是一次指令；spec 是可以版本控制的共同記憶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生命週期 | 一次對話中的指令 | 跟 repo 一起演進</a:t>
            </a:r>
          </a:p>
          <a:p xmlns:a="http://schemas.openxmlformats.org/drawingml/2006/main">
            <a:r>
              <a:t>可審查性 | 容易散在聊天紀錄 | 可被 reviewer、助教、agent 反覆檢查</a:t>
            </a:r>
          </a:p>
          <a:p xmlns:a="http://schemas.openxmlformats.org/drawingml/2006/main">
            <a:r>
              <a:t>測試關係 | 常只描述想要什麼 | 明確列出 acceptance criteria</a:t>
            </a:r>
          </a:p>
          <a:p xmlns:a="http://schemas.openxmlformats.org/drawingml/2006/main">
            <a:r>
              <a:t>失敗處理 | 常靠 agent 自己補 | 先定義錯誤、not found、human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生醫工具的最小 SPEC.md 要回答九個問題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Goal | 工具要解決的研究任務 | 把 exploratory 和 production 混在一起</a:t>
            </a:r>
          </a:p>
          <a:p xmlns:a="http://schemas.openxmlformats.org/drawingml/2006/main">
            <a:r>
              <a:t>Inputs | 格式、必填欄位、版本、資料源 | 只寫檔名，不寫 schema</a:t>
            </a:r>
          </a:p>
          <a:p xmlns:a="http://schemas.openxmlformats.org/drawingml/2006/main">
            <a:r>
              <a:t>Outputs | 欄位、型別、允許值、排序 | 輸出看起來整齊但不能驗證</a:t>
            </a:r>
          </a:p>
          <a:p xmlns:a="http://schemas.openxmlformats.org/drawingml/2006/main">
            <a:r>
              <a:t>Boundaries | 物種、疾病、日期、資料庫、隱私限制 | agent 自行擴大範圍</a:t>
            </a:r>
          </a:p>
          <a:p xmlns:a="http://schemas.openxmlformats.org/drawingml/2006/main">
            <a:r>
              <a:t>Validation | fixtures、golden outputs、命令、通過標準 | 只說 manually checked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模糊需求要先變成問題清單，不要直接變成 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Vague request:</a:t>
            </a:r>
          </a:p>
          <a:p xmlns:a="http://schemas.openxmlformats.org/drawingml/2006/main">
            <a:r>
              <a:t>幫我做一個工具，輸入一些基因，</a:t>
            </a:r>
          </a:p>
          <a:p xmlns:a="http://schemas.openxmlformats.org/drawingml/2006/main">
            <a:r>
              <a:t>然後整理跟癌症和藥物有關的資料。</a:t>
            </a:r>
          </a:p>
          <a:p xmlns:a="http://schemas.openxmlformats.org/drawingml/2006/main">
            <a:r>
              <a:t>最好可以輸出成表格。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先問: 人類還是小鼠？ 癌症範圍是 pan-cancer 還是單癌種？ 證據來源允許哪些資料庫？ 找不到資料要怎麼寫？ 輸出欄位和驗收標準是什麼？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可測試需求要有觸發條件、行為與可檢查結果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Requirement pattern:</a:t>
            </a:r>
          </a:p>
          <a:p xmlns:a="http://schemas.openxmlformats.org/drawingml/2006/main">
            <a:r>
              <a:t>WHEN the input row contains an invalid gene symbol</a:t>
            </a:r>
          </a:p>
          <a:p xmlns:a="http://schemas.openxmlformats.org/drawingml/2006/main">
            <a:r>
              <a:t>THEN the tool SHALL mark status = "invalid_symbol"</a:t>
            </a:r>
          </a:p>
          <a:p xmlns:a="http://schemas.openxmlformats.org/drawingml/2006/main">
            <a:r>
              <a:t>AND SHALL preserve the original input string</a:t>
            </a:r>
          </a:p>
          <a:p xmlns:a="http://schemas.openxmlformats.org/drawingml/2006/main">
            <a:r>
              <a:t>AND SHALL NOT infer a replacement symbol without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WHEN no PubMed evidence is found</a:t>
            </a:r>
          </a:p>
          <a:p xmlns:a="http://schemas.openxmlformats.org/drawingml/2006/main">
            <a:r>
              <a:t>THEN the tool SHALL set evidence_status = "not_found"</a:t>
            </a:r>
          </a:p>
          <a:p xmlns:a="http://schemas.openxmlformats.org/drawingml/2006/main">
            <a:r>
              <a:t>AND SHALL leave pmid empty.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好處: 迫使需求具體化 直接轉成測試案例 降低 agent 猜測空間 適合 biomedical edge cases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每個工具都要先定義四個檢查點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Input: 接受什麼、拒絕什麼、如何報錯、資料版本如何記錄。</a:t>
            </a:r>
          </a:p>
          <a:p xmlns:a="http://schemas.openxmlformats.org/drawingml/2006/main">
            <a:r>
              <a:t>Output: 欄位、型別、允許值、空值規則與排序。</a:t>
            </a:r>
          </a:p>
          <a:p xmlns:a="http://schemas.openxmlformats.org/drawingml/2006/main">
            <a:r>
              <a:t>Validation: sample fixtures、golden file、unit tests、not found cases。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第一個例子聚焦 evidence extraction：重點不是摘要得漂亮，而是每個 claim 都能追到 PMID 與來源欄位。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把『整理文獻』改成可驗證需求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Before:</a:t>
            </a:r>
          </a:p>
          <a:p xmlns:a="http://schemas.openxmlformats.org/drawingml/2006/main">
            <a:r>
              <a:t>請幫我搜尋 PubMed，</a:t>
            </a:r>
          </a:p>
          <a:p xmlns:a="http://schemas.openxmlformats.org/drawingml/2006/main">
            <a:r>
              <a:t>整理 EGFR 跟肺癌治療的文獻，</a:t>
            </a:r>
          </a:p>
          <a:p xmlns:a="http://schemas.openxmlformats.org/drawingml/2006/main">
            <a:r>
              <a:t>做成 evidence table。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After: 輸入：gene、disease、query_date 來源：PubMed only 輸出：PMID、title、study_type、claim 不確定：寫 needs_review 找不到：寫 not_found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PubMed extractor 的 input spec 要限制搜尋範圍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gene | string | HGNC approved symbol；原始輸入另存 original_gene</a:t>
            </a:r>
          </a:p>
          <a:p xmlns:a="http://schemas.openxmlformats.org/drawingml/2006/main">
            <a:r>
              <a:t>disease | string | 使用指定疾病詞，不讓 agent 自行擴大癌種</a:t>
            </a:r>
          </a:p>
          <a:p xmlns:a="http://schemas.openxmlformats.org/drawingml/2006/main">
            <a:r>
              <a:t>query | string | 可由工具生成，但必須保存實際搜尋字串</a:t>
            </a:r>
          </a:p>
          <a:p xmlns:a="http://schemas.openxmlformats.org/drawingml/2006/main">
            <a:r>
              <a:t>max_records | integer | 預設 20，上限 100，避免不可審查輸出</a:t>
            </a:r>
          </a:p>
          <a:p xmlns:a="http://schemas.openxmlformats.org/drawingml/2006/main">
            <a:r>
              <a:t>query_date | date | 保存搜尋日期，讓結果可重現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table 必須把文獻證據和模型推測分開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Output schema:</a:t>
            </a:r>
          </a:p>
          <a:p xmlns:a="http://schemas.openxmlformats.org/drawingml/2006/main">
            <a:r>
              <a:t>pmid: string</a:t>
            </a:r>
          </a:p>
          <a:p xmlns:a="http://schemas.openxmlformats.org/drawingml/2006/main">
            <a:r>
              <a:t>title: string</a:t>
            </a:r>
          </a:p>
          <a:p xmlns:a="http://schemas.openxmlformats.org/drawingml/2006/main">
            <a:r>
              <a:t>year: integer</a:t>
            </a:r>
          </a:p>
          <a:p xmlns:a="http://schemas.openxmlformats.org/drawingml/2006/main">
            <a:r>
              <a:t>journal: string</a:t>
            </a:r>
          </a:p>
          <a:p xmlns:a="http://schemas.openxmlformats.org/drawingml/2006/main">
            <a:r>
              <a:t>entity: gene | disease | drug | variant</a:t>
            </a:r>
          </a:p>
          <a:p xmlns:a="http://schemas.openxmlformats.org/drawingml/2006/main">
            <a:r>
              <a:t>claim: string</a:t>
            </a:r>
          </a:p>
          <a:p xmlns:a="http://schemas.openxmlformats.org/drawingml/2006/main">
            <a:r>
              <a:t>evidence_type: clinical | cohort | preclinical | review</a:t>
            </a:r>
          </a:p>
          <a:p xmlns:a="http://schemas.openxmlformats.org/drawingml/2006/main">
            <a:r>
              <a:t>evidence_status: supported | conflicting | not_found</a:t>
            </a:r>
          </a:p>
          <a:p xmlns:a="http://schemas.openxmlformats.org/drawingml/2006/main">
            <a:r>
              <a:t>model_inference: string</a:t>
            </a:r>
          </a:p>
          <a:p xmlns:a="http://schemas.openxmlformats.org/drawingml/2006/main">
            <a:r>
              <a:t>review_status: pass | needs_review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核心規則: PMID 不得編造 claim 只寫來源支持的內容 推測放 model_inference review_status 可擋高風險輸出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PubMed extractor 的邊界要直接寫進 spec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 | 只使用 PubMed metadata 或明確提供的 abstract | 標記 source_missing</a:t>
            </a:r>
          </a:p>
          <a:p xmlns:a="http://schemas.openxmlformats.org/drawingml/2006/main">
            <a:r>
              <a:t>Clinical claim | 不得產生治療建議 | needs_human_review</a:t>
            </a:r>
          </a:p>
          <a:p xmlns:a="http://schemas.openxmlformats.org/drawingml/2006/main">
            <a:r>
              <a:t>Study type | 無法判斷時不得猜 | unknown</a:t>
            </a:r>
          </a:p>
          <a:p xmlns:a="http://schemas.openxmlformats.org/drawingml/2006/main">
            <a:r>
              <a:t>Conflict | 相反結論要分列 | conflicting</a:t>
            </a:r>
          </a:p>
          <a:p xmlns:a="http://schemas.openxmlformats.org/drawingml/2006/main">
            <a:r>
              <a:t>No evidence | 不得補常識或模型記憶 | not_found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PubMed extractor 的 acceptance criteria 要能用 fixtures 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給定含 3 筆 PMID 的 fixture，輸出列數必須等於 fixture record 數 每列 PMID 必須存在且不得重複 `not_found` case 不得有 claim 或 model-generated PMID 任何 therapeutic implication 都必須標記 `needs_review` 測試命令: pytest -q schema validation golden CSV diff PMID existence check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第二個例子聚焦 entity normalization：gene symbol 看起來簡單，但物種、舊名與 synonym 會讓 agent 很容易過度推論。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 annotation 的 input spec 必須保留原始值與物種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gene_input | 保留原始字串，不可覆蓋 | review 時需要追溯</a:t>
            </a:r>
          </a:p>
          <a:p xmlns:a="http://schemas.openxmlformats.org/drawingml/2006/main">
            <a:r>
              <a:t>species | 預設 human；可接受 mouse 但要明示 | 避免跨物種混淆</a:t>
            </a:r>
          </a:p>
          <a:p xmlns:a="http://schemas.openxmlformats.org/drawingml/2006/main">
            <a:r>
              <a:t>source | HGNC / NCBI Gene / Ensembl 擇一或多個 | 資料庫版本影響結果</a:t>
            </a:r>
          </a:p>
          <a:p xmlns:a="http://schemas.openxmlformats.org/drawingml/2006/main">
            <a:r>
              <a:t>allow_synonym | 預設 false；若 true 要列出 evidence | 避免自行替換</a:t>
            </a:r>
          </a:p>
          <a:p xmlns:a="http://schemas.openxmlformats.org/drawingml/2006/main">
            <a:r>
              <a:t>batch_id | 保存本批輸入與版本 | 輸出可重跑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Annotation output 要同時服務機器檢查與人工 review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Output schema:</a:t>
            </a:r>
          </a:p>
          <a:p xmlns:a="http://schemas.openxmlformats.org/drawingml/2006/main">
            <a:r>
              <a:t>gene_input</a:t>
            </a:r>
          </a:p>
          <a:p xmlns:a="http://schemas.openxmlformats.org/drawingml/2006/main">
            <a:r>
              <a:t>approved_symbol</a:t>
            </a:r>
          </a:p>
          <a:p xmlns:a="http://schemas.openxmlformats.org/drawingml/2006/main">
            <a:r>
              <a:t>gene_id</a:t>
            </a:r>
          </a:p>
          <a:p xmlns:a="http://schemas.openxmlformats.org/drawingml/2006/main">
            <a:r>
              <a:t>species</a:t>
            </a:r>
          </a:p>
          <a:p xmlns:a="http://schemas.openxmlformats.org/drawingml/2006/main">
            <a:r>
              <a:t>match_type: exact | synonym | withdrawn | not_found</a:t>
            </a:r>
          </a:p>
          <a:p xmlns:a="http://schemas.openxmlformats.org/drawingml/2006/main">
            <a:r>
              <a:t>confidence: high | medium | low</a:t>
            </a:r>
          </a:p>
          <a:p xmlns:a="http://schemas.openxmlformats.org/drawingml/2006/main">
            <a:r>
              <a:t>evidence_source</a:t>
            </a:r>
          </a:p>
          <a:p xmlns:a="http://schemas.openxmlformats.org/drawingml/2006/main">
            <a:r>
              <a:t>evidence_version</a:t>
            </a:r>
          </a:p>
          <a:p xmlns:a="http://schemas.openxmlformats.org/drawingml/2006/main">
            <a:r>
              <a:t>message</a:t>
            </a:r>
          </a:p>
          <a:p xmlns:a="http://schemas.openxmlformats.org/drawingml/2006/main">
            <a:r>
              <a:t>review_status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注意: not_found 是合法輸出 synonym 需要來源 confidence 不等於臨床證據等級 保留 message 給人工審查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 list tool 要先決定什麼不能自動做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舊名 | 可標記 withdrawn，但不可自動替換成 approved | 避免錯誤合併</a:t>
            </a:r>
          </a:p>
          <a:p xmlns:a="http://schemas.openxmlformats.org/drawingml/2006/main">
            <a:r>
              <a:t>跨物種 | species 不明時 needs_review | 同名基因可能不同</a:t>
            </a:r>
          </a:p>
          <a:p xmlns:a="http://schemas.openxmlformats.org/drawingml/2006/main">
            <a:r>
              <a:t>多重 match | 列出候選，不選唯一答案 | 降低錯 annotation</a:t>
            </a:r>
          </a:p>
          <a:p xmlns:a="http://schemas.openxmlformats.org/drawingml/2006/main">
            <a:r>
              <a:t>非 gene term | 標記 invalid_input | 不要把 pathway 或 drug 當 gene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 annotation 的測試要包含正常、舊名、找不到與跨物種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Fixture 至少包含 TP53、ERBB2、舊名、錯拼、mouse-only symbol Golden output 固定 `match_type`、`review_status`、`message` 資料庫版本或 retrieval date 要出現在 output metadata 更新資料庫版本時 golden output 可以變，但必須在 changelog 說明 最小驗收: schema pass golden pass no silent correction version recorded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第三個例子聚焦高風險摘要：trial summary 可以幫研究工作，但不能變成招募建議或治療建議。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Clinical trial summarizer 的 input spec 要鎖定來源與日期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nct_id | 必填；格式 `NCT` + 8 digits | 避免錯 trial</a:t>
            </a:r>
          </a:p>
          <a:p xmlns:a="http://schemas.openxmlformats.org/drawingml/2006/main">
            <a:r>
              <a:t>source_record | ClinicalTrials.gov record 或本地 JSON | 不靠模型記憶</a:t>
            </a:r>
          </a:p>
          <a:p xmlns:a="http://schemas.openxmlformats.org/drawingml/2006/main">
            <a:r>
              <a:t>retrieved_date | 必填 | 狀態會變動</a:t>
            </a:r>
          </a:p>
          <a:p xmlns:a="http://schemas.openxmlformats.org/drawingml/2006/main">
            <a:r>
              <a:t>summary_scope | status、phase、criteria、intervention、outcomes | 避免亂擴充</a:t>
            </a:r>
          </a:p>
          <a:p xmlns:a="http://schemas.openxmlformats.org/drawingml/2006/main">
            <a:r>
              <a:t>audience | research note only | 避免臨床建議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Trial summary 要保留 eligibility 與 status 的原始依據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Output schema:</a:t>
            </a:r>
          </a:p>
          <a:p xmlns:a="http://schemas.openxmlformats.org/drawingml/2006/main">
            <a:r>
              <a:t>nct_id</a:t>
            </a:r>
          </a:p>
          <a:p xmlns:a="http://schemas.openxmlformats.org/drawingml/2006/main">
            <a:r>
              <a:t>official_title</a:t>
            </a:r>
          </a:p>
          <a:p xmlns:a="http://schemas.openxmlformats.org/drawingml/2006/main">
            <a:r>
              <a:t>phase</a:t>
            </a:r>
          </a:p>
          <a:p xmlns:a="http://schemas.openxmlformats.org/drawingml/2006/main">
            <a:r>
              <a:t>recruitment_status</a:t>
            </a:r>
          </a:p>
          <a:p xmlns:a="http://schemas.openxmlformats.org/drawingml/2006/main">
            <a:r>
              <a:t>condition</a:t>
            </a:r>
          </a:p>
          <a:p xmlns:a="http://schemas.openxmlformats.org/drawingml/2006/main">
            <a:r>
              <a:t>interventions[]</a:t>
            </a:r>
          </a:p>
          <a:p xmlns:a="http://schemas.openxmlformats.org/drawingml/2006/main">
            <a:r>
              <a:t>primary_outcomes[]</a:t>
            </a:r>
          </a:p>
          <a:p xmlns:a="http://schemas.openxmlformats.org/drawingml/2006/main">
            <a:r>
              <a:t>inclusion_summary</a:t>
            </a:r>
          </a:p>
          <a:p xmlns:a="http://schemas.openxmlformats.org/drawingml/2006/main">
            <a:r>
              <a:t>exclusion_summary</a:t>
            </a:r>
          </a:p>
          <a:p xmlns:a="http://schemas.openxmlformats.org/drawingml/2006/main">
            <a:r>
              <a:t>source_fields[]</a:t>
            </a:r>
          </a:p>
          <a:p xmlns:a="http://schemas.openxmlformats.org/drawingml/2006/main">
            <a:r>
              <a:t>retrieved_date</a:t>
            </a:r>
          </a:p>
          <a:p xmlns:a="http://schemas.openxmlformats.org/drawingml/2006/main">
            <a:r>
              <a:t>review_status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必要規則: status 不得憑記憶更新 criteria summary 要標 source_fields 不得寫病人適不適合參加 高風險解讀標 needs_review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Trial summarizer 的錯誤處理要比一般摘要更嚴格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找不到 NCT | status = not_found | 自行產生 trial title</a:t>
            </a:r>
          </a:p>
          <a:p xmlns:a="http://schemas.openxmlformats.org/drawingml/2006/main">
            <a:r>
              <a:t>欄位缺失 | field_status = missing | 用常識補 eligibility</a:t>
            </a:r>
          </a:p>
          <a:p xmlns:a="http://schemas.openxmlformats.org/drawingml/2006/main">
            <a:r>
              <a:t>多版本衝突 | status = conflicting | 只選一個版本</a:t>
            </a:r>
          </a:p>
          <a:p xmlns:a="http://schemas.openxmlformats.org/drawingml/2006/main">
            <a:r>
              <a:t>PII 出現 | stop_and_report | 繼續摘要或外傳資料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Clinical trial summary 的驗收標準要防止過度推論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每個 summary 欄位都能追到原始 JSON path 或 source field NCT ID format 錯誤時必須 fail fast recruitment status 必須與 retrieved record 一致 不得產生 eligibility recommendation 或 treatment recommendation Validation: JSON schema field trace check negative fixtures human review gate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工具可以幫你產出 constitution、spec、plan、tasks，也可以追蹤進度；但 biomedical source、review gate、not found rule 必須由我們定義。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不同 SDD 工具都在解同一個問題：讓需求、設計與任務可追蹤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Spec Kit | constitution、specify、plan、tasks、implement | constitution 加入 citation / PHI / clinical claim 規則</a:t>
            </a:r>
          </a:p>
          <a:p xmlns:a="http://schemas.openxmlformats.org/drawingml/2006/main">
            <a:r>
              <a:t>OpenSpec | proposal、spec、design、tasks 與狀態追蹤 | 用 dependency order 管理 spec artifacts</a:t>
            </a:r>
          </a:p>
          <a:p xmlns:a="http://schemas.openxmlformats.org/drawingml/2006/main">
            <a:r>
              <a:t>Spectra | GUI/CLI 讓規格流程更可見，支援 discuss、propose、ingest | 用於教學展示 spec review 與迭代更新</a:t>
            </a:r>
          </a:p>
          <a:p xmlns:a="http://schemas.openxmlformats.org/drawingml/2006/main">
            <a:r>
              <a:t>Lightweight SDD | 先寫小規格，再小 patch 實作 | 避免過度文件化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Spectra demo 要展示的是規格如何被建立、修正、實作與歸檔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Discuss: 用 /spectra:discuss 收斂需求</a:t>
            </a:r>
          </a:p>
          <a:p xmlns:a="http://schemas.openxmlformats.org/drawingml/2006/main">
            <a:r>
              <a:t>2. Propose: 用 /spectra:propose 產出規格文件</a:t>
            </a:r>
          </a:p>
          <a:p xmlns:a="http://schemas.openxmlformats.org/drawingml/2006/main">
            <a:r>
              <a:t>3. Review: 人工檢查 evidence 與邊界</a:t>
            </a:r>
          </a:p>
          <a:p xmlns:a="http://schemas.openxmlformats.org/drawingml/2006/main">
            <a:r>
              <a:t>4. Apply: 用 /spectra:apply 逐項實作</a:t>
            </a:r>
          </a:p>
          <a:p xmlns:a="http://schemas.openxmlformats.org/drawingml/2006/main">
            <a:r>
              <a:t>5. Ingest: 缺口回寫規格，不急著改 code</a:t>
            </a:r>
          </a:p>
          <a:p xmlns:a="http://schemas.openxmlformats.org/drawingml/2006/main">
            <a:r>
              <a:t>6. Archive: 驗收後歸檔並保留 trace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PubMed extractor 示範 Spectra 如何把討論變成規格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prompt:</a:t>
            </a:r>
          </a:p>
          <a:p xmlns:a="http://schemas.openxmlformats.org/drawingml/2006/main">
            <a:r>
              <a:t>/spectra:discuss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Topic:</a:t>
            </a:r>
          </a:p>
          <a:p xmlns:a="http://schemas.openxmlformats.org/drawingml/2006/main">
            <a:r>
              <a:t>設計一個 PubMed evidence extractor。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請先讀目前 repo 裡的：</a:t>
            </a:r>
          </a:p>
          <a:p xmlns:a="http://schemas.openxmlformats.org/drawingml/2006/main">
            <a:r>
              <a:t>- templates/biomedical-tool-spec-template.md</a:t>
            </a:r>
          </a:p>
          <a:p xmlns:a="http://schemas.openxmlformats.org/drawingml/2006/main">
            <a:r>
              <a:t>- examples/pubmed-evidence-extractor/SPEC.md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請收斂到：</a:t>
            </a:r>
          </a:p>
          <a:p xmlns:a="http://schemas.openxmlformats.org/drawingml/2006/main">
            <a:r>
              <a:t>1. 允許資料來源</a:t>
            </a:r>
          </a:p>
          <a:p xmlns:a="http://schemas.openxmlformats.org/drawingml/2006/main">
            <a:r>
              <a:t>2. input/output schema</a:t>
            </a:r>
          </a:p>
          <a:p xmlns:a="http://schemas.openxmlformats.org/drawingml/2006/main">
            <a:r>
              <a:t>3. not_found rule</a:t>
            </a:r>
          </a:p>
          <a:p xmlns:a="http://schemas.openxmlformats.org/drawingml/2006/main">
            <a:r>
              <a:t>4. human review gate</a:t>
            </a:r>
          </a:p>
          <a:p xmlns:a="http://schemas.openxmlformats.org/drawingml/2006/main">
            <a:r>
              <a:t>5. validation fixtures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先不要寫 code。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教師示範: 先用 discuss 收斂問題 再用 propose 產出 artifacts review 後才 apply 缺口用 ingest 回寫 spec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Spectra demo 的重點是讓學生看懂每個 artifact 的責任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| 為什麼要做、scope 多大、哪些不做 | 不得包含臨床建議</a:t>
            </a:r>
          </a:p>
          <a:p xmlns:a="http://schemas.openxmlformats.org/drawingml/2006/main">
            <a:r>
              <a:t>spec | input/output、acceptance criteria、edge cases | PMID、not_found、review gate</a:t>
            </a:r>
          </a:p>
          <a:p xmlns:a="http://schemas.openxmlformats.org/drawingml/2006/main">
            <a:r>
              <a:t>design | 資料流、API、schema、錯誤處理 | source version 與 retrieval date</a:t>
            </a:r>
          </a:p>
          <a:p xmlns:a="http://schemas.openxmlformats.org/drawingml/2006/main">
            <a:r>
              <a:t>tasks | 小任務是否可獨立驗證 | 先測 schema/golden file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Spectra 可以讓流程可見，但 biomedical gate 仍然要人工負責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 `/spectra:apply` 前，先 review spec 是否有資料源、not found rule 和 validation 任務執行中發現需求缺口時，不要讓 agent 直接補功能，先 `/spectra:ingest` 更新規格 若任務涉及 citation、trial status、gene symbol 或 clinical wording，要保留 `needs_review` 歸檔前確認 spec、tasks、測試輸出與 commit 都能互相追溯 不要交給工具: clinical judgment sensitive data source authority merge decision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先讓 agent 寫 spec，但要求它先問問題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Prompt:</a:t>
            </a:r>
          </a:p>
          <a:p xmlns:a="http://schemas.openxmlformats.org/drawingml/2006/main">
            <a:r>
              <a:t>請不要開始寫程式。</a:t>
            </a:r>
          </a:p>
          <a:p xmlns:a="http://schemas.openxmlformats.org/drawingml/2006/main">
            <a:r>
              <a:t>請先根據下列 biomedical tool idea 建立 SPEC.md。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你必須先列出最多 8 個 clarification questions。</a:t>
            </a:r>
          </a:p>
          <a:p xmlns:a="http://schemas.openxmlformats.org/drawingml/2006/main">
            <a:r>
              <a:t>沒有答案時，提出保守預設並標記 assumption。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SPEC.md 必須包含：</a:t>
            </a:r>
          </a:p>
          <a:p xmlns:a="http://schemas.openxmlformats.org/drawingml/2006/main">
            <a:r>
              <a:t>- Goal / non-goals</a:t>
            </a:r>
          </a:p>
          <a:p xmlns:a="http://schemas.openxmlformats.org/drawingml/2006/main">
            <a:r>
              <a:t>- Inputs / outputs</a:t>
            </a:r>
          </a:p>
          <a:p xmlns:a="http://schemas.openxmlformats.org/drawingml/2006/main">
            <a:r>
              <a:t>- Boundary conditions</a:t>
            </a:r>
          </a:p>
          <a:p xmlns:a="http://schemas.openxmlformats.org/drawingml/2006/main">
            <a:r>
              <a:t>- Error handling</a:t>
            </a:r>
          </a:p>
          <a:p xmlns:a="http://schemas.openxmlformats.org/drawingml/2006/main">
            <a:r>
              <a:t>- Validation commands</a:t>
            </a:r>
          </a:p>
          <a:p xmlns:a="http://schemas.openxmlformats.org/drawingml/2006/main">
            <a:r>
              <a:t>- Human review gate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教學重點: 禁止先寫 code 先逼出 ambiguity 沒有答案要標 assumption spec 要包含驗證與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 agent 實作時，要把 spec 變成 acceptance contract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Prompt:</a:t>
            </a:r>
          </a:p>
          <a:p xmlns:a="http://schemas.openxmlformats.org/drawingml/2006/main">
            <a:r>
              <a:t>請依照 SPEC.md 實作最小版本。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規則：</a:t>
            </a:r>
          </a:p>
          <a:p xmlns:a="http://schemas.openxmlformats.org/drawingml/2006/main">
            <a:r>
              <a:t>- 只改 tasks.md 指定的檔案</a:t>
            </a:r>
          </a:p>
          <a:p xmlns:a="http://schemas.openxmlformats.org/drawingml/2006/main">
            <a:r>
              <a:t>- 每完成一個 task 就跑相對應測試</a:t>
            </a:r>
          </a:p>
          <a:p xmlns:a="http://schemas.openxmlformats.org/drawingml/2006/main">
            <a:r>
              <a:t>- 不得新增 SPEC.md 沒提到的功能</a:t>
            </a:r>
          </a:p>
          <a:p xmlns:a="http://schemas.openxmlformats.org/drawingml/2006/main">
            <a:r>
              <a:t>- 若 SPEC.md 不清楚，先停下來問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回報：</a:t>
            </a:r>
          </a:p>
          <a:p xmlns:a="http://schemas.openxmlformats.org/drawingml/2006/main">
            <a:r>
              <a:t>- completed tasks</a:t>
            </a:r>
          </a:p>
          <a:p xmlns:a="http://schemas.openxmlformats.org/drawingml/2006/main">
            <a:r>
              <a:t>- files changed</a:t>
            </a:r>
          </a:p>
          <a:p xmlns:a="http://schemas.openxmlformats.org/drawingml/2006/main">
            <a:r>
              <a:t>- validation commands</a:t>
            </a:r>
          </a:p>
          <a:p xmlns:a="http://schemas.openxmlformats.org/drawingml/2006/main">
            <a:r>
              <a:t>- deviations from SPEC.md</a:t>
            </a:r>
          </a:p>
          <a:p xmlns:a="http://schemas.openxmlformats.org/drawingml/2006/main">
            <a:r>
              <a:t>- remaining risks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完成定義: 不是它說完成 是 acceptance criteria pass 所有 deviation 要列出 spec drift 要回寫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Spec drift 會讓 SDD 失效，所以規格要跟 commit 一起活著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程式碼行為改了，SPEC.md 必須同步改 測試暴露新邊界條件時，要補回 requirements 或 validation 資料庫版本、API schema、source policy 改了，要記錄在 changelog 不要把過時 spec 留給 agent 當錯誤 context Change rule: spec first small patch test evidence review gate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Biomedical spec review 的重點是可追溯、可驗證、可停止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 | 允許資料源和版本寫清楚了嗎？ | 補來源或縮小 scope</a:t>
            </a:r>
          </a:p>
          <a:p xmlns:a="http://schemas.openxmlformats.org/drawingml/2006/main">
            <a:r>
              <a:t>Schema | 每個 output 欄位都有型別與允許值嗎？ | 補 schema</a:t>
            </a:r>
          </a:p>
          <a:p xmlns:a="http://schemas.openxmlformats.org/drawingml/2006/main">
            <a:r>
              <a:t>Not found | 找不到資料時會停止還是亂補？ | 補 not_found rule</a:t>
            </a:r>
          </a:p>
          <a:p xmlns:a="http://schemas.openxmlformats.org/drawingml/2006/main">
            <a:r>
              <a:t>Boundary | PHI、clinical claim、external action 有 gate 嗎？ | 補 human review</a:t>
            </a:r>
          </a:p>
          <a:p xmlns:a="http://schemas.openxmlformats.org/drawingml/2006/main">
            <a:r>
              <a:t>Validation | 有 sample fixtures 和命令可以重跑嗎？ | 補 tests/golden file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學生要交的是 spec，不是看起來很厲害的 prompt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Pick | 選一個工具：PubMed / gene / trial | scope 是否夠小</a:t>
            </a:r>
          </a:p>
          <a:p xmlns:a="http://schemas.openxmlformats.org/drawingml/2006/main">
            <a:r>
              <a:t>2. Clarify | 列 5 個 clarification questions | 是否問到資料源與邊界</a:t>
            </a:r>
          </a:p>
          <a:p xmlns:a="http://schemas.openxmlformats.org/drawingml/2006/main">
            <a:r>
              <a:t>3. Specify | 填入 SPEC.md template | schema、errors、validation 是否完整</a:t>
            </a:r>
          </a:p>
          <a:p xmlns:a="http://schemas.openxmlformats.org/drawingml/2006/main">
            <a:r>
              <a:t>4. Handoff | 寫給 coding agent 的 implementation prompt | 是否限制改檔與測試命令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 used: https://ihower.tw/blog/13480-sdd-spec-driven-development ; https://kaochenlong.com/sdd-spec-driven-development ; https://kaochenlong.com/spectra-with-openspec ; https://kaochenlong.com/spectra-app-2 ; https://milkmidi.medium.com/ai-%E6%99%82%E4%BB%A3-%E4%B8%80%E5%AE%9A%E8%A6%81%E5%AD%B8%E6%9C%83%E4%BD%BF%E7%94%A8-github-spec-kit-sdd-%E8%A6%8F%E6%A0%BC%E9%A9%85%E5%8B%95%E9%96%8B%E7%99%BC-f2df57cfdf3c ; https://xn--uy0a.tw/AI/sdd-ai-copilot-codex-devops-workflow/ ; https://tenten.co/learning/specdriven-developmentai/ ; https://github.com/github/spec-kit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Wrap-up: SDD for biomedical tools should be lightweight, explicit, verifiable, and traceable.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503244f3ea43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f9c17eab2b452c" /><Relationship Type="http://schemas.openxmlformats.org/officeDocument/2006/relationships/slideLayout" Target="/ppt/slideLayouts/slideLayout1.xml" Id="R90c55b7b5fc741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c55b7b5fc741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ad5c1f068d4cf0" /><Relationship Type="http://schemas.openxmlformats.org/officeDocument/2006/relationships/notesSlide" Target="/ppt/notesSlides/notesSlide1.xml" Id="R2f15307b6053429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e3c26650ba4106" /><Relationship Type="http://schemas.openxmlformats.org/officeDocument/2006/relationships/notesSlide" Target="/ppt/notesSlides/notesSlide2.xml" Id="R2eaa16215cb34a2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f3cdb48904955" /><Relationship Type="http://schemas.openxmlformats.org/officeDocument/2006/relationships/notesSlide" Target="/ppt/notesSlides/notesSlide3.xml" Id="R091aeedf95c345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0302793404183" /><Relationship Type="http://schemas.openxmlformats.org/officeDocument/2006/relationships/notesSlide" Target="/ppt/notesSlides/notesSlide4.xml" Id="Rb304208bc7cd42c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df5f41ced4704" /><Relationship Type="http://schemas.openxmlformats.org/officeDocument/2006/relationships/notesSlide" Target="/ppt/notesSlides/notesSlide5.xml" Id="R2ed418c2f6a146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2dede772534616" /><Relationship Type="http://schemas.openxmlformats.org/officeDocument/2006/relationships/notesSlide" Target="/ppt/notesSlides/notesSlide6.xml" Id="R6b924935906b4e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1e59727b849ac" /><Relationship Type="http://schemas.openxmlformats.org/officeDocument/2006/relationships/notesSlide" Target="/ppt/notesSlides/notesSlide7.xml" Id="Rceb49978b92543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a27923c3cd44b8" /><Relationship Type="http://schemas.openxmlformats.org/officeDocument/2006/relationships/notesSlide" Target="/ppt/notesSlides/notesSlide8.xml" Id="Red1cefa07f154e7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4e4b1f7f574d30" /><Relationship Type="http://schemas.openxmlformats.org/officeDocument/2006/relationships/notesSlide" Target="/ppt/notesSlides/notesSlide9.xml" Id="R4c2fb1982473428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651092ee064883" /><Relationship Type="http://schemas.openxmlformats.org/officeDocument/2006/relationships/notesSlide" Target="/ppt/notesSlides/notesSlide10.xml" Id="R4e2b3152ea754a8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f2739b829b465d" /><Relationship Type="http://schemas.openxmlformats.org/officeDocument/2006/relationships/notesSlide" Target="/ppt/notesSlides/notesSlide11.xml" Id="R8ffb88f8608043a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a466527d9414b" /><Relationship Type="http://schemas.openxmlformats.org/officeDocument/2006/relationships/notesSlide" Target="/ppt/notesSlides/notesSlide12.xml" Id="R8473abd15cde47b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094a548374dd2" /><Relationship Type="http://schemas.openxmlformats.org/officeDocument/2006/relationships/notesSlide" Target="/ppt/notesSlides/notesSlide13.xml" Id="Rf7cf945cd448421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8479e59394af7" /><Relationship Type="http://schemas.openxmlformats.org/officeDocument/2006/relationships/notesSlide" Target="/ppt/notesSlides/notesSlide14.xml" Id="R7ea5dfe08e61487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cee8fdd4814237" /><Relationship Type="http://schemas.openxmlformats.org/officeDocument/2006/relationships/notesSlide" Target="/ppt/notesSlides/notesSlide15.xml" Id="Rf7b61a4ee8dc46d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ffe20be7b442a" /><Relationship Type="http://schemas.openxmlformats.org/officeDocument/2006/relationships/notesSlide" Target="/ppt/notesSlides/notesSlide16.xml" Id="R2995cc97e0da4b6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82ca9971124329" /><Relationship Type="http://schemas.openxmlformats.org/officeDocument/2006/relationships/notesSlide" Target="/ppt/notesSlides/notesSlide17.xml" Id="R55fb52c98885416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c302e13914b25" /><Relationship Type="http://schemas.openxmlformats.org/officeDocument/2006/relationships/notesSlide" Target="/ppt/notesSlides/notesSlide18.xml" Id="Rdc2be72cb1f8431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745fa965ee4755" /><Relationship Type="http://schemas.openxmlformats.org/officeDocument/2006/relationships/notesSlide" Target="/ppt/notesSlides/notesSlide19.xml" Id="Rd3022ef1dc7b440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fc24b648fb4faf" /><Relationship Type="http://schemas.openxmlformats.org/officeDocument/2006/relationships/notesSlide" Target="/ppt/notesSlides/notesSlide20.xml" Id="Rc64669aa0cc14f1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08747e16064abc" /><Relationship Type="http://schemas.openxmlformats.org/officeDocument/2006/relationships/notesSlide" Target="/ppt/notesSlides/notesSlide21.xml" Id="R9bc4bfce0b78405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682b03f2a046f8" /><Relationship Type="http://schemas.openxmlformats.org/officeDocument/2006/relationships/notesSlide" Target="/ppt/notesSlides/notesSlide22.xml" Id="Re3d886994f0e4bb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ec33b39a924697" /><Relationship Type="http://schemas.openxmlformats.org/officeDocument/2006/relationships/notesSlide" Target="/ppt/notesSlides/notesSlide23.xml" Id="R3a42ab9843d74d6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3ba44f1bf4fe2" /><Relationship Type="http://schemas.openxmlformats.org/officeDocument/2006/relationships/notesSlide" Target="/ppt/notesSlides/notesSlide24.xml" Id="Rfee3f0ed9850499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360ee5944483b" /><Relationship Type="http://schemas.openxmlformats.org/officeDocument/2006/relationships/notesSlide" Target="/ppt/notesSlides/notesSlide25.xml" Id="R33f02703de87437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ea9755ec0f4ffd" /><Relationship Type="http://schemas.openxmlformats.org/officeDocument/2006/relationships/notesSlide" Target="/ppt/notesSlides/notesSlide26.xml" Id="R57c24d125e174a9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7c0d630594683" /><Relationship Type="http://schemas.openxmlformats.org/officeDocument/2006/relationships/notesSlide" Target="/ppt/notesSlides/notesSlide27.xml" Id="Rd7d0694d088e465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95a2b4189401b" /><Relationship Type="http://schemas.openxmlformats.org/officeDocument/2006/relationships/notesSlide" Target="/ppt/notesSlides/notesSlide28.xml" Id="R7553c94bb4af404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7e170c7a0481c" /><Relationship Type="http://schemas.openxmlformats.org/officeDocument/2006/relationships/notesSlide" Target="/ppt/notesSlides/notesSlide29.xml" Id="R72b851c0883c40e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719356a54c4b4e" /><Relationship Type="http://schemas.openxmlformats.org/officeDocument/2006/relationships/notesSlide" Target="/ppt/notesSlides/notesSlide30.xml" Id="R9f0fa369b1f4416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282eedfcd54d26" /><Relationship Type="http://schemas.openxmlformats.org/officeDocument/2006/relationships/notesSlide" Target="/ppt/notesSlides/notesSlide31.xml" Id="R584ea2fc1bbd4d0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fb408c8344911" /><Relationship Type="http://schemas.openxmlformats.org/officeDocument/2006/relationships/notesSlide" Target="/ppt/notesSlides/notesSlide32.xml" Id="R7256181a39ae40e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2650572bf4a73" /><Relationship Type="http://schemas.openxmlformats.org/officeDocument/2006/relationships/notesSlide" Target="/ppt/notesSlides/notesSlide33.xml" Id="Rf22f5325ed59468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bf7c2e2fc4dc3" /><Relationship Type="http://schemas.openxmlformats.org/officeDocument/2006/relationships/notesSlide" Target="/ppt/notesSlides/notesSlide34.xml" Id="R8fced1183f3d473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7245a48cda4a90" /><Relationship Type="http://schemas.openxmlformats.org/officeDocument/2006/relationships/notesSlide" Target="/ppt/notesSlides/notesSlide35.xml" Id="Rcca819a92615487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ad6bc00cb44a6a" /><Relationship Type="http://schemas.openxmlformats.org/officeDocument/2006/relationships/notesSlide" Target="/ppt/notesSlides/notesSlide36.xml" Id="R7cbf6bdf9c2347e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8f493f1014444" /><Relationship Type="http://schemas.openxmlformats.org/officeDocument/2006/relationships/notesSlide" Target="/ppt/notesSlides/notesSlide37.xml" Id="R3514472479844a8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7cbf733f64b2d" /><Relationship Type="http://schemas.openxmlformats.org/officeDocument/2006/relationships/notesSlide" Target="/ppt/notesSlides/notesSlide38.xml" Id="Rb814d035cc354467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ab01f45905474c" /><Relationship Type="http://schemas.openxmlformats.org/officeDocument/2006/relationships/notesSlide" Target="/ppt/notesSlides/notesSlide39.xml" Id="R81a38385f932493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cc39a41c948ce" /><Relationship Type="http://schemas.openxmlformats.org/officeDocument/2006/relationships/notesSlide" Target="/ppt/notesSlides/notesSlide40.xml" Id="R8a8ba0eb8b8c46f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urse">
            <a:extLst xmlns:a="http://schemas.openxmlformats.org/drawingml/2006/main">
              <a:ext uri="{FF2B5EF4-FFF2-40B4-BE49-F238E27FC236}">
                <a16:creationId xmlns:a16="http://schemas.microsoft.com/office/drawing/2014/main" id="{A0CFAA9D-5EB9-479F-A06E-2B2B323D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AFC2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FC2FF"/>
                </a:solidFill>
                <a:latin typeface="Aptos"/>
                <a:ea typeface="Aptos"/>
                <a:cs typeface="Aptos"/>
              </a:rPr>
              <a:t>Day 2 · Lesson 08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AABE38F-D9DD-454E-920F-EBAF3EA0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80010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Spec-Driven Development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for Biomedical Tools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2DBA8ADB-D54C-4B81-82AA-D35326CC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766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把模糊需求轉成 agent 能執行、人能審查、工具能測試的規格</a:t>
            </a:r>
          </a:p>
        </p:txBody>
      </p:sp>
      <p:sp>
        <p:nvSpPr>
          <p:cNvPr id="4" name="right-panel">
            <a:extLst xmlns:a="http://schemas.openxmlformats.org/drawingml/2006/main">
              <a:ext uri="{FF2B5EF4-FFF2-40B4-BE49-F238E27FC236}">
                <a16:creationId xmlns:a16="http://schemas.microsoft.com/office/drawing/2014/main" id="{063CFE45-8605-432A-9DD8-063438E8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238250"/>
            <a:ext cx="2781300" cy="33909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24313D"/>
          </a:solidFill>
          <a:ln xmlns:a="http://schemas.openxmlformats.org/drawingml/2006/main" w="9525">
            <a:solidFill>
              <a:srgbClr val="526171"/>
            </a:solidFill>
            <a:prstDash val="solid"/>
          </a:ln>
        </p:spPr>
      </p:sp>
      <p:sp>
        <p:nvSpPr>
          <p:cNvPr id="5" name="panel-title">
            <a:extLst xmlns:a="http://schemas.openxmlformats.org/drawingml/2006/main">
              <a:ext uri="{FF2B5EF4-FFF2-40B4-BE49-F238E27FC236}">
                <a16:creationId xmlns:a16="http://schemas.microsoft.com/office/drawing/2014/main" id="{DB589AE7-3F4F-496E-A242-3E627116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38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Today output</a:t>
            </a:r>
          </a:p>
        </p:txBody>
      </p:sp>
      <p:sp>
        <p:nvSpPr>
          <p:cNvPr id="6" name="panel-list">
            <a:extLst xmlns:a="http://schemas.openxmlformats.org/drawingml/2006/main">
              <a:ext uri="{FF2B5EF4-FFF2-40B4-BE49-F238E27FC236}">
                <a16:creationId xmlns:a16="http://schemas.microsoft.com/office/drawing/2014/main" id="{520CB548-2478-4D98-AE21-0CE54CAF4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90750"/>
            <a:ext cx="2076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one reusable SPEC.md template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three biomedical tool specs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Spectra demo flow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agent handoff prompt</a:t>
            </a:r>
          </a:p>
        </p:txBody>
      </p:sp>
      <p:sp>
        <p:nvSpPr>
          <p:cNvPr id="7" name="footer-dark">
            <a:extLst xmlns:a="http://schemas.openxmlformats.org/drawingml/2006/main">
              <a:ext uri="{FF2B5EF4-FFF2-40B4-BE49-F238E27FC236}">
                <a16:creationId xmlns:a16="http://schemas.microsoft.com/office/drawing/2014/main" id="{3E233CE0-0CDC-4950-A157-2AD272BA2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Spec-driven development for biomedical tools  |  1/40</a:t>
            </a:r>
          </a:p>
        </p:txBody>
      </p:sp>
    </p:spTree>
    <p:extLst>
      <p:ext uri="{BB962C8B-B14F-4D97-AF65-F5344CB8AC3E}">
        <p14:creationId xmlns:p14="http://schemas.microsoft.com/office/powerpoint/2010/main" val="9077291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C8F2108-D826-4EC7-AD8E-1531E026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LEARNING TARGET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4B6F188-16A6-427B-8C74-E4AFABF1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今天的核心能力是把願望改寫成可驗證的工具合約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39B505C-9254-4BF1-9142-F7DD751E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2/40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5BA5147B-2984-4AD8-8287-949C87DF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3340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解釋為什麼 agent 動手前要先有 spec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把模糊需求拆成 input、output、boundary、error、validation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替 PubMed extractor、gene annotation、trial summarizer 寫出最小可用規格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知道 SDD 何時有用，何時會變成文件負擔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D2A4099A-3A44-4879-B8D5-B32F59FB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3290D2C2-4B8F-455E-979A-96783922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90 分鐘後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681BD0A3-A4D8-44CD-9ECD-43137B69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30099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能寫 SPEC.md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能問 clarification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能定義 acceptance criteria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能交給 coding agent 實作</a:t>
            </a:r>
          </a:p>
        </p:txBody>
      </p:sp>
    </p:spTree>
    <p:extLst>
      <p:ext uri="{BB962C8B-B14F-4D97-AF65-F5344CB8AC3E}">
        <p14:creationId xmlns:p14="http://schemas.microsoft.com/office/powerpoint/2010/main" val="14078329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008C1DB-8F55-4522-88F7-4F88966C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WHY SPEC FIRST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64230CC-B70C-4FA8-B03A-7ADE11F7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工具最怕的不是不能跑，而是跑出看似合理的錯結果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1E2034D-CE94-40D0-B550-ABF47485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3/40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76D80119-8FA7-4096-9286-93A4FCA3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3340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文獻 evidence extractor 可能編造 PMID 或混淆模型推測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annotation tool 可能混用物種、舊名與 approved symbol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trial summarizer 可能把 recruitment status 或 eligibility 寫錯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先寫 spec 是先定義什麼叫做正確，而不是先叫 AI 寫 code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79213A08-9F2B-4BB8-AE45-7A0075FC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BB8075B7-A6FF-469C-8C0C-0D338DC9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Spec 的工作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0A1436BB-3F92-41C4-9B44-D6736CE6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30099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限制猜測空間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把錯誤變可見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讓測試有依據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review 有標準</a:t>
            </a:r>
          </a:p>
        </p:txBody>
      </p:sp>
    </p:spTree>
    <p:extLst>
      <p:ext uri="{BB962C8B-B14F-4D97-AF65-F5344CB8AC3E}">
        <p14:creationId xmlns:p14="http://schemas.microsoft.com/office/powerpoint/2010/main" val="10255884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148A089D-BECC-409E-9A4C-21721D22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SDD PERSPECTIVE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0B3C3A9-8A85-4DF8-9BF0-D4539FEB3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這幾篇文章的共同結論：SDD 有用，但不能變成 Markdown 堆高機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2EF9982-D568-40C5-AA54-1C0CDF1E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4/40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15A5426B-1844-4B78-8272-FCFCFB32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524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CA7802C4-734D-4E5E-8B7C-34A100CC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觀點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1337D3A4-1344-4F18-ABE7-3B2B1507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4476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A365208F-3BFC-4FE1-9648-CAC19A2A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000250"/>
            <a:ext cx="424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可取之處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3B3A40EA-C975-4F7D-A215-7FA9C84E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885950"/>
            <a:ext cx="4381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54B3E246-F104-4DF7-8FF9-BD669567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0025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課堂採用方式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21DABC0C-4F74-4B23-BDC6-5DFEBBAF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524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19F9DE3C-3710-49C2-BAAA-05D9CF4B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正面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F0A580E7-8979-433B-8D64-6E2E15B6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305050"/>
            <a:ext cx="4476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2F9BA327-D410-41F6-A77B-EFA29AE2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0030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先釐清 what/why、acceptance criteria、design、tasks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5F0B5D5A-0847-438D-9756-8D4621F7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05050"/>
            <a:ext cx="4381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2BA1F9A5-6224-48CF-A3FE-6DDFE246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400300"/>
            <a:ext cx="4152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用規格降低 agent 猜測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1B0D91B7-3DBB-40A0-9E55-D21B0EDA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1524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71D72E7A-12F5-4031-9CC2-1DF367E3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警告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892F1589-763E-4E33-9FC5-F9E9D29B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933700"/>
            <a:ext cx="4476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22AF0E1B-7A46-4F5E-8396-2101C819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02895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文件過量、spec drift、假安全感、雙重 review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18D76D35-A57A-4619-ABE8-64981C0BE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33700"/>
            <a:ext cx="4381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C8C678B9-B2CD-4F03-B35D-27077D90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28950"/>
            <a:ext cx="4152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只寫能被驗證的最小規格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901E6EB6-0C26-4F80-9444-230DC5A4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524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A443B153-78B2-4E11-A408-627A0AE9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C9210E40-4EC0-4F83-86AE-6AF0FAC0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62350"/>
            <a:ext cx="4476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B71B7EC7-B3F6-4A09-A730-0A7A17A1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5760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Spec Kit、OpenSpec、Spectra 提供流程與狀態追蹤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F4222D12-F4E7-43A4-AD6F-01F524CD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62350"/>
            <a:ext cx="4381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CBA76A18-40FD-46FB-AAF3-1F00DC24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57600"/>
            <a:ext cx="4152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工具當 scaffold，不取代工程判斷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027114D0-2804-47D3-AC61-F443AF2C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1524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023FBA82-102C-4235-B086-21D70A70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62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生醫調整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6A8DC9C5-9D54-4A29-8F71-C5F1C90D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4476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F6C22316-DE95-4A1C-8D06-C75994B8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28625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把來源、not found、review gate 寫進規格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B20CC256-4001-4B92-9B17-D215F87B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91000"/>
            <a:ext cx="4381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99E43506-8E37-4440-A0B4-94407C19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86250"/>
            <a:ext cx="4152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避免把推測偽裝成 evidence</a:t>
            </a:r>
          </a:p>
        </p:txBody>
      </p:sp>
      <p:sp>
        <p:nvSpPr>
          <p:cNvPr id="34" name="source">
            <a:extLst xmlns:a="http://schemas.openxmlformats.org/drawingml/2006/main">
              <a:ext uri="{FF2B5EF4-FFF2-40B4-BE49-F238E27FC236}">
                <a16:creationId xmlns:a16="http://schemas.microsoft.com/office/drawing/2014/main" id="{152AD43E-E309-47FC-8BEC-3B88F678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36270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ihower, Kao Chen Long, Milk Midi, 琳.tw, Tenten</a:t>
            </a:r>
          </a:p>
        </p:txBody>
      </p:sp>
    </p:spTree>
    <p:extLst>
      <p:ext uri="{BB962C8B-B14F-4D97-AF65-F5344CB8AC3E}">
        <p14:creationId xmlns:p14="http://schemas.microsoft.com/office/powerpoint/2010/main" val="1991082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B70D4F0-EF65-4865-9AA9-1BD51125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SPEC IS A CONTRACT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688565B-2A60-4E80-9528-C14B08FE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好的 spec 不是作文，而是三方共同遵守的合約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3F8FB6C-6464-4B65-9BE0-BAC2B693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5/40</a:t>
            </a:r>
          </a:p>
        </p:txBody>
      </p:sp>
      <p:sp>
        <p:nvSpPr>
          <p:cNvPr id="4" name="card-0">
            <a:extLst xmlns:a="http://schemas.openxmlformats.org/drawingml/2006/main">
              <a:ext uri="{FF2B5EF4-FFF2-40B4-BE49-F238E27FC236}">
                <a16:creationId xmlns:a16="http://schemas.microsoft.com/office/drawing/2014/main" id="{4F416051-64AA-4FA0-9396-EF182EDA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card-title-0">
            <a:extLst xmlns:a="http://schemas.openxmlformats.org/drawingml/2006/main">
              <a:ext uri="{FF2B5EF4-FFF2-40B4-BE49-F238E27FC236}">
                <a16:creationId xmlns:a16="http://schemas.microsoft.com/office/drawing/2014/main" id="{8B6EBAA4-7C3D-4871-ACCD-E20179B4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622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Human</a:t>
            </a:r>
          </a:p>
        </p:txBody>
      </p:sp>
      <p:sp>
        <p:nvSpPr>
          <p:cNvPr id="6" name="card-copy-0">
            <a:extLst xmlns:a="http://schemas.openxmlformats.org/drawingml/2006/main">
              <a:ext uri="{FF2B5EF4-FFF2-40B4-BE49-F238E27FC236}">
                <a16:creationId xmlns:a16="http://schemas.microsoft.com/office/drawing/2014/main" id="{E871672E-BE2C-4631-8357-EE9BC07D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05150"/>
            <a:ext cx="2457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負責定義意圖、限制、風險和 review gate。</a:t>
            </a:r>
          </a:p>
        </p:txBody>
      </p:sp>
      <p:sp>
        <p:nvSpPr>
          <p:cNvPr id="7" name="card-1">
            <a:extLst xmlns:a="http://schemas.openxmlformats.org/drawingml/2006/main">
              <a:ext uri="{FF2B5EF4-FFF2-40B4-BE49-F238E27FC236}">
                <a16:creationId xmlns:a16="http://schemas.microsoft.com/office/drawing/2014/main" id="{552A26EE-F465-4598-8D1B-826DF692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8" name="card-title-1">
            <a:extLst xmlns:a="http://schemas.openxmlformats.org/drawingml/2006/main">
              <a:ext uri="{FF2B5EF4-FFF2-40B4-BE49-F238E27FC236}">
                <a16:creationId xmlns:a16="http://schemas.microsoft.com/office/drawing/2014/main" id="{BB43738E-0AF1-4C53-BE74-AC8A458F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Agent</a:t>
            </a:r>
          </a:p>
        </p:txBody>
      </p:sp>
      <p:sp>
        <p:nvSpPr>
          <p:cNvPr id="9" name="card-copy-1">
            <a:extLst xmlns:a="http://schemas.openxmlformats.org/drawingml/2006/main">
              <a:ext uri="{FF2B5EF4-FFF2-40B4-BE49-F238E27FC236}">
                <a16:creationId xmlns:a16="http://schemas.microsoft.com/office/drawing/2014/main" id="{5656C67D-A196-433A-9B78-8D5C5805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05150"/>
            <a:ext cx="2457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依照規格讀檔、改程式、產生測試與回報差異。</a:t>
            </a:r>
          </a:p>
        </p:txBody>
      </p:sp>
      <p:sp>
        <p:nvSpPr>
          <p:cNvPr id="10" name="card-2">
            <a:extLst xmlns:a="http://schemas.openxmlformats.org/drawingml/2006/main">
              <a:ext uri="{FF2B5EF4-FFF2-40B4-BE49-F238E27FC236}">
                <a16:creationId xmlns:a16="http://schemas.microsoft.com/office/drawing/2014/main" id="{23F1B865-E384-4760-8232-BDA1C3A4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11" name="card-title-2">
            <a:extLst xmlns:a="http://schemas.openxmlformats.org/drawingml/2006/main">
              <a:ext uri="{FF2B5EF4-FFF2-40B4-BE49-F238E27FC236}">
                <a16:creationId xmlns:a16="http://schemas.microsoft.com/office/drawing/2014/main" id="{6AD802FA-FEEA-4B57-B469-0A47C050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622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Validator</a:t>
            </a:r>
          </a:p>
        </p:txBody>
      </p:sp>
      <p:sp>
        <p:nvSpPr>
          <p:cNvPr id="12" name="card-copy-2">
            <a:extLst xmlns:a="http://schemas.openxmlformats.org/drawingml/2006/main">
              <a:ext uri="{FF2B5EF4-FFF2-40B4-BE49-F238E27FC236}">
                <a16:creationId xmlns:a16="http://schemas.microsoft.com/office/drawing/2014/main" id="{2D403AA3-95C9-454F-B80B-D349C9E7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05150"/>
            <a:ext cx="2457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schema、fixtures、golden outputs 和命令檢查結果。</a:t>
            </a:r>
          </a:p>
        </p:txBody>
      </p:sp>
    </p:spTree>
    <p:extLst>
      <p:ext uri="{BB962C8B-B14F-4D97-AF65-F5344CB8AC3E}">
        <p14:creationId xmlns:p14="http://schemas.microsoft.com/office/powerpoint/2010/main" val="14809333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0AA343E-CC66-4019-AF56-ED153EF2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A973596-28DC-4E65-8485-F7FC6501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SDD 的流程應該支援迭代，不是把人鎖進瀑布流程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1C085AD-1F07-441C-8A29-4383727E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6/40</a:t>
            </a:r>
          </a:p>
        </p:txBody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F453B14C-ADE0-4814-82CF-99D60CED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step-no-0">
            <a:extLst xmlns:a="http://schemas.openxmlformats.org/drawingml/2006/main">
              <a:ext uri="{FF2B5EF4-FFF2-40B4-BE49-F238E27FC236}">
                <a16:creationId xmlns:a16="http://schemas.microsoft.com/office/drawing/2014/main" id="{1A32B3DB-94C1-46CA-BF88-F91392F5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DC238F21-D3A6-4F4A-AE88-37D83818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Discuss</a:t>
            </a:r>
          </a:p>
        </p:txBody>
      </p:sp>
      <p:sp>
        <p:nvSpPr>
          <p:cNvPr id="7" name="step-copy-0">
            <a:extLst xmlns:a="http://schemas.openxmlformats.org/drawingml/2006/main">
              <a:ext uri="{FF2B5EF4-FFF2-40B4-BE49-F238E27FC236}">
                <a16:creationId xmlns:a16="http://schemas.microsoft.com/office/drawing/2014/main" id="{0550BD9F-C339-4F47-9A99-4E8A907C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先釐清研究任務與風險</a:t>
            </a:r>
          </a:p>
        </p:txBody>
      </p:sp>
      <p:sp>
        <p:nvSpPr>
          <p:cNvPr id="8" name="step-arrow-0">
            <a:extLst xmlns:a="http://schemas.openxmlformats.org/drawingml/2006/main">
              <a:ext uri="{FF2B5EF4-FFF2-40B4-BE49-F238E27FC236}">
                <a16:creationId xmlns:a16="http://schemas.microsoft.com/office/drawing/2014/main" id="{07C96D47-4BB0-4469-BBA4-E6BF4910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 xmlns:a="http://schemas.openxmlformats.org/drawingml/2006/main">
              <a:ext uri="{FF2B5EF4-FFF2-40B4-BE49-F238E27FC236}">
                <a16:creationId xmlns:a16="http://schemas.microsoft.com/office/drawing/2014/main" id="{D4B35E58-773A-4B0E-86B3-225EE764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0" name="step-no-1">
            <a:extLst xmlns:a="http://schemas.openxmlformats.org/drawingml/2006/main">
              <a:ext uri="{FF2B5EF4-FFF2-40B4-BE49-F238E27FC236}">
                <a16:creationId xmlns:a16="http://schemas.microsoft.com/office/drawing/2014/main" id="{6807547F-23E3-417A-B825-1E1992EB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8808FAA9-0400-42D4-A0B5-8FF1B896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Specify</a:t>
            </a:r>
          </a:p>
        </p:txBody>
      </p:sp>
      <p:sp>
        <p:nvSpPr>
          <p:cNvPr id="12" name="step-copy-1">
            <a:extLst xmlns:a="http://schemas.openxmlformats.org/drawingml/2006/main">
              <a:ext uri="{FF2B5EF4-FFF2-40B4-BE49-F238E27FC236}">
                <a16:creationId xmlns:a16="http://schemas.microsoft.com/office/drawing/2014/main" id="{9026E779-996E-4933-8448-0A7578E3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寫 what/why 和驗收標準</a:t>
            </a:r>
          </a:p>
        </p:txBody>
      </p:sp>
      <p:sp>
        <p:nvSpPr>
          <p:cNvPr id="13" name="step-arrow-1">
            <a:extLst xmlns:a="http://schemas.openxmlformats.org/drawingml/2006/main">
              <a:ext uri="{FF2B5EF4-FFF2-40B4-BE49-F238E27FC236}">
                <a16:creationId xmlns:a16="http://schemas.microsoft.com/office/drawing/2014/main" id="{A03287E4-4B18-4814-839B-E59F172C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 xmlns:a="http://schemas.openxmlformats.org/drawingml/2006/main">
              <a:ext uri="{FF2B5EF4-FFF2-40B4-BE49-F238E27FC236}">
                <a16:creationId xmlns:a16="http://schemas.microsoft.com/office/drawing/2014/main" id="{14BE407D-C7A0-4FBB-98D7-73B9B588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1ECFA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15" name="step-no-2">
            <a:extLst xmlns:a="http://schemas.openxmlformats.org/drawingml/2006/main">
              <a:ext uri="{FF2B5EF4-FFF2-40B4-BE49-F238E27FC236}">
                <a16:creationId xmlns:a16="http://schemas.microsoft.com/office/drawing/2014/main" id="{15335A12-E628-4EBE-B459-88E08235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180E5589-660C-49FA-8379-6A9E3893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Plan</a:t>
            </a:r>
          </a:p>
        </p:txBody>
      </p:sp>
      <p:sp>
        <p:nvSpPr>
          <p:cNvPr id="17" name="step-copy-2">
            <a:extLst xmlns:a="http://schemas.openxmlformats.org/drawingml/2006/main">
              <a:ext uri="{FF2B5EF4-FFF2-40B4-BE49-F238E27FC236}">
                <a16:creationId xmlns:a16="http://schemas.microsoft.com/office/drawing/2014/main" id="{E24519FC-75D2-4302-9FAA-C7DBF85A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決定資料源、介面、測試</a:t>
            </a:r>
          </a:p>
        </p:txBody>
      </p:sp>
      <p:sp>
        <p:nvSpPr>
          <p:cNvPr id="18" name="step-arrow-2">
            <a:extLst xmlns:a="http://schemas.openxmlformats.org/drawingml/2006/main">
              <a:ext uri="{FF2B5EF4-FFF2-40B4-BE49-F238E27FC236}">
                <a16:creationId xmlns:a16="http://schemas.microsoft.com/office/drawing/2014/main" id="{F0E9B9A6-D165-4361-81D8-604D1A89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 xmlns:a="http://schemas.openxmlformats.org/drawingml/2006/main">
              <a:ext uri="{FF2B5EF4-FFF2-40B4-BE49-F238E27FC236}">
                <a16:creationId xmlns:a16="http://schemas.microsoft.com/office/drawing/2014/main" id="{E14E0FA3-B581-4D0B-85D0-F46A26AE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0" name="step-no-3">
            <a:extLst xmlns:a="http://schemas.openxmlformats.org/drawingml/2006/main">
              <a:ext uri="{FF2B5EF4-FFF2-40B4-BE49-F238E27FC236}">
                <a16:creationId xmlns:a16="http://schemas.microsoft.com/office/drawing/2014/main" id="{FCFF06B0-D9E6-4718-A658-646F537D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35C0FEC5-E554-4ECC-86EA-7D5D448F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Tasks</a:t>
            </a:r>
          </a:p>
        </p:txBody>
      </p:sp>
      <p:sp>
        <p:nvSpPr>
          <p:cNvPr id="22" name="step-copy-3">
            <a:extLst xmlns:a="http://schemas.openxmlformats.org/drawingml/2006/main">
              <a:ext uri="{FF2B5EF4-FFF2-40B4-BE49-F238E27FC236}">
                <a16:creationId xmlns:a16="http://schemas.microsoft.com/office/drawing/2014/main" id="{6D22F43A-9D40-4F90-9CD8-1D9B4B9F5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拆成可 review 小任務</a:t>
            </a:r>
          </a:p>
        </p:txBody>
      </p:sp>
      <p:sp>
        <p:nvSpPr>
          <p:cNvPr id="23" name="step-arrow-3">
            <a:extLst xmlns:a="http://schemas.openxmlformats.org/drawingml/2006/main">
              <a:ext uri="{FF2B5EF4-FFF2-40B4-BE49-F238E27FC236}">
                <a16:creationId xmlns:a16="http://schemas.microsoft.com/office/drawing/2014/main" id="{34DCC56E-653C-42C0-B8FE-A6F9DF7A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 xmlns:a="http://schemas.openxmlformats.org/drawingml/2006/main">
              <a:ext uri="{FF2B5EF4-FFF2-40B4-BE49-F238E27FC236}">
                <a16:creationId xmlns:a16="http://schemas.microsoft.com/office/drawing/2014/main" id="{64AE7A4A-FA69-4656-9309-09D46637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25" name="step-no-4">
            <a:extLst xmlns:a="http://schemas.openxmlformats.org/drawingml/2006/main">
              <a:ext uri="{FF2B5EF4-FFF2-40B4-BE49-F238E27FC236}">
                <a16:creationId xmlns:a16="http://schemas.microsoft.com/office/drawing/2014/main" id="{2A119B7A-0290-403B-8B3B-0BF3BD77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 xmlns:a="http://schemas.openxmlformats.org/drawingml/2006/main">
              <a:ext uri="{FF2B5EF4-FFF2-40B4-BE49-F238E27FC236}">
                <a16:creationId xmlns:a16="http://schemas.microsoft.com/office/drawing/2014/main" id="{0C13A379-5C56-446D-A487-0C6B0CDF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Build</a:t>
            </a:r>
          </a:p>
        </p:txBody>
      </p:sp>
      <p:sp>
        <p:nvSpPr>
          <p:cNvPr id="27" name="step-copy-4">
            <a:extLst xmlns:a="http://schemas.openxmlformats.org/drawingml/2006/main">
              <a:ext uri="{FF2B5EF4-FFF2-40B4-BE49-F238E27FC236}">
                <a16:creationId xmlns:a16="http://schemas.microsoft.com/office/drawing/2014/main" id="{A175DEFD-3097-4372-807B-867C7531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小 patch 實作</a:t>
            </a:r>
          </a:p>
        </p:txBody>
      </p:sp>
      <p:sp>
        <p:nvSpPr>
          <p:cNvPr id="28" name="step-arrow-4">
            <a:extLst xmlns:a="http://schemas.openxmlformats.org/drawingml/2006/main">
              <a:ext uri="{FF2B5EF4-FFF2-40B4-BE49-F238E27FC236}">
                <a16:creationId xmlns:a16="http://schemas.microsoft.com/office/drawing/2014/main" id="{26D656A2-C7C8-484F-8212-8F993B32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 xmlns:a="http://schemas.openxmlformats.org/drawingml/2006/main">
              <a:ext uri="{FF2B5EF4-FFF2-40B4-BE49-F238E27FC236}">
                <a16:creationId xmlns:a16="http://schemas.microsoft.com/office/drawing/2014/main" id="{2346928B-39B7-432B-A9FF-010E3DE8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30" name="step-no-5">
            <a:extLst xmlns:a="http://schemas.openxmlformats.org/drawingml/2006/main">
              <a:ext uri="{FF2B5EF4-FFF2-40B4-BE49-F238E27FC236}">
                <a16:creationId xmlns:a16="http://schemas.microsoft.com/office/drawing/2014/main" id="{76690A70-6854-4F8E-951F-87981D86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 xmlns:a="http://schemas.openxmlformats.org/drawingml/2006/main">
              <a:ext uri="{FF2B5EF4-FFF2-40B4-BE49-F238E27FC236}">
                <a16:creationId xmlns:a16="http://schemas.microsoft.com/office/drawing/2014/main" id="{5E141F47-A60D-4C6D-B999-CBC0D428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Update</a:t>
            </a:r>
          </a:p>
        </p:txBody>
      </p:sp>
      <p:sp>
        <p:nvSpPr>
          <p:cNvPr id="32" name="step-copy-5">
            <a:extLst xmlns:a="http://schemas.openxmlformats.org/drawingml/2006/main">
              <a:ext uri="{FF2B5EF4-FFF2-40B4-BE49-F238E27FC236}">
                <a16:creationId xmlns:a16="http://schemas.microsoft.com/office/drawing/2014/main" id="{AC7E91DD-C2B7-4B14-94B0-3F575490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結果回寫 spec 與限制</a:t>
            </a:r>
          </a:p>
        </p:txBody>
      </p:sp>
    </p:spTree>
    <p:extLst>
      <p:ext uri="{BB962C8B-B14F-4D97-AF65-F5344CB8AC3E}">
        <p14:creationId xmlns:p14="http://schemas.microsoft.com/office/powerpoint/2010/main" val="3202264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B8266F0-49EE-4B3E-9B61-59D160DC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PROMPT VS SPEC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8AF1CBB-8311-4458-97A3-6FBB3D09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是一次指令；spec 是可以版本控制的共同記憶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497A300-0CD1-4BE1-AE74-4CD017668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7/40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06D91668-EE7A-4D2B-AFB8-8AFD372E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714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4ABF320E-9082-4D4A-943C-9DE163CC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面向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11F8FDF6-0908-43F6-95AE-E418B963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85950"/>
            <a:ext cx="4095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34603AAD-F43F-4376-B9C8-E5E7CC33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000250"/>
            <a:ext cx="3867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E404AF99-33C7-4DF8-909D-14908F08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885950"/>
            <a:ext cx="4572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66AD9390-821C-4512-9AE3-2D3FEA55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00250"/>
            <a:ext cx="434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Spec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1C111800-842F-4CE5-A165-3C3B0976F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7145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760B4D13-BF18-47BE-B737-FF4F7E7F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485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生命週期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31D8751C-B3C8-4C28-9A0E-00AF833D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05050"/>
            <a:ext cx="409575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68564377-9DA3-4312-9EC0-4FE73281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00300"/>
            <a:ext cx="3867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一次對話中的指令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79BAF770-04DB-4EDF-BB5E-16D3EA62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05050"/>
            <a:ext cx="45720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0C84B7D8-62B5-43A8-BB4B-B1B6618C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00300"/>
            <a:ext cx="4343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跟 repo 一起演進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1E795DF5-39BC-460B-9B01-A659E22F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7145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1FFEE024-2F74-4539-9201-AED2542F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38475"/>
            <a:ext cx="1485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可審查性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D9DD0170-C7E7-4FF6-B269-703F0B82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43225"/>
            <a:ext cx="409575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C63C1BA4-CDB4-4F3B-A18B-268C003A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38475"/>
            <a:ext cx="3867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容易散在聊天紀錄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C38B8740-3D2E-47AE-A5C8-F9EA06A6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43225"/>
            <a:ext cx="45720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77378B69-C01C-448F-AF20-7C87E722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38475"/>
            <a:ext cx="4343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可被 reviewer、助教、agent 反覆檢查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E16D9C0E-13A1-4FAB-A47C-961658C0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81400"/>
            <a:ext cx="17145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3B939593-23D8-4163-AAC2-88E942B1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1485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測試關係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438C629F-5AE6-45E6-99E5-9A0747A1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581400"/>
            <a:ext cx="409575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F6B0A3FE-7D89-4AEA-90CB-3FD0F699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676650"/>
            <a:ext cx="3867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常只描述想要什麼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FB225455-66DD-49E8-8A5F-8B42DC73B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581400"/>
            <a:ext cx="45720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162B0788-FAB0-488D-ACF9-230CCBD0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76650"/>
            <a:ext cx="4343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明確列出 acceptance criteria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BCCB66DA-41D6-4478-A7E7-2C396052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9575"/>
            <a:ext cx="17145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0DFDA93B-3217-4F94-A8D1-181E06FB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14825"/>
            <a:ext cx="1485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失敗處理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B5266BB2-FAEA-4DC1-9160-D052D067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19575"/>
            <a:ext cx="409575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620D3BC1-30A3-4C21-9F63-EE095BFE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14825"/>
            <a:ext cx="3867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常靠 agent 自己補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AB73C01C-43D7-448D-8B45-FFCDE92B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219575"/>
            <a:ext cx="4572000" cy="638175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9E478A56-CABC-4D77-A135-95ED53A4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314825"/>
            <a:ext cx="4343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先定義錯誤、not found、human review</a:t>
            </a:r>
          </a:p>
        </p:txBody>
      </p:sp>
    </p:spTree>
    <p:extLst>
      <p:ext uri="{BB962C8B-B14F-4D97-AF65-F5344CB8AC3E}">
        <p14:creationId xmlns:p14="http://schemas.microsoft.com/office/powerpoint/2010/main" val="2757183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33B5100-2C0B-4AD4-9900-5BE6C9D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SPEC ANATOMY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3B1229E-1DA9-4F09-8390-8D9B852A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生醫工具的最小 SPEC.md 要回答九個問題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3035840-C262-454F-BBF5-DCB0D56A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8/40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EDD3CA41-97E2-49C5-A3E6-59F46D79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428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438D4A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9855875B-CCD8-4487-80FB-793A9321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F65A9B67-D8FB-4291-96A5-7634DFCE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885950"/>
            <a:ext cx="4857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438D4A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6F7393F4-227A-45A2-9BCE-1E60D699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000250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要寫清楚什麼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8A567603-FE7A-4575-896C-9051A3FB8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85950"/>
            <a:ext cx="4095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438D4A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4A4BCAE3-15FF-4BE7-B01E-CF9E8BDB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000250"/>
            <a:ext cx="3867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常見錯誤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AF0D8EBC-9CE1-44A9-980C-7E8E70ED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428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CF5F319F-4A10-41AF-8F6A-668AB861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20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Goal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47754F12-EDD3-4469-B58F-91D1645D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305050"/>
            <a:ext cx="4857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E40566B8-1F48-4D71-9577-2920914D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003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工具要解決的研究任務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43CF1C7B-C3B9-4AE2-8125-D4F3E4C1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05050"/>
            <a:ext cx="4095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B9B05260-0068-4710-9DBF-D1A012BD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0030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 exploratory 和 production 混在一起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76193391-0259-443F-87FA-83E793BB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428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2F6E62AB-4CAC-47B7-9A64-CA59B0BA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20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Inputs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0891F56F-397D-4F66-82BF-AF858AF2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857500"/>
            <a:ext cx="4857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C9E61CFB-DD73-4501-A105-3770C24F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5275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格式、必填欄位、版本、資料源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836585DF-95BE-4D5B-828A-F0DC764C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57500"/>
            <a:ext cx="4095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DD43F1BD-363E-400A-8F80-9E266EAE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5275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只寫檔名，不寫 schema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752874DA-5E0C-4861-822C-4CFC48C0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428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A00243BC-40EE-465D-9C16-898448D3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20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Outputs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72C1E0B4-18D9-4F97-B014-26292FD8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409950"/>
            <a:ext cx="4857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C5A53FFF-FCAB-4248-8DC4-C93D5555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5052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欄位、型別、允許值、排序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936046FA-D8CC-4582-8E3B-ED56A013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09950"/>
            <a:ext cx="4095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EF2F058F-BDB5-4934-8021-F7523788D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50520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輸出看起來整齊但不能驗證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38566044-7633-4149-9EC2-57DF3124C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1428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3DC34387-296A-4875-8AE7-15A47C50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20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Boundaries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E2E9AF27-D8FA-4305-B6FB-7B401F9A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62400"/>
            <a:ext cx="4857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AD736677-49F9-4164-B7C8-0759D586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5765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物種、疾病、日期、資料庫、隱私限制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C87421EB-9FA6-499D-BEAD-9564C30A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62400"/>
            <a:ext cx="4095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23DFB93A-3798-4C12-AC7C-C8845704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agent 自行擴大範圍</a:t>
            </a:r>
          </a:p>
        </p:txBody>
      </p:sp>
      <p:sp>
        <p:nvSpPr>
          <p:cNvPr id="34" name="cell-4-0">
            <a:extLst xmlns:a="http://schemas.openxmlformats.org/drawingml/2006/main">
              <a:ext uri="{FF2B5EF4-FFF2-40B4-BE49-F238E27FC236}">
                <a16:creationId xmlns:a16="http://schemas.microsoft.com/office/drawing/2014/main" id="{3078F72B-5EF9-4FD7-B318-7BC27198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428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5" name="cell-text-4-0">
            <a:extLst xmlns:a="http://schemas.openxmlformats.org/drawingml/2006/main">
              <a:ext uri="{FF2B5EF4-FFF2-40B4-BE49-F238E27FC236}">
                <a16:creationId xmlns:a16="http://schemas.microsoft.com/office/drawing/2014/main" id="{538870B6-140C-47D6-9288-24395996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200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36" name="cell-4-1">
            <a:extLst xmlns:a="http://schemas.openxmlformats.org/drawingml/2006/main">
              <a:ext uri="{FF2B5EF4-FFF2-40B4-BE49-F238E27FC236}">
                <a16:creationId xmlns:a16="http://schemas.microsoft.com/office/drawing/2014/main" id="{A383A16E-ADC8-4E4F-8C11-9D0E2B5A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14850"/>
            <a:ext cx="4857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7" name="cell-text-4-1">
            <a:extLst xmlns:a="http://schemas.openxmlformats.org/drawingml/2006/main">
              <a:ext uri="{FF2B5EF4-FFF2-40B4-BE49-F238E27FC236}">
                <a16:creationId xmlns:a16="http://schemas.microsoft.com/office/drawing/2014/main" id="{E9DECAAA-92CB-4659-88E4-A96069B6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101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fixtures、golden outputs、命令、通過標準</a:t>
            </a:r>
          </a:p>
        </p:txBody>
      </p:sp>
      <p:sp>
        <p:nvSpPr>
          <p:cNvPr id="38" name="cell-4-2">
            <a:extLst xmlns:a="http://schemas.openxmlformats.org/drawingml/2006/main">
              <a:ext uri="{FF2B5EF4-FFF2-40B4-BE49-F238E27FC236}">
                <a16:creationId xmlns:a16="http://schemas.microsoft.com/office/drawing/2014/main" id="{B6A1C866-B86B-49EB-8B33-839C30D9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14850"/>
            <a:ext cx="4095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9" name="cell-text-4-2">
            <a:extLst xmlns:a="http://schemas.openxmlformats.org/drawingml/2006/main">
              <a:ext uri="{FF2B5EF4-FFF2-40B4-BE49-F238E27FC236}">
                <a16:creationId xmlns:a16="http://schemas.microsoft.com/office/drawing/2014/main" id="{F2F6DC2D-E1C0-49AE-9011-EAE14CF6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61010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只說 manually checked</a:t>
            </a:r>
          </a:p>
        </p:txBody>
      </p:sp>
    </p:spTree>
    <p:extLst>
      <p:ext uri="{BB962C8B-B14F-4D97-AF65-F5344CB8AC3E}">
        <p14:creationId xmlns:p14="http://schemas.microsoft.com/office/powerpoint/2010/main" val="8684442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AF14D83-38BA-4A9F-BE34-8FC755AE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CLARIFICATION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3DD1498-EDCB-4D10-81E1-34D63B9B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模糊需求要先變成問題清單，不要直接變成 code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A632FB5-E5E6-4B84-9F28-5440587A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9/40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C699079B-4261-432D-80F8-98D93F91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Vague request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CC1F1755-F393-44C7-B0A5-35B524F4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E5B2322D-D8ED-465F-9692-9A94CAF1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幫我做一個工具，輸入一些基因，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然後整理跟癌症和藥物有關的資料。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最好可以輸出成表格。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5EF2FA4E-C4A7-47BB-8738-DAC2521F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BB0DDCB4-D204-4349-B3A6-F410BEB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先問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57AE0C2B-B03E-4ABB-9688-93F1C923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人類還是小鼠？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癌症範圍是 pan-cancer 還是單癌種？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證據來源允許哪些資料庫？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找不到資料要怎麼寫？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輸出欄位和驗收標準是什麼？</a:t>
            </a:r>
          </a:p>
        </p:txBody>
      </p:sp>
    </p:spTree>
    <p:extLst>
      <p:ext uri="{BB962C8B-B14F-4D97-AF65-F5344CB8AC3E}">
        <p14:creationId xmlns:p14="http://schemas.microsoft.com/office/powerpoint/2010/main" val="13027176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174E3CC-20A8-4EF6-9B8B-2A3F7435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EARS STYLE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547F884-E52D-47D3-AD58-57FC118A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可測試需求要有觸發條件、行為與可檢查結果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876054B-D76A-4652-A9A1-624A8706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10/40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7D6E7E24-E101-45C5-9D76-2A297313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Requirement pattern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3DBD8881-12E5-468E-84C2-9C0A348A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A0608092-7C52-4755-B366-C28C946B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WHEN the input row contains an invalid gene symbol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THEN the tool SHALL mark status = "invalid_symbol"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preserve the original input string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NOT infer a replacement symbol without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WHEN no PubMed evidence is found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THEN the tool SHALL set evidence_status = "not_found"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leave pmid empty.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6B90D86E-D287-47AE-802C-189BDD78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8178DC22-36B0-4083-9993-EC0F9BE3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好處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CB99B165-D2D2-4C77-8916-5934D0D9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迫使需求具體化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直接轉成測試案例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降低 agent 猜測空間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biomedical edge cases</a:t>
            </a:r>
          </a:p>
        </p:txBody>
      </p:sp>
    </p:spTree>
    <p:extLst>
      <p:ext uri="{BB962C8B-B14F-4D97-AF65-F5344CB8AC3E}">
        <p14:creationId xmlns:p14="http://schemas.microsoft.com/office/powerpoint/2010/main" val="12127417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4EE456A-66BC-45B9-9256-E3864421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SPEC CHECKPOINTS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312B3BF-8C0E-4D8E-8DCB-90FC88DD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每個工具都要先定義四個檢查點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0480D31-E5A2-4D72-87E8-DC548883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11/40</a:t>
            </a:r>
          </a:p>
        </p:txBody>
      </p:sp>
      <p:sp>
        <p:nvSpPr>
          <p:cNvPr id="4" name="card-0">
            <a:extLst xmlns:a="http://schemas.openxmlformats.org/drawingml/2006/main">
              <a:ext uri="{FF2B5EF4-FFF2-40B4-BE49-F238E27FC236}">
                <a16:creationId xmlns:a16="http://schemas.microsoft.com/office/drawing/2014/main" id="{DA54FCF0-FF8A-412D-A932-BA4E2481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card-title-0">
            <a:extLst xmlns:a="http://schemas.openxmlformats.org/drawingml/2006/main">
              <a:ext uri="{FF2B5EF4-FFF2-40B4-BE49-F238E27FC236}">
                <a16:creationId xmlns:a16="http://schemas.microsoft.com/office/drawing/2014/main" id="{01C94318-A19E-4285-90CF-1C14E827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622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Input</a:t>
            </a:r>
          </a:p>
        </p:txBody>
      </p:sp>
      <p:sp>
        <p:nvSpPr>
          <p:cNvPr id="6" name="card-copy-0">
            <a:extLst xmlns:a="http://schemas.openxmlformats.org/drawingml/2006/main">
              <a:ext uri="{FF2B5EF4-FFF2-40B4-BE49-F238E27FC236}">
                <a16:creationId xmlns:a16="http://schemas.microsoft.com/office/drawing/2014/main" id="{BEDDAD0F-F360-4B6E-B8B3-EBD65FB4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05150"/>
            <a:ext cx="2457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接受什麼、拒絕什麼、如何報錯、資料版本如何記錄。</a:t>
            </a:r>
          </a:p>
        </p:txBody>
      </p:sp>
      <p:sp>
        <p:nvSpPr>
          <p:cNvPr id="7" name="card-1">
            <a:extLst xmlns:a="http://schemas.openxmlformats.org/drawingml/2006/main">
              <a:ext uri="{FF2B5EF4-FFF2-40B4-BE49-F238E27FC236}">
                <a16:creationId xmlns:a16="http://schemas.microsoft.com/office/drawing/2014/main" id="{2EB13195-FDA2-439D-AB86-6D4C14E5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8" name="card-title-1">
            <a:extLst xmlns:a="http://schemas.openxmlformats.org/drawingml/2006/main">
              <a:ext uri="{FF2B5EF4-FFF2-40B4-BE49-F238E27FC236}">
                <a16:creationId xmlns:a16="http://schemas.microsoft.com/office/drawing/2014/main" id="{864A5311-49A1-4970-A28E-7A9BA430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sp>
        <p:nvSpPr>
          <p:cNvPr id="9" name="card-copy-1">
            <a:extLst xmlns:a="http://schemas.openxmlformats.org/drawingml/2006/main">
              <a:ext uri="{FF2B5EF4-FFF2-40B4-BE49-F238E27FC236}">
                <a16:creationId xmlns:a16="http://schemas.microsoft.com/office/drawing/2014/main" id="{516A2DB3-770D-4D90-9ECA-1180C359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05150"/>
            <a:ext cx="2457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欄位、型別、允許值、空值規則與排序。</a:t>
            </a:r>
          </a:p>
        </p:txBody>
      </p:sp>
      <p:sp>
        <p:nvSpPr>
          <p:cNvPr id="10" name="card-2">
            <a:extLst xmlns:a="http://schemas.openxmlformats.org/drawingml/2006/main">
              <a:ext uri="{FF2B5EF4-FFF2-40B4-BE49-F238E27FC236}">
                <a16:creationId xmlns:a16="http://schemas.microsoft.com/office/drawing/2014/main" id="{5F64BEE4-65DF-40D6-B9FF-23EC8275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11" name="card-title-2">
            <a:extLst xmlns:a="http://schemas.openxmlformats.org/drawingml/2006/main">
              <a:ext uri="{FF2B5EF4-FFF2-40B4-BE49-F238E27FC236}">
                <a16:creationId xmlns:a16="http://schemas.microsoft.com/office/drawing/2014/main" id="{7DC2B13B-DB3F-4DE1-9243-7F8C13FA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622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12" name="card-copy-2">
            <a:extLst xmlns:a="http://schemas.openxmlformats.org/drawingml/2006/main">
              <a:ext uri="{FF2B5EF4-FFF2-40B4-BE49-F238E27FC236}">
                <a16:creationId xmlns:a16="http://schemas.microsoft.com/office/drawing/2014/main" id="{0B135C8A-F31C-437F-B87E-0B19BA34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05150"/>
            <a:ext cx="2457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 fixtures、golden file、unit tests、not found cases。</a:t>
            </a:r>
          </a:p>
        </p:txBody>
      </p:sp>
    </p:spTree>
    <p:extLst>
      <p:ext uri="{BB962C8B-B14F-4D97-AF65-F5344CB8AC3E}">
        <p14:creationId xmlns:p14="http://schemas.microsoft.com/office/powerpoint/2010/main" val="59525588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EF1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2F94EC3-E5E7-4E0B-AE57-327EC723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 1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D0147ADE-3E15-41E7-B866-6D766EC2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PubMed evidence extractor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BF1EDABB-C448-4E3D-BD69-B18D6E27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8667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第一個例子聚焦 evidence extraction：重點不是摘要得漂亮，而是每個 claim 都能追到 PMID 與來源欄位。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6C0F1A9F-143D-4D8D-B233-13C857C2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12/40</a:t>
            </a:r>
          </a:p>
        </p:txBody>
      </p:sp>
    </p:spTree>
    <p:extLst>
      <p:ext uri="{BB962C8B-B14F-4D97-AF65-F5344CB8AC3E}">
        <p14:creationId xmlns:p14="http://schemas.microsoft.com/office/powerpoint/2010/main" val="19550065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AA2AE57-53D1-4F33-BBE2-A9A50EC1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EXTRACTOR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C6E9612-B725-41C4-B3DC-454AF72B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把『整理文獻』改成可驗證需求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82336C9-C6D2-414A-A37B-56D52220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13/40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92A91E0A-7622-41C7-B818-11D297D4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Before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4C188B73-EBE9-4450-B59E-D6E4F471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70024AE5-944C-470E-B7F6-56647FF2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請幫我搜尋 PubMed，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整理 EGFR 跟肺癌治療的文獻，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做成 evidence table。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3B297BD8-B88A-499B-9C3F-11ED1738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81920FF5-CD58-47F3-AE31-99573E4F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After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669586A5-4CF9-4792-A8EB-6540A515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輸入：gene、disease、query_date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來源：PubMed only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輸出：PMID、title、study_type、claim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不確定：寫 needs_review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找不到：寫 not_found</a:t>
            </a:r>
          </a:p>
        </p:txBody>
      </p:sp>
    </p:spTree>
    <p:extLst>
      <p:ext uri="{BB962C8B-B14F-4D97-AF65-F5344CB8AC3E}">
        <p14:creationId xmlns:p14="http://schemas.microsoft.com/office/powerpoint/2010/main" val="173278806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D9C0C95-C4B7-4B41-A452-5D94D99A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INPUTS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FFDBC2C-DA1F-4979-B407-3D3E5D4D3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 input spec 要限制搜尋範圍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B9A5CDD-F945-4A05-924C-A56CE903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14/40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6CF68C1A-BDE6-4770-810D-8C764CFB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6192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1C4EA6C5-7E17-4BEA-889D-16A531E9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E2B4B07F-9109-46E8-A511-CFB5948B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885950"/>
            <a:ext cx="16192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9177D137-57B3-4C68-A523-169EDF4C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0025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型別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53D6118B-077D-4F9B-B0A7-49C9EEFF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885950"/>
            <a:ext cx="7143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D3439555-903E-4F1A-B512-39631E551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000250"/>
            <a:ext cx="691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189191D4-D834-4290-84DF-DFC96585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8587975D-400F-41F9-A083-BDE27260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F61457DD-2BA2-4670-BD2D-E9DF049A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050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CEC8A3E6-CE81-48E3-9390-674F9036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003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93BF2D67-238B-4C52-B560-9FDA9589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305050"/>
            <a:ext cx="7143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4684F03A-8704-4625-BDEF-ECCA207F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691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HGNC approved symbol；原始輸入另存 original_gene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A176C57A-1205-457A-9409-B32F0900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E8FD8968-474A-4757-86A6-81E41985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disease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9F8AB6E1-7E6E-4D74-BF40-51D8E9FA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575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7A32CB1B-EB81-4157-B37B-F36E0F5D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9527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72AEBBB0-3C35-457E-9A00-5DFECCAD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857500"/>
            <a:ext cx="7143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EA158840-BC8B-44BE-9187-C45130C9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952750"/>
            <a:ext cx="691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使用指定疾病詞，不讓 agent 自行擴大癌種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5533024D-B6D6-44D7-BFC8-4482B2F2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E6525ACE-19F0-4FEE-930E-805EBB90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query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F4D5CE38-B723-4A90-A1BD-85BD34CA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099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92D0EEBF-8E7D-426E-96D4-FD917B88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5052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ADA975AE-EAC4-40FF-9A41-2D9E0A66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409950"/>
            <a:ext cx="7143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ECCCDD6B-DFB3-436D-A46A-3392CCA4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05200"/>
            <a:ext cx="691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可由工具生成，但必須保存實際搜尋字串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4FEC148E-362E-426B-B306-E50087DF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E6A7B3EA-8682-4FEE-9428-EFEAAA98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max_records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EF64F574-D4F7-4809-A871-ECFD1889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9624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E4244DE6-345C-4A83-BD5E-B945F0BF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576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integer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CA2D3CE3-67BB-4612-9470-1CAF9BC6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62400"/>
            <a:ext cx="7143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E23A4EFA-DA1D-4837-A717-8E540B4B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57650"/>
            <a:ext cx="691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20，上限 100，避免不可審查輸出</a:t>
            </a:r>
          </a:p>
        </p:txBody>
      </p:sp>
      <p:sp>
        <p:nvSpPr>
          <p:cNvPr id="34" name="cell-4-0">
            <a:extLst xmlns:a="http://schemas.openxmlformats.org/drawingml/2006/main">
              <a:ext uri="{FF2B5EF4-FFF2-40B4-BE49-F238E27FC236}">
                <a16:creationId xmlns:a16="http://schemas.microsoft.com/office/drawing/2014/main" id="{C9F78F90-35F1-4B59-999E-B8B8DFE6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5" name="cell-text-4-0">
            <a:extLst xmlns:a="http://schemas.openxmlformats.org/drawingml/2006/main">
              <a:ext uri="{FF2B5EF4-FFF2-40B4-BE49-F238E27FC236}">
                <a16:creationId xmlns:a16="http://schemas.microsoft.com/office/drawing/2014/main" id="{D15417F9-C9D9-4BBE-AC60-E942D1F3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query_date</a:t>
            </a:r>
          </a:p>
        </p:txBody>
      </p:sp>
      <p:sp>
        <p:nvSpPr>
          <p:cNvPr id="36" name="cell-4-1">
            <a:extLst xmlns:a="http://schemas.openxmlformats.org/drawingml/2006/main">
              <a:ext uri="{FF2B5EF4-FFF2-40B4-BE49-F238E27FC236}">
                <a16:creationId xmlns:a16="http://schemas.microsoft.com/office/drawing/2014/main" id="{79A3E1A5-C33F-42E3-82E2-9052615C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148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7" name="cell-text-4-1">
            <a:extLst xmlns:a="http://schemas.openxmlformats.org/drawingml/2006/main">
              <a:ext uri="{FF2B5EF4-FFF2-40B4-BE49-F238E27FC236}">
                <a16:creationId xmlns:a16="http://schemas.microsoft.com/office/drawing/2014/main" id="{58AD039B-C29C-4CC7-9B22-423418FA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6101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date</a:t>
            </a:r>
          </a:p>
        </p:txBody>
      </p:sp>
      <p:sp>
        <p:nvSpPr>
          <p:cNvPr id="38" name="cell-4-2">
            <a:extLst xmlns:a="http://schemas.openxmlformats.org/drawingml/2006/main">
              <a:ext uri="{FF2B5EF4-FFF2-40B4-BE49-F238E27FC236}">
                <a16:creationId xmlns:a16="http://schemas.microsoft.com/office/drawing/2014/main" id="{B713F4B4-5369-451C-BB74-E4A067DC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14850"/>
            <a:ext cx="7143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9" name="cell-text-4-2">
            <a:extLst xmlns:a="http://schemas.openxmlformats.org/drawingml/2006/main">
              <a:ext uri="{FF2B5EF4-FFF2-40B4-BE49-F238E27FC236}">
                <a16:creationId xmlns:a16="http://schemas.microsoft.com/office/drawing/2014/main" id="{CD372DFE-9F34-4F3F-A95E-DEC3AE67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10100"/>
            <a:ext cx="691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保存搜尋日期，讓結果可重現</a:t>
            </a:r>
          </a:p>
        </p:txBody>
      </p:sp>
    </p:spTree>
    <p:extLst>
      <p:ext uri="{BB962C8B-B14F-4D97-AF65-F5344CB8AC3E}">
        <p14:creationId xmlns:p14="http://schemas.microsoft.com/office/powerpoint/2010/main" val="6696348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F868159-D189-44E1-AA2E-9FCBD2A5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OUTPUT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1427AC6-8AFF-429C-8255-4511E01B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 table 必須把文獻證據和模型推測分開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A099E5E-620F-4FD7-B9E0-1B4AEA15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15/40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B30DD82D-A689-4291-B266-EAF4D573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01DB468D-1121-4D13-9856-5D19AF89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CF98C824-14A4-462A-84D5-8D790897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pmid: string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title: string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year: integer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journal: string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entity: gene | disease | drug | variant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claim: string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evidence_type: clinical | cohort | preclinical | review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evidence_status: supported | conflicting | not_found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model_inference: string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review_status: pass | needs_review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27D45A2F-2574-4FF7-BC69-4D460A9D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C89FAECC-98DF-4F98-A802-2043675B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核心規則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FDA94024-5CAC-4C81-946F-483607B3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不得編造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claim 只寫來源支持的內容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推測放 model_inference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review_status 可擋高風險輸出</a:t>
            </a:r>
          </a:p>
        </p:txBody>
      </p:sp>
    </p:spTree>
    <p:extLst>
      <p:ext uri="{BB962C8B-B14F-4D97-AF65-F5344CB8AC3E}">
        <p14:creationId xmlns:p14="http://schemas.microsoft.com/office/powerpoint/2010/main" val="82448861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E6A635C-57F6-4003-B9BD-03E0C4DF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PUBMED BOUNDARIES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9087042-FF92-4622-961F-E3461447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的邊界要直接寫進 spec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FF314D1-EA57-4213-BACB-D2E74F95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16/40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C31F3F94-958A-41F9-9A74-55088184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6192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726920E7-AB3A-45FA-96D7-145451A8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邊界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6337B087-3E9F-4BF0-AE66-9F5B91E8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885950"/>
            <a:ext cx="4953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CEF9FF5F-92AB-4850-A6A8-C1450575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0025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1F92B273-238C-469A-BF97-310425E0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885950"/>
            <a:ext cx="3810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96395C1F-DFE4-4D2A-B079-509A66A5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失敗時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95866C0B-CC5D-46C1-A851-05D12D88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6DED0C36-2FC8-4EAC-B2C3-F17B9E54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0B520A13-BAA1-469B-9E67-AC6AFE23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0505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DF8CFB5D-D841-4547-83D6-6A63692A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0030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只使用 PubMed metadata 或明確提供的 abstract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4F84F9FB-38E7-4C15-BD9F-129D240D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0505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0915BE7D-C56E-457C-9A9C-2F6F9D62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0030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source_missing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7B45F738-79C0-486D-BAB6-BE5F6EF92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A4C6CFC5-1C22-4E13-8E99-752040C2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DA3C2A51-30B1-466C-9D25-72108A51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5750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AD0B342D-96CC-42E9-B739-B96303A9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95275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不得產生治療建議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1F4E5EA7-77C0-433F-8A61-CE0FB42D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85750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D9C59CF1-8C49-441F-AA15-A834FCDD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5275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needs_human_review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9F588E31-E2F6-4BCB-A255-C29A0E38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8568D6E3-5E19-4CA4-A411-4D7F4B0B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Study type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A8D27A6E-0A0C-4158-92C6-143BD9A6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0995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F7152F77-781A-4A93-89A6-CA1D9552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50520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無法判斷時不得猜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775B7130-90A6-4616-8093-4109CF82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0995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AEE9274C-975F-4913-B670-033B2A80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0520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unknown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C95D10FD-477C-493B-8378-E71C458D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28344044-3CC2-483E-9639-9202430E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Conflict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530C1C6B-760E-4324-A3DA-FE8AE642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96240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FB78FDEC-2AD8-48F1-B160-75B0A002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5765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相反結論要分列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4B9CD457-E556-4F85-8505-F4B5099A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0A001590-52FA-41E5-B446-75A92233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5765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conflicting</a:t>
            </a:r>
          </a:p>
        </p:txBody>
      </p:sp>
      <p:sp>
        <p:nvSpPr>
          <p:cNvPr id="34" name="cell-4-0">
            <a:extLst xmlns:a="http://schemas.openxmlformats.org/drawingml/2006/main">
              <a:ext uri="{FF2B5EF4-FFF2-40B4-BE49-F238E27FC236}">
                <a16:creationId xmlns:a16="http://schemas.microsoft.com/office/drawing/2014/main" id="{B730D312-DDCF-4717-85A6-1DFF9D24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5" name="cell-text-4-0">
            <a:extLst xmlns:a="http://schemas.openxmlformats.org/drawingml/2006/main">
              <a:ext uri="{FF2B5EF4-FFF2-40B4-BE49-F238E27FC236}">
                <a16:creationId xmlns:a16="http://schemas.microsoft.com/office/drawing/2014/main" id="{518CA7F5-4205-46E4-93D2-3E4FCFD8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 evidence</a:t>
            </a:r>
          </a:p>
        </p:txBody>
      </p:sp>
      <p:sp>
        <p:nvSpPr>
          <p:cNvPr id="36" name="cell-4-1">
            <a:extLst xmlns:a="http://schemas.openxmlformats.org/drawingml/2006/main">
              <a:ext uri="{FF2B5EF4-FFF2-40B4-BE49-F238E27FC236}">
                <a16:creationId xmlns:a16="http://schemas.microsoft.com/office/drawing/2014/main" id="{4FA49F97-155A-4C0A-9854-22E6E887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1485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7" name="cell-text-4-1">
            <a:extLst xmlns:a="http://schemas.openxmlformats.org/drawingml/2006/main">
              <a:ext uri="{FF2B5EF4-FFF2-40B4-BE49-F238E27FC236}">
                <a16:creationId xmlns:a16="http://schemas.microsoft.com/office/drawing/2014/main" id="{BB85AEE1-DBA7-4F2B-A1C0-0B29CEBD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61010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不得補常識或模型記憶</a:t>
            </a:r>
          </a:p>
        </p:txBody>
      </p:sp>
      <p:sp>
        <p:nvSpPr>
          <p:cNvPr id="38" name="cell-4-2">
            <a:extLst xmlns:a="http://schemas.openxmlformats.org/drawingml/2006/main">
              <a:ext uri="{FF2B5EF4-FFF2-40B4-BE49-F238E27FC236}">
                <a16:creationId xmlns:a16="http://schemas.microsoft.com/office/drawing/2014/main" id="{A3A5F514-E763-4E72-8C3F-32328A24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1485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9" name="cell-text-4-2">
            <a:extLst xmlns:a="http://schemas.openxmlformats.org/drawingml/2006/main">
              <a:ext uri="{FF2B5EF4-FFF2-40B4-BE49-F238E27FC236}">
                <a16:creationId xmlns:a16="http://schemas.microsoft.com/office/drawing/2014/main" id="{3743B058-6DE5-492B-B6A6-764142FF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61010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not_found</a:t>
            </a:r>
          </a:p>
        </p:txBody>
      </p:sp>
    </p:spTree>
    <p:extLst>
      <p:ext uri="{BB962C8B-B14F-4D97-AF65-F5344CB8AC3E}">
        <p14:creationId xmlns:p14="http://schemas.microsoft.com/office/powerpoint/2010/main" val="3885110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ABED21B-28ED-4645-AA97-45406A08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PUBMED VALIDATION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1EA7931-520B-4CDD-AB52-363C1CE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 acceptance criteria 要能用 fixtures 測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71D7AE3-F54A-43CC-AC41-C8E478B4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17/40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C0D59B4C-9041-483A-8F41-4586CD8A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3340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給定含 3 筆 PMID 的 fixture，輸出列數必須等於 fixture record 數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每列 PMID 必須存在且不得重複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`not_found` case 不得有 claim 或 model-generated PMID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任何 therapeutic implication 都必須標記 `needs_review`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6680ACA6-F85F-4C1B-B4A5-0D60491B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79BB23D6-2FEC-48C5-87F5-4470D883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測試命令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C8B63B8F-85B3-4368-8DFB-FD99D4F12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30099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pytest -q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 validation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golden CSV diff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existence check</a:t>
            </a:r>
          </a:p>
        </p:txBody>
      </p:sp>
    </p:spTree>
    <p:extLst>
      <p:ext uri="{BB962C8B-B14F-4D97-AF65-F5344CB8AC3E}">
        <p14:creationId xmlns:p14="http://schemas.microsoft.com/office/powerpoint/2010/main" val="138179368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EF1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677D253-709A-4175-ADA5-A1E83B6B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EXAMPLE 2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3AB898FB-6389-42D2-A8A8-904362D6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Gene list annotation tool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5DE82BBD-1ED1-42C9-88C0-D9E7C713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8667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第二個例子聚焦 entity normalization：gene symbol 看起來簡單，但物種、舊名與 synonym 會讓 agent 很容易過度推論。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3C81629D-8862-447F-882B-81F4C70A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18/40</a:t>
            </a:r>
          </a:p>
        </p:txBody>
      </p:sp>
    </p:spTree>
    <p:extLst>
      <p:ext uri="{BB962C8B-B14F-4D97-AF65-F5344CB8AC3E}">
        <p14:creationId xmlns:p14="http://schemas.microsoft.com/office/powerpoint/2010/main" val="62553700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38C48E3-159B-4AEB-BE9F-066B73DB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 INPUTS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BA72BB4-4224-4E5D-B4C3-955D979A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annotation 的 input spec 必須保留原始值與物種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139E5F8-270A-4705-BE36-561A7716D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19/40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B4A0A2EC-F7BA-478E-B4F9-4D772077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809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E8F88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E0238833-0E87-4BE6-846B-4E10C2E3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24F4BCBC-39F5-43D8-B2F9-B20B45CC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885950"/>
            <a:ext cx="4953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E8F88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0F48DDB8-50E2-4FBC-AC5E-0A50594E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0025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9032E10C-4780-4004-894E-6DCA5757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885950"/>
            <a:ext cx="3619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E8F88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F4A8AF6B-10F3-4502-A07B-651AB43E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00250"/>
            <a:ext cx="3390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原因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49DC03EA-1673-4CB4-A8B5-E5029B23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1EE71566-DDDA-4E5D-9A63-B4892CD6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gene_input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3B8E2A5A-3623-4436-AFF2-A92FBE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0505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4B32DBBC-4D3F-4299-ABB1-5B0A7FB8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0030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保留原始字串，不可覆蓋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5A47BFBE-7C7C-4948-8D37-138FB023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05050"/>
            <a:ext cx="3619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FE887555-B205-45B1-B500-41264DA1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0030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review 時需要追溯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38CFB6FB-6473-4518-B974-E4B5DFCE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9481B189-EAF4-4423-96A1-32450EEB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species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F0C2CEB4-3CC9-4637-84B8-C860342A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5750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5D527BBB-4779-4BE7-AA74-A6B78952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5275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human；可接受 mouse 但要明示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F43F77E8-E408-4290-B23A-1814C780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857500"/>
            <a:ext cx="3619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EEF00292-F2C2-44C0-B622-050592F7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527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避免跨物種混淆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94DCEBCE-00F0-4451-B4F4-52C701DE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5CA5CD01-D37C-48C1-BC9F-34846AE8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E2A656CB-0CFD-4FB1-9DB7-FB3249AE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40995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0AAEA50E-6E54-4EE1-987D-8F3793E6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0520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HGNC / NCBI Gene / Ensembl 擇一或多個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5978A010-53D9-490A-946D-BAD73CFA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409950"/>
            <a:ext cx="3619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897F484D-5629-4411-81CB-F8765444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0520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資料庫版本影響結果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77161694-9B1A-4548-A0D4-C56CC2F2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5380DE72-49E2-412B-946F-14D3693A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allow_synonym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1811C086-90B0-4A64-AD18-6783CD25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96240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3444498A-8472-4B16-BD29-68E6AB5F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5765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false；若 true 要列出 evidence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44CF527B-2C71-4300-9D3C-42C344FA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962400"/>
            <a:ext cx="3619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D8398114-3FC3-4A35-B8BB-05407D2A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576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避免自行替換</a:t>
            </a:r>
          </a:p>
        </p:txBody>
      </p:sp>
      <p:sp>
        <p:nvSpPr>
          <p:cNvPr id="34" name="cell-4-0">
            <a:extLst xmlns:a="http://schemas.openxmlformats.org/drawingml/2006/main">
              <a:ext uri="{FF2B5EF4-FFF2-40B4-BE49-F238E27FC236}">
                <a16:creationId xmlns:a16="http://schemas.microsoft.com/office/drawing/2014/main" id="{3052AE50-8990-44D8-A8BA-7EEA901D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5" name="cell-text-4-0">
            <a:extLst xmlns:a="http://schemas.openxmlformats.org/drawingml/2006/main">
              <a:ext uri="{FF2B5EF4-FFF2-40B4-BE49-F238E27FC236}">
                <a16:creationId xmlns:a16="http://schemas.microsoft.com/office/drawing/2014/main" id="{80CF79CA-A16B-4BDE-BA63-B712E599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batch_id</a:t>
            </a:r>
          </a:p>
        </p:txBody>
      </p:sp>
      <p:sp>
        <p:nvSpPr>
          <p:cNvPr id="36" name="cell-4-1">
            <a:extLst xmlns:a="http://schemas.openxmlformats.org/drawingml/2006/main">
              <a:ext uri="{FF2B5EF4-FFF2-40B4-BE49-F238E27FC236}">
                <a16:creationId xmlns:a16="http://schemas.microsoft.com/office/drawing/2014/main" id="{09EE824B-E4DE-4B3E-97B2-A4335026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51485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7" name="cell-text-4-1">
            <a:extLst xmlns:a="http://schemas.openxmlformats.org/drawingml/2006/main">
              <a:ext uri="{FF2B5EF4-FFF2-40B4-BE49-F238E27FC236}">
                <a16:creationId xmlns:a16="http://schemas.microsoft.com/office/drawing/2014/main" id="{2CC10C5B-B2D4-4DA2-93CE-17503D72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1010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保存本批輸入與版本</a:t>
            </a:r>
          </a:p>
        </p:txBody>
      </p:sp>
      <p:sp>
        <p:nvSpPr>
          <p:cNvPr id="38" name="cell-4-2">
            <a:extLst xmlns:a="http://schemas.openxmlformats.org/drawingml/2006/main">
              <a:ext uri="{FF2B5EF4-FFF2-40B4-BE49-F238E27FC236}">
                <a16:creationId xmlns:a16="http://schemas.microsoft.com/office/drawing/2014/main" id="{E4885479-7105-429B-9945-37910193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14850"/>
            <a:ext cx="3619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9" name="cell-text-4-2">
            <a:extLst xmlns:a="http://schemas.openxmlformats.org/drawingml/2006/main">
              <a:ext uri="{FF2B5EF4-FFF2-40B4-BE49-F238E27FC236}">
                <a16:creationId xmlns:a16="http://schemas.microsoft.com/office/drawing/2014/main" id="{E0D57ECE-E948-4057-9DD9-651C9DE2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1010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輸出可重跑</a:t>
            </a:r>
          </a:p>
        </p:txBody>
      </p:sp>
    </p:spTree>
    <p:extLst>
      <p:ext uri="{BB962C8B-B14F-4D97-AF65-F5344CB8AC3E}">
        <p14:creationId xmlns:p14="http://schemas.microsoft.com/office/powerpoint/2010/main" val="45201967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241328C-FDFF-45A8-AEA4-55B8B8FF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 OUTPUT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D30E30A-47F1-4725-9C58-C8D0531C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Annotation output 要同時服務機器檢查與人工 review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33C23C3-CB48-49F7-B7B9-F7E1D5227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20/40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8DA867E9-62D0-4CEF-956A-8365E265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62C0BF66-53A1-466E-9E24-6F0BD8CF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27CF4EDC-D895-4728-A2AB-2EA7DFA9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gene_input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approved_symbol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gene_id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species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match_type: exact | synonym | withdrawn | not_found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confidence: high | medium | low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evidence_source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evidence_version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message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486AEF2A-469C-46B2-8587-F7A8B10E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45139D22-F719-4ABC-A17A-5FB1AFB1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注意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E7111570-4A7E-4238-87C8-8AC06FBE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not_found 是合法輸出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synonym 需要來源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confidence 不等於臨床證據等級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 message 給人工審查</a:t>
            </a:r>
          </a:p>
        </p:txBody>
      </p:sp>
    </p:spTree>
    <p:extLst>
      <p:ext uri="{BB962C8B-B14F-4D97-AF65-F5344CB8AC3E}">
        <p14:creationId xmlns:p14="http://schemas.microsoft.com/office/powerpoint/2010/main" val="11822950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17EFB517-55D0-488A-9A36-937514E4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GENE BOUNDARIES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ED18779-4FAA-4156-97D4-7543F8ED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list tool 要先決定什麼不能自動做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96E42AC-2C61-4BB9-ABD5-D90B60FC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21/40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8E4DFA81-0D9B-4F25-84EF-CD7B9715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809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8C4E69B0-4C83-487B-9E1A-0F0A8C4E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情境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ED7DD25F-71B8-49D9-821C-2B476A6F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885950"/>
            <a:ext cx="4762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B7C3223D-F8F5-439F-8D2D-12C1700A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00250"/>
            <a:ext cx="453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規格決定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297D3A7A-2920-45C9-B801-D04469CC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885950"/>
            <a:ext cx="3810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BC3012F5-9642-4628-937F-D353877F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理由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30CB3397-12D2-48AE-B9DD-A975BEAD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809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ED319B4E-0307-4B94-AF1B-9E2ABEF9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舊名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685B917F-671E-468E-9617-52E0BC5E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0505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5C7494D4-9059-4C26-A61E-B357514F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003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可標記 withdrawn，但不可自動替換成 approved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241F735C-85AD-4893-A4AA-87B9C49B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05050"/>
            <a:ext cx="3810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5BA181AF-415A-4EAA-B4D8-DA20D93D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00300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避免錯誤合併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8DA2AA9C-52F2-4998-8376-8393994FD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1809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18BC350B-2C58-4277-ACA0-1BDF5538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跨物種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035E5FD2-ABAD-4702-97ED-E1C6700E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3370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ABE6193E-4CC2-4DD6-8EFC-4CAF1B38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289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species 不明時 needs_review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0806A6B8-CE53-41CD-89B2-5249C1F1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933700"/>
            <a:ext cx="3810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284CBCD3-469A-4F64-B038-51D8CCC0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28950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同名基因可能不同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A010DA74-89F0-4B6A-BBD7-355F032C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809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8D740E16-16D5-429C-9D6C-06DE1C8C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多重 match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F246C894-4A0E-48D2-A375-4B72F179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6235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1978516B-A52D-4A89-990F-A0F7FC10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576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列出候選，不選唯一答案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757FCFE9-4157-4438-BAAC-81D856BC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62350"/>
            <a:ext cx="3810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3B876968-DD31-4375-B4C7-4C8C9BDC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657600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降低錯 annotation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A07CD14C-DACE-482D-9982-78353D87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1809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2CC23C91-C4A8-4CCE-83F5-CEE5E78C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6250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非 gene term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053719DF-D0DE-4048-BA4C-A2C740F2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9100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60547BAE-ECEA-4606-96DB-D6C91404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2862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invalid_input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F0560BC7-EAB2-4A29-8654-ED0A2E23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191000"/>
            <a:ext cx="3810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4ECDDCC5-612D-4C09-BCCE-C60C1218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86250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不要把 pathway 或 drug 當 gene</a:t>
            </a:r>
          </a:p>
        </p:txBody>
      </p:sp>
    </p:spTree>
    <p:extLst>
      <p:ext uri="{BB962C8B-B14F-4D97-AF65-F5344CB8AC3E}">
        <p14:creationId xmlns:p14="http://schemas.microsoft.com/office/powerpoint/2010/main" val="185393238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BD08B42-844A-42A4-8E66-FCFC85B5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GENE VALIDATION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045EA8D-A670-4A2C-89FC-9420C3A1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annotation 的測試要包含正常、舊名、找不到與跨物種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86063BA-64B6-4DD4-BAC0-EC48E32B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22/40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843B8020-97E8-4435-9484-03298AF3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3340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Fixture 至少包含 TP53、ERBB2、舊名、錯拼、mouse-only symbol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Golden output 固定 `match_type`、`review_status`、`message`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資料庫版本或 retrieval date 要出現在 output metadata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更新資料庫版本時 golden output 可以變，但必須在 changelog 說明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37D85A46-4C9C-4D5A-9931-3FC48DF2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BDD72759-73DD-43F7-ACF3-8B4B440F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最小驗收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04C4250C-12BF-4EE0-A2EA-746A747D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30099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 pass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golden pass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 silent correction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version recorded</a:t>
            </a:r>
          </a:p>
        </p:txBody>
      </p:sp>
    </p:spTree>
    <p:extLst>
      <p:ext uri="{BB962C8B-B14F-4D97-AF65-F5344CB8AC3E}">
        <p14:creationId xmlns:p14="http://schemas.microsoft.com/office/powerpoint/2010/main" val="179837683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1E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90B1F32-5A2F-402E-875F-A84C14FA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EXAMPLE 3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80A98C2F-6089-4013-9186-B3E96406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Clinical trial summarizer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F1842C5F-87CF-49A3-A666-143098DC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8667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第三個例子聚焦高風險摘要：trial summary 可以幫研究工作，但不能變成招募建議或治療建議。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DE4E0073-63FB-4C2E-A7BA-6F0954A8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23/40</a:t>
            </a:r>
          </a:p>
        </p:txBody>
      </p:sp>
    </p:spTree>
    <p:extLst>
      <p:ext uri="{BB962C8B-B14F-4D97-AF65-F5344CB8AC3E}">
        <p14:creationId xmlns:p14="http://schemas.microsoft.com/office/powerpoint/2010/main" val="132692162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1F4B92EF-A315-4616-999A-D2E34C34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TRIAL INPUTS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8F572B0-F2FB-4510-B296-90D98EEB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trial summarizer 的 input spec 要鎖定來源與日期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5EB6285-8E07-4016-A67D-D65E3254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24/40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6468432A-7D07-4B41-B558-A5A48B9F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809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6B4AA0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30886DEF-125D-4FC8-BA30-BACBC1BE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輸入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1C4DC16F-D6DB-494D-854C-74B2D940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885950"/>
            <a:ext cx="4762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6B4AA0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CC5FDD1D-316E-4B5A-96A5-AF88B211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00250"/>
            <a:ext cx="453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104992A4-BA9F-4325-BE30-679AD1C6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885950"/>
            <a:ext cx="3810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6B4AA0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BD55FBFF-BA63-41A9-A81B-2CDD4342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風險控制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B0533E12-CFCD-40B1-8484-F32CCF5E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A7C21FD0-3585-446A-8960-E45EDFF3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nct_id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CB00BA81-339F-4EE0-A36D-49CC5358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05050"/>
            <a:ext cx="4762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02347511-7574-43D4-993B-B6237332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0030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必填；格式 `NCT` + 8 digits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74125EC1-D32A-4714-87B3-06D84D3A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0505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A6FC170A-5050-470E-ABC0-3D9CB7FD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0030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避免錯 trial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D70D7CA0-81EF-4167-A9EF-C4ED4178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C2F681C4-0AE6-4FE3-B09F-4417923C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source_record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5560AD4E-6F45-420A-BFE3-E394D987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57500"/>
            <a:ext cx="4762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76FA5B91-E785-4F79-B530-DAF5B9A0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5275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ClinicalTrials.gov record 或本地 JSON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4DDEBFC4-9A54-4E3E-87DF-E26A53CE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85750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7F759D77-D45A-4096-AE31-3271CFD5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5275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不靠模型記憶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546251E0-C528-4692-9DF1-9AE1668B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E3890883-477F-4DF6-9A0E-C5EE6409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retrieved_date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522AD28A-9454-41FF-8CAA-D301D234E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409950"/>
            <a:ext cx="4762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5D0989F6-9A31-4599-8AC2-50E078C3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0520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必填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2334AF45-D631-401F-BB72-F0E2C2EC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0995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856E574B-852E-4669-BB6B-F96D08ED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0520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狀態會變動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939868FF-F674-491A-819C-04484A2D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77B37DB2-12C1-4922-895C-A2F14895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summary_scope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811E60EC-41E2-4DDB-80C5-AF8F5A43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962400"/>
            <a:ext cx="4762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1167CC14-3BF3-4054-BF40-80FE0D72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5765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status、phase、criteria、intervention、outcomes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3F749DAC-A231-4D79-9BAF-D75A06B3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D892784C-BA5A-4D6B-B12C-4AF603A4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5765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避免亂擴充</a:t>
            </a:r>
          </a:p>
        </p:txBody>
      </p:sp>
      <p:sp>
        <p:nvSpPr>
          <p:cNvPr id="34" name="cell-4-0">
            <a:extLst xmlns:a="http://schemas.openxmlformats.org/drawingml/2006/main">
              <a:ext uri="{FF2B5EF4-FFF2-40B4-BE49-F238E27FC236}">
                <a16:creationId xmlns:a16="http://schemas.microsoft.com/office/drawing/2014/main" id="{6BA6BBFC-6B19-4F4C-8627-BF5E17B7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8097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5" name="cell-text-4-0">
            <a:extLst xmlns:a="http://schemas.openxmlformats.org/drawingml/2006/main">
              <a:ext uri="{FF2B5EF4-FFF2-40B4-BE49-F238E27FC236}">
                <a16:creationId xmlns:a16="http://schemas.microsoft.com/office/drawing/2014/main" id="{ADE606AC-8C0E-4769-BBAF-94172324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audience</a:t>
            </a:r>
          </a:p>
        </p:txBody>
      </p:sp>
      <p:sp>
        <p:nvSpPr>
          <p:cNvPr id="36" name="cell-4-1">
            <a:extLst xmlns:a="http://schemas.openxmlformats.org/drawingml/2006/main">
              <a:ext uri="{FF2B5EF4-FFF2-40B4-BE49-F238E27FC236}">
                <a16:creationId xmlns:a16="http://schemas.microsoft.com/office/drawing/2014/main" id="{46DCB9D3-C59E-4AF7-8DA5-C6F58844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514850"/>
            <a:ext cx="47625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7" name="cell-text-4-1">
            <a:extLst xmlns:a="http://schemas.openxmlformats.org/drawingml/2006/main">
              <a:ext uri="{FF2B5EF4-FFF2-40B4-BE49-F238E27FC236}">
                <a16:creationId xmlns:a16="http://schemas.microsoft.com/office/drawing/2014/main" id="{0E0907DB-E315-48B9-BA03-C1DE3760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1010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note only</a:t>
            </a:r>
          </a:p>
        </p:txBody>
      </p:sp>
      <p:sp>
        <p:nvSpPr>
          <p:cNvPr id="38" name="cell-4-2">
            <a:extLst xmlns:a="http://schemas.openxmlformats.org/drawingml/2006/main">
              <a:ext uri="{FF2B5EF4-FFF2-40B4-BE49-F238E27FC236}">
                <a16:creationId xmlns:a16="http://schemas.microsoft.com/office/drawing/2014/main" id="{79718763-F937-443B-ADC4-8A2C24DD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14850"/>
            <a:ext cx="3810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9" name="cell-text-4-2">
            <a:extLst xmlns:a="http://schemas.openxmlformats.org/drawingml/2006/main">
              <a:ext uri="{FF2B5EF4-FFF2-40B4-BE49-F238E27FC236}">
                <a16:creationId xmlns:a16="http://schemas.microsoft.com/office/drawing/2014/main" id="{607BAF0E-836E-437F-AA6E-907C2204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610100"/>
            <a:ext cx="3581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避免臨床建議</a:t>
            </a:r>
          </a:p>
        </p:txBody>
      </p:sp>
    </p:spTree>
    <p:extLst>
      <p:ext uri="{BB962C8B-B14F-4D97-AF65-F5344CB8AC3E}">
        <p14:creationId xmlns:p14="http://schemas.microsoft.com/office/powerpoint/2010/main" val="194735529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6A4179E-EB71-40B0-B38B-741502DB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TRIAL OUTPUT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B132B2C-65DB-406E-9096-E6D4813B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Trial summary 要保留 eligibility 與 status 的原始依據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0943F76-3F3C-4FC4-94A9-3F1F3107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25/40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F187A304-1250-4930-A66A-B6200D39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BDEEF27C-2778-46E8-B2CD-5BA95536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DFEE8AEC-2C81-4336-8EA1-DCEFFE3C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nct_id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official_title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phase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recruitment_status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condition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interventions[]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primary_outcomes[]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inclusion_summary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exclusion_summary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source_fields[]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retrieved_date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FD463A0C-1060-4B31-B02C-2F58D848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1ECFA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9764B1CC-4341-4B02-BD66-EC70ADC1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必要規則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616508B2-DDC1-4CE8-A948-63585D15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status 不得憑記憶更新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criteria summary 要標 source_fields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不得寫病人適不適合參加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高風險解讀標 needs_review</a:t>
            </a:r>
          </a:p>
        </p:txBody>
      </p:sp>
    </p:spTree>
    <p:extLst>
      <p:ext uri="{BB962C8B-B14F-4D97-AF65-F5344CB8AC3E}">
        <p14:creationId xmlns:p14="http://schemas.microsoft.com/office/powerpoint/2010/main" val="89062453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04C68FE-9857-4B18-9AB1-0CC8500F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TRIAL ERRORS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A42ED96-B16C-4841-B57A-CE8F71B12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Trial summarizer 的錯誤處理要比一般摘要更嚴格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BF3ADA0-88DB-4BAE-939F-5E943AE4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26/40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02B23786-F668-4551-B2C7-3C41A32B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905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848166DC-9A19-46B8-991B-CEC236D0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錯誤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F509057D-426B-4915-8D19-D74BE72D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885950"/>
            <a:ext cx="3714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603B4D01-C1F5-4B42-9F22-7F0EB434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0002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輸出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437DCC4C-9955-4997-A0D1-F3749EB9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85950"/>
            <a:ext cx="4762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E5599FCF-BFD1-4401-9CBD-423FF7BE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453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不能做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37DC8DDC-8EF7-4991-A5AD-674C0CA7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905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2FFCE93E-2B33-4BF5-B11C-9C7572F3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 NCT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DCA5C082-7254-40D4-B5B6-4D70951F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305050"/>
            <a:ext cx="3714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E3BA59C5-84B8-4F68-80E8-55038924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00300"/>
            <a:ext cx="3486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 = not_found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20DFD6EE-22FC-4E6B-BA63-05D0BB61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92366898-CD06-48ED-88B0-72D6D820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003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自行產生 trial title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083191D7-75BD-4AAB-9451-1AFC8025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1905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8F59F030-7F1C-4C55-B336-93414641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欄位缺失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BFF3F6BB-4785-47EA-B50B-BB1DE84A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33700"/>
            <a:ext cx="3714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25DB48C0-8AB0-43ED-B8A0-AF792ECA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028950"/>
            <a:ext cx="3486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field_status = missing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B1932171-BB97-434B-986F-D85AC35C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3370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BE5DF91B-34F7-45CD-89E2-84F4F838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289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用常識補 eligibility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A9A512E4-14E5-41C5-BF9D-2B7DC154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905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455F916D-3F96-43ED-9FE6-BA1BBE0E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多版本衝突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AC5D655A-D601-4EDB-9D65-8F352543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562350"/>
            <a:ext cx="3714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7AB887D8-332E-41E6-BF5F-5FF318AE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657600"/>
            <a:ext cx="3486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 = conflicting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4849403B-39B2-49BC-9A67-3EA23A7A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6235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2E07CF82-D285-48B5-8FDA-A748B888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576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只選一個版本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AE6275A0-69F5-4218-871E-D9823557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1905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946BDE04-CA78-4947-9C16-BEF83F89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625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PII 出現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F04648FB-22D0-4C67-B580-18FE9CA5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191000"/>
            <a:ext cx="37147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D9768FE3-CD28-4BA1-9C4E-ECF47892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286250"/>
            <a:ext cx="3486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stop_and_report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AD4BB7E8-74AC-49B3-9C89-F767166E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9100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7ECD6C77-29F6-4219-9F8C-3A8271A2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862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繼續摘要或外傳資料</a:t>
            </a:r>
          </a:p>
        </p:txBody>
      </p:sp>
    </p:spTree>
    <p:extLst>
      <p:ext uri="{BB962C8B-B14F-4D97-AF65-F5344CB8AC3E}">
        <p14:creationId xmlns:p14="http://schemas.microsoft.com/office/powerpoint/2010/main" val="56201977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EC4A42D-F21F-4B5E-B4C4-D8D21EB6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TRIAL VALIDATION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418BC1D-9B78-4E6D-9C42-AAEE86E1B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trial summary 的驗收標準要防止過度推論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AF9D74C-1E0F-4D9A-B955-61DB4474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27/40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A71C9450-7763-4027-B486-370709A9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3340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 summary 欄位都能追到原始 JSON path 或 source field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NCT ID format 錯誤時必須 fail fast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recruitment status 必須與 retrieved record 一致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不得產生 eligibility recommendation 或 treatment recommendation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AF0F49E8-2DA2-4DFC-A9BB-EF3FC587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386F3B73-C4DB-46C1-A66D-97A74D69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262CA357-A20E-404F-A014-CF66F3BB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30099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JSON schema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field trace check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negative fixtures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human review gate</a:t>
            </a:r>
          </a:p>
        </p:txBody>
      </p:sp>
    </p:spTree>
    <p:extLst>
      <p:ext uri="{BB962C8B-B14F-4D97-AF65-F5344CB8AC3E}">
        <p14:creationId xmlns:p14="http://schemas.microsoft.com/office/powerpoint/2010/main" val="77157720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EEF1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2B58CED-6E6A-48EB-85E2-BDC554BA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202D657C-32E9-4EF8-A1F6-294CF784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Spec Kit、OpenSpec、Spectra 是 scaffold，不是答案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9B92FE3B-9947-464E-886B-B0110C05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8667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工具可以幫你產出 constitution、spec、plan、tasks，也可以追蹤進度；但 biomedical source、review gate、not found rule 必須由我們定義。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84E5429A-5875-4216-804B-619810FF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28/40</a:t>
            </a:r>
          </a:p>
        </p:txBody>
      </p:sp>
    </p:spTree>
    <p:extLst>
      <p:ext uri="{BB962C8B-B14F-4D97-AF65-F5344CB8AC3E}">
        <p14:creationId xmlns:p14="http://schemas.microsoft.com/office/powerpoint/2010/main" val="76822457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D2163CC-CA97-43CA-906A-C6099852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SDD TOOLING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04ACA63-BF1D-4C56-94BC-68767BA6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 SDD 工具都在解同一個問題：讓需求、設計與任務可追蹤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75B12CD-EC1A-4DDF-BE97-B5756977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29/40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BA8AA15C-9A0A-4E4D-9753-35E3EB01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714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50E6D648-0A57-4F53-B319-635D62F0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工具或概念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A9E5F50C-3149-472C-846C-FBC6A5E3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85950"/>
            <a:ext cx="4762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CB73E5AB-770C-4190-A729-D435C7DF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000250"/>
            <a:ext cx="453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課堂採用的想法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694131F4-7D97-49F8-906C-B036C730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885950"/>
            <a:ext cx="39052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3BE90656-BA1C-45CB-85A8-C2E1D2AB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00025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生醫調整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1893012E-B691-41C1-B118-3D8510FE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714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7FB7641B-2E21-482F-B495-0AC72FB1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Kit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FD72D59E-2A79-4D8E-ADA2-A3CA8277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0505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A1E5F9EB-24CA-491E-8B76-4149B84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003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constitution、specify、plan、tasks、implement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40031DA9-7402-41CA-B363-E973F7F3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305050"/>
            <a:ext cx="39052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1D163E13-FC07-4FF3-9D8A-F667547F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00300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constitution 加入 citation / PHI / clinical claim 規則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05922B1B-46D5-4E62-A63C-374F9329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1714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FE1545C3-974A-4B51-BDF7-15B740D71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OpenSpec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7496D1FE-7FE1-4D90-AAFA-AF71B142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3370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F3D6F733-362D-4EFA-9B90-DA120A0F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289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proposal、spec、design、tasks 與狀態追蹤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176C5012-4007-4398-B0E7-95E78B4D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33700"/>
            <a:ext cx="39052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C46544DF-1DD6-44B9-9A44-CFE3F95F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28950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dependency order 管理 spec artifacts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0A3D63A0-6BF8-4B64-BAF0-CC051775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714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DE3631C4-B7AB-43F7-9E94-4AFE46FB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35775536-92F9-46C9-82D5-54FFBD9E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56235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DF0B4349-57F7-4E37-B75E-A0430F8C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6576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GUI/CLI 讓規格流程更可見，支援 discuss、propose、ingest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8E48A41B-977F-4BDA-BECF-5E3A7033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62350"/>
            <a:ext cx="39052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563C70A9-6E0B-4C11-BF86-F281ADA3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57600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用於教學展示 spec review 與迭代更新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3029B2B3-ACDE-4891-9D7F-8FA7F383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1714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ADF2CA46-BCB7-49B6-AA33-84C51850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6250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Lightweight SDD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9554F6E1-6595-4A12-834E-FED6265D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191000"/>
            <a:ext cx="47625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5C0F2B31-64CD-4F0D-8EC4-EB0EE2D3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2862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先寫小規格，再小 patch 實作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FD0E49A6-0801-417E-B04F-77840806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191000"/>
            <a:ext cx="39052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38A9172A-5906-42AC-BAF5-20E41083B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286250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避免過度文件化</a:t>
            </a:r>
          </a:p>
        </p:txBody>
      </p:sp>
      <p:sp>
        <p:nvSpPr>
          <p:cNvPr id="34" name="source">
            <a:extLst xmlns:a="http://schemas.openxmlformats.org/drawingml/2006/main">
              <a:ext uri="{FF2B5EF4-FFF2-40B4-BE49-F238E27FC236}">
                <a16:creationId xmlns:a16="http://schemas.microsoft.com/office/drawing/2014/main" id="{46E94500-44EF-4B8E-B663-892C292EF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36270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GitHub Spec Kit, OpenSpec/Spectra articles</a:t>
            </a:r>
          </a:p>
        </p:txBody>
      </p:sp>
    </p:spTree>
    <p:extLst>
      <p:ext uri="{BB962C8B-B14F-4D97-AF65-F5344CB8AC3E}">
        <p14:creationId xmlns:p14="http://schemas.microsoft.com/office/powerpoint/2010/main" val="212045388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1BFAE4B-32FD-4B73-B954-E7E0E896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SPECTRA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66446E1-A3E8-46FE-AD42-48C1E334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 demo 要展示的是規格如何被建立、修正、實作與歸檔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224AA40-B28C-464F-93F1-3CD199C3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30/40</a:t>
            </a:r>
          </a:p>
        </p:txBody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46F92B2C-33B4-48F1-A943-61C628A5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step-no-0">
            <a:extLst xmlns:a="http://schemas.openxmlformats.org/drawingml/2006/main">
              <a:ext uri="{FF2B5EF4-FFF2-40B4-BE49-F238E27FC236}">
                <a16:creationId xmlns:a16="http://schemas.microsoft.com/office/drawing/2014/main" id="{1F2B0ED0-ECC3-4263-A14F-2539C6D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 xmlns:a="http://schemas.openxmlformats.org/drawingml/2006/main">
              <a:ext uri="{FF2B5EF4-FFF2-40B4-BE49-F238E27FC236}">
                <a16:creationId xmlns:a16="http://schemas.microsoft.com/office/drawing/2014/main" id="{CDA70C51-158F-461B-A0E2-A1AFB0F4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Discuss</a:t>
            </a:r>
          </a:p>
        </p:txBody>
      </p:sp>
      <p:sp>
        <p:nvSpPr>
          <p:cNvPr id="7" name="step-copy-0">
            <a:extLst xmlns:a="http://schemas.openxmlformats.org/drawingml/2006/main">
              <a:ext uri="{FF2B5EF4-FFF2-40B4-BE49-F238E27FC236}">
                <a16:creationId xmlns:a16="http://schemas.microsoft.com/office/drawing/2014/main" id="{D53DD064-C081-4329-A1E0-F0812D60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/spectra:discuss 收斂需求</a:t>
            </a:r>
          </a:p>
        </p:txBody>
      </p:sp>
      <p:sp>
        <p:nvSpPr>
          <p:cNvPr id="8" name="step-arrow-0">
            <a:extLst xmlns:a="http://schemas.openxmlformats.org/drawingml/2006/main">
              <a:ext uri="{FF2B5EF4-FFF2-40B4-BE49-F238E27FC236}">
                <a16:creationId xmlns:a16="http://schemas.microsoft.com/office/drawing/2014/main" id="{DFD626F8-5B6E-453A-AC46-2C468BF9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 xmlns:a="http://schemas.openxmlformats.org/drawingml/2006/main">
              <a:ext uri="{FF2B5EF4-FFF2-40B4-BE49-F238E27FC236}">
                <a16:creationId xmlns:a16="http://schemas.microsoft.com/office/drawing/2014/main" id="{28DC70EA-004D-455E-BA6D-EB08E39A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0" name="step-no-1">
            <a:extLst xmlns:a="http://schemas.openxmlformats.org/drawingml/2006/main">
              <a:ext uri="{FF2B5EF4-FFF2-40B4-BE49-F238E27FC236}">
                <a16:creationId xmlns:a16="http://schemas.microsoft.com/office/drawing/2014/main" id="{416C4457-366B-45FD-B8CC-8AD44633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E9673309-C351-4B68-8720-76DE29D2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Propose</a:t>
            </a:r>
          </a:p>
        </p:txBody>
      </p:sp>
      <p:sp>
        <p:nvSpPr>
          <p:cNvPr id="12" name="step-copy-1">
            <a:extLst xmlns:a="http://schemas.openxmlformats.org/drawingml/2006/main">
              <a:ext uri="{FF2B5EF4-FFF2-40B4-BE49-F238E27FC236}">
                <a16:creationId xmlns:a16="http://schemas.microsoft.com/office/drawing/2014/main" id="{7B76B807-8CE7-48B4-A3A4-BEA80ACD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/spectra:propose 產出規格文件</a:t>
            </a:r>
          </a:p>
        </p:txBody>
      </p:sp>
      <p:sp>
        <p:nvSpPr>
          <p:cNvPr id="13" name="step-arrow-1">
            <a:extLst xmlns:a="http://schemas.openxmlformats.org/drawingml/2006/main">
              <a:ext uri="{FF2B5EF4-FFF2-40B4-BE49-F238E27FC236}">
                <a16:creationId xmlns:a16="http://schemas.microsoft.com/office/drawing/2014/main" id="{1BB4F79F-7A23-407B-A2D5-7C4C667A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 xmlns:a="http://schemas.openxmlformats.org/drawingml/2006/main">
              <a:ext uri="{FF2B5EF4-FFF2-40B4-BE49-F238E27FC236}">
                <a16:creationId xmlns:a16="http://schemas.microsoft.com/office/drawing/2014/main" id="{12E2196D-C7E2-431D-825D-B4E98D45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5" name="step-no-2">
            <a:extLst xmlns:a="http://schemas.openxmlformats.org/drawingml/2006/main">
              <a:ext uri="{FF2B5EF4-FFF2-40B4-BE49-F238E27FC236}">
                <a16:creationId xmlns:a16="http://schemas.microsoft.com/office/drawing/2014/main" id="{38C2B10C-C78A-490B-8C76-46C87600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ACD7C26F-7DC7-488B-96A8-07FC71DD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Review</a:t>
            </a:r>
          </a:p>
        </p:txBody>
      </p:sp>
      <p:sp>
        <p:nvSpPr>
          <p:cNvPr id="17" name="step-copy-2">
            <a:extLst xmlns:a="http://schemas.openxmlformats.org/drawingml/2006/main">
              <a:ext uri="{FF2B5EF4-FFF2-40B4-BE49-F238E27FC236}">
                <a16:creationId xmlns:a16="http://schemas.microsoft.com/office/drawing/2014/main" id="{CFF17B8E-0788-46ED-9054-CB308F71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人工檢查 evidence 與邊界</a:t>
            </a:r>
          </a:p>
        </p:txBody>
      </p:sp>
      <p:sp>
        <p:nvSpPr>
          <p:cNvPr id="18" name="step-arrow-2">
            <a:extLst xmlns:a="http://schemas.openxmlformats.org/drawingml/2006/main">
              <a:ext uri="{FF2B5EF4-FFF2-40B4-BE49-F238E27FC236}">
                <a16:creationId xmlns:a16="http://schemas.microsoft.com/office/drawing/2014/main" id="{A2A9E9B2-B107-4FD6-8856-F2BCF401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 xmlns:a="http://schemas.openxmlformats.org/drawingml/2006/main">
              <a:ext uri="{FF2B5EF4-FFF2-40B4-BE49-F238E27FC236}">
                <a16:creationId xmlns:a16="http://schemas.microsoft.com/office/drawing/2014/main" id="{C4C83922-B803-49E3-9F1D-A5F4D59A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20" name="step-no-3">
            <a:extLst xmlns:a="http://schemas.openxmlformats.org/drawingml/2006/main">
              <a:ext uri="{FF2B5EF4-FFF2-40B4-BE49-F238E27FC236}">
                <a16:creationId xmlns:a16="http://schemas.microsoft.com/office/drawing/2014/main" id="{CC3CBA76-4331-4365-B88D-6AF03F6F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93CB6F3C-3C52-45EE-B2B5-A8ADABD7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Apply</a:t>
            </a:r>
          </a:p>
        </p:txBody>
      </p:sp>
      <p:sp>
        <p:nvSpPr>
          <p:cNvPr id="22" name="step-copy-3">
            <a:extLst xmlns:a="http://schemas.openxmlformats.org/drawingml/2006/main">
              <a:ext uri="{FF2B5EF4-FFF2-40B4-BE49-F238E27FC236}">
                <a16:creationId xmlns:a16="http://schemas.microsoft.com/office/drawing/2014/main" id="{7CF1C2E1-B34A-43B9-AB1D-AA43672E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/spectra:apply 逐項實作</a:t>
            </a:r>
          </a:p>
        </p:txBody>
      </p:sp>
      <p:sp>
        <p:nvSpPr>
          <p:cNvPr id="23" name="step-arrow-3">
            <a:extLst xmlns:a="http://schemas.openxmlformats.org/drawingml/2006/main">
              <a:ext uri="{FF2B5EF4-FFF2-40B4-BE49-F238E27FC236}">
                <a16:creationId xmlns:a16="http://schemas.microsoft.com/office/drawing/2014/main" id="{8C7B4479-757E-4898-B904-6753D698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 xmlns:a="http://schemas.openxmlformats.org/drawingml/2006/main">
              <a:ext uri="{FF2B5EF4-FFF2-40B4-BE49-F238E27FC236}">
                <a16:creationId xmlns:a16="http://schemas.microsoft.com/office/drawing/2014/main" id="{43ADFC4D-ECBE-4C44-AFEB-717005D8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1ECFA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25" name="step-no-4">
            <a:extLst xmlns:a="http://schemas.openxmlformats.org/drawingml/2006/main">
              <a:ext uri="{FF2B5EF4-FFF2-40B4-BE49-F238E27FC236}">
                <a16:creationId xmlns:a16="http://schemas.microsoft.com/office/drawing/2014/main" id="{639A868E-6EF2-4C79-B16D-866C8B4A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 xmlns:a="http://schemas.openxmlformats.org/drawingml/2006/main">
              <a:ext uri="{FF2B5EF4-FFF2-40B4-BE49-F238E27FC236}">
                <a16:creationId xmlns:a16="http://schemas.microsoft.com/office/drawing/2014/main" id="{D24CA2B6-864A-44D8-89FF-3F6D8D7F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Ingest</a:t>
            </a:r>
          </a:p>
        </p:txBody>
      </p:sp>
      <p:sp>
        <p:nvSpPr>
          <p:cNvPr id="27" name="step-copy-4">
            <a:extLst xmlns:a="http://schemas.openxmlformats.org/drawingml/2006/main">
              <a:ext uri="{FF2B5EF4-FFF2-40B4-BE49-F238E27FC236}">
                <a16:creationId xmlns:a16="http://schemas.microsoft.com/office/drawing/2014/main" id="{29219025-D8C2-4570-9A99-55C9F152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缺口回寫規格，不急著改 code</a:t>
            </a:r>
          </a:p>
        </p:txBody>
      </p:sp>
      <p:sp>
        <p:nvSpPr>
          <p:cNvPr id="28" name="step-arrow-4">
            <a:extLst xmlns:a="http://schemas.openxmlformats.org/drawingml/2006/main">
              <a:ext uri="{FF2B5EF4-FFF2-40B4-BE49-F238E27FC236}">
                <a16:creationId xmlns:a16="http://schemas.microsoft.com/office/drawing/2014/main" id="{4D51C3BB-2975-4CDB-9380-D3B25219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52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 xmlns:a="http://schemas.openxmlformats.org/drawingml/2006/main">
              <a:ext uri="{FF2B5EF4-FFF2-40B4-BE49-F238E27FC236}">
                <a16:creationId xmlns:a16="http://schemas.microsoft.com/office/drawing/2014/main" id="{FB329B9B-D692-49BD-BF2A-AB67FC70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133600"/>
            <a:ext cx="1428750" cy="20002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30" name="step-no-5">
            <a:extLst xmlns:a="http://schemas.openxmlformats.org/drawingml/2006/main">
              <a:ext uri="{FF2B5EF4-FFF2-40B4-BE49-F238E27FC236}">
                <a16:creationId xmlns:a16="http://schemas.microsoft.com/office/drawing/2014/main" id="{8CD040F8-537B-4F09-AA3C-00436538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343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 xmlns:a="http://schemas.openxmlformats.org/drawingml/2006/main">
              <a:ext uri="{FF2B5EF4-FFF2-40B4-BE49-F238E27FC236}">
                <a16:creationId xmlns:a16="http://schemas.microsoft.com/office/drawing/2014/main" id="{CBDB177F-F02F-4609-A049-BFC53365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724150"/>
            <a:ext cx="1085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Archive</a:t>
            </a:r>
          </a:p>
        </p:txBody>
      </p:sp>
      <p:sp>
        <p:nvSpPr>
          <p:cNvPr id="32" name="step-copy-5">
            <a:extLst xmlns:a="http://schemas.openxmlformats.org/drawingml/2006/main">
              <a:ext uri="{FF2B5EF4-FFF2-40B4-BE49-F238E27FC236}">
                <a16:creationId xmlns:a16="http://schemas.microsoft.com/office/drawing/2014/main" id="{1F83C7F0-0207-4030-9F9E-5BB17803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409950"/>
            <a:ext cx="1085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驗收後歸檔並保留 trace</a:t>
            </a:r>
          </a:p>
        </p:txBody>
      </p:sp>
      <p:sp>
        <p:nvSpPr>
          <p:cNvPr id="33" name="source">
            <a:extLst xmlns:a="http://schemas.openxmlformats.org/drawingml/2006/main">
              <a:ext uri="{FF2B5EF4-FFF2-40B4-BE49-F238E27FC236}">
                <a16:creationId xmlns:a16="http://schemas.microsoft.com/office/drawing/2014/main" id="{7BB0B918-190D-4600-96AF-238F4039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36270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Source: kaochenlong.com/spectra-app-2</a:t>
            </a:r>
          </a:p>
        </p:txBody>
      </p:sp>
    </p:spTree>
    <p:extLst>
      <p:ext uri="{BB962C8B-B14F-4D97-AF65-F5344CB8AC3E}">
        <p14:creationId xmlns:p14="http://schemas.microsoft.com/office/powerpoint/2010/main" val="42205685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EC8B653-D543-4F31-A68A-EBB44A2D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SPECTRA DEMO PROMPT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6F6C843-53CC-4D08-98EC-33EEFD67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PubMed extractor 示範 Spectra 如何把討論變成規格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C997C37-20D8-4110-9A9A-F23B3EBF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31/40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5FE97059-1CBA-438E-8431-8571B596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Demo prompt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E8601BC4-41E7-4629-9AF5-6E623D63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F3E84D7C-0311-4026-9CBA-86129D589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/spectra:discuss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Topic: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設計一個 PubMed evidence extractor。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請先讀目前 repo 裡的：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templates/biomedical-tool-spec-template.md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examples/pubmed-evidence-extractor/SPEC.md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請收斂到：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1. 允許資料來源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2. input/output schema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3. not_found rule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4. human review gate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5. validation fixtures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先不要寫 code。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51193DC9-28B7-4B53-9CF7-602C787D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1ECFA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7D84D867-38E7-475C-A346-5A38CC71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教師示範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17B0A591-6F59-4E2D-9478-C399B046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 discuss 收斂問題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再用 propose 產出 artifacts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review 後才 apply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缺口用 ingest 回寫 spec</a:t>
            </a:r>
          </a:p>
        </p:txBody>
      </p:sp>
    </p:spTree>
    <p:extLst>
      <p:ext uri="{BB962C8B-B14F-4D97-AF65-F5344CB8AC3E}">
        <p14:creationId xmlns:p14="http://schemas.microsoft.com/office/powerpoint/2010/main" val="166361114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E4ABEA2-2D46-4D62-BFDD-150EF8B3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SPECTRA ARTIFACTS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F266623-2815-45C1-9421-6B25855B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 demo 的重點是讓學生看懂每個 artifact 的責任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7EB4F7B-2B57-471B-AF4C-BAE8A226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32/40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AF635E6A-E43D-4432-8F49-1714B8E3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6192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6B4AA0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A5D63A63-E202-420A-99BB-1C4F9F83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Artifact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7F66D3CD-2C30-405D-B04A-7D42E54D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885950"/>
            <a:ext cx="4953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6B4AA0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708FFAD5-55EE-467A-ABD5-F6A3905C7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0025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課堂要檢查什麼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8E15204A-89CA-4214-82A9-E4A62C63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885950"/>
            <a:ext cx="3810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6B4AA0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4365D983-4063-4229-9E2E-44C5061F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生醫加強點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4E685EF9-2879-4EF4-9BDC-B9F6FA02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6192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CFE582B0-124A-4853-82A4-7082B859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proposal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199D0644-E9FE-495B-BCAD-DD593626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05050"/>
            <a:ext cx="4953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38914534-4598-45B4-8A96-C8ACA9DA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00300"/>
            <a:ext cx="472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為什麼要做、scope 多大、哪些不做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FA9C509C-E1A7-4AAF-8007-5F6AB8E6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05050"/>
            <a:ext cx="3810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35EE7AFA-8AEA-4B20-AED5-0160D1B3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00300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不得包含臨床建議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5FD5D5B3-9099-45B6-9545-B2622875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16192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4A8971A9-D5F6-4D94-8CB0-7A521B71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6ACB013E-0A11-4D3F-AC52-4B5BFAF8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933700"/>
            <a:ext cx="4953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9B2B8799-CDA3-42D1-8013-D000DCDC2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28950"/>
            <a:ext cx="472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input/output、acceptance criteria、edge cases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768C7191-9FAB-448F-8506-B4981624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933700"/>
            <a:ext cx="3810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A03FE386-286E-4286-835A-72002C90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28950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PMID、not_found、review gate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198A01A0-3E99-4989-921E-E5E6B5874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6192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2FDE7F61-37B3-4B73-9826-A1CC71FE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design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75EBE199-F55D-48B0-8DA9-2F3A91DA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562350"/>
            <a:ext cx="4953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15818E99-23AB-40D0-A71A-4907800E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657600"/>
            <a:ext cx="472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資料流、API、schema、錯誤處理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C4CA9383-92D5-48FC-805C-E0D2AABD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62350"/>
            <a:ext cx="3810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E250459E-F3DC-4A4F-810D-33001AB5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657600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source version 與 retrieval date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7A96937B-4CAF-46A3-89DB-325DEB3A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16192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FD0F1D49-4076-4E55-8A13-F13F463B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6250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tasks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5DD7254D-EA50-4E37-97C2-9F7BAF38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191000"/>
            <a:ext cx="4953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D3CF34C8-CE30-43F9-9BEA-629F5BE9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286250"/>
            <a:ext cx="472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小任務是否可獨立驗證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D9BC5609-B52F-4504-8063-6B885726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191000"/>
            <a:ext cx="381000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2B6020F6-39EC-4868-AB66-25A42085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86250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先測 schema/golden file</a:t>
            </a:r>
          </a:p>
        </p:txBody>
      </p:sp>
    </p:spTree>
    <p:extLst>
      <p:ext uri="{BB962C8B-B14F-4D97-AF65-F5344CB8AC3E}">
        <p14:creationId xmlns:p14="http://schemas.microsoft.com/office/powerpoint/2010/main" val="29329378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EED340F-B63C-4E15-9E82-A621F317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SPECTRA REVIEW GATE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C8F1EAA-485C-465E-BE94-5A381E6C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 可以讓流程可見，但 biomedical gate 仍然要人工負責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7233ACA-CB8E-4D71-907D-AACFF9441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33/40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B023F3FE-2060-4E68-89FB-441676C8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3340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在 `/spectra:apply` 前，先 review spec 是否有資料源、not found rule 和 validation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任務執行中發現需求缺口時，不要讓 agent 直接補功能，先 `/spectra:ingest` 更新規格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若任務涉及 citation、trial status、gene symbol 或 clinical wording，要保留 `needs_review`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歸檔前確認 spec、tasks、測試輸出與 commit 都能互相追溯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8AE5CAA0-F48F-4751-B630-581DA3C82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5E396340-271D-46FC-B79A-95E1850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不要交給工具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0F4C3DCD-0825-4A0C-BC1E-1D972E97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30099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judgment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sensitive data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authority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merge decision</a:t>
            </a:r>
          </a:p>
        </p:txBody>
      </p:sp>
    </p:spTree>
    <p:extLst>
      <p:ext uri="{BB962C8B-B14F-4D97-AF65-F5344CB8AC3E}">
        <p14:creationId xmlns:p14="http://schemas.microsoft.com/office/powerpoint/2010/main" val="160846575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6A191D7-74A1-4718-8D0C-2652F14E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ASK FOR SPEC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83486AE-D502-4155-B091-565A0C1E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先讓 agent 寫 spec，但要求它先問問題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99C3620-06B1-4614-9BE6-E8E183CB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34/40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3598D34E-9BF2-4694-A872-D1BFE353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C2AE0908-6AD5-45BF-B034-C07BDFA6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5DA2336C-696D-48A0-B639-0CF6EEF2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請不要開始寫程式。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請先根據下列 biomedical tool idea 建立 SPEC.md。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你必須先列出最多 8 個 clarification questions。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沒有答案時，提出保守預設並標記 assumption。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SPEC.md 必須包含：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Goal / non-goals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Inputs / outputs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Boundary conditions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Error handling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Validation commands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Human review gate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D4873F6A-E2B8-41F9-9083-F545D2A1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4EA982D0-61E5-41E9-BA84-5BF59E78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75750D3D-2FD1-401C-8BCB-F0D4A7BB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禁止先寫 code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先逼出 ambiguity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沒有答案要標 assumption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要包含驗證與 review</a:t>
            </a:r>
          </a:p>
        </p:txBody>
      </p:sp>
    </p:spTree>
    <p:extLst>
      <p:ext uri="{BB962C8B-B14F-4D97-AF65-F5344CB8AC3E}">
        <p14:creationId xmlns:p14="http://schemas.microsoft.com/office/powerpoint/2010/main" val="8196392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4106D5B-30FC-4A2A-A246-FE4F8F1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IMPLEMENT FROM SPEC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5C75913-A919-4AE9-8A8B-69038DF7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實作時，要把 spec 變成 acceptance contract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E833069-8A0C-4BB9-B64F-F5B46796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35/40</a:t>
            </a:r>
          </a:p>
        </p:txBody>
      </p:sp>
      <p:sp>
        <p:nvSpPr>
          <p:cNvPr id="4" name="left-title">
            <a:extLst xmlns:a="http://schemas.openxmlformats.org/drawingml/2006/main">
              <a:ext uri="{FF2B5EF4-FFF2-40B4-BE49-F238E27FC236}">
                <a16:creationId xmlns:a16="http://schemas.microsoft.com/office/drawing/2014/main" id="{031D7F7C-8759-4A17-9B30-702A7A63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5" name="left-code-box">
            <a:extLst xmlns:a="http://schemas.openxmlformats.org/drawingml/2006/main">
              <a:ext uri="{FF2B5EF4-FFF2-40B4-BE49-F238E27FC236}">
                <a16:creationId xmlns:a16="http://schemas.microsoft.com/office/drawing/2014/main" id="{8BB8A2F6-C2F7-423E-BA48-A75C14E0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51816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6" name="left-code">
            <a:extLst xmlns:a="http://schemas.openxmlformats.org/drawingml/2006/main">
              <a:ext uri="{FF2B5EF4-FFF2-40B4-BE49-F238E27FC236}">
                <a16:creationId xmlns:a16="http://schemas.microsoft.com/office/drawing/2014/main" id="{E352EC0A-4629-4FE6-8427-44C12451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90775"/>
            <a:ext cx="48387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請依照 SPEC.md 實作最小版本。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規則：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只改 tasks.md 指定的檔案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每完成一個 task 就跑相對應測試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不得新增 SPEC.md 沒提到的功能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若 SPEC.md 不清楚，先停下來問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回報：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completed tasks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files changed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validation commands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deviations from SPEC.md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remaining risks</a:t>
            </a:r>
          </a:p>
        </p:txBody>
      </p:sp>
      <p:sp>
        <p:nvSpPr>
          <p:cNvPr id="7" name="right-box">
            <a:extLst xmlns:a="http://schemas.openxmlformats.org/drawingml/2006/main">
              <a:ext uri="{FF2B5EF4-FFF2-40B4-BE49-F238E27FC236}">
                <a16:creationId xmlns:a16="http://schemas.microsoft.com/office/drawing/2014/main" id="{C3170AD6-FB87-4D99-8AA6-6011D449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39243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8" name="right-title">
            <a:extLst xmlns:a="http://schemas.openxmlformats.org/drawingml/2006/main">
              <a:ext uri="{FF2B5EF4-FFF2-40B4-BE49-F238E27FC236}">
                <a16:creationId xmlns:a16="http://schemas.microsoft.com/office/drawing/2014/main" id="{092416D9-9FBC-4724-9BC5-15007263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完成定義</a:t>
            </a:r>
          </a:p>
        </p:txBody>
      </p:sp>
      <p:sp>
        <p:nvSpPr>
          <p:cNvPr id="9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5E1293E0-B69F-429C-B7A1-713C55E3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90850"/>
            <a:ext cx="3028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不是它說完成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 acceptance criteria pass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所有 deviation 要列出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drift 要回寫</a:t>
            </a:r>
          </a:p>
        </p:txBody>
      </p:sp>
    </p:spTree>
    <p:extLst>
      <p:ext uri="{BB962C8B-B14F-4D97-AF65-F5344CB8AC3E}">
        <p14:creationId xmlns:p14="http://schemas.microsoft.com/office/powerpoint/2010/main" val="104814970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E0BFBBF-1D24-4AF4-BF68-1409F030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SPEC DRIFT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F4774A0-09F8-4C02-851C-AFE54E04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drift 會讓 SDD 失效，所以規格要跟 commit 一起活著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CF367DF-BEEA-4291-BAED-12ECB3B7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36/40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80EE304D-8467-471B-A218-5DC1BA27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3340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程式碼行為改了，SPEC.md 必須同步改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測試暴露新邊界條件時，要補回 requirements 或 validation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資料庫版本、API schema、source policy 改了，要記錄在 changelog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不要把過時 spec 留給 agent 當錯誤 context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3CF46A86-C11B-4E8E-9745-CB558C25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5A3F7720-5869-4A02-9441-711B6AC3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Change rule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F499B940-98B5-42DB-A584-8862D24A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30099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first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small patch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test evidence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review gate</a:t>
            </a:r>
          </a:p>
        </p:txBody>
      </p:sp>
    </p:spTree>
    <p:extLst>
      <p:ext uri="{BB962C8B-B14F-4D97-AF65-F5344CB8AC3E}">
        <p14:creationId xmlns:p14="http://schemas.microsoft.com/office/powerpoint/2010/main" val="88785564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68BE4DE-2B9F-42F5-A6F8-648BB4FD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REVIEW CHECKLIST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2EA857D-31D9-4D84-9C62-143D81D7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spec review 的重點是可追溯、可驗證、可停止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C782858-8B28-4BE9-A93A-43C9F2D9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37/40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AD02B780-4B11-4A90-9B08-85643869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6192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192CA760-EA36-43CF-B98F-2241CCC2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檢查項目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461B5362-F272-4523-8B4B-8611E85C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885950"/>
            <a:ext cx="5334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D9D5F15D-274A-4DEA-974E-DD1B2DBF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00250"/>
            <a:ext cx="510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要問的問題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4E8D92B0-AAE6-4C27-A1B7-AC7C0058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885950"/>
            <a:ext cx="3429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446A8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7AC7984D-16E1-48E9-BCE2-5762B7BD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00025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不通過時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885A9E72-EF19-4F81-B29F-CBC25B4F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1ED63933-C86C-4CDE-84BA-45F0259E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EBF0B2AE-F91F-4659-908F-2A1A04B7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05050"/>
            <a:ext cx="5334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507F6B7C-6179-4AD5-BB0E-97C2EC93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003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允許資料源和版本寫清楚了嗎？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43BF82B6-137F-4A60-B699-7E6DF28A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05050"/>
            <a:ext cx="3429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942BD2A9-4A16-4945-8A6F-C9646F9D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400300"/>
            <a:ext cx="320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補來源或縮小 scope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BF557107-045E-4EEB-83AF-6DAC4DCE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6C124611-EF4D-468D-B017-44BB0366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403621AB-CAB6-4C1D-9418-E84C6199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57500"/>
            <a:ext cx="5334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F843BBA7-7166-4764-971D-36D839ED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95275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每個 output 欄位都有型別與允許值嗎？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F4A4CB63-8460-4A7B-89A1-68B6B45C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57500"/>
            <a:ext cx="3429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4171071F-5925-40A4-A33E-6450A355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52750"/>
            <a:ext cx="320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schema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2BE12295-C2B0-4BBD-9154-377950CD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250CD536-4597-4F6E-8A5F-69EE18D9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Not found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C80762A1-EAA9-4010-A5E6-1A68EF17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09950"/>
            <a:ext cx="5334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39DF3E08-8A93-4A4E-9D14-006C5C31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5052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找不到資料時會停止還是亂補？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FAFB5D8A-EE07-4965-AC31-00BBA481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09950"/>
            <a:ext cx="3429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157A53FD-3BD8-4AFB-A0B2-108C8045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05200"/>
            <a:ext cx="320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not_found rule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78541C32-4B76-4F09-AA36-1DC5074C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64C52B66-75AF-41E3-908F-BCFCA7A2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Boundary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B83F7810-50DE-4594-9865-80583043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962400"/>
            <a:ext cx="5334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29FF3868-90B2-44D4-B6A7-E2522997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5765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PHI、clinical claim、external action 有 gate 嗎？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D5AA7300-6C96-446B-9326-18D4380F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62400"/>
            <a:ext cx="3429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7A2000BC-CFD4-43A5-8C37-1932B352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57650"/>
            <a:ext cx="320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human review</a:t>
            </a:r>
          </a:p>
        </p:txBody>
      </p:sp>
      <p:sp>
        <p:nvSpPr>
          <p:cNvPr id="34" name="cell-4-0">
            <a:extLst xmlns:a="http://schemas.openxmlformats.org/drawingml/2006/main">
              <a:ext uri="{FF2B5EF4-FFF2-40B4-BE49-F238E27FC236}">
                <a16:creationId xmlns:a16="http://schemas.microsoft.com/office/drawing/2014/main" id="{D57698E6-0089-4E1D-8836-5E5358F6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61925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5" name="cell-text-4-0">
            <a:extLst xmlns:a="http://schemas.openxmlformats.org/drawingml/2006/main">
              <a:ext uri="{FF2B5EF4-FFF2-40B4-BE49-F238E27FC236}">
                <a16:creationId xmlns:a16="http://schemas.microsoft.com/office/drawing/2014/main" id="{DA51784E-1D80-4D5D-9A2F-537319BA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36" name="cell-4-1">
            <a:extLst xmlns:a="http://schemas.openxmlformats.org/drawingml/2006/main">
              <a:ext uri="{FF2B5EF4-FFF2-40B4-BE49-F238E27FC236}">
                <a16:creationId xmlns:a16="http://schemas.microsoft.com/office/drawing/2014/main" id="{831FF0AA-2255-4388-97F6-6F61B2FF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14850"/>
            <a:ext cx="5334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7" name="cell-text-4-1">
            <a:extLst xmlns:a="http://schemas.openxmlformats.org/drawingml/2006/main">
              <a:ext uri="{FF2B5EF4-FFF2-40B4-BE49-F238E27FC236}">
                <a16:creationId xmlns:a16="http://schemas.microsoft.com/office/drawing/2014/main" id="{99D69239-27C6-4723-8B6A-7DBF4683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6101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有 sample fixtures 和命令可以重跑嗎？</a:t>
            </a:r>
          </a:p>
        </p:txBody>
      </p:sp>
      <p:sp>
        <p:nvSpPr>
          <p:cNvPr id="38" name="cell-4-2">
            <a:extLst xmlns:a="http://schemas.openxmlformats.org/drawingml/2006/main">
              <a:ext uri="{FF2B5EF4-FFF2-40B4-BE49-F238E27FC236}">
                <a16:creationId xmlns:a16="http://schemas.microsoft.com/office/drawing/2014/main" id="{5562D2BE-C67F-4566-9D56-7C1684D0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514850"/>
            <a:ext cx="3429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9" name="cell-text-4-2">
            <a:extLst xmlns:a="http://schemas.openxmlformats.org/drawingml/2006/main">
              <a:ext uri="{FF2B5EF4-FFF2-40B4-BE49-F238E27FC236}">
                <a16:creationId xmlns:a16="http://schemas.microsoft.com/office/drawing/2014/main" id="{9CA9A442-A1D9-4BB5-B7CE-B33BFB60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10100"/>
            <a:ext cx="320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tests/golden file</a:t>
            </a:r>
          </a:p>
        </p:txBody>
      </p:sp>
    </p:spTree>
    <p:extLst>
      <p:ext uri="{BB962C8B-B14F-4D97-AF65-F5344CB8AC3E}">
        <p14:creationId xmlns:p14="http://schemas.microsoft.com/office/powerpoint/2010/main" val="179715321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2EFC67E-4428-4339-875C-A8D982E0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STUDENT EXERCISE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193CCC6-7406-4AFC-8DCB-83783FCC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學生要交的是 spec，不是看起來很厲害的 prompt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B2B3B20-DCBA-44D1-84CD-FADAA648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38/40</a:t>
            </a:r>
          </a:p>
        </p:txBody>
      </p:sp>
      <p:sp>
        <p:nvSpPr>
          <p:cNvPr id="4" name="header-0">
            <a:extLst xmlns:a="http://schemas.openxmlformats.org/drawingml/2006/main">
              <a:ext uri="{FF2B5EF4-FFF2-40B4-BE49-F238E27FC236}">
                <a16:creationId xmlns:a16="http://schemas.microsoft.com/office/drawing/2014/main" id="{506AB0D8-685D-4AFD-BECF-B2785185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142875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438D4A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5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77FBB6C6-9955-4EF7-8A07-EC3428BF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步驟</a:t>
            </a:r>
          </a:p>
        </p:txBody>
      </p:sp>
      <p:sp>
        <p:nvSpPr>
          <p:cNvPr id="6" name="header-1">
            <a:extLst xmlns:a="http://schemas.openxmlformats.org/drawingml/2006/main">
              <a:ext uri="{FF2B5EF4-FFF2-40B4-BE49-F238E27FC236}">
                <a16:creationId xmlns:a16="http://schemas.microsoft.com/office/drawing/2014/main" id="{1AC8C356-AD4D-4D6B-AB76-3F1FD2A1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885950"/>
            <a:ext cx="49530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438D4A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7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A84D8A11-17C1-4CD3-B5C1-56482D28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00025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交付物</a:t>
            </a:r>
          </a:p>
        </p:txBody>
      </p:sp>
      <p:sp>
        <p:nvSpPr>
          <p:cNvPr id="8" name="header-2">
            <a:extLst xmlns:a="http://schemas.openxmlformats.org/drawingml/2006/main">
              <a:ext uri="{FF2B5EF4-FFF2-40B4-BE49-F238E27FC236}">
                <a16:creationId xmlns:a16="http://schemas.microsoft.com/office/drawing/2014/main" id="{31A97E20-92D5-4E1D-8D6A-6E8D6595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85950"/>
            <a:ext cx="4000500" cy="4191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438D4A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9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18FC5786-3EB0-4FD2-978C-05C840FF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00250"/>
            <a:ext cx="3771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檢查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B794F466-FA33-40C6-83D1-BEE962C3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42875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F1B24999-9A91-4F4E-95CA-8574D25F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1. Pick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C82C6BDC-BDBB-4805-8EA9-9AE4C46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305050"/>
            <a:ext cx="49530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E143A21C-0A18-4DCD-9673-E14B70A6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00300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選一個工具：PubMed / gene / trial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22C2BF93-3DE6-4ABB-B3D3-49E6F309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05050"/>
            <a:ext cx="40005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0EEEAB83-1451-43E4-B763-02D23271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00300"/>
            <a:ext cx="377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scope 是否夠小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357F2E59-3FE8-4706-B065-B4C2F0D5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71800"/>
            <a:ext cx="142875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7558826A-3EBE-4739-B71B-C2870E05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67050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2. Clarify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360DD5DC-2D07-4FA3-927A-3ACD4ADFF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71800"/>
            <a:ext cx="49530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684A2BCE-5A10-4944-AA72-9D30D466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67050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列 5 個 clarification questions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909BEECC-E4A3-4350-B75D-1EF11A71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71800"/>
            <a:ext cx="40005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DA139333-337A-471A-B27F-37295383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67050"/>
            <a:ext cx="377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是否問到資料源與邊界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042B4C2E-F5D1-4066-A82B-664B9562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142875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603164D8-82D7-4975-9EAF-08A01E35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3. Specify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B74532CF-3F12-4ABF-872D-7B14BEE7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638550"/>
            <a:ext cx="49530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FF9DF6F0-1C9E-4A5F-8192-3FC56D0E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733800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填入 SPEC.md template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B27CC8D9-5507-4754-AAB1-367C6AC9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38550"/>
            <a:ext cx="40005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4AAEF087-FBE2-4667-9BD2-AA767018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733800"/>
            <a:ext cx="377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schema、errors、validation 是否完整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3A33CAB3-4E8B-4F40-98A7-3FE2E803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05300"/>
            <a:ext cx="142875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3D06C029-6951-48D3-8C48-5FD138A0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0550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4. Handoff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9E95617A-3631-463F-B98C-22482D95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305300"/>
            <a:ext cx="49530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BEB0E244-6CCA-46B8-A8DD-38DDC169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00550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寫給 coding agent 的 implementation prompt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6441958F-E6F1-419A-BF95-6CC850B1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305300"/>
            <a:ext cx="4000500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577936DB-0892-41B9-9FBC-060D29C4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400550"/>
            <a:ext cx="377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是否限制改檔與測試命令</a:t>
            </a:r>
          </a:p>
        </p:txBody>
      </p:sp>
    </p:spTree>
    <p:extLst>
      <p:ext uri="{BB962C8B-B14F-4D97-AF65-F5344CB8AC3E}">
        <p14:creationId xmlns:p14="http://schemas.microsoft.com/office/powerpoint/2010/main" val="24277136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935635B-6CDB-4F75-B332-87FF9F26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MATERIALS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2BB3172-856C-47A1-8CFA-6D83AEE7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Lab bundle 包含範本、三個完整 spec 與 Spectra demo prompt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B22F7A0-153C-46AA-A6BA-B48C0985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39/40</a:t>
            </a:r>
          </a:p>
        </p:txBody>
      </p:sp>
      <p:sp>
        <p:nvSpPr>
          <p:cNvPr id="4" name="lab-box">
            <a:extLst xmlns:a="http://schemas.openxmlformats.org/drawingml/2006/main">
              <a:ext uri="{FF2B5EF4-FFF2-40B4-BE49-F238E27FC236}">
                <a16:creationId xmlns:a16="http://schemas.microsoft.com/office/drawing/2014/main" id="{4138F53B-0D2E-40A1-82B3-006621629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47625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1ECFA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5" name="lab-title">
            <a:extLst xmlns:a="http://schemas.openxmlformats.org/drawingml/2006/main">
              <a:ext uri="{FF2B5EF4-FFF2-40B4-BE49-F238E27FC236}">
                <a16:creationId xmlns:a16="http://schemas.microsoft.com/office/drawing/2014/main" id="{51F5B367-1ED4-475C-A998-CEA6C990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860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Repo materials</a:t>
            </a:r>
          </a:p>
        </p:txBody>
      </p:sp>
      <p:sp>
        <p:nvSpPr>
          <p:cNvPr id="6" name="lab-list">
            <a:extLst xmlns:a="http://schemas.openxmlformats.org/drawingml/2006/main">
              <a:ext uri="{FF2B5EF4-FFF2-40B4-BE49-F238E27FC236}">
                <a16:creationId xmlns:a16="http://schemas.microsoft.com/office/drawing/2014/main" id="{1037CB39-2037-4CD0-B63E-BF2D8358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95600"/>
            <a:ext cx="3790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templates/biomedical-tool-spec-template.md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examples/pubmed-evidence-extractor/SPEC.md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examples/gene-list-annotation-tool/SPEC.md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examples/clinical-trial-summarizer/SPEC.md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prompts/spectra_demo_prompt.md</a:t>
            </a:r>
          </a:p>
        </p:txBody>
      </p:sp>
      <p:sp>
        <p:nvSpPr>
          <p:cNvPr id="7" name="src-box">
            <a:extLst xmlns:a="http://schemas.openxmlformats.org/drawingml/2006/main">
              <a:ext uri="{FF2B5EF4-FFF2-40B4-BE49-F238E27FC236}">
                <a16:creationId xmlns:a16="http://schemas.microsoft.com/office/drawing/2014/main" id="{85C9E1E4-0AEF-4D2C-8902-E9FBF575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43100"/>
            <a:ext cx="447675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src-title">
            <a:extLst xmlns:a="http://schemas.openxmlformats.org/drawingml/2006/main">
              <a:ext uri="{FF2B5EF4-FFF2-40B4-BE49-F238E27FC236}">
                <a16:creationId xmlns:a16="http://schemas.microsoft.com/office/drawing/2014/main" id="{45B41AA3-622B-49FE-B6FC-A685F753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860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Referenced sources</a:t>
            </a:r>
          </a:p>
        </p:txBody>
      </p:sp>
      <p:sp>
        <p:nvSpPr>
          <p:cNvPr id="9" name="src-list">
            <a:extLst xmlns:a="http://schemas.openxmlformats.org/drawingml/2006/main">
              <a:ext uri="{FF2B5EF4-FFF2-40B4-BE49-F238E27FC236}">
                <a16:creationId xmlns:a16="http://schemas.microsoft.com/office/drawing/2014/main" id="{989423C7-7673-456C-A34F-6E844230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95600"/>
            <a:ext cx="36385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ihower.tw SDD critique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Kao Chen Long SDD / Spectra articles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Milk Midi GitHub Spec Kit walkthrough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琳.tw SDD workflow guide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Tenten SDD overview</a:t>
            </a:r>
          </a:p>
        </p:txBody>
      </p:sp>
    </p:spTree>
    <p:extLst>
      <p:ext uri="{BB962C8B-B14F-4D97-AF65-F5344CB8AC3E}">
        <p14:creationId xmlns:p14="http://schemas.microsoft.com/office/powerpoint/2010/main" val="55449997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5184107-62D5-4F34-B19F-0EA3E946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F4DA47E-0032-4822-8CF1-E57DC444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最後帶走五句話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F17E4E5-CA3B-470B-859C-CD6BFE04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40/40</a:t>
            </a:r>
          </a:p>
        </p:txBody>
      </p:sp>
      <p:sp>
        <p:nvSpPr>
          <p:cNvPr id="4" name="wrap-0">
            <a:extLst xmlns:a="http://schemas.openxmlformats.org/drawingml/2006/main">
              <a:ext uri="{FF2B5EF4-FFF2-40B4-BE49-F238E27FC236}">
                <a16:creationId xmlns:a16="http://schemas.microsoft.com/office/drawing/2014/main" id="{2349D260-BDC4-4FE7-B956-502B3157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8115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wrap-text-0">
            <a:extLst xmlns:a="http://schemas.openxmlformats.org/drawingml/2006/main">
              <a:ext uri="{FF2B5EF4-FFF2-40B4-BE49-F238E27FC236}">
                <a16:creationId xmlns:a16="http://schemas.microsoft.com/office/drawing/2014/main" id="{94C2D46B-8BBB-4BBA-BAA5-03E99164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3355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1. Spec 不是文件崇拜，而是讓正確性可以被檢查。</a:t>
            </a:r>
          </a:p>
        </p:txBody>
      </p:sp>
      <p:sp>
        <p:nvSpPr>
          <p:cNvPr id="6" name="wrap-1">
            <a:extLst xmlns:a="http://schemas.openxmlformats.org/drawingml/2006/main">
              <a:ext uri="{FF2B5EF4-FFF2-40B4-BE49-F238E27FC236}">
                <a16:creationId xmlns:a16="http://schemas.microsoft.com/office/drawing/2014/main" id="{511AE600-E726-47FC-AC9E-98FFF92E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6220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7" name="wrap-text-1">
            <a:extLst xmlns:a="http://schemas.openxmlformats.org/drawingml/2006/main">
              <a:ext uri="{FF2B5EF4-FFF2-40B4-BE49-F238E27FC236}">
                <a16:creationId xmlns:a16="http://schemas.microsoft.com/office/drawing/2014/main" id="{DE71588A-40A8-48DE-9391-6237B878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1460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2. 模糊需求要先問清楚，不能直接交給 agent 寫 code。</a:t>
            </a:r>
          </a:p>
        </p:txBody>
      </p:sp>
      <p:sp>
        <p:nvSpPr>
          <p:cNvPr id="8" name="wrap-2">
            <a:extLst xmlns:a="http://schemas.openxmlformats.org/drawingml/2006/main">
              <a:ext uri="{FF2B5EF4-FFF2-40B4-BE49-F238E27FC236}">
                <a16:creationId xmlns:a16="http://schemas.microsoft.com/office/drawing/2014/main" id="{A454C148-3A9D-4317-9866-5A9C39E0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9" name="wrap-text-2">
            <a:extLst xmlns:a="http://schemas.openxmlformats.org/drawingml/2006/main">
              <a:ext uri="{FF2B5EF4-FFF2-40B4-BE49-F238E27FC236}">
                <a16:creationId xmlns:a16="http://schemas.microsoft.com/office/drawing/2014/main" id="{DC60DAA0-2D1C-4C46-8CFF-64E89341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3. Input、output、boundary、error、validation 是最小骨架。</a:t>
            </a:r>
          </a:p>
        </p:txBody>
      </p:sp>
      <p:sp>
        <p:nvSpPr>
          <p:cNvPr id="10" name="wrap-3">
            <a:extLst xmlns:a="http://schemas.openxmlformats.org/drawingml/2006/main">
              <a:ext uri="{FF2B5EF4-FFF2-40B4-BE49-F238E27FC236}">
                <a16:creationId xmlns:a16="http://schemas.microsoft.com/office/drawing/2014/main" id="{D11C6463-587F-4A95-BBEA-75A4455B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2430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1ECFA"/>
          </a:solidFill>
          <a:ln xmlns:a="http://schemas.openxmlformats.org/drawingml/2006/main" w="9525">
            <a:solidFill>
              <a:srgbClr val="6B4AA0"/>
            </a:solidFill>
            <a:prstDash val="solid"/>
          </a:ln>
        </p:spPr>
      </p:sp>
      <p:sp>
        <p:nvSpPr>
          <p:cNvPr id="11" name="wrap-text-3">
            <a:extLst xmlns:a="http://schemas.openxmlformats.org/drawingml/2006/main">
              <a:ext uri="{FF2B5EF4-FFF2-40B4-BE49-F238E27FC236}">
                <a16:creationId xmlns:a16="http://schemas.microsoft.com/office/drawing/2014/main" id="{A6ECF759-F152-46C2-AABA-7EE5EDB2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7670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4. 生醫工具要把 evidence、not found、human review 寫進規格。</a:t>
            </a:r>
          </a:p>
        </p:txBody>
      </p:sp>
      <p:sp>
        <p:nvSpPr>
          <p:cNvPr id="12" name="wrap-4">
            <a:extLst xmlns:a="http://schemas.openxmlformats.org/drawingml/2006/main">
              <a:ext uri="{FF2B5EF4-FFF2-40B4-BE49-F238E27FC236}">
                <a16:creationId xmlns:a16="http://schemas.microsoft.com/office/drawing/2014/main" id="{CABE6E04-6F85-44CC-89FE-9A59997B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0535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3" name="wrap-text-4">
            <a:extLst xmlns:a="http://schemas.openxmlformats.org/drawingml/2006/main">
              <a:ext uri="{FF2B5EF4-FFF2-40B4-BE49-F238E27FC236}">
                <a16:creationId xmlns:a16="http://schemas.microsoft.com/office/drawing/2014/main" id="{8F540B0B-701D-410F-803A-72BE3470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5775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5. SDD 成敗取決於 spec 是否跟測試和 commit 一起演進。</a:t>
            </a:r>
          </a:p>
        </p:txBody>
      </p:sp>
    </p:spTree>
    <p:extLst>
      <p:ext uri="{BB962C8B-B14F-4D97-AF65-F5344CB8AC3E}">
        <p14:creationId xmlns:p14="http://schemas.microsoft.com/office/powerpoint/2010/main" val="10770792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2026-07-07T12:59:58.2350000Z</dcterms:created>
  <dcterms:modified xsi:type="dcterms:W3CDTF">2026-07-07T12:59:58.2350000Z</dcterms:modified>
</coreProperties>
</file>