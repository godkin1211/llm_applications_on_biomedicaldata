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4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889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這堂課是實作課。學生可以用桌面 agent 對話（Track A）、寫程式呼叫 LLM API（Track B），或用 LLM client 做輕量程式練習（Track C，額外練習）。三條路線最後都要交人工審過的 evidence table。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三段實作切換：先共同設計 spec/schema，再依路線分頭實作，最後統一走人工 review。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這张建立全课流程。Draft 阶段不管走哪条路线，都只是初稿，不是结果。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提醒學生縮小問題，避免太大題目讓 agent 生成空泛摘要。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不管等一下走哪條路線，task spec 和 schema 都要先定義好，這是三條路線共同的起點。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spec 是這堂 practice 的實驗 protocol。不要說：幫我整理。 要說：照規格建表。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先把這份填好，不要讓 agent 或程式猜你的作業規格。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這是同一份 task spec 填完的樣子；你可以直接換成自己選的 gene / drug / disease。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欄位設計是安全設計。schema 不是行政表格，而是錯誤偵測工具，也是 Track B 的 JSON schema 依據。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欄位多一點不是為了漂亮，是為了讓錯誤比較難躲起來，也是 Track B JSON schema 的依據。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範例：一列填好的 evidence table 長這樣。欄位名稱和 schema 完全一樣，差別只在於這裡填的是真的內容，不是 &lt;placeholder&gt;。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Confidence 不是心情，是 evidence 規則。逐列說明欄位和檢查方式。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同一份 task spec，可以用桌面 agent 對話、寫程式呼叫 API，或用 LLM client 快速試作。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三條路線最後都要交同一份 human-reviewed evidence table。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適合第一次做這個練習，或想先看懂流程再考慮寫程式的人。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A 適合誰、能做到什麼。先學會 看懂流程， 再考慮寫程式。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 prompt 直接貼規格，不用另外描述一次任務。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這只是 AI 的初稿，PMID 和 quote 都還沒被你確認過——下一步才是整理成 CSV 並人工檢查。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A 操作步驟與地雷。對話紀錄 也是 evidence trail。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一定要修；WARNING 代表機器覺得可疑，仍需人工確認。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task spec 變成可重複執行、可自動檢查的 pipeline。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為什麼要寫程式呼叫 API。程式化 不等於更準， 只是更可重現。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key 是機密資訊；用環境變數或 .env，不要 commit 進 git。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直接讀規格檔，不要在程式裡重打一份規格。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output 逼模型照 schema 回傳，比純文字要求 CSV 格式更穩定。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下一步的 write_csv() 就是把這個 JSON 轉成 evidence_table.csv 的一列。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轉檔這步不需要 AI；用一般 Python 就能保證欄位順序正確。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這就是 loop engineering 的縮小版：observe → evaluate → revise → stop。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重點不是程式多聰明，是流程有停止條件，而且每次執行都留下 log。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如果你想寫一點程式，但還不想寫完整 pipeline，可以先從這裡開始。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C 是什麼。先學會 一次呼叫， 再學會自動迴圈。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沒有 schema、沒有重試迴圈。Anthropic 版本只要把 client 換成 Anthropic()，呼叫 client.messages.create()。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這是整堂課最重要的地方：抓出 agent 或程式看起來很會、其實沒查好的地方。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 review checklist，可以要求學生實際對每列 table 勾選，不管 table 是對話產生還是程式產生。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人工 review 常會抓到這些錯。逐列說明欄位和檢查方式。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把你的人工檢查寫下來，不要只在心裡覺得有看過。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覺得 quote 有點誇大時，就是在這裡動手改，不是留給 AI 自己判斷。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要反映 review 後的結果，不是 agent 或程式初稿的興奮程度。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要看得出你做過 review，不是把 AI 的第一版摘要直接貼上來。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最後收斂成果：能不能交出可查、可改、可重現的 table。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這堂 practice 看的是 workflow，不是路線多炫技。逐列說明欄位和檢查方式。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卡住的時候，先問自己是哪一層壞掉。卡住不是失敗， 是 workflow 在提醒你檢查。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A / C 卡住時用這個 audit prompt；Track B 已經把這個邏輯寫進自動迴圈。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今天學到的不是做表格，是做可驗證的 AI workflow。AI 加速整理， 人負責可信度， 程式讓流程 可重現。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收束：學生最後交的是 human-reviewed artifact，不管中間走哪條路線產生初稿。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7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4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ucid-nice-bell/mnt/outputs/build/icons/deco-dna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-1333500"/>
            <a:ext cx="5905500" cy="5905500"/>
          </a:xfrm>
          <a:prstGeom prst="rect">
            <a:avLst/>
          </a:prstGeom>
        </p:spPr>
      </p:pic>
      <p:pic>
        <p:nvPicPr>
          <p:cNvPr id="3" name="Image 1" descr="/sessions/lucid-nice-bell/mnt/outputs/build/icons/deco-atom-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14500" y="3619500"/>
            <a:ext cx="4000500" cy="4000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5" name="Image 2" descr="/sessions/lucid-nice-bell/mnt/outputs/build/icons/flask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05  |  HANDS-ON PRACTICE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742950" y="1009650"/>
            <a:ext cx="10477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Biomedical evidence table: from chat to code</a:t>
            </a:r>
            <a:endParaRPr lang="en-US" sz="3300" dirty="0"/>
          </a:p>
        </p:txBody>
      </p:sp>
      <p:sp>
        <p:nvSpPr>
          <p:cNvPr id="8" name="Text 3"/>
          <p:cNvSpPr/>
          <p:nvPr/>
        </p:nvSpPr>
        <p:spPr>
          <a:xfrm>
            <a:off x="781050" y="1714500"/>
            <a:ext cx="1028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選一個 gene / drug / disease 問題，用桌面 agent 或 LLM API 建 evidence table，再人工檢查與修正</a:t>
            </a:r>
            <a:endParaRPr lang="en-US" sz="2100" dirty="0"/>
          </a:p>
        </p:txBody>
      </p:sp>
      <p:sp>
        <p:nvSpPr>
          <p:cNvPr id="9" name="Shape 4"/>
          <p:cNvSpPr/>
          <p:nvPr/>
        </p:nvSpPr>
        <p:spPr>
          <a:xfrm>
            <a:off x="876300" y="3048000"/>
            <a:ext cx="4762500" cy="2381250"/>
          </a:xfrm>
          <a:prstGeom prst="roundRect">
            <a:avLst>
              <a:gd name="adj" fmla="val 2304"/>
            </a:avLst>
          </a:prstGeom>
          <a:solidFill>
            <a:srgbClr val="EAF8F6"/>
          </a:solidFill>
          <a:ln w="17780">
            <a:solidFill>
              <a:srgbClr val="0E8F88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04900" y="32766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11" name="Image 3" descr="/sessions/lucid-nice-bell/mnt/outputs/build/icons/box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624" y="3354324"/>
            <a:ext cx="168402" cy="1684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24000" y="32766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今天要產出的東西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1314450" y="3771900"/>
            <a:ext cx="40957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evidence_table.csv</a:t>
            </a:r>
            <a:endParaRPr lang="en-US" sz="15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review_checklist.md</a:t>
            </a:r>
            <a:endParaRPr lang="en-US" sz="15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final_summary.md</a:t>
            </a:r>
            <a:endParaRPr lang="en-US" sz="15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(Track B / C) 你的呼叫程式與執行 log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5981700" y="3048000"/>
            <a:ext cx="4762500" cy="2381250"/>
          </a:xfrm>
          <a:prstGeom prst="roundRect">
            <a:avLst>
              <a:gd name="adj" fmla="val 2304"/>
            </a:avLst>
          </a:prstGeom>
          <a:solidFill>
            <a:srgbClr val="FDEDEA"/>
          </a:solidFill>
          <a:ln w="17780">
            <a:solidFill>
              <a:srgbClr val="C85A4A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210300" y="3276600"/>
            <a:ext cx="323850" cy="323850"/>
          </a:xfrm>
          <a:prstGeom prst="ellipse">
            <a:avLst/>
          </a:prstGeom>
          <a:solidFill>
            <a:srgbClr val="FDEDEA"/>
          </a:solidFill>
          <a:ln w="12700">
            <a:solidFill>
              <a:srgbClr val="C85A4A"/>
            </a:solidFill>
            <a:prstDash val="solid"/>
          </a:ln>
        </p:spPr>
      </p:sp>
      <p:pic>
        <p:nvPicPr>
          <p:cNvPr id="16" name="Image 4" descr="/sessions/lucid-nice-bell/mnt/outputs/build/icons/alert-co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8024" y="3354324"/>
            <a:ext cx="168402" cy="16840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29400" y="32766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今天的鐵律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6362700" y="3810000"/>
            <a:ext cx="4095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原始輸出不能直接交，不管是對話還是 API 產生的。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最後要交 human-reviewed table。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1/45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3" name="Image 0" descr="/sessions/lucid-nice-bell/mnt/outputs/build/icons/clipboard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90-MINUTE PRACTICE FLOW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90 分鐘做出一份可檢查 evidence table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2/45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14400" y="1619250"/>
            <a:ext cx="1219200" cy="400050"/>
          </a:xfrm>
          <a:prstGeom prst="roundRect">
            <a:avLst>
              <a:gd name="adj" fmla="val 13714"/>
            </a:avLst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619250"/>
            <a:ext cx="1219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0-8 min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476500" y="16383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任務與評分標準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715000" y="1666875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知道 evidence table 長什麼樣，以及三條實作路線。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2266950"/>
            <a:ext cx="1219200" cy="400050"/>
          </a:xfrm>
          <a:prstGeom prst="roundRect">
            <a:avLst>
              <a:gd name="adj" fmla="val 13714"/>
            </a:avLst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266950"/>
            <a:ext cx="1219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8-20 min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476500" y="22860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 task spec 和 schema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715000" y="2314575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先定義欄位與停止規則，不急著問 AI。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14400" y="2914650"/>
            <a:ext cx="1219200" cy="400050"/>
          </a:xfrm>
          <a:prstGeom prst="roundRect">
            <a:avLst>
              <a:gd name="adj" fmla="val 13714"/>
            </a:avLst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2914650"/>
            <a:ext cx="1219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min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476500" y="29337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選路線：對話 / API / client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715000" y="2962275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 Track A、B、C 的差異與示範。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14400" y="3562350"/>
            <a:ext cx="1219200" cy="400050"/>
          </a:xfrm>
          <a:prstGeom prst="roundRect">
            <a:avLst>
              <a:gd name="adj" fmla="val 13714"/>
            </a:avLst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562350"/>
            <a:ext cx="1219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30-60 min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476500" y="35814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動手做出你的第一版 table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715000" y="3609975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照你選的路線，讓 agent 或程式先生出初稿。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14400" y="4210050"/>
            <a:ext cx="1219200" cy="400050"/>
          </a:xfrm>
          <a:prstGeom prst="roundRect">
            <a:avLst>
              <a:gd name="adj" fmla="val 13714"/>
            </a:avLst>
          </a:prstGeom>
          <a:solidFill>
            <a:srgbClr val="FFF8E8"/>
          </a:solidFill>
          <a:ln w="12700">
            <a:solidFill>
              <a:srgbClr val="D89A1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4210050"/>
            <a:ext cx="1219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60-80 min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476500" y="42291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人工檢查與修正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715000" y="4257675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PMID、quote、claim、confidence。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14400" y="4857750"/>
            <a:ext cx="1219200" cy="400050"/>
          </a:xfrm>
          <a:prstGeom prst="roundRect">
            <a:avLst>
              <a:gd name="adj" fmla="val 13714"/>
            </a:avLst>
          </a:prstGeom>
          <a:solidFill>
            <a:srgbClr val="FFF8E8"/>
          </a:solidFill>
          <a:ln w="12700">
            <a:solidFill>
              <a:srgbClr val="D89A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4857750"/>
            <a:ext cx="1219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80-90 min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476500" y="48768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交付與回顧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5715000" y="4905375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 CSV、checklist、summary（與程式/log）。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3" name="Image 0" descr="/sessions/lucid-nice-bell/mnt/outputs/build/icons/flow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WORKFLOW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今天的 workflow：先設計，再選路線，最後人工驗證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3/45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81050" y="2857500"/>
            <a:ext cx="1428750" cy="590550"/>
          </a:xfrm>
          <a:prstGeom prst="roundRect">
            <a:avLst>
              <a:gd name="adj" fmla="val 9290"/>
            </a:avLst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  <a:effectLst>
            <a:outerShdw blurRad="38100" dist="12700" dir="2700000" algn="bl" rotWithShape="0">
              <a:srgbClr val="1B253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1050" y="2857500"/>
            <a:ext cx="14287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47950" y="2857500"/>
            <a:ext cx="1428750" cy="590550"/>
          </a:xfrm>
          <a:prstGeom prst="roundRect">
            <a:avLst>
              <a:gd name="adj" fmla="val 9290"/>
            </a:avLst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  <a:effectLst>
            <a:outerShdw blurRad="38100" dist="12700" dir="2700000" algn="bl" rotWithShape="0">
              <a:srgbClr val="1B253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47950" y="2857500"/>
            <a:ext cx="14287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spec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209800" y="3152775"/>
            <a:ext cx="438150" cy="0"/>
          </a:xfrm>
          <a:prstGeom prst="line">
            <a:avLst/>
          </a:prstGeom>
          <a:noFill/>
          <a:ln w="17780">
            <a:solidFill>
              <a:srgbClr val="D4DA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4850" y="2857500"/>
            <a:ext cx="1428750" cy="590550"/>
          </a:xfrm>
          <a:prstGeom prst="roundRect">
            <a:avLst>
              <a:gd name="adj" fmla="val 9290"/>
            </a:avLst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  <a:effectLst>
            <a:outerShdw blurRad="38100" dist="12700" dir="2700000" algn="bl" rotWithShape="0">
              <a:srgbClr val="1B2530">
                <a:alpha val="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14850" y="2857500"/>
            <a:ext cx="14287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/ B / C)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076700" y="3152775"/>
            <a:ext cx="438150" cy="0"/>
          </a:xfrm>
          <a:prstGeom prst="line">
            <a:avLst/>
          </a:prstGeom>
          <a:noFill/>
          <a:ln w="17780">
            <a:solidFill>
              <a:srgbClr val="D4DA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81750" y="2857500"/>
            <a:ext cx="1428750" cy="590550"/>
          </a:xfrm>
          <a:prstGeom prst="roundRect">
            <a:avLst>
              <a:gd name="adj" fmla="val 9290"/>
            </a:avLst>
          </a:prstGeom>
          <a:solidFill>
            <a:srgbClr val="FFF8E8"/>
          </a:solidFill>
          <a:ln w="12700">
            <a:solidFill>
              <a:srgbClr val="D89A16"/>
            </a:solidFill>
            <a:prstDash val="solid"/>
          </a:ln>
          <a:effectLst>
            <a:outerShdw blurRad="38100" dist="12700" dir="2700000" algn="bl" rotWithShape="0">
              <a:srgbClr val="1B2530">
                <a:alpha val="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81750" y="2857500"/>
            <a:ext cx="14287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3152775"/>
            <a:ext cx="438150" cy="0"/>
          </a:xfrm>
          <a:prstGeom prst="line">
            <a:avLst/>
          </a:prstGeom>
          <a:noFill/>
          <a:ln w="17780">
            <a:solidFill>
              <a:srgbClr val="D4DA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48650" y="2857500"/>
            <a:ext cx="1428750" cy="590550"/>
          </a:xfrm>
          <a:prstGeom prst="roundRect">
            <a:avLst>
              <a:gd name="adj" fmla="val 9290"/>
            </a:avLst>
          </a:prstGeom>
          <a:solidFill>
            <a:srgbClr val="FDEDEA"/>
          </a:solidFill>
          <a:ln w="12700">
            <a:solidFill>
              <a:srgbClr val="C85A4A"/>
            </a:solidFill>
            <a:prstDash val="solid"/>
          </a:ln>
          <a:effectLst>
            <a:outerShdw blurRad="38100" dist="12700" dir="2700000" algn="bl" rotWithShape="0">
              <a:srgbClr val="1B2530">
                <a:alpha val="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48650" y="2857500"/>
            <a:ext cx="14287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fix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810500" y="3152775"/>
            <a:ext cx="438150" cy="0"/>
          </a:xfrm>
          <a:prstGeom prst="line">
            <a:avLst/>
          </a:prstGeom>
          <a:noFill/>
          <a:ln w="17780">
            <a:solidFill>
              <a:srgbClr val="D4DA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115550" y="2857500"/>
            <a:ext cx="1428750" cy="590550"/>
          </a:xfrm>
          <a:prstGeom prst="roundRect">
            <a:avLst>
              <a:gd name="adj" fmla="val 9290"/>
            </a:avLst>
          </a:prstGeom>
          <a:solidFill>
            <a:srgbClr val="EDF8EE"/>
          </a:solidFill>
          <a:ln w="12700">
            <a:solidFill>
              <a:srgbClr val="438D4A"/>
            </a:solidFill>
            <a:prstDash val="solid"/>
          </a:ln>
          <a:effectLst>
            <a:outerShdw blurRad="38100" dist="12700" dir="2700000" algn="bl" rotWithShape="0">
              <a:srgbClr val="1B2530">
                <a:alpha val="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115550" y="2857500"/>
            <a:ext cx="14287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table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677400" y="3152775"/>
            <a:ext cx="438150" cy="0"/>
          </a:xfrm>
          <a:prstGeom prst="line">
            <a:avLst/>
          </a:prstGeom>
          <a:noFill/>
          <a:ln w="17780">
            <a:solidFill>
              <a:srgbClr val="D4DA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76300" y="3810000"/>
            <a:ext cx="10439400" cy="952500"/>
          </a:xfrm>
          <a:prstGeom prst="roundRect">
            <a:avLst>
              <a:gd name="adj" fmla="val 5760"/>
            </a:avLst>
          </a:prstGeom>
          <a:solidFill>
            <a:srgbClr val="FFFFFF"/>
          </a:solidFill>
          <a:ln w="12700">
            <a:solidFill>
              <a:srgbClr val="D4DADD"/>
            </a:solidFill>
            <a:prstDash val="solid"/>
          </a:ln>
          <a:effectLst>
            <a:outerShdw blurRad="38100" dist="12700" dir="2700000" algn="bl" rotWithShape="0">
              <a:srgbClr val="1B253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85850" y="40386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26" name="Image 1" descr="/sessions/lucid-nice-bell/mnt/outputs/build/icons/chat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574" y="4116324"/>
            <a:ext cx="168402" cy="16840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504950" y="4019550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A：</a:t>
            </a: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桌面 agent 對話視窗，複製貼上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4572000" y="4038600"/>
            <a:ext cx="323850" cy="32385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29" name="Image 2" descr="/sessions/lucid-nice-bell/mnt/outputs/build/icons/terminal-indi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4116324"/>
            <a:ext cx="168402" cy="16840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991100" y="4019550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3446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B：</a:t>
            </a: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 Python 呼叫 LLM API，自動驗證迴圈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058150" y="4038600"/>
            <a:ext cx="323850" cy="323850"/>
          </a:xfrm>
          <a:prstGeom prst="ellipse">
            <a:avLst/>
          </a:prstGeom>
          <a:solidFill>
            <a:srgbClr val="FFF8E8"/>
          </a:solidFill>
          <a:ln w="12700">
            <a:solidFill>
              <a:srgbClr val="D89A16"/>
            </a:solidFill>
            <a:prstDash val="solid"/>
          </a:ln>
        </p:spPr>
      </p:sp>
      <p:pic>
        <p:nvPicPr>
          <p:cNvPr id="32" name="Image 3" descr="/sessions/lucid-nice-bell/mnt/outputs/build/icons/plug-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874" y="4116324"/>
            <a:ext cx="168402" cy="16840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477250" y="4019550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D89A1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C：</a:t>
            </a: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LLM client 單次呼叫（額外練習）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1524000" y="520065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關鍵不是產生表格，而是不管走哪條路線，都留下 evidence trail 和 reviewer correction。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3" name="Image 0" descr="/sessions/lucid-nice-bell/mnt/outputs/build/icons/search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QUESTION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每組選一個問題，不要選整個宇宙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4/45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28700" y="2000250"/>
            <a:ext cx="3048000" cy="2571750"/>
          </a:xfrm>
          <a:prstGeom prst="roundRect">
            <a:avLst>
              <a:gd name="adj" fmla="val 2133"/>
            </a:avLst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  <a:effectLst>
            <a:outerShdw blurRad="38100" dist="12700" dir="2700000" algn="bl" rotWithShape="0">
              <a:srgbClr val="1B253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343150" y="2209800"/>
            <a:ext cx="419100" cy="41910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9" name="Image 1" descr="/sessions/lucid-nice-bell/mnt/outputs/build/icons/dna-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925" y="2314575"/>
            <a:ext cx="209550" cy="2095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8700" y="2724150"/>
            <a:ext cx="304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257300" y="3200400"/>
            <a:ext cx="25908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EGFR exon 19 deletion 和 NSCLC 治療反應有什麼證據？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4572000" y="2000250"/>
            <a:ext cx="3048000" cy="2571750"/>
          </a:xfrm>
          <a:prstGeom prst="roundRect">
            <a:avLst>
              <a:gd name="adj" fmla="val 2133"/>
            </a:avLst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  <a:effectLst>
            <a:outerShdw blurRad="38100" dist="12700" dir="2700000" algn="bl" rotWithShape="0">
              <a:srgbClr val="1B253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86450" y="2209800"/>
            <a:ext cx="419100" cy="41910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14" name="Image 2" descr="/sessions/lucid-nice-bell/mnt/outputs/build/icons/flask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225" y="2314575"/>
            <a:ext cx="209550" cy="2095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2724150"/>
            <a:ext cx="304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800600" y="3200400"/>
            <a:ext cx="25908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Metformin 和 Alzheimer's disease 風險是否有關？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8115300" y="2000250"/>
            <a:ext cx="3048000" cy="2571750"/>
          </a:xfrm>
          <a:prstGeom prst="roundRect">
            <a:avLst>
              <a:gd name="adj" fmla="val 2133"/>
            </a:avLst>
          </a:prstGeom>
          <a:solidFill>
            <a:srgbClr val="FFF8E8"/>
          </a:solidFill>
          <a:ln w="12700">
            <a:solidFill>
              <a:srgbClr val="D89A16"/>
            </a:solidFill>
            <a:prstDash val="solid"/>
          </a:ln>
          <a:effectLst>
            <a:outerShdw blurRad="38100" dist="12700" dir="2700000" algn="bl" rotWithShape="0">
              <a:srgbClr val="1B253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429750" y="2209800"/>
            <a:ext cx="419100" cy="419100"/>
          </a:xfrm>
          <a:prstGeom prst="ellipse">
            <a:avLst/>
          </a:prstGeom>
          <a:solidFill>
            <a:srgbClr val="FFF8E8"/>
          </a:solidFill>
          <a:ln w="12700">
            <a:solidFill>
              <a:srgbClr val="D89A16"/>
            </a:solidFill>
            <a:prstDash val="solid"/>
          </a:ln>
        </p:spPr>
      </p:sp>
      <p:pic>
        <p:nvPicPr>
          <p:cNvPr id="19" name="Image 3" descr="/sessions/lucid-nice-bell/mnt/outputs/build/icons/shield-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4525" y="2314575"/>
            <a:ext cx="209550" cy="2095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15300" y="2724150"/>
            <a:ext cx="304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8343900" y="3200400"/>
            <a:ext cx="25908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APOE ε4 和 Alzheimer's disease 的證據強度是什麼？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1695450" y="5676900"/>
            <a:ext cx="876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問題越小，table 越可靠；問題越大，AI 越會開始表演。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ucid-nice-bell/mnt/outputs/build/icons/deco-atom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09550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" y="1238250"/>
            <a:ext cx="552450" cy="552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4" name="Image 1" descr="/sessions/lucid-nice-bell/mnt/outputs/build/icons/clipboard-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7" y="1381887"/>
            <a:ext cx="265176" cy="2651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00100" y="1924050"/>
            <a:ext cx="1028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3446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先設計任務，不要一開始就叫 AI 開工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38200" y="3162300"/>
            <a:ext cx="933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不管等一下走哪條路線，task spec 和 schema 都要先定義好，這是三條路線共同的起點。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5/45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3" name="Image 0" descr="/sessions/lucid-nice-bell/mnt/outputs/build/icons/clipboard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SPEC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Task spec 是這堂 practice 的實驗 protocol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6/45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8700" y="2190750"/>
            <a:ext cx="57721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研究問題要小到可以在 90 分鐘內檢查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指定 entity、來源類型、輸出欄位、停止規則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先定義完成標準，這份規格對話和程式都能直接用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43800" y="2152650"/>
            <a:ext cx="3200400" cy="2343150"/>
          </a:xfrm>
          <a:prstGeom prst="roundRect">
            <a:avLst>
              <a:gd name="adj" fmla="val 2341"/>
            </a:avLst>
          </a:prstGeom>
          <a:solidFill>
            <a:srgbClr val="EEF1FF"/>
          </a:solidFill>
          <a:ln w="17780">
            <a:solidFill>
              <a:srgbClr val="3446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15400" y="238125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10" name="Image 1" descr="/sessions/lucid-nice-bell/mnt/outputs/build/icons/target-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249097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48600" y="2952750"/>
            <a:ext cx="25908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3446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不要說：幫我整理。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3446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要說：照規格建表。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3" name="Image 0" descr="/sessions/lucid-nice-bell/mnt/outputs/build/icons/clipboard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SPEC TEMPLATE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先填這份 task spec，再開始建表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7/45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task_spec.yaml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&lt;one focused biomedical question&gt;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entity_type: gene | drug | disease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entity: &lt;approved name&gt;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allowed_sources: PubMed, DOI, guideline, database page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output_file: evidence_table.csv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not_found_rule: write "not_found"; do not invent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review_boundary: clinical claim must be human-reviewed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先把這份填好，不要讓 agent 或程式猜你的作業規格。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DF8EE"/>
          </a:solidFill>
          <a:ln w="12700">
            <a:solidFill>
              <a:srgbClr val="438D4A"/>
            </a:solidFill>
            <a:prstDash val="solid"/>
          </a:ln>
        </p:spPr>
      </p:sp>
      <p:pic>
        <p:nvPicPr>
          <p:cNvPr id="3" name="Image 0" descr="/sessions/lucid-nice-bell/mnt/outputs/build/icons/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範例：填好的 task spec 長這樣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8/45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task_spec.yaml（filled）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EGFR exon 19 deletion 和 NSCLC 治療反應有什麼證據？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entity_type: gene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entity: EGFR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allowed_sources: PubMed, DOI, NCCN guideline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output_file: evidence_table.csv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not_found_rule: 找不到就寫 "not_found"，不可以編造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review_boundary: 治療相關 claim 一定要人工複查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這是同一份 task spec 填完的樣子；你可以直接換成自己選的 gene / drug / disease。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3" name="Image 0" descr="/sessions/lucid-nice-bell/mnt/outputs/build/icons/grid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TABLE SCHEMA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 table 欄位要讓錯誤露出來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9/45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14400" y="1733550"/>
            <a:ext cx="2133600" cy="342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446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733550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1336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研究問題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62450" y="1733550"/>
            <a:ext cx="2133600" cy="342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446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62450" y="1733550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entity_type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62450" y="21336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gene / drug / disease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810500" y="1733550"/>
            <a:ext cx="2133600" cy="342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446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0500" y="1733550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10500" y="21336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EGFR / metformin / AD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14400" y="2571750"/>
            <a:ext cx="2133600" cy="342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446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571750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4400" y="29718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可被檢查的一句話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362450" y="2571750"/>
            <a:ext cx="2133600" cy="342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446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62450" y="2571750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evidence_type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362450" y="29718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study / guideline / database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810500" y="2571750"/>
            <a:ext cx="2133600" cy="342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446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10500" y="2571750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source_id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810500" y="29718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PMID / DOI / URL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914400" y="3409950"/>
            <a:ext cx="2133600" cy="342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8F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3409950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quoted_evidence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14400" y="38100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原文短引證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362450" y="3409950"/>
            <a:ext cx="2133600" cy="342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8F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62450" y="3409950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agent_summary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362450" y="38100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或程式摘要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7810500" y="3409950"/>
            <a:ext cx="2133600" cy="342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8F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10500" y="3409950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810500" y="38100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high / medium / low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914400" y="4248150"/>
            <a:ext cx="2133600" cy="342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8F8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4248150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needs_human_review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14400" y="46482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TRUE / FALSE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4362450" y="4248150"/>
            <a:ext cx="2133600" cy="342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9A1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362450" y="4248150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reviewer_correction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362450" y="46482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人工修正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7810500" y="4248150"/>
            <a:ext cx="2133600" cy="3429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9A1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10500" y="4248150"/>
            <a:ext cx="213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7810500" y="46482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限制和不確定性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1428750" y="57150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不管是人打字還是程式產生，缺 citation、quote、review 欄位，就很難抓錯。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3" name="Image 0" descr="/sessions/lucid-nice-bell/mnt/outputs/build/icons/grid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HEADER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 table CSV 欄位範本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10/45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evidence_table.csv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question,entity_type,entity,claim,evidence_type,source_title,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source_id,PMID_or_DOI,year,quoted_evidence,agent_summary,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confidence,limitation,needs_human_review,reviewer_correction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欄位多一點不是為了漂亮，是為了讓錯誤比較難躲起來，也是 Track B JSON schema 的依據。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DF8EE"/>
          </a:solidFill>
          <a:ln w="12700">
            <a:solidFill>
              <a:srgbClr val="438D4A"/>
            </a:solidFill>
            <a:prstDash val="solid"/>
          </a:ln>
        </p:spPr>
      </p:sp>
      <p:pic>
        <p:nvPicPr>
          <p:cNvPr id="3" name="Image 0" descr="/sessions/lucid-nice-bell/mnt/outputs/build/icons/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範例：一列填好的 evidence table 長這樣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11/45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14400" y="1733550"/>
            <a:ext cx="3200400" cy="381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438D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9650" y="173355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2171700"/>
            <a:ext cx="32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EGFR exon19 del 與 NSCLC 治療反應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2450" y="1733550"/>
            <a:ext cx="3200400" cy="381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438D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57700" y="173355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entity_type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362450" y="2171700"/>
            <a:ext cx="32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10500" y="1733550"/>
            <a:ext cx="3200400" cy="381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438D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5750" y="173355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810500" y="2171700"/>
            <a:ext cx="32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14400" y="2647950"/>
            <a:ext cx="3200400" cy="381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438D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9650" y="264795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14400" y="3086100"/>
            <a:ext cx="32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exon 19 deletion 與 EGFR-TKI 反應相關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362450" y="2647950"/>
            <a:ext cx="3200400" cy="381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438D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7700" y="264795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evidence_type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362450" y="3086100"/>
            <a:ext cx="32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study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810500" y="2647950"/>
            <a:ext cx="3200400" cy="381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438D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05750" y="264795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source_id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810500" y="3086100"/>
            <a:ext cx="32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PMID:12345678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14400" y="3562350"/>
            <a:ext cx="3200400" cy="381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438D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9650" y="356235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quoted_evidence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14400" y="4000500"/>
            <a:ext cx="32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"...showed response to EGFR-TKI therapy."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362450" y="3562350"/>
            <a:ext cx="3200400" cy="381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438D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57700" y="356235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agent_summary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362450" y="4000500"/>
            <a:ext cx="32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exon19 del 患者對 TKI 有反應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810500" y="3562350"/>
            <a:ext cx="3200400" cy="381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438D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05750" y="356235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810500" y="4000500"/>
            <a:ext cx="32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914400" y="4476750"/>
            <a:ext cx="3200400" cy="381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438D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9650" y="447675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needs_human_review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914400" y="4914900"/>
            <a:ext cx="32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362450" y="4476750"/>
            <a:ext cx="3200400" cy="381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438D4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457700" y="447675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reviewer_correction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4362450" y="4914900"/>
            <a:ext cx="32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已核對 PMID，用詞已修正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7810500" y="4476750"/>
            <a:ext cx="3200400" cy="381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2700">
            <a:solidFill>
              <a:srgbClr val="438D4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905750" y="447675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7810500" y="4914900"/>
            <a:ext cx="32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教學範例，來源仍需人工確認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1428750" y="5791200"/>
            <a:ext cx="933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欄位名稱和 schema 完全一樣，差別只在於這裡填的是真的內容，不是 &lt;placeholder&gt;。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FFF8E8"/>
          </a:solidFill>
          <a:ln w="12700">
            <a:solidFill>
              <a:srgbClr val="D89A16"/>
            </a:solidFill>
            <a:prstDash val="solid"/>
          </a:ln>
        </p:spPr>
      </p:sp>
      <p:pic>
        <p:nvPicPr>
          <p:cNvPr id="3" name="Image 0" descr="/sessions/lucid-nice-bell/mnt/outputs/build/icons/gauge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RUBRIC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Confidence 不是心情，是 evidence 規則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12/45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19150" y="1657350"/>
            <a:ext cx="10439400" cy="285750"/>
          </a:xfrm>
          <a:prstGeom prst="roundRect">
            <a:avLst>
              <a:gd name="adj" fmla="val 19200"/>
            </a:avLst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3450" y="1676400"/>
            <a:ext cx="1581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0" y="1676400"/>
            <a:ext cx="3581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53200" y="1676400"/>
            <a:ext cx="396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use when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33450" y="211455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43200" y="2114550"/>
            <a:ext cx="3581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claim 有明確 primary source 或 guideline 支持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53200" y="2114550"/>
            <a:ext cx="3962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 review 泛泛提到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9150" y="260985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3450" y="272415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43200" y="2724150"/>
            <a:ext cx="3581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有相關證據，但 population / endpoint 不完全符合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53200" y="2724150"/>
            <a:ext cx="3962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模型自己推論出來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9150" y="321945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3450" y="333375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743200" y="3333750"/>
            <a:ext cx="3581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只有間接證據或來源品質弱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53200" y="3333750"/>
            <a:ext cx="3962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其實找不到來源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19150" y="382905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3450" y="3943350"/>
            <a:ext cx="1581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found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743200" y="3943350"/>
            <a:ext cx="3581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查不到支持該 claim 的來源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53200" y="3943350"/>
            <a:ext cx="3962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為了交作業硬填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9150" y="443865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ucid-nice-bell/mnt/outputs/build/icons/deco-atom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09550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" y="1238250"/>
            <a:ext cx="552450" cy="552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4" name="Image 1" descr="/sessions/lucid-nice-bell/mnt/outputs/build/icons/rout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7" y="1381887"/>
            <a:ext cx="265176" cy="2651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00100" y="1924050"/>
            <a:ext cx="1028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三種實作路線，選一種或都試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38200" y="3162300"/>
            <a:ext cx="933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同一份 task spec，可以用桌面 agent 對話、寫程式呼叫 API，或用 LLM client 快速試作。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13/45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3" name="Image 0" descr="/sessions/lucid-nice-bell/mnt/outputs/build/icons/compass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TRACKS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A / B / C 怎麼選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14/45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905000"/>
            <a:ext cx="3238500" cy="3543300"/>
          </a:xfrm>
          <a:prstGeom prst="roundRect">
            <a:avLst>
              <a:gd name="adj" fmla="val 1694"/>
            </a:avLst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  <a:effectLst>
            <a:outerShdw blurRad="38100" dist="12700" dir="2700000" algn="bl" rotWithShape="0">
              <a:srgbClr val="1B253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76475" y="2095500"/>
            <a:ext cx="43815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9" name="Image 1" descr="/sessions/lucid-nice-bell/mnt/outputs/build/icons/chat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013" y="2205038"/>
            <a:ext cx="219075" cy="2190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4900" y="2609850"/>
            <a:ext cx="2781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A · 輕量對話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04900" y="3009900"/>
            <a:ext cx="27813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零程式，桌面 agent 對話視窗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貼 task spec prompt，複製輸出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存成 CSV，跑 validator 檢查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最適合：第一次做、時間緊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343400" y="1905000"/>
            <a:ext cx="3238500" cy="3543300"/>
          </a:xfrm>
          <a:prstGeom prst="roundRect">
            <a:avLst>
              <a:gd name="adj" fmla="val 1694"/>
            </a:avLst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  <a:effectLst>
            <a:outerShdw blurRad="38100" dist="12700" dir="2700000" algn="bl" rotWithShape="0">
              <a:srgbClr val="1B253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43575" y="2095500"/>
            <a:ext cx="43815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14" name="Image 2" descr="/sessions/lucid-nice-bell/mnt/outputs/build/icons/terminal-indi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113" y="2205038"/>
            <a:ext cx="219075" cy="2190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2609850"/>
            <a:ext cx="2781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3446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B · API pipeline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572000" y="3009900"/>
            <a:ext cx="27813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 Python 呼叫 LLM API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structured output + 自動驗證迴圈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可重複執行、留下 log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最適合：想練習自動化與 loop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7810500" y="1905000"/>
            <a:ext cx="3238500" cy="3543300"/>
          </a:xfrm>
          <a:prstGeom prst="roundRect">
            <a:avLst>
              <a:gd name="adj" fmla="val 1694"/>
            </a:avLst>
          </a:prstGeom>
          <a:solidFill>
            <a:srgbClr val="FFF8E8"/>
          </a:solidFill>
          <a:ln w="12700">
            <a:solidFill>
              <a:srgbClr val="D89A16"/>
            </a:solidFill>
            <a:prstDash val="solid"/>
          </a:ln>
          <a:effectLst>
            <a:outerShdw blurRad="38100" dist="12700" dir="2700000" algn="bl" rotWithShape="0">
              <a:srgbClr val="1B253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210675" y="2095500"/>
            <a:ext cx="43815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9A16"/>
            </a:solidFill>
            <a:prstDash val="solid"/>
          </a:ln>
        </p:spPr>
      </p:sp>
      <p:pic>
        <p:nvPicPr>
          <p:cNvPr id="19" name="Image 3" descr="/sessions/lucid-nice-bell/mnt/outputs/build/icons/plug-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0213" y="2205038"/>
            <a:ext cx="219075" cy="2190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39100" y="2609850"/>
            <a:ext cx="2781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D89A1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C · client 練習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8039100" y="3009900"/>
            <a:ext cx="27813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用官方 client SDK 單次呼叫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不寫 schema、不寫重試迴圈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存檔後手動跑 validator</a:t>
            </a:r>
            <a:endParaRPr lang="en-US" sz="1350" dirty="0"/>
          </a:p>
          <a:p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最適合：想寫程式但先求簡單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333500" y="5638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三條路線最後都要交同一份 human-reviewed evidence table。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ucid-nice-bell/mnt/outputs/build/icons/deco-atom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09550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" y="1238250"/>
            <a:ext cx="552450" cy="552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4" name="Image 1" descr="/sessions/lucid-nice-bell/mnt/outputs/build/icons/chat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7" y="1381887"/>
            <a:ext cx="265176" cy="2651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00100" y="1924050"/>
            <a:ext cx="1028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A：輕量型實作（桌面 agent 對話）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38200" y="3162300"/>
            <a:ext cx="933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適合第一次做這個練習，或想先看懂流程再考慮寫程式的人。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15/45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3" name="Image 0" descr="/sessions/lucid-nice-bell/mnt/outputs/build/icons/chat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A 適合誰、能做到什麼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16/45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8700" y="2190750"/>
            <a:ext cx="57721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打開 Claude / ChatGPT / Gemini 桌面版或網頁版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task spec 整段貼進對話框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產出的表格用複製貼上整理成 CSV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優點：零安裝、上手快；限制：不好重跑、不好留 log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43800" y="2152650"/>
            <a:ext cx="3200400" cy="2343150"/>
          </a:xfrm>
          <a:prstGeom prst="roundRect">
            <a:avLst>
              <a:gd name="adj" fmla="val 2341"/>
            </a:avLst>
          </a:prstGeom>
          <a:solidFill>
            <a:srgbClr val="EAF8F6"/>
          </a:solidFill>
          <a:ln w="17780">
            <a:solidFill>
              <a:srgbClr val="0E8F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15400" y="238125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10" name="Image 1" descr="/sessions/lucid-nice-bell/mnt/outputs/build/icons/bulb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249097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48600" y="2952750"/>
            <a:ext cx="25908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先學會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看懂流程，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再考慮寫程式。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3" name="Image 0" descr="/sessions/lucid-nice-bell/mnt/outputs/build/icons/chat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PROMPT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A demo prompt：貼到桌面 agent 對話框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17/45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prompt.txt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the task spec below and build an evidence table.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&lt;paste question.md and task_spec.md here&gt;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the table with columns: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claim, source_id, PMID_or_DOI, quoted_evidence,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agent_summary, confidence, limitation, needs_human_review.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evidence is missing, write not_found and explain why.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invent citations.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 prompt 直接貼規格，不用另外描述一次任務。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DF8EE"/>
          </a:solidFill>
          <a:ln w="12700">
            <a:solidFill>
              <a:srgbClr val="438D4A"/>
            </a:solidFill>
            <a:prstDash val="solid"/>
          </a:ln>
        </p:spPr>
      </p:sp>
      <p:pic>
        <p:nvPicPr>
          <p:cNvPr id="3" name="Image 0" descr="/sessions/lucid-nice-bell/mnt/outputs/build/icons/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範例：AI 回答節錄（貼上 prompt 之後）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18/45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agent_reply.txt（示範）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claim: EGFR exon 19 deletion is associated with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response to EGFR-TKI therapy in NSCLC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PMID 12345678 (2020, clinical study)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quote: "Patients with EGFR exon 19 deletion showed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 to EGFR-TKI therapy."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medium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needs_human_review: TRUE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這只是 AI 的初稿，PMID 和 quote 都還沒被你確認過——下一步才是整理成 CSV 並人工檢查。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3" name="Image 0" descr="/sessions/lucid-nice-bell/mnt/outputs/build/icons/rout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STEPS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A 操作步驟與地雷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19/45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8700" y="2190750"/>
            <a:ext cx="57721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貼 prompt → 2. 複製輸出整理成 CSV → 3. 跑 validator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地雷：AI 會把整段對話寫成漂亮摘要，但欄位常常漏東西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地雷：複製貼上容易把逗號、換行貼壞，CSV 格式要手動檢查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保留這次對話紀錄（截圖或存文字檔），review 時要回頭核對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43800" y="2152650"/>
            <a:ext cx="3200400" cy="2343150"/>
          </a:xfrm>
          <a:prstGeom prst="roundRect">
            <a:avLst>
              <a:gd name="adj" fmla="val 2341"/>
            </a:avLst>
          </a:prstGeom>
          <a:solidFill>
            <a:srgbClr val="EAF8F6"/>
          </a:solidFill>
          <a:ln w="17780">
            <a:solidFill>
              <a:srgbClr val="0E8F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15400" y="238125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10" name="Image 1" descr="/sessions/lucid-nice-bell/mnt/outputs/build/icons/fil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249097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48600" y="2952750"/>
            <a:ext cx="25908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對話紀錄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也是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 trail。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3" name="Image 0" descr="/sessions/lucid-nice-bell/mnt/outputs/build/icons/shield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VALIDATOR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跑 Python 檢查程式（三條路線都要跑這一步）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20/45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check_table.py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scripts/check_table.py evidence_table.csv</a:t>
            </a: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預期輸出範例：</a:t>
            </a: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ERROR: Line 3: missing PMID_or_DOI</a:t>
            </a: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WARNING: Line 4: quoted_evidence is very short</a:t>
            </a: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OK: 6 evidence rows (1 warning)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ERROR 一定要修；WARNING 代表機器覺得可疑，仍需人工確認。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ucid-nice-bell/mnt/outputs/build/icons/deco-atom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09550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" y="1238250"/>
            <a:ext cx="552450" cy="552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4" name="Image 1" descr="/sessions/lucid-nice-bell/mnt/outputs/build/icons/terminal-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7" y="1381887"/>
            <a:ext cx="265176" cy="2651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00100" y="1924050"/>
            <a:ext cx="1028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3446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B：用 LLM API 寫程式實際實作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38200" y="3162300"/>
            <a:ext cx="933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task spec 變成可重複執行、可自動檢查的 pipeline。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21/45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3" name="Image 0" descr="/sessions/lucid-nice-bell/mnt/outputs/build/icons/terminal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CODE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為什麼要寫程式呼叫 API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22/45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8700" y="2190750"/>
            <a:ext cx="57721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同一個 task spec 可以重複執行、比較不同次的結果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structured output（JSON schema）逼模型照欄位輸出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可以接自動迴圈：跑 validator → 錯誤丟回模型 → 直到通過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可以一次處理多個 gene / drug / disease 問題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43800" y="2152650"/>
            <a:ext cx="3200400" cy="2343150"/>
          </a:xfrm>
          <a:prstGeom prst="roundRect">
            <a:avLst>
              <a:gd name="adj" fmla="val 2341"/>
            </a:avLst>
          </a:prstGeom>
          <a:solidFill>
            <a:srgbClr val="EEF1FF"/>
          </a:solidFill>
          <a:ln w="17780">
            <a:solidFill>
              <a:srgbClr val="3446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15400" y="238125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10" name="Image 1" descr="/sessions/lucid-nice-bell/mnt/outputs/build/icons/bulb-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249097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48600" y="2952750"/>
            <a:ext cx="25908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3446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程式化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3446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不等於更準，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3446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只是更可重現。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3" name="Image 0" descr="/sessions/lucid-nice-bell/mnt/outputs/build/icons/plug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安裝與設定 API key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23/45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setup.py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openai   # 或 pip install anthropic</a:t>
            </a: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不要把 key 寫死在程式碼裡，用環境變數</a:t>
            </a: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OPENAI_API_KEY="sk-..."</a:t>
            </a: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endParaRPr lang="en-US" sz="15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OpenAI(api_key=os.environ["OPENAI_API_KEY"])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key 是機密資訊；用環境變數或 .env，不要 commit 進 git。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3" name="Image 0" descr="/sessions/lucid-nice-bell/mnt/outputs/build/icons/clipboard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PROMPT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 prompt：直接讀 question.md 和 task_spec.md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24/45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build_prompt.py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= Path("question.md").read_text(encoding="utf-8")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task_spec = Path("task_spec.md").read_text(encoding="utf-8")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system_prompt = (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"You build biomedical evidence tables. "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"Do not invent citations. If evidence is missing, "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"write not_found and explain the limitation."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user_prompt = f"{question}\n\n{task_spec}\n\n" \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"Return rows as a JSON array matching the schema."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prompt 直接讀規格檔，不要在程式裡重打一份規格。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3" name="Image 0" descr="/sessions/lucid-nice-bell/mnt/outputs/build/icons/terminal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API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呼叫 LLM API，要求 structured output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25/45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call_llm.py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client.chat.completions.create(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model="gpt-4o",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"system", "content": system_prompt},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"user", "content": user_prompt},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response_format={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"json_schema",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"json_schema": {"name": "evidence_rows", "schema": EVIDENCE_TABLE_SCHEMA},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json.loads(response.choices[0].message.content)["rows"]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structured output 逼模型照 schema 回傳，比純文字要求 CSV 格式更穩定。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DF8EE"/>
          </a:solidFill>
          <a:ln w="12700">
            <a:solidFill>
              <a:srgbClr val="438D4A"/>
            </a:solidFill>
            <a:prstDash val="solid"/>
          </a:ln>
        </p:spPr>
      </p:sp>
      <p:pic>
        <p:nvPicPr>
          <p:cNvPr id="3" name="Image 0" descr="/sessions/lucid-nice-bell/mnt/outputs/build/icons/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範例：API 回傳的 JSON 長這樣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26/45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response.json（範例）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"rows": [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"claim": "EGFR exon 19 deletion is associated with response to EGFR-TKI therapy in NSCLC",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"source_id": "PMID:12345678",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"PMID_or_DOI": "12345678",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"quoted_evidence": "Patients with EGFR exon 19 deletion showed response to EGFR-TKI therapy.",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"confidence": "medium",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"needs_human_review": true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下一步的 write_csv() 就是把這個 JSON 轉成 evidence_table.csv 的一列。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3" name="Image 0" descr="/sessions/lucid-nice-bell/mnt/outputs/build/icons/grid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CSV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JSON 轉成 evidence_table.csv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27/45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write_csv.py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REQUIRED_COLUMNS = ["question", "entity_type", "entity", "claim",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"evidence_type", "source_title", "source_id", "PMID_or_DOI",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"year", "quoted_evidence", "agent_summary", "confidence",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"limitation", "needs_human_review", "reviewer_correction"]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open("evidence_table.csv", "w", newline="", encoding="utf-8") as f: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writer = csv.DictWriter(f, fieldnames=REQUIRED_COLUMNS)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writer.writeheader()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row in rows: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writer.writerow({c: row.get(c, "") for c in REQUIRED_COLUMNS})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轉檔這步不需要 AI；用一般 Python 就能保證欄位順序正確。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3" name="Image 0" descr="/sessions/lucid-nice-bell/mnt/outputs/build/icons/shield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VALIDATE + RETRY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自動跑 validator，錯誤太多就把錯誤丟回模型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28/45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auto_retry.py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subprocess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attempt in range(3):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subprocess.run(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["python3", "scripts/check_table.py", "evidence_table.csv"],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capture_output=True, text=True)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result.returncode == 0: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print("PASSED:", result.stdout); break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print(f"Attempt {attempt+1} failed, asking model to fix...")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user_prompt = f"Fix these validator errors:\n{result.stdout}\n" \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"Return the corrected JSON rows only."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print("Still failing after 3 attempts. needs_human_review = TRUE")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這就是 loop engineering 的縮小版：observe → evaluate → revise → stop。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3" name="Image 0" descr="/sessions/lucid-nice-bell/mnt/outputs/build/icons/route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B 完整流程精簡版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29/45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OpenAI(api_key=os.environ["OPENAI_API_KEY"])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build_prompt("question.md", "task_spec.md")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attempt in range(3):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= call_llm(client, prompt)          # structured JSON output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write_csv("evidence_table.csv", rows)     # dict -&gt; CSV rows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ok, log = run_validator("evidence_table.csv")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ok: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print("PASSED after", attempt + 1, "attempt(s)")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build_retry_prompt(prompt, log)  # feed errors back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print("needs_human_review: true (auto-fix budget exhausted)")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重點不是程式多聰明，是流程有停止條件，而且每次執行都留下 log。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ucid-nice-bell/mnt/outputs/build/icons/deco-atom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09550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" y="1238250"/>
            <a:ext cx="552450" cy="552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9A16"/>
            </a:solidFill>
            <a:prstDash val="solid"/>
          </a:ln>
        </p:spPr>
      </p:sp>
      <p:pic>
        <p:nvPicPr>
          <p:cNvPr id="4" name="Image 1" descr="/sessions/lucid-nice-bell/mnt/outputs/build/icons/plug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7" y="1381887"/>
            <a:ext cx="265176" cy="2651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PRACTICE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00100" y="1924050"/>
            <a:ext cx="1028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D89A1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額外練習：Track C，用 LLM client 快速試作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38200" y="3162300"/>
            <a:ext cx="933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如果你想寫一點程式，但還不想寫完整 pipeline，可以先從這裡開始。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30/45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FFF8E8"/>
          </a:solidFill>
          <a:ln w="12700">
            <a:solidFill>
              <a:srgbClr val="D89A16"/>
            </a:solidFill>
            <a:prstDash val="solid"/>
          </a:ln>
        </p:spPr>
      </p:sp>
      <p:pic>
        <p:nvPicPr>
          <p:cNvPr id="3" name="Image 0" descr="/sessions/lucid-nice-bell/mnt/outputs/build/icons/plug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C 是什麼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31/45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8700" y="2190750"/>
            <a:ext cx="57721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直接用官方 client SDK（OpenAI() 或 Anthropic() 物件）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不寫 JSON schema、不寫自動迴圈，只送一次 prompt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把回覆存成檔案，再手動或跑 validator 檢查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介於「桌面對話」和「Track B 全自動 pipeline」之間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43800" y="2152650"/>
            <a:ext cx="3200400" cy="2343150"/>
          </a:xfrm>
          <a:prstGeom prst="roundRect">
            <a:avLst>
              <a:gd name="adj" fmla="val 2341"/>
            </a:avLst>
          </a:prstGeom>
          <a:solidFill>
            <a:srgbClr val="FFF8E8"/>
          </a:solidFill>
          <a:ln w="17780">
            <a:solidFill>
              <a:srgbClr val="D89A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15400" y="238125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9A16"/>
            </a:solidFill>
            <a:prstDash val="solid"/>
          </a:ln>
        </p:spPr>
      </p:sp>
      <p:pic>
        <p:nvPicPr>
          <p:cNvPr id="10" name="Image 1" descr="/sessions/lucid-nice-bell/mnt/outputs/build/icons/bulb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249097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48600" y="2952750"/>
            <a:ext cx="25908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D89A1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先學會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D89A1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一次呼叫，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D89A1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再學會自動迴圈。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FFF8E8"/>
          </a:solidFill>
          <a:ln w="12700">
            <a:solidFill>
              <a:srgbClr val="D89A16"/>
            </a:solidFill>
            <a:prstDash val="solid"/>
          </a:ln>
        </p:spPr>
      </p:sp>
      <p:pic>
        <p:nvPicPr>
          <p:cNvPr id="3" name="Image 0" descr="/sessions/lucid-nice-bell/mnt/outputs/build/icons/plug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CLIENT SCRIPT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C：最小可行的 LLM client 腳本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32/45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client_script.py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OpenAI()  # 讀取環境變數 OPENAI_API_KEY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Path("question.md").read_text() + "\n" + \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Path("task_spec.md").read_text()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client.chat.completions.create(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model="gpt-4o",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prompt}],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Path("evidence_table_draft.csv").write_text(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response.choices[0].message.content)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print("Saved draft. Now run: python3 scripts/check_table.py evidence_table_draft.csv")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 schema、沒有重試迴圈。Anthropic 版本只要把 client 換成 Anthropic()，呼叫 client.messages.create()。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E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ucid-nice-bell/mnt/outputs/build/icons/deco-atom-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09550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" y="1238250"/>
            <a:ext cx="552450" cy="552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5A4A"/>
            </a:solidFill>
            <a:prstDash val="solid"/>
          </a:ln>
        </p:spPr>
      </p:sp>
      <p:pic>
        <p:nvPicPr>
          <p:cNvPr id="4" name="Image 1" descr="/sessions/lucid-nice-bell/mnt/outputs/build/icons/shield-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7" y="1381887"/>
            <a:ext cx="265176" cy="2651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00100" y="1924050"/>
            <a:ext cx="1028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人工檢查與修正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38200" y="3162300"/>
            <a:ext cx="933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這是整堂課最重要的地方：抓出 agent 或程式看起來很會、其實沒查好的地方。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33/45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FDEDEA"/>
          </a:solidFill>
          <a:ln w="12700">
            <a:solidFill>
              <a:srgbClr val="C85A4A"/>
            </a:solidFill>
            <a:prstDash val="solid"/>
          </a:ln>
        </p:spPr>
      </p:sp>
      <p:pic>
        <p:nvPicPr>
          <p:cNvPr id="3" name="Image 0" descr="/sessions/lucid-nice-bell/mnt/outputs/build/icons/shield-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人工檢查不是補儀式，是抓 AI 最會犯的錯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34/45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66800" y="1847850"/>
            <a:ext cx="438150" cy="438150"/>
          </a:xfrm>
          <a:prstGeom prst="ellipse">
            <a:avLst/>
          </a:prstGeom>
          <a:solidFill>
            <a:srgbClr val="FDEDEA"/>
          </a:solidFill>
          <a:ln w="17780">
            <a:solidFill>
              <a:srgbClr val="C85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6800" y="184785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5450" y="18669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PMID / DOI 是否真的存在？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29350" y="1847850"/>
            <a:ext cx="438150" cy="438150"/>
          </a:xfrm>
          <a:prstGeom prst="ellipse">
            <a:avLst/>
          </a:prstGeom>
          <a:solidFill>
            <a:srgbClr val="FDEDEA"/>
          </a:solidFill>
          <a:ln w="17780">
            <a:solidFill>
              <a:srgbClr val="C85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29350" y="184785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0" y="18669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quoted_evidence 是否真的支持 claim？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66800" y="2952750"/>
            <a:ext cx="438150" cy="438150"/>
          </a:xfrm>
          <a:prstGeom prst="ellipse">
            <a:avLst/>
          </a:prstGeom>
          <a:solidFill>
            <a:srgbClr val="FDEDEA"/>
          </a:solidFill>
          <a:ln w="17780">
            <a:solidFill>
              <a:srgbClr val="C85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6800" y="295275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695450" y="29718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是否把 association 講成 causation？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29350" y="2952750"/>
            <a:ext cx="438150" cy="438150"/>
          </a:xfrm>
          <a:prstGeom prst="ellipse">
            <a:avLst/>
          </a:prstGeom>
          <a:solidFill>
            <a:srgbClr val="FFF8E8"/>
          </a:solidFill>
          <a:ln w="17780">
            <a:solidFill>
              <a:srgbClr val="D89A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29350" y="295275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858000" y="29718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gene symbol / drug name / disease subtype 是否正確？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66800" y="4057650"/>
            <a:ext cx="438150" cy="438150"/>
          </a:xfrm>
          <a:prstGeom prst="ellipse">
            <a:avLst/>
          </a:prstGeom>
          <a:solidFill>
            <a:srgbClr val="FFF8E8"/>
          </a:solidFill>
          <a:ln w="17780">
            <a:solidFill>
              <a:srgbClr val="D89A1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6800" y="405765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695450" y="40767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資料庫或 guideline 是否有版本與日期？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29350" y="4057650"/>
            <a:ext cx="438150" cy="438150"/>
          </a:xfrm>
          <a:prstGeom prst="ellipse">
            <a:avLst/>
          </a:prstGeom>
          <a:solidFill>
            <a:srgbClr val="FFF8E8"/>
          </a:solidFill>
          <a:ln w="17780">
            <a:solidFill>
              <a:srgbClr val="D89A1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29350" y="405765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858000" y="40767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confidence 是否太樂觀（尤其是程式自動產生時）？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FDEDEA"/>
          </a:solidFill>
          <a:ln w="12700">
            <a:solidFill>
              <a:srgbClr val="C85A4A"/>
            </a:solidFill>
            <a:prstDash val="solid"/>
          </a:ln>
        </p:spPr>
      </p:sp>
      <p:pic>
        <p:nvPicPr>
          <p:cNvPr id="3" name="Image 0" descr="/sessions/lucid-nice-bell/mnt/outputs/build/icons/alert-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FAILURE MODES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 review 常會抓到這些錯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35/45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19150" y="1657350"/>
            <a:ext cx="10439400" cy="285750"/>
          </a:xfrm>
          <a:prstGeom prst="roundRect">
            <a:avLst>
              <a:gd name="adj" fmla="val 19200"/>
            </a:avLst>
          </a:prstGeom>
          <a:solidFill>
            <a:srgbClr val="FDEDEA"/>
          </a:solidFill>
          <a:ln w="12700">
            <a:solidFill>
              <a:srgbClr val="FDED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3450" y="1676400"/>
            <a:ext cx="1581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0" y="1676400"/>
            <a:ext cx="3581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symptom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53200" y="1676400"/>
            <a:ext cx="396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33450" y="2114550"/>
            <a:ext cx="158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citation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43200" y="2114550"/>
            <a:ext cx="3581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PMID 存在但不支持 claim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53200" y="2114550"/>
            <a:ext cx="396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claim or source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9150" y="259080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3450" y="2705100"/>
            <a:ext cx="158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mismatch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43200" y="2705100"/>
            <a:ext cx="3581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quote 和 summary 意思不同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53200" y="2705100"/>
            <a:ext cx="396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summary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9150" y="318135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3450" y="3295650"/>
            <a:ext cx="158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Overclaim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743200" y="3295650"/>
            <a:ext cx="3581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association 被講成 treatment advice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53200" y="3295650"/>
            <a:ext cx="396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confidence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19150" y="377190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3450" y="3886200"/>
            <a:ext cx="158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entity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743200" y="3886200"/>
            <a:ext cx="3581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gene alias / disease subtype 混淆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53200" y="3886200"/>
            <a:ext cx="396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entity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9150" y="436245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3450" y="4476750"/>
            <a:ext cx="158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drift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743200" y="4476750"/>
            <a:ext cx="3581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程式產生的 JSON 少欄位或型別錯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553200" y="4476750"/>
            <a:ext cx="396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補欄位或修 parser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19150" y="495300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FDEDEA"/>
          </a:solidFill>
          <a:ln w="12700">
            <a:solidFill>
              <a:srgbClr val="C85A4A"/>
            </a:solidFill>
            <a:prstDash val="solid"/>
          </a:ln>
        </p:spPr>
      </p:sp>
      <p:pic>
        <p:nvPicPr>
          <p:cNvPr id="3" name="Image 0" descr="/sessions/lucid-nice-bell/mnt/outputs/build/icons/file-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CHECKLIST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review_checklist.md 範本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36/45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review_checklist.md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Manual review checklist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ID: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opened: yes / no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PMID_or_DOI valid: yes / no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 supports claim: yes / no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Overclaim risk: yes / no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names checked: yes / no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Reviewer correction: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keep / revise / delete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把你的人工檢查寫下來，不要只在心裡覺得有看過。</a:t>
            </a:r>
            <a:endParaRPr lang="en-US" sz="1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DF8EE"/>
          </a:solidFill>
          <a:ln w="12700">
            <a:solidFill>
              <a:srgbClr val="438D4A"/>
            </a:solidFill>
            <a:prstDash val="solid"/>
          </a:ln>
        </p:spPr>
      </p:sp>
      <p:pic>
        <p:nvPicPr>
          <p:cNvPr id="3" name="Image 0" descr="/sessions/lucid-nice-bell/mnt/outputs/build/icons/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範例：填好的 review checklist 長這樣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37/45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review_checklist.md（filled）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Manual review checklist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ID: S1 (PMID:12345678)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opened: yes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PMID_or_DOI valid: yes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 supports claim: yes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Overclaim risk: yes -&gt; confidence 從 high 降到 medium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names checked: yes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Reviewer correction: 把「建議使用」改成「相關但非治療建議」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revise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覺得 quote 有點誇大時，就是在這裡動手改，不是留給 AI 自己判斷。</a:t>
            </a:r>
            <a:endParaRPr lang="en-US" sz="14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FDEDEA"/>
          </a:solidFill>
          <a:ln w="12700">
            <a:solidFill>
              <a:srgbClr val="C85A4A"/>
            </a:solidFill>
            <a:prstDash val="solid"/>
          </a:ln>
        </p:spPr>
      </p:sp>
      <p:pic>
        <p:nvPicPr>
          <p:cNvPr id="3" name="Image 0" descr="/sessions/lucid-nice-bell/mnt/outputs/build/icons/file-c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SUMMARY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final_summary.md 範本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38/45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final_summary.md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Final summary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evidence rows: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Strongest supported claim: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Weakest or uncertain claim: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deleted after review: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limitation: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should be checked by a domain expert: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Conclusion: &lt;5-8 sentences&gt;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 要反映 review 後的結果，不是 agent 或程式初稿的興奮程度。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DF8EE"/>
          </a:solidFill>
          <a:ln w="12700">
            <a:solidFill>
              <a:srgbClr val="438D4A"/>
            </a:solidFill>
            <a:prstDash val="solid"/>
          </a:ln>
        </p:spPr>
      </p:sp>
      <p:pic>
        <p:nvPicPr>
          <p:cNvPr id="3" name="Image 0" descr="/sessions/lucid-nice-bell/mnt/outputs/build/icons/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8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範例：填好的 final summary 長這樣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39/45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final_summary.md（filled）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Final summary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EGFR exon 19 deletion 和 NSCLC 治療反應？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evidence rows: 6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Strongest supported claim: exon19 del 與 EGFR-TKI 反應相關（medium, PMID 已核對）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Weakest or uncertain claim: 與存活期關聯的那列（low, 來源間接）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deleted after review: 1（citation 對不上 claim）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limitation: 只涵蓋 clinical study，沒有涵蓋 meta-analysis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should be checked by a domain expert: TKI 用藥順序的臨床解讀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Conclusion: 現有證據支持 exon 19 deletion 與 EGFR-TKI 反應有關聯，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但屬於 medium confidence，且不能當成個別病人的治療建議。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 要看得出你做過 review，不是把 AI 的第一版摘要直接貼上來。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ucid-nice-bell/mnt/outputs/build/icons/deco-atom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09550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" y="1238250"/>
            <a:ext cx="552450" cy="552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4" name="Image 1" descr="/sessions/lucid-nice-bell/mnt/outputs/build/icons/target-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7" y="1381887"/>
            <a:ext cx="265176" cy="2651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90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00100" y="1924050"/>
            <a:ext cx="1028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3446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交付、評分與回顧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838200" y="3162300"/>
            <a:ext cx="9334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最後收斂成果：能不能交出可查、可改、可重現的 table。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40/45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3" name="Image 0" descr="/sessions/lucid-nice-bell/mnt/outputs/build/icons/target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 RUBRIC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這堂 practice 看的是 workflow，不是路線多炫技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41/45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19150" y="1657350"/>
            <a:ext cx="10439400" cy="285750"/>
          </a:xfrm>
          <a:prstGeom prst="roundRect">
            <a:avLst>
              <a:gd name="adj" fmla="val 19200"/>
            </a:avLst>
          </a:prstGeom>
          <a:solidFill>
            <a:srgbClr val="EEF1FF"/>
          </a:solidFill>
          <a:ln w="12700">
            <a:solidFill>
              <a:srgbClr val="EEF1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3450" y="1676400"/>
            <a:ext cx="1581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0" y="1676400"/>
            <a:ext cx="3581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credit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53200" y="1676400"/>
            <a:ext cx="396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33450" y="2114550"/>
            <a:ext cx="158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spec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43200" y="2114550"/>
            <a:ext cx="358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scope 清楚，欄位和停止規則完整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53200" y="211455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題目太大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9150" y="255270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3450" y="2667000"/>
            <a:ext cx="158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實作路線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43200" y="2667000"/>
            <a:ext cx="358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A/B/C 任一完成，且留下操作紀錄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53200" y="266700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只有結果沒有過程紀錄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9150" y="310515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3450" y="3219450"/>
            <a:ext cx="158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table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743200" y="3219450"/>
            <a:ext cx="358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每列有 source、quote、confidence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53200" y="321945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只有摘要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19150" y="365760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3450" y="3771900"/>
            <a:ext cx="158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check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743200" y="3771900"/>
            <a:ext cx="358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PMID / DOI 已人工確認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53200" y="377190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citation 未開啟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9150" y="421005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3450" y="4324350"/>
            <a:ext cx="158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log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743200" y="4324350"/>
            <a:ext cx="358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 reviewer correction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553200" y="432435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只交 AI 原始輸出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19150" y="476250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3450" y="4876800"/>
            <a:ext cx="1581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2743200" y="4876800"/>
            <a:ext cx="358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85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有講限制和不確定性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553200" y="487680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過度下結論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19150" y="5314950"/>
            <a:ext cx="10439400" cy="9525"/>
          </a:xfrm>
          <a:prstGeom prst="roundRect">
            <a:avLst>
              <a:gd name="adj" fmla="val 576000"/>
            </a:avLst>
          </a:prstGeom>
          <a:solidFill>
            <a:srgbClr val="D4DADD"/>
          </a:solidFill>
          <a:ln w="12700">
            <a:solidFill>
              <a:srgbClr val="D4DADD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FFF8E8"/>
          </a:solidFill>
          <a:ln w="12700">
            <a:solidFill>
              <a:srgbClr val="D89A16"/>
            </a:solidFill>
            <a:prstDash val="solid"/>
          </a:ln>
        </p:spPr>
      </p:sp>
      <p:pic>
        <p:nvPicPr>
          <p:cNvPr id="3" name="Image 0" descr="/sessions/lucid-nice-bell/mnt/outputs/build/icons/wrench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卡住的時候，先問自己是哪一層壞掉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42/45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8700" y="2190750"/>
            <a:ext cx="57721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沒有來源：縮小問題，或改成先做 source discovery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table 太空：schema 太嚴，或來源真的不足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claim 太浮誇：回頭要求 evidence quote 和 limitation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一直回傳不合法 JSON：檢查 schema，或先切回 Track A 手動示範一次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43800" y="2152650"/>
            <a:ext cx="3200400" cy="2343150"/>
          </a:xfrm>
          <a:prstGeom prst="roundRect">
            <a:avLst>
              <a:gd name="adj" fmla="val 2341"/>
            </a:avLst>
          </a:prstGeom>
          <a:solidFill>
            <a:srgbClr val="FFF8E8"/>
          </a:solidFill>
          <a:ln w="17780">
            <a:solidFill>
              <a:srgbClr val="D89A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15400" y="238125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9A16"/>
            </a:solidFill>
            <a:prstDash val="solid"/>
          </a:ln>
        </p:spPr>
      </p:sp>
      <p:pic>
        <p:nvPicPr>
          <p:cNvPr id="10" name="Image 1" descr="/sessions/lucid-nice-bell/mnt/outputs/build/icons/bulb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249097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48600" y="2952750"/>
            <a:ext cx="25908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D89A1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卡住不是失敗，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D89A1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 workflow 在提醒你檢查。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FFF8E8"/>
          </a:solidFill>
          <a:ln w="12700">
            <a:solidFill>
              <a:srgbClr val="D89A16"/>
            </a:solidFill>
            <a:prstDash val="solid"/>
          </a:ln>
        </p:spPr>
      </p:sp>
      <p:pic>
        <p:nvPicPr>
          <p:cNvPr id="3" name="Image 0" descr="/sessions/lucid-nice-bell/mnt/outputs/build/icons/wrench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PROMPT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救援 prompt：當對話路線的 agent 開始亂飛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43/45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76300" y="1676400"/>
            <a:ext cx="10439400" cy="3695700"/>
          </a:xfrm>
          <a:prstGeom prst="roundRect">
            <a:avLst>
              <a:gd name="adj" fmla="val 1113"/>
            </a:avLst>
          </a:prstGeom>
          <a:solidFill>
            <a:srgbClr val="1D2732"/>
          </a:solidFill>
          <a:ln w="15240">
            <a:solidFill>
              <a:srgbClr val="3A48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6300" y="1676400"/>
            <a:ext cx="10439400" cy="323850"/>
          </a:xfrm>
          <a:prstGeom prst="roundRect">
            <a:avLst>
              <a:gd name="adj" fmla="val 12706"/>
            </a:avLst>
          </a:prstGeom>
          <a:solidFill>
            <a:srgbClr val="273240"/>
          </a:solidFill>
          <a:ln w="12700">
            <a:solidFill>
              <a:srgbClr val="273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6300" y="1828800"/>
            <a:ext cx="10439400" cy="171450"/>
          </a:xfrm>
          <a:prstGeom prst="rect">
            <a:avLst/>
          </a:prstGeom>
          <a:solidFill>
            <a:srgbClr val="273240"/>
          </a:solidFill>
          <a:ln/>
        </p:spPr>
      </p:sp>
      <p:sp>
        <p:nvSpPr>
          <p:cNvPr id="10" name="Shape 7"/>
          <p:cNvSpPr/>
          <p:nvPr/>
        </p:nvSpPr>
        <p:spPr>
          <a:xfrm>
            <a:off x="1076325" y="1771650"/>
            <a:ext cx="95250" cy="9525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66825" y="1771650"/>
            <a:ext cx="95250" cy="9525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57325" y="1771650"/>
            <a:ext cx="95250" cy="9525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809750" y="16764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rescue_prompt.txt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6300" y="2000250"/>
            <a:ext cx="10439400" cy="0"/>
          </a:xfrm>
          <a:prstGeom prst="line">
            <a:avLst/>
          </a:prstGeom>
          <a:noFill/>
          <a:ln w="12700">
            <a:solidFill>
              <a:srgbClr val="3241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2133600"/>
            <a:ext cx="9906000" cy="30861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and audit the table.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row, mark one of: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supported_by_quote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citation_not_checked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quote_does_not_support_claim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overclaim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not_found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add new evidence.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classify existing rows and suggest fixes.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8750" y="5524500"/>
            <a:ext cx="9334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5C667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 A / C 卡住時用這個 audit prompt；Track B 已經把這個邏輯寫進自動迴圈。</a:t>
            </a:r>
            <a:endParaRPr lang="en-US" sz="14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457200"/>
            <a:ext cx="323850" cy="323850"/>
          </a:xfrm>
          <a:prstGeom prst="ellipse">
            <a:avLst/>
          </a:prstGeom>
          <a:solidFill>
            <a:srgbClr val="EAF8F6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3" name="Image 0" descr="/sessions/lucid-nice-bell/mnt/outputs/build/icons/cap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534924"/>
            <a:ext cx="168402" cy="168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2050" y="5524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TAKEAWAY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今天學到的不是做表格，是做可驗證的 AI workflow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8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44/45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8700" y="2190750"/>
            <a:ext cx="57721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你要先定義問題與 schema——不管走哪條路線都一樣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你至少完成了一種實作路線：對話、API pipeline，或 client 練習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你用程式抓格式問題，用人工 review 抓 biomedical 問題</a:t>
            </a:r>
            <a:endParaRPr lang="en-US" sz="17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你留下了修正紀錄、prompt 或程式版本，以及限制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43800" y="2152650"/>
            <a:ext cx="3200400" cy="2343150"/>
          </a:xfrm>
          <a:prstGeom prst="roundRect">
            <a:avLst>
              <a:gd name="adj" fmla="val 2341"/>
            </a:avLst>
          </a:prstGeom>
          <a:solidFill>
            <a:srgbClr val="EAF8F6"/>
          </a:solidFill>
          <a:ln w="17780">
            <a:solidFill>
              <a:srgbClr val="0E8F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15400" y="238125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10" name="Image 1" descr="/sessions/lucid-nice-bell/mnt/outputs/build/icons/cap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28" y="249097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48600" y="2952750"/>
            <a:ext cx="25908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加速整理，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人負責可信度，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程式讓流程</a:t>
            </a:r>
            <a:endParaRPr lang="en-US" sz="1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E8F8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可重現。</a:t>
            </a:r>
            <a:endParaRPr lang="en-US" sz="1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ucid-nice-bell/mnt/outputs/build/icons/deco-lay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476500"/>
            <a:ext cx="4381500" cy="4381500"/>
          </a:xfrm>
          <a:prstGeom prst="rect">
            <a:avLst/>
          </a:prstGeom>
        </p:spPr>
      </p:pic>
      <p:pic>
        <p:nvPicPr>
          <p:cNvPr id="3" name="Image 1" descr="/sessions/lucid-nice-bell/mnt/outputs/build/icons/deco-dn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24000" y="-1524000"/>
            <a:ext cx="4000500" cy="4000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0100" y="590550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最後交付：不是 AI 做的表，是你審過的 evidence table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952500" y="1809750"/>
            <a:ext cx="514350" cy="514350"/>
          </a:xfrm>
          <a:prstGeom prst="ellipse">
            <a:avLst/>
          </a:prstGeom>
          <a:solidFill>
            <a:srgbClr val="25313A"/>
          </a:solidFill>
          <a:ln w="12700">
            <a:solidFill>
              <a:srgbClr val="0E8F88"/>
            </a:solidFill>
            <a:prstDash val="solid"/>
          </a:ln>
        </p:spPr>
      </p:sp>
      <p:pic>
        <p:nvPicPr>
          <p:cNvPr id="6" name="Image 2" descr="/sessions/lucid-nice-bell/mnt/outputs/build/icons/box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231" y="1943481"/>
            <a:ext cx="246888" cy="2468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38300" y="1790700"/>
            <a:ext cx="438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evidence_table.csv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1638300" y="209550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7C0C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含來源、引用、confidence、review 欄位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952500" y="2686050"/>
            <a:ext cx="514350" cy="514350"/>
          </a:xfrm>
          <a:prstGeom prst="ellipse">
            <a:avLst/>
          </a:prstGeom>
          <a:solidFill>
            <a:srgbClr val="25313A"/>
          </a:solidFill>
          <a:ln w="12700">
            <a:solidFill>
              <a:srgbClr val="D89A16"/>
            </a:solidFill>
            <a:prstDash val="solid"/>
          </a:ln>
        </p:spPr>
      </p:sp>
      <p:pic>
        <p:nvPicPr>
          <p:cNvPr id="10" name="Image 3" descr="/sessions/lucid-nice-bell/mnt/outputs/build/icons/file-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231" y="2819781"/>
            <a:ext cx="246888" cy="2468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38300" y="2667000"/>
            <a:ext cx="438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8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review_checklist.md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1638300" y="297180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7C0C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列出你查過什麼、修正什麼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952500" y="3562350"/>
            <a:ext cx="514350" cy="514350"/>
          </a:xfrm>
          <a:prstGeom prst="ellipse">
            <a:avLst/>
          </a:prstGeom>
          <a:solidFill>
            <a:srgbClr val="25313A"/>
          </a:solidFill>
          <a:ln w="12700">
            <a:solidFill>
              <a:srgbClr val="C85A4A"/>
            </a:solidFill>
            <a:prstDash val="solid"/>
          </a:ln>
        </p:spPr>
      </p:sp>
      <p:pic>
        <p:nvPicPr>
          <p:cNvPr id="14" name="Image 4" descr="/sessions/lucid-nice-bell/mnt/outputs/build/icons/file-cor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231" y="3696081"/>
            <a:ext cx="246888" cy="2468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38300" y="3543300"/>
            <a:ext cx="438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8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final_summary.md</a:t>
            </a:r>
            <a:endParaRPr lang="en-US" sz="1900" dirty="0"/>
          </a:p>
        </p:txBody>
      </p:sp>
      <p:sp>
        <p:nvSpPr>
          <p:cNvPr id="16" name="Text 9"/>
          <p:cNvSpPr/>
          <p:nvPr/>
        </p:nvSpPr>
        <p:spPr>
          <a:xfrm>
            <a:off x="1638300" y="384810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7C0C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5-8 句總結 evidence strength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952500" y="4438650"/>
            <a:ext cx="514350" cy="514350"/>
          </a:xfrm>
          <a:prstGeom prst="ellipse">
            <a:avLst/>
          </a:prstGeom>
          <a:solidFill>
            <a:srgbClr val="25313A"/>
          </a:solidFill>
          <a:ln w="12700">
            <a:solidFill>
              <a:srgbClr val="3446A8"/>
            </a:solidFill>
            <a:prstDash val="solid"/>
          </a:ln>
        </p:spPr>
      </p:sp>
      <p:pic>
        <p:nvPicPr>
          <p:cNvPr id="18" name="Image 5" descr="/sessions/lucid-nice-bell/mnt/outputs/build/icons/terminal-indi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231" y="4572381"/>
            <a:ext cx="246888" cy="2468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638300" y="4419600"/>
            <a:ext cx="438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4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llm_call.py（Track B / C）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1638300" y="472440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7C0C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選程式路線者附上呼叫程式與至少一次執行 log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1905000" y="5715000"/>
            <a:ext cx="838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9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今天的重點：agent 或程式幫你加速，review 讓成果可信。</a:t>
            </a:r>
            <a:endParaRPr lang="en-US" sz="2000" dirty="0"/>
          </a:p>
        </p:txBody>
      </p:sp>
      <p:sp>
        <p:nvSpPr>
          <p:cNvPr id="22" name="Text 14"/>
          <p:cNvSpPr/>
          <p:nvPr/>
        </p:nvSpPr>
        <p:spPr>
          <a:xfrm>
            <a:off x="723900" y="63627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practice: biomedical evidence table  |  45/45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4031</Words>
  <Application>Microsoft Macintosh PowerPoint</Application>
  <PresentationFormat>寬螢幕</PresentationFormat>
  <Paragraphs>694</Paragraphs>
  <Slides>45</Slides>
  <Notes>45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0" baseType="lpstr">
      <vt:lpstr>Noto Sans CJK TC</vt:lpstr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Biomedical evidence table: from chat to code</dc:title>
  <dc:subject>PptxGenJS Presentation</dc:subject>
  <dc:creator>LLM Applications on BioMedical Data</dc:creator>
  <cp:lastModifiedBy>Willis Cheng</cp:lastModifiedBy>
  <cp:revision>1</cp:revision>
  <dcterms:created xsi:type="dcterms:W3CDTF">2026-07-09T06:19:14Z</dcterms:created>
  <dcterms:modified xsi:type="dcterms:W3CDTF">2026-07-09T06:30:15Z</dcterms:modified>
</cp:coreProperties>
</file>