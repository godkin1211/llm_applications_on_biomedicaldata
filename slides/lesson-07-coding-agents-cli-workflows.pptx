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d25e75700c44c5" /><Relationship Type="http://schemas.openxmlformats.org/officeDocument/2006/relationships/extended-properties" Target="/docProps/app.xml" Id="R32700adcc2d94c00" /><Relationship Type="http://schemas.openxmlformats.org/officeDocument/2006/relationships/officeDocument" Target="/ppt/presentation.xml" Id="Ra7406985602941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ac1d694a904c4d"/>
  </p:sldMasterIdLst>
  <p:notesMasterIdLst>
    <p:notesMasterId xmlns:r="http://schemas.openxmlformats.org/officeDocument/2006/relationships" r:id="R97464acffefe4ab0"/>
  </p:notesMasterIdLst>
  <p:sldIdLst>
    <p:sldId xmlns:r="http://schemas.openxmlformats.org/officeDocument/2006/relationships" id="256" r:id="R4ba9245e4ebf464e"/>
    <p:sldId xmlns:r="http://schemas.openxmlformats.org/officeDocument/2006/relationships" id="257" r:id="Ref2e94d722be4f52"/>
    <p:sldId xmlns:r="http://schemas.openxmlformats.org/officeDocument/2006/relationships" id="258" r:id="R9f8c1a403f8644b0"/>
    <p:sldId xmlns:r="http://schemas.openxmlformats.org/officeDocument/2006/relationships" id="259" r:id="R278b47d769fb4228"/>
    <p:sldId xmlns:r="http://schemas.openxmlformats.org/officeDocument/2006/relationships" id="260" r:id="Rd3b87ec429104e45"/>
    <p:sldId xmlns:r="http://schemas.openxmlformats.org/officeDocument/2006/relationships" id="261" r:id="R3f6a5fc0585a4b16"/>
    <p:sldId xmlns:r="http://schemas.openxmlformats.org/officeDocument/2006/relationships" id="262" r:id="R4a1fae0076b1461b"/>
    <p:sldId xmlns:r="http://schemas.openxmlformats.org/officeDocument/2006/relationships" id="263" r:id="R0f095d4c933446cc"/>
    <p:sldId xmlns:r="http://schemas.openxmlformats.org/officeDocument/2006/relationships" id="264" r:id="R891356dcbc0540cf"/>
    <p:sldId xmlns:r="http://schemas.openxmlformats.org/officeDocument/2006/relationships" id="265" r:id="R5968a65f162842bb"/>
    <p:sldId xmlns:r="http://schemas.openxmlformats.org/officeDocument/2006/relationships" id="266" r:id="R3db6e9ee4c9d464c"/>
    <p:sldId xmlns:r="http://schemas.openxmlformats.org/officeDocument/2006/relationships" id="267" r:id="R786ace7fa3114887"/>
    <p:sldId xmlns:r="http://schemas.openxmlformats.org/officeDocument/2006/relationships" id="268" r:id="R1b6960cc032b4db2"/>
    <p:sldId xmlns:r="http://schemas.openxmlformats.org/officeDocument/2006/relationships" id="269" r:id="R0b54071c934c4e33"/>
    <p:sldId xmlns:r="http://schemas.openxmlformats.org/officeDocument/2006/relationships" id="270" r:id="R4495179488394dec"/>
    <p:sldId xmlns:r="http://schemas.openxmlformats.org/officeDocument/2006/relationships" id="271" r:id="Reb58e82d8d9648b9"/>
    <p:sldId xmlns:r="http://schemas.openxmlformats.org/officeDocument/2006/relationships" id="272" r:id="R76d818c6ef674c6b"/>
    <p:sldId xmlns:r="http://schemas.openxmlformats.org/officeDocument/2006/relationships" id="273" r:id="Rede7c1e6fa8f448f"/>
    <p:sldId xmlns:r="http://schemas.openxmlformats.org/officeDocument/2006/relationships" id="274" r:id="R05a34784c86d4704"/>
    <p:sldId xmlns:r="http://schemas.openxmlformats.org/officeDocument/2006/relationships" id="275" r:id="R5e9ca0dfcf4a4f76"/>
    <p:sldId xmlns:r="http://schemas.openxmlformats.org/officeDocument/2006/relationships" id="276" r:id="R655b75f3ef284bcd"/>
    <p:sldId xmlns:r="http://schemas.openxmlformats.org/officeDocument/2006/relationships" id="277" r:id="Ra06ce3c86bb24727"/>
    <p:sldId xmlns:r="http://schemas.openxmlformats.org/officeDocument/2006/relationships" id="278" r:id="R8d9135822a17495c"/>
    <p:sldId xmlns:r="http://schemas.openxmlformats.org/officeDocument/2006/relationships" id="279" r:id="R0b08b5787b9746cb"/>
    <p:sldId xmlns:r="http://schemas.openxmlformats.org/officeDocument/2006/relationships" id="280" r:id="R2be891ea45e7498a"/>
    <p:sldId xmlns:r="http://schemas.openxmlformats.org/officeDocument/2006/relationships" id="281" r:id="R477c784d57334a48"/>
    <p:sldId xmlns:r="http://schemas.openxmlformats.org/officeDocument/2006/relationships" id="282" r:id="R897efd0cab6349df"/>
    <p:sldId xmlns:r="http://schemas.openxmlformats.org/officeDocument/2006/relationships" id="283" r:id="Ra3510502f56f42cf"/>
    <p:sldId xmlns:r="http://schemas.openxmlformats.org/officeDocument/2006/relationships" id="284" r:id="Ra384340a59954220"/>
    <p:sldId xmlns:r="http://schemas.openxmlformats.org/officeDocument/2006/relationships" id="285" r:id="R9dddc0ff628d4651"/>
    <p:sldId xmlns:r="http://schemas.openxmlformats.org/officeDocument/2006/relationships" id="286" r:id="Re9a3eab8149342c7"/>
    <p:sldId xmlns:r="http://schemas.openxmlformats.org/officeDocument/2006/relationships" id="287" r:id="R3309d8f4ec4e4999"/>
    <p:sldId xmlns:r="http://schemas.openxmlformats.org/officeDocument/2006/relationships" id="288" r:id="R94d3db33249f432e"/>
    <p:sldId xmlns:r="http://schemas.openxmlformats.org/officeDocument/2006/relationships" id="289" r:id="Rcd1ea1b3423d47f7"/>
    <p:sldId xmlns:r="http://schemas.openxmlformats.org/officeDocument/2006/relationships" id="290" r:id="R4af36492fbe140b5"/>
    <p:sldId xmlns:r="http://schemas.openxmlformats.org/officeDocument/2006/relationships" id="291" r:id="Rb7a088399b9643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2b631c5f4b466e" /><Relationship Type="http://schemas.openxmlformats.org/officeDocument/2006/relationships/slideMaster" Target="/ppt/slideMasters/slideMaster1.xml" Id="R77ac1d694a904c4d" /><Relationship Type="http://schemas.openxmlformats.org/officeDocument/2006/relationships/notesMaster" Target="/ppt/notesMasters/notesMaster1.xml" Id="R97464acffefe4ab0" /><Relationship Type="http://schemas.openxmlformats.org/officeDocument/2006/relationships/presProps" Target="/ppt/presProps.xml" Id="R2ea71e78ba8e43bc" /><Relationship Type="http://schemas.openxmlformats.org/officeDocument/2006/relationships/tableStyles" Target="/ppt/tableStyles.xml" Id="Rd5db6bcea7fd4725" /><Relationship Type="http://schemas.openxmlformats.org/officeDocument/2006/relationships/slide" Target="/ppt/slides/slide1.xml" Id="R4ba9245e4ebf464e" /><Relationship Type="http://schemas.openxmlformats.org/officeDocument/2006/relationships/slide" Target="/ppt/slides/slide2.xml" Id="Ref2e94d722be4f52" /><Relationship Type="http://schemas.openxmlformats.org/officeDocument/2006/relationships/slide" Target="/ppt/slides/slide3.xml" Id="R9f8c1a403f8644b0" /><Relationship Type="http://schemas.openxmlformats.org/officeDocument/2006/relationships/slide" Target="/ppt/slides/slide4.xml" Id="R278b47d769fb4228" /><Relationship Type="http://schemas.openxmlformats.org/officeDocument/2006/relationships/slide" Target="/ppt/slides/slide5.xml" Id="Rd3b87ec429104e45" /><Relationship Type="http://schemas.openxmlformats.org/officeDocument/2006/relationships/slide" Target="/ppt/slides/slide6.xml" Id="R3f6a5fc0585a4b16" /><Relationship Type="http://schemas.openxmlformats.org/officeDocument/2006/relationships/slide" Target="/ppt/slides/slide7.xml" Id="R4a1fae0076b1461b" /><Relationship Type="http://schemas.openxmlformats.org/officeDocument/2006/relationships/slide" Target="/ppt/slides/slide8.xml" Id="R0f095d4c933446cc" /><Relationship Type="http://schemas.openxmlformats.org/officeDocument/2006/relationships/slide" Target="/ppt/slides/slide9.xml" Id="R891356dcbc0540cf" /><Relationship Type="http://schemas.openxmlformats.org/officeDocument/2006/relationships/slide" Target="/ppt/slides/slide10.xml" Id="R5968a65f162842bb" /><Relationship Type="http://schemas.openxmlformats.org/officeDocument/2006/relationships/slide" Target="/ppt/slides/slide11.xml" Id="R3db6e9ee4c9d464c" /><Relationship Type="http://schemas.openxmlformats.org/officeDocument/2006/relationships/slide" Target="/ppt/slides/slide12.xml" Id="R786ace7fa3114887" /><Relationship Type="http://schemas.openxmlformats.org/officeDocument/2006/relationships/slide" Target="/ppt/slides/slide13.xml" Id="R1b6960cc032b4db2" /><Relationship Type="http://schemas.openxmlformats.org/officeDocument/2006/relationships/slide" Target="/ppt/slides/slide14.xml" Id="R0b54071c934c4e33" /><Relationship Type="http://schemas.openxmlformats.org/officeDocument/2006/relationships/slide" Target="/ppt/slides/slide15.xml" Id="R4495179488394dec" /><Relationship Type="http://schemas.openxmlformats.org/officeDocument/2006/relationships/slide" Target="/ppt/slides/slide16.xml" Id="Reb58e82d8d9648b9" /><Relationship Type="http://schemas.openxmlformats.org/officeDocument/2006/relationships/slide" Target="/ppt/slides/slide17.xml" Id="R76d818c6ef674c6b" /><Relationship Type="http://schemas.openxmlformats.org/officeDocument/2006/relationships/slide" Target="/ppt/slides/slide18.xml" Id="Rede7c1e6fa8f448f" /><Relationship Type="http://schemas.openxmlformats.org/officeDocument/2006/relationships/slide" Target="/ppt/slides/slide19.xml" Id="R05a34784c86d4704" /><Relationship Type="http://schemas.openxmlformats.org/officeDocument/2006/relationships/slide" Target="/ppt/slides/slide20.xml" Id="R5e9ca0dfcf4a4f76" /><Relationship Type="http://schemas.openxmlformats.org/officeDocument/2006/relationships/slide" Target="/ppt/slides/slide21.xml" Id="R655b75f3ef284bcd" /><Relationship Type="http://schemas.openxmlformats.org/officeDocument/2006/relationships/slide" Target="/ppt/slides/slide22.xml" Id="Ra06ce3c86bb24727" /><Relationship Type="http://schemas.openxmlformats.org/officeDocument/2006/relationships/slide" Target="/ppt/slides/slide23.xml" Id="R8d9135822a17495c" /><Relationship Type="http://schemas.openxmlformats.org/officeDocument/2006/relationships/slide" Target="/ppt/slides/slide24.xml" Id="R0b08b5787b9746cb" /><Relationship Type="http://schemas.openxmlformats.org/officeDocument/2006/relationships/slide" Target="/ppt/slides/slide25.xml" Id="R2be891ea45e7498a" /><Relationship Type="http://schemas.openxmlformats.org/officeDocument/2006/relationships/slide" Target="/ppt/slides/slide26.xml" Id="R477c784d57334a48" /><Relationship Type="http://schemas.openxmlformats.org/officeDocument/2006/relationships/slide" Target="/ppt/slides/slide27.xml" Id="R897efd0cab6349df" /><Relationship Type="http://schemas.openxmlformats.org/officeDocument/2006/relationships/slide" Target="/ppt/slides/slide28.xml" Id="Ra3510502f56f42cf" /><Relationship Type="http://schemas.openxmlformats.org/officeDocument/2006/relationships/slide" Target="/ppt/slides/slide29.xml" Id="Ra384340a59954220" /><Relationship Type="http://schemas.openxmlformats.org/officeDocument/2006/relationships/slide" Target="/ppt/slides/slide30.xml" Id="R9dddc0ff628d4651" /><Relationship Type="http://schemas.openxmlformats.org/officeDocument/2006/relationships/slide" Target="/ppt/slides/slide31.xml" Id="Re9a3eab8149342c7" /><Relationship Type="http://schemas.openxmlformats.org/officeDocument/2006/relationships/slide" Target="/ppt/slides/slide32.xml" Id="R3309d8f4ec4e4999" /><Relationship Type="http://schemas.openxmlformats.org/officeDocument/2006/relationships/slide" Target="/ppt/slides/slide33.xml" Id="R94d3db33249f432e" /><Relationship Type="http://schemas.openxmlformats.org/officeDocument/2006/relationships/slide" Target="/ppt/slides/slide34.xml" Id="Rcd1ea1b3423d47f7" /><Relationship Type="http://schemas.openxmlformats.org/officeDocument/2006/relationships/slide" Target="/ppt/slides/slide35.xml" Id="R4af36492fbe140b5" /><Relationship Type="http://schemas.openxmlformats.org/officeDocument/2006/relationships/slide" Target="/ppt/slides/slide36.xml" Id="Rb7a088399b9643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98ce4368904e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8a67abb2bb4c44" /><Relationship Type="http://schemas.openxmlformats.org/officeDocument/2006/relationships/notesMaster" Target="/ppt/notesMasters/notesMaster1.xml" Id="Raf031b77e61543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460857c6074828" /><Relationship Type="http://schemas.openxmlformats.org/officeDocument/2006/relationships/notesMaster" Target="/ppt/notesMasters/notesMaster1.xml" Id="Re763794a9a574e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d72854499b4f36" /><Relationship Type="http://schemas.openxmlformats.org/officeDocument/2006/relationships/notesMaster" Target="/ppt/notesMasters/notesMaster1.xml" Id="Rdc88d29694dd46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bf1c632ffe459b" /><Relationship Type="http://schemas.openxmlformats.org/officeDocument/2006/relationships/notesMaster" Target="/ppt/notesMasters/notesMaster1.xml" Id="R73f070719b8d49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5c07f39ea4475f" /><Relationship Type="http://schemas.openxmlformats.org/officeDocument/2006/relationships/notesMaster" Target="/ppt/notesMasters/notesMaster1.xml" Id="R083107ac7d2f44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9df8eaf7f34dcc" /><Relationship Type="http://schemas.openxmlformats.org/officeDocument/2006/relationships/notesMaster" Target="/ppt/notesMasters/notesMaster1.xml" Id="R60c57196ed3f44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304e86f9b240f9" /><Relationship Type="http://schemas.openxmlformats.org/officeDocument/2006/relationships/notesMaster" Target="/ppt/notesMasters/notesMaster1.xml" Id="R1e98bcf13c4d46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d85fc331d542b5" /><Relationship Type="http://schemas.openxmlformats.org/officeDocument/2006/relationships/notesMaster" Target="/ppt/notesMasters/notesMaster1.xml" Id="R3f6a78f401af40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aba7a7d38d417f" /><Relationship Type="http://schemas.openxmlformats.org/officeDocument/2006/relationships/notesMaster" Target="/ppt/notesMasters/notesMaster1.xml" Id="Rfafbe20072654e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76bc1df10e47ef" /><Relationship Type="http://schemas.openxmlformats.org/officeDocument/2006/relationships/notesMaster" Target="/ppt/notesMasters/notesMaster1.xml" Id="Re800ecfc5f3446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7029bb8e2e4734" /><Relationship Type="http://schemas.openxmlformats.org/officeDocument/2006/relationships/notesMaster" Target="/ppt/notesMasters/notesMaster1.xml" Id="Ree5cd086325a4d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ae72a60086467c" /><Relationship Type="http://schemas.openxmlformats.org/officeDocument/2006/relationships/notesMaster" Target="/ppt/notesMasters/notesMaster1.xml" Id="R72d6fc61911f41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001ac7adf346a2" /><Relationship Type="http://schemas.openxmlformats.org/officeDocument/2006/relationships/notesMaster" Target="/ppt/notesMasters/notesMaster1.xml" Id="Rce9ab41f096045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5d4c9170cf497a" /><Relationship Type="http://schemas.openxmlformats.org/officeDocument/2006/relationships/notesMaster" Target="/ppt/notesMasters/notesMaster1.xml" Id="R455277cc440642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733a2ed99545ed" /><Relationship Type="http://schemas.openxmlformats.org/officeDocument/2006/relationships/notesMaster" Target="/ppt/notesMasters/notesMaster1.xml" Id="Refd591900acc48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cdb14e894b42e3" /><Relationship Type="http://schemas.openxmlformats.org/officeDocument/2006/relationships/notesMaster" Target="/ppt/notesMasters/notesMaster1.xml" Id="R45ecdde2d5db4d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69c7b102194734" /><Relationship Type="http://schemas.openxmlformats.org/officeDocument/2006/relationships/notesMaster" Target="/ppt/notesMasters/notesMaster1.xml" Id="R17c1baf560b349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782116bb55433f" /><Relationship Type="http://schemas.openxmlformats.org/officeDocument/2006/relationships/notesMaster" Target="/ppt/notesMasters/notesMaster1.xml" Id="R80bd588cc6544b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3ae5a8fc1c4b96" /><Relationship Type="http://schemas.openxmlformats.org/officeDocument/2006/relationships/notesMaster" Target="/ppt/notesMasters/notesMaster1.xml" Id="R02fb9ed8f05d4c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92e2a4c85a4170" /><Relationship Type="http://schemas.openxmlformats.org/officeDocument/2006/relationships/notesMaster" Target="/ppt/notesMasters/notesMaster1.xml" Id="R5215f2fa969540a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ab84641d0594865" /><Relationship Type="http://schemas.openxmlformats.org/officeDocument/2006/relationships/notesMaster" Target="/ppt/notesMasters/notesMaster1.xml" Id="R44727d18702c46d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16532a270844f1" /><Relationship Type="http://schemas.openxmlformats.org/officeDocument/2006/relationships/notesMaster" Target="/ppt/notesMasters/notesMaster1.xml" Id="R6e6c8fe51fd849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5cc88d70a24cdc" /><Relationship Type="http://schemas.openxmlformats.org/officeDocument/2006/relationships/notesMaster" Target="/ppt/notesMasters/notesMaster1.xml" Id="Rbad30558296247a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c05b60827624a54" /><Relationship Type="http://schemas.openxmlformats.org/officeDocument/2006/relationships/notesMaster" Target="/ppt/notesMasters/notesMaster1.xml" Id="R74aa3c557e964f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a42900973114d8d" /><Relationship Type="http://schemas.openxmlformats.org/officeDocument/2006/relationships/notesMaster" Target="/ppt/notesMasters/notesMaster1.xml" Id="R8f0cff0cac6c4b0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e53fd9dd1424610" /><Relationship Type="http://schemas.openxmlformats.org/officeDocument/2006/relationships/notesMaster" Target="/ppt/notesMasters/notesMaster1.xml" Id="R5c464d8601f8448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bd927584814883" /><Relationship Type="http://schemas.openxmlformats.org/officeDocument/2006/relationships/notesMaster" Target="/ppt/notesMasters/notesMaster1.xml" Id="Rcffb53762ea04b7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892408ae265422c" /><Relationship Type="http://schemas.openxmlformats.org/officeDocument/2006/relationships/notesMaster" Target="/ppt/notesMasters/notesMaster1.xml" Id="Rfeefbf7c2d6b474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3ced62bdb3a4ab6" /><Relationship Type="http://schemas.openxmlformats.org/officeDocument/2006/relationships/notesMaster" Target="/ppt/notesMasters/notesMaster1.xml" Id="Ra2126b663a9542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ba143bf690e4c41" /><Relationship Type="http://schemas.openxmlformats.org/officeDocument/2006/relationships/notesMaster" Target="/ppt/notesMasters/notesMaster1.xml" Id="R407225b27f7b4e9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51617a5644147ac" /><Relationship Type="http://schemas.openxmlformats.org/officeDocument/2006/relationships/notesMaster" Target="/ppt/notesMasters/notesMaster1.xml" Id="Rca63106bed904c0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dc3ea363c83464f" /><Relationship Type="http://schemas.openxmlformats.org/officeDocument/2006/relationships/notesMaster" Target="/ppt/notesMasters/notesMaster1.xml" Id="R6b454820a5a04ac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4a907cdd2d3432a" /><Relationship Type="http://schemas.openxmlformats.org/officeDocument/2006/relationships/notesMaster" Target="/ppt/notesMasters/notesMaster1.xml" Id="Ra0032dea51574ce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83e01b394314f25" /><Relationship Type="http://schemas.openxmlformats.org/officeDocument/2006/relationships/notesMaster" Target="/ppt/notesMasters/notesMaster1.xml" Id="R8976ec0ccd68479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7940d9cfd44408d" /><Relationship Type="http://schemas.openxmlformats.org/officeDocument/2006/relationships/notesMaster" Target="/ppt/notesMasters/notesMaster1.xml" Id="Rcaa7319bcc1a478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bc8adda4ade4b5e" /><Relationship Type="http://schemas.openxmlformats.org/officeDocument/2006/relationships/notesMaster" Target="/ppt/notesMasters/notesMaster1.xml" Id="R2a1990119cf24f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07 connects general coding agents with bioinformatics workflow development, especially where Seqera AI can help with Nextflow and Seqera Platform tasks.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今天不是教大家相信 agent，而是教大家要求它留下證據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讓 agent 先讀 repo，再提出小範圍修改計畫 讓 agent 改程式、跑測試、解釋錯誤與回報 diff 知道何時用桌面工具、IDE assistant、CLI coding agent 或 Seqera AI 把 biomedical pipeline 開發變成可追溯的 commit 與驗證紀錄 90 分鐘後: 能下達 repo-grounded task 能限制改檔範圍 能檢查測試輸出 能寫 Seqera AI prompt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Coding agent 的價值在這條閉環，不在單次回答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Inspect: 讀檔、看測試、理解資料格式</a:t>
            </a:r>
          </a:p>
          <a:p xmlns:a="http://schemas.openxmlformats.org/drawingml/2006/main">
            <a:r>
              <a:t>2. Plan: 限制 scope，先講要改哪裡</a:t>
            </a:r>
          </a:p>
          <a:p xmlns:a="http://schemas.openxmlformats.org/drawingml/2006/main">
            <a:r>
              <a:t>3. Patch: 用小 diff 修改程式或文件</a:t>
            </a:r>
          </a:p>
          <a:p xmlns:a="http://schemas.openxmlformats.org/drawingml/2006/main">
            <a:r>
              <a:t>4. Validate: 跑測試、lint、sample command</a:t>
            </a:r>
          </a:p>
          <a:p xmlns:a="http://schemas.openxmlformats.org/drawingml/2006/main">
            <a:r>
              <a:t>5. Report: 列出改動、風險、未完成項</a:t>
            </a:r>
          </a:p>
          <a:p xmlns:a="http://schemas.openxmlformats.org/drawingml/2006/main">
            <a:r>
              <a:t>6. Commit: 留下可追溯版本紀錄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桌面工具、IDE assistant、CLI coding agent 的邊界要分清楚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桌面 agent | 讀 PDF、整理文獻、瀏覽網頁、做研究筆記 | 大量改 repo、跑測試、處理多檔 diff</a:t>
            </a:r>
          </a:p>
          <a:p xmlns:a="http://schemas.openxmlformats.org/drawingml/2006/main">
            <a:r>
              <a:t>IDE assistant | 局部補完、函式重構、API 用法提示 | 跨 repo 規劃、批次驗證、完整報告</a:t>
            </a:r>
          </a:p>
          <a:p xmlns:a="http://schemas.openxmlformats.org/drawingml/2006/main">
            <a:r>
              <a:t>CLI coding agent | 讀檔、改程式、跑測試、整理 diff 與風險 | 無規格大型重寫、未授權外部操作</a:t>
            </a:r>
          </a:p>
          <a:p xmlns:a="http://schemas.openxmlformats.org/drawingml/2006/main">
            <a:r>
              <a:t>Seqera AI | Nextflow / nf-core / Seqera Platform 工作流輔助 | 一般非生物資訊程式碼或不需 workflow context 的任務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 agent 不是聊天視窗，而是有工具的 repo worker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讀: 列檔案、搜尋關鍵字、讀 README、看 config、檢查 sample data。</a:t>
            </a:r>
          </a:p>
          <a:p xmlns:a="http://schemas.openxmlformats.org/drawingml/2006/main">
            <a:r>
              <a:t>改: 只改指定檔案，保留既有風格，避免順手重構和無關格式化。</a:t>
            </a:r>
          </a:p>
          <a:p xmlns:a="http://schemas.openxmlformats.org/drawingml/2006/main">
            <a:r>
              <a:t>驗: 跑測試、重現錯誤、比較輸出，最後用 diff 說明改了什麼。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給 coding agent 的任務要像 issue，不要像願望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Bad prompt:</a:t>
            </a:r>
          </a:p>
          <a:p xmlns:a="http://schemas.openxmlformats.org/drawingml/2006/main">
            <a:r>
              <a:t>幫我修一下這個 pipeline，順便整理一下程式。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問題: 沒有 repo context 沒有輸入輸出規格 沒有改檔邊界 沒有驗證命令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好的 task packet 會把自由度放在該放的地方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Better prompt:</a:t>
            </a:r>
          </a:p>
          <a:p xmlns:a="http://schemas.openxmlformats.org/drawingml/2006/main">
            <a:r>
              <a:t>目標：修正 scripts/validate_manifest.py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請先讀：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sample_manifest.csv</a:t>
            </a:r>
          </a:p>
          <a:p xmlns:a="http://schemas.openxmlformats.org/drawingml/2006/main">
            <a:r>
              <a:t>- scripts/validate_manifest.py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只允許修改：</a:t>
            </a:r>
          </a:p>
          <a:p xmlns:a="http://schemas.openxmlformats.org/drawingml/2006/main">
            <a:r>
              <a:t>- scripts/validate_manifest.py</a:t>
            </a:r>
          </a:p>
          <a:p xmlns:a="http://schemas.openxmlformats.org/drawingml/2006/main">
            <a:r>
              <a:t>- tests/test_validate_manifest.py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驗證：</a:t>
            </a:r>
          </a:p>
          <a:p xmlns:a="http://schemas.openxmlformats.org/drawingml/2006/main">
            <a:r>
              <a:t>- python3 scripts/validate_manifest.py sample_manifest.csv</a:t>
            </a:r>
          </a:p>
          <a:p xmlns:a="http://schemas.openxmlformats.org/drawingml/2006/main">
            <a:r>
              <a:t>- pytest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回報：</a:t>
            </a:r>
          </a:p>
          <a:p xmlns:a="http://schemas.openxmlformats.org/drawingml/2006/main">
            <a:r>
              <a:t>- 修改摘要</a:t>
            </a:r>
          </a:p>
          <a:p xmlns:a="http://schemas.openxmlformats.org/drawingml/2006/main">
            <a:r>
              <a:t>- 測試結果</a:t>
            </a:r>
          </a:p>
          <a:p xmlns:a="http://schemas.openxmlformats.org/drawingml/2006/main">
            <a:r>
              <a:t>- 仍需人工確認的風險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為什麼有效: 明確告訴 agent 先讀什麼 限制 write surface 測試命令可重跑 要求風險回報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 agent 先建立 repo map，再開始改檔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 agent 先列出它讀過的檔案與理解到的資料流 要求它標出 entry point、主要輸入、輸出與測試位置 它若沒有讀檔就開始建議，先停下來補 context 對 biomedical pipeline，要額外標出資料版本與 sample manifest 欄位 檢查句: 你讀了哪些檔案？ 哪個 command 可重現？ 你會改哪幾個檔？ 不會碰哪些檔？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最常用的 repo inspection 命令要讓學生看得懂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Inspection checklist:</a:t>
            </a:r>
          </a:p>
          <a:p xmlns:a="http://schemas.openxmlformats.org/drawingml/2006/main">
            <a:r>
              <a:t>pwd</a:t>
            </a:r>
          </a:p>
          <a:p xmlns:a="http://schemas.openxmlformats.org/drawingml/2006/main">
            <a:r>
              <a:t>git status --short</a:t>
            </a:r>
          </a:p>
          <a:p xmlns:a="http://schemas.openxmlformats.org/drawingml/2006/main">
            <a:r>
              <a:t>rg --files</a:t>
            </a:r>
          </a:p>
          <a:p xmlns:a="http://schemas.openxmlformats.org/drawingml/2006/main">
            <a:r>
              <a:t>rg -n "TODO|FIXME|manifest|sample_id"</a:t>
            </a:r>
          </a:p>
          <a:p xmlns:a="http://schemas.openxmlformats.org/drawingml/2006/main">
            <a:r>
              <a:t>sed -n '1,220p' README.md</a:t>
            </a:r>
          </a:p>
          <a:p xmlns:a="http://schemas.openxmlformats.org/drawingml/2006/main">
            <a:r>
              <a:t>sed -n '1,220p' scripts/validate_manifest.py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教學重點: 不用神秘化 terminal 每個命令都有目的 輸出要回到任務規格 先看 status 避免覆蓋別人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 agent 改程式時，要明確定義可碰與不可碰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Allowed files | 只允許改 scripts/validate_manifest.py 與 tests/ | 縮小 blast radius</a:t>
            </a:r>
          </a:p>
          <a:p xmlns:a="http://schemas.openxmlformats.org/drawingml/2006/main">
            <a:r>
              <a:t>Out of scope | 不要改資料檔、不要重命名欄位、不要大重構 | 避免破壞既有流程</a:t>
            </a:r>
          </a:p>
          <a:p xmlns:a="http://schemas.openxmlformats.org/drawingml/2006/main">
            <a:r>
              <a:t>Style | 沿用現有 argparse、logging、pytest 風格 | 維持 repo 一致性</a:t>
            </a:r>
          </a:p>
          <a:p xmlns:a="http://schemas.openxmlformats.org/drawingml/2006/main">
            <a:r>
              <a:t>Exit rule | 不確定時先回報，不要猜測臨床或資料語意 | 降低 biomedical 風險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測試命令不是儀式，是 agent 完成任務的證據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commands:</a:t>
            </a:r>
          </a:p>
          <a:p xmlns:a="http://schemas.openxmlformats.org/drawingml/2006/main">
            <a:r>
              <a:t># unit tests</a:t>
            </a:r>
          </a:p>
          <a:p xmlns:a="http://schemas.openxmlformats.org/drawingml/2006/main">
            <a:r>
              <a:t>pytest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sample data smoke test</a:t>
            </a:r>
          </a:p>
          <a:p xmlns:a="http://schemas.openxmlformats.org/drawingml/2006/main">
            <a:r>
              <a:t>python3 scripts/validate_manifest.py sample_manifest.csv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formatting or lint, if project uses them</a:t>
            </a:r>
          </a:p>
          <a:p xmlns:a="http://schemas.openxmlformats.org/drawingml/2006/main">
            <a:r>
              <a:t>ruff check scripts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pipeline dry run, if applicable</a:t>
            </a:r>
          </a:p>
          <a:p xmlns:a="http://schemas.openxmlformats.org/drawingml/2006/main">
            <a:r>
              <a:t>nextflow run nextflow/main.nf -profile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回報格式: 命令原文 通過或失敗 關鍵錯誤訊息 改完後是否重跑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叫 agent 解釋錯誤時，要要求它把推論拆開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先貼出最小錯誤訊息與重現 command 要求它指出錯在哪個檔案、哪個函式、哪個資料欄位 要求列出假設，並用讀檔或測試結果支持 修正後必須重跑同一個 command 錯誤報告: Symptom Root cause Patch Verification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 / Claude Code / Gemini CLI / Copilot CLI：先看工作情境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Codex | repo-grounded CLI workflow、diff、測試、commit 導向 | 小型資料處理、bugfix、課堂 lab</a:t>
            </a:r>
          </a:p>
          <a:p xmlns:a="http://schemas.openxmlformats.org/drawingml/2006/main">
            <a:r>
              <a:t>Claude Code | 長 context 程式理解、多檔重構討論、plan-first workflow | 讀大型 repo、設計改動策略</a:t>
            </a:r>
          </a:p>
          <a:p xmlns:a="http://schemas.openxmlformats.org/drawingml/2006/main">
            <a:r>
              <a:t>Gemini CLI | Google 生態、長 context、多模態或雲端整合場景 | 讀大量文件、搭配 Google Cloud workflow</a:t>
            </a:r>
          </a:p>
          <a:p xmlns:a="http://schemas.openxmlformats.org/drawingml/2006/main">
            <a:r>
              <a:t>Copilot CLI | terminal 內命令輔助、GitHub/IDE 生態銜接 | 解釋 shell/git 命令、日常 developer help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Seqera AI 不只是另一個 coding agent，而是 bioinformatics workflow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 context | repo、測試、程式碼、shell 輸出 | Nextflow、nf-core、Seqera Platform、runs、datasets</a:t>
            </a:r>
          </a:p>
          <a:p xmlns:a="http://schemas.openxmlformats.org/drawingml/2006/main">
            <a:r>
              <a:t>最常見任務 | 修 bug、寫 script、跑 tests、整理 diff | 建立/除錯 pipeline、找 module、轉換 WDL/R、管理 runs</a:t>
            </a:r>
          </a:p>
          <a:p xmlns:a="http://schemas.openxmlformats.org/drawingml/2006/main">
            <a:r>
              <a:t>驗證方式 | unit test、smoke test、lint、git diff | Nextflow dry run、nf-test、run logs、MultiQC、Platform metrics</a:t>
            </a:r>
          </a:p>
          <a:p xmlns:a="http://schemas.openxmlformats.org/drawingml/2006/main">
            <a:r>
              <a:t>人類 gate | 合併前 code review | 啟動雲端 run、改 workspace、動用資料前 approval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真正的問題通常不是 agent 不能改，而是它改太多、改太快、又沒有留下可檢查證據。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限制 agent 的 write surface，比事後整理爛 diff 更有效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每次任務只允許少數檔案或一個資料夾 要求修改前先回報 plan，修改後先 show diff 禁止無關格式化、重命名、搬檔與大規模重構 資料檔、credential、環境設定與雲端資源要需要人工確認 Prompt guard: Do not edit files outside... Do not run destructive commands Ask before external actions Preserve user changes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每次讓 agent 動手前，先保護工作樹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Minimum git ritual:</a:t>
            </a:r>
          </a:p>
          <a:p xmlns:a="http://schemas.openxmlformats.org/drawingml/2006/main">
            <a:r>
              <a:t>git status --short</a:t>
            </a:r>
          </a:p>
          <a:p xmlns:a="http://schemas.openxmlformats.org/drawingml/2006/main">
            <a:r>
              <a:t>git diff --stat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after patch</a:t>
            </a:r>
          </a:p>
          <a:p xmlns:a="http://schemas.openxmlformats.org/drawingml/2006/main">
            <a:r>
              <a:t>git diff</a:t>
            </a:r>
          </a:p>
          <a:p xmlns:a="http://schemas.openxmlformats.org/drawingml/2006/main">
            <a:r>
              <a:t>pytest -q</a:t>
            </a:r>
          </a:p>
          <a:p xmlns:a="http://schemas.openxmlformats.org/drawingml/2006/main">
            <a:r>
              <a:t>git add &lt;touched files&gt;</a:t>
            </a:r>
          </a:p>
          <a:p xmlns:a="http://schemas.openxmlformats.org/drawingml/2006/main">
            <a:r>
              <a:t>git commit -m "Add manifest validation checks"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學生要會看: 有哪些檔案被改 有沒有無關檔案 測試是否真的跑過 commit 訊息是否可追溯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這堂課的 biomedical examples 都要落在可驗證 artifact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文獻表格轉 CSV | 解析欄位、清理空值、輸出 schema | PMID/DOI 是否真實、欄位語意</a:t>
            </a:r>
          </a:p>
          <a:p xmlns:a="http://schemas.openxmlformats.org/drawingml/2006/main">
            <a:r>
              <a:t>Gene symbol check | 格式檢查、大小寫、空值、重複 | 是否為 approved symbol、物種與舊名</a:t>
            </a:r>
          </a:p>
          <a:p xmlns:a="http://schemas.openxmlformats.org/drawingml/2006/main">
            <a:r>
              <a:t>JSON/HTML report extraction | 抽 table、產生 summary、寫 parser | 來源欄位是否被誤解</a:t>
            </a:r>
          </a:p>
          <a:p xmlns:a="http://schemas.openxmlformats.org/drawingml/2006/main">
            <a:r>
              <a:t>Pipeline validation report | 統計樣本數、錯誤列、exit code | 分析結論與臨床語意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示範重點不是寫很難的程式，而是讓 agent 讀檔、改小範圍、跑測試、留下 report。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材料讓學生可以練習 repo-grounded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lesson-07 lab:</a:t>
            </a:r>
          </a:p>
          <a:p xmlns:a="http://schemas.openxmlformats.org/drawingml/2006/main">
            <a:r>
              <a:t>lesson-07-coding-agents-cli-workflows/</a:t>
            </a:r>
          </a:p>
          <a:p xmlns:a="http://schemas.openxmlformats.org/drawingml/2006/main">
            <a:r>
              <a:t>├── README.md</a:t>
            </a:r>
          </a:p>
          <a:p xmlns:a="http://schemas.openxmlformats.org/drawingml/2006/main">
            <a:r>
              <a:t>├── sample_manifest.csv</a:t>
            </a:r>
          </a:p>
          <a:p xmlns:a="http://schemas.openxmlformats.org/drawingml/2006/main">
            <a:r>
              <a:t>├── scripts/</a:t>
            </a:r>
          </a:p>
          <a:p xmlns:a="http://schemas.openxmlformats.org/drawingml/2006/main">
            <a:r>
              <a:t>│   └── validate_manifest.py</a:t>
            </a:r>
          </a:p>
          <a:p xmlns:a="http://schemas.openxmlformats.org/drawingml/2006/main">
            <a:r>
              <a:t>├── prompts/</a:t>
            </a:r>
          </a:p>
          <a:p xmlns:a="http://schemas.openxmlformats.org/drawingml/2006/main">
            <a:r>
              <a:t>│   ├── coding_agent_task.md</a:t>
            </a:r>
          </a:p>
          <a:p xmlns:a="http://schemas.openxmlformats.org/drawingml/2006/main">
            <a:r>
              <a:t>│   └── seqera_ai_task.md</a:t>
            </a:r>
          </a:p>
          <a:p xmlns:a="http://schemas.openxmlformats.org/drawingml/2006/main">
            <a:r>
              <a:t>└── nextflow/</a:t>
            </a:r>
          </a:p>
          <a:p xmlns:a="http://schemas.openxmlformats.org/drawingml/2006/main">
            <a:r>
              <a:t>    ├── main.nf</a:t>
            </a:r>
          </a:p>
          <a:p xmlns:a="http://schemas.openxmlformats.org/drawingml/2006/main">
            <a:r>
              <a:t>    └── nextflow.config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目標: 先理解資料欄位 補 manifest validation 產生 summary report 把 Nextflow 問題交給 Seqera 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Coding agent demo prompt：小範圍、可驗證、可回報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skeleton:</a:t>
            </a:r>
          </a:p>
          <a:p xmlns:a="http://schemas.openxmlformats.org/drawingml/2006/main">
            <a:r>
              <a:t>請在這個 lab repo 中完成：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先讀 README、sample_manifest.csv、</a:t>
            </a:r>
          </a:p>
          <a:p xmlns:a="http://schemas.openxmlformats.org/drawingml/2006/main">
            <a:r>
              <a:t>   scripts/validate_manifest.py</a:t>
            </a:r>
          </a:p>
          <a:p xmlns:a="http://schemas.openxmlformats.org/drawingml/2006/main">
            <a:r>
              <a:t>2. 只修改 scripts/validate_manifest.py</a:t>
            </a:r>
          </a:p>
          <a:p xmlns:a="http://schemas.openxmlformats.org/drawingml/2006/main">
            <a:r>
              <a:t>3. 加入欄位檢查：</a:t>
            </a:r>
          </a:p>
          <a:p xmlns:a="http://schemas.openxmlformats.org/drawingml/2006/main">
            <a:r>
              <a:t>   sample_id, fastq_1, fastq_2, condition</a:t>
            </a:r>
          </a:p>
          <a:p xmlns:a="http://schemas.openxmlformats.org/drawingml/2006/main">
            <a:r>
              <a:t>4. 輸出 summary：</a:t>
            </a:r>
          </a:p>
          <a:p xmlns:a="http://schemas.openxmlformats.org/drawingml/2006/main">
            <a:r>
              <a:t>   total_rows, invalid_rows, error_messages</a:t>
            </a:r>
          </a:p>
          <a:p xmlns:a="http://schemas.openxmlformats.org/drawingml/2006/main">
            <a:r>
              <a:t>5. 跑：</a:t>
            </a:r>
          </a:p>
          <a:p xmlns:a="http://schemas.openxmlformats.org/drawingml/2006/main">
            <a:r>
              <a:t>   python3 scripts/validate_manifest.py sample_manifest.csv</a:t>
            </a:r>
          </a:p>
          <a:p xmlns:a="http://schemas.openxmlformats.org/drawingml/2006/main">
            <a:r>
              <a:t>6. 回報 diff 摘要與剩餘風險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教師強調: 指定 read set 指定 allowed write 指定 acceptance criteria 要求 command output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課堂示範可以照這個節奏跑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Ask: 貼 task packet，不直接叫它自由修</a:t>
            </a:r>
          </a:p>
          <a:p xmlns:a="http://schemas.openxmlformats.org/drawingml/2006/main">
            <a:r>
              <a:t>2. Inspect: 看 agent 讀了哪些檔案</a:t>
            </a:r>
          </a:p>
          <a:p xmlns:a="http://schemas.openxmlformats.org/drawingml/2006/main">
            <a:r>
              <a:t>3. Patch: 確認只改指定檔案</a:t>
            </a:r>
          </a:p>
          <a:p xmlns:a="http://schemas.openxmlformats.org/drawingml/2006/main">
            <a:r>
              <a:t>4. Run: 重跑 sample command</a:t>
            </a:r>
          </a:p>
          <a:p xmlns:a="http://schemas.openxmlformats.org/drawingml/2006/main">
            <a:r>
              <a:t>5. Review: 檢查 diff 與錯誤列</a:t>
            </a:r>
          </a:p>
          <a:p xmlns:a="http://schemas.openxmlformats.org/drawingml/2006/main">
            <a:r>
              <a:t>6. Record: 保存 prompt、command、commit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一般 coding agent 可以改 repo；Seqera AI 的價值是理解 Nextflow、nf-core、Seqera Platform 與 pipeline execution context。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Seqera AI 適合放在 bioinformatics pipeline 開發的 domain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Nextflow fluency: 協助撰寫 DSL2、config、schema、module glue 與 pipeline 結構。</a:t>
            </a:r>
          </a:p>
          <a:p xmlns:a="http://schemas.openxmlformats.org/drawingml/2006/main">
            <a:r>
              <a:t>Run context: 結合 Seqera Platform 的 run、logs、metrics、datasets 與 compute environment。</a:t>
            </a:r>
          </a:p>
          <a:p xmlns:a="http://schemas.openxmlformats.org/drawingml/2006/main">
            <a:r>
              <a:t>Domain tasks: 找 nf-core modules、轉換 WDL/R、產生 containers、協助 debug workflow。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課堂中可以先展示 CLI 入口，不一定要當場登入學生帳號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Useful commands:</a:t>
            </a:r>
          </a:p>
          <a:p xmlns:a="http://schemas.openxmlformats.org/drawingml/2006/main">
            <a:r>
              <a:t>npm install -g seqera</a:t>
            </a:r>
          </a:p>
          <a:p xmlns:a="http://schemas.openxmlformats.org/drawingml/2006/main">
            <a:r>
              <a:t>seqera login</a:t>
            </a:r>
          </a:p>
          <a:p xmlns:a="http://schemas.openxmlformats.org/drawingml/2006/main">
            <a:r>
              <a:t>seqera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headless mode for reproducible prompt</a:t>
            </a:r>
          </a:p>
          <a:p xmlns:a="http://schemas.openxmlformats.org/drawingml/2006/main">
            <a:r>
              <a:t>seqera ai --headless "Review this Nextflow pipeline"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resume previous session</a:t>
            </a:r>
          </a:p>
          <a:p xmlns:a="http://schemas.openxmlformats.org/drawingml/2006/main">
            <a:r>
              <a:t>seqera ai -c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install/check coding-agent skill</a:t>
            </a:r>
          </a:p>
          <a:p xmlns:a="http://schemas.openxmlformats.org/drawingml/2006/main">
            <a:r>
              <a:t>seqera skill install</a:t>
            </a:r>
          </a:p>
          <a:p xmlns:a="http://schemas.openxmlformats.org/drawingml/2006/main">
            <a:r>
              <a:t>seqera skill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注意: 需要 Seqera login 或 token 外部 action 先確認 approval prompt 與 run record 要保存 教學可先用 headless prompt 範例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Seqera AI 補進課程時，重點放在 pipeline lifecycle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設計 | 根據 FASTQ manifest 草擬 DSL2 pipeline 與 params schema | pipeline sketch、schema、assumptions</a:t>
            </a:r>
          </a:p>
          <a:p xmlns:a="http://schemas.openxmlformats.org/drawingml/2006/main">
            <a:r>
              <a:t>實作 | 建議 nf-core modules、container、process I/O | main.nf、modules、containers</a:t>
            </a:r>
          </a:p>
          <a:p xmlns:a="http://schemas.openxmlformats.org/drawingml/2006/main">
            <a:r>
              <a:t>除錯 | 解讀 failed task log、resource metrics、Nextflow error | log excerpt、root cause、patch</a:t>
            </a:r>
          </a:p>
          <a:p xmlns:a="http://schemas.openxmlformats.org/drawingml/2006/main">
            <a:r>
              <a:t>執行 | 協助 launch/monitor Seqera Platform runs | run ID、labels、MultiQC/report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一般 coding agent 和 Seqera AI 可以分工，不需要互相取代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Spec: 教師或學生定義資料、目標、限制</a:t>
            </a:r>
          </a:p>
          <a:p xmlns:a="http://schemas.openxmlformats.org/drawingml/2006/main">
            <a:r>
              <a:t>2. Codex: 整理 repo、寫小 patch、跑本地測試</a:t>
            </a:r>
          </a:p>
          <a:p xmlns:a="http://schemas.openxmlformats.org/drawingml/2006/main">
            <a:r>
              <a:t>3. Seqera AI: 檢查 Nextflow/nf-core/Platform 問題</a:t>
            </a:r>
          </a:p>
          <a:p xmlns:a="http://schemas.openxmlformats.org/drawingml/2006/main">
            <a:r>
              <a:t>4. Codex: 把建議落成可 review 的 diff</a:t>
            </a:r>
          </a:p>
          <a:p xmlns:a="http://schemas.openxmlformats.org/drawingml/2006/main">
            <a:r>
              <a:t>5. Human: 批准雲端 run、資料存取與 merge</a:t>
            </a:r>
          </a:p>
          <a:p xmlns:a="http://schemas.openxmlformats.org/drawingml/2006/main">
            <a:r>
              <a:t>6. Record: 保存 prompt、run ID、commit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給 Seqera AI 的 prompt 要包含 workflow context，而不是只貼錯誤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Headless prompt example:</a:t>
            </a:r>
          </a:p>
          <a:p xmlns:a="http://schemas.openxmlformats.org/drawingml/2006/main">
            <a:r>
              <a:t>seqera ai --headless "</a:t>
            </a:r>
          </a:p>
          <a:p xmlns:a="http://schemas.openxmlformats.org/drawingml/2006/main">
            <a:r>
              <a:t>I am teaching a small RNA-seq style Nextflow lab.</a:t>
            </a:r>
          </a:p>
          <a:p xmlns:a="http://schemas.openxmlformats.org/drawingml/2006/main">
            <a:r>
              <a:t>Please review nextflow/main.nf and nextflow.config.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Goals:</a:t>
            </a:r>
          </a:p>
          <a:p xmlns:a="http://schemas.openxmlformats.org/drawingml/2006/main">
            <a:r>
              <a:t>- read sample_manifest.csv</a:t>
            </a:r>
          </a:p>
          <a:p xmlns:a="http://schemas.openxmlformats.org/drawingml/2006/main">
            <a:r>
              <a:t>- validate paired FASTQ columns</a:t>
            </a:r>
          </a:p>
          <a:p xmlns:a="http://schemas.openxmlformats.org/drawingml/2006/main">
            <a:r>
              <a:t>- keep a test profile for local demo</a:t>
            </a:r>
          </a:p>
          <a:p xmlns:a="http://schemas.openxmlformats.org/drawingml/2006/main">
            <a:r>
              <a:t>- avoid cloud execution unless I approve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Please return:</a:t>
            </a:r>
          </a:p>
          <a:p xmlns:a="http://schemas.openxmlformats.org/drawingml/2006/main">
            <a:r>
              <a:t>1. likely DSL2 issues</a:t>
            </a:r>
          </a:p>
          <a:p xmlns:a="http://schemas.openxmlformats.org/drawingml/2006/main">
            <a:r>
              <a:t>2. missing params/schema checks</a:t>
            </a:r>
          </a:p>
          <a:p xmlns:a="http://schemas.openxmlformats.org/drawingml/2006/main">
            <a:r>
              <a:t>3. a minimal patch plan</a:t>
            </a:r>
          </a:p>
          <a:p xmlns:a="http://schemas.openxmlformats.org/drawingml/2006/main">
            <a:r>
              <a:t>4. commands to validate locally</a:t>
            </a:r>
          </a:p>
          <a:p xmlns:a="http://schemas.openxmlformats.org/drawingml/2006/main">
            <a:r>
              <a:t>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設計重點: 說明教學情境 限制不要啟動雲端 run 要求 patch plan 而非直接亂改 要求 local validation commands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Nextflow pipeline 開發可用更嚴格的 validation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先用 test profile 和小樣本做 dry run，不直接上 production data 把 process input/output、channel shape、params schema 寫清楚 用 failed work dir、command.log、exit code 追 root cause MultiQC/report 是 evidence，不是修飾品 常用檢查: nextflow run ... -profile test nf-test test schema validation run logs / metrics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Seqera AI 連到平台時，安全邊界要比本地 coding 更清楚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Authentication | 不在投影片或 repo 放 token；使用 seqera login 或環境變數 | 避免 credential leak</a:t>
            </a:r>
          </a:p>
          <a:p xmlns:a="http://schemas.openxmlformats.org/drawingml/2006/main">
            <a:r>
              <a:t>Cloud cost | 任何 launch 或 compute environment 修改都要人工批准 | 避免意外開資源</a:t>
            </a:r>
          </a:p>
          <a:p xmlns:a="http://schemas.openxmlformats.org/drawingml/2006/main">
            <a:r>
              <a:t>Data governance | 不使用真實病人識別資料；demo data 要匿名或合成 | 符合 biomedical safety</a:t>
            </a:r>
          </a:p>
          <a:p xmlns:a="http://schemas.openxmlformats.org/drawingml/2006/main">
            <a:r>
              <a:t>Workspace actions | 改 dataset、labels、runs 前先要求確認 | 外部狀態不可隨意變更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demo：manifest validation + Nextflow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Scenario:</a:t>
            </a:r>
          </a:p>
          <a:p xmlns:a="http://schemas.openxmlformats.org/drawingml/2006/main">
            <a:r>
              <a:t>Input:</a:t>
            </a:r>
          </a:p>
          <a:p xmlns:a="http://schemas.openxmlformats.org/drawingml/2006/main">
            <a:r>
              <a:t>- sample_manifest.csv</a:t>
            </a:r>
          </a:p>
          <a:p xmlns:a="http://schemas.openxmlformats.org/drawingml/2006/main">
            <a:r>
              <a:t>- scripts/validate_manifest.py</a:t>
            </a:r>
          </a:p>
          <a:p xmlns:a="http://schemas.openxmlformats.org/drawingml/2006/main">
            <a:r>
              <a:t>- nextflow/main.nf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A with coding agent:</a:t>
            </a:r>
          </a:p>
          <a:p xmlns:a="http://schemas.openxmlformats.org/drawingml/2006/main">
            <a:r>
              <a:t>- improve manifest validator</a:t>
            </a:r>
          </a:p>
          <a:p xmlns:a="http://schemas.openxmlformats.org/drawingml/2006/main">
            <a:r>
              <a:t>- run sample smoke test</a:t>
            </a:r>
          </a:p>
          <a:p xmlns:a="http://schemas.openxmlformats.org/drawingml/2006/main">
            <a:r>
              <a:t>- report invalid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B with Seqera AI:</a:t>
            </a:r>
          </a:p>
          <a:p xmlns:a="http://schemas.openxmlformats.org/drawingml/2006/main">
            <a:r>
              <a:t>- review Nextflow test profile</a:t>
            </a:r>
          </a:p>
          <a:p xmlns:a="http://schemas.openxmlformats.org/drawingml/2006/main">
            <a:r>
              <a:t>- identify DSL2 / params issues</a:t>
            </a:r>
          </a:p>
          <a:p xmlns:a="http://schemas.openxmlformats.org/drawingml/2006/main">
            <a:r>
              <a:t>- suggest local validation commands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outputs: validator patch command output Seqera AI review notes human-approved next actions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有些事情可以讓 agent 幫忙準備，但不能讓它自行決定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不能讓 agent 自行判定臨床建議、治療策略或病患處置 不能讓 agent 自行上傳、下載或移動敏感資料 不能讓 agent 未經同意啟動昂貴雲端工作流 不能讓 agent 在未 review 的情況下 merge 或覆蓋他人工作 人要負責: clinical claims data access cloud execution merge decision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學生練習分成 coding agent 與 Seqera AI 兩個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Coding agent prompt | read set、allowed write、validation command | 是否限制 scope</a:t>
            </a:r>
          </a:p>
          <a:p xmlns:a="http://schemas.openxmlformats.org/drawingml/2006/main">
            <a:r>
              <a:t>Patch review | diff 摘要、測試結果、風險清單 | 是否可重跑</a:t>
            </a:r>
          </a:p>
          <a:p xmlns:a="http://schemas.openxmlformats.org/drawingml/2006/main">
            <a:r>
              <a:t>Seqera AI prompt | Nextflow context、禁止外部 action、期望輸出 | 是否適合 domain agent</a:t>
            </a:r>
          </a:p>
          <a:p xmlns:a="http://schemas.openxmlformats.org/drawingml/2006/main">
            <a:r>
              <a:t>Final note | commit hash 或 pseudo-patch plan | 是否可追溯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今天可直接帶走的 prompt checklist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Checklist:</a:t>
            </a:r>
          </a:p>
          <a:p xmlns:a="http://schemas.openxmlformats.org/drawingml/2006/main">
            <a:r>
              <a:t>Before patch:</a:t>
            </a:r>
          </a:p>
          <a:p xmlns:a="http://schemas.openxmlformats.org/drawingml/2006/main">
            <a:r>
              <a:t>[ ] What files should the agent read?</a:t>
            </a:r>
          </a:p>
          <a:p xmlns:a="http://schemas.openxmlformats.org/drawingml/2006/main">
            <a:r>
              <a:t>[ ] What files may it edit?</a:t>
            </a:r>
          </a:p>
          <a:p xmlns:a="http://schemas.openxmlformats.org/drawingml/2006/main">
            <a:r>
              <a:t>[ ] What commands prove success?</a:t>
            </a:r>
          </a:p>
          <a:p xmlns:a="http://schemas.openxmlformats.org/drawingml/2006/main">
            <a:r>
              <a:t>[ ] What should it not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After patch:</a:t>
            </a:r>
          </a:p>
          <a:p xmlns:a="http://schemas.openxmlformats.org/drawingml/2006/main">
            <a:r>
              <a:t>[ ] Did it report touched files?</a:t>
            </a:r>
          </a:p>
          <a:p xmlns:a="http://schemas.openxmlformats.org/drawingml/2006/main">
            <a:r>
              <a:t>[ ] Did it run validation?</a:t>
            </a:r>
          </a:p>
          <a:p xmlns:a="http://schemas.openxmlformats.org/drawingml/2006/main">
            <a:r>
              <a:t>[ ] Did it preserve user changes?</a:t>
            </a:r>
          </a:p>
          <a:p xmlns:a="http://schemas.openxmlformats.org/drawingml/2006/main">
            <a:r>
              <a:t>[ ] Did it separate evidence from guess?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Seqera AI:</a:t>
            </a:r>
          </a:p>
          <a:p xmlns:a="http://schemas.openxmlformats.org/drawingml/2006/main">
            <a:r>
              <a:t>[ ] Did prompt include Nextflow context?</a:t>
            </a:r>
          </a:p>
          <a:p xmlns:a="http://schemas.openxmlformats.org/drawingml/2006/main">
            <a:r>
              <a:t>[ ] Did prompt require approval before Platform actions?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一句話: 好 prompt 是小型工程規格 好 agent workflow 會留下 diff 好 biomedical workflow 會留下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used: https://docs.seqera.io/platform-cloud/co-scientist/ ; https://seqera.io/platform/seqera-ai/ ; https://docs.seqera.io/nextflow/ ; https://training.nextflow.io/latest/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Wrap-up: connect CLI agent basics, guardrails, validation, and Seqera AI domain workflow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f0908b92147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a7c5a2b5ea45f8" /><Relationship Type="http://schemas.openxmlformats.org/officeDocument/2006/relationships/slideLayout" Target="/ppt/slideLayouts/slideLayout1.xml" Id="R97c4b56463b7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c4b56463b7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6c66be2c1498b" /><Relationship Type="http://schemas.openxmlformats.org/officeDocument/2006/relationships/notesSlide" Target="/ppt/notesSlides/notesSlide1.xml" Id="R52efa92f70df48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bd47ae3e848cd" /><Relationship Type="http://schemas.openxmlformats.org/officeDocument/2006/relationships/notesSlide" Target="/ppt/notesSlides/notesSlide2.xml" Id="Rddda87ead81441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52a8a41bc488d" /><Relationship Type="http://schemas.openxmlformats.org/officeDocument/2006/relationships/notesSlide" Target="/ppt/notesSlides/notesSlide3.xml" Id="R590e2790c8244c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dbf7095144220" /><Relationship Type="http://schemas.openxmlformats.org/officeDocument/2006/relationships/notesSlide" Target="/ppt/notesSlides/notesSlide4.xml" Id="R4094ec0b963144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ce56d372f453b" /><Relationship Type="http://schemas.openxmlformats.org/officeDocument/2006/relationships/notesSlide" Target="/ppt/notesSlides/notesSlide5.xml" Id="R91c9870ed88c44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987ad735d49f3" /><Relationship Type="http://schemas.openxmlformats.org/officeDocument/2006/relationships/notesSlide" Target="/ppt/notesSlides/notesSlide6.xml" Id="R7f3d45e8f58642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862eef2e84aa6" /><Relationship Type="http://schemas.openxmlformats.org/officeDocument/2006/relationships/notesSlide" Target="/ppt/notesSlides/notesSlide7.xml" Id="R21b54278e79a4c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8b38a47a5445b" /><Relationship Type="http://schemas.openxmlformats.org/officeDocument/2006/relationships/notesSlide" Target="/ppt/notesSlides/notesSlide8.xml" Id="R17ad64454da646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71d387eae478d" /><Relationship Type="http://schemas.openxmlformats.org/officeDocument/2006/relationships/notesSlide" Target="/ppt/notesSlides/notesSlide9.xml" Id="Rc030cd78903045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f06ba79f64685" /><Relationship Type="http://schemas.openxmlformats.org/officeDocument/2006/relationships/notesSlide" Target="/ppt/notesSlides/notesSlide10.xml" Id="R102e62fe19e641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3a2787af3402c" /><Relationship Type="http://schemas.openxmlformats.org/officeDocument/2006/relationships/notesSlide" Target="/ppt/notesSlides/notesSlide11.xml" Id="R57ca0d8b26b34a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66c62f4734717" /><Relationship Type="http://schemas.openxmlformats.org/officeDocument/2006/relationships/notesSlide" Target="/ppt/notesSlides/notesSlide12.xml" Id="R31c4b574000646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0c76145404647" /><Relationship Type="http://schemas.openxmlformats.org/officeDocument/2006/relationships/notesSlide" Target="/ppt/notesSlides/notesSlide13.xml" Id="R35a85b2f3ba641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a67a3d8294336" /><Relationship Type="http://schemas.openxmlformats.org/officeDocument/2006/relationships/notesSlide" Target="/ppt/notesSlides/notesSlide14.xml" Id="Rf10f807b1e884a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46cb4b3dc4f93" /><Relationship Type="http://schemas.openxmlformats.org/officeDocument/2006/relationships/notesSlide" Target="/ppt/notesSlides/notesSlide15.xml" Id="R6567ef2006604e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cd4a2e1224140" /><Relationship Type="http://schemas.openxmlformats.org/officeDocument/2006/relationships/notesSlide" Target="/ppt/notesSlides/notesSlide16.xml" Id="Rc7bf514891f14b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5d16fb3354b58" /><Relationship Type="http://schemas.openxmlformats.org/officeDocument/2006/relationships/notesSlide" Target="/ppt/notesSlides/notesSlide17.xml" Id="R575b5480feb04e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49566ef5b4e6a" /><Relationship Type="http://schemas.openxmlformats.org/officeDocument/2006/relationships/notesSlide" Target="/ppt/notesSlides/notesSlide18.xml" Id="R1abb0dcdc44c4b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ce4f6ffe94957" /><Relationship Type="http://schemas.openxmlformats.org/officeDocument/2006/relationships/notesSlide" Target="/ppt/notesSlides/notesSlide19.xml" Id="R4b542583993648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0f9ae737346d2" /><Relationship Type="http://schemas.openxmlformats.org/officeDocument/2006/relationships/notesSlide" Target="/ppt/notesSlides/notesSlide20.xml" Id="R83aa1e1704ba41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991a72534468a" /><Relationship Type="http://schemas.openxmlformats.org/officeDocument/2006/relationships/notesSlide" Target="/ppt/notesSlides/notesSlide21.xml" Id="Racde5cbdf6fc46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8d7775b614eb2" /><Relationship Type="http://schemas.openxmlformats.org/officeDocument/2006/relationships/notesSlide" Target="/ppt/notesSlides/notesSlide22.xml" Id="Rb425660910604b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700db4b774127" /><Relationship Type="http://schemas.openxmlformats.org/officeDocument/2006/relationships/notesSlide" Target="/ppt/notesSlides/notesSlide23.xml" Id="R9d532e9b2e6b4e9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1541ec9a94668" /><Relationship Type="http://schemas.openxmlformats.org/officeDocument/2006/relationships/notesSlide" Target="/ppt/notesSlides/notesSlide24.xml" Id="R9e85aaf2024c4c1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474f0538c4498" /><Relationship Type="http://schemas.openxmlformats.org/officeDocument/2006/relationships/notesSlide" Target="/ppt/notesSlides/notesSlide25.xml" Id="Rcf28b159fb1c4d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649a1dd2644a2" /><Relationship Type="http://schemas.openxmlformats.org/officeDocument/2006/relationships/notesSlide" Target="/ppt/notesSlides/notesSlide26.xml" Id="R894120f720d944d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8f52e2591409b" /><Relationship Type="http://schemas.openxmlformats.org/officeDocument/2006/relationships/notesSlide" Target="/ppt/notesSlides/notesSlide27.xml" Id="R6b7b4ae84578471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80569483a4107" /><Relationship Type="http://schemas.openxmlformats.org/officeDocument/2006/relationships/notesSlide" Target="/ppt/notesSlides/notesSlide28.xml" Id="Rf6855351991741d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960b363ac48ba" /><Relationship Type="http://schemas.openxmlformats.org/officeDocument/2006/relationships/notesSlide" Target="/ppt/notesSlides/notesSlide29.xml" Id="R0e7cd76262fc442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fb0682d34422e" /><Relationship Type="http://schemas.openxmlformats.org/officeDocument/2006/relationships/notesSlide" Target="/ppt/notesSlides/notesSlide30.xml" Id="R262daad8932e408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6dc676f8f4eb7" /><Relationship Type="http://schemas.openxmlformats.org/officeDocument/2006/relationships/notesSlide" Target="/ppt/notesSlides/notesSlide31.xml" Id="R9518f220f0af486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3124e7755471f" /><Relationship Type="http://schemas.openxmlformats.org/officeDocument/2006/relationships/notesSlide" Target="/ppt/notesSlides/notesSlide32.xml" Id="R3d37b823bc74440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3ef8d7a084c0f" /><Relationship Type="http://schemas.openxmlformats.org/officeDocument/2006/relationships/notesSlide" Target="/ppt/notesSlides/notesSlide33.xml" Id="R1d865c8add7e45b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4f259be0f4d1f" /><Relationship Type="http://schemas.openxmlformats.org/officeDocument/2006/relationships/notesSlide" Target="/ppt/notesSlides/notesSlide34.xml" Id="R6ac0ca21736e4e0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0ed635f2d45a9" /><Relationship Type="http://schemas.openxmlformats.org/officeDocument/2006/relationships/notesSlide" Target="/ppt/notesSlides/notesSlide35.xml" Id="R4690a46a9a74461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187504cbd4188" /><Relationship Type="http://schemas.openxmlformats.org/officeDocument/2006/relationships/notesSlide" Target="/ppt/notesSlides/notesSlide36.xml" Id="R95b6c17983ee41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BDB08180-AB88-44DE-8BBE-15650F44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AFC2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FC2FF"/>
                </a:solidFill>
                <a:latin typeface="Aptos"/>
                <a:ea typeface="Aptos"/>
                <a:cs typeface="Aptos"/>
              </a:rPr>
              <a:t>Day 2 · Lesson 07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28D941-EC59-42C9-B1F0-7BCA6487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239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Coding Agents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CLI Workflows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591059C-5E48-4321-AEB2-C931D70A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E2E8EE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E2E8EE"/>
                </a:solidFill>
                <a:latin typeface="PingFang TC"/>
                <a:ea typeface="PingFang TC"/>
                <a:cs typeface="PingFang TC"/>
              </a:rPr>
              <a:t>把 agent 放進 repo、terminal、tests 與 Nextflow pipeline 開發流程</a:t>
            </a:r>
          </a:p>
        </p:txBody>
      </p:sp>
      <p:sp>
        <p:nvSpPr>
          <p:cNvPr id="4" name="right-panel">
            <a:extLst xmlns:a="http://schemas.openxmlformats.org/drawingml/2006/main">
              <a:ext uri="{FF2B5EF4-FFF2-40B4-BE49-F238E27FC236}">
                <a16:creationId xmlns:a16="http://schemas.microsoft.com/office/drawing/2014/main" id="{B033C1DF-2467-42D3-AD7B-488B1047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38250"/>
            <a:ext cx="2857500" cy="3333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4313D"/>
          </a:solidFill>
          <a:ln xmlns:a="http://schemas.openxmlformats.org/drawingml/2006/main" w="9525">
            <a:solidFill>
              <a:srgbClr val="526171"/>
            </a:solidFill>
            <a:prstDash val="solid"/>
          </a:ln>
        </p:spPr>
      </p:sp>
      <p:sp>
        <p:nvSpPr>
          <p:cNvPr id="5" name="panel-title">
            <a:extLst xmlns:a="http://schemas.openxmlformats.org/drawingml/2006/main">
              <a:ext uri="{FF2B5EF4-FFF2-40B4-BE49-F238E27FC236}">
                <a16:creationId xmlns:a16="http://schemas.microsoft.com/office/drawing/2014/main" id="{F4B3D108-0F07-4007-85BC-47D54883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38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Today output</a:t>
            </a:r>
          </a:p>
        </p:txBody>
      </p:sp>
      <p:sp>
        <p:nvSpPr>
          <p:cNvPr id="6" name="panel-list">
            <a:extLst xmlns:a="http://schemas.openxmlformats.org/drawingml/2006/main">
              <a:ext uri="{FF2B5EF4-FFF2-40B4-BE49-F238E27FC236}">
                <a16:creationId xmlns:a16="http://schemas.microsoft.com/office/drawing/2014/main" id="{0511CA4A-C111-48BB-939C-D0E2B364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350">
                <a:solidFill>
                  <a:srgbClr val="E2E8EE"/>
                </a:solidFill>
                <a:latin typeface="PingFang TC"/>
                <a:ea typeface="PingFang TC"/>
                <a:cs typeface="PingFang TC"/>
              </a:defRPr>
            </a:pPr>
            <a:r>
              <a:rPr sz="1350">
                <a:solidFill>
                  <a:srgbClr val="E2E8EE"/>
                </a:solidFill>
                <a:latin typeface="PingFang TC"/>
                <a:ea typeface="PingFang TC"/>
                <a:cs typeface="PingFang TC"/>
              </a:rPr>
              <a:t>repo-grounded CLI workflow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350">
                <a:solidFill>
                  <a:srgbClr val="E2E8EE"/>
                </a:solidFill>
                <a:latin typeface="PingFang TC"/>
                <a:ea typeface="PingFang TC"/>
                <a:cs typeface="PingFang TC"/>
              </a:defRPr>
            </a:pPr>
            <a:r>
              <a:rPr sz="1350">
                <a:solidFill>
                  <a:srgbClr val="E2E8EE"/>
                </a:solidFill>
                <a:latin typeface="PingFang TC"/>
                <a:ea typeface="PingFang TC"/>
                <a:cs typeface="PingFang TC"/>
              </a:rPr>
              <a:t>tool choice matrix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350">
                <a:solidFill>
                  <a:srgbClr val="E2E8EE"/>
                </a:solidFill>
                <a:latin typeface="PingFang TC"/>
                <a:ea typeface="PingFang TC"/>
                <a:cs typeface="PingFang TC"/>
              </a:defRPr>
            </a:pPr>
            <a:r>
              <a:rPr sz="1350">
                <a:solidFill>
                  <a:srgbClr val="E2E8EE"/>
                </a:solidFill>
                <a:latin typeface="PingFang TC"/>
                <a:ea typeface="PingFang TC"/>
                <a:cs typeface="PingFang TC"/>
              </a:rPr>
              <a:t>guardrails against messy edits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350">
                <a:solidFill>
                  <a:srgbClr val="E2E8EE"/>
                </a:solidFill>
                <a:latin typeface="PingFang TC"/>
                <a:ea typeface="PingFang TC"/>
                <a:cs typeface="PingFang TC"/>
              </a:defRPr>
            </a:pPr>
            <a:r>
              <a:rPr sz="1350">
                <a:solidFill>
                  <a:srgbClr val="E2E8EE"/>
                </a:solidFill>
                <a:latin typeface="PingFang TC"/>
                <a:ea typeface="PingFang TC"/>
                <a:cs typeface="PingFang TC"/>
              </a:rPr>
              <a:t>Seqera AI for Nextflow work</a:t>
            </a:r>
          </a:p>
        </p:txBody>
      </p:sp>
      <p:sp>
        <p:nvSpPr>
          <p:cNvPr id="7" name="footer-dark">
            <a:extLst xmlns:a="http://schemas.openxmlformats.org/drawingml/2006/main">
              <a:ext uri="{FF2B5EF4-FFF2-40B4-BE49-F238E27FC236}">
                <a16:creationId xmlns:a16="http://schemas.microsoft.com/office/drawing/2014/main" id="{C983E5BE-DA9D-491E-8E2B-76EF80BA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Coding agents and CLI workflows  |  1/36</a:t>
            </a:r>
          </a:p>
        </p:txBody>
      </p:sp>
    </p:spTree>
    <p:extLst>
      <p:ext uri="{BB962C8B-B14F-4D97-AF65-F5344CB8AC3E}">
        <p14:creationId xmlns:p14="http://schemas.microsoft.com/office/powerpoint/2010/main" val="310904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3B74B51-933B-4FB4-AC17-CBF2BB6F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LEARNING TARGET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49B36D-2290-42BC-822C-C9E449F2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今天不是教大家相信 agent，而是教大家要求它留下證據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A4A8626-D579-4135-8246-55953A65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2/36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8E2C4F35-24BA-43F3-8244-E049157D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334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 agent 先讀 repo，再提出小範圍修改計畫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 agent 改程式、跑測試、解釋錯誤與回報 diff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知道何時用桌面工具、IDE assistant、CLI coding agent 或 Seqera AI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biomedical pipeline 開發變成可追溯的 commit 與驗證紀錄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E3C48D09-542C-4A5B-B6BF-6586540B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3905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7A7463C0-8375-4573-B289-832090E1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90 分鐘後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16D9625D-61F6-4257-AAAB-F27F9FE1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3009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能下達 repo-grounded task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能限制改檔範圍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能檢查測試輸出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能寫 Seqera AI prompt</a:t>
            </a:r>
          </a:p>
        </p:txBody>
      </p:sp>
    </p:spTree>
    <p:extLst>
      <p:ext uri="{BB962C8B-B14F-4D97-AF65-F5344CB8AC3E}">
        <p14:creationId xmlns:p14="http://schemas.microsoft.com/office/powerpoint/2010/main" val="1661921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DE85288-734A-4422-8215-80224384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21ACE7-A601-4DCA-BE50-1FB0E2C2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Coding agent 的價值在這條閉環，不在單次回答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559574B-1DFE-4133-ACD8-B5582815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3/36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E9AE90F5-B4CC-47A1-BB98-EFE3F890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step-no-0">
            <a:extLst xmlns:a="http://schemas.openxmlformats.org/drawingml/2006/main">
              <a:ext uri="{FF2B5EF4-FFF2-40B4-BE49-F238E27FC236}">
                <a16:creationId xmlns:a16="http://schemas.microsoft.com/office/drawing/2014/main" id="{D2B9A64A-78AB-4438-B63B-5E1CC983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6692A8DC-3CB2-451A-BFDA-E1D9CB41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Inspect</a:t>
            </a:r>
          </a:p>
        </p:txBody>
      </p:sp>
      <p:sp>
        <p:nvSpPr>
          <p:cNvPr id="7" name="step-copy-0">
            <a:extLst xmlns:a="http://schemas.openxmlformats.org/drawingml/2006/main">
              <a:ext uri="{FF2B5EF4-FFF2-40B4-BE49-F238E27FC236}">
                <a16:creationId xmlns:a16="http://schemas.microsoft.com/office/drawing/2014/main" id="{26AACE5E-279B-4A28-9C47-C7112AD4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讀檔、看測試、理解資料格式</a:t>
            </a:r>
          </a:p>
        </p:txBody>
      </p:sp>
      <p:sp>
        <p:nvSpPr>
          <p:cNvPr id="8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4F85936A-BCE5-487D-8198-502B3748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0FCCF454-C719-4AC4-B4BA-DDF2274F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0" name="step-no-1">
            <a:extLst xmlns:a="http://schemas.openxmlformats.org/drawingml/2006/main">
              <a:ext uri="{FF2B5EF4-FFF2-40B4-BE49-F238E27FC236}">
                <a16:creationId xmlns:a16="http://schemas.microsoft.com/office/drawing/2014/main" id="{CBEE882A-25D6-46E4-AEF2-E37BFB10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F826D732-59D7-4AEE-86F0-24262BF0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Plan</a:t>
            </a:r>
          </a:p>
        </p:txBody>
      </p:sp>
      <p:sp>
        <p:nvSpPr>
          <p:cNvPr id="12" name="step-copy-1">
            <a:extLst xmlns:a="http://schemas.openxmlformats.org/drawingml/2006/main">
              <a:ext uri="{FF2B5EF4-FFF2-40B4-BE49-F238E27FC236}">
                <a16:creationId xmlns:a16="http://schemas.microsoft.com/office/drawing/2014/main" id="{2123D384-6DF1-4493-9275-31A58269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限制 scope，先講要改哪裡</a:t>
            </a:r>
          </a:p>
        </p:txBody>
      </p:sp>
      <p:sp>
        <p:nvSpPr>
          <p:cNvPr id="13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3FEFC250-F6F1-4C4A-90D4-36CA3085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F595659A-9A9C-45DD-9903-D3EA6453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15" name="step-no-2">
            <a:extLst xmlns:a="http://schemas.openxmlformats.org/drawingml/2006/main">
              <a:ext uri="{FF2B5EF4-FFF2-40B4-BE49-F238E27FC236}">
                <a16:creationId xmlns:a16="http://schemas.microsoft.com/office/drawing/2014/main" id="{194841AA-4924-4AE3-9E2D-B4A3CE7C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8BB3713-32F2-42E7-A78F-5D63BFF2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Patch</a:t>
            </a:r>
          </a:p>
        </p:txBody>
      </p:sp>
      <p:sp>
        <p:nvSpPr>
          <p:cNvPr id="17" name="step-copy-2">
            <a:extLst xmlns:a="http://schemas.openxmlformats.org/drawingml/2006/main">
              <a:ext uri="{FF2B5EF4-FFF2-40B4-BE49-F238E27FC236}">
                <a16:creationId xmlns:a16="http://schemas.microsoft.com/office/drawing/2014/main" id="{37473283-E246-497A-B3D1-A0B7092F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用小 diff 修改程式或文件</a:t>
            </a:r>
          </a:p>
        </p:txBody>
      </p:sp>
      <p:sp>
        <p:nvSpPr>
          <p:cNvPr id="1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1D52C29F-D1F4-4283-967E-2F5249AF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step-3">
            <a:extLst xmlns:a="http://schemas.openxmlformats.org/drawingml/2006/main">
              <a:ext uri="{FF2B5EF4-FFF2-40B4-BE49-F238E27FC236}">
                <a16:creationId xmlns:a16="http://schemas.microsoft.com/office/drawing/2014/main" id="{A07C9D32-2C23-4C51-8016-0FB7D86F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20" name="step-no-3">
            <a:extLst xmlns:a="http://schemas.openxmlformats.org/drawingml/2006/main">
              <a:ext uri="{FF2B5EF4-FFF2-40B4-BE49-F238E27FC236}">
                <a16:creationId xmlns:a16="http://schemas.microsoft.com/office/drawing/2014/main" id="{CC003652-D004-43B7-8A92-CD3C2521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F7AB4394-3B3B-4085-A439-30122C3C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Validate</a:t>
            </a:r>
          </a:p>
        </p:txBody>
      </p:sp>
      <p:sp>
        <p:nvSpPr>
          <p:cNvPr id="22" name="step-copy-3">
            <a:extLst xmlns:a="http://schemas.openxmlformats.org/drawingml/2006/main">
              <a:ext uri="{FF2B5EF4-FFF2-40B4-BE49-F238E27FC236}">
                <a16:creationId xmlns:a16="http://schemas.microsoft.com/office/drawing/2014/main" id="{C1E29C7C-00B1-47C2-83F3-95996100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跑測試、lint、sample command</a:t>
            </a:r>
          </a:p>
        </p:txBody>
      </p:sp>
      <p:sp>
        <p:nvSpPr>
          <p:cNvPr id="23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F1C9DB84-4091-4E74-A8EC-FE6702B0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step-4">
            <a:extLst xmlns:a="http://schemas.openxmlformats.org/drawingml/2006/main">
              <a:ext uri="{FF2B5EF4-FFF2-40B4-BE49-F238E27FC236}">
                <a16:creationId xmlns:a16="http://schemas.microsoft.com/office/drawing/2014/main" id="{DB52690D-A0EC-4884-846A-0F4EDF4C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5" name="step-no-4">
            <a:extLst xmlns:a="http://schemas.openxmlformats.org/drawingml/2006/main">
              <a:ext uri="{FF2B5EF4-FFF2-40B4-BE49-F238E27FC236}">
                <a16:creationId xmlns:a16="http://schemas.microsoft.com/office/drawing/2014/main" id="{FB7FD134-C713-4F6D-9A70-9C1CFA0C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2F82C4FB-6326-469F-814F-E968E521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Report</a:t>
            </a:r>
          </a:p>
        </p:txBody>
      </p:sp>
      <p:sp>
        <p:nvSpPr>
          <p:cNvPr id="27" name="step-copy-4">
            <a:extLst xmlns:a="http://schemas.openxmlformats.org/drawingml/2006/main">
              <a:ext uri="{FF2B5EF4-FFF2-40B4-BE49-F238E27FC236}">
                <a16:creationId xmlns:a16="http://schemas.microsoft.com/office/drawing/2014/main" id="{A0B73533-B74F-4F70-AE2F-4F96F32D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列出改動、風險、未完成項</a:t>
            </a:r>
          </a:p>
        </p:txBody>
      </p:sp>
      <p:sp>
        <p:nvSpPr>
          <p:cNvPr id="28" name="step-arrow-4">
            <a:extLst xmlns:a="http://schemas.openxmlformats.org/drawingml/2006/main">
              <a:ext uri="{FF2B5EF4-FFF2-40B4-BE49-F238E27FC236}">
                <a16:creationId xmlns:a16="http://schemas.microsoft.com/office/drawing/2014/main" id="{E06E2A9E-E59C-4CCF-98E7-C085AC7F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step-5">
            <a:extLst xmlns:a="http://schemas.openxmlformats.org/drawingml/2006/main">
              <a:ext uri="{FF2B5EF4-FFF2-40B4-BE49-F238E27FC236}">
                <a16:creationId xmlns:a16="http://schemas.microsoft.com/office/drawing/2014/main" id="{6EFD8258-D551-4E75-8AF9-08A6C864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30" name="step-no-5">
            <a:extLst xmlns:a="http://schemas.openxmlformats.org/drawingml/2006/main">
              <a:ext uri="{FF2B5EF4-FFF2-40B4-BE49-F238E27FC236}">
                <a16:creationId xmlns:a16="http://schemas.microsoft.com/office/drawing/2014/main" id="{10F958CE-DF9D-4780-BE6B-FAA4171C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556F8EA-4645-4FE7-80C2-D1AFE533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Commit</a:t>
            </a:r>
          </a:p>
        </p:txBody>
      </p:sp>
      <p:sp>
        <p:nvSpPr>
          <p:cNvPr id="32" name="step-copy-5">
            <a:extLst xmlns:a="http://schemas.openxmlformats.org/drawingml/2006/main">
              <a:ext uri="{FF2B5EF4-FFF2-40B4-BE49-F238E27FC236}">
                <a16:creationId xmlns:a16="http://schemas.microsoft.com/office/drawing/2014/main" id="{3B1CB588-8A4B-4BF4-9ED3-C8959F8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留下可追溯版本紀錄</a:t>
            </a:r>
          </a:p>
        </p:txBody>
      </p:sp>
    </p:spTree>
    <p:extLst>
      <p:ext uri="{BB962C8B-B14F-4D97-AF65-F5344CB8AC3E}">
        <p14:creationId xmlns:p14="http://schemas.microsoft.com/office/powerpoint/2010/main" val="1413138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3068227-4327-433E-B29E-5647473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TOOL CHOICE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5A6FD1-06A8-4879-B1C8-CC705F1D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桌面工具、IDE assistant、CLI coding agent 的邊界要分清楚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3F68FB7-769E-4339-9AD7-45D049CA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4/36</a:t>
            </a:r>
          </a:p>
        </p:txBody>
      </p:sp>
      <p:sp>
        <p:nvSpPr>
          <p:cNvPr id="4" name="header-0">
            <a:extLst xmlns:a="http://schemas.openxmlformats.org/drawingml/2006/main">
              <a:ext uri="{FF2B5EF4-FFF2-40B4-BE49-F238E27FC236}">
                <a16:creationId xmlns:a16="http://schemas.microsoft.com/office/drawing/2014/main" id="{4C41D210-525E-44D6-871D-B081AE5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809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446A8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header-text-0">
            <a:extLst xmlns:a="http://schemas.openxmlformats.org/drawingml/2006/main">
              <a:ext uri="{FF2B5EF4-FFF2-40B4-BE49-F238E27FC236}">
                <a16:creationId xmlns:a16="http://schemas.microsoft.com/office/drawing/2014/main" id="{24298E48-E1A0-456F-84F9-9878B46D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工具型態</a:t>
            </a:r>
          </a:p>
        </p:txBody>
      </p:sp>
      <p:sp>
        <p:nvSpPr>
          <p:cNvPr id="6" name="header-1">
            <a:extLst xmlns:a="http://schemas.openxmlformats.org/drawingml/2006/main">
              <a:ext uri="{FF2B5EF4-FFF2-40B4-BE49-F238E27FC236}">
                <a16:creationId xmlns:a16="http://schemas.microsoft.com/office/drawing/2014/main" id="{BB0211F9-EF04-4E4D-9E61-79D7BC74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85950"/>
            <a:ext cx="433387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446A8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7" name="header-text-1">
            <a:extLst xmlns:a="http://schemas.openxmlformats.org/drawingml/2006/main">
              <a:ext uri="{FF2B5EF4-FFF2-40B4-BE49-F238E27FC236}">
                <a16:creationId xmlns:a16="http://schemas.microsoft.com/office/drawing/2014/main" id="{624CE8F8-9113-4B97-BC14-4F96D666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4105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適合</a:t>
            </a:r>
          </a:p>
        </p:txBody>
      </p:sp>
      <p:sp>
        <p:nvSpPr>
          <p:cNvPr id="8" name="header-2">
            <a:extLst xmlns:a="http://schemas.openxmlformats.org/drawingml/2006/main">
              <a:ext uri="{FF2B5EF4-FFF2-40B4-BE49-F238E27FC236}">
                <a16:creationId xmlns:a16="http://schemas.microsoft.com/office/drawing/2014/main" id="{6CAFB1C0-5229-464A-84E1-25863305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885950"/>
            <a:ext cx="423862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446A8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header-text-2">
            <a:extLst xmlns:a="http://schemas.openxmlformats.org/drawingml/2006/main">
              <a:ext uri="{FF2B5EF4-FFF2-40B4-BE49-F238E27FC236}">
                <a16:creationId xmlns:a16="http://schemas.microsoft.com/office/drawing/2014/main" id="{459BEEA2-1948-4B9C-908E-01D67D39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000250"/>
            <a:ext cx="4010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不適合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05C83A9B-FCA2-423F-9032-461BF97F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809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7778C22E-E3B0-40D1-AA9B-6A4089D6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桌面 agent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EBFAA0F2-57A8-4BBC-9618-5B2EA415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05050"/>
            <a:ext cx="4333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14BCF776-C1DF-4BDD-896C-5DD7516B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4105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讀 PDF、整理文獻、瀏覽網頁、做研究筆記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D96B4574-EE11-4DAC-B920-4A96F001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05050"/>
            <a:ext cx="4238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27C43E3C-608B-4BE7-9C4F-16FF031A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00300"/>
            <a:ext cx="4010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大量改 repo、跑測試、處理多檔 diff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4771F32D-35E0-4465-A1C6-8B26BA0D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809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CE31C272-35D6-4D52-A6F6-9A396D01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IDE assistant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EE4A03BE-A9EC-4CEB-B97A-EDD69444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4333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1D9FAE88-BC68-4AD0-816B-837B09C2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4105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局部補完、函式重構、API 用法提示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8C53020A-3807-4193-9FAE-E59B61A2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71800"/>
            <a:ext cx="4238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826B6430-E235-4F64-99AD-30AD7DE2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67050"/>
            <a:ext cx="4010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跨 repo 規劃、批次驗證、完整報告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A9069909-D8A9-41D9-8E1C-6A73FB98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809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8F4B4143-DA29-437B-9C9F-2620B3FF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 coding agent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E636FFA6-2B05-4EBA-B0F7-F53B66BD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38550"/>
            <a:ext cx="4333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73162C8F-EBDE-4DAB-8D65-4BBFFEA3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4105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讀檔、改程式、跑測試、整理 diff 與風險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489C938C-D30D-4317-A9F4-3E66889E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38550"/>
            <a:ext cx="4238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2EB9581B-A6CF-44FE-999D-D2F4431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733800"/>
            <a:ext cx="4010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無規格大型重寫、未授權外部操作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FB819AAC-CDF2-4D4D-8D5C-6C74FCD2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809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F271E958-4B70-4F18-BD0F-1389D517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Seqera AI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162E1AE1-3210-47DC-AE0F-47D26386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05300"/>
            <a:ext cx="4333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04D27A1F-4DD9-48F2-8B29-3D69CC8D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00550"/>
            <a:ext cx="4105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Nextflow / nf-core / Seqera Platform 工作流輔助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BC883AB2-229D-4C47-92DB-5903750F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05300"/>
            <a:ext cx="4238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CDF516FF-E00C-4D8A-8CEF-4BD664C4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400550"/>
            <a:ext cx="4010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一般非生物資訊程式碼或不需 workflow context 的任務</a:t>
            </a:r>
          </a:p>
        </p:txBody>
      </p:sp>
    </p:spTree>
    <p:extLst>
      <p:ext uri="{BB962C8B-B14F-4D97-AF65-F5344CB8AC3E}">
        <p14:creationId xmlns:p14="http://schemas.microsoft.com/office/powerpoint/2010/main" val="926404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FC24F58-3E93-451D-BB6A-12916FC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BASIC OPERATIONS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242143-29C6-4459-A2D7-590630C0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 agent 不是聊天視窗，而是有工具的 repo worker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7533A47-72F7-4F09-B0CC-ABFAD173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5/36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956DAEE9-6006-4DBE-9312-37CBE512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25EBE914-80F2-40D7-85E2-CD456A5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讀</a:t>
            </a:r>
          </a:p>
        </p:txBody>
      </p:sp>
      <p:sp>
        <p:nvSpPr>
          <p:cNvPr id="6" name="card-copy-0">
            <a:extLst xmlns:a="http://schemas.openxmlformats.org/drawingml/2006/main">
              <a:ext uri="{FF2B5EF4-FFF2-40B4-BE49-F238E27FC236}">
                <a16:creationId xmlns:a16="http://schemas.microsoft.com/office/drawing/2014/main" id="{7BAF90F7-0DA4-46E6-B94B-9C4EB6A2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457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列檔案、搜尋關鍵字、讀 README、看 config、檢查 sample data。</a:t>
            </a:r>
          </a:p>
        </p:txBody>
      </p:sp>
      <p:sp>
        <p:nvSpPr>
          <p:cNvPr id="7" name="card-1">
            <a:extLst xmlns:a="http://schemas.openxmlformats.org/drawingml/2006/main">
              <a:ext uri="{FF2B5EF4-FFF2-40B4-BE49-F238E27FC236}">
                <a16:creationId xmlns:a16="http://schemas.microsoft.com/office/drawing/2014/main" id="{680510EB-AC89-4DFD-9FF6-E950859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8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6B063E2-BDF5-4174-9622-C084BD44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改</a:t>
            </a:r>
          </a:p>
        </p:txBody>
      </p:sp>
      <p:sp>
        <p:nvSpPr>
          <p:cNvPr id="9" name="card-copy-1">
            <a:extLst xmlns:a="http://schemas.openxmlformats.org/drawingml/2006/main">
              <a:ext uri="{FF2B5EF4-FFF2-40B4-BE49-F238E27FC236}">
                <a16:creationId xmlns:a16="http://schemas.microsoft.com/office/drawing/2014/main" id="{B5E46108-0855-4839-BF78-382C019D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457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只改指定檔案，保留既有風格，避免順手重構和無關格式化。</a:t>
            </a:r>
          </a:p>
        </p:txBody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B69C608F-6A58-4EAB-B357-D876A56F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1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ECEDD156-D44B-4A87-B7B8-89D9597A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驗</a:t>
            </a:r>
          </a:p>
        </p:txBody>
      </p:sp>
      <p:sp>
        <p:nvSpPr>
          <p:cNvPr id="12" name="card-copy-2">
            <a:extLst xmlns:a="http://schemas.openxmlformats.org/drawingml/2006/main">
              <a:ext uri="{FF2B5EF4-FFF2-40B4-BE49-F238E27FC236}">
                <a16:creationId xmlns:a16="http://schemas.microsoft.com/office/drawing/2014/main" id="{8BE41274-ACEF-4B77-806C-7971166E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457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跑測試、重現錯誤、比較輸出，最後用 diff 說明改了什麼。</a:t>
            </a:r>
          </a:p>
        </p:txBody>
      </p:sp>
    </p:spTree>
    <p:extLst>
      <p:ext uri="{BB962C8B-B14F-4D97-AF65-F5344CB8AC3E}">
        <p14:creationId xmlns:p14="http://schemas.microsoft.com/office/powerpoint/2010/main" val="776214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BF280FB-3316-4C36-806A-E801FE52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PROMPT PACKET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F58DC5-D6D8-492A-A778-B9D44D7E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給 coding agent 的任務要像 issue，不要像願望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4A9612D-02D2-46AA-B525-0A15CC68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6/36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D7FE4ACE-8850-499D-854C-B1182FC1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Bad prompt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7C545A35-1C43-4706-9152-5D79A6C0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D02B5E96-B7E7-4162-AAD7-706CC0C1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幫我修一下這個 pipeline，順便整理一下程式。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8EAA1B77-1FC0-4555-A133-0EDE6826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23E207AF-DE3F-425B-8BEA-E7A0A99B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問題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3FF00CD8-3935-4B92-9CEC-D828D9CA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 repo context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沒有輸入輸出規格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沒有改檔邊界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沒有驗證命令</a:t>
            </a:r>
          </a:p>
        </p:txBody>
      </p:sp>
    </p:spTree>
    <p:extLst>
      <p:ext uri="{BB962C8B-B14F-4D97-AF65-F5344CB8AC3E}">
        <p14:creationId xmlns:p14="http://schemas.microsoft.com/office/powerpoint/2010/main" val="1720015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103C0A2-E858-4785-B3FC-F4FA5F7B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PROMPT PACKET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CE68E9-30A9-45C9-BD52-6B980D5D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好的 task packet 會把自由度放在該放的地方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7B12C99-944D-4DB2-BAB3-21F1C5A6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7/36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22E1709D-DB1D-4766-B657-41E6579E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Better prompt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931FC656-E257-47CC-83A2-AD7C7FD2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643AB082-DF1F-42B1-B208-C3E5A96A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目標：修正 scripts/validate_manifest.py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請先讀：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README.md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sample_manifest.csv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scripts/validate_manifest.py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只允許修改：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scripts/validate_manifest.py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tests/test_validate_manifest.py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驗證：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python3 scripts/validate_manifest.py sample_manifest.csv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pytest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回報：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修改摘要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測試結果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仍需人工確認的風險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D9E695AA-9519-45C3-9A3D-A8264D64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273935C2-6841-4C98-8FA2-F6F54A62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為什麼有效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B8FA1265-B4BC-41B6-9E1A-36B98482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明確告訴 agent 先讀什麼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限制 write surface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測試命令可重跑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要求風險回報</a:t>
            </a:r>
          </a:p>
        </p:txBody>
      </p:sp>
    </p:spTree>
    <p:extLst>
      <p:ext uri="{BB962C8B-B14F-4D97-AF65-F5344CB8AC3E}">
        <p14:creationId xmlns:p14="http://schemas.microsoft.com/office/powerpoint/2010/main" val="45501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00F0876-A367-4C07-A0EC-99F99BB7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READ BEFORE WRITE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2E7F7F-0A88-4FDC-9DCA-D90FC716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 agent 先建立 repo map，再開始改檔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7528F88-F69F-45E6-B76D-D78D511D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8/36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905A6267-CD5B-496D-B569-09E23983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334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請 agent 先列出它讀過的檔案與理解到的資料流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要求它標出 entry point、主要輸入、輸出與測試位置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它若沒有讀檔就開始建議，先停下來補 context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對 biomedical pipeline，要額外標出資料版本與 sample manifest 欄位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4171DB6F-7423-4EF4-AE64-1D7E4474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3905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BA5EC779-221F-4C35-BD79-C6D34C5C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檢查句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65C58829-0640-4234-AAF6-4B7FB834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3009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你讀了哪些檔案？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哪個 command 可重現？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你會改哪幾個檔？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不會碰哪些檔？</a:t>
            </a:r>
          </a:p>
        </p:txBody>
      </p:sp>
    </p:spTree>
    <p:extLst>
      <p:ext uri="{BB962C8B-B14F-4D97-AF65-F5344CB8AC3E}">
        <p14:creationId xmlns:p14="http://schemas.microsoft.com/office/powerpoint/2010/main" val="478127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FEE2C6D-3AB4-444C-9991-3E3639BB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CLI COMMANDS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183170-1368-4F4C-92D2-CB831A7B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最常用的 repo inspection 命令要讓學生看得懂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28F88FD-7024-471F-9FB1-FC459C8F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9/36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E034CB9C-762F-4B3B-BE5F-2B238129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Inspection checklist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1096CC6F-460D-4045-8A9C-EBD84B3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E53EBE65-E963-41EC-8469-1BA9A7A2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pwd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rg --files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rg -n "TODO|FIXME|manifest|sample_id"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sed -n '1,220p' README.md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sed -n '1,220p' scripts/validate_manifest.py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8FBC7ACA-DF38-41C4-AC7E-C0B15EE5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896BFFEE-8E92-416E-846D-64D68AFF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教學重點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F09F5F65-1050-4D6D-ABE9-615FBB40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不用神秘化 terminal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每個命令都有目的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輸出要回到任務規格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先看 status 避免覆蓋別人</a:t>
            </a:r>
          </a:p>
        </p:txBody>
      </p:sp>
    </p:spTree>
    <p:extLst>
      <p:ext uri="{BB962C8B-B14F-4D97-AF65-F5344CB8AC3E}">
        <p14:creationId xmlns:p14="http://schemas.microsoft.com/office/powerpoint/2010/main" val="70873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CBA9C30-6C0F-4FFD-8199-5C126EF5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EDIT SCOPE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61EDD6-BDAA-4074-A227-58276AB5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 agent 改程式時，要明確定義可碰與不可碰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9209057-41BF-42F7-A6D4-7C51F954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10/36</a:t>
            </a:r>
          </a:p>
        </p:txBody>
      </p:sp>
      <p:sp>
        <p:nvSpPr>
          <p:cNvPr id="4" name="header-0">
            <a:extLst xmlns:a="http://schemas.openxmlformats.org/drawingml/2006/main">
              <a:ext uri="{FF2B5EF4-FFF2-40B4-BE49-F238E27FC236}">
                <a16:creationId xmlns:a16="http://schemas.microsoft.com/office/drawing/2014/main" id="{B31806D0-436F-49F8-A6CC-B782F1F1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809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8F88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5" name="header-text-0">
            <a:extLst xmlns:a="http://schemas.openxmlformats.org/drawingml/2006/main">
              <a:ext uri="{FF2B5EF4-FFF2-40B4-BE49-F238E27FC236}">
                <a16:creationId xmlns:a16="http://schemas.microsoft.com/office/drawing/2014/main" id="{1BCD8729-BD60-46C2-958B-58CD4AC1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設定</a:t>
            </a:r>
          </a:p>
        </p:txBody>
      </p:sp>
      <p:sp>
        <p:nvSpPr>
          <p:cNvPr id="6" name="header-1">
            <a:extLst xmlns:a="http://schemas.openxmlformats.org/drawingml/2006/main">
              <a:ext uri="{FF2B5EF4-FFF2-40B4-BE49-F238E27FC236}">
                <a16:creationId xmlns:a16="http://schemas.microsoft.com/office/drawing/2014/main" id="{E688F68E-8B4D-4B44-84E6-AF49F7AB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85950"/>
            <a:ext cx="4762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8F88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7" name="header-text-1">
            <a:extLst xmlns:a="http://schemas.openxmlformats.org/drawingml/2006/main">
              <a:ext uri="{FF2B5EF4-FFF2-40B4-BE49-F238E27FC236}">
                <a16:creationId xmlns:a16="http://schemas.microsoft.com/office/drawing/2014/main" id="{84B1BCCF-3ADA-4A91-83F4-AC0D8291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好寫法</a:t>
            </a:r>
          </a:p>
        </p:txBody>
      </p:sp>
      <p:sp>
        <p:nvSpPr>
          <p:cNvPr id="8" name="header-2">
            <a:extLst xmlns:a="http://schemas.openxmlformats.org/drawingml/2006/main">
              <a:ext uri="{FF2B5EF4-FFF2-40B4-BE49-F238E27FC236}">
                <a16:creationId xmlns:a16="http://schemas.microsoft.com/office/drawing/2014/main" id="{C636B261-3D4A-4261-B04A-16EAA6AC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85950"/>
            <a:ext cx="38100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8F88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9" name="header-text-2">
            <a:extLst xmlns:a="http://schemas.openxmlformats.org/drawingml/2006/main">
              <a:ext uri="{FF2B5EF4-FFF2-40B4-BE49-F238E27FC236}">
                <a16:creationId xmlns:a16="http://schemas.microsoft.com/office/drawing/2014/main" id="{3C606837-254B-47EC-9388-54F1ED3D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02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理由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AE5E2B16-DE90-4675-8AA2-C7CD84DF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809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736D5C2F-20D2-4D92-AF72-3A925451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Allowed files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79B4ABF8-B394-4BAB-B80C-E64E65E8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05050"/>
            <a:ext cx="47625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90FDF26C-A38B-422C-8488-528E102A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只允許改 scripts/validate_manifest.py 與 tests/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1B32994F-1A92-46BC-9274-DE2C3953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3810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9B353621-408C-417E-ACB9-C03D4E62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縮小 blast radius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25799AB5-2F02-40D2-BCF9-C643104F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809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F64F01A7-0C41-4551-A848-F1B5EB88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Out of scope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075DD6B1-A3B8-469E-BEC8-023F10C7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33700"/>
            <a:ext cx="47625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0525F69D-BF94-49B5-A8CB-75568FA3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不要改資料檔、不要重命名欄位、不要大重構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884743C1-3028-4AD3-8CE7-391EA558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33700"/>
            <a:ext cx="3810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87CF17BC-F852-4844-8A75-349D8379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避免破壞既有流程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F8772260-B71C-4A5D-B8E0-E81C791A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809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5C5328E8-DB6C-4B8D-A3F5-1DF3CD6C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Style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A7830D0C-9634-4F3D-AC79-0C1A44DF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62350"/>
            <a:ext cx="47625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D214BF67-7D30-40D2-9788-ED465577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576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沿用現有 argparse、logging、pytest 風格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49942D79-EBE8-4188-BDFB-5592ED2B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3810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1784EBF7-0AC7-4540-ACF4-E6082E15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5760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維持 repo 一致性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5E3058B4-7F8C-4C0C-8588-61D8057D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1809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5BA58DDB-C15E-40D3-B454-A94FB727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Exit rule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FC6C806B-762D-4679-8738-0EA058AB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91000"/>
            <a:ext cx="47625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090575C6-6DF8-4870-91C8-522C97AA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不確定時先回報，不要猜測臨床或資料語意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DA94F158-BD74-41BC-8F50-3B43E901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91000"/>
            <a:ext cx="3810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A2C516B0-6FF1-4CBD-9988-ECAFFE80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862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降低 biomedical 風險</a:t>
            </a:r>
          </a:p>
        </p:txBody>
      </p:sp>
    </p:spTree>
    <p:extLst>
      <p:ext uri="{BB962C8B-B14F-4D97-AF65-F5344CB8AC3E}">
        <p14:creationId xmlns:p14="http://schemas.microsoft.com/office/powerpoint/2010/main" val="1402615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BB980F1-1CA1-47B7-B3F4-1F569656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4E4F77-623B-4841-B795-019841DD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測試命令不是儀式，是 agent 完成任務的證據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D949F1A-574E-49F3-AF6C-8178EEC4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11/36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027B18FC-ECE4-412E-9164-702AE1B5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Validation commands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97050343-1FCD-4994-B098-A8892CCF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B9CF81FA-67BD-4009-9BA1-37B43691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unit tests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pytest -q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sample data smoke test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python3 scripts/validate_manifest.py sample_manifest.csv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formatting or lint, if project uses them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ruff check scripts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pipeline dry run, if applicable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nextflow run nextflow/main.nf -profile test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ED3BC850-8C92-4E69-B887-3C6FB916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5A55ECF3-5BDF-4F5C-B83F-99319C27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回報格式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D02C803B-5052-4B5F-92A6-2CBBEDD6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命令原文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通過或失敗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關鍵錯誤訊息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改完後是否重跑</a:t>
            </a:r>
          </a:p>
        </p:txBody>
      </p:sp>
    </p:spTree>
    <p:extLst>
      <p:ext uri="{BB962C8B-B14F-4D97-AF65-F5344CB8AC3E}">
        <p14:creationId xmlns:p14="http://schemas.microsoft.com/office/powerpoint/2010/main" val="7681835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E495BBC-4848-43C7-B05E-EDC15000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ERROR EXPLANATION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194B64-43D5-4F7E-A24A-C43A0D31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叫 agent 解釋錯誤時，要要求它把推論拆開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5961767-0F1B-4115-9EE9-69DC9EC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12/36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FCEDB067-FADA-4273-9CEC-1E281C8C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334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先貼出最小錯誤訊息與重現 command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要求它指出錯在哪個檔案、哪個函式、哪個資料欄位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要求列出假設，並用讀檔或測試結果支持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修正後必須重跑同一個 command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6E0A2F7E-89D1-4A2C-93CF-263ED74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3905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38B24590-2528-4A17-9376-1E7EFB58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錯誤報告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0C53F809-5D91-4935-B6C9-4A5D43A8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3009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Symptom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Root cause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Patch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Verification</a:t>
            </a:r>
          </a:p>
        </p:txBody>
      </p:sp>
    </p:spTree>
    <p:extLst>
      <p:ext uri="{BB962C8B-B14F-4D97-AF65-F5344CB8AC3E}">
        <p14:creationId xmlns:p14="http://schemas.microsoft.com/office/powerpoint/2010/main" val="15301527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D1B6457-FEB5-4C46-B065-EE44C37E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TOOL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40170B-C92F-4C10-8B8E-9E33F231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Codex / Claude Code / Gemini CLI / Copilot CLI：先看工作情境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D8F6E73-5FFB-45E5-8D26-864F3443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13/36</a:t>
            </a:r>
          </a:p>
        </p:txBody>
      </p:sp>
      <p:sp>
        <p:nvSpPr>
          <p:cNvPr id="4" name="header-0">
            <a:extLst xmlns:a="http://schemas.openxmlformats.org/drawingml/2006/main">
              <a:ext uri="{FF2B5EF4-FFF2-40B4-BE49-F238E27FC236}">
                <a16:creationId xmlns:a16="http://schemas.microsoft.com/office/drawing/2014/main" id="{F1E21C97-891A-4FE2-A517-0D25064D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428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446A8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header-text-0">
            <a:extLst xmlns:a="http://schemas.openxmlformats.org/drawingml/2006/main">
              <a:ext uri="{FF2B5EF4-FFF2-40B4-BE49-F238E27FC236}">
                <a16:creationId xmlns:a16="http://schemas.microsoft.com/office/drawing/2014/main" id="{3573352C-5B70-411B-A82E-64708547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工具</a:t>
            </a:r>
          </a:p>
        </p:txBody>
      </p:sp>
      <p:sp>
        <p:nvSpPr>
          <p:cNvPr id="6" name="header-1">
            <a:extLst xmlns:a="http://schemas.openxmlformats.org/drawingml/2006/main">
              <a:ext uri="{FF2B5EF4-FFF2-40B4-BE49-F238E27FC236}">
                <a16:creationId xmlns:a16="http://schemas.microsoft.com/office/drawing/2014/main" id="{91BC2240-996E-46D3-97DC-19D406AE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85950"/>
            <a:ext cx="461962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446A8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7" name="header-text-1">
            <a:extLst xmlns:a="http://schemas.openxmlformats.org/drawingml/2006/main">
              <a:ext uri="{FF2B5EF4-FFF2-40B4-BE49-F238E27FC236}">
                <a16:creationId xmlns:a16="http://schemas.microsoft.com/office/drawing/2014/main" id="{CDBCC921-B49F-4D13-8EE0-7623C0D0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00250"/>
            <a:ext cx="4391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強項</a:t>
            </a:r>
          </a:p>
        </p:txBody>
      </p:sp>
      <p:sp>
        <p:nvSpPr>
          <p:cNvPr id="8" name="header-2">
            <a:extLst xmlns:a="http://schemas.openxmlformats.org/drawingml/2006/main">
              <a:ext uri="{FF2B5EF4-FFF2-40B4-BE49-F238E27FC236}">
                <a16:creationId xmlns:a16="http://schemas.microsoft.com/office/drawing/2014/main" id="{136F50C2-E6CD-4411-8610-6F60A7D0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885950"/>
            <a:ext cx="433387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446A8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header-text-2">
            <a:extLst xmlns:a="http://schemas.openxmlformats.org/drawingml/2006/main">
              <a:ext uri="{FF2B5EF4-FFF2-40B4-BE49-F238E27FC236}">
                <a16:creationId xmlns:a16="http://schemas.microsoft.com/office/drawing/2014/main" id="{34D70684-BAE4-468C-B649-98BF86E2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000250"/>
            <a:ext cx="4105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適合教學任務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D64016EC-3ADC-4239-9A8E-48CB545F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428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0D380C6B-9E25-4D8E-8351-42364C15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Codex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89067601-48C4-48DC-BF26-3D860B3D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05050"/>
            <a:ext cx="4619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560BFA57-BB15-4184-A405-FB446877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00300"/>
            <a:ext cx="4391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repo-grounded CLI workflow、diff、測試、commit 導向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41EDE1D8-ADB7-47D6-8707-E02AD229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05050"/>
            <a:ext cx="4333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E457FBBB-349C-4CB4-B7AF-CD3CE1CF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00300"/>
            <a:ext cx="4105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小型資料處理、bugfix、課堂 lab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E890C651-3ADF-4E85-9802-D6138038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428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96DA3C57-A3C3-4F1E-A923-22C0E429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Claude Code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D7174F1D-8209-48D8-BA56-B8CED275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71800"/>
            <a:ext cx="4619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C6BAC948-C82C-4E04-B576-68673139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67050"/>
            <a:ext cx="4391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長 context 程式理解、多檔重構討論、plan-first workflow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5F9A605A-35A9-4628-9EDC-667B53E9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71800"/>
            <a:ext cx="4333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C67843D9-3DE6-4E53-937B-3F64D7A3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67050"/>
            <a:ext cx="4105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讀大型 repo、設計改動策略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B271AAF9-9933-4861-BC6B-AEDF5FFE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428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DC27FAD0-DE3F-4980-B462-921446E3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Gemini CLI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9A2FABB9-EFB7-4154-AA84-63480626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38550"/>
            <a:ext cx="4619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D2E21106-89BA-41E1-B876-D275A751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33800"/>
            <a:ext cx="4391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Google 生態、長 context、多模態或雲端整合場景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3F464540-D804-4202-913E-2149E534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38550"/>
            <a:ext cx="4333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4562A024-1511-4BEE-8B7A-E8FA5742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33800"/>
            <a:ext cx="4105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讀大量文件、搭配 Google Cloud workflow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AA616C7A-DC11-4052-B867-8C9AEDB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428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853375CD-AF5D-48C0-B4E5-7947C212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Copilot CLI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9F365A62-BF2B-43B2-8CBF-FDC9DD81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05300"/>
            <a:ext cx="4619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7EB064B4-78F0-48AC-85AE-A494439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00550"/>
            <a:ext cx="4391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terminal 內命令輔助、GitHub/IDE 生態銜接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3F198BEB-89C8-4AAA-9D43-B087A7C5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305300"/>
            <a:ext cx="4333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66B1C63B-276A-4B57-B254-37605BB0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400550"/>
            <a:ext cx="4105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解釋 shell/git 命令、日常 developer help</a:t>
            </a:r>
          </a:p>
        </p:txBody>
      </p:sp>
    </p:spTree>
    <p:extLst>
      <p:ext uri="{BB962C8B-B14F-4D97-AF65-F5344CB8AC3E}">
        <p14:creationId xmlns:p14="http://schemas.microsoft.com/office/powerpoint/2010/main" val="16235924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BA8A6F7-17FF-4741-8D4B-56F7073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SEQERA POSITIONING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30F961-7722-467C-9E9B-6F3253C1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Seqera AI 不只是另一個 coding agent，而是 bioinformatics workflow agent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28B4553-C36D-4928-8DEB-0B77149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14/36</a:t>
            </a:r>
          </a:p>
        </p:txBody>
      </p:sp>
      <p:sp>
        <p:nvSpPr>
          <p:cNvPr id="4" name="header-0">
            <a:extLst xmlns:a="http://schemas.openxmlformats.org/drawingml/2006/main">
              <a:ext uri="{FF2B5EF4-FFF2-40B4-BE49-F238E27FC236}">
                <a16:creationId xmlns:a16="http://schemas.microsoft.com/office/drawing/2014/main" id="{B0D0A2CE-D855-45DC-993E-C1DB39E4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6192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B4AA0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5" name="header-text-0">
            <a:extLst xmlns:a="http://schemas.openxmlformats.org/drawingml/2006/main">
              <a:ext uri="{FF2B5EF4-FFF2-40B4-BE49-F238E27FC236}">
                <a16:creationId xmlns:a16="http://schemas.microsoft.com/office/drawing/2014/main" id="{1F5A7CFC-9AC4-493B-AE80-7DFBAACD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面向</a:t>
            </a:r>
          </a:p>
        </p:txBody>
      </p:sp>
      <p:sp>
        <p:nvSpPr>
          <p:cNvPr id="6" name="header-1">
            <a:extLst xmlns:a="http://schemas.openxmlformats.org/drawingml/2006/main">
              <a:ext uri="{FF2B5EF4-FFF2-40B4-BE49-F238E27FC236}">
                <a16:creationId xmlns:a16="http://schemas.microsoft.com/office/drawing/2014/main" id="{95FD350A-1B0E-4F40-9648-7DC403AA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85950"/>
            <a:ext cx="42862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B4AA0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7" name="header-text-1">
            <a:extLst xmlns:a="http://schemas.openxmlformats.org/drawingml/2006/main">
              <a:ext uri="{FF2B5EF4-FFF2-40B4-BE49-F238E27FC236}">
                <a16:creationId xmlns:a16="http://schemas.microsoft.com/office/drawing/2014/main" id="{DADE0276-C666-4391-B93C-2C7843B3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00250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一般 CLI coding agent</a:t>
            </a:r>
          </a:p>
        </p:txBody>
      </p:sp>
      <p:sp>
        <p:nvSpPr>
          <p:cNvPr id="8" name="header-2">
            <a:extLst xmlns:a="http://schemas.openxmlformats.org/drawingml/2006/main">
              <a:ext uri="{FF2B5EF4-FFF2-40B4-BE49-F238E27FC236}">
                <a16:creationId xmlns:a16="http://schemas.microsoft.com/office/drawing/2014/main" id="{07AF77E2-EA36-4018-BBD2-4970B81F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476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B4AA0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9" name="header-text-2">
            <a:extLst xmlns:a="http://schemas.openxmlformats.org/drawingml/2006/main">
              <a:ext uri="{FF2B5EF4-FFF2-40B4-BE49-F238E27FC236}">
                <a16:creationId xmlns:a16="http://schemas.microsoft.com/office/drawing/2014/main" id="{32E0ABCD-F541-4CF9-8C35-C5FF0158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0250"/>
            <a:ext cx="424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Seqera AI / Co-Scientist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4A450F2D-80DF-4991-90AD-3CE48994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6192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D33B6829-75FB-442D-A3BA-BF93B23F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主要 context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F3BB9DC9-4C04-4962-B27A-29A735B0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05050"/>
            <a:ext cx="42862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CB7C0D2B-F20C-4846-894B-653FE122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00300"/>
            <a:ext cx="405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repo、測試、程式碼、shell 輸出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2CCB118E-1BA3-4814-9B7B-11DCA327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4767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DEA81FA3-0732-4475-8EC8-9187A963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Nextflow、nf-core、Seqera Platform、runs、datasets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F8A63154-BD8E-435A-94F5-627DA156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6192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0877BAB6-61FE-456B-965F-FF093C2D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最常見任務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B8237FBB-C49B-468B-A9C0-4CC792DE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62275"/>
            <a:ext cx="42862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493ECB00-6A0C-49EF-91F6-AD0E0D48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57525"/>
            <a:ext cx="405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修 bug、寫 script、跑 tests、整理 diff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1B755FE5-F20F-4348-A16E-8028C0F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62275"/>
            <a:ext cx="44767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8A305002-13C5-4D5C-99FC-DF040FA6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57525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建立/除錯 pipeline、找 module、轉換 WDL/R、管理 runs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C3302750-15BD-4156-9542-9E8A4C90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6192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E490A94B-0D24-4F87-9EED-82ACE696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驗證方式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50FA12E7-0E51-489F-9D3E-D2E4FA52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19500"/>
            <a:ext cx="42862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960A34E5-0C32-4E37-935D-3154DC42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14750"/>
            <a:ext cx="405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unit test、smoke test、lint、git diff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8D06D141-5350-4A28-ACE0-CB40DEE7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4767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845C24CB-55AA-4EC6-A515-D0449938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14750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Nextflow dry run、nf-test、run logs、MultiQC、Platform metrics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B583F96A-DB97-4BA1-8B58-91385FB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16192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620191B5-AE96-40E6-9835-406AF6EA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人類 gate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DE077390-9C59-4823-A29C-2B51A32C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76725"/>
            <a:ext cx="42862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CDD21AB9-1FE8-4610-97CC-CA0F07C1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71975"/>
            <a:ext cx="405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合併前 code review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FE06A6B9-F242-4BDA-BF32-E6D60EB1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76725"/>
            <a:ext cx="44767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6BEE3F9E-B489-447A-B23D-211EFEA9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71975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啟動雲端 run、改 workspace、動用資料前 approval</a:t>
            </a:r>
          </a:p>
        </p:txBody>
      </p:sp>
      <p:sp>
        <p:nvSpPr>
          <p:cNvPr id="34" name="source">
            <a:extLst xmlns:a="http://schemas.openxmlformats.org/drawingml/2006/main">
              <a:ext uri="{FF2B5EF4-FFF2-40B4-BE49-F238E27FC236}">
                <a16:creationId xmlns:a16="http://schemas.microsoft.com/office/drawing/2014/main" id="{504A2E39-A669-4526-B561-2626FD46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Sources: docs.seqera.io, seqera.io/platform/seqera-ai</a:t>
            </a:r>
          </a:p>
        </p:txBody>
      </p:sp>
    </p:spTree>
    <p:extLst>
      <p:ext uri="{BB962C8B-B14F-4D97-AF65-F5344CB8AC3E}">
        <p14:creationId xmlns:p14="http://schemas.microsoft.com/office/powerpoint/2010/main" val="3726393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DED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9955771-09C7-4D80-96A9-89A3C969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A7AA920-3AA0-4FCA-8959-C6E987DF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52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如何避免 agent 亂改檔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5F3069DC-472A-4304-B61D-B75DD226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866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真正的問題通常不是 agent 不能改，而是它改太多、改太快、又沒有留下可檢查證據。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B4613BC-93C1-4CF9-8C22-3E318E48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15/36</a:t>
            </a:r>
          </a:p>
        </p:txBody>
      </p:sp>
    </p:spTree>
    <p:extLst>
      <p:ext uri="{BB962C8B-B14F-4D97-AF65-F5344CB8AC3E}">
        <p14:creationId xmlns:p14="http://schemas.microsoft.com/office/powerpoint/2010/main" val="12110718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2EEF9A6-37DB-4BBD-B87F-E935D068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D87A8B-4F46-4E52-B3B3-E86AA5E8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限制 agent 的 write surface，比事後整理爛 diff 更有效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87B8187-6551-49FF-9E03-558195F5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16/36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BB16F1B3-17DE-4CEB-A8AC-3968C5B6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334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每次任務只允許少數檔案或一個資料夾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要求修改前先回報 plan，修改後先 show diff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禁止無關格式化、重命名、搬檔與大規模重構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資料檔、credential、環境設定與雲端資源要需要人工確認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BFFC4E24-693B-409E-9EF4-E0101620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3905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FB01CDCB-5FBE-462F-A5B0-8CE4579F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Prompt guard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34180734-A198-4294-8BC2-057BD002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3009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Do not edit files outside...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Do not run destructive commands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Ask before external actions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Preserve user changes</a:t>
            </a:r>
          </a:p>
        </p:txBody>
      </p:sp>
    </p:spTree>
    <p:extLst>
      <p:ext uri="{BB962C8B-B14F-4D97-AF65-F5344CB8AC3E}">
        <p14:creationId xmlns:p14="http://schemas.microsoft.com/office/powerpoint/2010/main" val="3001092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4AFE077-9436-4B16-9FB3-C0BE6B7A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GIT HYGIENE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042FC7-3976-4640-AC96-B798947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每次讓 agent 動手前，先保護工作樹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1838E11-5E10-44B7-A628-EE5B0D96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17/36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0B5ED9D1-880B-497E-9645-02069A59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Minimum git ritual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BEF8E4DC-89E9-47E6-B628-352AF6F0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259D068E-8300-40CC-9290-8304F36E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git diff --stat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after patch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git diff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pytest -q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git add &lt;touched files&gt;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git commit -m "Add manifest validation checks"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A64C3275-2694-4F2A-839A-FD75148D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085D916A-890A-4FD7-A885-3F4D4F22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學生要會看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69ACBD08-8B9E-478A-97F5-00BD4C44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有哪些檔案被改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有沒有無關檔案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測試是否真的跑過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commit 訊息是否可追溯</a:t>
            </a:r>
          </a:p>
        </p:txBody>
      </p:sp>
    </p:spTree>
    <p:extLst>
      <p:ext uri="{BB962C8B-B14F-4D97-AF65-F5344CB8AC3E}">
        <p14:creationId xmlns:p14="http://schemas.microsoft.com/office/powerpoint/2010/main" val="7562248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B1D067C-54BD-46F6-8AB3-F144AD28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BIOMEDICAL TASKS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8BB7CF-BB23-44D1-A982-AC5782CA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這堂課的 biomedical examples 都要落在可驗證 artifact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3B03D72-FFE8-444C-AB64-ED478A50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18/36</a:t>
            </a:r>
          </a:p>
        </p:txBody>
      </p:sp>
      <p:sp>
        <p:nvSpPr>
          <p:cNvPr id="4" name="header-0">
            <a:extLst xmlns:a="http://schemas.openxmlformats.org/drawingml/2006/main">
              <a:ext uri="{FF2B5EF4-FFF2-40B4-BE49-F238E27FC236}">
                <a16:creationId xmlns:a16="http://schemas.microsoft.com/office/drawing/2014/main" id="{96F442F5-3866-4A09-BF39-D19ADAFD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190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38D4A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5" name="header-text-0">
            <a:extLst xmlns:a="http://schemas.openxmlformats.org/drawingml/2006/main">
              <a:ext uri="{FF2B5EF4-FFF2-40B4-BE49-F238E27FC236}">
                <a16:creationId xmlns:a16="http://schemas.microsoft.com/office/drawing/2014/main" id="{CB741674-A73C-4221-82C4-943FE743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任務</a:t>
            </a:r>
          </a:p>
        </p:txBody>
      </p:sp>
      <p:sp>
        <p:nvSpPr>
          <p:cNvPr id="6" name="header-1">
            <a:extLst xmlns:a="http://schemas.openxmlformats.org/drawingml/2006/main">
              <a:ext uri="{FF2B5EF4-FFF2-40B4-BE49-F238E27FC236}">
                <a16:creationId xmlns:a16="http://schemas.microsoft.com/office/drawing/2014/main" id="{7AF4828B-4953-4D50-BA8C-5992FAE9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85950"/>
            <a:ext cx="423862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38D4A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7" name="header-text-1">
            <a:extLst xmlns:a="http://schemas.openxmlformats.org/drawingml/2006/main">
              <a:ext uri="{FF2B5EF4-FFF2-40B4-BE49-F238E27FC236}">
                <a16:creationId xmlns:a16="http://schemas.microsoft.com/office/drawing/2014/main" id="{664B19A9-A536-4B45-9A6F-09D1F9D2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4010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Agent 可以做</a:t>
            </a:r>
          </a:p>
        </p:txBody>
      </p:sp>
      <p:sp>
        <p:nvSpPr>
          <p:cNvPr id="8" name="header-2">
            <a:extLst xmlns:a="http://schemas.openxmlformats.org/drawingml/2006/main">
              <a:ext uri="{FF2B5EF4-FFF2-40B4-BE49-F238E27FC236}">
                <a16:creationId xmlns:a16="http://schemas.microsoft.com/office/drawing/2014/main" id="{04236A37-7C82-4B4D-9422-B0CDF243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885950"/>
            <a:ext cx="395287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38D4A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9" name="header-text-2">
            <a:extLst xmlns:a="http://schemas.openxmlformats.org/drawingml/2006/main">
              <a:ext uri="{FF2B5EF4-FFF2-40B4-BE49-F238E27FC236}">
                <a16:creationId xmlns:a16="http://schemas.microsoft.com/office/drawing/2014/main" id="{C0D18362-57E3-4E0B-B7A9-3167E243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00250"/>
            <a:ext cx="3724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人工要檢查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9FAB9FD2-80DC-4220-8750-72C9EA59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190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30478E1E-ADAC-493A-ACC5-D1178FD8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文獻表格轉 CSV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BC1C6954-F3C0-45BB-968E-66283B33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4238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E3EA7A2B-F68A-4B5C-8D7A-230B928F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4010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解析欄位、清理空值、輸出 schema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EE8263EA-76CE-4DFB-AA62-640DFA58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305050"/>
            <a:ext cx="3952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7760D2FB-021B-49F2-A9E4-C0063912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00300"/>
            <a:ext cx="3724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PMID/DOI 是否真實、欄位語意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237D7D9F-E290-4C3A-9480-8478EB2E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190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E99CA22B-FFD5-4DEB-B0B5-6D293211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Gene symbol check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68D35058-8B9E-49C2-9174-3261898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4238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90F15B89-F786-4796-B1F6-FEE973BC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4010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格式檢查、大小寫、空值、重複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5D4BA2D3-B008-414C-9E48-0DC00429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71800"/>
            <a:ext cx="3952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13E9265A-DF67-452B-87EC-8A8BA928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67050"/>
            <a:ext cx="3724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是否為 approved symbol、物種與舊名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CF9BFF8A-1054-4954-B1D2-10A270EA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190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125B0022-8027-404D-AD86-A1C8DB59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JSON/HTML report extraction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41BB8584-7B9C-4D9C-9CBA-E3D5F749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8550"/>
            <a:ext cx="4238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D1C080E2-EB9D-4110-838A-5025C90B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33800"/>
            <a:ext cx="4010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抽 table、產生 summary、寫 parser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612A604C-8FB3-458F-8E08-36DA1ECE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38550"/>
            <a:ext cx="3952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2EBE141B-55C0-44F8-9489-33F9BB7D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33800"/>
            <a:ext cx="3724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來源欄位是否被誤解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4EF82B99-D454-4E88-A8B8-F7F6DE1E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190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398BBE1C-CFDA-4D12-A2B3-C5B83EB0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Pipeline validation report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8466AB79-21F2-470D-9F18-2191D851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05300"/>
            <a:ext cx="4238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5E375CA1-FF8D-494E-8942-986769CD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4010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統計樣本數、錯誤列、exit code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818BDF42-6E41-4A78-8CA4-AB1C2D83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305300"/>
            <a:ext cx="3952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3306A1DA-03A9-4FBE-A79C-2144B9B3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400550"/>
            <a:ext cx="3724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分析結論與臨床語意</a:t>
            </a:r>
          </a:p>
        </p:txBody>
      </p:sp>
    </p:spTree>
    <p:extLst>
      <p:ext uri="{BB962C8B-B14F-4D97-AF65-F5344CB8AC3E}">
        <p14:creationId xmlns:p14="http://schemas.microsoft.com/office/powerpoint/2010/main" val="7835850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D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A6D505B-836E-4FCA-B778-216360DB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LAB DEMO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D7BE226B-92E5-47A5-AAD3-9FF98972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52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從 sample manifest 到 validation patch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BA2FDFC9-63B9-4A04-ADFF-DF1D76E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866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示範重點不是寫很難的程式，而是讓 agent 讀檔、改小範圍、跑測試、留下 report。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D5A559D-8FBF-40FE-9503-2F9AC8A6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19/36</a:t>
            </a:r>
          </a:p>
        </p:txBody>
      </p:sp>
    </p:spTree>
    <p:extLst>
      <p:ext uri="{BB962C8B-B14F-4D97-AF65-F5344CB8AC3E}">
        <p14:creationId xmlns:p14="http://schemas.microsoft.com/office/powerpoint/2010/main" val="12393998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0FC5405-D664-49B2-A9AA-43DB92A8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LAB FILE TREE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ED5637-F4C7-4C5F-B1A7-3C5BC21F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Lab 材料讓學生可以練習 repo-grounded prompt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7E39D6A-ADBE-4597-8CBC-B89E5C5C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20/36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61F06C91-B964-4B59-A509-A79C9F51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lesson-07 lab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FFAD1C7F-8B4F-440B-8FC0-EF5B13E5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AEA93EA2-EBEB-402F-9C0E-D439809B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lesson-07-coding-agents-cli-workflows/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├── README.md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├── sample_manifest.csv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├── scripts/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│   └── validate_manifest.py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├── prompts/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│   ├── coding_agent_task.md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│   └── seqera_ai_task.md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└── nextflow/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├── main.nf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└── nextflow.config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BADD5C35-1D4E-4645-B559-AF319DFC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16BE46B3-AB1A-48BA-8EB3-233ECBDC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Demo 目標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F2A667A2-409F-4F6A-95A7-2A8E5B7F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先理解資料欄位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補 manifest validation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產生 summary report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Nextflow 問題交給 Seqera AI</a:t>
            </a:r>
          </a:p>
        </p:txBody>
      </p:sp>
    </p:spTree>
    <p:extLst>
      <p:ext uri="{BB962C8B-B14F-4D97-AF65-F5344CB8AC3E}">
        <p14:creationId xmlns:p14="http://schemas.microsoft.com/office/powerpoint/2010/main" val="2279415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C8EFEF4-D576-4462-84BE-E6FE86AE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LAB PROMPT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F4EC98-8B5F-4B32-9F44-30C9F4B8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Coding agent demo prompt：小範圍、可驗證、可回報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A2A7386-6536-43F8-AB40-23AB8AE6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21/36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DC2BAC78-D4A1-4B5B-967D-5C80D004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Prompt skeleton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0358FF9A-81DD-4416-A61A-4C68C11E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782115A3-AD44-4C5C-BAF2-157CCE10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請在這個 lab repo 中完成：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1. 先讀 README、sample_manifest.csv、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scripts/validate_manifest.py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2. 只修改 scripts/validate_manifest.py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3. 加入欄位檢查：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sample_id, fastq_1, fastq_2, condition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4. 輸出 summary：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total_rows, invalid_rows, error_messages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5. 跑：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python3 scripts/validate_manifest.py sample_manifest.csv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6. 回報 diff 摘要與剩餘風險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83CFA12E-87D6-44B2-BBB3-98C8FB91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38FFCF22-BA80-4DF6-B1EA-1D40CB90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教師強調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8A5C12AC-488D-4DFD-BB73-29461F1D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指定 read set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指定 allowed write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指定 acceptance criteria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 command output</a:t>
            </a:r>
          </a:p>
        </p:txBody>
      </p:sp>
    </p:spTree>
    <p:extLst>
      <p:ext uri="{BB962C8B-B14F-4D97-AF65-F5344CB8AC3E}">
        <p14:creationId xmlns:p14="http://schemas.microsoft.com/office/powerpoint/2010/main" val="2799627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83690C0-A1B8-4FC0-8F6E-8D677781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DEMO LOOP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1109B2-B0BE-4464-B62C-A5742CD8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課堂示範可以照這個節奏跑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E0FC1C5-B03B-4673-8576-E5B4BD85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22/36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B279EF21-EA8D-48A7-9B81-A87FAE59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step-no-0">
            <a:extLst xmlns:a="http://schemas.openxmlformats.org/drawingml/2006/main">
              <a:ext uri="{FF2B5EF4-FFF2-40B4-BE49-F238E27FC236}">
                <a16:creationId xmlns:a16="http://schemas.microsoft.com/office/drawing/2014/main" id="{64DEB9CF-F2F8-49FF-B359-6F5F1E0C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0DD9C5BB-FD18-4CAC-9D23-BD644A48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Ask</a:t>
            </a:r>
          </a:p>
        </p:txBody>
      </p:sp>
      <p:sp>
        <p:nvSpPr>
          <p:cNvPr id="7" name="step-copy-0">
            <a:extLst xmlns:a="http://schemas.openxmlformats.org/drawingml/2006/main">
              <a:ext uri="{FF2B5EF4-FFF2-40B4-BE49-F238E27FC236}">
                <a16:creationId xmlns:a16="http://schemas.microsoft.com/office/drawing/2014/main" id="{9CFD7147-BD7A-4FC8-8343-415E96E9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貼 task packet，不直接叫它自由修</a:t>
            </a:r>
          </a:p>
        </p:txBody>
      </p:sp>
      <p:sp>
        <p:nvSpPr>
          <p:cNvPr id="8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CD9286E8-2C97-4984-A890-43F178A5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1AE16755-713C-4F01-BBA1-F3A8892C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0" name="step-no-1">
            <a:extLst xmlns:a="http://schemas.openxmlformats.org/drawingml/2006/main">
              <a:ext uri="{FF2B5EF4-FFF2-40B4-BE49-F238E27FC236}">
                <a16:creationId xmlns:a16="http://schemas.microsoft.com/office/drawing/2014/main" id="{9FFBBE62-AF8E-4332-9F0A-50EDE15C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58F97B77-FD3D-4B10-A522-E760EA9B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Inspect</a:t>
            </a:r>
          </a:p>
        </p:txBody>
      </p:sp>
      <p:sp>
        <p:nvSpPr>
          <p:cNvPr id="12" name="step-copy-1">
            <a:extLst xmlns:a="http://schemas.openxmlformats.org/drawingml/2006/main">
              <a:ext uri="{FF2B5EF4-FFF2-40B4-BE49-F238E27FC236}">
                <a16:creationId xmlns:a16="http://schemas.microsoft.com/office/drawing/2014/main" id="{F478C2F7-1092-4966-A88F-FD8B7F3B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看 agent 讀了哪些檔案</a:t>
            </a:r>
          </a:p>
        </p:txBody>
      </p:sp>
      <p:sp>
        <p:nvSpPr>
          <p:cNvPr id="13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FC52892F-9636-445C-855E-E069BA25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39336D07-28CA-4462-B727-712C1E6C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15" name="step-no-2">
            <a:extLst xmlns:a="http://schemas.openxmlformats.org/drawingml/2006/main">
              <a:ext uri="{FF2B5EF4-FFF2-40B4-BE49-F238E27FC236}">
                <a16:creationId xmlns:a16="http://schemas.microsoft.com/office/drawing/2014/main" id="{4B120138-9483-4AAF-A8D5-6F6F1910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491BE9AF-E1E5-484F-8C2D-3C62A69E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Patch</a:t>
            </a:r>
          </a:p>
        </p:txBody>
      </p:sp>
      <p:sp>
        <p:nvSpPr>
          <p:cNvPr id="17" name="step-copy-2">
            <a:extLst xmlns:a="http://schemas.openxmlformats.org/drawingml/2006/main">
              <a:ext uri="{FF2B5EF4-FFF2-40B4-BE49-F238E27FC236}">
                <a16:creationId xmlns:a16="http://schemas.microsoft.com/office/drawing/2014/main" id="{338ECBA0-DE6D-4440-975D-29D2C505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確認只改指定檔案</a:t>
            </a:r>
          </a:p>
        </p:txBody>
      </p:sp>
      <p:sp>
        <p:nvSpPr>
          <p:cNvPr id="1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6EFFF4DF-B6AE-4F4E-A9D3-4F6825A9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step-3">
            <a:extLst xmlns:a="http://schemas.openxmlformats.org/drawingml/2006/main">
              <a:ext uri="{FF2B5EF4-FFF2-40B4-BE49-F238E27FC236}">
                <a16:creationId xmlns:a16="http://schemas.microsoft.com/office/drawing/2014/main" id="{AAAA83FC-D669-4F63-8CD0-457B2C73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20" name="step-no-3">
            <a:extLst xmlns:a="http://schemas.openxmlformats.org/drawingml/2006/main">
              <a:ext uri="{FF2B5EF4-FFF2-40B4-BE49-F238E27FC236}">
                <a16:creationId xmlns:a16="http://schemas.microsoft.com/office/drawing/2014/main" id="{F2F2AC61-C4BC-4AA6-824F-D6BB3F25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E7079074-1B83-4A3A-9289-812D7D8B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Run</a:t>
            </a:r>
          </a:p>
        </p:txBody>
      </p:sp>
      <p:sp>
        <p:nvSpPr>
          <p:cNvPr id="22" name="step-copy-3">
            <a:extLst xmlns:a="http://schemas.openxmlformats.org/drawingml/2006/main">
              <a:ext uri="{FF2B5EF4-FFF2-40B4-BE49-F238E27FC236}">
                <a16:creationId xmlns:a16="http://schemas.microsoft.com/office/drawing/2014/main" id="{B92E7714-52FB-4E5C-A1DE-2956CDA0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重跑 sample command</a:t>
            </a:r>
          </a:p>
        </p:txBody>
      </p:sp>
      <p:sp>
        <p:nvSpPr>
          <p:cNvPr id="23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648781E4-4451-4442-AE13-7A041C17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step-4">
            <a:extLst xmlns:a="http://schemas.openxmlformats.org/drawingml/2006/main">
              <a:ext uri="{FF2B5EF4-FFF2-40B4-BE49-F238E27FC236}">
                <a16:creationId xmlns:a16="http://schemas.microsoft.com/office/drawing/2014/main" id="{5A87FF54-972A-465C-BE7E-558B519C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5" name="step-no-4">
            <a:extLst xmlns:a="http://schemas.openxmlformats.org/drawingml/2006/main">
              <a:ext uri="{FF2B5EF4-FFF2-40B4-BE49-F238E27FC236}">
                <a16:creationId xmlns:a16="http://schemas.microsoft.com/office/drawing/2014/main" id="{96BB7D08-7A77-4055-99C6-14192BE4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53790F15-C052-4F0B-B58D-4EA7DA7E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Review</a:t>
            </a:r>
          </a:p>
        </p:txBody>
      </p:sp>
      <p:sp>
        <p:nvSpPr>
          <p:cNvPr id="27" name="step-copy-4">
            <a:extLst xmlns:a="http://schemas.openxmlformats.org/drawingml/2006/main">
              <a:ext uri="{FF2B5EF4-FFF2-40B4-BE49-F238E27FC236}">
                <a16:creationId xmlns:a16="http://schemas.microsoft.com/office/drawing/2014/main" id="{B6700754-E7A9-4D81-A9CA-65EDBCA0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檢查 diff 與錯誤列</a:t>
            </a:r>
          </a:p>
        </p:txBody>
      </p:sp>
      <p:sp>
        <p:nvSpPr>
          <p:cNvPr id="28" name="step-arrow-4">
            <a:extLst xmlns:a="http://schemas.openxmlformats.org/drawingml/2006/main">
              <a:ext uri="{FF2B5EF4-FFF2-40B4-BE49-F238E27FC236}">
                <a16:creationId xmlns:a16="http://schemas.microsoft.com/office/drawing/2014/main" id="{DCC12FC0-285D-433A-AB0A-A9FF42CF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step-5">
            <a:extLst xmlns:a="http://schemas.openxmlformats.org/drawingml/2006/main">
              <a:ext uri="{FF2B5EF4-FFF2-40B4-BE49-F238E27FC236}">
                <a16:creationId xmlns:a16="http://schemas.microsoft.com/office/drawing/2014/main" id="{4FF42984-BB8E-4D2C-96F3-F15D7E9C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30" name="step-no-5">
            <a:extLst xmlns:a="http://schemas.openxmlformats.org/drawingml/2006/main">
              <a:ext uri="{FF2B5EF4-FFF2-40B4-BE49-F238E27FC236}">
                <a16:creationId xmlns:a16="http://schemas.microsoft.com/office/drawing/2014/main" id="{F672FECF-AF99-4565-9928-D621AC8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F5167A8A-E163-445A-9D24-B878EAED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Record</a:t>
            </a:r>
          </a:p>
        </p:txBody>
      </p:sp>
      <p:sp>
        <p:nvSpPr>
          <p:cNvPr id="32" name="step-copy-5">
            <a:extLst xmlns:a="http://schemas.openxmlformats.org/drawingml/2006/main">
              <a:ext uri="{FF2B5EF4-FFF2-40B4-BE49-F238E27FC236}">
                <a16:creationId xmlns:a16="http://schemas.microsoft.com/office/drawing/2014/main" id="{C7A32C00-39FE-4AEA-93C6-ACFE6EBE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保存 prompt、command、commit</a:t>
            </a:r>
          </a:p>
        </p:txBody>
      </p:sp>
    </p:spTree>
    <p:extLst>
      <p:ext uri="{BB962C8B-B14F-4D97-AF65-F5344CB8AC3E}">
        <p14:creationId xmlns:p14="http://schemas.microsoft.com/office/powerpoint/2010/main" val="10665925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1E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7CCD25E-8FA5-45E1-BC2B-BC292CA2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8BBECDDE-17E1-4FB9-A2B7-80120002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52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Seqera AI：把 workflow domain knowledge 帶進 CLI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6ECE9702-A151-42A0-AFD7-46C2C7FF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866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一般 coding agent 可以改 repo；Seqera AI 的價值是理解 Nextflow、nf-core、Seqera Platform 與 pipeline execution context。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F4B0431-F9E5-48AE-BC6A-AB45DD0D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23/36</a:t>
            </a:r>
          </a:p>
        </p:txBody>
      </p:sp>
    </p:spTree>
    <p:extLst>
      <p:ext uri="{BB962C8B-B14F-4D97-AF65-F5344CB8AC3E}">
        <p14:creationId xmlns:p14="http://schemas.microsoft.com/office/powerpoint/2010/main" val="2111652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5ED8E21-FD80-4E53-85BB-4CC47055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WHAT SEQERA AI ADDS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E09D86-C02F-4404-845E-7B5924B0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Seqera AI 適合放在 bioinformatics pipeline 開發的 domain loop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5475671-6E9D-413D-B693-0B0CB19C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24/36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E3AA21AF-53AF-4EF5-9C40-0699BECC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5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A52E91AB-27BC-4E06-94F4-85AF55D4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Nextflow fluency</a:t>
            </a:r>
          </a:p>
        </p:txBody>
      </p:sp>
      <p:sp>
        <p:nvSpPr>
          <p:cNvPr id="6" name="card-copy-0">
            <a:extLst xmlns:a="http://schemas.openxmlformats.org/drawingml/2006/main">
              <a:ext uri="{FF2B5EF4-FFF2-40B4-BE49-F238E27FC236}">
                <a16:creationId xmlns:a16="http://schemas.microsoft.com/office/drawing/2014/main" id="{35E821B7-531B-418E-A56A-BF5307D7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457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協助撰寫 DSL2、config、schema、module glue 與 pipeline 結構。</a:t>
            </a:r>
          </a:p>
        </p:txBody>
      </p:sp>
      <p:sp>
        <p:nvSpPr>
          <p:cNvPr id="7" name="card-1">
            <a:extLst xmlns:a="http://schemas.openxmlformats.org/drawingml/2006/main">
              <a:ext uri="{FF2B5EF4-FFF2-40B4-BE49-F238E27FC236}">
                <a16:creationId xmlns:a16="http://schemas.microsoft.com/office/drawing/2014/main" id="{319F9186-5331-4F57-8D2F-D9864C16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8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B1581DE4-858C-4949-827F-9104B67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Run context</a:t>
            </a:r>
          </a:p>
        </p:txBody>
      </p:sp>
      <p:sp>
        <p:nvSpPr>
          <p:cNvPr id="9" name="card-copy-1">
            <a:extLst xmlns:a="http://schemas.openxmlformats.org/drawingml/2006/main">
              <a:ext uri="{FF2B5EF4-FFF2-40B4-BE49-F238E27FC236}">
                <a16:creationId xmlns:a16="http://schemas.microsoft.com/office/drawing/2014/main" id="{BCF9FD76-EF15-4E28-B18C-013C37A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457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結合 Seqera Platform 的 run、logs、metrics、datasets 與 compute environment。</a:t>
            </a:r>
          </a:p>
        </p:txBody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80FA07E8-1989-4F07-88E5-B5289A43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26CB7B41-E655-4C2B-9395-3AC68E22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Domain tasks</a:t>
            </a:r>
          </a:p>
        </p:txBody>
      </p:sp>
      <p:sp>
        <p:nvSpPr>
          <p:cNvPr id="12" name="card-copy-2">
            <a:extLst xmlns:a="http://schemas.openxmlformats.org/drawingml/2006/main">
              <a:ext uri="{FF2B5EF4-FFF2-40B4-BE49-F238E27FC236}">
                <a16:creationId xmlns:a16="http://schemas.microsoft.com/office/drawing/2014/main" id="{7A681956-7433-4D11-B900-AA8FB00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457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 nf-core modules、轉換 WDL/R、產生 containers、協助 debug workflow。</a:t>
            </a:r>
          </a:p>
        </p:txBody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9562C0A9-B040-4F11-B9FB-FE485E75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Sources: docs.seqera.io/platform-cloud/co-scientist</a:t>
            </a:r>
          </a:p>
        </p:txBody>
      </p:sp>
    </p:spTree>
    <p:extLst>
      <p:ext uri="{BB962C8B-B14F-4D97-AF65-F5344CB8AC3E}">
        <p14:creationId xmlns:p14="http://schemas.microsoft.com/office/powerpoint/2010/main" val="13913010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E216118-2F2E-4FE3-85E5-FE5F4B3E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SEQERA CLI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A7B1BA-6C42-4AA8-9517-5395F797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課堂中可以先展示 CLI 入口，不一定要當場登入學生帳號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92BD925-2231-4DEC-9711-09DD613D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25/36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53EC11EC-CFC4-460F-80E4-23533570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Useful commands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AF156B1F-0E73-4EF7-AF75-069C6BC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8A1C2816-67FA-443D-B9BF-15F67A45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npm install -g seqera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seqera login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seqera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headless mode for reproducible prompt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seqera ai --headless "Review this Nextflow pipeline"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resume previous session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seqera ai -c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# install/check coding-agent skill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seqera skill install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seqera skill check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E832BFF2-0B9C-40AD-BF96-CB1C67E0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D0897807-D5C2-4899-ADFA-1E4C317E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注意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30FD9946-2568-4E5F-BFC1-F0A317C9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需要 Seqera login 或 token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外部 action 先確認 approval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prompt 與 run record 要保存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教學可先用 headless prompt 範例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E422B16E-01DD-4DF0-A1D9-E0D914FC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Sources: local seqera CLI help, docs.seqera.io</a:t>
            </a:r>
          </a:p>
        </p:txBody>
      </p:sp>
    </p:spTree>
    <p:extLst>
      <p:ext uri="{BB962C8B-B14F-4D97-AF65-F5344CB8AC3E}">
        <p14:creationId xmlns:p14="http://schemas.microsoft.com/office/powerpoint/2010/main" val="3981548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71646D1-69A3-411C-A217-E4607CC3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SEQERA AI USE CASES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8A4472-70A7-4E5A-B4BC-A035CE3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Seqera AI 補進課程時，重點放在 pipeline lifecycle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223A485-1B15-474D-B424-21125123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26/36</a:t>
            </a:r>
          </a:p>
        </p:txBody>
      </p:sp>
      <p:sp>
        <p:nvSpPr>
          <p:cNvPr id="4" name="header-0">
            <a:extLst xmlns:a="http://schemas.openxmlformats.org/drawingml/2006/main">
              <a:ext uri="{FF2B5EF4-FFF2-40B4-BE49-F238E27FC236}">
                <a16:creationId xmlns:a16="http://schemas.microsoft.com/office/drawing/2014/main" id="{D6187AC3-F374-4F80-809A-E58E3E60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428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B4AA0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5" name="header-text-0">
            <a:extLst xmlns:a="http://schemas.openxmlformats.org/drawingml/2006/main">
              <a:ext uri="{FF2B5EF4-FFF2-40B4-BE49-F238E27FC236}">
                <a16:creationId xmlns:a16="http://schemas.microsoft.com/office/drawing/2014/main" id="{86693797-D055-469C-A03B-F5470107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階段</a:t>
            </a:r>
          </a:p>
        </p:txBody>
      </p:sp>
      <p:sp>
        <p:nvSpPr>
          <p:cNvPr id="6" name="header-1">
            <a:extLst xmlns:a="http://schemas.openxmlformats.org/drawingml/2006/main">
              <a:ext uri="{FF2B5EF4-FFF2-40B4-BE49-F238E27FC236}">
                <a16:creationId xmlns:a16="http://schemas.microsoft.com/office/drawing/2014/main" id="{211547DF-8511-47F0-90C4-E9321640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85950"/>
            <a:ext cx="53340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B4AA0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7" name="header-text-1">
            <a:extLst xmlns:a="http://schemas.openxmlformats.org/drawingml/2006/main">
              <a:ext uri="{FF2B5EF4-FFF2-40B4-BE49-F238E27FC236}">
                <a16:creationId xmlns:a16="http://schemas.microsoft.com/office/drawing/2014/main" id="{08F5BF9A-2568-4E26-98EC-326838E9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00250"/>
            <a:ext cx="510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可以問 Seqera AI</a:t>
            </a:r>
          </a:p>
        </p:txBody>
      </p:sp>
      <p:sp>
        <p:nvSpPr>
          <p:cNvPr id="8" name="header-2">
            <a:extLst xmlns:a="http://schemas.openxmlformats.org/drawingml/2006/main">
              <a:ext uri="{FF2B5EF4-FFF2-40B4-BE49-F238E27FC236}">
                <a16:creationId xmlns:a16="http://schemas.microsoft.com/office/drawing/2014/main" id="{55325B42-7E4E-4158-B50B-DB18A562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85950"/>
            <a:ext cx="3619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B4AA0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9" name="header-text-2">
            <a:extLst xmlns:a="http://schemas.openxmlformats.org/drawingml/2006/main">
              <a:ext uri="{FF2B5EF4-FFF2-40B4-BE49-F238E27FC236}">
                <a16:creationId xmlns:a16="http://schemas.microsoft.com/office/drawing/2014/main" id="{8E94F558-ED1C-44A3-A4D6-E8B1EC74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驗證 artifact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E262B666-C86A-4063-863D-93F84CEF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428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75F51606-BED8-4C8E-9708-75708CB8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設計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A031748E-1F16-42A7-B6F2-809632AE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05050"/>
            <a:ext cx="53340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B94D09E6-5011-41E3-8FD8-E0C92050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0030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根據 FASTQ manifest 草擬 DSL2 pipeline 與 params schema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7EE2CD0E-BA75-4450-AB2E-35D67041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05050"/>
            <a:ext cx="3619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BB58487E-4891-47D8-845D-C9727E3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pipeline sketch、schema、assumptions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866F23F3-9439-4B7E-AA97-64C3DEF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428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D7E400F3-3DAF-48D2-B37B-3B0CE022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實作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EE8A30CE-03A6-4983-B02A-D6BB055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71800"/>
            <a:ext cx="53340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8BA3B246-AEB1-4E97-84C3-18CA51A2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670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建議 nf-core modules、container、process I/O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890592BC-7BE5-421D-8BB5-CF038AD4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3619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15117AB5-1532-4E46-AC33-E6D688D4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main.nf、modules、containers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C43AC4BA-3847-4ED5-BC3E-6021A03A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428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B80C9919-10AA-4DFE-8A83-C77A7802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除錯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32687E04-AE9C-4E67-AD27-820EF52A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38550"/>
            <a:ext cx="53340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E71857B3-26BC-4AE9-BB22-A8520D58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3380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解讀 failed task log、resource metrics、Nextflow error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BFAB2F17-90FE-422A-BBA8-1E3C0A50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38550"/>
            <a:ext cx="3619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19756DA3-24CF-40A8-B978-F6C20CC3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338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log excerpt、root cause、patch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81A75290-F379-4248-BD98-40502D6D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428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AD9BE238-28B7-49B1-ACA6-E767F013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執行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474BF2BA-5310-4C90-92D8-916AD824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05300"/>
            <a:ext cx="53340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6F7422B6-3A15-4C88-8A1C-D9841E2A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005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協助 launch/monitor Seqera Platform runs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7D5112E1-2C84-412B-92FF-3283BFCB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05300"/>
            <a:ext cx="3619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3950E2ED-3F9B-41DD-A67B-2CB6CC28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run ID、labels、MultiQC/report</a:t>
            </a:r>
          </a:p>
        </p:txBody>
      </p:sp>
    </p:spTree>
    <p:extLst>
      <p:ext uri="{BB962C8B-B14F-4D97-AF65-F5344CB8AC3E}">
        <p14:creationId xmlns:p14="http://schemas.microsoft.com/office/powerpoint/2010/main" val="3560633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9F00DFF-3025-454A-A67A-1836A8D6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HANDOFF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8DB0DB-A44B-431A-97E7-8DC3E6E4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一般 coding agent 和 Seqera AI 可以分工，不需要互相取代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E0802F4-5465-4228-A420-C20F3E6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27/36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00721F1C-2EEF-4F74-A8D2-9BF98908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step-no-0">
            <a:extLst xmlns:a="http://schemas.openxmlformats.org/drawingml/2006/main">
              <a:ext uri="{FF2B5EF4-FFF2-40B4-BE49-F238E27FC236}">
                <a16:creationId xmlns:a16="http://schemas.microsoft.com/office/drawing/2014/main" id="{BAEA00E0-13D2-42DA-AF2B-3A1E4021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6D76235C-5077-4F0B-8650-EDC4D830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Spec</a:t>
            </a:r>
          </a:p>
        </p:txBody>
      </p:sp>
      <p:sp>
        <p:nvSpPr>
          <p:cNvPr id="7" name="step-copy-0">
            <a:extLst xmlns:a="http://schemas.openxmlformats.org/drawingml/2006/main">
              <a:ext uri="{FF2B5EF4-FFF2-40B4-BE49-F238E27FC236}">
                <a16:creationId xmlns:a16="http://schemas.microsoft.com/office/drawing/2014/main" id="{52FE65C9-D4A6-44D5-A172-79178D90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教師或學生定義資料、目標、限制</a:t>
            </a:r>
          </a:p>
        </p:txBody>
      </p:sp>
      <p:sp>
        <p:nvSpPr>
          <p:cNvPr id="8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5F203165-3BDD-4EFE-B112-0C227EC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F11A3038-0F9E-4EAE-9892-1F8EFE5E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0" name="step-no-1">
            <a:extLst xmlns:a="http://schemas.openxmlformats.org/drawingml/2006/main">
              <a:ext uri="{FF2B5EF4-FFF2-40B4-BE49-F238E27FC236}">
                <a16:creationId xmlns:a16="http://schemas.microsoft.com/office/drawing/2014/main" id="{0B6F2249-9C23-408C-88E5-657457B9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8AA79AE-B8DC-4D2E-8F04-03676644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Codex</a:t>
            </a:r>
          </a:p>
        </p:txBody>
      </p:sp>
      <p:sp>
        <p:nvSpPr>
          <p:cNvPr id="12" name="step-copy-1">
            <a:extLst xmlns:a="http://schemas.openxmlformats.org/drawingml/2006/main">
              <a:ext uri="{FF2B5EF4-FFF2-40B4-BE49-F238E27FC236}">
                <a16:creationId xmlns:a16="http://schemas.microsoft.com/office/drawing/2014/main" id="{C4D4F8B3-CCB6-4FFA-9273-3AB14FAC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整理 repo、寫小 patch、跑本地測試</a:t>
            </a:r>
          </a:p>
        </p:txBody>
      </p:sp>
      <p:sp>
        <p:nvSpPr>
          <p:cNvPr id="13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F1839888-1949-4A30-8681-8C5548B6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E37AA203-9B10-4A63-BD35-7CDA9C4B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15" name="step-no-2">
            <a:extLst xmlns:a="http://schemas.openxmlformats.org/drawingml/2006/main">
              <a:ext uri="{FF2B5EF4-FFF2-40B4-BE49-F238E27FC236}">
                <a16:creationId xmlns:a16="http://schemas.microsoft.com/office/drawing/2014/main" id="{BF440DE7-7458-445F-A713-B6387993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C46A72DE-0025-45C1-B705-1D659927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Seqera AI</a:t>
            </a:r>
          </a:p>
        </p:txBody>
      </p:sp>
      <p:sp>
        <p:nvSpPr>
          <p:cNvPr id="17" name="step-copy-2">
            <a:extLst xmlns:a="http://schemas.openxmlformats.org/drawingml/2006/main">
              <a:ext uri="{FF2B5EF4-FFF2-40B4-BE49-F238E27FC236}">
                <a16:creationId xmlns:a16="http://schemas.microsoft.com/office/drawing/2014/main" id="{1994A85E-B8B4-4BA2-BE6A-C33082EE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檢查 Nextflow/nf-core/Platform 問題</a:t>
            </a:r>
          </a:p>
        </p:txBody>
      </p:sp>
      <p:sp>
        <p:nvSpPr>
          <p:cNvPr id="1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6C8A0DE4-2BE6-4D58-8E4E-BF3E0311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step-3">
            <a:extLst xmlns:a="http://schemas.openxmlformats.org/drawingml/2006/main">
              <a:ext uri="{FF2B5EF4-FFF2-40B4-BE49-F238E27FC236}">
                <a16:creationId xmlns:a16="http://schemas.microsoft.com/office/drawing/2014/main" id="{0708ABC1-7BF7-4B47-BA49-B1C1F286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20" name="step-no-3">
            <a:extLst xmlns:a="http://schemas.openxmlformats.org/drawingml/2006/main">
              <a:ext uri="{FF2B5EF4-FFF2-40B4-BE49-F238E27FC236}">
                <a16:creationId xmlns:a16="http://schemas.microsoft.com/office/drawing/2014/main" id="{3FBDEB49-321A-4192-9E2E-959360E8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828D2BC5-F379-44CB-B39C-D604441B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Codex</a:t>
            </a:r>
          </a:p>
        </p:txBody>
      </p:sp>
      <p:sp>
        <p:nvSpPr>
          <p:cNvPr id="22" name="step-copy-3">
            <a:extLst xmlns:a="http://schemas.openxmlformats.org/drawingml/2006/main">
              <a:ext uri="{FF2B5EF4-FFF2-40B4-BE49-F238E27FC236}">
                <a16:creationId xmlns:a16="http://schemas.microsoft.com/office/drawing/2014/main" id="{D34B8CFD-D4A9-427A-8D3B-EE69BAF8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把建議落成可 review 的 diff</a:t>
            </a:r>
          </a:p>
        </p:txBody>
      </p:sp>
      <p:sp>
        <p:nvSpPr>
          <p:cNvPr id="23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D52299C0-DA99-4F53-AEB0-D26C25E0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step-4">
            <a:extLst xmlns:a="http://schemas.openxmlformats.org/drawingml/2006/main">
              <a:ext uri="{FF2B5EF4-FFF2-40B4-BE49-F238E27FC236}">
                <a16:creationId xmlns:a16="http://schemas.microsoft.com/office/drawing/2014/main" id="{06020C97-0621-4D07-AEB7-E130D7C7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5" name="step-no-4">
            <a:extLst xmlns:a="http://schemas.openxmlformats.org/drawingml/2006/main">
              <a:ext uri="{FF2B5EF4-FFF2-40B4-BE49-F238E27FC236}">
                <a16:creationId xmlns:a16="http://schemas.microsoft.com/office/drawing/2014/main" id="{2EBD0BE2-E7E2-41DE-8976-2B317361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39E2432C-35F4-47E2-90E4-AA64D09E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Human</a:t>
            </a:r>
          </a:p>
        </p:txBody>
      </p:sp>
      <p:sp>
        <p:nvSpPr>
          <p:cNvPr id="27" name="step-copy-4">
            <a:extLst xmlns:a="http://schemas.openxmlformats.org/drawingml/2006/main">
              <a:ext uri="{FF2B5EF4-FFF2-40B4-BE49-F238E27FC236}">
                <a16:creationId xmlns:a16="http://schemas.microsoft.com/office/drawing/2014/main" id="{086D4784-6A92-47C8-990D-A4C89606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批准雲端 run、資料存取與 merge</a:t>
            </a:r>
          </a:p>
        </p:txBody>
      </p:sp>
      <p:sp>
        <p:nvSpPr>
          <p:cNvPr id="28" name="step-arrow-4">
            <a:extLst xmlns:a="http://schemas.openxmlformats.org/drawingml/2006/main">
              <a:ext uri="{FF2B5EF4-FFF2-40B4-BE49-F238E27FC236}">
                <a16:creationId xmlns:a16="http://schemas.microsoft.com/office/drawing/2014/main" id="{EA437D6F-DFA1-4E9B-B082-EFFC10C1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step-5">
            <a:extLst xmlns:a="http://schemas.openxmlformats.org/drawingml/2006/main">
              <a:ext uri="{FF2B5EF4-FFF2-40B4-BE49-F238E27FC236}">
                <a16:creationId xmlns:a16="http://schemas.microsoft.com/office/drawing/2014/main" id="{23F71EF0-D7EB-4EA5-8DA4-D25B024A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33600"/>
            <a:ext cx="1428750" cy="2000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30" name="step-no-5">
            <a:extLst xmlns:a="http://schemas.openxmlformats.org/drawingml/2006/main">
              <a:ext uri="{FF2B5EF4-FFF2-40B4-BE49-F238E27FC236}">
                <a16:creationId xmlns:a16="http://schemas.microsoft.com/office/drawing/2014/main" id="{99F809A0-5C5C-4B79-8BFE-6C2C9580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43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0F457162-F99A-405D-82A4-E4B6B55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41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Record</a:t>
            </a:r>
          </a:p>
        </p:txBody>
      </p:sp>
      <p:sp>
        <p:nvSpPr>
          <p:cNvPr id="32" name="step-copy-5">
            <a:extLst xmlns:a="http://schemas.openxmlformats.org/drawingml/2006/main">
              <a:ext uri="{FF2B5EF4-FFF2-40B4-BE49-F238E27FC236}">
                <a16:creationId xmlns:a16="http://schemas.microsoft.com/office/drawing/2014/main" id="{AE2FB57D-6BE8-4114-934F-B5E6BFBE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099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保存 prompt、run ID、commit</a:t>
            </a:r>
          </a:p>
        </p:txBody>
      </p:sp>
    </p:spTree>
    <p:extLst>
      <p:ext uri="{BB962C8B-B14F-4D97-AF65-F5344CB8AC3E}">
        <p14:creationId xmlns:p14="http://schemas.microsoft.com/office/powerpoint/2010/main" val="17022522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40CF113-74EF-47A1-9684-EBFD437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SEQERA PROMPT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EFCEBB-37B9-48C7-97EA-8CA75D1F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給 Seqera AI 的 prompt 要包含 workflow context，而不是只貼錯誤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6555E2F-C4C3-493B-B000-96CAF40D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28/36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023FC078-1F5E-4592-ADFE-9B17806F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Headless prompt example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8CE112B0-4A01-4FCF-A24A-ACA74DA3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A60A109B-F26A-4F6E-B33B-8FD63E27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seqera ai --headless 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I am teaching a small RNA-seq style Nextflow lab.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Please review nextflow/main.nf and nextflow.config.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Goals: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read sample_manifest.csv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validate paired FASTQ columns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keep a test profile for local demo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avoid cloud execution unless I approve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Please return: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1. likely DSL2 issues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2. missing params/schema checks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3. a minimal patch plan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4. commands to validate locally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"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79E4472D-DE4E-4F72-8302-B2507F04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537A898A-55E2-4FCF-A00A-B9C238B7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設計重點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29A0B2C9-E9FA-462A-B2C2-84C6D1C4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說明教學情境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限制不要啟動雲端 run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 patch plan 而非直接亂改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 local validation commands</a:t>
            </a:r>
          </a:p>
        </p:txBody>
      </p:sp>
    </p:spTree>
    <p:extLst>
      <p:ext uri="{BB962C8B-B14F-4D97-AF65-F5344CB8AC3E}">
        <p14:creationId xmlns:p14="http://schemas.microsoft.com/office/powerpoint/2010/main" val="20898567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5FA9383-A5B3-4863-B1F2-056BD11D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NEXTFLOW LOOP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DF94F7-068A-4BB7-AB95-689567B5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Nextflow pipeline 開發可用更嚴格的 validation loop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BC18CB4-BDBB-42F9-9A85-3D1EF844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29/36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6810297D-53AA-4D84-8B6E-ADD12C8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334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先用 test profile 和小樣本做 dry run，不直接上 production data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process input/output、channel shape、params schema 寫清楚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 failed work dir、command.log、exit code 追 root cause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MultiQC/report 是 evidence，不是修飾品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73ADDCED-9970-464A-9254-6618B19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3905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0B2D86E1-D513-4C86-B024-74112B2F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常用檢查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7DF7BAA5-2E94-424E-8475-390C0E4A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3009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nextflow run ... -profile test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nf-test test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schema validation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run logs / metrics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768F3EB8-41CB-4900-8269-722D562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Sources: docs.seqera.io/nextflow, training.nextflow.io</a:t>
            </a:r>
          </a:p>
        </p:txBody>
      </p:sp>
    </p:spTree>
    <p:extLst>
      <p:ext uri="{BB962C8B-B14F-4D97-AF65-F5344CB8AC3E}">
        <p14:creationId xmlns:p14="http://schemas.microsoft.com/office/powerpoint/2010/main" val="13007494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4490F0F-3344-4053-91FF-56F25F2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SEQERA SAFETY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8DE288-684F-401E-B864-FC50A2A4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Seqera AI 連到平台時，安全邊界要比本地 coding 更清楚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D8D0035-8857-4BD7-A3B6-FC396D2A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30/36</a:t>
            </a:r>
          </a:p>
        </p:txBody>
      </p:sp>
      <p:sp>
        <p:nvSpPr>
          <p:cNvPr id="4" name="header-0">
            <a:extLst xmlns:a="http://schemas.openxmlformats.org/drawingml/2006/main">
              <a:ext uri="{FF2B5EF4-FFF2-40B4-BE49-F238E27FC236}">
                <a16:creationId xmlns:a16="http://schemas.microsoft.com/office/drawing/2014/main" id="{4877E041-A1C2-4477-9C0A-D69A0C5A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809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85A4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5" name="header-text-0">
            <a:extLst xmlns:a="http://schemas.openxmlformats.org/drawingml/2006/main">
              <a:ext uri="{FF2B5EF4-FFF2-40B4-BE49-F238E27FC236}">
                <a16:creationId xmlns:a16="http://schemas.microsoft.com/office/drawing/2014/main" id="{EC1BD572-C192-425F-A19C-A00761E3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風險</a:t>
            </a:r>
          </a:p>
        </p:txBody>
      </p:sp>
      <p:sp>
        <p:nvSpPr>
          <p:cNvPr id="6" name="header-1">
            <a:extLst xmlns:a="http://schemas.openxmlformats.org/drawingml/2006/main">
              <a:ext uri="{FF2B5EF4-FFF2-40B4-BE49-F238E27FC236}">
                <a16:creationId xmlns:a16="http://schemas.microsoft.com/office/drawing/2014/main" id="{984D8455-7A6A-4E60-930D-EA9218F8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85950"/>
            <a:ext cx="557212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85A4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7" name="header-text-1">
            <a:extLst xmlns:a="http://schemas.openxmlformats.org/drawingml/2006/main">
              <a:ext uri="{FF2B5EF4-FFF2-40B4-BE49-F238E27FC236}">
                <a16:creationId xmlns:a16="http://schemas.microsoft.com/office/drawing/2014/main" id="{55DA8CF7-A2BE-41BE-857E-68DAD231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5343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教學規則</a:t>
            </a:r>
          </a:p>
        </p:txBody>
      </p:sp>
      <p:sp>
        <p:nvSpPr>
          <p:cNvPr id="8" name="header-2">
            <a:extLst xmlns:a="http://schemas.openxmlformats.org/drawingml/2006/main">
              <a:ext uri="{FF2B5EF4-FFF2-40B4-BE49-F238E27FC236}">
                <a16:creationId xmlns:a16="http://schemas.microsoft.com/office/drawing/2014/main" id="{E535B028-FDBB-4557-A76C-B023D9DB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85950"/>
            <a:ext cx="3000375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85A4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9" name="header-text-2">
            <a:extLst xmlns:a="http://schemas.openxmlformats.org/drawingml/2006/main">
              <a:ext uri="{FF2B5EF4-FFF2-40B4-BE49-F238E27FC236}">
                <a16:creationId xmlns:a16="http://schemas.microsoft.com/office/drawing/2014/main" id="{E3483BEE-49CF-45C8-9B65-7570AE7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00250"/>
            <a:ext cx="2771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原因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50EEF84C-78A9-4B2E-8521-BEB3946A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809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63CB1205-100E-4B23-A62A-A0156A0A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Authentication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A668277F-F041-4EC8-A59A-018332D1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05050"/>
            <a:ext cx="55721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40A2C73E-D422-4C13-9C8A-EE6E739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5343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不在投影片或 repo 放 token；使用 seqera login 或環境變數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A8E5A92E-ACA6-488F-A7F1-A30D0556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05050"/>
            <a:ext cx="30003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7AB92C79-3073-426D-9601-0B344D1B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00300"/>
            <a:ext cx="2771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 credential leak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43676FFA-2BAE-4DC4-B115-0B9CA190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809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C66ECD88-1316-4821-A44A-45E802BC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Cloud cost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41C470F3-F1B6-445D-B50A-861F0F15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55721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CC6C0E49-AFA0-4320-8269-732169E5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5343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任何 launch 或 compute environment 修改都要人工批准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4E716F44-2446-47F3-9613-96F4CDCF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971800"/>
            <a:ext cx="30003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079AB9CB-1B26-4326-AA81-5E5EC1A5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67050"/>
            <a:ext cx="2771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避免意外開資源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0CF6D338-A10C-4E11-B2B8-F036C9D4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809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C9F6085F-FC8C-46D5-B896-31E3F675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Data governance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661B8189-754F-4FA4-A20E-C6843A4D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38550"/>
            <a:ext cx="55721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0F48FC52-5930-4C02-9F45-E8C0C4EF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5343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不使用真實病人識別資料；demo data 要匿名或合成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52F56465-27CF-4C58-811D-14F0D486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38550"/>
            <a:ext cx="30003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7BA4F7FD-C7A5-45F5-AC1B-1377C5A2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733800"/>
            <a:ext cx="2771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符合 biomedical safety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32C8FB15-1AE8-4021-98A5-0133DE8E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809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36E1C595-CAB8-4905-A361-EB620D93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Workspace actions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A6F055E8-C9AE-4E0B-81FC-AC1C7442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05300"/>
            <a:ext cx="55721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E570B606-110B-4C6F-8229-1AEC0D32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00550"/>
            <a:ext cx="5343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改 dataset、labels、runs 前先要求確認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45824370-E602-4B84-874D-DEFF9209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0003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5EDD7203-7789-4547-8AD5-FB0F42F0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00550"/>
            <a:ext cx="2771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外部狀態不可隨意變更</a:t>
            </a:r>
          </a:p>
        </p:txBody>
      </p:sp>
    </p:spTree>
    <p:extLst>
      <p:ext uri="{BB962C8B-B14F-4D97-AF65-F5344CB8AC3E}">
        <p14:creationId xmlns:p14="http://schemas.microsoft.com/office/powerpoint/2010/main" val="9256985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B559059-E17B-4795-BF1E-E166C70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DEMO SCENARIO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5EFB83-2423-4CA3-8EE6-6D09AA91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完整 demo：manifest validation + Nextflow review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18C923A-8ECC-4851-9210-EC5528B2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31/36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14D90654-54C2-451F-B36C-85475668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Scenario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11BEA090-250E-493E-990D-20AB8D44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79E450C4-C592-4622-8F60-EEF6C82D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Input: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sample_manifest.csv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scripts/validate_manifest.py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nextflow/main.nf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Task A with coding agent: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improve manifest validator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run sample smoke test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report invalid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Task B with Seqera AI: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review Nextflow test profile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identify DSL2 / params issues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suggest local validation commands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5AC448AF-267B-47C5-AF8F-9F96D603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1FAD2BA9-ADE6-4726-B51E-13B64372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Expected outputs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C9B3EAEB-32EF-4CA9-BB1B-F689F9E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validator patch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command output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Seqera AI review notes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human-approved next actions</a:t>
            </a:r>
          </a:p>
        </p:txBody>
      </p:sp>
    </p:spTree>
    <p:extLst>
      <p:ext uri="{BB962C8B-B14F-4D97-AF65-F5344CB8AC3E}">
        <p14:creationId xmlns:p14="http://schemas.microsoft.com/office/powerpoint/2010/main" val="212906931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BC6A87E-548A-43EE-8C4A-E9B0DBA8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DO NOT DELEGATE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BC6006-5850-46F4-8678-6463D19A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有些事情可以讓 agent 幫忙準備，但不能讓它自行決定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C0F743F-2E2E-4C43-97A7-366C32ED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32/36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2549DAAE-B4B8-4AF1-93FB-835598D2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334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不能讓 agent 自行判定臨床建議、治療策略或病患處置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不能讓 agent 自行上傳、下載或移動敏感資料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不能讓 agent 未經同意啟動昂貴雲端工作流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不能讓 agent 在未 review 的情況下 merge 或覆蓋他人工作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8BBCA500-D0C7-4C51-AB43-07815F13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3905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25DDB925-6F1A-433B-B779-A58D0864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人要負責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A676F867-F85E-4412-A926-7A751774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3009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clinical claims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data access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cloud execution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merge decision</a:t>
            </a:r>
          </a:p>
        </p:txBody>
      </p:sp>
    </p:spTree>
    <p:extLst>
      <p:ext uri="{BB962C8B-B14F-4D97-AF65-F5344CB8AC3E}">
        <p14:creationId xmlns:p14="http://schemas.microsoft.com/office/powerpoint/2010/main" val="118498793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5589803-52B0-444C-AC23-8DFB45C1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STUDENT EXERCISE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2D5671-C734-4E40-978F-A39F0F92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學生練習分成 coding agent 與 Seqera AI 兩個 prompt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C9470C5-DD9B-463F-8E0C-75A47141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33/36</a:t>
            </a:r>
          </a:p>
        </p:txBody>
      </p:sp>
      <p:sp>
        <p:nvSpPr>
          <p:cNvPr id="4" name="header-0">
            <a:extLst xmlns:a="http://schemas.openxmlformats.org/drawingml/2006/main">
              <a:ext uri="{FF2B5EF4-FFF2-40B4-BE49-F238E27FC236}">
                <a16:creationId xmlns:a16="http://schemas.microsoft.com/office/drawing/2014/main" id="{6E9D2834-B419-4F08-9068-46299F69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0002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446A8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header-text-0">
            <a:extLst xmlns:a="http://schemas.openxmlformats.org/drawingml/2006/main">
              <a:ext uri="{FF2B5EF4-FFF2-40B4-BE49-F238E27FC236}">
                <a16:creationId xmlns:a16="http://schemas.microsoft.com/office/drawing/2014/main" id="{EF218826-B0E0-4197-B5CC-2072F45C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階段</a:t>
            </a:r>
          </a:p>
        </p:txBody>
      </p:sp>
      <p:sp>
        <p:nvSpPr>
          <p:cNvPr id="6" name="header-1">
            <a:extLst xmlns:a="http://schemas.openxmlformats.org/drawingml/2006/main">
              <a:ext uri="{FF2B5EF4-FFF2-40B4-BE49-F238E27FC236}">
                <a16:creationId xmlns:a16="http://schemas.microsoft.com/office/drawing/2014/main" id="{3144A076-7252-4E3B-AA26-9BA59DAA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85950"/>
            <a:ext cx="46672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446A8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7" name="header-text-1">
            <a:extLst xmlns:a="http://schemas.openxmlformats.org/drawingml/2006/main">
              <a:ext uri="{FF2B5EF4-FFF2-40B4-BE49-F238E27FC236}">
                <a16:creationId xmlns:a16="http://schemas.microsoft.com/office/drawing/2014/main" id="{76E82D83-AF72-40A5-80FD-3819255A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00250"/>
            <a:ext cx="443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交付物</a:t>
            </a:r>
          </a:p>
        </p:txBody>
      </p:sp>
      <p:sp>
        <p:nvSpPr>
          <p:cNvPr id="8" name="header-2">
            <a:extLst xmlns:a="http://schemas.openxmlformats.org/drawingml/2006/main">
              <a:ext uri="{FF2B5EF4-FFF2-40B4-BE49-F238E27FC236}">
                <a16:creationId xmlns:a16="http://schemas.microsoft.com/office/drawing/2014/main" id="{4CF07B65-A664-4A2D-80D3-FD8537CA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85950"/>
            <a:ext cx="3714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446A8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header-text-2">
            <a:extLst xmlns:a="http://schemas.openxmlformats.org/drawingml/2006/main">
              <a:ext uri="{FF2B5EF4-FFF2-40B4-BE49-F238E27FC236}">
                <a16:creationId xmlns:a16="http://schemas.microsoft.com/office/drawing/2014/main" id="{6A25523F-C443-4F4F-BE9E-48A79ADA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評分檢查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B13F180A-1D93-4836-BCEA-42B20554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000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308084DC-6017-4BF8-A9C5-FA648EAD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77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Coding agent prompt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4025F161-8C20-4507-B6CD-158C9EEF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05050"/>
            <a:ext cx="4667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DA2119FF-C2DD-4062-9DC6-00C05576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0300"/>
            <a:ext cx="443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read set、allowed write、validation command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948CFCB8-0617-4A5D-A792-879B8FF7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05050"/>
            <a:ext cx="3714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E313A1E3-35F7-4013-851E-740A86A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是否限制 scope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837BBEE1-992E-4F27-9E7D-0B509CA8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000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336BF577-C9F8-4971-A46B-38F5505C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77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Patch review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5CCFCD13-914D-4B28-A1D9-DD6CE5CB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71800"/>
            <a:ext cx="4667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7FA138A2-5C5A-4051-9304-3A621147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443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diff 摘要、測試結果、風險清單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C5C0FA7E-A6D4-47A2-BCE7-92DF9CB7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71800"/>
            <a:ext cx="3714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76AF72B0-6FB5-499C-B873-11E8E174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6705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是否可重跑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D2B81BA8-86C1-4365-9469-10F36100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000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D1D47A3B-F70B-459E-A432-564B8FA5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77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Seqera AI prompt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BC5CC803-2FFE-421D-8E13-B9999010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38550"/>
            <a:ext cx="4667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39764066-C65F-4C14-9A49-56F89FA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33800"/>
            <a:ext cx="443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Nextflow context、禁止外部 action、期望輸出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32DAD4D7-DE41-429F-91AF-59E789AB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38550"/>
            <a:ext cx="3714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A5C9E752-CD91-4515-B9B9-EAC2B1F0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3380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是否適合 domain agent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F02C79FF-619C-4702-877B-E62D4DB5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000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12158EBB-D051-4124-A4A3-66E43251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77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Final note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C58E6649-5BCA-4622-AABA-06B107E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05300"/>
            <a:ext cx="4667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BFC8BC34-6340-4329-AC51-71CBB385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00550"/>
            <a:ext cx="443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commit hash 或 pseudo-patch plan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E4CFCD08-6D06-4D2B-B558-A0484901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05300"/>
            <a:ext cx="3714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CD21D4A5-9C6C-4FDC-82C1-9CD2F7A5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是否可追溯</a:t>
            </a:r>
          </a:p>
        </p:txBody>
      </p:sp>
    </p:spTree>
    <p:extLst>
      <p:ext uri="{BB962C8B-B14F-4D97-AF65-F5344CB8AC3E}">
        <p14:creationId xmlns:p14="http://schemas.microsoft.com/office/powerpoint/2010/main" val="1890207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AD7D159-8740-4047-9142-8A7365DF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CHEAT SHEET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F45BBE-CBD6-4074-86D1-77E2D501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今天可直接帶走的 prompt checklist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B1A1C1D-21EC-4817-A8E6-2B69E680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34/36</a:t>
            </a:r>
          </a:p>
        </p:txBody>
      </p:sp>
      <p:sp>
        <p:nvSpPr>
          <p:cNvPr id="4" name="left-title">
            <a:extLst xmlns:a="http://schemas.openxmlformats.org/drawingml/2006/main">
              <a:ext uri="{FF2B5EF4-FFF2-40B4-BE49-F238E27FC236}">
                <a16:creationId xmlns:a16="http://schemas.microsoft.com/office/drawing/2014/main" id="{8DFAF6B4-BC6B-4D03-9AEE-5898B1D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Checklist</a:t>
            </a:r>
          </a:p>
        </p:txBody>
      </p:sp>
      <p:sp>
        <p:nvSpPr>
          <p:cNvPr id="5" name="left-code-box">
            <a:extLst xmlns:a="http://schemas.openxmlformats.org/drawingml/2006/main">
              <a:ext uri="{FF2B5EF4-FFF2-40B4-BE49-F238E27FC236}">
                <a16:creationId xmlns:a16="http://schemas.microsoft.com/office/drawing/2014/main" id="{D0E6E5EF-6798-467E-BDCC-272715A7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181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6" name="left-code">
            <a:extLst xmlns:a="http://schemas.openxmlformats.org/drawingml/2006/main">
              <a:ext uri="{FF2B5EF4-FFF2-40B4-BE49-F238E27FC236}">
                <a16:creationId xmlns:a16="http://schemas.microsoft.com/office/drawing/2014/main" id="{CD123454-0FCA-482E-8204-B7C0DE9E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8387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Before patch: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 ] What files should the agent read?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 ] What files may it edit?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 ] What commands prove success?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 ] What should it not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After patch: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 ] Did it report touched files?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 ] Did it run validation?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 ] Did it preserve user changes?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 ] Did it separate evidence from guess?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Seqera AI: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 ] Did prompt include Nextflow context?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 ] Did prompt require approval before Platform actions?</a:t>
            </a:r>
          </a:p>
        </p:txBody>
      </p:sp>
      <p:sp>
        <p:nvSpPr>
          <p:cNvPr id="7" name="right-box">
            <a:extLst xmlns:a="http://schemas.openxmlformats.org/drawingml/2006/main">
              <a:ext uri="{FF2B5EF4-FFF2-40B4-BE49-F238E27FC236}">
                <a16:creationId xmlns:a16="http://schemas.microsoft.com/office/drawing/2014/main" id="{F795BFB2-FFE3-40CC-A971-21FF57DD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24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A8EB97C3-059A-4CA2-A55E-4741D61B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一句話</a:t>
            </a:r>
          </a:p>
        </p:txBody>
      </p:sp>
      <p:sp>
        <p:nvSpPr>
          <p:cNvPr id="9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16F626CC-ED84-40FA-B9B1-AA86564C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 prompt 是小型工程規格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 agent workflow 會留下 diff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 biomedical workflow 會留下 evidence</a:t>
            </a:r>
          </a:p>
        </p:txBody>
      </p:sp>
    </p:spTree>
    <p:extLst>
      <p:ext uri="{BB962C8B-B14F-4D97-AF65-F5344CB8AC3E}">
        <p14:creationId xmlns:p14="http://schemas.microsoft.com/office/powerpoint/2010/main" val="175981626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7D69471-758E-4503-ABF8-A2343EC5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SOURCES AND PRACTICE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D2A869-AD85-404A-90D8-64071746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補充材料放在 repo，官方文件放在 speaker notes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E23BF87-7571-4C2F-8A23-DB89A7D7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35/36</a:t>
            </a:r>
          </a:p>
        </p:txBody>
      </p:sp>
      <p:sp>
        <p:nvSpPr>
          <p:cNvPr id="4" name="lab-box">
            <a:extLst xmlns:a="http://schemas.openxmlformats.org/drawingml/2006/main">
              <a:ext uri="{FF2B5EF4-FFF2-40B4-BE49-F238E27FC236}">
                <a16:creationId xmlns:a16="http://schemas.microsoft.com/office/drawing/2014/main" id="{036DC43F-F321-46B9-B46A-66327EEB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7625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5" name="lab-title">
            <a:extLst xmlns:a="http://schemas.openxmlformats.org/drawingml/2006/main">
              <a:ext uri="{FF2B5EF4-FFF2-40B4-BE49-F238E27FC236}">
                <a16:creationId xmlns:a16="http://schemas.microsoft.com/office/drawing/2014/main" id="{23D67434-AB71-41A7-9303-6CB1DD0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86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Repo materials</a:t>
            </a:r>
          </a:p>
        </p:txBody>
      </p:sp>
      <p:sp>
        <p:nvSpPr>
          <p:cNvPr id="6" name="lab-list">
            <a:extLst xmlns:a="http://schemas.openxmlformats.org/drawingml/2006/main">
              <a:ext uri="{FF2B5EF4-FFF2-40B4-BE49-F238E27FC236}">
                <a16:creationId xmlns:a16="http://schemas.microsoft.com/office/drawing/2014/main" id="{CE396E74-433C-48AF-A97E-6AE0E32C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3790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425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7202A"/>
                </a:solidFill>
                <a:latin typeface="Menlo"/>
                <a:ea typeface="Menlo"/>
                <a:cs typeface="Menlo"/>
              </a:rPr>
              <a:t>labs/lesson-07-coding-agents-cli-workflows/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425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7202A"/>
                </a:solidFill>
                <a:latin typeface="Menlo"/>
                <a:ea typeface="Menlo"/>
                <a:cs typeface="Menlo"/>
              </a:rPr>
              <a:t>sample_manifest.csv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425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7202A"/>
                </a:solidFill>
                <a:latin typeface="Menlo"/>
                <a:ea typeface="Menlo"/>
                <a:cs typeface="Menlo"/>
              </a:rPr>
              <a:t>coding_agent_task.md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425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7202A"/>
                </a:solidFill>
                <a:latin typeface="Menlo"/>
                <a:ea typeface="Menlo"/>
                <a:cs typeface="Menlo"/>
              </a:rPr>
              <a:t>seqera_ai_task.md</a:t>
            </a:r>
          </a:p>
        </p:txBody>
      </p:sp>
      <p:sp>
        <p:nvSpPr>
          <p:cNvPr id="7" name="src-box">
            <a:extLst xmlns:a="http://schemas.openxmlformats.org/drawingml/2006/main">
              <a:ext uri="{FF2B5EF4-FFF2-40B4-BE49-F238E27FC236}">
                <a16:creationId xmlns:a16="http://schemas.microsoft.com/office/drawing/2014/main" id="{09090483-3763-4D7D-93AF-685C026D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44767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8" name="src-title">
            <a:extLst xmlns:a="http://schemas.openxmlformats.org/drawingml/2006/main">
              <a:ext uri="{FF2B5EF4-FFF2-40B4-BE49-F238E27FC236}">
                <a16:creationId xmlns:a16="http://schemas.microsoft.com/office/drawing/2014/main" id="{54EAC699-BA47-4972-99A0-24E49343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Official sources</a:t>
            </a:r>
          </a:p>
        </p:txBody>
      </p:sp>
      <p:sp>
        <p:nvSpPr>
          <p:cNvPr id="9" name="src-list">
            <a:extLst xmlns:a="http://schemas.openxmlformats.org/drawingml/2006/main">
              <a:ext uri="{FF2B5EF4-FFF2-40B4-BE49-F238E27FC236}">
                <a16:creationId xmlns:a16="http://schemas.microsoft.com/office/drawing/2014/main" id="{EF555C85-097C-4EB3-8181-EE157754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3638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275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7202A"/>
                </a:solidFill>
                <a:latin typeface="Aptos"/>
                <a:ea typeface="Aptos"/>
                <a:cs typeface="Aptos"/>
              </a:rPr>
              <a:t>docs.seqera.io/platform-cloud/co-scientist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275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7202A"/>
                </a:solidFill>
                <a:latin typeface="Aptos"/>
                <a:ea typeface="Aptos"/>
                <a:cs typeface="Aptos"/>
              </a:rPr>
              <a:t>seqera.io/platform/seqera-ai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275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7202A"/>
                </a:solidFill>
                <a:latin typeface="Aptos"/>
                <a:ea typeface="Aptos"/>
                <a:cs typeface="Aptos"/>
              </a:rPr>
              <a:t>docs.seqera.io/nextflow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1"/>
              </a:spcAft>
              <a:buNone/>
              <a:defRPr sz="1275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training.nextflow.io/latest</a:t>
            </a:r>
          </a:p>
        </p:txBody>
      </p:sp>
    </p:spTree>
    <p:extLst>
      <p:ext uri="{BB962C8B-B14F-4D97-AF65-F5344CB8AC3E}">
        <p14:creationId xmlns:p14="http://schemas.microsoft.com/office/powerpoint/2010/main" val="97047979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97E4BDF-DDB4-4FB4-8907-D32E5456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WRAP-UP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7CA2C5-2571-428F-ACCB-0D45759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最後帶走五句話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772B8CB-4777-4BC9-9FA4-93D045D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Coding agents and CLI workflows  |  36/36</a:t>
            </a:r>
          </a:p>
        </p:txBody>
      </p:sp>
      <p:sp>
        <p:nvSpPr>
          <p:cNvPr id="4" name="wrap-0">
            <a:extLst xmlns:a="http://schemas.openxmlformats.org/drawingml/2006/main">
              <a:ext uri="{FF2B5EF4-FFF2-40B4-BE49-F238E27FC236}">
                <a16:creationId xmlns:a16="http://schemas.microsoft.com/office/drawing/2014/main" id="{C462AFB2-434B-4846-8366-604834D6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81150"/>
            <a:ext cx="962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wrap-text-0">
            <a:extLst xmlns:a="http://schemas.openxmlformats.org/drawingml/2006/main">
              <a:ext uri="{FF2B5EF4-FFF2-40B4-BE49-F238E27FC236}">
                <a16:creationId xmlns:a16="http://schemas.microsoft.com/office/drawing/2014/main" id="{BB786076-C45F-45B0-B4E4-3D016BE1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3355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1. Coding agent 要先讀 repo，不能直接憑空建議。</a:t>
            </a:r>
          </a:p>
        </p:txBody>
      </p:sp>
      <p:sp>
        <p:nvSpPr>
          <p:cNvPr id="6" name="wrap-1">
            <a:extLst xmlns:a="http://schemas.openxmlformats.org/drawingml/2006/main">
              <a:ext uri="{FF2B5EF4-FFF2-40B4-BE49-F238E27FC236}">
                <a16:creationId xmlns:a16="http://schemas.microsoft.com/office/drawing/2014/main" id="{C5BEB7D3-8FBE-4149-89DC-83654D4A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962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7" name="wrap-text-1">
            <a:extLst xmlns:a="http://schemas.openxmlformats.org/drawingml/2006/main">
              <a:ext uri="{FF2B5EF4-FFF2-40B4-BE49-F238E27FC236}">
                <a16:creationId xmlns:a16="http://schemas.microsoft.com/office/drawing/2014/main" id="{8D624968-889F-43C8-B232-9DB91E61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2. 小 scope、明確 command、清楚 diff，比長篇 prompt 更重要。</a:t>
            </a:r>
          </a:p>
        </p:txBody>
      </p:sp>
      <p:sp>
        <p:nvSpPr>
          <p:cNvPr id="8" name="wrap-2">
            <a:extLst xmlns:a="http://schemas.openxmlformats.org/drawingml/2006/main">
              <a:ext uri="{FF2B5EF4-FFF2-40B4-BE49-F238E27FC236}">
                <a16:creationId xmlns:a16="http://schemas.microsoft.com/office/drawing/2014/main" id="{B31B4200-191D-4E64-A334-09E7C65F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962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9" name="wrap-text-2">
            <a:extLst xmlns:a="http://schemas.openxmlformats.org/drawingml/2006/main">
              <a:ext uri="{FF2B5EF4-FFF2-40B4-BE49-F238E27FC236}">
                <a16:creationId xmlns:a16="http://schemas.microsoft.com/office/drawing/2014/main" id="{E3062F7D-C8D4-4B16-BD71-B8778DE0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3. 測試輸出是完成任務的證據，不是附錄。</a:t>
            </a:r>
          </a:p>
        </p:txBody>
      </p:sp>
      <p:sp>
        <p:nvSpPr>
          <p:cNvPr id="10" name="wrap-3">
            <a:extLst xmlns:a="http://schemas.openxmlformats.org/drawingml/2006/main">
              <a:ext uri="{FF2B5EF4-FFF2-40B4-BE49-F238E27FC236}">
                <a16:creationId xmlns:a16="http://schemas.microsoft.com/office/drawing/2014/main" id="{83204982-1A6D-4610-9EC4-882A6300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62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11" name="wrap-text-3">
            <a:extLst xmlns:a="http://schemas.openxmlformats.org/drawingml/2006/main">
              <a:ext uri="{FF2B5EF4-FFF2-40B4-BE49-F238E27FC236}">
                <a16:creationId xmlns:a16="http://schemas.microsoft.com/office/drawing/2014/main" id="{A5E45672-ED15-482A-9E88-BD3221C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767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4. Seqera AI 適合處理 Nextflow / nf-core / Platform domain context。</a:t>
            </a:r>
          </a:p>
        </p:txBody>
      </p:sp>
      <p:sp>
        <p:nvSpPr>
          <p:cNvPr id="12" name="wrap-4">
            <a:extLst xmlns:a="http://schemas.openxmlformats.org/drawingml/2006/main">
              <a:ext uri="{FF2B5EF4-FFF2-40B4-BE49-F238E27FC236}">
                <a16:creationId xmlns:a16="http://schemas.microsoft.com/office/drawing/2014/main" id="{68FE63B9-C071-41F5-AD21-619734A1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962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3" name="wrap-text-4">
            <a:extLst xmlns:a="http://schemas.openxmlformats.org/drawingml/2006/main">
              <a:ext uri="{FF2B5EF4-FFF2-40B4-BE49-F238E27FC236}">
                <a16:creationId xmlns:a16="http://schemas.microsoft.com/office/drawing/2014/main" id="{A499DEB8-6DBB-4BBF-893D-42D6B205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5775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5. Biomedical workflow 的外部 action 和高風險 claim 必須有人 gate。</a:t>
            </a:r>
          </a:p>
        </p:txBody>
      </p:sp>
    </p:spTree>
    <p:extLst>
      <p:ext uri="{BB962C8B-B14F-4D97-AF65-F5344CB8AC3E}">
        <p14:creationId xmlns:p14="http://schemas.microsoft.com/office/powerpoint/2010/main" val="2016960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2026-07-07T12:36:52.7440000Z</dcterms:created>
  <dcterms:modified xsi:type="dcterms:W3CDTF">2026-07-07T12:36:52.7440000Z</dcterms:modified>
</coreProperties>
</file>