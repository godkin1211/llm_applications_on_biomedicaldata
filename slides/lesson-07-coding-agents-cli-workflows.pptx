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374" r:id="rId2"/>
    <p:sldId id="375" r:id="rId3"/>
    <p:sldId id="376" r:id="rId4"/>
    <p:sldId id="377" r:id="rId5"/>
    <p:sldId id="378" r:id="rId6"/>
    <p:sldId id="379" r:id="rId7"/>
    <p:sldId id="380" r:id="rId8"/>
    <p:sldId id="381" r:id="rId9"/>
    <p:sldId id="382" r:id="rId10"/>
    <p:sldId id="383" r:id="rId11"/>
    <p:sldId id="384" r:id="rId12"/>
    <p:sldId id="385" r:id="rId13"/>
    <p:sldId id="386" r:id="rId14"/>
    <p:sldId id="387" r:id="rId15"/>
    <p:sldId id="388" r:id="rId16"/>
    <p:sldId id="389" r:id="rId17"/>
    <p:sldId id="390" r:id="rId18"/>
    <p:sldId id="391" r:id="rId19"/>
    <p:sldId id="392" r:id="rId20"/>
    <p:sldId id="393" r:id="rId21"/>
    <p:sldId id="394" r:id="rId22"/>
    <p:sldId id="395" r:id="rId23"/>
    <p:sldId id="396" r:id="rId24"/>
    <p:sldId id="397" r:id="rId25"/>
    <p:sldId id="398" r:id="rId26"/>
    <p:sldId id="399" r:id="rId27"/>
    <p:sldId id="400" r:id="rId28"/>
    <p:sldId id="401" r:id="rId29"/>
    <p:sldId id="402" r:id="rId30"/>
    <p:sldId id="403" r:id="rId31"/>
    <p:sldId id="404" r:id="rId32"/>
    <p:sldId id="405" r:id="rId33"/>
    <p:sldId id="406" r:id="rId34"/>
    <p:sldId id="407" r:id="rId35"/>
    <p:sldId id="408" r:id="rId36"/>
    <p:sldId id="409" r:id="rId37"/>
    <p:sldId id="410" r:id="rId38"/>
    <p:sldId id="411" r:id="rId3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69"/>
    <p:restoredTop sz="79534"/>
  </p:normalViewPr>
  <p:slideViewPr>
    <p:cSldViewPr snapToGrid="0">
      <p:cViewPr varScale="1">
        <p:scale>
          <a:sx n="144" d="100"/>
          <a:sy n="144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Lesson 07 connects general coding agents with bioinformatics workflow development, especially where Seqera AI can help with Nextflow and Seqera Platform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今天不是教大家相信 agent，而是教大家要求它留下證據</a:t>
            </a:r>
          </a:p>
          <a:p>
            <a:endParaRPr/>
          </a:p>
          <a:p>
            <a:r>
              <a:t>讓 agent 先讀 repo，再提出小範圍修改計畫 讓 agent 改程式、跑測試、解釋錯誤與回報 diff 知道何時用桌面工具、IDE assistant、CLI coding agent 或 Seqera AI 把 biomedical pipeline 開發變成可追溯的 commit 與驗證紀錄 90 分鐘後: 能下達 repo-grounded task 能限制改檔範圍 能檢查測試輸出 能寫 Seqera AI prompt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Coding agent 的價值在這條閉環，不在單次回答</a:t>
            </a:r>
          </a:p>
          <a:p>
            <a:endParaRPr/>
          </a:p>
          <a:p>
            <a:r>
              <a:t>1. Inspect: 讀檔、看測試、理解資料格式</a:t>
            </a:r>
          </a:p>
          <a:p>
            <a:r>
              <a:t>2. Plan: 限制 scope，先講要改哪裡</a:t>
            </a:r>
          </a:p>
          <a:p>
            <a:r>
              <a:t>3. Patch: 用小 diff 修改程式或文件</a:t>
            </a:r>
          </a:p>
          <a:p>
            <a:r>
              <a:t>4. Validate: 跑測試、lint、sample command</a:t>
            </a:r>
          </a:p>
          <a:p>
            <a:r>
              <a:t>5. Report: 列出改動、風險、未完成項</a:t>
            </a:r>
          </a:p>
          <a:p>
            <a:r>
              <a:t>6. Commit: 留下可追溯版本紀錄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要求 agent 先建立 repo map，再開始改檔</a:t>
            </a:r>
          </a:p>
          <a:p>
            <a:endParaRPr/>
          </a:p>
          <a:p>
            <a:r>
              <a:t>請 agent 先列出它讀過的檔案與理解到的資料流 要求它標出 entry point、主要輸入、輸出與測試位置 它若沒有讀檔就開始建議，先停下來補 context 對 biomedical pipeline，要額外標出資料版本與 sample manifest 欄位 檢查句: 你讀了哪些檔案？ 哪個 command 可重現？ 你會改哪幾個檔？ 不會碰哪些檔？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最常用的 repo inspection 命令要讓學生看得懂</a:t>
            </a:r>
          </a:p>
          <a:p>
            <a:endParaRPr/>
          </a:p>
          <a:p>
            <a:r>
              <a:t>Inspection checklist:</a:t>
            </a:r>
          </a:p>
          <a:p>
            <a:r>
              <a:t>pwd</a:t>
            </a:r>
          </a:p>
          <a:p>
            <a:r>
              <a:t>git status --short</a:t>
            </a:r>
          </a:p>
          <a:p>
            <a:r>
              <a:t>rg --files</a:t>
            </a:r>
          </a:p>
          <a:p>
            <a:r>
              <a:t>rg -n "TODO|FIXME|manifest|sample_id"</a:t>
            </a:r>
          </a:p>
          <a:p>
            <a:r>
              <a:t>sed -n '1,220p' README.md</a:t>
            </a:r>
          </a:p>
          <a:p>
            <a:r>
              <a:t>sed -n '1,220p' scripts/validate_manifest.py</a:t>
            </a:r>
          </a:p>
          <a:p>
            <a:endParaRPr/>
          </a:p>
          <a:p>
            <a:r>
              <a:t>教學重點: 不用神秘化 terminal 每個命令都有目的 輸出要回到任務規格 先看 status 避免覆蓋別人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桌面工具、IDE assistant、CLI coding agent 的邊界要分清楚</a:t>
            </a:r>
          </a:p>
          <a:p>
            <a:endParaRPr/>
          </a:p>
          <a:p>
            <a:r>
              <a:t>桌面 agent | 讀 PDF、整理文獻、瀏覽網頁、做研究筆記 | 大量改 repo、跑測試、處理多檔 diff</a:t>
            </a:r>
          </a:p>
          <a:p>
            <a:r>
              <a:t>IDE assistant | 局部補完、函式重構、API 用法提示 | 跨 repo 規劃、批次驗證、完整報告</a:t>
            </a:r>
          </a:p>
          <a:p>
            <a:r>
              <a:t>CLI coding agent | 讀檔、改程式、跑測試、整理 diff 與風險 | 無規格大型重寫、未授權外部操作</a:t>
            </a:r>
          </a:p>
          <a:p>
            <a:r>
              <a:t>Seqera AI | Nextflow / nf-core / Seqera Platform 工作流輔助 | 一般非生物資訊程式碼或不需 workflow context 的任務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 agent 不是聊天視窗，而是有工具的 repo worker</a:t>
            </a:r>
          </a:p>
          <a:p>
            <a:endParaRPr/>
          </a:p>
          <a:p>
            <a:r>
              <a:t>讀: 列檔案、搜尋關鍵字、讀 README、看 config、檢查 sample data。</a:t>
            </a:r>
          </a:p>
          <a:p>
            <a:r>
              <a:t>改: 只改指定檔案，保留既有風格，避免順手重構和無關格式化。</a:t>
            </a:r>
          </a:p>
          <a:p>
            <a:r>
              <a:t>驗: 跑測試、重現錯誤、比較輸出，最後用 diff 說明改了什麼。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給 coding agent 的任務要像 issue，不要像願望</a:t>
            </a:r>
          </a:p>
          <a:p>
            <a:endParaRPr/>
          </a:p>
          <a:p>
            <a:r>
              <a:t>Bad prompt:</a:t>
            </a:r>
          </a:p>
          <a:p>
            <a:r>
              <a:t>幫我修一下這個 pipeline，順便整理一下程式。</a:t>
            </a:r>
          </a:p>
          <a:p>
            <a:endParaRPr/>
          </a:p>
          <a:p>
            <a:r>
              <a:t>問題: 沒有 repo context 沒有輸入輸出規格 沒有改檔邊界 沒有驗證命令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好的 task packet 會把自由度放在該放的地方</a:t>
            </a:r>
          </a:p>
          <a:p>
            <a:endParaRPr/>
          </a:p>
          <a:p>
            <a:r>
              <a:t>Better prompt:</a:t>
            </a:r>
          </a:p>
          <a:p>
            <a:r>
              <a:t>目標：修正 scripts/validate_manifest.py</a:t>
            </a:r>
          </a:p>
          <a:p>
            <a:endParaRPr/>
          </a:p>
          <a:p>
            <a:r>
              <a:t>請先讀：</a:t>
            </a:r>
          </a:p>
          <a:p>
            <a:r>
              <a:t>- README.md</a:t>
            </a:r>
          </a:p>
          <a:p>
            <a:r>
              <a:t>- sample_manifest.csv</a:t>
            </a:r>
          </a:p>
          <a:p>
            <a:r>
              <a:t>- scripts/validate_manifest.py</a:t>
            </a:r>
          </a:p>
          <a:p>
            <a:endParaRPr/>
          </a:p>
          <a:p>
            <a:r>
              <a:t>只允許修改：</a:t>
            </a:r>
          </a:p>
          <a:p>
            <a:r>
              <a:t>- scripts/validate_manifest.py</a:t>
            </a:r>
          </a:p>
          <a:p>
            <a:r>
              <a:t>- tests/test_validate_manifest.py</a:t>
            </a:r>
          </a:p>
          <a:p>
            <a:endParaRPr/>
          </a:p>
          <a:p>
            <a:r>
              <a:t>驗證：</a:t>
            </a:r>
          </a:p>
          <a:p>
            <a:r>
              <a:t>- python3 scripts/validate_manifest.py sample_manifest.csv</a:t>
            </a:r>
          </a:p>
          <a:p>
            <a:r>
              <a:t>- pytest -q</a:t>
            </a:r>
          </a:p>
          <a:p>
            <a:endParaRPr/>
          </a:p>
          <a:p>
            <a:r>
              <a:t>回報：</a:t>
            </a:r>
          </a:p>
          <a:p>
            <a:r>
              <a:t>- 修改摘要</a:t>
            </a:r>
          </a:p>
          <a:p>
            <a:r>
              <a:t>- 測試結果</a:t>
            </a:r>
          </a:p>
          <a:p>
            <a:r>
              <a:t>- 仍需人工確認的風險</a:t>
            </a:r>
          </a:p>
          <a:p>
            <a:endParaRPr/>
          </a:p>
          <a:p>
            <a:r>
              <a:t>為什麼有效: 明確告訴 agent 先讀什麼 限制 write surface 測試命令可重跑 要求風險回報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要求 agent 先建立 repo map，再開始改檔</a:t>
            </a:r>
          </a:p>
          <a:p>
            <a:endParaRPr/>
          </a:p>
          <a:p>
            <a:r>
              <a:t>請 agent 先列出它讀過的檔案與理解到的資料流 要求它標出 entry point、主要輸入、輸出與測試位置 它若沒有讀檔就開始建議，先停下來補 context 對 biomedical pipeline，要額外標出資料版本與 sample manifest 欄位 檢查句: 你讀了哪些檔案？ 哪個 command 可重現？ 你會改哪幾個檔？ 不會碰哪些檔？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最常用的 repo inspection 命令要讓學生看得懂</a:t>
            </a:r>
          </a:p>
          <a:p>
            <a:endParaRPr/>
          </a:p>
          <a:p>
            <a:r>
              <a:t>Inspection checklist:</a:t>
            </a:r>
          </a:p>
          <a:p>
            <a:r>
              <a:t>pwd</a:t>
            </a:r>
          </a:p>
          <a:p>
            <a:r>
              <a:t>git status --short</a:t>
            </a:r>
          </a:p>
          <a:p>
            <a:r>
              <a:t>rg --files</a:t>
            </a:r>
          </a:p>
          <a:p>
            <a:r>
              <a:t>rg -n "TODO|FIXME|manifest|sample_id"</a:t>
            </a:r>
          </a:p>
          <a:p>
            <a:r>
              <a:t>sed -n '1,220p' README.md</a:t>
            </a:r>
          </a:p>
          <a:p>
            <a:r>
              <a:t>sed -n '1,220p' scripts/validate_manifest.py</a:t>
            </a:r>
          </a:p>
          <a:p>
            <a:endParaRPr/>
          </a:p>
          <a:p>
            <a:r>
              <a:t>教學重點: 不用神秘化 terminal 每個命令都有目的 輸出要回到任務規格 先看 status 避免覆蓋別人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 agent 改程式時，要明確定義可碰與不可碰</a:t>
            </a:r>
          </a:p>
          <a:p>
            <a:endParaRPr/>
          </a:p>
          <a:p>
            <a:r>
              <a:t>Allowed files | 只允許改 scripts/validate_manifest.py 與 tests/ | 縮小 blast radius</a:t>
            </a:r>
          </a:p>
          <a:p>
            <a:r>
              <a:t>Out of scope | 不要改資料檔、不要重命名欄位、不要大重構 | 避免破壞既有流程</a:t>
            </a:r>
          </a:p>
          <a:p>
            <a:r>
              <a:t>Style | 沿用現有 argparse、logging、pytest 風格 | 維持 repo 一致性</a:t>
            </a:r>
          </a:p>
          <a:p>
            <a:r>
              <a:t>Exit rule | 不確定時先回報，不要猜測臨床或資料語意 | 降低 biomedical 風險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測試命令不是儀式，是 agent 完成任務的證據</a:t>
            </a:r>
          </a:p>
          <a:p>
            <a:endParaRPr/>
          </a:p>
          <a:p>
            <a:r>
              <a:t>Validation commands:</a:t>
            </a:r>
          </a:p>
          <a:p>
            <a:r>
              <a:t># unit tests</a:t>
            </a:r>
          </a:p>
          <a:p>
            <a:r>
              <a:t>pytest -q</a:t>
            </a:r>
          </a:p>
          <a:p>
            <a:endParaRPr/>
          </a:p>
          <a:p>
            <a:r>
              <a:t># sample data smoke test</a:t>
            </a:r>
          </a:p>
          <a:p>
            <a:r>
              <a:t>python3 scripts/validate_manifest.py sample_manifest.csv</a:t>
            </a:r>
          </a:p>
          <a:p>
            <a:endParaRPr/>
          </a:p>
          <a:p>
            <a:r>
              <a:t># formatting or lint, if project uses them</a:t>
            </a:r>
          </a:p>
          <a:p>
            <a:r>
              <a:t>ruff check scripts tests</a:t>
            </a:r>
          </a:p>
          <a:p>
            <a:endParaRPr/>
          </a:p>
          <a:p>
            <a:r>
              <a:t># pipeline dry run, if applicable</a:t>
            </a:r>
          </a:p>
          <a:p>
            <a:r>
              <a:t>nextflow run nextflow/main.nf -profile test</a:t>
            </a:r>
          </a:p>
          <a:p>
            <a:endParaRPr/>
          </a:p>
          <a:p>
            <a:r>
              <a:t>回報格式: 命令原文 通過或失敗 關鍵錯誤訊息 改完後是否重跑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叫 agent 解釋錯誤時，要要求它把推論拆開</a:t>
            </a:r>
          </a:p>
          <a:p>
            <a:endParaRPr/>
          </a:p>
          <a:p>
            <a:r>
              <a:t>先貼出最小錯誤訊息與重現 command 要求它指出錯在哪個檔案、哪個函式、哪個資料欄位 要求列出假設，並用讀檔或測試結果支持 修正後必須重跑同一個 command 錯誤報告: Symptom Root cause Patch Verification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Codex / Claude Code / Gemini CLI / Copilot CLI：先看工作情境</a:t>
            </a:r>
          </a:p>
          <a:p>
            <a:endParaRPr/>
          </a:p>
          <a:p>
            <a:r>
              <a:t>Codex | repo-grounded CLI workflow、diff、測試、commit 導向 | 小型資料處理、bugfix、課堂 lab</a:t>
            </a:r>
          </a:p>
          <a:p>
            <a:r>
              <a:t>Claude Code | 長 context 程式理解、多檔重構討論、plan-first workflow | 讀大型 repo、設計改動策略</a:t>
            </a:r>
          </a:p>
          <a:p>
            <a:r>
              <a:t>Gemini CLI | Google 生態、長 context、多模態或雲端整合場景 | 讀大量文件、搭配 Google Cloud workflow</a:t>
            </a:r>
          </a:p>
          <a:p>
            <a:r>
              <a:t>Copilot CLI | terminal 內命令輔助、GitHub/IDE 生態銜接 | 解釋 shell/git 命令、日常 developer help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Seqera AI 不只是另一個 coding agent，而是 bioinformatics workflow agent</a:t>
            </a:r>
          </a:p>
          <a:p>
            <a:endParaRPr/>
          </a:p>
          <a:p>
            <a:r>
              <a:t>主要 context | repo、測試、程式碼、shell 輸出 | Nextflow、nf-core、Seqera Platform、runs、datasets</a:t>
            </a:r>
          </a:p>
          <a:p>
            <a:r>
              <a:t>最常見任務 | 修 bug、寫 script、跑 tests、整理 diff | 建立/除錯 pipeline、找 module、轉換 WDL/R、管理 runs</a:t>
            </a:r>
          </a:p>
          <a:p>
            <a:r>
              <a:t>驗證方式 | unit test、smoke test、lint、git diff | Nextflow dry run、nf-test、run logs、MultiQC、Platform metrics</a:t>
            </a:r>
          </a:p>
          <a:p>
            <a:r>
              <a:t>人類 gate | 合併前 code review | 啟動雲端 run、改 workspace、動用資料前 approval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真正的問題通常不是 agent 不能改，而是它改太多、改太快、又沒有留下可檢查證據。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限制 agent 的 write surface，比事後整理爛 diff 更有效</a:t>
            </a:r>
          </a:p>
          <a:p>
            <a:endParaRPr/>
          </a:p>
          <a:p>
            <a:r>
              <a:t>每次任務只允許少數檔案或一個資料夾 要求修改前先回報 plan，修改後先 show diff 禁止無關格式化、重命名、搬檔與大規模重構 資料檔、credential、環境設定與雲端資源要需要人工確認 Prompt guard: Do not edit files outside... Do not run destructive commands Ask before external actions Preserve user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每次讓 agent 動手前，先保護工作樹</a:t>
            </a:r>
          </a:p>
          <a:p>
            <a:endParaRPr/>
          </a:p>
          <a:p>
            <a:r>
              <a:t>Minimum git ritual:</a:t>
            </a:r>
          </a:p>
          <a:p>
            <a:r>
              <a:t>git status --short</a:t>
            </a:r>
          </a:p>
          <a:p>
            <a:r>
              <a:t>git diff --stat</a:t>
            </a:r>
          </a:p>
          <a:p>
            <a:endParaRPr/>
          </a:p>
          <a:p>
            <a:r>
              <a:t># after patch</a:t>
            </a:r>
          </a:p>
          <a:p>
            <a:r>
              <a:t>git diff</a:t>
            </a:r>
          </a:p>
          <a:p>
            <a:r>
              <a:t>pytest -q</a:t>
            </a:r>
          </a:p>
          <a:p>
            <a:r>
              <a:t>git add &lt;touched files&gt;</a:t>
            </a:r>
          </a:p>
          <a:p>
            <a:r>
              <a:t>git commit -m "Add manifest validation checks"</a:t>
            </a:r>
          </a:p>
          <a:p>
            <a:endParaRPr/>
          </a:p>
          <a:p>
            <a:r>
              <a:t>學生要會看: 有哪些檔案被改 有沒有無關檔案 測試是否真的跑過 commit 訊息是否可追溯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這堂課的 biomedical examples 都要落在可驗證 artifact</a:t>
            </a:r>
          </a:p>
          <a:p>
            <a:endParaRPr/>
          </a:p>
          <a:p>
            <a:r>
              <a:t>文獻表格轉 CSV | 解析欄位、清理空值、輸出 schema | PMID/DOI 是否真實、欄位語意</a:t>
            </a:r>
          </a:p>
          <a:p>
            <a:r>
              <a:t>Gene symbol check | 格式檢查、大小寫、空值、重複 | 是否為 approved symbol、物種與舊名</a:t>
            </a:r>
          </a:p>
          <a:p>
            <a:r>
              <a:t>JSON/HTML report extraction | 抽 table、產生 summary、寫 parser | 來源欄位是否被誤解</a:t>
            </a:r>
          </a:p>
          <a:p>
            <a:r>
              <a:t>Pipeline validation report | 統計樣本數、錯誤列、exit code | 分析結論與臨床語意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示範重點不是寫很難的程式，而是讓 agent 讀檔、改小範圍、跑測試、留下 report。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Lab 材料讓學生可以練習 repo-grounded prompt</a:t>
            </a:r>
          </a:p>
          <a:p>
            <a:endParaRPr/>
          </a:p>
          <a:p>
            <a:r>
              <a:t>lesson-07 lab:</a:t>
            </a:r>
          </a:p>
          <a:p>
            <a:r>
              <a:t>lesson-07-coding-agents-cli-workflows/</a:t>
            </a:r>
          </a:p>
          <a:p>
            <a:r>
              <a:t>├── README.md</a:t>
            </a:r>
          </a:p>
          <a:p>
            <a:r>
              <a:t>├── sample_manifest.csv</a:t>
            </a:r>
          </a:p>
          <a:p>
            <a:r>
              <a:t>├── scripts/</a:t>
            </a:r>
          </a:p>
          <a:p>
            <a:r>
              <a:t>│   └── validate_manifest.py</a:t>
            </a:r>
          </a:p>
          <a:p>
            <a:r>
              <a:t>├── prompts/</a:t>
            </a:r>
          </a:p>
          <a:p>
            <a:r>
              <a:t>│   ├── coding_agent_task.md</a:t>
            </a:r>
          </a:p>
          <a:p>
            <a:r>
              <a:t>│   └── seqera_ai_task.md</a:t>
            </a:r>
          </a:p>
          <a:p>
            <a:r>
              <a:t>└── nextflow/</a:t>
            </a:r>
          </a:p>
          <a:p>
            <a:r>
              <a:t>    ├── main.nf</a:t>
            </a:r>
          </a:p>
          <a:p>
            <a:r>
              <a:t>    └── nextflow.config</a:t>
            </a:r>
          </a:p>
          <a:p>
            <a:endParaRPr/>
          </a:p>
          <a:p>
            <a:r>
              <a:t>Demo 目標: 先理解資料欄位 補 manifest validation 產生 summary report 把 Nextflow 問題交給 Seqera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Coding agent demo prompt：小範圍、可驗證、可回報</a:t>
            </a:r>
          </a:p>
          <a:p>
            <a:endParaRPr/>
          </a:p>
          <a:p>
            <a:r>
              <a:t>Prompt skeleton:</a:t>
            </a:r>
          </a:p>
          <a:p>
            <a:r>
              <a:t>請在這個 lab repo 中完成：</a:t>
            </a:r>
          </a:p>
          <a:p>
            <a:endParaRPr/>
          </a:p>
          <a:p>
            <a:r>
              <a:t>1. 先讀 README、sample_manifest.csv、</a:t>
            </a:r>
          </a:p>
          <a:p>
            <a:r>
              <a:t>   scripts/validate_manifest.py</a:t>
            </a:r>
          </a:p>
          <a:p>
            <a:r>
              <a:t>2. 只修改 scripts/validate_manifest.py</a:t>
            </a:r>
          </a:p>
          <a:p>
            <a:r>
              <a:t>3. 加入欄位檢查：</a:t>
            </a:r>
          </a:p>
          <a:p>
            <a:r>
              <a:t>   sample_id, fastq_1, fastq_2, condition</a:t>
            </a:r>
          </a:p>
          <a:p>
            <a:r>
              <a:t>4. 輸出 summary：</a:t>
            </a:r>
          </a:p>
          <a:p>
            <a:r>
              <a:t>   total_rows, invalid_rows, error_messages</a:t>
            </a:r>
          </a:p>
          <a:p>
            <a:r>
              <a:t>5. 跑：</a:t>
            </a:r>
          </a:p>
          <a:p>
            <a:r>
              <a:t>   python3 scripts/validate_manifest.py sample_manifest.csv</a:t>
            </a:r>
          </a:p>
          <a:p>
            <a:r>
              <a:t>6. 回報 diff 摘要與剩餘風險</a:t>
            </a:r>
          </a:p>
          <a:p>
            <a:endParaRPr/>
          </a:p>
          <a:p>
            <a:r>
              <a:t>教師強調: 指定 read set 指定 allowed write 指定 acceptance criteria 要求 command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課堂示範可以照這個節奏跑</a:t>
            </a:r>
          </a:p>
          <a:p>
            <a:endParaRPr/>
          </a:p>
          <a:p>
            <a:r>
              <a:t>1. Ask: 貼 task packet，不直接叫它自由修</a:t>
            </a:r>
          </a:p>
          <a:p>
            <a:r>
              <a:t>2. Inspect: 看 agent 讀了哪些檔案</a:t>
            </a:r>
          </a:p>
          <a:p>
            <a:r>
              <a:t>3. Patch: 確認只改指定檔案</a:t>
            </a:r>
          </a:p>
          <a:p>
            <a:r>
              <a:t>4. Run: 重跑 sample command</a:t>
            </a:r>
          </a:p>
          <a:p>
            <a:r>
              <a:t>5. Review: 檢查 diff 與錯誤列</a:t>
            </a:r>
          </a:p>
          <a:p>
            <a:r>
              <a:t>6. Record: 保存 prompt、command、commit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一般 coding agent 可以改 repo；Seqera AI 的價值是理解 Nextflow、nf-core、Seqera Platform 與 pipeline execution context。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Seqera AI 適合放在 bioinformatics pipeline 開發的 domain loop</a:t>
            </a:r>
          </a:p>
          <a:p>
            <a:endParaRPr/>
          </a:p>
          <a:p>
            <a:r>
              <a:t>Nextflow fluency: 協助撰寫 DSL2、config、schema、module glue 與 pipeline 結構。</a:t>
            </a:r>
          </a:p>
          <a:p>
            <a:r>
              <a:t>Run context: 結合 Seqera Platform 的 run、logs、metrics、datasets 與 compute environment。</a:t>
            </a:r>
          </a:p>
          <a:p>
            <a:r>
              <a:t>Domain tasks: 找 nf-core modules、轉換 WDL/R、產生 containers、協助 debug workflow。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課堂中可以先展示 CLI 入口，不一定要當場登入學生帳號</a:t>
            </a:r>
          </a:p>
          <a:p>
            <a:endParaRPr/>
          </a:p>
          <a:p>
            <a:r>
              <a:t>Useful commands:</a:t>
            </a:r>
          </a:p>
          <a:p>
            <a:r>
              <a:t>npm install -g seqera</a:t>
            </a:r>
          </a:p>
          <a:p>
            <a:r>
              <a:t>seqera login</a:t>
            </a:r>
          </a:p>
          <a:p>
            <a:r>
              <a:t>seqera ai</a:t>
            </a:r>
          </a:p>
          <a:p>
            <a:endParaRPr/>
          </a:p>
          <a:p>
            <a:r>
              <a:t># headless mode for reproducible prompt</a:t>
            </a:r>
          </a:p>
          <a:p>
            <a:r>
              <a:t>seqera ai --headless "Review this Nextflow pipeline"</a:t>
            </a:r>
          </a:p>
          <a:p>
            <a:endParaRPr/>
          </a:p>
          <a:p>
            <a:r>
              <a:t># resume previous session</a:t>
            </a:r>
          </a:p>
          <a:p>
            <a:r>
              <a:t>seqera ai -c</a:t>
            </a:r>
          </a:p>
          <a:p>
            <a:endParaRPr/>
          </a:p>
          <a:p>
            <a:r>
              <a:t># install/check coding-agent skill</a:t>
            </a:r>
          </a:p>
          <a:p>
            <a:r>
              <a:t>seqera skill install</a:t>
            </a:r>
          </a:p>
          <a:p>
            <a:r>
              <a:t>seqera skill check</a:t>
            </a:r>
          </a:p>
          <a:p>
            <a:endParaRPr/>
          </a:p>
          <a:p>
            <a:r>
              <a:t>注意: 需要 Seqera login 或 token 外部 action 先確認 approval prompt 與 run record 要保存 教學可先用 headless prompt 範例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Seqera AI 補進課程時，重點放在 pipeline lifecycle</a:t>
            </a:r>
          </a:p>
          <a:p>
            <a:endParaRPr/>
          </a:p>
          <a:p>
            <a:r>
              <a:t>設計 | 根據 FASTQ manifest 草擬 DSL2 pipeline 與 params schema | pipeline sketch、schema、assumptions</a:t>
            </a:r>
          </a:p>
          <a:p>
            <a:r>
              <a:t>實作 | 建議 nf-core modules、container、process I/O | main.nf、modules、containers</a:t>
            </a:r>
          </a:p>
          <a:p>
            <a:r>
              <a:t>除錯 | 解讀 failed task log、resource metrics、Nextflow error | log excerpt、root cause、patch</a:t>
            </a:r>
          </a:p>
          <a:p>
            <a:r>
              <a:t>執行 | 協助 launch/monitor Seqera Platform runs | run ID、labels、MultiQC/report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一般 coding agent 和 Seqera AI 可以分工，不需要互相取代</a:t>
            </a:r>
          </a:p>
          <a:p>
            <a:endParaRPr/>
          </a:p>
          <a:p>
            <a:r>
              <a:t>1. Spec: 教師或學生定義資料、目標、限制</a:t>
            </a:r>
          </a:p>
          <a:p>
            <a:r>
              <a:t>2. Codex: 整理 repo、寫小 patch、跑本地測試</a:t>
            </a:r>
          </a:p>
          <a:p>
            <a:r>
              <a:t>3. Seqera AI: 檢查 Nextflow/nf-core/Platform 問題</a:t>
            </a:r>
          </a:p>
          <a:p>
            <a:r>
              <a:t>4. Codex: 把建議落成可 review 的 diff</a:t>
            </a:r>
          </a:p>
          <a:p>
            <a:r>
              <a:t>5. Human: 批准雲端 run、資料存取與 merge</a:t>
            </a:r>
          </a:p>
          <a:p>
            <a:r>
              <a:t>6. Record: 保存 prompt、run ID、commit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給 Seqera AI 的 prompt 要包含 workflow context，而不是只貼錯誤</a:t>
            </a:r>
          </a:p>
          <a:p>
            <a:endParaRPr/>
          </a:p>
          <a:p>
            <a:r>
              <a:t>Headless prompt example:</a:t>
            </a:r>
          </a:p>
          <a:p>
            <a:r>
              <a:t>seqera ai --headless "</a:t>
            </a:r>
          </a:p>
          <a:p>
            <a:r>
              <a:t>I am teaching a small RNA-seq style Nextflow lab.</a:t>
            </a:r>
          </a:p>
          <a:p>
            <a:r>
              <a:t>Please review nextflow/main.nf and nextflow.config.</a:t>
            </a:r>
          </a:p>
          <a:p>
            <a:endParaRPr/>
          </a:p>
          <a:p>
            <a:r>
              <a:t>Goals:</a:t>
            </a:r>
          </a:p>
          <a:p>
            <a:r>
              <a:t>- read sample_manifest.csv</a:t>
            </a:r>
          </a:p>
          <a:p>
            <a:r>
              <a:t>- validate paired FASTQ columns</a:t>
            </a:r>
          </a:p>
          <a:p>
            <a:r>
              <a:t>- keep a test profile for local demo</a:t>
            </a:r>
          </a:p>
          <a:p>
            <a:r>
              <a:t>- avoid cloud execution unless I approve</a:t>
            </a:r>
          </a:p>
          <a:p>
            <a:endParaRPr/>
          </a:p>
          <a:p>
            <a:r>
              <a:t>Please return:</a:t>
            </a:r>
          </a:p>
          <a:p>
            <a:r>
              <a:t>1. likely DSL2 issues</a:t>
            </a:r>
          </a:p>
          <a:p>
            <a:r>
              <a:t>2. missing params/schema checks</a:t>
            </a:r>
          </a:p>
          <a:p>
            <a:r>
              <a:t>3. a minimal patch plan</a:t>
            </a:r>
          </a:p>
          <a:p>
            <a:r>
              <a:t>4. commands to validate locally</a:t>
            </a:r>
          </a:p>
          <a:p>
            <a:r>
              <a:t>"</a:t>
            </a:r>
          </a:p>
          <a:p>
            <a:endParaRPr/>
          </a:p>
          <a:p>
            <a:r>
              <a:t>設計重點: 說明教學情境 限制不要啟動雲端 run 要求 patch plan 而非直接亂改 要求 local validation commands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Nextflow pipeline 開發可用更嚴格的 validation loop</a:t>
            </a:r>
          </a:p>
          <a:p>
            <a:endParaRPr/>
          </a:p>
          <a:p>
            <a:r>
              <a:t>先用 test profile 和小樣本做 dry run，不直接上 production data 把 process input/output、channel shape、params schema 寫清楚 用 failed work dir、command.log、exit code 追 root cause MultiQC/report 是 evidence，不是修飾品 常用檢查: nextflow run ... -profile test nf-test test schema validation run logs / metrics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Seqera AI 連到平台時，安全邊界要比本地 coding 更清楚</a:t>
            </a:r>
          </a:p>
          <a:p>
            <a:endParaRPr/>
          </a:p>
          <a:p>
            <a:r>
              <a:t>Authentication | 不在投影片或 repo 放 token；使用 seqera login 或環境變數 | 避免 credential leak</a:t>
            </a:r>
          </a:p>
          <a:p>
            <a:r>
              <a:t>Cloud cost | 任何 launch 或 compute environment 修改都要人工批准 | 避免意外開資源</a:t>
            </a:r>
          </a:p>
          <a:p>
            <a:r>
              <a:t>Data governance | 不使用真實病人識別資料；demo data 要匿名或合成 | 符合 biomedical safety</a:t>
            </a:r>
          </a:p>
          <a:p>
            <a:r>
              <a:t>Workspace actions | 改 dataset、labels、runs 前先要求確認 | 外部狀態不可隨意變更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完整 demo：manifest validation + Nextflow review</a:t>
            </a:r>
          </a:p>
          <a:p>
            <a:endParaRPr/>
          </a:p>
          <a:p>
            <a:r>
              <a:t>Scenario:</a:t>
            </a:r>
          </a:p>
          <a:p>
            <a:r>
              <a:t>Input:</a:t>
            </a:r>
          </a:p>
          <a:p>
            <a:r>
              <a:t>- sample_manifest.csv</a:t>
            </a:r>
          </a:p>
          <a:p>
            <a:r>
              <a:t>- scripts/validate_manifest.py</a:t>
            </a:r>
          </a:p>
          <a:p>
            <a:r>
              <a:t>- nextflow/main.nf</a:t>
            </a:r>
          </a:p>
          <a:p>
            <a:endParaRPr/>
          </a:p>
          <a:p>
            <a:r>
              <a:t>Task A with coding agent:</a:t>
            </a:r>
          </a:p>
          <a:p>
            <a:r>
              <a:t>- improve manifest validator</a:t>
            </a:r>
          </a:p>
          <a:p>
            <a:r>
              <a:t>- run sample smoke test</a:t>
            </a:r>
          </a:p>
          <a:p>
            <a:r>
              <a:t>- report invalid rows</a:t>
            </a:r>
          </a:p>
          <a:p>
            <a:endParaRPr/>
          </a:p>
          <a:p>
            <a:r>
              <a:t>Task B with Seqera AI:</a:t>
            </a:r>
          </a:p>
          <a:p>
            <a:r>
              <a:t>- review Nextflow test profile</a:t>
            </a:r>
          </a:p>
          <a:p>
            <a:r>
              <a:t>- identify DSL2 / params issues</a:t>
            </a:r>
          </a:p>
          <a:p>
            <a:r>
              <a:t>- suggest local validation commands</a:t>
            </a:r>
          </a:p>
          <a:p>
            <a:endParaRPr/>
          </a:p>
          <a:p>
            <a:r>
              <a:t>Expected outputs: validator patch command output Seqera AI review notes human-approved next actions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有些事情可以讓 agent 幫忙準備，但不能讓它自行決定</a:t>
            </a:r>
          </a:p>
          <a:p>
            <a:endParaRPr/>
          </a:p>
          <a:p>
            <a:r>
              <a:t>不能讓 agent 自行判定臨床建議、治療策略或病患處置 不能讓 agent 自行上傳、下載或移動敏感資料 不能讓 agent 未經同意啟動昂貴雲端工作流 不能讓 agent 在未 review 的情況下 merge 或覆蓋他人工作 人要負責: clinical claims data access cloud execution merge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學生練習分成 coding agent 與 Seqera AI 兩個 prompt</a:t>
            </a:r>
          </a:p>
          <a:p>
            <a:endParaRPr/>
          </a:p>
          <a:p>
            <a:r>
              <a:t>Coding agent prompt | read set、allowed write、validation command | 是否限制 scope</a:t>
            </a:r>
          </a:p>
          <a:p>
            <a:r>
              <a:t>Patch review | diff 摘要、測試結果、風險清單 | 是否可重跑</a:t>
            </a:r>
          </a:p>
          <a:p>
            <a:r>
              <a:t>Seqera AI prompt | Nextflow context、禁止外部 action、期望輸出 | 是否適合 domain agent</a:t>
            </a:r>
          </a:p>
          <a:p>
            <a:r>
              <a:t>Final note | commit hash 或 pseudo-patch plan | 是否可追溯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今天可直接帶走的 prompt checklist</a:t>
            </a:r>
          </a:p>
          <a:p>
            <a:endParaRPr/>
          </a:p>
          <a:p>
            <a:r>
              <a:t>Checklist:</a:t>
            </a:r>
          </a:p>
          <a:p>
            <a:r>
              <a:t>Before patch:</a:t>
            </a:r>
          </a:p>
          <a:p>
            <a:r>
              <a:t>[ ] What files should the agent read?</a:t>
            </a:r>
          </a:p>
          <a:p>
            <a:r>
              <a:t>[ ] What files may it edit?</a:t>
            </a:r>
          </a:p>
          <a:p>
            <a:r>
              <a:t>[ ] What commands prove success?</a:t>
            </a:r>
          </a:p>
          <a:p>
            <a:r>
              <a:t>[ ] What should it not do?</a:t>
            </a:r>
          </a:p>
          <a:p>
            <a:endParaRPr/>
          </a:p>
          <a:p>
            <a:r>
              <a:t>After patch:</a:t>
            </a:r>
          </a:p>
          <a:p>
            <a:r>
              <a:t>[ ] Did it report touched files?</a:t>
            </a:r>
          </a:p>
          <a:p>
            <a:r>
              <a:t>[ ] Did it run validation?</a:t>
            </a:r>
          </a:p>
          <a:p>
            <a:r>
              <a:t>[ ] Did it preserve user changes?</a:t>
            </a:r>
          </a:p>
          <a:p>
            <a:r>
              <a:t>[ ] Did it separate evidence from guess?</a:t>
            </a:r>
          </a:p>
          <a:p>
            <a:endParaRPr/>
          </a:p>
          <a:p>
            <a:r>
              <a:t>Seqera AI:</a:t>
            </a:r>
          </a:p>
          <a:p>
            <a:r>
              <a:t>[ ] Did prompt include Nextflow context?</a:t>
            </a:r>
          </a:p>
          <a:p>
            <a:r>
              <a:t>[ ] Did prompt require approval before Platform actions?</a:t>
            </a:r>
          </a:p>
          <a:p>
            <a:endParaRPr/>
          </a:p>
          <a:p>
            <a:r>
              <a:t>一句話: 好 prompt 是小型工程規格 好 agent workflow 會留下 diff 好 biomedical workflow 會留下 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used: https://docs.seqera.io/platform-cloud/co-scientist/ ; https://seqera.io/platform/seqera-ai/ ; https://docs.seqera.io/nextflow/ ; https://training.nextflow.io/latest/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Wrap-up: connect CLI agent basics, guardrails, validation, and Seqera AI domain workflow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svg"/><Relationship Id="rId4" Type="http://schemas.openxmlformats.org/officeDocument/2006/relationships/image" Target="../media/image24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urse">
            <a:extLst>
              <a:ext uri="{FF2B5EF4-FFF2-40B4-BE49-F238E27FC236}">
                <a16:creationId xmlns:a16="http://schemas.microsoft.com/office/drawing/2014/main" id="{BDB08180-AB88-44DE-8BBE-15650F44AC3B}"/>
              </a:ext>
            </a:extLst>
          </p:cNvPr>
          <p:cNvSpPr>
            <a:spLocks noGrp="1"/>
          </p:cNvSpPr>
          <p:nvPr/>
        </p:nvSpPr>
        <p:spPr>
          <a:xfrm>
            <a:off x="723900" y="6667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AFC2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FC2FF"/>
                </a:solidFill>
                <a:latin typeface="Aptos"/>
                <a:ea typeface="Aptos"/>
                <a:cs typeface="Aptos"/>
              </a:rPr>
              <a:t>Day 2 · Lesson 07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E28D941-EC59-42C9-B1F0-7BCA648773A2}"/>
              </a:ext>
            </a:extLst>
          </p:cNvPr>
          <p:cNvSpPr>
            <a:spLocks noGrp="1"/>
          </p:cNvSpPr>
          <p:nvPr/>
        </p:nvSpPr>
        <p:spPr>
          <a:xfrm>
            <a:off x="723900" y="1504950"/>
            <a:ext cx="72390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Coding Agents</a:t>
            </a:r>
          </a:p>
          <a:p>
            <a:pPr algn="l">
              <a:lnSpc>
                <a:spcPct val="9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and CLI Workflows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3591059C-5E48-4321-AEB2-C931D70A63A7}"/>
              </a:ext>
            </a:extLst>
          </p:cNvPr>
          <p:cNvSpPr>
            <a:spLocks noGrp="1"/>
          </p:cNvSpPr>
          <p:nvPr/>
        </p:nvSpPr>
        <p:spPr>
          <a:xfrm>
            <a:off x="762000" y="3238500"/>
            <a:ext cx="8001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把 agent 放進 repo、terminal、tests 與 Nextflow pipeline 開發流程</a:t>
            </a:r>
          </a:p>
        </p:txBody>
      </p:sp>
      <p:sp>
        <p:nvSpPr>
          <p:cNvPr id="4" name="right-panel">
            <a:extLst>
              <a:ext uri="{FF2B5EF4-FFF2-40B4-BE49-F238E27FC236}">
                <a16:creationId xmlns:a16="http://schemas.microsoft.com/office/drawing/2014/main" id="{B033C1DF-2467-42D3-AD7B-488B1047F0B5}"/>
              </a:ext>
            </a:extLst>
          </p:cNvPr>
          <p:cNvSpPr>
            <a:spLocks noGrp="1"/>
          </p:cNvSpPr>
          <p:nvPr/>
        </p:nvSpPr>
        <p:spPr>
          <a:xfrm>
            <a:off x="8210550" y="1238250"/>
            <a:ext cx="2857500" cy="3333750"/>
          </a:xfrm>
          <a:prstGeom prst="roundRect">
            <a:avLst>
              <a:gd name="adj" fmla="val 2667"/>
            </a:avLst>
          </a:prstGeom>
          <a:solidFill>
            <a:srgbClr val="24313D"/>
          </a:solidFill>
          <a:ln w="9525">
            <a:solidFill>
              <a:srgbClr val="52617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panel-title">
            <a:extLst>
              <a:ext uri="{FF2B5EF4-FFF2-40B4-BE49-F238E27FC236}">
                <a16:creationId xmlns:a16="http://schemas.microsoft.com/office/drawing/2014/main" id="{F4B3D108-0F07-4007-85BC-47D5488362E9}"/>
              </a:ext>
            </a:extLst>
          </p:cNvPr>
          <p:cNvSpPr>
            <a:spLocks noGrp="1"/>
          </p:cNvSpPr>
          <p:nvPr/>
        </p:nvSpPr>
        <p:spPr>
          <a:xfrm>
            <a:off x="8534400" y="16383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output</a:t>
            </a:r>
          </a:p>
        </p:txBody>
      </p:sp>
      <p:sp>
        <p:nvSpPr>
          <p:cNvPr id="6" name="panel-list">
            <a:extLst>
              <a:ext uri="{FF2B5EF4-FFF2-40B4-BE49-F238E27FC236}">
                <a16:creationId xmlns:a16="http://schemas.microsoft.com/office/drawing/2014/main" id="{0511CA4A-C111-48BB-939C-D0E2B364FD03}"/>
              </a:ext>
            </a:extLst>
          </p:cNvPr>
          <p:cNvSpPr>
            <a:spLocks noGrp="1"/>
          </p:cNvSpPr>
          <p:nvPr/>
        </p:nvSpPr>
        <p:spPr>
          <a:xfrm>
            <a:off x="8572500" y="2190750"/>
            <a:ext cx="2095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repo-grounded CLI workflow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tool choice matrix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guardrails against messy edits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defRPr>
            </a:pPr>
            <a:r>
              <a:rPr sz="1350">
                <a:solidFill>
                  <a:srgbClr val="E2E8EE"/>
                </a:solidFill>
                <a:latin typeface="PingFang TC"/>
                <a:ea typeface="PingFang TC"/>
                <a:cs typeface="PingFang TC"/>
              </a:rPr>
              <a:t>Seqera AI for Nextflow work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C983E5BE-DA9D-491E-8E2B-76EF80BA801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Coding agents and CLI workflows  |  1/38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445A4C5A-1F42-054F-90C1-212E3DE9F274}"/>
              </a:ext>
            </a:extLst>
          </p:cNvPr>
          <p:cNvSpPr/>
          <p:nvPr/>
        </p:nvSpPr>
        <p:spPr>
          <a:xfrm>
            <a:off x="7239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4EA1D3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8FCBEF"/>
                </a:solidFill>
              </a:rPr>
              <a:t>Part 1 · CLI 基本操作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945DDCD-FDD3-144F-93D0-0AE485D6DC21}"/>
              </a:ext>
            </a:extLst>
          </p:cNvPr>
          <p:cNvSpPr/>
          <p:nvPr/>
        </p:nvSpPr>
        <p:spPr>
          <a:xfrm>
            <a:off x="34417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E9A15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0C48C"/>
                </a:solidFill>
              </a:rPr>
              <a:t>Part 2 · Guardrails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54FC912A-BC07-2C44-A112-EC3A861ABEFD}"/>
              </a:ext>
            </a:extLst>
          </p:cNvPr>
          <p:cNvSpPr/>
          <p:nvPr/>
        </p:nvSpPr>
        <p:spPr>
          <a:xfrm>
            <a:off x="6159500" y="4953000"/>
            <a:ext cx="2540000" cy="508000"/>
          </a:xfrm>
          <a:prstGeom prst="roundRect">
            <a:avLst/>
          </a:prstGeom>
          <a:solidFill>
            <a:srgbClr val="1B3A5C"/>
          </a:solidFill>
          <a:ln w="12700">
            <a:solidFill>
              <a:srgbClr val="C48FE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DCB8F0"/>
                </a:solidFill>
              </a:rPr>
              <a:t>Part 3 · Seqera AI</a:t>
            </a:r>
          </a:p>
        </p:txBody>
      </p:sp>
    </p:spTree>
    <p:extLst>
      <p:ext uri="{BB962C8B-B14F-4D97-AF65-F5344CB8AC3E}">
        <p14:creationId xmlns:p14="http://schemas.microsoft.com/office/powerpoint/2010/main" val="82097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13B74B51-933B-4FB4-AC17-CBF2BB6FDB7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LEARNING TARGET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749B36D-2290-42BC-822C-C9E449F2950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今天不是教大家相信 agent，而是教大家要求它留下證據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A4A8626-D579-4135-8246-55953A658C3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2/38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8E2C4F35-24BA-43F3-8244-E049157D5793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先讀 repo，再提出小範圍修改計畫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改程式、跑測試、解釋錯誤與回報 diff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知道何時用桌面工具、IDE assistant、CLI coding agent 或 Seqera AI</a:t>
            </a:r>
          </a:p>
          <a:p>
            <a:pPr marL="285750" indent="-28575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biomedical pipeline 開發變成可追溯的 commit 與驗證紀錄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E3C48D09-542C-4A5B-B6BF-6586540B0A5C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7A7463C0-8375-4573-B289-832090E1ADEC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90 分鐘後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16D9625D-61F6-4257-AAAB-F27F9FE1B1CA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能下達 repo-grounded task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能限制改檔範圍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能檢查測試輸出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能寫 Seqera AI prompt</a:t>
            </a:r>
          </a:p>
        </p:txBody>
      </p:sp>
      <p:pic>
        <p:nvPicPr>
          <p:cNvPr id="9" name="Graphic 9" descr="Target icon for learning goa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87B28D74-A0AE-084A-9FFF-F3871F3219F9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為什麼重要：</a:t>
            </a:r>
            <a:r>
              <a:rPr lang="zh-TW" sz="1400" dirty="0">
                <a:solidFill>
                  <a:srgbClr val="404040"/>
                </a:solidFill>
              </a:rPr>
              <a:t>以上四項能力，正是評估「這個 agent 值不值得信任」的最低標準。</a:t>
            </a:r>
          </a:p>
        </p:txBody>
      </p:sp>
    </p:spTree>
    <p:extLst>
      <p:ext uri="{BB962C8B-B14F-4D97-AF65-F5344CB8AC3E}">
        <p14:creationId xmlns:p14="http://schemas.microsoft.com/office/powerpoint/2010/main" val="1742291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8DE85288-734A-4422-8215-80224384858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921ACE7-A601-4DCA-BE50-1FB0E2C228F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的價值在這條閉環，不在單次回答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6559574B-1DFE-4133-ACD8-B5582815458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3/38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E9AE90F5-B4CC-47A1-BB98-EFE3F890BB3A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D2B9A64A-78AB-4438-B63B-5E1CC9833177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6692A8DC-3CB2-451A-BFDA-E1D9CB418821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Inspect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26AACE5E-279B-4A28-9C47-C7112AD4874D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讀檔、看測試、理解資料格式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4F85936A-BCE5-487D-8198-502B374867BA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0FCCF454-C719-4AC4-B4BA-DDF2274F2255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CBEE882A-25D6-46E4-AEF2-E37BFB1029A5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F826D732-59D7-4AEE-86F0-24262BF00CBA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Plan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2123D384-6DF1-4493-9275-31A58269ECC7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scope，先講要改哪裡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3FEFC250-F6F1-4C4A-90D4-36CA30851AD8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F595659A-9A9C-45DD-9903-D3EA6453C156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194841AA-4924-4AE3-9E2D-B4A3CE7CEAF2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B8BB3713-32F2-42E7-A78F-5D63BFF27AC0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Patch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37473283-E246-497A-B3D1-A0B7092F3DA3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用小 diff 修改程式或文件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1D52C29F-D1F4-4283-967E-2F5249AFE0F4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A07C9D32-2C23-4C51-8016-0FB7D86FA167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CC003652-D004-43B7-8A92-CD3C25217F5A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F7AB4394-3B3B-4085-A439-30122C3C4F64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C1E29C7C-00B1-47C2-83F3-95996100C040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跑測試、lint、sample command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F1C9DB84-4091-4E74-A8EC-FE6702B0FBEE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DB52690D-A0EC-4884-846A-0F4EDF4CAD7C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FB7FD134-C713-4F6D-9A70-9C1CFA0CA1AD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2F82C4FB-6326-469F-814F-E968E5212EBE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Report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A0B73533-B74F-4F70-AE2F-4F96F32DAAA3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列出改動、風險、未完成項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E06E2A9E-E59C-4CCF-98E7-C085AC7FB73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6EFD8258-D551-4E75-8AF9-08A6C86443D3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10F958CE-DF9D-4780-BE6B-FAA4171C3500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4556F8EA-4645-4FE7-80C2-D1AFE53374AA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Commit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3B1CB588-8A4B-4BF4-9ED3-C8959F8ED285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留下可追溯版本紀錄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0649E9A3-9434-2049-B2A3-7A3EBE1F1E54}"/>
              </a:ext>
            </a:extLst>
          </p:cNvPr>
          <p:cNvSpPr/>
          <p:nvPr/>
        </p:nvSpPr>
        <p:spPr>
          <a:xfrm>
            <a:off x="800100" y="5143500"/>
            <a:ext cx="10591800" cy="762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為什麼要照順序：</a:t>
            </a:r>
            <a:r>
              <a:rPr lang="zh-TW" sz="1400" dirty="0">
                <a:solidFill>
                  <a:srgbClr val="404040"/>
                </a:solidFill>
              </a:rPr>
              <a:t>每個步驟都在降低風險、建立可追溯性；跳過 Validate 或 Report，等於把除錯責任丟回給人類。</a:t>
            </a:r>
          </a:p>
        </p:txBody>
      </p:sp>
    </p:spTree>
    <p:extLst>
      <p:ext uri="{BB962C8B-B14F-4D97-AF65-F5344CB8AC3E}">
        <p14:creationId xmlns:p14="http://schemas.microsoft.com/office/powerpoint/2010/main" val="119311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C00F0876-A367-4C07-A0EC-99F99BB736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FUNDAMENTALS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2E7F7F-0A88-4FDC-9DCA-D90FC716525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為什麼 coding agent 離不開 Git？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7528F88-F69F-45E6-B76D-D78D511DDE4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4/38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905A6267-CD5B-496D-B569-09E239831825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Git 把整個 repo 變成有版本紀錄的狀態，每個檔案的每次修改都有跡可循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直接在你的檔案系統上動手改，diff 就是它唯一「說話」的方式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Commit 是檢查點：出錯了用 git 回到上一步，而不是重新解釋一次需求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 git，你只能相信 agent 的文字摘要；有 git，你能逐行檢查它實際改了什麼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4171DB6F-7423-4EF4-AE64-1D7E44749B9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A5EC779-221F-4C35-BD79-C6D34C5CACEE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跟 GUI 聊天的差異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65C58829-0640-4234-AAF6-4B7FB83423E8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GUI：複製貼上它給的建議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CLI+Git：它直接寫檔，diff 即時可見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GUI：對話紀錄是唯一記錄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CLI+Git：commit log 才是可信歷史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AD5CD5BB-A2FA-DA46-BC42-08333FFB1D85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核心觀念：</a:t>
            </a:r>
            <a:r>
              <a:rPr lang="zh-TW" sz="1400" dirty="0">
                <a:solidFill>
                  <a:srgbClr val="404040"/>
                </a:solidFill>
              </a:rPr>
              <a:t>Git 讓 agent 的每個動作都變成可以被檢查、被回退的『事實』，這是 CLI workflow 比純聊天更可信的根本原因。</a:t>
            </a:r>
          </a:p>
        </p:txBody>
      </p:sp>
      <p:pic>
        <p:nvPicPr>
          <p:cNvPr id="11" name="Graphic 11" descr="Git bran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01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FEE2C6D-3AB4-444C-9991-3E3639BBBA6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FUNDAMENTALS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8183170-1368-4F4C-92D2-CB831A7B320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看懂 agent 動了什麼：常用 Git 指令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8F88FD-7024-471F-9FB1-FC459C8FA74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5/38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E034CB9C-762F-4B3B-BE5F-2B238129A0C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Git 指令速查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096CC6F-460D-4045-8A9C-EBD84B30BD4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3EBE65-E963-41EC-8469-1BA9A7A2A8F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add -p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commit -m "訊息"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log --oneline -10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switch -c feature/xxx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restore --staged &lt;file&gt;</a:t>
            </a:r>
          </a:p>
          <a:p>
            <a:pPr algn="l">
              <a:lnSpc>
                <a:spcPct val="106000"/>
              </a:lnSpc>
              <a:buNone/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reset --hard &lt;commit&gt;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FBC7ACA-DF38-41C4-AC7E-C0B15EE5CF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96BFFEE-8E92-416E-846D-64D68AFF610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使用時機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09F5F65-1050-4D6D-ABE9-615FBB40FECD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status／diff 用來檢查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add／commit 建立檢查點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switch 隔離風險分支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reset／restore 用來回退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11800"/>
            <a:ext cx="508000" cy="508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FE0D94B9-A59C-E84D-B732-92E5C181AB50}"/>
              </a:ext>
            </a:extLst>
          </p:cNvPr>
          <p:cNvSpPr/>
          <p:nvPr/>
        </p:nvSpPr>
        <p:spPr>
          <a:xfrm>
            <a:off x="1651000" y="5511800"/>
            <a:ext cx="9525000" cy="635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小技巧：</a:t>
            </a:r>
            <a:r>
              <a:rPr lang="zh-TW" sz="1400" dirty="0">
                <a:solidFill>
                  <a:srgbClr val="404040"/>
                </a:solidFill>
              </a:rPr>
              <a:t>先讓 agent 在新分支上工作、每個小步驟都 commit，事後只要看 git log 與 git diff 就能重建它做過的每一步。</a:t>
            </a:r>
          </a:p>
        </p:txBody>
      </p:sp>
    </p:spTree>
    <p:extLst>
      <p:ext uri="{BB962C8B-B14F-4D97-AF65-F5344CB8AC3E}">
        <p14:creationId xmlns:p14="http://schemas.microsoft.com/office/powerpoint/2010/main" val="22856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F3068227-4327-433E-B29E-56474734113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CHOICE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D5A6FD1-06A8-4879-B1C8-CC705F1DE02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桌面工具、IDE assistant、CLI coding agent 的邊界要分清楚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3F68FB7-769E-4339-9AD7-45D049CA639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6/38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4C41D210-525E-44D6-871D-B081AE56472F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24298E48-E1A0-456F-84F9-9878B46D94E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工具型態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BB0211F9-EF04-4E4D-9E61-79D7BC74BFD4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33387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24CE8F8-9113-4B97-BC14-4F96D666918B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105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適合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6CAFB1C0-5229-464A-84E1-258633057105}"/>
              </a:ext>
            </a:extLst>
          </p:cNvPr>
          <p:cNvSpPr>
            <a:spLocks noGrp="1"/>
          </p:cNvSpPr>
          <p:nvPr/>
        </p:nvSpPr>
        <p:spPr>
          <a:xfrm>
            <a:off x="6943725" y="1885950"/>
            <a:ext cx="423862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459BEEA2-1948-4B9C-908E-01D67D392135}"/>
              </a:ext>
            </a:extLst>
          </p:cNvPr>
          <p:cNvSpPr>
            <a:spLocks noGrp="1"/>
          </p:cNvSpPr>
          <p:nvPr/>
        </p:nvSpPr>
        <p:spPr>
          <a:xfrm>
            <a:off x="7058025" y="2000250"/>
            <a:ext cx="4010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不適合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05C83A9B-FCA2-423F-9032-461BF97F30DA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778C22E-E3B0-40D1-AA9B-6A4089D6F363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 agent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EBFAA0F2-57A8-4BBC-9618-5B2EA4151CA6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14BCF776-C1DF-4BDD-896C-5DD7516B6E36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 PDF、整理文獻、瀏覽網頁、做研究筆記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D96B4574-EE11-4DAC-B920-4A96F001710C}"/>
              </a:ext>
            </a:extLst>
          </p:cNvPr>
          <p:cNvSpPr>
            <a:spLocks noGrp="1"/>
          </p:cNvSpPr>
          <p:nvPr/>
        </p:nvSpPr>
        <p:spPr>
          <a:xfrm>
            <a:off x="6943725" y="23050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27C43E3C-608B-4BE7-9C4F-16FF031AE81A}"/>
              </a:ext>
            </a:extLst>
          </p:cNvPr>
          <p:cNvSpPr>
            <a:spLocks noGrp="1"/>
          </p:cNvSpPr>
          <p:nvPr/>
        </p:nvSpPr>
        <p:spPr>
          <a:xfrm>
            <a:off x="7058025" y="24003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大量改 repo、跑測試、處理多檔 diff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4771F32D-35E0-4465-A1C6-8B26BA0DF1D4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E31C272-35D6-4D52-A6F6-9A396D014E88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assistant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EE4A03BE-A9EC-4CEB-B97A-EDD694445698}"/>
              </a:ext>
            </a:extLst>
          </p:cNvPr>
          <p:cNvSpPr>
            <a:spLocks noGrp="1"/>
          </p:cNvSpPr>
          <p:nvPr/>
        </p:nvSpPr>
        <p:spPr>
          <a:xfrm>
            <a:off x="2609850" y="29718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1D9FAE88-BC68-4AD0-816B-837B09C28F93}"/>
              </a:ext>
            </a:extLst>
          </p:cNvPr>
          <p:cNvSpPr>
            <a:spLocks noGrp="1"/>
          </p:cNvSpPr>
          <p:nvPr/>
        </p:nvSpPr>
        <p:spPr>
          <a:xfrm>
            <a:off x="2724150" y="30670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局部補完、函式重構、API 用法提示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C53020A-3807-4193-9FAE-E59B61A2EDD5}"/>
              </a:ext>
            </a:extLst>
          </p:cNvPr>
          <p:cNvSpPr>
            <a:spLocks noGrp="1"/>
          </p:cNvSpPr>
          <p:nvPr/>
        </p:nvSpPr>
        <p:spPr>
          <a:xfrm>
            <a:off x="6943725" y="29718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26B6430-E235-4F64-99AD-30AD7DE24FB5}"/>
              </a:ext>
            </a:extLst>
          </p:cNvPr>
          <p:cNvSpPr>
            <a:spLocks noGrp="1"/>
          </p:cNvSpPr>
          <p:nvPr/>
        </p:nvSpPr>
        <p:spPr>
          <a:xfrm>
            <a:off x="7058025" y="30670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repo 規劃、批次驗證、完整報告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A9069909-D8A9-41D9-8E1C-6A73FB987F2D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8F4B4143-DA29-437B-9C9F-2620B3FFB4C2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 coding agent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E636FFA6-2B05-4EBA-B0F7-F53B66BDA85C}"/>
              </a:ext>
            </a:extLst>
          </p:cNvPr>
          <p:cNvSpPr>
            <a:spLocks noGrp="1"/>
          </p:cNvSpPr>
          <p:nvPr/>
        </p:nvSpPr>
        <p:spPr>
          <a:xfrm>
            <a:off x="2609850" y="36385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73162C8F-EBDE-4DAB-8D65-4BBFFEA34C61}"/>
              </a:ext>
            </a:extLst>
          </p:cNvPr>
          <p:cNvSpPr>
            <a:spLocks noGrp="1"/>
          </p:cNvSpPr>
          <p:nvPr/>
        </p:nvSpPr>
        <p:spPr>
          <a:xfrm>
            <a:off x="2724150" y="37338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讀檔、改程式、跑測試、整理 diff 與風險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89C938C-D30D-4317-A9F4-3E66889E8B4C}"/>
              </a:ext>
            </a:extLst>
          </p:cNvPr>
          <p:cNvSpPr>
            <a:spLocks noGrp="1"/>
          </p:cNvSpPr>
          <p:nvPr/>
        </p:nvSpPr>
        <p:spPr>
          <a:xfrm>
            <a:off x="6943725" y="36385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B9581B-A6CF-44FE-999D-D2F443182DA9}"/>
              </a:ext>
            </a:extLst>
          </p:cNvPr>
          <p:cNvSpPr>
            <a:spLocks noGrp="1"/>
          </p:cNvSpPr>
          <p:nvPr/>
        </p:nvSpPr>
        <p:spPr>
          <a:xfrm>
            <a:off x="7058025" y="37338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無規格大型重寫、未授權外部操作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FB819AAC-CDF2-4D4D-8D5C-6C74FCD24F64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F271E958-4B70-4F18-BD0F-1389D51784A2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162E1AE1-3210-47DC-AE0F-47D26386FD69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4D27A1F-4DD9-48F2-8B29-3D69CC8D6768}"/>
              </a:ext>
            </a:extLst>
          </p:cNvPr>
          <p:cNvSpPr>
            <a:spLocks noGrp="1"/>
          </p:cNvSpPr>
          <p:nvPr/>
        </p:nvSpPr>
        <p:spPr>
          <a:xfrm>
            <a:off x="2724150" y="44005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/ nf-core / Seqera Platform 工作流輔助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BC883AB2-229D-4C47-92DB-5903750F90EE}"/>
              </a:ext>
            </a:extLst>
          </p:cNvPr>
          <p:cNvSpPr>
            <a:spLocks noGrp="1"/>
          </p:cNvSpPr>
          <p:nvPr/>
        </p:nvSpPr>
        <p:spPr>
          <a:xfrm>
            <a:off x="6943725" y="43053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CDF516FF-E00C-4D8A-8CEF-4BD664C45204}"/>
              </a:ext>
            </a:extLst>
          </p:cNvPr>
          <p:cNvSpPr>
            <a:spLocks noGrp="1"/>
          </p:cNvSpPr>
          <p:nvPr/>
        </p:nvSpPr>
        <p:spPr>
          <a:xfrm>
            <a:off x="7058025" y="44005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一般非生物資訊程式碼或不需 workflow context 的任務</a:t>
            </a:r>
          </a:p>
        </p:txBody>
      </p:sp>
      <p:pic>
        <p:nvPicPr>
          <p:cNvPr id="35" name="Graphic 35" descr="Decision/compar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13874302-88CE-C848-8E49-656D37262093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決策原則：</a:t>
            </a:r>
            <a:r>
              <a:rPr lang="zh-TW" sz="1400" dirty="0">
                <a:solidFill>
                  <a:srgbClr val="404040"/>
                </a:solidFill>
              </a:rPr>
              <a:t>能力越強、風險越高，就越需要人類 checkpoint；Seqera AI 專精生資 workflow，其餘場景交給通用 CLI agent。</a:t>
            </a:r>
          </a:p>
        </p:txBody>
      </p:sp>
    </p:spTree>
    <p:extLst>
      <p:ext uri="{BB962C8B-B14F-4D97-AF65-F5344CB8AC3E}">
        <p14:creationId xmlns:p14="http://schemas.microsoft.com/office/powerpoint/2010/main" val="284639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yebrow">
            <a:extLst>
              <a:ext uri="{FF2B5EF4-FFF2-40B4-BE49-F238E27FC236}">
                <a16:creationId xmlns:a16="http://schemas.microsoft.com/office/drawing/2014/main" id="{DFC24F58-3E93-451D-BB6A-12916FC9FED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BASIC OPERATIONS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242143-29C6-4459-A2D7-590630C022D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 agent 不是聊天視窗，而是有工具的 repo worker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7533A47-72F7-4F09-B0CC-ABFAD173B2F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7/38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956DAEE9-6006-4DBE-9312-37CBE5123E04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25EBE914-80F2-40D7-85E2-CD456A539F4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讀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7BAF90F7-0DA4-46E6-B94B-9C4EB6A2F9EB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列檔案、搜尋關鍵字、讀 README、看 config、檢查 sample data。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680510EB-AC89-4DFD-9FF6-E9508592A808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C6B063E2-BDF5-4174-9622-C084BD44A586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改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B5E46108-0855-4839-BF78-382C019D087D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只改指定檔案，保留既有風格，避免順手重構和無關格式化。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B69C608F-6A58-4EAB-B357-D876A56F594C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ECEDD156-D44B-4A87-B7B8-89D9597A9AC6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驗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8BE41274-ACEF-4B77-806C-7971166EBC9F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跑測試、重現錯誤、比較輸出，最後用 diff 說明改了什麼。</a:t>
            </a:r>
          </a:p>
        </p:txBody>
      </p:sp>
      <p:pic>
        <p:nvPicPr>
          <p:cNvPr id="14" name="Graphic 14" descr="讀取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500" y="2184400"/>
            <a:ext cx="381000" cy="381000"/>
          </a:xfrm>
          <a:prstGeom prst="rect">
            <a:avLst/>
          </a:prstGeom>
        </p:spPr>
      </p:pic>
      <p:pic>
        <p:nvPicPr>
          <p:cNvPr id="15" name="Graphic 15" descr="改程式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61200" y="2184400"/>
            <a:ext cx="381000" cy="381000"/>
          </a:xfrm>
          <a:prstGeom prst="rect">
            <a:avLst/>
          </a:prstGeom>
        </p:spPr>
      </p:pic>
      <p:pic>
        <p:nvPicPr>
          <p:cNvPr id="16" name="Graphic 16" descr="驗證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7200" y="2184400"/>
            <a:ext cx="381000" cy="381000"/>
          </a:xfrm>
          <a:prstGeom prst="rect">
            <a:avLst/>
          </a:prstGeom>
        </p:spPr>
      </p:pic>
      <p:sp>
        <p:nvSpPr>
          <p:cNvPr id="17" name="圓角矩形 16">
            <a:extLst>
              <a:ext uri="{FF2B5EF4-FFF2-40B4-BE49-F238E27FC236}">
                <a16:creationId xmlns:a16="http://schemas.microsoft.com/office/drawing/2014/main" id="{942B5EE6-F394-B545-902A-D1F7F852B00E}"/>
              </a:ext>
            </a:extLst>
          </p:cNvPr>
          <p:cNvSpPr/>
          <p:nvPr/>
        </p:nvSpPr>
        <p:spPr>
          <a:xfrm>
            <a:off x="876300" y="5080000"/>
            <a:ext cx="10198100" cy="762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Tight Loop：</a:t>
            </a:r>
            <a:r>
              <a:rPr lang="zh-TW" sz="1400" dirty="0">
                <a:solidFill>
                  <a:srgbClr val="404040"/>
                </a:solidFill>
              </a:rPr>
              <a:t>讀 → 改 → 驗 三步驟反覆疊代，每次只做小範圍修改並立刻驗證，避免一次改太多導致難以追蹤。</a:t>
            </a:r>
          </a:p>
        </p:txBody>
      </p:sp>
    </p:spTree>
    <p:extLst>
      <p:ext uri="{BB962C8B-B14F-4D97-AF65-F5344CB8AC3E}">
        <p14:creationId xmlns:p14="http://schemas.microsoft.com/office/powerpoint/2010/main" val="3338859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DBF280FB-3316-4C36-806A-E801FE52A2C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PACKET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4F58DC5-D6D8-492A-A778-B9D44D7EBB6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 coding agent 的任務要像 issue，不要像願望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4A9612D-02D2-46AA-B525-0A15CC68215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8/38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D7FE4ACE-8850-499D-854C-B1182FC14ABF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Bad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7C545A35-1C43-4706-9152-5D79A6C02B9F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D02B5E96-B7E7-4162-AAD7-706CC0C1F540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6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幫我修一下這個 pipeline，順便整理一下程式。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EAA1B77-1FC0-4555-A133-0EDE6826D398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3E207AF-DE3F-425B-8BEA-E7A0A99BF48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問題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3FF00CD8-3935-4B92-9CEC-D828D9CA8F50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 repo context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沒有輸入輸出規格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沒有改檔邊界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沒有驗證命令</a:t>
            </a:r>
          </a:p>
        </p:txBody>
      </p:sp>
      <p:pic>
        <p:nvPicPr>
          <p:cNvPr id="11" name="Graphic 11" descr="Warn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6FA1088F-4F8B-754B-A958-E2E691B3D696}"/>
              </a:ext>
            </a:extLst>
          </p:cNvPr>
          <p:cNvSpPr/>
          <p:nvPr/>
        </p:nvSpPr>
        <p:spPr>
          <a:xfrm>
            <a:off x="1651000" y="5334000"/>
            <a:ext cx="9779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常見地雷：</a:t>
            </a:r>
            <a:r>
              <a:rPr lang="zh-TW" sz="1400" dirty="0">
                <a:solidFill>
                  <a:srgbClr val="404040"/>
                </a:solidFill>
              </a:rPr>
              <a:t>模糊指令會讓 agent 自行猜測範圍，往往牽動不相關檔案，且沒有驗證步驟就直接 commit。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F5CD1D9-0B2B-DE4E-8C27-CD084E25271C}"/>
              </a:ext>
            </a:extLst>
          </p:cNvPr>
          <p:cNvSpPr txBox="1"/>
          <p:nvPr/>
        </p:nvSpPr>
        <p:spPr>
          <a:xfrm>
            <a:off x="1054100" y="3175000"/>
            <a:ext cx="4838700" cy="7848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沒指定要改哪些檔案</a:t>
            </a:r>
          </a:p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沒有驗收 / 測試標準</a:t>
            </a:r>
          </a:p>
          <a:p>
            <a:pPr>
              <a:buNone/>
            </a:pPr>
            <a:r>
              <a:rPr lang="zh-TW" sz="1500" dirty="0">
                <a:solidFill>
                  <a:srgbClr val="F2A79C"/>
                </a:solidFill>
                <a:latin typeface="Menlo"/>
                <a:ea typeface="Menlo"/>
                <a:cs typeface="Menlo"/>
              </a:rPr>
              <a:t>⚠ 沒說範圍多大、能不能碰設定檔</a:t>
            </a:r>
          </a:p>
        </p:txBody>
      </p:sp>
    </p:spTree>
    <p:extLst>
      <p:ext uri="{BB962C8B-B14F-4D97-AF65-F5344CB8AC3E}">
        <p14:creationId xmlns:p14="http://schemas.microsoft.com/office/powerpoint/2010/main" val="3261660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5103C0A2-E858-4785-B3FC-F4FA5F7BB34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PROMPT PACKET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ECE68E9-30A9-45C9-BD52-6B980D5D53C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task packet 會把自由度放在該放的地方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7B12C99-944D-4DB2-BAB3-21F1C5A68FC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9/38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22E1709D-DB1D-4766-B657-41E6579EF01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Better prompt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31FC656-E257-47CC-83A2-AD7C7FD2311D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643AB082-DF1F-42B1-B208-C3E5A96AB8F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目標：修正 scripts/validate_manifest.py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請先讀：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README.md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sample_manifest.csv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只允許修改：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tests/test_validate_manifest.py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驗證：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python3 scripts/validate_manifest.py sample_manifest.csv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pytest -q</a:t>
            </a:r>
          </a:p>
          <a:p>
            <a:endParaRPr sz="90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回報：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修改摘要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測試結果</a:t>
            </a:r>
          </a:p>
          <a:p>
            <a:pPr algn="l">
              <a:lnSpc>
                <a:spcPct val="106000"/>
              </a:lnSpc>
              <a:buNone/>
              <a:defRPr sz="90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仍需人工確認的風險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D9E695AA-9519-45C3-9A3D-A8264D64A9B4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273935C2-6841-4C98-8FA2-F6F54A628CD4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為什麼有效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B8FA1265-B4BC-41B6-9E1A-36B9848255DB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明確告訴 agent 先讀什麼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write surface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測試命令可重跑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要求風險回報</a:t>
            </a:r>
          </a:p>
        </p:txBody>
      </p:sp>
      <p:pic>
        <p:nvPicPr>
          <p:cNvPr id="11" name="Graphic 11" descr="Good prompt badg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33000" y="5270500"/>
            <a:ext cx="635000" cy="635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158F4004-0240-1C44-9EF7-A06FC10E8E51}"/>
              </a:ext>
            </a:extLst>
          </p:cNvPr>
          <p:cNvSpPr/>
          <p:nvPr/>
        </p:nvSpPr>
        <p:spPr>
          <a:xfrm>
            <a:off x="1651000" y="5334000"/>
            <a:ext cx="81915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438D4A"/>
                </a:solidFill>
              </a:rPr>
              <a:t>關鍵差異：</a:t>
            </a:r>
            <a:r>
              <a:rPr lang="zh-TW" sz="1400" dirty="0">
                <a:solidFill>
                  <a:srgbClr val="404040"/>
                </a:solidFill>
              </a:rPr>
              <a:t>明確的檔案範圍、驗證方式與回報格式，讓 agent 的行為變得可預測、可檢查。</a:t>
            </a:r>
          </a:p>
        </p:txBody>
      </p:sp>
    </p:spTree>
    <p:extLst>
      <p:ext uri="{BB962C8B-B14F-4D97-AF65-F5344CB8AC3E}">
        <p14:creationId xmlns:p14="http://schemas.microsoft.com/office/powerpoint/2010/main" val="3976872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C00F0876-A367-4C07-A0EC-99F99BB736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 BEFORE WRITE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2E7F7F-0A88-4FDC-9DCA-D90FC716525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agent 先建立 repo map，再開始改檔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7528F88-F69F-45E6-B76D-D78D511DDE4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10/38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905A6267-CD5B-496D-B569-09E239831825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請 agent 先列出它讀過的檔案與理解到的資料流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要求它標出 entry point、主要輸入、輸出與測試位置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它若沒有讀檔就開始建議，先停下來補 context</a:t>
            </a:r>
          </a:p>
          <a:p>
            <a:pPr marL="228600" indent="-228600">
              <a:lnSpc>
                <a:spcPct val="108000"/>
              </a:lnSpc>
              <a:spcAft>
                <a:spcPts val="600"/>
              </a:spcAft>
              <a:buClr>
                <a:srgbClr val="15608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對 biomedical pipeline，要額外標出資料版本與 sample manifest 欄位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4171DB6F-7423-4EF4-AE64-1D7E44749B92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BA5EC779-221F-4C35-BD79-C6D34C5CACEE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檢查句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65C58829-0640-4234-AAF6-4B7FB83423E8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你讀了哪些檔案？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哪個 command 可重現？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你會改哪幾個檔？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不會碰哪些檔？</a:t>
            </a:r>
          </a:p>
        </p:txBody>
      </p:sp>
      <p:pic>
        <p:nvPicPr>
          <p:cNvPr id="9" name="Graphic 9" descr="Read before writ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3975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AD5CD5BB-A2FA-DA46-BC42-08333FFB1D85}"/>
              </a:ext>
            </a:extLst>
          </p:cNvPr>
          <p:cNvSpPr/>
          <p:nvPr/>
        </p:nvSpPr>
        <p:spPr>
          <a:xfrm>
            <a:off x="1651000" y="5334000"/>
            <a:ext cx="95250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為什麼重要：</a:t>
            </a:r>
            <a:r>
              <a:rPr lang="zh-TW" sz="1400" dirty="0">
                <a:solidFill>
                  <a:srgbClr val="404040"/>
                </a:solidFill>
              </a:rPr>
              <a:t>先讀後寫能避免 agent 對著錯誤的資料流亂猜，也讓你事後能追溯它「看過什麼」。</a:t>
            </a:r>
          </a:p>
        </p:txBody>
      </p:sp>
    </p:spTree>
    <p:extLst>
      <p:ext uri="{BB962C8B-B14F-4D97-AF65-F5344CB8AC3E}">
        <p14:creationId xmlns:p14="http://schemas.microsoft.com/office/powerpoint/2010/main" val="2458514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FFEE2C6D-3AB4-444C-9991-3E3639BBBA6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CLI COMMANDS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8183170-1368-4F4C-92D2-CB831A7B320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最常用的 repo inspection 命令要讓學生看得懂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8F88FD-7024-471F-9FB1-FC459C8FA74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11/38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E034CB9C-762F-4B3B-BE5F-2B238129A0C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Inspection checklist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096CC6F-460D-4045-8A9C-EBD84B30BD4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E53EBE65-E963-41EC-8469-1BA9A7A2A8F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pwd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rg --files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rg -n "TODO|FIXME|manifest|sample_id"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sed -n '1,220p' README.md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sed -n '1,220p' scripts/validate_manifest.py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FBC7ACA-DF38-41C4-AC7E-C0B15EE5CF96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896BFFEE-8E92-416E-846D-64D68AFF6102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教學重點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09F5F65-1050-4D6D-ABE9-615FBB40FECD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不用神秘化 terminal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每個命令都有目的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輸出要回到任務規格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先看 status 避免覆蓋別人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11800"/>
            <a:ext cx="508000" cy="5080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FE0D94B9-A59C-E84D-B732-92E5C181AB50}"/>
              </a:ext>
            </a:extLst>
          </p:cNvPr>
          <p:cNvSpPr/>
          <p:nvPr/>
        </p:nvSpPr>
        <p:spPr>
          <a:xfrm>
            <a:off x="1651000" y="5511800"/>
            <a:ext cx="9525000" cy="635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實用技巧：</a:t>
            </a:r>
            <a:r>
              <a:rPr lang="zh-TW" sz="1400" dirty="0">
                <a:solidFill>
                  <a:srgbClr val="404040"/>
                </a:solidFill>
              </a:rPr>
              <a:t>這些指令幾乎不改動任何檔案，是讓 agent 安全建立 context 的第一步。</a:t>
            </a:r>
          </a:p>
        </p:txBody>
      </p:sp>
    </p:spTree>
    <p:extLst>
      <p:ext uri="{BB962C8B-B14F-4D97-AF65-F5344CB8AC3E}">
        <p14:creationId xmlns:p14="http://schemas.microsoft.com/office/powerpoint/2010/main" val="124843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2CBA9C30-6C0F-4FFD-8199-5C126EF57A6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EDIT SCOPE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361EDD6-BDAA-4074-A227-58276AB52E4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agent 改程式時，要明確定義可碰與不可碰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9209057-41BF-42F7-A6D4-7C51F9546EA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12/38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31806D0-436F-49F8-A6CC-B782F1F1FFEE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BCD8729-BD60-46C2-958B-58CD4AC1D1B4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設定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E688F68E-8B4D-4B44-84E6-AF49F7ABFFB7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47625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84B1BCCF-3ADA-4A91-83F4-AC0D82917555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453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好寫法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C636B261-3D4A-4261-B04A-16EAA6ACD606}"/>
              </a:ext>
            </a:extLst>
          </p:cNvPr>
          <p:cNvSpPr>
            <a:spLocks noGrp="1"/>
          </p:cNvSpPr>
          <p:nvPr/>
        </p:nvSpPr>
        <p:spPr>
          <a:xfrm>
            <a:off x="7372350" y="1885950"/>
            <a:ext cx="3810000" cy="419100"/>
          </a:xfrm>
          <a:prstGeom prst="roundRect">
            <a:avLst>
              <a:gd name="adj" fmla="val 9091"/>
            </a:avLst>
          </a:prstGeom>
          <a:solidFill>
            <a:srgbClr val="0E8F88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C606837-254B-47EC-9388-54F1ED3D7E08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3581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理由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AE5E2B16-DE90-4675-8AA2-C7CD84DF805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36D5C2F-20D2-4D92-AF72-3A9254513608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Allowed files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79B4ABF8-B394-4BAB-B80C-E64E65E868BE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90FDF26C-A38B-422C-8488-528E102AF7FE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只允許改 scripts/validate_manifest.py 與 tests/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1B32994F-1A92-46BC-9274-DE2C39533A37}"/>
              </a:ext>
            </a:extLst>
          </p:cNvPr>
          <p:cNvSpPr>
            <a:spLocks noGrp="1"/>
          </p:cNvSpPr>
          <p:nvPr/>
        </p:nvSpPr>
        <p:spPr>
          <a:xfrm>
            <a:off x="7372350" y="23050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9B353621-408C-417E-ACB9-C03D4E6255CF}"/>
              </a:ext>
            </a:extLst>
          </p:cNvPr>
          <p:cNvSpPr>
            <a:spLocks noGrp="1"/>
          </p:cNvSpPr>
          <p:nvPr/>
        </p:nvSpPr>
        <p:spPr>
          <a:xfrm>
            <a:off x="7486650" y="24003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縮小 blast radius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25799AB5-2F02-40D2-BCF9-C643104F9007}"/>
              </a:ext>
            </a:extLst>
          </p:cNvPr>
          <p:cNvSpPr>
            <a:spLocks noGrp="1"/>
          </p:cNvSpPr>
          <p:nvPr/>
        </p:nvSpPr>
        <p:spPr>
          <a:xfrm>
            <a:off x="800100" y="29337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F64F01A7-0C41-4551-A848-F1B5EB88EB05}"/>
              </a:ext>
            </a:extLst>
          </p:cNvPr>
          <p:cNvSpPr>
            <a:spLocks noGrp="1"/>
          </p:cNvSpPr>
          <p:nvPr/>
        </p:nvSpPr>
        <p:spPr>
          <a:xfrm>
            <a:off x="914400" y="30289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Out of scope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075DD6B1-A3B8-469E-BEC8-023F10C7FF1D}"/>
              </a:ext>
            </a:extLst>
          </p:cNvPr>
          <p:cNvSpPr>
            <a:spLocks noGrp="1"/>
          </p:cNvSpPr>
          <p:nvPr/>
        </p:nvSpPr>
        <p:spPr>
          <a:xfrm>
            <a:off x="2609850" y="29337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0525F69D-BF94-49B5-A8CB-75568FA379B3}"/>
              </a:ext>
            </a:extLst>
          </p:cNvPr>
          <p:cNvSpPr>
            <a:spLocks noGrp="1"/>
          </p:cNvSpPr>
          <p:nvPr/>
        </p:nvSpPr>
        <p:spPr>
          <a:xfrm>
            <a:off x="2724150" y="30289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不要改資料檔、不要重命名欄位、不要大重構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84743C1-3028-4AD3-8CE7-391EA558A791}"/>
              </a:ext>
            </a:extLst>
          </p:cNvPr>
          <p:cNvSpPr>
            <a:spLocks noGrp="1"/>
          </p:cNvSpPr>
          <p:nvPr/>
        </p:nvSpPr>
        <p:spPr>
          <a:xfrm>
            <a:off x="7372350" y="29337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7CF17BC-F852-4844-8A75-349D8379A0F3}"/>
              </a:ext>
            </a:extLst>
          </p:cNvPr>
          <p:cNvSpPr>
            <a:spLocks noGrp="1"/>
          </p:cNvSpPr>
          <p:nvPr/>
        </p:nvSpPr>
        <p:spPr>
          <a:xfrm>
            <a:off x="7486650" y="30289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避免破壞既有流程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F8772260-B71C-4A5D-B8E0-E81C791AB07E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5C5328E8-DB6C-4B8D-A3F5-1DF3CD6C6412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Style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A7830D0C-9634-4F3D-AC79-0C1A44DF74F2}"/>
              </a:ext>
            </a:extLst>
          </p:cNvPr>
          <p:cNvSpPr>
            <a:spLocks noGrp="1"/>
          </p:cNvSpPr>
          <p:nvPr/>
        </p:nvSpPr>
        <p:spPr>
          <a:xfrm>
            <a:off x="2609850" y="356235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214BF67-7D30-40D2-9788-ED465577E863}"/>
              </a:ext>
            </a:extLst>
          </p:cNvPr>
          <p:cNvSpPr>
            <a:spLocks noGrp="1"/>
          </p:cNvSpPr>
          <p:nvPr/>
        </p:nvSpPr>
        <p:spPr>
          <a:xfrm>
            <a:off x="2724150" y="365760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沿用現有 argparse、logging、pytest 風格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49942D79-EBE8-4188-BDFB-5592ED2BCC2F}"/>
              </a:ext>
            </a:extLst>
          </p:cNvPr>
          <p:cNvSpPr>
            <a:spLocks noGrp="1"/>
          </p:cNvSpPr>
          <p:nvPr/>
        </p:nvSpPr>
        <p:spPr>
          <a:xfrm>
            <a:off x="7372350" y="356235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784EBF7-0AC7-4540-ACF4-E6082E157049}"/>
              </a:ext>
            </a:extLst>
          </p:cNvPr>
          <p:cNvSpPr>
            <a:spLocks noGrp="1"/>
          </p:cNvSpPr>
          <p:nvPr/>
        </p:nvSpPr>
        <p:spPr>
          <a:xfrm>
            <a:off x="7486650" y="365760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維持 repo 一致性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5E3058B4-7F8C-4C0C-8588-61D8057DEAC5}"/>
              </a:ext>
            </a:extLst>
          </p:cNvPr>
          <p:cNvSpPr>
            <a:spLocks noGrp="1"/>
          </p:cNvSpPr>
          <p:nvPr/>
        </p:nvSpPr>
        <p:spPr>
          <a:xfrm>
            <a:off x="800100" y="4191000"/>
            <a:ext cx="180975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5BA58DDB-C15E-40D3-B454-A94FB727522B}"/>
              </a:ext>
            </a:extLst>
          </p:cNvPr>
          <p:cNvSpPr>
            <a:spLocks noGrp="1"/>
          </p:cNvSpPr>
          <p:nvPr/>
        </p:nvSpPr>
        <p:spPr>
          <a:xfrm>
            <a:off x="914400" y="4286250"/>
            <a:ext cx="158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Exit rule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FC6C806B-762D-4679-8738-0EA058AB8455}"/>
              </a:ext>
            </a:extLst>
          </p:cNvPr>
          <p:cNvSpPr>
            <a:spLocks noGrp="1"/>
          </p:cNvSpPr>
          <p:nvPr/>
        </p:nvSpPr>
        <p:spPr>
          <a:xfrm>
            <a:off x="2609850" y="4191000"/>
            <a:ext cx="47625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090575C6-6DF8-4870-91C8-522C97AA7ABF}"/>
              </a:ext>
            </a:extLst>
          </p:cNvPr>
          <p:cNvSpPr>
            <a:spLocks noGrp="1"/>
          </p:cNvSpPr>
          <p:nvPr/>
        </p:nvSpPr>
        <p:spPr>
          <a:xfrm>
            <a:off x="2724150" y="4286250"/>
            <a:ext cx="4533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不確定時先回報，不要猜測臨床或資料語意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DA94F158-BD74-41BC-8F50-3B43E9012FF9}"/>
              </a:ext>
            </a:extLst>
          </p:cNvPr>
          <p:cNvSpPr>
            <a:spLocks noGrp="1"/>
          </p:cNvSpPr>
          <p:nvPr/>
        </p:nvSpPr>
        <p:spPr>
          <a:xfrm>
            <a:off x="7372350" y="4191000"/>
            <a:ext cx="3810000" cy="628650"/>
          </a:xfrm>
          <a:prstGeom prst="roundRect">
            <a:avLst>
              <a:gd name="adj" fmla="val 6061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A2C516B0-6FF1-4CBD-9988-ECAFFE80E914}"/>
              </a:ext>
            </a:extLst>
          </p:cNvPr>
          <p:cNvSpPr>
            <a:spLocks noGrp="1"/>
          </p:cNvSpPr>
          <p:nvPr/>
        </p:nvSpPr>
        <p:spPr>
          <a:xfrm>
            <a:off x="7486650" y="4286250"/>
            <a:ext cx="3581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降低 biomedical 風險</a:t>
            </a:r>
          </a:p>
        </p:txBody>
      </p:sp>
      <p:pic>
        <p:nvPicPr>
          <p:cNvPr id="35" name="Graphic 35" descr="Ruler icon for edit scop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48351626-90C8-C241-B78E-635B1BCCB39B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邊界原則：</a:t>
            </a:r>
            <a:r>
              <a:rPr lang="zh-TW" sz="1400" dirty="0">
                <a:solidFill>
                  <a:srgbClr val="404040"/>
                </a:solidFill>
              </a:rPr>
              <a:t>在 prompt 一開始就寫清楚 allowed files，agent 才不會「順手」動到不該碰的模組或設定檔。</a:t>
            </a:r>
          </a:p>
        </p:txBody>
      </p:sp>
    </p:spTree>
    <p:extLst>
      <p:ext uri="{BB962C8B-B14F-4D97-AF65-F5344CB8AC3E}">
        <p14:creationId xmlns:p14="http://schemas.microsoft.com/office/powerpoint/2010/main" val="40686249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0BB980F1-1CA1-47B7-B3F4-1F569656AAE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44E4F77-623B-4841-B795-019841DDD8E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測試命令不是儀式，是 agent 完成任務的證據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D949F1A-574E-49F3-AF6C-8178EEC49F8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13/38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27B18FC-ECE4-412E-9164-702AE1B57BC1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Validation commands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97050343-1FCD-4994-B098-A8892CCF4DFC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B9CF81FA-67BD-4009-9BA1-37B4369156F7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unit tests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pytest -q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sample data smoke test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python3 scripts/validate_manifest.py sample_manifest.csv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formatting or lint, if project uses them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ruff check scripts tests</a:t>
            </a:r>
          </a:p>
          <a:p>
            <a:endParaRPr sz="10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pipeline dry run, if applicable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nextflow run nextflow/main.nf -profile test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ED3BC850-8C92-4E69-B887-3C6FB916C47A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5A55ECF3-5BDF-4F5C-B83F-99319C276CFE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回報格式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D02C803B-5052-4B5F-92A6-2CBBEDD6C2AA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命令原文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通過或失敗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關鍵錯誤訊息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改完後是否重跑</a:t>
            </a:r>
          </a:p>
        </p:txBody>
      </p:sp>
      <p:pic>
        <p:nvPicPr>
          <p:cNvPr id="11" name="Graphic 11" descr="Validation checklis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0D7992-98B9-3B45-B8E0-C6423FDFF981}"/>
              </a:ext>
            </a:extLst>
          </p:cNvPr>
          <p:cNvSpPr/>
          <p:nvPr/>
        </p:nvSpPr>
        <p:spPr>
          <a:xfrm>
            <a:off x="1498600" y="5435600"/>
            <a:ext cx="9690100" cy="635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驗證優先：</a:t>
            </a:r>
            <a:r>
              <a:rPr lang="zh-TW" sz="1400" dirty="0">
                <a:solidFill>
                  <a:srgbClr val="404040"/>
                </a:solidFill>
              </a:rPr>
              <a:t>沒有跑過測試的修改，就當作沒改過——report 要附上實際指令輸出，而不是 agent 自己說「應該可以了」。</a:t>
            </a:r>
          </a:p>
        </p:txBody>
      </p:sp>
    </p:spTree>
    <p:extLst>
      <p:ext uri="{BB962C8B-B14F-4D97-AF65-F5344CB8AC3E}">
        <p14:creationId xmlns:p14="http://schemas.microsoft.com/office/powerpoint/2010/main" val="40339651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FE495BBC-4848-43C7-B05E-EDC15000846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ERROR EXPLANATION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6194B64-43D5-4F7E-A24A-C43A0D31BDE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叫 agent 解釋錯誤時，要要求它把推論拆開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5961767-0F1B-4115-9EE9-69DC9ECA217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14/38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FCEDB067-FADA-4273-9CEC-1E281C8C4DB2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先貼出最小錯誤訊息與重現 command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要求它指出錯在哪個檔案、哪個函式、哪個資料欄位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要求列出假設，並用讀檔或測試結果支持</a:t>
            </a:r>
          </a:p>
          <a:p>
            <a:pPr marL="228600" indent="-22860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修正後必須重跑同一個 command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6E0A2F7E-89D1-4A2C-93CF-263ED7446C17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38B24590-2528-4A17-9376-1E7EFB58D50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錯誤報告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0C53F809-5D91-4935-B6C9-4A5D43A865B6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Symptom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Root cause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Patch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Verification</a:t>
            </a:r>
          </a:p>
        </p:txBody>
      </p:sp>
      <p:pic>
        <p:nvPicPr>
          <p:cNvPr id="9" name="Graphic 9" descr="Bug icon for error explana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79FECD9F-0EE6-4540-9F2A-E6A41B2CE7DB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為什麼要這樣做：</a:t>
            </a:r>
            <a:r>
              <a:rPr lang="zh-TW" sz="1400" dirty="0">
                <a:solidFill>
                  <a:srgbClr val="404040"/>
                </a:solidFill>
              </a:rPr>
              <a:t>讓 agent 用證據說話，而不是用猜的；每次解釋都要能被重現與驗證。</a:t>
            </a:r>
          </a:p>
        </p:txBody>
      </p:sp>
    </p:spTree>
    <p:extLst>
      <p:ext uri="{BB962C8B-B14F-4D97-AF65-F5344CB8AC3E}">
        <p14:creationId xmlns:p14="http://schemas.microsoft.com/office/powerpoint/2010/main" val="2486069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8D1B6457-FEB5-4C46-B065-EE44C37ECFB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COMPARISON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340170B-C92F-4C10-8B8E-9E33F23176E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Codex / Claude Code / Gemini CLI / Copilot CLI：先看工作情境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D8F6E73-5FFB-45E5-8D26-864F3443902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15/38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F1E21C97-891A-4FE2-A517-0D25064D44C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3573352C-5B70-411B-A82E-647085471541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工具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1BC2240-996E-46D3-97DC-19D406AE1FEA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461962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CDBCC921-B49F-4D13-8EE0-7623C0D03793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4391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強項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136F50C2-E6CD-4411-8610-6F60A7D0626C}"/>
              </a:ext>
            </a:extLst>
          </p:cNvPr>
          <p:cNvSpPr>
            <a:spLocks noGrp="1"/>
          </p:cNvSpPr>
          <p:nvPr/>
        </p:nvSpPr>
        <p:spPr>
          <a:xfrm>
            <a:off x="6848475" y="1885950"/>
            <a:ext cx="4333875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4D70684-BAE4-468C-B649-98BF86E2191A}"/>
              </a:ext>
            </a:extLst>
          </p:cNvPr>
          <p:cNvSpPr>
            <a:spLocks noGrp="1"/>
          </p:cNvSpPr>
          <p:nvPr/>
        </p:nvSpPr>
        <p:spPr>
          <a:xfrm>
            <a:off x="6962775" y="2000250"/>
            <a:ext cx="4105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適合教學任務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D64016EC-3ADC-4239-9A8E-48CB545F86A0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0D380C6B-9E25-4D8E-8351-42364C159CB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Codex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89067601-48C4-48DC-BF26-3D860B3D20EA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560BFA57-BB15-4184-A405-FB446877BFC4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repo-grounded CLI workflow、diff、測試、commit 導向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41EDE1D8-ADB7-47D6-8707-E02AD2293865}"/>
              </a:ext>
            </a:extLst>
          </p:cNvPr>
          <p:cNvSpPr>
            <a:spLocks noGrp="1"/>
          </p:cNvSpPr>
          <p:nvPr/>
        </p:nvSpPr>
        <p:spPr>
          <a:xfrm>
            <a:off x="6848475" y="23050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E457FBBB-349C-4CB4-B7AF-CD3CE1CF8479}"/>
              </a:ext>
            </a:extLst>
          </p:cNvPr>
          <p:cNvSpPr>
            <a:spLocks noGrp="1"/>
          </p:cNvSpPr>
          <p:nvPr/>
        </p:nvSpPr>
        <p:spPr>
          <a:xfrm>
            <a:off x="6962775" y="24003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小型資料處理、bugfix、課堂 lab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E890C651-3ADF-4E85-9802-D6138038EE48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96DA3C57-A3C3-4F1E-A923-22C0E4299965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Claude Code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D7174F1D-8209-48D8-BA56-B8CED275B8CE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6BAC948-C82C-4E04-B576-68673139AEB9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 context 程式理解、多檔重構討論、plan-first workflow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5F9A605A-35A9-4628-9EDC-667B53E9D565}"/>
              </a:ext>
            </a:extLst>
          </p:cNvPr>
          <p:cNvSpPr>
            <a:spLocks noGrp="1"/>
          </p:cNvSpPr>
          <p:nvPr/>
        </p:nvSpPr>
        <p:spPr>
          <a:xfrm>
            <a:off x="6848475" y="29718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C67843D9-3DE6-4E53-937B-3F64D7A38FFA}"/>
              </a:ext>
            </a:extLst>
          </p:cNvPr>
          <p:cNvSpPr>
            <a:spLocks noGrp="1"/>
          </p:cNvSpPr>
          <p:nvPr/>
        </p:nvSpPr>
        <p:spPr>
          <a:xfrm>
            <a:off x="6962775" y="30670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讀大型 repo、設計改動策略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B271AAF9-9933-4861-BC6B-AEDF5FFEA6AC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C27FAD0-DE3F-4980-B462-921446E3B6F0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Gemini CLI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9A2FABB9-EFB7-4154-AA84-63480626E837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2E21106-89BA-41E1-B876-D275A7517E3A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生態、長 context、多模態或雲端整合場景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3F464540-D804-4202-913E-2149E534BC3E}"/>
              </a:ext>
            </a:extLst>
          </p:cNvPr>
          <p:cNvSpPr>
            <a:spLocks noGrp="1"/>
          </p:cNvSpPr>
          <p:nvPr/>
        </p:nvSpPr>
        <p:spPr>
          <a:xfrm>
            <a:off x="6848475" y="363855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4562A024-1511-4BEE-8B7A-E8FA574260FC}"/>
              </a:ext>
            </a:extLst>
          </p:cNvPr>
          <p:cNvSpPr>
            <a:spLocks noGrp="1"/>
          </p:cNvSpPr>
          <p:nvPr/>
        </p:nvSpPr>
        <p:spPr>
          <a:xfrm>
            <a:off x="6962775" y="373380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讀大量文件、搭配 Google Cloud workflow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AA616C7A-DC11-4052-B867-8C9AEDB76D17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853375CD-AF5D-48C0-B4E5-7947C212B4B7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Copilot CLI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9F365A62-BF2B-43B2-8CBF-FDC9DD817326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4619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7EB064B4-78F0-48AC-85AE-A494439D4418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4391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terminal 內命令輔助、GitHub/IDE 生態銜接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3F198BEB-89C8-4AAA-9D43-B087A7C503D4}"/>
              </a:ext>
            </a:extLst>
          </p:cNvPr>
          <p:cNvSpPr>
            <a:spLocks noGrp="1"/>
          </p:cNvSpPr>
          <p:nvPr/>
        </p:nvSpPr>
        <p:spPr>
          <a:xfrm>
            <a:off x="6848475" y="4305300"/>
            <a:ext cx="4333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66B1C63B-276A-4B57-B254-37605BB040E9}"/>
              </a:ext>
            </a:extLst>
          </p:cNvPr>
          <p:cNvSpPr>
            <a:spLocks noGrp="1"/>
          </p:cNvSpPr>
          <p:nvPr/>
        </p:nvSpPr>
        <p:spPr>
          <a:xfrm>
            <a:off x="6962775" y="4400550"/>
            <a:ext cx="4105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解釋 shell/git 命令、日常 developer help</a:t>
            </a:r>
          </a:p>
        </p:txBody>
      </p:sp>
      <p:pic>
        <p:nvPicPr>
          <p:cNvPr id="35" name="Graphic 35" descr="Table comparis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2705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2B501BD4-FAB2-0B43-B3AA-29ADA5E6C845}"/>
              </a:ext>
            </a:extLst>
          </p:cNvPr>
          <p:cNvSpPr/>
          <p:nvPr/>
        </p:nvSpPr>
        <p:spPr>
          <a:xfrm>
            <a:off x="1498600" y="5207000"/>
            <a:ext cx="9690100" cy="6985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怎麼選：</a:t>
            </a:r>
            <a:r>
              <a:rPr lang="zh-TW" sz="1400" dirty="0">
                <a:solidFill>
                  <a:srgbClr val="404040"/>
                </a:solidFill>
              </a:rPr>
              <a:t>四款工具能力相近，差異在生態系整合與授權；先確認團隊現有訂閱與資安規範，再統一團隊用同一款工具。</a:t>
            </a:r>
          </a:p>
        </p:txBody>
      </p:sp>
    </p:spTree>
    <p:extLst>
      <p:ext uri="{BB962C8B-B14F-4D97-AF65-F5344CB8AC3E}">
        <p14:creationId xmlns:p14="http://schemas.microsoft.com/office/powerpoint/2010/main" val="3722845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eyebrow">
            <a:extLst>
              <a:ext uri="{FF2B5EF4-FFF2-40B4-BE49-F238E27FC236}">
                <a16:creationId xmlns:a16="http://schemas.microsoft.com/office/drawing/2014/main" id="{1BA8A6F7-17FF-4741-8D4B-56F707348E2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POSITIONING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130F961-7722-467C-9E9B-6F3253C18B7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不只是另一個 coding agent，而是 bioinformatics workflow agent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28B4553-C36D-4928-8DEB-0B77149A325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16/38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B0D0A2CE-D855-45DC-993E-C1DB39E4E2CB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619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1F5A7CFC-9AC4-493B-AE80-7DFBAACD80CC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面向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5FD350A-1B0E-4F40-9648-7DC403AABBE6}"/>
              </a:ext>
            </a:extLst>
          </p:cNvPr>
          <p:cNvSpPr>
            <a:spLocks noGrp="1"/>
          </p:cNvSpPr>
          <p:nvPr/>
        </p:nvSpPr>
        <p:spPr>
          <a:xfrm>
            <a:off x="2419350" y="1885950"/>
            <a:ext cx="42862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DADE0276-C666-4391-B93C-2C7843B3C550}"/>
              </a:ext>
            </a:extLst>
          </p:cNvPr>
          <p:cNvSpPr>
            <a:spLocks noGrp="1"/>
          </p:cNvSpPr>
          <p:nvPr/>
        </p:nvSpPr>
        <p:spPr>
          <a:xfrm>
            <a:off x="2533650" y="2000250"/>
            <a:ext cx="4057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一般 CLI coding agent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07AF77E2-EA36-4018-BBD2-4970B81F852F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476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32E0ABCD-F541-4CF9-8C35-C5FF015837E7}"/>
              </a:ext>
            </a:extLst>
          </p:cNvPr>
          <p:cNvSpPr>
            <a:spLocks noGrp="1"/>
          </p:cNvSpPr>
          <p:nvPr/>
        </p:nvSpPr>
        <p:spPr>
          <a:xfrm>
            <a:off x="6819900" y="2000250"/>
            <a:ext cx="424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Seqera AI / Co-Scientist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4A450F2D-80DF-4991-90AD-3CE489944B2C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D33B6829-75FB-442D-A3BA-BF93B23F3EC0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主要 context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F3BB9DC9-4C04-4962-B27A-29A735B0BC12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CB7C0D2B-F20C-4846-894B-653FE122E242}"/>
              </a:ext>
            </a:extLst>
          </p:cNvPr>
          <p:cNvSpPr>
            <a:spLocks noGrp="1"/>
          </p:cNvSpPr>
          <p:nvPr/>
        </p:nvSpPr>
        <p:spPr>
          <a:xfrm>
            <a:off x="2533650" y="2400300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repo、測試、程式碼、shell 輸出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2CCB118E-1BA3-4814-9B7B-11DCA32797EA}"/>
              </a:ext>
            </a:extLst>
          </p:cNvPr>
          <p:cNvSpPr>
            <a:spLocks noGrp="1"/>
          </p:cNvSpPr>
          <p:nvPr/>
        </p:nvSpPr>
        <p:spPr>
          <a:xfrm>
            <a:off x="6705600" y="2305050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DEA81FA3-0732-4475-8EC8-9187A9633313}"/>
              </a:ext>
            </a:extLst>
          </p:cNvPr>
          <p:cNvSpPr>
            <a:spLocks noGrp="1"/>
          </p:cNvSpPr>
          <p:nvPr/>
        </p:nvSpPr>
        <p:spPr>
          <a:xfrm>
            <a:off x="6819900" y="2400300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Nextflow、nf-core、Seqera Platform、runs、datasets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F8A63154-BD8E-435A-94F5-627DA156C347}"/>
              </a:ext>
            </a:extLst>
          </p:cNvPr>
          <p:cNvSpPr>
            <a:spLocks noGrp="1"/>
          </p:cNvSpPr>
          <p:nvPr/>
        </p:nvSpPr>
        <p:spPr>
          <a:xfrm>
            <a:off x="800100" y="2962275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0877BAB6-61FE-456B-965F-FF093C2DEA61}"/>
              </a:ext>
            </a:extLst>
          </p:cNvPr>
          <p:cNvSpPr>
            <a:spLocks noGrp="1"/>
          </p:cNvSpPr>
          <p:nvPr/>
        </p:nvSpPr>
        <p:spPr>
          <a:xfrm>
            <a:off x="914400" y="3057525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最常見任務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B8237FBB-C49B-468B-A9C0-4CC792DE27A0}"/>
              </a:ext>
            </a:extLst>
          </p:cNvPr>
          <p:cNvSpPr>
            <a:spLocks noGrp="1"/>
          </p:cNvSpPr>
          <p:nvPr/>
        </p:nvSpPr>
        <p:spPr>
          <a:xfrm>
            <a:off x="2419350" y="2962275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493ECB00-6A0C-49EF-91F6-AD0E0D48EBAE}"/>
              </a:ext>
            </a:extLst>
          </p:cNvPr>
          <p:cNvSpPr>
            <a:spLocks noGrp="1"/>
          </p:cNvSpPr>
          <p:nvPr/>
        </p:nvSpPr>
        <p:spPr>
          <a:xfrm>
            <a:off x="2533650" y="3057525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修 bug、寫 script、跑 tests、整理 diff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1B755FE5-F20F-4348-A16E-8028C0FE3B17}"/>
              </a:ext>
            </a:extLst>
          </p:cNvPr>
          <p:cNvSpPr>
            <a:spLocks noGrp="1"/>
          </p:cNvSpPr>
          <p:nvPr/>
        </p:nvSpPr>
        <p:spPr>
          <a:xfrm>
            <a:off x="6705600" y="2962275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8A305002-13C5-4D5C-99FC-DF040FA6F7FF}"/>
              </a:ext>
            </a:extLst>
          </p:cNvPr>
          <p:cNvSpPr>
            <a:spLocks noGrp="1"/>
          </p:cNvSpPr>
          <p:nvPr/>
        </p:nvSpPr>
        <p:spPr>
          <a:xfrm>
            <a:off x="6819900" y="3057525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建立/除錯 pipeline、找 module、轉換 WDL/R、管理 runs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3302750-15BD-4156-9542-9E8A4C90A2C1}"/>
              </a:ext>
            </a:extLst>
          </p:cNvPr>
          <p:cNvSpPr>
            <a:spLocks noGrp="1"/>
          </p:cNvSpPr>
          <p:nvPr/>
        </p:nvSpPr>
        <p:spPr>
          <a:xfrm>
            <a:off x="800100" y="3619500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E490A94B-0D24-4F87-9EED-82ACE6964374}"/>
              </a:ext>
            </a:extLst>
          </p:cNvPr>
          <p:cNvSpPr>
            <a:spLocks noGrp="1"/>
          </p:cNvSpPr>
          <p:nvPr/>
        </p:nvSpPr>
        <p:spPr>
          <a:xfrm>
            <a:off x="914400" y="3714750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驗證方式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50FA12E7-0E51-489F-9D3E-D2E4FA52BF97}"/>
              </a:ext>
            </a:extLst>
          </p:cNvPr>
          <p:cNvSpPr>
            <a:spLocks noGrp="1"/>
          </p:cNvSpPr>
          <p:nvPr/>
        </p:nvSpPr>
        <p:spPr>
          <a:xfrm>
            <a:off x="2419350" y="3619500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960A34E5-0C32-4E37-935D-3154DC423705}"/>
              </a:ext>
            </a:extLst>
          </p:cNvPr>
          <p:cNvSpPr>
            <a:spLocks noGrp="1"/>
          </p:cNvSpPr>
          <p:nvPr/>
        </p:nvSpPr>
        <p:spPr>
          <a:xfrm>
            <a:off x="2533650" y="3714750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unit test、smoke test、lint、git diff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8D06D141-5350-4A28-ACE0-CB40DEE762B6}"/>
              </a:ext>
            </a:extLst>
          </p:cNvPr>
          <p:cNvSpPr>
            <a:spLocks noGrp="1"/>
          </p:cNvSpPr>
          <p:nvPr/>
        </p:nvSpPr>
        <p:spPr>
          <a:xfrm>
            <a:off x="6705600" y="3619500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845C24CB-55AA-4EC6-A515-D044993884C0}"/>
              </a:ext>
            </a:extLst>
          </p:cNvPr>
          <p:cNvSpPr>
            <a:spLocks noGrp="1"/>
          </p:cNvSpPr>
          <p:nvPr/>
        </p:nvSpPr>
        <p:spPr>
          <a:xfrm>
            <a:off x="6819900" y="3714750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dry run、nf-test、run logs、MultiQC、Platform metrics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B583F96A-DB97-4BA1-8B58-91385FBE80E5}"/>
              </a:ext>
            </a:extLst>
          </p:cNvPr>
          <p:cNvSpPr>
            <a:spLocks noGrp="1"/>
          </p:cNvSpPr>
          <p:nvPr/>
        </p:nvSpPr>
        <p:spPr>
          <a:xfrm>
            <a:off x="800100" y="4276725"/>
            <a:ext cx="1619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620191B5-AE96-40E6-9835-406AF6EA4BA9}"/>
              </a:ext>
            </a:extLst>
          </p:cNvPr>
          <p:cNvSpPr>
            <a:spLocks noGrp="1"/>
          </p:cNvSpPr>
          <p:nvPr/>
        </p:nvSpPr>
        <p:spPr>
          <a:xfrm>
            <a:off x="914400" y="4371975"/>
            <a:ext cx="1390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人類 gate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DE077390-9C59-4823-A29C-2B51A32C2152}"/>
              </a:ext>
            </a:extLst>
          </p:cNvPr>
          <p:cNvSpPr>
            <a:spLocks noGrp="1"/>
          </p:cNvSpPr>
          <p:nvPr/>
        </p:nvSpPr>
        <p:spPr>
          <a:xfrm>
            <a:off x="2419350" y="4276725"/>
            <a:ext cx="42862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CDD21AB9-1FE8-4610-97CC-CA0F07C1A92F}"/>
              </a:ext>
            </a:extLst>
          </p:cNvPr>
          <p:cNvSpPr>
            <a:spLocks noGrp="1"/>
          </p:cNvSpPr>
          <p:nvPr/>
        </p:nvSpPr>
        <p:spPr>
          <a:xfrm>
            <a:off x="2533650" y="4371975"/>
            <a:ext cx="40576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合併前 code review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FE06A6B9-F242-4BDA-BF32-E6D60EB17D70}"/>
              </a:ext>
            </a:extLst>
          </p:cNvPr>
          <p:cNvSpPr>
            <a:spLocks noGrp="1"/>
          </p:cNvSpPr>
          <p:nvPr/>
        </p:nvSpPr>
        <p:spPr>
          <a:xfrm>
            <a:off x="6705600" y="4276725"/>
            <a:ext cx="4476750" cy="657225"/>
          </a:xfrm>
          <a:prstGeom prst="roundRect">
            <a:avLst>
              <a:gd name="adj" fmla="val 5797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6BEE3F9E-B489-447A-B23D-211EFEA9B43F}"/>
              </a:ext>
            </a:extLst>
          </p:cNvPr>
          <p:cNvSpPr>
            <a:spLocks noGrp="1"/>
          </p:cNvSpPr>
          <p:nvPr/>
        </p:nvSpPr>
        <p:spPr>
          <a:xfrm>
            <a:off x="6819900" y="4371975"/>
            <a:ext cx="42481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啟動雲端 run、改 workspace、動用資料前 approval</a:t>
            </a:r>
          </a:p>
        </p:txBody>
      </p:sp>
      <p:sp>
        <p:nvSpPr>
          <p:cNvPr id="34" name="source">
            <a:extLst>
              <a:ext uri="{FF2B5EF4-FFF2-40B4-BE49-F238E27FC236}">
                <a16:creationId xmlns:a16="http://schemas.microsoft.com/office/drawing/2014/main" id="{504A2E39-A669-4526-B561-2626FD465C65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docs.seqera.io, seqera.io/platform/seqera-ai</a:t>
            </a:r>
          </a:p>
        </p:txBody>
      </p:sp>
      <p:pic>
        <p:nvPicPr>
          <p:cNvPr id="36" name="Graphic 36" descr="Cloud computing icon for Seqera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143500"/>
            <a:ext cx="533400" cy="533400"/>
          </a:xfrm>
          <a:prstGeom prst="rect">
            <a:avLst/>
          </a:prstGeom>
        </p:spPr>
      </p:pic>
      <p:sp>
        <p:nvSpPr>
          <p:cNvPr id="37" name="圓角矩形 36">
            <a:extLst>
              <a:ext uri="{FF2B5EF4-FFF2-40B4-BE49-F238E27FC236}">
                <a16:creationId xmlns:a16="http://schemas.microsoft.com/office/drawing/2014/main" id="{6BD80F5E-3A0F-9C48-A72B-73E87D57F748}"/>
              </a:ext>
            </a:extLst>
          </p:cNvPr>
          <p:cNvSpPr/>
          <p:nvPr/>
        </p:nvSpPr>
        <p:spPr>
          <a:xfrm>
            <a:off x="1498600" y="5080000"/>
            <a:ext cx="9690100" cy="698500"/>
          </a:xfrm>
          <a:prstGeom prst="roundRect">
            <a:avLst/>
          </a:prstGeom>
          <a:solidFill>
            <a:srgbClr val="F5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為什麼要多學一個工具：</a:t>
            </a:r>
            <a:r>
              <a:rPr lang="zh-TW" sz="1400" dirty="0">
                <a:solidFill>
                  <a:srgbClr val="404040"/>
                </a:solidFill>
              </a:rPr>
              <a:t>通用 CLI agent 不懂 Nextflow channel 與 config profile；Seqera AI 把這些 domain knowledge 內建，減少來回除錯。</a:t>
            </a:r>
          </a:p>
        </p:txBody>
      </p:sp>
    </p:spTree>
    <p:extLst>
      <p:ext uri="{BB962C8B-B14F-4D97-AF65-F5344CB8AC3E}">
        <p14:creationId xmlns:p14="http://schemas.microsoft.com/office/powerpoint/2010/main" val="2536411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F9955771-09C7-4D80-96A9-89A3C96985C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AA7AA920-3AA0-4FCA-8959-C6E987DFB417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如何避免 agent 亂改檔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5F3069DC-472A-4304-B61D-B75DD2266769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真正的問題通常不是 agent 不能改，而是它改太多、改太快、又沒有留下可檢查證據。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1B4613BC-93C1-4CF9-8C22-3E318E482CB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17/38</a:t>
            </a:r>
          </a:p>
        </p:txBody>
      </p:sp>
      <p:pic>
        <p:nvPicPr>
          <p:cNvPr id="6" name="Graphic 6" descr="Guardrail shield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CF331D95-F529-CC4D-B610-89E5EA647858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E97132"/>
                </a:solidFill>
              </a:rPr>
              <a:t>Guardrails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限制 write surface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DB926AB-620B-DD44-8206-3CCD83BFA2C6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Git Hygiene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保護工作樹與 commit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E34FDAAB-83BD-7843-8625-387EC20D9C3F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971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Biomedical Tasks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可驗證 artifact</a:t>
            </a:r>
          </a:p>
        </p:txBody>
      </p:sp>
    </p:spTree>
    <p:extLst>
      <p:ext uri="{BB962C8B-B14F-4D97-AF65-F5344CB8AC3E}">
        <p14:creationId xmlns:p14="http://schemas.microsoft.com/office/powerpoint/2010/main" val="1643932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32EEF9A6-37DB-4BBD-B87F-E935D068D70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GUARDRAILS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FD87A8B-4F46-4E52-B3B3-E86AA5E8948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 agent 的 write surface，比事後整理爛 diff 更有效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87B8187-6551-49FF-9E03-558195F5D47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18/38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BB16F1B3-17DE-4CEB-A8AC-3968C5B60359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每次任務只允許少數檔案或一個資料夾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要求修改前先回報 plan，修改後先 show diff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禁止無關格式化、重命名、搬檔與大規模重構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E97132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資料檔、credential、環境設定與雲端資源要需要人工確認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BFFC4E24-693B-409E-9EF4-E0101620102F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FB01CDCB-5FBE-462F-A5B0-8CE4579F11F4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Prompt guard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34180734-A198-4294-8BC2-057BD0029775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Do not edit files outside...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Do not run destructive commands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Ask before external actions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Preserve user changes</a:t>
            </a:r>
          </a:p>
        </p:txBody>
      </p:sp>
      <p:pic>
        <p:nvPicPr>
          <p:cNvPr id="9" name="Graphic 9" descr="Shield icon for guardrai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35600"/>
            <a:ext cx="558800" cy="5588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E62B39E4-A067-4E4C-9B38-4DF81FF95716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FDF1E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05A1E"/>
                </a:solidFill>
              </a:rPr>
              <a:t>為什麼要設限：</a:t>
            </a:r>
            <a:r>
              <a:rPr lang="zh-TW" sz="1400" dirty="0">
                <a:solidFill>
                  <a:srgbClr val="404040"/>
                </a:solidFill>
              </a:rPr>
              <a:t>guardrails 把 agent 的自由度收斂到「小、可逆、可審查」，出錯也只是一次小修補而不是整個 repo 重來。</a:t>
            </a:r>
          </a:p>
        </p:txBody>
      </p:sp>
    </p:spTree>
    <p:extLst>
      <p:ext uri="{BB962C8B-B14F-4D97-AF65-F5344CB8AC3E}">
        <p14:creationId xmlns:p14="http://schemas.microsoft.com/office/powerpoint/2010/main" val="2998211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04AFE077-9436-4B16-9FB3-C0BE6B7A702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GIT HYGIENE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E042FC7-3976-4640-AC96-B7989471AA3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每次讓 agent 動手前，先保護工作樹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1838E11-5E10-44B7-A628-EE5B0D96DA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19/38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B5ED9D1-880B-497E-9645-02069A599616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Minimum git ritual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BEF8E4DC-89E9-47E6-B628-352AF6F0DFA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259D068E-8300-40CC-9290-8304F36EBDC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status --short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 --stat</a:t>
            </a:r>
          </a:p>
          <a:p>
            <a:endParaRPr sz="11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after patch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diff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pytest -q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add &lt;touched files&gt;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git commit -m "Add manifest validation checks"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A64C3275-2694-4F2A-839A-FD75148DB6B5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085D916A-890A-4FD7-A885-3F4D4F22B0A7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學生要會看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69ACBD08-8B9E-478A-97F5-00BD4C441806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有哪些檔案被改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有沒有無關檔案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測試是否真的跑過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commit 訊息是否可追溯</a:t>
            </a:r>
          </a:p>
        </p:txBody>
      </p:sp>
      <p:pic>
        <p:nvPicPr>
          <p:cNvPr id="11" name="Graphic 11" descr="Git bran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A4C80345-1307-5541-8221-207875582E31}"/>
              </a:ext>
            </a:extLst>
          </p:cNvPr>
          <p:cNvSpPr/>
          <p:nvPr/>
        </p:nvSpPr>
        <p:spPr>
          <a:xfrm>
            <a:off x="1651000" y="5499100"/>
            <a:ext cx="9779000" cy="635000"/>
          </a:xfrm>
          <a:prstGeom prst="roundRect">
            <a:avLst/>
          </a:prstGeom>
          <a:solidFill>
            <a:srgbClr val="FDF1E7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C05A1E"/>
                </a:solidFill>
              </a:rPr>
              <a:t>為什麼要乾淨：</a:t>
            </a:r>
            <a:r>
              <a:rPr lang="zh-TW" sz="1400" dirty="0">
                <a:solidFill>
                  <a:srgbClr val="404040"/>
                </a:solidFill>
              </a:rPr>
              <a:t>每個任務都是獨立分支與可回溯 commit，出問題能立刻 revert，也方便老師事後 review。</a:t>
            </a:r>
          </a:p>
        </p:txBody>
      </p:sp>
    </p:spTree>
    <p:extLst>
      <p:ext uri="{BB962C8B-B14F-4D97-AF65-F5344CB8AC3E}">
        <p14:creationId xmlns:p14="http://schemas.microsoft.com/office/powerpoint/2010/main" val="3585047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9B1D067C-54BD-46F6-8AB3-F144AD28EB0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BIOMEDICAL TASKS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8BB7CF-BB23-44D1-A982-AC5782CACD4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這堂課的 biomedical examples 都要落在可驗證 artifact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3B03D72-FFE8-444C-AB64-ED478A504C5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20/38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96F442F5-3866-4A09-BF39-D19ADAFD8BF1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2190750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CB741674-A73C-4221-82C4-943FE74383B3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962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任務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7AF4828B-4953-4D50-BA8C-5992FAE95DA9}"/>
              </a:ext>
            </a:extLst>
          </p:cNvPr>
          <p:cNvSpPr>
            <a:spLocks noGrp="1"/>
          </p:cNvSpPr>
          <p:nvPr/>
        </p:nvSpPr>
        <p:spPr>
          <a:xfrm>
            <a:off x="2990850" y="1885950"/>
            <a:ext cx="4238625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664B19A9-A536-4B45-9A6F-09D1F9D20694}"/>
              </a:ext>
            </a:extLst>
          </p:cNvPr>
          <p:cNvSpPr>
            <a:spLocks noGrp="1"/>
          </p:cNvSpPr>
          <p:nvPr/>
        </p:nvSpPr>
        <p:spPr>
          <a:xfrm>
            <a:off x="3105150" y="2000250"/>
            <a:ext cx="40100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Agent 可以做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04236A37-7C82-4B4D-9422-B0CDF243F8C2}"/>
              </a:ext>
            </a:extLst>
          </p:cNvPr>
          <p:cNvSpPr>
            <a:spLocks noGrp="1"/>
          </p:cNvSpPr>
          <p:nvPr/>
        </p:nvSpPr>
        <p:spPr>
          <a:xfrm>
            <a:off x="7229475" y="1885950"/>
            <a:ext cx="3952875" cy="419100"/>
          </a:xfrm>
          <a:prstGeom prst="roundRect">
            <a:avLst>
              <a:gd name="adj" fmla="val 9091"/>
            </a:avLst>
          </a:prstGeom>
          <a:solidFill>
            <a:srgbClr val="438D4A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C0D18362-57E3-4E0B-B7A9-3167E2436B0D}"/>
              </a:ext>
            </a:extLst>
          </p:cNvPr>
          <p:cNvSpPr>
            <a:spLocks noGrp="1"/>
          </p:cNvSpPr>
          <p:nvPr/>
        </p:nvSpPr>
        <p:spPr>
          <a:xfrm>
            <a:off x="7343775" y="2000250"/>
            <a:ext cx="37242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人工要檢查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9FAB9FD2-80DC-4220-8750-72C9EA593C64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30478E1E-ADAC-493A-ACC5-D1178FD8B2AC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文獻表格轉 CSV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BC1C6954-F3C0-45BB-968E-66283B3359B0}"/>
              </a:ext>
            </a:extLst>
          </p:cNvPr>
          <p:cNvSpPr>
            <a:spLocks noGrp="1"/>
          </p:cNvSpPr>
          <p:nvPr/>
        </p:nvSpPr>
        <p:spPr>
          <a:xfrm>
            <a:off x="2990850" y="23050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E3EA7A2B-F68A-4B5C-8D7A-230B928F130C}"/>
              </a:ext>
            </a:extLst>
          </p:cNvPr>
          <p:cNvSpPr>
            <a:spLocks noGrp="1"/>
          </p:cNvSpPr>
          <p:nvPr/>
        </p:nvSpPr>
        <p:spPr>
          <a:xfrm>
            <a:off x="3105150" y="24003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解析欄位、清理空值、輸出 schema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EE8263EA-76CE-4DFB-AA62-640DFA58DFB3}"/>
              </a:ext>
            </a:extLst>
          </p:cNvPr>
          <p:cNvSpPr>
            <a:spLocks noGrp="1"/>
          </p:cNvSpPr>
          <p:nvPr/>
        </p:nvSpPr>
        <p:spPr>
          <a:xfrm>
            <a:off x="7229475" y="230505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7760D2FB-021B-49F2-A9E4-C0063912AD15}"/>
              </a:ext>
            </a:extLst>
          </p:cNvPr>
          <p:cNvSpPr>
            <a:spLocks noGrp="1"/>
          </p:cNvSpPr>
          <p:nvPr/>
        </p:nvSpPr>
        <p:spPr>
          <a:xfrm>
            <a:off x="7343775" y="240030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PMID/DOI 是否真實、欄位語意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237D7D9F-E290-4C3A-9480-8478EB2E12EE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E99CA22B-FFD5-4DEB-B0B5-6D293211571B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 symbol check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68D35058-8B9E-49C2-9174-3261898843F3}"/>
              </a:ext>
            </a:extLst>
          </p:cNvPr>
          <p:cNvSpPr>
            <a:spLocks noGrp="1"/>
          </p:cNvSpPr>
          <p:nvPr/>
        </p:nvSpPr>
        <p:spPr>
          <a:xfrm>
            <a:off x="2990850" y="29718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90F15B89-F786-4796-B1F6-FEE973BC4F45}"/>
              </a:ext>
            </a:extLst>
          </p:cNvPr>
          <p:cNvSpPr>
            <a:spLocks noGrp="1"/>
          </p:cNvSpPr>
          <p:nvPr/>
        </p:nvSpPr>
        <p:spPr>
          <a:xfrm>
            <a:off x="3105150" y="30670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格式檢查、大小寫、空值、重複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5D4BA2D3-B008-414C-9E48-0DC00429C3CC}"/>
              </a:ext>
            </a:extLst>
          </p:cNvPr>
          <p:cNvSpPr>
            <a:spLocks noGrp="1"/>
          </p:cNvSpPr>
          <p:nvPr/>
        </p:nvSpPr>
        <p:spPr>
          <a:xfrm>
            <a:off x="7229475" y="297180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13E9265A-DF67-452B-87EC-8A8BA928B62D}"/>
              </a:ext>
            </a:extLst>
          </p:cNvPr>
          <p:cNvSpPr>
            <a:spLocks noGrp="1"/>
          </p:cNvSpPr>
          <p:nvPr/>
        </p:nvSpPr>
        <p:spPr>
          <a:xfrm>
            <a:off x="7343775" y="306705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是否為 approved symbol、物種與舊名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F9BFF8A-1054-4954-B1D2-10A270EA3472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125B0022-8027-404D-AD86-A1C8DB59EAB6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JSON/HTML report extraction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41BB8584-7B9C-4D9C-9CBA-E3D5F749F510}"/>
              </a:ext>
            </a:extLst>
          </p:cNvPr>
          <p:cNvSpPr>
            <a:spLocks noGrp="1"/>
          </p:cNvSpPr>
          <p:nvPr/>
        </p:nvSpPr>
        <p:spPr>
          <a:xfrm>
            <a:off x="2990850" y="363855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D1C080E2-EB9D-4110-838A-5025C90BF156}"/>
              </a:ext>
            </a:extLst>
          </p:cNvPr>
          <p:cNvSpPr>
            <a:spLocks noGrp="1"/>
          </p:cNvSpPr>
          <p:nvPr/>
        </p:nvSpPr>
        <p:spPr>
          <a:xfrm>
            <a:off x="3105150" y="373380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 table、產生 summary、寫 parser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612A604C-8FB3-458F-8E08-36DA1ECE5AB9}"/>
              </a:ext>
            </a:extLst>
          </p:cNvPr>
          <p:cNvSpPr>
            <a:spLocks noGrp="1"/>
          </p:cNvSpPr>
          <p:nvPr/>
        </p:nvSpPr>
        <p:spPr>
          <a:xfrm>
            <a:off x="7229475" y="363855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2EBE141B-55C0-44F8-9489-33F9BB7D5E2D}"/>
              </a:ext>
            </a:extLst>
          </p:cNvPr>
          <p:cNvSpPr>
            <a:spLocks noGrp="1"/>
          </p:cNvSpPr>
          <p:nvPr/>
        </p:nvSpPr>
        <p:spPr>
          <a:xfrm>
            <a:off x="7343775" y="373380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來源欄位是否被誤解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4EF82B99-D454-4E88-A8B8-F7F6DE1EB54E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190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98BBE1C-CFDA-4D12-A2B3-C5B83EB00C12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962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Pipeline validation report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8466AB79-21F2-470D-9F18-2191D8519F49}"/>
              </a:ext>
            </a:extLst>
          </p:cNvPr>
          <p:cNvSpPr>
            <a:spLocks noGrp="1"/>
          </p:cNvSpPr>
          <p:nvPr/>
        </p:nvSpPr>
        <p:spPr>
          <a:xfrm>
            <a:off x="2990850" y="4305300"/>
            <a:ext cx="42386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5E375CA1-FF8D-494E-8942-986769CD6DDA}"/>
              </a:ext>
            </a:extLst>
          </p:cNvPr>
          <p:cNvSpPr>
            <a:spLocks noGrp="1"/>
          </p:cNvSpPr>
          <p:nvPr/>
        </p:nvSpPr>
        <p:spPr>
          <a:xfrm>
            <a:off x="3105150" y="4400550"/>
            <a:ext cx="40100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統計樣本數、錯誤列、exit code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818BDF42-6E41-4A78-8CA4-AB1C2D830A47}"/>
              </a:ext>
            </a:extLst>
          </p:cNvPr>
          <p:cNvSpPr>
            <a:spLocks noGrp="1"/>
          </p:cNvSpPr>
          <p:nvPr/>
        </p:nvSpPr>
        <p:spPr>
          <a:xfrm>
            <a:off x="7229475" y="4305300"/>
            <a:ext cx="39528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306A1DA-03A9-4FBE-A79C-2144B9B33B36}"/>
              </a:ext>
            </a:extLst>
          </p:cNvPr>
          <p:cNvSpPr>
            <a:spLocks noGrp="1"/>
          </p:cNvSpPr>
          <p:nvPr/>
        </p:nvSpPr>
        <p:spPr>
          <a:xfrm>
            <a:off x="7343775" y="4400550"/>
            <a:ext cx="37242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分析結論與臨床語意</a:t>
            </a:r>
          </a:p>
        </p:txBody>
      </p:sp>
      <p:pic>
        <p:nvPicPr>
          <p:cNvPr id="35" name="Graphic 35" descr="DNA icon for biomedical task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AE7F52F7-542E-B84C-94F9-F3FF10261E86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挑選原則：</a:t>
            </a:r>
            <a:r>
              <a:rPr lang="zh-TW" sz="1400" dirty="0">
                <a:solidFill>
                  <a:srgbClr val="404040"/>
                </a:solidFill>
              </a:rPr>
              <a:t>優先選擇結果可用檔案或數值直接驗證的任務，避免需要人工判斷生物學意義的開放性問題。</a:t>
            </a:r>
          </a:p>
        </p:txBody>
      </p:sp>
    </p:spTree>
    <p:extLst>
      <p:ext uri="{BB962C8B-B14F-4D97-AF65-F5344CB8AC3E}">
        <p14:creationId xmlns:p14="http://schemas.microsoft.com/office/powerpoint/2010/main" val="37998209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8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A6D505B-836E-4FCA-B778-216360DB46E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DEMO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D7BE226B-92E5-47A5-AAD3-9FF98972FB58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從 sample manifest 到 validation patch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BA2FDFC9-63B9-4A04-ADFF-DF1D76E834E8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示範重點不是寫很難的程式，而是讓 agent 讀檔、改小範圍、跑測試、留下 report。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9D5A559D-8FBF-40FE-9503-2F9AC8A624D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21/38</a:t>
            </a:r>
          </a:p>
        </p:txBody>
      </p:sp>
      <p:pic>
        <p:nvPicPr>
          <p:cNvPr id="6" name="Graphic 6" descr="Flask icon for lab dem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BC62A5D8-5921-3945-9E26-01E127E571C4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Lab File Tree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repo 檔案與 prompts 結構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4CA6D58-5163-EB4C-A0C8-1885C1F47FE1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Prompt Skeleton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小範圍、可驗證 task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29483C1C-8D7F-3D47-B938-4781C60E4C27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6B24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96B24"/>
                </a:solidFill>
              </a:rPr>
              <a:t>Demo Loop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Ask→Patch→Run→Record</a:t>
            </a:r>
          </a:p>
        </p:txBody>
      </p:sp>
    </p:spTree>
    <p:extLst>
      <p:ext uri="{BB962C8B-B14F-4D97-AF65-F5344CB8AC3E}">
        <p14:creationId xmlns:p14="http://schemas.microsoft.com/office/powerpoint/2010/main" val="648875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0FC5405-D664-49B2-A9AA-43DB92A8CBB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FILE TREE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ED5637-F4C7-4C5F-B1A7-3C5BC21F517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Lab 材料讓學生可以練習 repo-grounded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7E39D6A-ADBE-4597-8CBC-B89E5C5C625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22/38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61F06C91-B964-4B59-A509-A79C9F519D60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lesson-07 lab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FFAD1C7F-8B4F-440B-8FC0-EF5B13E54CC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EA93EA2-EBEB-402F-9C0E-D439809B210B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lesson-07-coding-agents-cli-workflows/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README.md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sample_manifest.csv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scripts/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└── validate_manifest.py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├── prompts/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├── coding_agent_task.md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│   └── seqera_ai_task.md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└── nextflow/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├── main.nf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└── nextflow.config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BADD5C35-1D4E-4645-B559-AF319DFCABC3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16BE46B3-AB1A-48BA-8EB3-233ECBDC36C7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Demo 目標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F2A667A2-409F-4F6A-95A7-2A8E5B7F2B7E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先理解資料欄位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補 manifest validation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產生 summary report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Nextflow 問題交給 Seqera AI</a:t>
            </a:r>
          </a:p>
        </p:txBody>
      </p:sp>
      <p:pic>
        <p:nvPicPr>
          <p:cNvPr id="11" name="Graphic 11" descr="Fold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279141B3-D033-BC4F-897C-770F010D445D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為什麼這樣分：</a:t>
            </a:r>
            <a:r>
              <a:rPr lang="zh-TW" sz="1400" dirty="0">
                <a:solidFill>
                  <a:srgbClr val="404040"/>
                </a:solidFill>
              </a:rPr>
              <a:t>prompts/ 分開兩個 task 檔，讓學生清楚比較 CLI agent 與 Seqera AI 各自該接手的部分。</a:t>
            </a:r>
          </a:p>
        </p:txBody>
      </p:sp>
    </p:spTree>
    <p:extLst>
      <p:ext uri="{BB962C8B-B14F-4D97-AF65-F5344CB8AC3E}">
        <p14:creationId xmlns:p14="http://schemas.microsoft.com/office/powerpoint/2010/main" val="2985999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3C8EFEF4-D576-4462-84BE-E6FE86AE78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LAB PROMPT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5F4EC98-8B5F-4B32-9F44-30C9F4B8F9A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demo prompt：小範圍、可驗證、可回報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A2A7386-6536-43F8-AB40-23AB8AE6E28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23/38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DC2BAC78-D4A1-4B5B-967D-5C80D0042D72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Prompt skeleton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0358FF9A-81DD-4416-A61A-4C68C11E0C34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82115A3-AD44-4C5C-BAF2-157CCE10C3C1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請在這個 lab repo 中完成：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先讀 README、sample_manifest.csv、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scripts/validate_manifest.py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只修改 scripts/validate_manifest.py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加入欄位檢查：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sample_id, fastq_1, fastq_2, condition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輸出 summary：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total_rows, invalid_rows, error_messages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5. 跑：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python3 scripts/validate_manifest.py sample_manifest.csv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6. 回報 diff 摘要與剩餘風險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83CFA12E-87D6-44B2-BBB3-98C8FB912813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38FFCF22-BA80-4DF6-B1EA-1D40CB909BB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教師強調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8A5C12AC-488D-4DFD-BB73-29461F1D5B17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read set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allowed write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指定 acceptance criteria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command output</a:t>
            </a:r>
          </a:p>
        </p:txBody>
      </p:sp>
      <p:pic>
        <p:nvPicPr>
          <p:cNvPr id="11" name="Graphic 11" descr="Prompt cha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72850E76-3E80-0944-AE93-658E3C59FCDC}"/>
              </a:ext>
            </a:extLst>
          </p:cNvPr>
          <p:cNvSpPr/>
          <p:nvPr/>
        </p:nvSpPr>
        <p:spPr>
          <a:xfrm>
            <a:off x="1651000" y="5435600"/>
            <a:ext cx="9779000" cy="6985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寫 prompt 的關鍵：</a:t>
            </a:r>
            <a:r>
              <a:rPr lang="zh-TW" sz="1400" dirty="0">
                <a:solidFill>
                  <a:srgbClr val="404040"/>
                </a:solidFill>
              </a:rPr>
              <a:t>先給脈絡與範圍，再給驗收標準——讓 agent 知道「做到什麼程度算完成」。</a:t>
            </a:r>
          </a:p>
        </p:txBody>
      </p:sp>
    </p:spTree>
    <p:extLst>
      <p:ext uri="{BB962C8B-B14F-4D97-AF65-F5344CB8AC3E}">
        <p14:creationId xmlns:p14="http://schemas.microsoft.com/office/powerpoint/2010/main" val="1878138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183690C0-A1B8-4FC0-8F6E-8D6777816B87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DEMO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81109B2-B0BE-4464-B62C-A5742CD8051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課堂示範可以照這個節奏跑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E0FC1C5-B03B-4673-8576-E5B4BD85B3B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24/38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B279EF21-EA8D-48A7-9B81-A87FAE593614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64DEB9CF-F2F8-49FF-B359-6F5F1E0CBEC7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0DD9C5BB-FD18-4CAC-9D23-BD644A488719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Ask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9CFD7147-BD7A-4FC8-8343-415E96E94E70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貼 task packet，不直接叫它自由修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CD9286E8-2C97-4984-A890-43F178A54A09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1AE16755-713C-4F01-BBA1-F3A8892CA01F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9FFBBE62-AF8E-4332-9F0A-50EDE15C75FC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58F97B77-FD3D-4B10-A522-E760EA9B27C9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Inspect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F478C2F7-1092-4966-A88F-FD8B7F3B442A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 agent 讀了哪些檔案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FC52892F-9636-445C-855E-E069BA2505A5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39336D07-28CA-4462-B727-712C1E6C173A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4B120138-9483-4AAF-A8D5-6F6F19105720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491BE9AF-E1E5-484F-8C2D-3C62A69E4E80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Patch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338ECBA0-DE6D-4440-975D-29D2C505F747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確認只改指定檔案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6EFFF4DF-B6AE-4F4E-A9D3-4F6825A9000B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AAAA83FC-D669-4F63-8CD0-457B2C73C40F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F2F2AC61-C4BC-4AA6-824F-D6BB3F2506D2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E7079074-1B83-4A3A-9289-812D7D8B9FDE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Run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B92E7714-52FB-4E5C-A1DE-2956CDA034CF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重跑 sample command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648781E4-4451-4442-AE13-7A041C17970A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5A87FF54-972A-465C-BE7E-558B519C9609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96BB7D08-7A77-4055-99C6-14192BE45335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53790F15-C052-4F0B-B58D-4EA7DA7E7451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Review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B6700754-E7A9-4D81-A9CA-65EDBCA052B6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diff 與錯誤列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DCC12FC0-285D-433A-AB0A-A9FF42CFE413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4FF42984-BB8E-4D2C-96F3-F15D7E9C927C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F672FECF-AF99-4565-9928-D621AC8B75A7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F5167A8A-E163-445A-9D24-B878EAED71B2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Record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C7A32C00-39FE-4AEA-93C6-ACFE6EBE4392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保存 prompt、command、commit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FEA9E9F2-296E-6F44-9852-C78E05356F3F}"/>
              </a:ext>
            </a:extLst>
          </p:cNvPr>
          <p:cNvSpPr/>
          <p:nvPr/>
        </p:nvSpPr>
        <p:spPr>
          <a:xfrm>
            <a:off x="800100" y="5080000"/>
            <a:ext cx="10591800" cy="762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196B24"/>
                </a:solidFill>
              </a:rPr>
              <a:t>為什麼每輪都要 Record：</a:t>
            </a:r>
            <a:r>
              <a:rPr lang="zh-TW" sz="1400" dirty="0">
                <a:solidFill>
                  <a:srgbClr val="404040"/>
                </a:solidFill>
              </a:rPr>
              <a:t>留下 diff 與測試結果，下一輪才能延續脈絡，也讓老師能追蹤每組的推進過程。</a:t>
            </a:r>
          </a:p>
        </p:txBody>
      </p:sp>
    </p:spTree>
    <p:extLst>
      <p:ext uri="{BB962C8B-B14F-4D97-AF65-F5344CB8AC3E}">
        <p14:creationId xmlns:p14="http://schemas.microsoft.com/office/powerpoint/2010/main" val="1833688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97CCD25E-8FA5-45E1-BC2B-BC292CA25F1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2" name="section-title">
            <a:extLst>
              <a:ext uri="{FF2B5EF4-FFF2-40B4-BE49-F238E27FC236}">
                <a16:creationId xmlns:a16="http://schemas.microsoft.com/office/drawing/2014/main" id="{8BBECDDE-17E1-4FB9-A2B7-80120002A95F}"/>
              </a:ext>
            </a:extLst>
          </p:cNvPr>
          <p:cNvSpPr>
            <a:spLocks noGrp="1"/>
          </p:cNvSpPr>
          <p:nvPr/>
        </p:nvSpPr>
        <p:spPr>
          <a:xfrm>
            <a:off x="800100" y="1962150"/>
            <a:ext cx="9525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Seqera AI：把 workflow domain knowledge 帶進 CLI</a:t>
            </a:r>
          </a:p>
        </p:txBody>
      </p:sp>
      <p:sp>
        <p:nvSpPr>
          <p:cNvPr id="3" name="section-subtitle">
            <a:extLst>
              <a:ext uri="{FF2B5EF4-FFF2-40B4-BE49-F238E27FC236}">
                <a16:creationId xmlns:a16="http://schemas.microsoft.com/office/drawing/2014/main" id="{6ECE9702-A151-42A0-AFD7-46C2C7FF3691}"/>
              </a:ext>
            </a:extLst>
          </p:cNvPr>
          <p:cNvSpPr>
            <a:spLocks noGrp="1"/>
          </p:cNvSpPr>
          <p:nvPr/>
        </p:nvSpPr>
        <p:spPr>
          <a:xfrm>
            <a:off x="838200" y="3295650"/>
            <a:ext cx="8667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一般 coding agent 可以改 repo；Seqera AI 的價值是理解 Nextflow、nf-core、Seqera Platform 與 pipeline execution context。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BF4B0431-F9E5-48AE-BC6A-AB45DD0DA1D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25/38</a:t>
            </a:r>
          </a:p>
        </p:txBody>
      </p:sp>
      <p:pic>
        <p:nvPicPr>
          <p:cNvPr id="6" name="Graphic 6" descr="DNA icon for Seqera AI sec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0" y="558800"/>
            <a:ext cx="1270000" cy="1270000"/>
          </a:xfrm>
          <a:prstGeom prst="rect">
            <a:avLst/>
          </a:prstGeom>
        </p:spPr>
      </p:pic>
      <p:sp>
        <p:nvSpPr>
          <p:cNvPr id="7" name="圓角矩形 6">
            <a:extLst>
              <a:ext uri="{FF2B5EF4-FFF2-40B4-BE49-F238E27FC236}">
                <a16:creationId xmlns:a16="http://schemas.microsoft.com/office/drawing/2014/main" id="{3D6493A4-2546-5543-9D81-CDB4DBDB3781}"/>
              </a:ext>
            </a:extLst>
          </p:cNvPr>
          <p:cNvSpPr/>
          <p:nvPr/>
        </p:nvSpPr>
        <p:spPr>
          <a:xfrm>
            <a:off x="8001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Nextflow Context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DSL2、config、schema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3E0ED9B-06FC-E94A-A34A-42A63588CA55}"/>
              </a:ext>
            </a:extLst>
          </p:cNvPr>
          <p:cNvSpPr/>
          <p:nvPr/>
        </p:nvSpPr>
        <p:spPr>
          <a:xfrm>
            <a:off x="44323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Handoff Design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Codex 與 Seqera AI 分工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B8E3DCE2-32E2-CD40-985C-88DD4D47397D}"/>
              </a:ext>
            </a:extLst>
          </p:cNvPr>
          <p:cNvSpPr/>
          <p:nvPr/>
        </p:nvSpPr>
        <p:spPr>
          <a:xfrm>
            <a:off x="8064500" y="4572000"/>
            <a:ext cx="3378200" cy="1397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608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ctr">
              <a:buNone/>
            </a:pPr>
            <a:r>
              <a:rPr lang="en-US" sz="1600" b="1" dirty="0">
                <a:solidFill>
                  <a:srgbClr val="156082"/>
                </a:solidFill>
              </a:rPr>
              <a:t>Safety Rules</a:t>
            </a:r>
          </a:p>
          <a:p>
            <a:pPr algn="ctr">
              <a:buNone/>
            </a:pPr>
            <a:r>
              <a:rPr lang="zh-TW" sz="1400" dirty="0">
                <a:solidFill>
                  <a:srgbClr val="595959"/>
                </a:solidFill>
              </a:rPr>
              <a:t>雲端與資料治理邊界</a:t>
            </a:r>
          </a:p>
        </p:txBody>
      </p:sp>
    </p:spTree>
    <p:extLst>
      <p:ext uri="{BB962C8B-B14F-4D97-AF65-F5344CB8AC3E}">
        <p14:creationId xmlns:p14="http://schemas.microsoft.com/office/powerpoint/2010/main" val="4290698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55ED8E21-FD80-4E53-85BB-4CC47055FAF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WHAT SEQERA AI ADDS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4E09D86-C02F-4404-845E-7B5924B082B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適合放在 bioinformatics pipeline 開發的 domain loop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5475671-6E9D-413D-B693-0B0CB19C0B5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26/38</a:t>
            </a:r>
          </a:p>
        </p:txBody>
      </p:sp>
      <p:sp>
        <p:nvSpPr>
          <p:cNvPr id="4" name="card-0">
            <a:extLst>
              <a:ext uri="{FF2B5EF4-FFF2-40B4-BE49-F238E27FC236}">
                <a16:creationId xmlns:a16="http://schemas.microsoft.com/office/drawing/2014/main" id="{E3AA21AF-53AF-4EF5-9C40-0699BECC07FA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rd-title-0">
            <a:extLst>
              <a:ext uri="{FF2B5EF4-FFF2-40B4-BE49-F238E27FC236}">
                <a16:creationId xmlns:a16="http://schemas.microsoft.com/office/drawing/2014/main" id="{A52E91AB-27BC-4E06-94F4-85AF55D435FA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Nextflow fluency</a:t>
            </a:r>
          </a:p>
        </p:txBody>
      </p:sp>
      <p:sp>
        <p:nvSpPr>
          <p:cNvPr id="6" name="card-copy-0">
            <a:extLst>
              <a:ext uri="{FF2B5EF4-FFF2-40B4-BE49-F238E27FC236}">
                <a16:creationId xmlns:a16="http://schemas.microsoft.com/office/drawing/2014/main" id="{35E821B7-531B-418E-A56A-BF5307D79D1D}"/>
              </a:ext>
            </a:extLst>
          </p:cNvPr>
          <p:cNvSpPr>
            <a:spLocks noGrp="1"/>
          </p:cNvSpPr>
          <p:nvPr/>
        </p:nvSpPr>
        <p:spPr>
          <a:xfrm>
            <a:off x="11430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協助撰寫 DSL2、config、schema、module glue 與 pipeline 結構。</a:t>
            </a:r>
          </a:p>
        </p:txBody>
      </p:sp>
      <p:sp>
        <p:nvSpPr>
          <p:cNvPr id="7" name="card-1">
            <a:extLst>
              <a:ext uri="{FF2B5EF4-FFF2-40B4-BE49-F238E27FC236}">
                <a16:creationId xmlns:a16="http://schemas.microsoft.com/office/drawing/2014/main" id="{319F9186-5331-4F57-8D2F-D9864C169AC9}"/>
              </a:ext>
            </a:extLst>
          </p:cNvPr>
          <p:cNvSpPr>
            <a:spLocks noGrp="1"/>
          </p:cNvSpPr>
          <p:nvPr/>
        </p:nvSpPr>
        <p:spPr>
          <a:xfrm>
            <a:off x="443865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rd-title-1">
            <a:extLst>
              <a:ext uri="{FF2B5EF4-FFF2-40B4-BE49-F238E27FC236}">
                <a16:creationId xmlns:a16="http://schemas.microsoft.com/office/drawing/2014/main" id="{B1581DE4-858C-4949-827F-9104B67CA3BF}"/>
              </a:ext>
            </a:extLst>
          </p:cNvPr>
          <p:cNvSpPr>
            <a:spLocks noGrp="1"/>
          </p:cNvSpPr>
          <p:nvPr/>
        </p:nvSpPr>
        <p:spPr>
          <a:xfrm>
            <a:off x="470535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Run context</a:t>
            </a:r>
          </a:p>
        </p:txBody>
      </p:sp>
      <p:sp>
        <p:nvSpPr>
          <p:cNvPr id="9" name="card-copy-1">
            <a:extLst>
              <a:ext uri="{FF2B5EF4-FFF2-40B4-BE49-F238E27FC236}">
                <a16:creationId xmlns:a16="http://schemas.microsoft.com/office/drawing/2014/main" id="{BCF9FD76-EF15-4E28-B18C-013C37A92A3C}"/>
              </a:ext>
            </a:extLst>
          </p:cNvPr>
          <p:cNvSpPr>
            <a:spLocks noGrp="1"/>
          </p:cNvSpPr>
          <p:nvPr/>
        </p:nvSpPr>
        <p:spPr>
          <a:xfrm>
            <a:off x="470535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結合 Seqera Platform 的 run、logs、metrics、datasets 與 compute environment。</a:t>
            </a:r>
          </a:p>
        </p:txBody>
      </p:sp>
      <p:sp>
        <p:nvSpPr>
          <p:cNvPr id="10" name="card-2">
            <a:extLst>
              <a:ext uri="{FF2B5EF4-FFF2-40B4-BE49-F238E27FC236}">
                <a16:creationId xmlns:a16="http://schemas.microsoft.com/office/drawing/2014/main" id="{80FA07E8-1989-4F07-88E5-B5289A435F90}"/>
              </a:ext>
            </a:extLst>
          </p:cNvPr>
          <p:cNvSpPr>
            <a:spLocks noGrp="1"/>
          </p:cNvSpPr>
          <p:nvPr/>
        </p:nvSpPr>
        <p:spPr>
          <a:xfrm>
            <a:off x="8001000" y="2057400"/>
            <a:ext cx="3067050" cy="2533650"/>
          </a:xfrm>
          <a:prstGeom prst="roundRect">
            <a:avLst>
              <a:gd name="adj" fmla="val 300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rd-title-2">
            <a:extLst>
              <a:ext uri="{FF2B5EF4-FFF2-40B4-BE49-F238E27FC236}">
                <a16:creationId xmlns:a16="http://schemas.microsoft.com/office/drawing/2014/main" id="{26CB7B41-E655-4C2B-9395-3AC68E22FAFC}"/>
              </a:ext>
            </a:extLst>
          </p:cNvPr>
          <p:cNvSpPr>
            <a:spLocks noGrp="1"/>
          </p:cNvSpPr>
          <p:nvPr/>
        </p:nvSpPr>
        <p:spPr>
          <a:xfrm>
            <a:off x="8267700" y="2362200"/>
            <a:ext cx="2476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Domain tasks</a:t>
            </a:r>
          </a:p>
        </p:txBody>
      </p:sp>
      <p:sp>
        <p:nvSpPr>
          <p:cNvPr id="12" name="card-copy-2">
            <a:extLst>
              <a:ext uri="{FF2B5EF4-FFF2-40B4-BE49-F238E27FC236}">
                <a16:creationId xmlns:a16="http://schemas.microsoft.com/office/drawing/2014/main" id="{7A681956-7433-4D11-B900-AA8FB005442F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574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4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 nf-core modules、轉換 WDL/R、產生 containers、協助 debug workflow。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9562C0A9-B040-4F11-B9FB-FE485E75FE4F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docs.seqera.io/platform-cloud/co-scientist</a:t>
            </a:r>
          </a:p>
        </p:txBody>
      </p:sp>
      <p:pic>
        <p:nvPicPr>
          <p:cNvPr id="15" name="Graphic 15" descr="Workflow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500" y="2184400"/>
            <a:ext cx="381000" cy="381000"/>
          </a:xfrm>
          <a:prstGeom prst="rect">
            <a:avLst/>
          </a:prstGeom>
        </p:spPr>
      </p:pic>
      <p:pic>
        <p:nvPicPr>
          <p:cNvPr id="16" name="Graphic 16" descr="Rocke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61200" y="2184400"/>
            <a:ext cx="381000" cy="381000"/>
          </a:xfrm>
          <a:prstGeom prst="rect">
            <a:avLst/>
          </a:prstGeom>
        </p:spPr>
      </p:pic>
      <p:pic>
        <p:nvPicPr>
          <p:cNvPr id="17" name="Graphic 17" descr="Flas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17200" y="2184400"/>
            <a:ext cx="381000" cy="381000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7EF2ABC1-FB4C-B44D-A6E5-19BCFC6FE317}"/>
              </a:ext>
            </a:extLst>
          </p:cNvPr>
          <p:cNvSpPr/>
          <p:nvPr/>
        </p:nvSpPr>
        <p:spPr>
          <a:xfrm>
            <a:off x="876300" y="5080000"/>
            <a:ext cx="10198100" cy="762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三個能力互補：</a:t>
            </a:r>
            <a:r>
              <a:rPr lang="zh-TW" sz="1400" dirty="0">
                <a:solidFill>
                  <a:srgbClr val="404040"/>
                </a:solidFill>
              </a:rPr>
              <a:t>懂 DSL2 語法只是基本功，真正的價值是把「這次 run 為什麼失敗」與「這是哪種生資任務」一起納入判斷。</a:t>
            </a:r>
          </a:p>
        </p:txBody>
      </p:sp>
    </p:spTree>
    <p:extLst>
      <p:ext uri="{BB962C8B-B14F-4D97-AF65-F5344CB8AC3E}">
        <p14:creationId xmlns:p14="http://schemas.microsoft.com/office/powerpoint/2010/main" val="31065217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yebrow">
            <a:extLst>
              <a:ext uri="{FF2B5EF4-FFF2-40B4-BE49-F238E27FC236}">
                <a16:creationId xmlns:a16="http://schemas.microsoft.com/office/drawing/2014/main" id="{DE216118-2F2E-4FE3-85E5-FE5F4B3EA96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CLI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4A7B1BA-6C42-4AA8-9517-5395F797EB1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課堂中可以先展示 CLI 入口，不一定要當場登入學生帳號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92BD925-2231-4DEC-9711-09DD613D1BF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27/38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53EC11EC-CFC4-460F-80E4-2353357047AD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Useful commands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AF156B1F-0E73-4EF7-AF75-069C6BC46866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8A1C2816-67FA-443D-B9BF-15F67A45C948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npm install -g seqera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login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headless mode for reproducible prompt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--headless "Review this Nextflow pipeline"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resume previous session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-c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# install/check coding-agent skill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skill install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skill check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E832BFF2-0B9C-40AD-BF96-CB1C67E0FCA9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D0897807-D5C2-4899-ADFA-1E4C317E8DF5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注意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30FD9946-2568-4E5F-BFC1-F0A317C9EA15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 Seqera login 或 token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外部 action 先確認 approval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與 run record 要保存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教學可先用 headless prompt 範例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E422B16E-01DD-4DF0-A1D9-E0D914FCE6FD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local seqera CLI help, docs.seqera.io</a:t>
            </a:r>
          </a:p>
        </p:txBody>
      </p:sp>
      <p:pic>
        <p:nvPicPr>
          <p:cNvPr id="12" name="Graphic 12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3" name="圓角矩形 12">
            <a:extLst>
              <a:ext uri="{FF2B5EF4-FFF2-40B4-BE49-F238E27FC236}">
                <a16:creationId xmlns:a16="http://schemas.microsoft.com/office/drawing/2014/main" id="{E83AB273-F917-0D45-A7E1-9810BB00BD58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小技巧：</a:t>
            </a:r>
            <a:r>
              <a:rPr lang="zh-TW" sz="1400" dirty="0">
                <a:solidFill>
                  <a:srgbClr val="404040"/>
                </a:solidFill>
              </a:rPr>
              <a:t>Seqera CLI 指令會直接連結 Studio / Compute Environment，執行前先確認目前登入的 workspace 與帳號權限。</a:t>
            </a:r>
          </a:p>
        </p:txBody>
      </p:sp>
    </p:spTree>
    <p:extLst>
      <p:ext uri="{BB962C8B-B14F-4D97-AF65-F5344CB8AC3E}">
        <p14:creationId xmlns:p14="http://schemas.microsoft.com/office/powerpoint/2010/main" val="295528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771646D1-69A3-411C-A217-E4607CC3566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AI USE CASES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48A4472-70A7-4E5A-B4BC-A035CE3D590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Seqera AI 補進課程時，重點放在 pipeline lifecycle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223A485-1B15-474D-B424-21125123E8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28/38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D6187AC3-F374-4F80-809A-E58E3E60EFA9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42875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86693797-D055-469C-A03B-F5470107DC76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200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階段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211547DF-8511-47F0-90C4-E9321640EA8D}"/>
              </a:ext>
            </a:extLst>
          </p:cNvPr>
          <p:cNvSpPr>
            <a:spLocks noGrp="1"/>
          </p:cNvSpPr>
          <p:nvPr/>
        </p:nvSpPr>
        <p:spPr>
          <a:xfrm>
            <a:off x="2228850" y="1885950"/>
            <a:ext cx="53340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08F5BF9A-2568-4E26-98EC-326838E98284}"/>
              </a:ext>
            </a:extLst>
          </p:cNvPr>
          <p:cNvSpPr>
            <a:spLocks noGrp="1"/>
          </p:cNvSpPr>
          <p:nvPr/>
        </p:nvSpPr>
        <p:spPr>
          <a:xfrm>
            <a:off x="2343150" y="2000250"/>
            <a:ext cx="510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可以問 Seqera AI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55325B42-7E4E-4158-B50B-DB18A562E5E2}"/>
              </a:ext>
            </a:extLst>
          </p:cNvPr>
          <p:cNvSpPr>
            <a:spLocks noGrp="1"/>
          </p:cNvSpPr>
          <p:nvPr/>
        </p:nvSpPr>
        <p:spPr>
          <a:xfrm>
            <a:off x="7562850" y="1885950"/>
            <a:ext cx="3619500" cy="419100"/>
          </a:xfrm>
          <a:prstGeom prst="roundRect">
            <a:avLst>
              <a:gd name="adj" fmla="val 9091"/>
            </a:avLst>
          </a:prstGeom>
          <a:solidFill>
            <a:srgbClr val="6B4AA0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8E94F558-ED1C-44A3-A4D6-E8B1EC7447E0}"/>
              </a:ext>
            </a:extLst>
          </p:cNvPr>
          <p:cNvSpPr>
            <a:spLocks noGrp="1"/>
          </p:cNvSpPr>
          <p:nvPr/>
        </p:nvSpPr>
        <p:spPr>
          <a:xfrm>
            <a:off x="7677150" y="2000250"/>
            <a:ext cx="3390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驗證 artifact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E262B666-C86A-4063-863D-93F84CEF360E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75F51606-BED8-4C8E-9708-75708CB86293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設計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A031748E-1F16-42A7-B6F2-809632AE7BC0}"/>
              </a:ext>
            </a:extLst>
          </p:cNvPr>
          <p:cNvSpPr>
            <a:spLocks noGrp="1"/>
          </p:cNvSpPr>
          <p:nvPr/>
        </p:nvSpPr>
        <p:spPr>
          <a:xfrm>
            <a:off x="2228850" y="230505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B94D09E6-5011-41E3-8FD8-E0C92050E82A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根據 FASTQ manifest 草擬 DSL2 pipeline 與 params schema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7EE2CD0E-BA75-4450-AB2E-35D670418FC6}"/>
              </a:ext>
            </a:extLst>
          </p:cNvPr>
          <p:cNvSpPr>
            <a:spLocks noGrp="1"/>
          </p:cNvSpPr>
          <p:nvPr/>
        </p:nvSpPr>
        <p:spPr>
          <a:xfrm>
            <a:off x="7562850" y="230505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BB58487E-4891-47D8-845D-C9727E3AA42B}"/>
              </a:ext>
            </a:extLst>
          </p:cNvPr>
          <p:cNvSpPr>
            <a:spLocks noGrp="1"/>
          </p:cNvSpPr>
          <p:nvPr/>
        </p:nvSpPr>
        <p:spPr>
          <a:xfrm>
            <a:off x="7677150" y="240030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pipeline sketch、schema、assumptions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66F23F3-9439-4B7E-AA97-64C3DEF93956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D7E400F3-3DAF-48D2-B37B-3B0CE022A082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實作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EE8A30CE-03A6-4983-B02A-D6BB055A7C86}"/>
              </a:ext>
            </a:extLst>
          </p:cNvPr>
          <p:cNvSpPr>
            <a:spLocks noGrp="1"/>
          </p:cNvSpPr>
          <p:nvPr/>
        </p:nvSpPr>
        <p:spPr>
          <a:xfrm>
            <a:off x="2228850" y="297180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8BA3B246-AEB1-4E97-84C3-18CA51A27068}"/>
              </a:ext>
            </a:extLst>
          </p:cNvPr>
          <p:cNvSpPr>
            <a:spLocks noGrp="1"/>
          </p:cNvSpPr>
          <p:nvPr/>
        </p:nvSpPr>
        <p:spPr>
          <a:xfrm>
            <a:off x="2343150" y="306705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建議 nf-core modules、container、process I/O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890592BC-7BE5-421D-8BB5-CF038AD4C031}"/>
              </a:ext>
            </a:extLst>
          </p:cNvPr>
          <p:cNvSpPr>
            <a:spLocks noGrp="1"/>
          </p:cNvSpPr>
          <p:nvPr/>
        </p:nvSpPr>
        <p:spPr>
          <a:xfrm>
            <a:off x="7562850" y="297180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15117AB5-1532-4E46-AC33-E6D688D49C49}"/>
              </a:ext>
            </a:extLst>
          </p:cNvPr>
          <p:cNvSpPr>
            <a:spLocks noGrp="1"/>
          </p:cNvSpPr>
          <p:nvPr/>
        </p:nvSpPr>
        <p:spPr>
          <a:xfrm>
            <a:off x="7677150" y="306705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main.nf、modules、containers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C43AC4BA-3847-4ED5-BC3E-6021A03A2CB0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B80C9919-10AA-4DFE-8A83-C77A7802A505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除錯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32687E04-AE9C-4E67-AD27-820EF52A637B}"/>
              </a:ext>
            </a:extLst>
          </p:cNvPr>
          <p:cNvSpPr>
            <a:spLocks noGrp="1"/>
          </p:cNvSpPr>
          <p:nvPr/>
        </p:nvSpPr>
        <p:spPr>
          <a:xfrm>
            <a:off x="2228850" y="363855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E71857B3-26BC-4AE9-BB22-A8520D58FEBB}"/>
              </a:ext>
            </a:extLst>
          </p:cNvPr>
          <p:cNvSpPr>
            <a:spLocks noGrp="1"/>
          </p:cNvSpPr>
          <p:nvPr/>
        </p:nvSpPr>
        <p:spPr>
          <a:xfrm>
            <a:off x="2343150" y="373380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解讀 failed task log、resource metrics、Nextflow error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BFAB2F17-90FE-422A-BBA8-1E3C0A50C0E0}"/>
              </a:ext>
            </a:extLst>
          </p:cNvPr>
          <p:cNvSpPr>
            <a:spLocks noGrp="1"/>
          </p:cNvSpPr>
          <p:nvPr/>
        </p:nvSpPr>
        <p:spPr>
          <a:xfrm>
            <a:off x="7562850" y="363855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19756DA3-24CF-40A8-B978-F6C20CC3CD2F}"/>
              </a:ext>
            </a:extLst>
          </p:cNvPr>
          <p:cNvSpPr>
            <a:spLocks noGrp="1"/>
          </p:cNvSpPr>
          <p:nvPr/>
        </p:nvSpPr>
        <p:spPr>
          <a:xfrm>
            <a:off x="7677150" y="373380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log excerpt、root cause、patch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81A75290-F379-4248-BD98-40502D6DB64A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428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AD9BE238-28B7-49B1-ACA6-E767F013A3F3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474BF2BA-5310-4C90-92D8-916AD82490F2}"/>
              </a:ext>
            </a:extLst>
          </p:cNvPr>
          <p:cNvSpPr>
            <a:spLocks noGrp="1"/>
          </p:cNvSpPr>
          <p:nvPr/>
        </p:nvSpPr>
        <p:spPr>
          <a:xfrm>
            <a:off x="2228850" y="4305300"/>
            <a:ext cx="53340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6F7422B6-3A15-4C88-8A1C-D9841E2AD053}"/>
              </a:ext>
            </a:extLst>
          </p:cNvPr>
          <p:cNvSpPr>
            <a:spLocks noGrp="1"/>
          </p:cNvSpPr>
          <p:nvPr/>
        </p:nvSpPr>
        <p:spPr>
          <a:xfrm>
            <a:off x="2343150" y="4400550"/>
            <a:ext cx="5105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協助 launch/monitor Seqera Platform runs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7D5112E1-2C84-412B-92FF-3283BFCB7801}"/>
              </a:ext>
            </a:extLst>
          </p:cNvPr>
          <p:cNvSpPr>
            <a:spLocks noGrp="1"/>
          </p:cNvSpPr>
          <p:nvPr/>
        </p:nvSpPr>
        <p:spPr>
          <a:xfrm>
            <a:off x="7562850" y="4305300"/>
            <a:ext cx="361950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3950E2ED-3F9B-41DD-A67B-2CB6CC289E5A}"/>
              </a:ext>
            </a:extLst>
          </p:cNvPr>
          <p:cNvSpPr>
            <a:spLocks noGrp="1"/>
          </p:cNvSpPr>
          <p:nvPr/>
        </p:nvSpPr>
        <p:spPr>
          <a:xfrm>
            <a:off x="7677150" y="4400550"/>
            <a:ext cx="33909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run ID、labels、MultiQC/report</a:t>
            </a:r>
          </a:p>
        </p:txBody>
      </p:sp>
      <p:pic>
        <p:nvPicPr>
          <p:cNvPr id="35" name="Graphic 35" descr="Lightbulb icon for use cas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C43F3A3A-53FE-7943-A477-0EE5B2DB3EF3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怎麼用：</a:t>
            </a:r>
            <a:r>
              <a:rPr lang="zh-TW" sz="1400" dirty="0">
                <a:solidFill>
                  <a:srgbClr val="404040"/>
                </a:solidFill>
              </a:rPr>
              <a:t>四個階段各自問對問題，並用可重現的 artifact（log、report、diff）驗證，而不是只看 agent 的口頭保證。</a:t>
            </a:r>
          </a:p>
        </p:txBody>
      </p:sp>
    </p:spTree>
    <p:extLst>
      <p:ext uri="{BB962C8B-B14F-4D97-AF65-F5344CB8AC3E}">
        <p14:creationId xmlns:p14="http://schemas.microsoft.com/office/powerpoint/2010/main" val="7271006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A9F00DFF-3025-454A-A67A-1836A8D69FB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HANDOFF DESIGN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F8DB0DB-A44B-431A-97E7-8DC3E6E4B03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一般 coding agent 和 Seqera AI 可以分工，不需要互相取代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E0802F4-5465-4228-A420-C20F3E63AC3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29/38</a:t>
            </a:r>
          </a:p>
        </p:txBody>
      </p:sp>
      <p:sp>
        <p:nvSpPr>
          <p:cNvPr id="4" name="step-0">
            <a:extLst>
              <a:ext uri="{FF2B5EF4-FFF2-40B4-BE49-F238E27FC236}">
                <a16:creationId xmlns:a16="http://schemas.microsoft.com/office/drawing/2014/main" id="{00721F1C-2EEF-4F74-A8D2-9BF98908FD5F}"/>
              </a:ext>
            </a:extLst>
          </p:cNvPr>
          <p:cNvSpPr>
            <a:spLocks noGrp="1"/>
          </p:cNvSpPr>
          <p:nvPr/>
        </p:nvSpPr>
        <p:spPr>
          <a:xfrm>
            <a:off x="9144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no-0">
            <a:extLst>
              <a:ext uri="{FF2B5EF4-FFF2-40B4-BE49-F238E27FC236}">
                <a16:creationId xmlns:a16="http://schemas.microsoft.com/office/drawing/2014/main" id="{BAEA00E0-13D2-42DA-AF2B-3A1E40211933}"/>
              </a:ext>
            </a:extLst>
          </p:cNvPr>
          <p:cNvSpPr>
            <a:spLocks noGrp="1"/>
          </p:cNvSpPr>
          <p:nvPr/>
        </p:nvSpPr>
        <p:spPr>
          <a:xfrm>
            <a:off x="10858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step-title-0">
            <a:extLst>
              <a:ext uri="{FF2B5EF4-FFF2-40B4-BE49-F238E27FC236}">
                <a16:creationId xmlns:a16="http://schemas.microsoft.com/office/drawing/2014/main" id="{6D76235C-5077-4F0B-8650-EDC4D830B907}"/>
              </a:ext>
            </a:extLst>
          </p:cNvPr>
          <p:cNvSpPr>
            <a:spLocks noGrp="1"/>
          </p:cNvSpPr>
          <p:nvPr/>
        </p:nvSpPr>
        <p:spPr>
          <a:xfrm>
            <a:off x="10858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</a:t>
            </a:r>
          </a:p>
        </p:txBody>
      </p:sp>
      <p:sp>
        <p:nvSpPr>
          <p:cNvPr id="7" name="step-copy-0">
            <a:extLst>
              <a:ext uri="{FF2B5EF4-FFF2-40B4-BE49-F238E27FC236}">
                <a16:creationId xmlns:a16="http://schemas.microsoft.com/office/drawing/2014/main" id="{52FE65C9-D4A6-44D5-A172-79178D902F9F}"/>
              </a:ext>
            </a:extLst>
          </p:cNvPr>
          <p:cNvSpPr>
            <a:spLocks noGrp="1"/>
          </p:cNvSpPr>
          <p:nvPr/>
        </p:nvSpPr>
        <p:spPr>
          <a:xfrm>
            <a:off x="10858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教師或學生定義資料、目標、限制</a:t>
            </a:r>
          </a:p>
        </p:txBody>
      </p:sp>
      <p:sp>
        <p:nvSpPr>
          <p:cNvPr id="8" name="step-arrow-0">
            <a:extLst>
              <a:ext uri="{FF2B5EF4-FFF2-40B4-BE49-F238E27FC236}">
                <a16:creationId xmlns:a16="http://schemas.microsoft.com/office/drawing/2014/main" id="{5F203165-3BDD-4EFE-B112-0C227EC2BC6C}"/>
              </a:ext>
            </a:extLst>
          </p:cNvPr>
          <p:cNvSpPr>
            <a:spLocks noGrp="1"/>
          </p:cNvSpPr>
          <p:nvPr/>
        </p:nvSpPr>
        <p:spPr>
          <a:xfrm>
            <a:off x="24193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step-1">
            <a:extLst>
              <a:ext uri="{FF2B5EF4-FFF2-40B4-BE49-F238E27FC236}">
                <a16:creationId xmlns:a16="http://schemas.microsoft.com/office/drawing/2014/main" id="{F11A3038-0F9E-4EAE-9892-1F8EFE5E280E}"/>
              </a:ext>
            </a:extLst>
          </p:cNvPr>
          <p:cNvSpPr>
            <a:spLocks noGrp="1"/>
          </p:cNvSpPr>
          <p:nvPr/>
        </p:nvSpPr>
        <p:spPr>
          <a:xfrm>
            <a:off x="26003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ep-no-1">
            <a:extLst>
              <a:ext uri="{FF2B5EF4-FFF2-40B4-BE49-F238E27FC236}">
                <a16:creationId xmlns:a16="http://schemas.microsoft.com/office/drawing/2014/main" id="{0B6F2249-9C23-408C-88E5-657457B9BC93}"/>
              </a:ext>
            </a:extLst>
          </p:cNvPr>
          <p:cNvSpPr>
            <a:spLocks noGrp="1"/>
          </p:cNvSpPr>
          <p:nvPr/>
        </p:nvSpPr>
        <p:spPr>
          <a:xfrm>
            <a:off x="27717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tep-title-1">
            <a:extLst>
              <a:ext uri="{FF2B5EF4-FFF2-40B4-BE49-F238E27FC236}">
                <a16:creationId xmlns:a16="http://schemas.microsoft.com/office/drawing/2014/main" id="{48AA79AE-B8DC-4D2E-8F04-036766448ED3}"/>
              </a:ext>
            </a:extLst>
          </p:cNvPr>
          <p:cNvSpPr>
            <a:spLocks noGrp="1"/>
          </p:cNvSpPr>
          <p:nvPr/>
        </p:nvSpPr>
        <p:spPr>
          <a:xfrm>
            <a:off x="27717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Codex</a:t>
            </a:r>
          </a:p>
        </p:txBody>
      </p:sp>
      <p:sp>
        <p:nvSpPr>
          <p:cNvPr id="12" name="step-copy-1">
            <a:extLst>
              <a:ext uri="{FF2B5EF4-FFF2-40B4-BE49-F238E27FC236}">
                <a16:creationId xmlns:a16="http://schemas.microsoft.com/office/drawing/2014/main" id="{C4D4F8B3-CCB6-4FFA-9273-3AB14FAC8852}"/>
              </a:ext>
            </a:extLst>
          </p:cNvPr>
          <p:cNvSpPr>
            <a:spLocks noGrp="1"/>
          </p:cNvSpPr>
          <p:nvPr/>
        </p:nvSpPr>
        <p:spPr>
          <a:xfrm>
            <a:off x="27717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 repo、寫小 patch、跑本地測試</a:t>
            </a:r>
          </a:p>
        </p:txBody>
      </p:sp>
      <p:sp>
        <p:nvSpPr>
          <p:cNvPr id="13" name="step-arrow-1">
            <a:extLst>
              <a:ext uri="{FF2B5EF4-FFF2-40B4-BE49-F238E27FC236}">
                <a16:creationId xmlns:a16="http://schemas.microsoft.com/office/drawing/2014/main" id="{F1839888-1949-4A30-8681-8C5548B66E2D}"/>
              </a:ext>
            </a:extLst>
          </p:cNvPr>
          <p:cNvSpPr>
            <a:spLocks noGrp="1"/>
          </p:cNvSpPr>
          <p:nvPr/>
        </p:nvSpPr>
        <p:spPr>
          <a:xfrm>
            <a:off x="410527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E37AA203-9B10-4A63-BD35-7CDA9C4B7A36}"/>
              </a:ext>
            </a:extLst>
          </p:cNvPr>
          <p:cNvSpPr>
            <a:spLocks noGrp="1"/>
          </p:cNvSpPr>
          <p:nvPr/>
        </p:nvSpPr>
        <p:spPr>
          <a:xfrm>
            <a:off x="428625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ep-no-2">
            <a:extLst>
              <a:ext uri="{FF2B5EF4-FFF2-40B4-BE49-F238E27FC236}">
                <a16:creationId xmlns:a16="http://schemas.microsoft.com/office/drawing/2014/main" id="{BF440DE7-7458-445F-A713-B63879932BBB}"/>
              </a:ext>
            </a:extLst>
          </p:cNvPr>
          <p:cNvSpPr>
            <a:spLocks noGrp="1"/>
          </p:cNvSpPr>
          <p:nvPr/>
        </p:nvSpPr>
        <p:spPr>
          <a:xfrm>
            <a:off x="445770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step-title-2">
            <a:extLst>
              <a:ext uri="{FF2B5EF4-FFF2-40B4-BE49-F238E27FC236}">
                <a16:creationId xmlns:a16="http://schemas.microsoft.com/office/drawing/2014/main" id="{C46A72DE-0025-45C1-B705-1D65992717D1}"/>
              </a:ext>
            </a:extLst>
          </p:cNvPr>
          <p:cNvSpPr>
            <a:spLocks noGrp="1"/>
          </p:cNvSpPr>
          <p:nvPr/>
        </p:nvSpPr>
        <p:spPr>
          <a:xfrm>
            <a:off x="445770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Seqera AI</a:t>
            </a:r>
          </a:p>
        </p:txBody>
      </p:sp>
      <p:sp>
        <p:nvSpPr>
          <p:cNvPr id="17" name="step-copy-2">
            <a:extLst>
              <a:ext uri="{FF2B5EF4-FFF2-40B4-BE49-F238E27FC236}">
                <a16:creationId xmlns:a16="http://schemas.microsoft.com/office/drawing/2014/main" id="{1994A85E-B8B4-4BA2-BE6A-C33082EEDB96}"/>
              </a:ext>
            </a:extLst>
          </p:cNvPr>
          <p:cNvSpPr>
            <a:spLocks noGrp="1"/>
          </p:cNvSpPr>
          <p:nvPr/>
        </p:nvSpPr>
        <p:spPr>
          <a:xfrm>
            <a:off x="445770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Nextflow/nf-core/Platform 問題</a:t>
            </a:r>
          </a:p>
        </p:txBody>
      </p:sp>
      <p:sp>
        <p:nvSpPr>
          <p:cNvPr id="18" name="step-arrow-2">
            <a:extLst>
              <a:ext uri="{FF2B5EF4-FFF2-40B4-BE49-F238E27FC236}">
                <a16:creationId xmlns:a16="http://schemas.microsoft.com/office/drawing/2014/main" id="{6C8A0DE4-2BE6-4D58-8E4E-BF3E0311B4DF}"/>
              </a:ext>
            </a:extLst>
          </p:cNvPr>
          <p:cNvSpPr>
            <a:spLocks noGrp="1"/>
          </p:cNvSpPr>
          <p:nvPr/>
        </p:nvSpPr>
        <p:spPr>
          <a:xfrm>
            <a:off x="579120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step-3">
            <a:extLst>
              <a:ext uri="{FF2B5EF4-FFF2-40B4-BE49-F238E27FC236}">
                <a16:creationId xmlns:a16="http://schemas.microsoft.com/office/drawing/2014/main" id="{0708ABC1-7BF7-4B47-BA49-B1C1F2860392}"/>
              </a:ext>
            </a:extLst>
          </p:cNvPr>
          <p:cNvSpPr>
            <a:spLocks noGrp="1"/>
          </p:cNvSpPr>
          <p:nvPr/>
        </p:nvSpPr>
        <p:spPr>
          <a:xfrm>
            <a:off x="597217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no-3">
            <a:extLst>
              <a:ext uri="{FF2B5EF4-FFF2-40B4-BE49-F238E27FC236}">
                <a16:creationId xmlns:a16="http://schemas.microsoft.com/office/drawing/2014/main" id="{3FBDEB49-321A-4192-9E2E-959360E8709D}"/>
              </a:ext>
            </a:extLst>
          </p:cNvPr>
          <p:cNvSpPr>
            <a:spLocks noGrp="1"/>
          </p:cNvSpPr>
          <p:nvPr/>
        </p:nvSpPr>
        <p:spPr>
          <a:xfrm>
            <a:off x="614362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step-title-3">
            <a:extLst>
              <a:ext uri="{FF2B5EF4-FFF2-40B4-BE49-F238E27FC236}">
                <a16:creationId xmlns:a16="http://schemas.microsoft.com/office/drawing/2014/main" id="{828D2BC5-F379-44CB-B39C-D604441B1B35}"/>
              </a:ext>
            </a:extLst>
          </p:cNvPr>
          <p:cNvSpPr>
            <a:spLocks noGrp="1"/>
          </p:cNvSpPr>
          <p:nvPr/>
        </p:nvSpPr>
        <p:spPr>
          <a:xfrm>
            <a:off x="614362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Codex</a:t>
            </a:r>
          </a:p>
        </p:txBody>
      </p:sp>
      <p:sp>
        <p:nvSpPr>
          <p:cNvPr id="22" name="step-copy-3">
            <a:extLst>
              <a:ext uri="{FF2B5EF4-FFF2-40B4-BE49-F238E27FC236}">
                <a16:creationId xmlns:a16="http://schemas.microsoft.com/office/drawing/2014/main" id="{D34B8CFD-D4A9-427A-8D3B-EE69BAF80822}"/>
              </a:ext>
            </a:extLst>
          </p:cNvPr>
          <p:cNvSpPr>
            <a:spLocks noGrp="1"/>
          </p:cNvSpPr>
          <p:nvPr/>
        </p:nvSpPr>
        <p:spPr>
          <a:xfrm>
            <a:off x="614362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把建議落成可 review 的 diff</a:t>
            </a:r>
          </a:p>
        </p:txBody>
      </p:sp>
      <p:sp>
        <p:nvSpPr>
          <p:cNvPr id="23" name="step-arrow-3">
            <a:extLst>
              <a:ext uri="{FF2B5EF4-FFF2-40B4-BE49-F238E27FC236}">
                <a16:creationId xmlns:a16="http://schemas.microsoft.com/office/drawing/2014/main" id="{D52299C0-DA99-4F53-AEB0-D26C25E062A7}"/>
              </a:ext>
            </a:extLst>
          </p:cNvPr>
          <p:cNvSpPr>
            <a:spLocks noGrp="1"/>
          </p:cNvSpPr>
          <p:nvPr/>
        </p:nvSpPr>
        <p:spPr>
          <a:xfrm>
            <a:off x="7477125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06020C97-0621-4D07-AEB7-E130D7C786FD}"/>
              </a:ext>
            </a:extLst>
          </p:cNvPr>
          <p:cNvSpPr>
            <a:spLocks noGrp="1"/>
          </p:cNvSpPr>
          <p:nvPr/>
        </p:nvSpPr>
        <p:spPr>
          <a:xfrm>
            <a:off x="7658100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tep-no-4">
            <a:extLst>
              <a:ext uri="{FF2B5EF4-FFF2-40B4-BE49-F238E27FC236}">
                <a16:creationId xmlns:a16="http://schemas.microsoft.com/office/drawing/2014/main" id="{2EBD0BE2-E7E2-41DE-8976-2B317361B993}"/>
              </a:ext>
            </a:extLst>
          </p:cNvPr>
          <p:cNvSpPr>
            <a:spLocks noGrp="1"/>
          </p:cNvSpPr>
          <p:nvPr/>
        </p:nvSpPr>
        <p:spPr>
          <a:xfrm>
            <a:off x="7829550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step-title-4">
            <a:extLst>
              <a:ext uri="{FF2B5EF4-FFF2-40B4-BE49-F238E27FC236}">
                <a16:creationId xmlns:a16="http://schemas.microsoft.com/office/drawing/2014/main" id="{39E2432C-35F4-47E2-90E4-AA64D09EB7B7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Human</a:t>
            </a:r>
          </a:p>
        </p:txBody>
      </p:sp>
      <p:sp>
        <p:nvSpPr>
          <p:cNvPr id="27" name="step-copy-4">
            <a:extLst>
              <a:ext uri="{FF2B5EF4-FFF2-40B4-BE49-F238E27FC236}">
                <a16:creationId xmlns:a16="http://schemas.microsoft.com/office/drawing/2014/main" id="{086D4784-6A92-47C8-990D-A4C89606DFA3}"/>
              </a:ext>
            </a:extLst>
          </p:cNvPr>
          <p:cNvSpPr>
            <a:spLocks noGrp="1"/>
          </p:cNvSpPr>
          <p:nvPr/>
        </p:nvSpPr>
        <p:spPr>
          <a:xfrm>
            <a:off x="7829550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批准雲端 run、資料存取與 merge</a:t>
            </a:r>
          </a:p>
        </p:txBody>
      </p:sp>
      <p:sp>
        <p:nvSpPr>
          <p:cNvPr id="28" name="step-arrow-4">
            <a:extLst>
              <a:ext uri="{FF2B5EF4-FFF2-40B4-BE49-F238E27FC236}">
                <a16:creationId xmlns:a16="http://schemas.microsoft.com/office/drawing/2014/main" id="{EA437D6F-DFA1-4E9B-B082-EFFC10C169A1}"/>
              </a:ext>
            </a:extLst>
          </p:cNvPr>
          <p:cNvSpPr>
            <a:spLocks noGrp="1"/>
          </p:cNvSpPr>
          <p:nvPr/>
        </p:nvSpPr>
        <p:spPr>
          <a:xfrm>
            <a:off x="9163050" y="29527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9" name="step-5">
            <a:extLst>
              <a:ext uri="{FF2B5EF4-FFF2-40B4-BE49-F238E27FC236}">
                <a16:creationId xmlns:a16="http://schemas.microsoft.com/office/drawing/2014/main" id="{23F71EF0-D7EB-4EA5-8DA4-D25B024ABCFB}"/>
              </a:ext>
            </a:extLst>
          </p:cNvPr>
          <p:cNvSpPr>
            <a:spLocks noGrp="1"/>
          </p:cNvSpPr>
          <p:nvPr/>
        </p:nvSpPr>
        <p:spPr>
          <a:xfrm>
            <a:off x="9344025" y="2133600"/>
            <a:ext cx="1428750" cy="2000250"/>
          </a:xfrm>
          <a:prstGeom prst="roundRect">
            <a:avLst>
              <a:gd name="adj" fmla="val 533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tep-no-5">
            <a:extLst>
              <a:ext uri="{FF2B5EF4-FFF2-40B4-BE49-F238E27FC236}">
                <a16:creationId xmlns:a16="http://schemas.microsoft.com/office/drawing/2014/main" id="{99F809A0-5C5C-4B79-8BFE-6C2C95804A33}"/>
              </a:ext>
            </a:extLst>
          </p:cNvPr>
          <p:cNvSpPr>
            <a:spLocks noGrp="1"/>
          </p:cNvSpPr>
          <p:nvPr/>
        </p:nvSpPr>
        <p:spPr>
          <a:xfrm>
            <a:off x="9515475" y="23431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step-title-5">
            <a:extLst>
              <a:ext uri="{FF2B5EF4-FFF2-40B4-BE49-F238E27FC236}">
                <a16:creationId xmlns:a16="http://schemas.microsoft.com/office/drawing/2014/main" id="{0F457162-F99A-405D-82A4-E4B6B55BC508}"/>
              </a:ext>
            </a:extLst>
          </p:cNvPr>
          <p:cNvSpPr>
            <a:spLocks noGrp="1"/>
          </p:cNvSpPr>
          <p:nvPr/>
        </p:nvSpPr>
        <p:spPr>
          <a:xfrm>
            <a:off x="9515475" y="2724150"/>
            <a:ext cx="1085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Record</a:t>
            </a:r>
          </a:p>
        </p:txBody>
      </p:sp>
      <p:sp>
        <p:nvSpPr>
          <p:cNvPr id="32" name="step-copy-5">
            <a:extLst>
              <a:ext uri="{FF2B5EF4-FFF2-40B4-BE49-F238E27FC236}">
                <a16:creationId xmlns:a16="http://schemas.microsoft.com/office/drawing/2014/main" id="{AE2FB57D-6BE8-4114-934F-B5E6BFBEFBE2}"/>
              </a:ext>
            </a:extLst>
          </p:cNvPr>
          <p:cNvSpPr>
            <a:spLocks noGrp="1"/>
          </p:cNvSpPr>
          <p:nvPr/>
        </p:nvSpPr>
        <p:spPr>
          <a:xfrm>
            <a:off x="9515475" y="3409950"/>
            <a:ext cx="10858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保存 prompt、run ID、commit</a:t>
            </a:r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6A659778-B8D2-DC46-AFC7-B23BB148F1A5}"/>
              </a:ext>
            </a:extLst>
          </p:cNvPr>
          <p:cNvSpPr/>
          <p:nvPr/>
        </p:nvSpPr>
        <p:spPr>
          <a:xfrm>
            <a:off x="800100" y="5143500"/>
            <a:ext cx="10591800" cy="762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分工的核心：</a:t>
            </a:r>
            <a:r>
              <a:rPr lang="zh-TW" sz="1400" dirty="0">
                <a:solidFill>
                  <a:srgbClr val="404040"/>
                </a:solidFill>
              </a:rPr>
              <a:t>Codex 負責一般程式碼修改，Seqera AI 負責 Nextflow / workflow 領域知識；Human Review 是唯一的合併關卡。</a:t>
            </a:r>
          </a:p>
        </p:txBody>
      </p:sp>
    </p:spTree>
    <p:extLst>
      <p:ext uri="{BB962C8B-B14F-4D97-AF65-F5344CB8AC3E}">
        <p14:creationId xmlns:p14="http://schemas.microsoft.com/office/powerpoint/2010/main" val="38501218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940CF113-74EF-47A1-9684-EBFD437CD4C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SEQERA PROMPT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9EFCEBB-37B9-48C7-97EA-8CA75D1F9BC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給 Seqera AI 的 prompt 要包含 workflow context，而不是只貼錯誤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66555E2F-C4C3-493B-B000-96CAF40D7B8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30/38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023FC078-1F5E-4592-ADFE-9B17806F31D8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Headless prompt example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8CE112B0-4A01-4FCF-A24A-ACA74DA3590A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A60A109B-F26A-4F6E-B33B-8FD63E27D3F2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 --headless "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 am teaching a small RNA-seq style Nextflow lab.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Please review nextflow/main.nf and nextflow.config.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Goals: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read sample_manifest.csv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validate paired FASTQ columns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keep a test profile for local demo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avoid cloud execution unless I approve</a:t>
            </a:r>
          </a:p>
          <a:p>
            <a:endParaRPr sz="750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Please return: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1. likely DSL2 issues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2. missing params/schema checks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3. a minimal patch plan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4. commands to validate locally</a:t>
            </a:r>
          </a:p>
          <a:p>
            <a:pPr algn="l">
              <a:lnSpc>
                <a:spcPct val="106000"/>
              </a:lnSpc>
              <a:buNone/>
              <a:defRPr sz="750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79E4472D-DE4E-4F72-8302-B2507F04FCC1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537A898A-55E2-4FCF-A00A-B9C238B76B89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設計重點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29A0B2C9-E9FA-462A-B2C2-84C6D1C4E88C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說明教學情境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限制不要啟動雲端 run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patch plan 而非直接亂改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local validation commands</a:t>
            </a:r>
          </a:p>
        </p:txBody>
      </p:sp>
      <p:pic>
        <p:nvPicPr>
          <p:cNvPr id="11" name="Graphic 11" descr="Termina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773F432A-53A6-4748-A261-C24AEBD9005B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設計重點：</a:t>
            </a:r>
            <a:r>
              <a:rPr lang="zh-TW" sz="1400" dirty="0">
                <a:solidFill>
                  <a:srgbClr val="404040"/>
                </a:solidFill>
              </a:rPr>
              <a:t>headless 模式適合排入 CI／batch job，記得把輸出導向檔案，方便事後稽核與重播。</a:t>
            </a:r>
          </a:p>
        </p:txBody>
      </p:sp>
    </p:spTree>
    <p:extLst>
      <p:ext uri="{BB962C8B-B14F-4D97-AF65-F5344CB8AC3E}">
        <p14:creationId xmlns:p14="http://schemas.microsoft.com/office/powerpoint/2010/main" val="3992290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yebrow">
            <a:extLst>
              <a:ext uri="{FF2B5EF4-FFF2-40B4-BE49-F238E27FC236}">
                <a16:creationId xmlns:a16="http://schemas.microsoft.com/office/drawing/2014/main" id="{B5FA9383-A5B3-4863-B1F2-056BD11D3B5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NEXTFLOW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FDF94F7-068A-4BB7-AB95-689567B5A8B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Nextflow pipeline 開發可用更嚴格的 validation loop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BC18CB4-BDBB-42F9-9A85-3D1EF844D20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31/38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6810297D-53AA-4D84-8B6E-ADD12C842C77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 test profile 和小樣本做 dry run，不直接上 production data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process input/output、channel shape、params schema 寫清楚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failed work dir、command.log、exit code 追 root cause</a:t>
            </a:r>
          </a:p>
          <a:p>
            <a:pPr marL="342900" indent="-342900">
              <a:lnSpc>
                <a:spcPct val="108000"/>
              </a:lnSpc>
              <a:spcAft>
                <a:spcPts val="1200"/>
              </a:spcAft>
              <a:buClr>
                <a:srgbClr val="6B4AA0"/>
              </a:buClr>
              <a:buFont typeface="Arial"/>
              <a:buChar char="✓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MultiQC/report 是 evidence，不是修飾品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73ADDCED-9970-464A-9254-6618B19AF271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0B2D86E1-D513-4C86-B024-74112B2F9755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常用檢查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7DF7BAA5-2E94-424E-8475-390C0E4A24FF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nextflow run ... -profile test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nf-test test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 validation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run logs / metrics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768F3EB8-41CB-4900-8269-722D562C6391}"/>
              </a:ext>
            </a:extLst>
          </p:cNvPr>
          <p:cNvSpPr>
            <a:spLocks noGrp="1"/>
          </p:cNvSpPr>
          <p:nvPr/>
        </p:nvSpPr>
        <p:spPr>
          <a:xfrm>
            <a:off x="7239000" y="636270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825" b="0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98A1"/>
                </a:solidFill>
                <a:latin typeface="Aptos"/>
                <a:ea typeface="Aptos"/>
                <a:cs typeface="Aptos"/>
              </a:rPr>
              <a:t>Sources: docs.seqera.io/nextflow, training.nextflow.io</a:t>
            </a:r>
          </a:p>
        </p:txBody>
      </p:sp>
      <p:pic>
        <p:nvPicPr>
          <p:cNvPr id="10" name="Graphic 10" descr="Loop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58800" cy="558800"/>
          </a:xfrm>
          <a:prstGeom prst="rect">
            <a:avLst/>
          </a:prstGeom>
        </p:spPr>
      </p:pic>
      <p:sp>
        <p:nvSpPr>
          <p:cNvPr id="11" name="圓角矩形 10">
            <a:extLst>
              <a:ext uri="{FF2B5EF4-FFF2-40B4-BE49-F238E27FC236}">
                <a16:creationId xmlns:a16="http://schemas.microsoft.com/office/drawing/2014/main" id="{BF29691F-E67C-D147-B949-3E535C42F342}"/>
              </a:ext>
            </a:extLst>
          </p:cNvPr>
          <p:cNvSpPr/>
          <p:nvPr/>
        </p:nvSpPr>
        <p:spPr>
          <a:xfrm>
            <a:off x="1651000" y="5435600"/>
            <a:ext cx="89916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原則：</a:t>
            </a:r>
            <a:r>
              <a:rPr lang="zh-TW" sz="1400" dirty="0">
                <a:solidFill>
                  <a:srgbClr val="404040"/>
                </a:solidFill>
              </a:rPr>
              <a:t>先小規模驗證、把介面定義清楚，出錯時靠 log 而非直覺，report 永遠附上。</a:t>
            </a:r>
          </a:p>
        </p:txBody>
      </p:sp>
    </p:spTree>
    <p:extLst>
      <p:ext uri="{BB962C8B-B14F-4D97-AF65-F5344CB8AC3E}">
        <p14:creationId xmlns:p14="http://schemas.microsoft.com/office/powerpoint/2010/main" val="2845455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C4490F0F-3344-4053-91FF-56F25F214A1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SEQERA SAFETY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88DE288-684F-401E-B864-FC50A2A4DC9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連到平台時，安全邊界要比本地 coding 更清楚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D8D0035-8857-4BD7-A3B6-FC396D2ADC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32/38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4877E041-A1C2-4477-9C0A-D69A0C5AFF08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1809750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C1BD572-C192-425F-A19C-A00761E3CD9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581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風險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984D8455-7A6A-4E60-930D-EA9218F8B45F}"/>
              </a:ext>
            </a:extLst>
          </p:cNvPr>
          <p:cNvSpPr>
            <a:spLocks noGrp="1"/>
          </p:cNvSpPr>
          <p:nvPr/>
        </p:nvSpPr>
        <p:spPr>
          <a:xfrm>
            <a:off x="2609850" y="1885950"/>
            <a:ext cx="5572125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55DA8CF7-A2BE-41BE-857E-68DAD23156FB}"/>
              </a:ext>
            </a:extLst>
          </p:cNvPr>
          <p:cNvSpPr>
            <a:spLocks noGrp="1"/>
          </p:cNvSpPr>
          <p:nvPr/>
        </p:nvSpPr>
        <p:spPr>
          <a:xfrm>
            <a:off x="2724150" y="2000250"/>
            <a:ext cx="53435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教學規則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E535B028-FDBB-4557-A76C-B023D9DB5C7A}"/>
              </a:ext>
            </a:extLst>
          </p:cNvPr>
          <p:cNvSpPr>
            <a:spLocks noGrp="1"/>
          </p:cNvSpPr>
          <p:nvPr/>
        </p:nvSpPr>
        <p:spPr>
          <a:xfrm>
            <a:off x="8181975" y="1885950"/>
            <a:ext cx="3000375" cy="419100"/>
          </a:xfrm>
          <a:prstGeom prst="roundRect">
            <a:avLst>
              <a:gd name="adj" fmla="val 9091"/>
            </a:avLst>
          </a:prstGeom>
          <a:solidFill>
            <a:srgbClr val="C85A4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E3483BEE-49CF-45C8-9B65-7570AE73FEB9}"/>
              </a:ext>
            </a:extLst>
          </p:cNvPr>
          <p:cNvSpPr>
            <a:spLocks noGrp="1"/>
          </p:cNvSpPr>
          <p:nvPr/>
        </p:nvSpPr>
        <p:spPr>
          <a:xfrm>
            <a:off x="8296275" y="2000250"/>
            <a:ext cx="27717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原因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50EEF84C-78A9-4B2E-8521-BEB3946A4031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63CB1205-100E-4B23-A62A-A0156A0AC269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Authentication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A668277F-F041-4EC8-A59A-018332D1D6C9}"/>
              </a:ext>
            </a:extLst>
          </p:cNvPr>
          <p:cNvSpPr>
            <a:spLocks noGrp="1"/>
          </p:cNvSpPr>
          <p:nvPr/>
        </p:nvSpPr>
        <p:spPr>
          <a:xfrm>
            <a:off x="2609850" y="230505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40A2C73E-D422-4C13-9C8A-EE6E7393CA1E}"/>
              </a:ext>
            </a:extLst>
          </p:cNvPr>
          <p:cNvSpPr>
            <a:spLocks noGrp="1"/>
          </p:cNvSpPr>
          <p:nvPr/>
        </p:nvSpPr>
        <p:spPr>
          <a:xfrm>
            <a:off x="2724150" y="240030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不在投影片或 repo 放 token；使用 seqera login 或環境變數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A8E5A92E-ACA6-488F-A7F1-A30D0556E367}"/>
              </a:ext>
            </a:extLst>
          </p:cNvPr>
          <p:cNvSpPr>
            <a:spLocks noGrp="1"/>
          </p:cNvSpPr>
          <p:nvPr/>
        </p:nvSpPr>
        <p:spPr>
          <a:xfrm>
            <a:off x="8181975" y="230505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7AB92C79-3073-426D-9601-0B344D1B998F}"/>
              </a:ext>
            </a:extLst>
          </p:cNvPr>
          <p:cNvSpPr>
            <a:spLocks noGrp="1"/>
          </p:cNvSpPr>
          <p:nvPr/>
        </p:nvSpPr>
        <p:spPr>
          <a:xfrm>
            <a:off x="8296275" y="240030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 credential leak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43676FFA-2BAE-4DC4-B115-0B9CA1900D99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C66ECD88-1316-4821-A44A-45E802BC5E0C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Cloud cost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41C470F3-F1B6-445D-B50A-861F0F15116D}"/>
              </a:ext>
            </a:extLst>
          </p:cNvPr>
          <p:cNvSpPr>
            <a:spLocks noGrp="1"/>
          </p:cNvSpPr>
          <p:nvPr/>
        </p:nvSpPr>
        <p:spPr>
          <a:xfrm>
            <a:off x="2609850" y="297180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CC6C0E49-AFA0-4320-8269-732169E5F1A1}"/>
              </a:ext>
            </a:extLst>
          </p:cNvPr>
          <p:cNvSpPr>
            <a:spLocks noGrp="1"/>
          </p:cNvSpPr>
          <p:nvPr/>
        </p:nvSpPr>
        <p:spPr>
          <a:xfrm>
            <a:off x="2724150" y="306705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任何 launch 或 compute environment 修改都要人工批准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4E716F44-2446-47F3-9613-96F4CDCF8EE5}"/>
              </a:ext>
            </a:extLst>
          </p:cNvPr>
          <p:cNvSpPr>
            <a:spLocks noGrp="1"/>
          </p:cNvSpPr>
          <p:nvPr/>
        </p:nvSpPr>
        <p:spPr>
          <a:xfrm>
            <a:off x="8181975" y="297180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079AB9CB-1B26-4326-AA81-5E5EC1A5F9F5}"/>
              </a:ext>
            </a:extLst>
          </p:cNvPr>
          <p:cNvSpPr>
            <a:spLocks noGrp="1"/>
          </p:cNvSpPr>
          <p:nvPr/>
        </p:nvSpPr>
        <p:spPr>
          <a:xfrm>
            <a:off x="8296275" y="306705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避免意外開資源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0CF6D338-A10C-4E11-B2B8-F036C9D4D016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C9F6085F-FC8C-46D5-B896-31E3F6757FB3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Data governance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661B8189-754F-4FA4-A20E-C6843A4D8A1C}"/>
              </a:ext>
            </a:extLst>
          </p:cNvPr>
          <p:cNvSpPr>
            <a:spLocks noGrp="1"/>
          </p:cNvSpPr>
          <p:nvPr/>
        </p:nvSpPr>
        <p:spPr>
          <a:xfrm>
            <a:off x="2609850" y="363855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0F48FC52-5930-4C02-9F45-E8C0C4EF778B}"/>
              </a:ext>
            </a:extLst>
          </p:cNvPr>
          <p:cNvSpPr>
            <a:spLocks noGrp="1"/>
          </p:cNvSpPr>
          <p:nvPr/>
        </p:nvSpPr>
        <p:spPr>
          <a:xfrm>
            <a:off x="2724150" y="373380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不使用真實病人識別資料；demo data 要匿名或合成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52F56465-27CF-4C58-811D-14F0D4863DB2}"/>
              </a:ext>
            </a:extLst>
          </p:cNvPr>
          <p:cNvSpPr>
            <a:spLocks noGrp="1"/>
          </p:cNvSpPr>
          <p:nvPr/>
        </p:nvSpPr>
        <p:spPr>
          <a:xfrm>
            <a:off x="8181975" y="363855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7BA4F7FD-C7A5-45F5-AC1B-1377C5A23930}"/>
              </a:ext>
            </a:extLst>
          </p:cNvPr>
          <p:cNvSpPr>
            <a:spLocks noGrp="1"/>
          </p:cNvSpPr>
          <p:nvPr/>
        </p:nvSpPr>
        <p:spPr>
          <a:xfrm>
            <a:off x="8296275" y="373380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符合 biomedical safety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32C8FB15-1AE8-4021-98A5-0133DE8EA047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1809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36E1C595-CAB8-4905-A361-EB620D93D6AC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581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Workspace actions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A6F055E8-C9AE-4E0B-81FC-AC1C7442F30B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557212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E570B606-110B-4C6F-8229-1AEC0D32BB26}"/>
              </a:ext>
            </a:extLst>
          </p:cNvPr>
          <p:cNvSpPr>
            <a:spLocks noGrp="1"/>
          </p:cNvSpPr>
          <p:nvPr/>
        </p:nvSpPr>
        <p:spPr>
          <a:xfrm>
            <a:off x="2724150" y="4400550"/>
            <a:ext cx="53435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改 dataset、labels、runs 前先要求確認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45824370-E602-4B84-874D-DEFF920959BA}"/>
              </a:ext>
            </a:extLst>
          </p:cNvPr>
          <p:cNvSpPr>
            <a:spLocks noGrp="1"/>
          </p:cNvSpPr>
          <p:nvPr/>
        </p:nvSpPr>
        <p:spPr>
          <a:xfrm>
            <a:off x="8181975" y="4305300"/>
            <a:ext cx="3000375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5EDD7203-7789-4547-8AD5-FB0F42F01DF3}"/>
              </a:ext>
            </a:extLst>
          </p:cNvPr>
          <p:cNvSpPr>
            <a:spLocks noGrp="1"/>
          </p:cNvSpPr>
          <p:nvPr/>
        </p:nvSpPr>
        <p:spPr>
          <a:xfrm>
            <a:off x="8296275" y="4400550"/>
            <a:ext cx="27717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外部狀態不可隨意變更</a:t>
            </a:r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7409FF90-CFBE-F84B-A52F-9242AF3EBD4F}"/>
              </a:ext>
            </a:extLst>
          </p:cNvPr>
          <p:cNvSpPr/>
          <p:nvPr/>
        </p:nvSpPr>
        <p:spPr>
          <a:xfrm>
            <a:off x="1498600" y="5207000"/>
            <a:ext cx="96901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紅線：</a:t>
            </a:r>
            <a:r>
              <a:rPr lang="zh-TW" sz="1400" dirty="0">
                <a:solidFill>
                  <a:srgbClr val="404040"/>
                </a:solidFill>
              </a:rPr>
              <a:t>雲端資源、費用與病人資料相關的操作一律要人類核可，agent 只能提出建議，不能自己按下確認鍵。</a:t>
            </a:r>
          </a:p>
        </p:txBody>
      </p:sp>
      <p:pic>
        <p:nvPicPr>
          <p:cNvPr id="37" name="Graphic 37" descr="Safety shield icon re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2705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3647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6B559059-E17B-4795-BF1E-E166C70FE59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DEMO SCENARIO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F5EFB83-2423-4CA3-8EE6-6D09AA913A3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完整 demo：manifest validation + Nextflow review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18C923A-8ECC-4851-9210-EC5528B207F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33/38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14D90654-54C2-451F-B36C-85475668A55E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Scenario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11BEA090-250E-493E-990D-20AB8D440F0B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79E450C4-C592-4622-8F60-EEF6C82D81AA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Input: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sample_manifest.csv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scripts/validate_manifest.py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nextflow/main.nf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Task A with coding agent: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improve manifest validator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run sample smoke test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report invalid rows</a:t>
            </a:r>
          </a:p>
          <a:p>
            <a:endParaRPr sz="97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Task B with Seqera AI: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review Nextflow test profile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identify DSL2 / params issues</a:t>
            </a:r>
          </a:p>
          <a:p>
            <a:pPr algn="l">
              <a:lnSpc>
                <a:spcPct val="106000"/>
              </a:lnSpc>
              <a:buNone/>
              <a:defRPr sz="9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- suggest local validation commands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5AC448AF-267B-47C5-AF8F-9F96D6038279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1FAD2BA9-ADE6-4726-B51E-13B64372257D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Expected outputs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C9B3EAEB-32EF-4CA9-BB1B-F689F9EE4255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validator patch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command output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review notes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human-approved next actions</a:t>
            </a:r>
          </a:p>
        </p:txBody>
      </p:sp>
      <p:pic>
        <p:nvPicPr>
          <p:cNvPr id="11" name="Graphic 11" descr="Flask icon for demo scenari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A0CB1E74-CC46-F148-8113-3B06FF9273DA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EEF6EE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438D4A"/>
                </a:solidFill>
              </a:rPr>
              <a:t>為什麼選這個情境：</a:t>
            </a:r>
            <a:r>
              <a:rPr lang="zh-TW" sz="1400" dirty="0">
                <a:solidFill>
                  <a:srgbClr val="404040"/>
                </a:solidFill>
              </a:rPr>
              <a:t>公開測試資料、流程單純、結果可驗證，讓學生把注意力放在 handoff 分工而非除錯資料本身。</a:t>
            </a:r>
          </a:p>
        </p:txBody>
      </p:sp>
    </p:spTree>
    <p:extLst>
      <p:ext uri="{BB962C8B-B14F-4D97-AF65-F5344CB8AC3E}">
        <p14:creationId xmlns:p14="http://schemas.microsoft.com/office/powerpoint/2010/main" val="3471549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8BC6A87E-548A-43EE-8C4A-E9B0DBA8ED8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 NOT DELEGATE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ABC6006-5850-46F4-8678-6463D19A2AB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有些事情可以讓 agent 幫忙準備，但不能讓它自行決定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C0F743F-2E2E-4C43-97A7-366C32EDB8F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34/38</a:t>
            </a:r>
          </a:p>
        </p:txBody>
      </p:sp>
      <p:sp>
        <p:nvSpPr>
          <p:cNvPr id="4" name="left-bullets">
            <a:extLst>
              <a:ext uri="{FF2B5EF4-FFF2-40B4-BE49-F238E27FC236}">
                <a16:creationId xmlns:a16="http://schemas.microsoft.com/office/drawing/2014/main" id="{2549DAAE-B4B8-4AF1-93FB-835598D26549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53340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自行判定臨床建議、治療策略或病患處置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自行上傳、下載或移動敏感資料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未經同意啟動昂貴雲端工作流</a:t>
            </a:r>
          </a:p>
          <a:p>
            <a:pPr marL="285750" indent="-285750">
              <a:lnSpc>
                <a:spcPct val="108000"/>
              </a:lnSpc>
              <a:spcAft>
                <a:spcPts val="1200"/>
              </a:spcAft>
              <a:buClr>
                <a:srgbClr val="C85A4A"/>
              </a:buClr>
              <a:buFont typeface="Arial"/>
              <a:buChar char="✗"/>
            </a:pPr>
            <a:r>
              <a:rPr lang="zh-TW" sz="165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不能讓 agent 在未 review 的情況下 merge 或覆蓋他人工作</a:t>
            </a:r>
          </a:p>
        </p:txBody>
      </p:sp>
      <p:sp>
        <p:nvSpPr>
          <p:cNvPr id="5" name="right-box">
            <a:extLst>
              <a:ext uri="{FF2B5EF4-FFF2-40B4-BE49-F238E27FC236}">
                <a16:creationId xmlns:a16="http://schemas.microsoft.com/office/drawing/2014/main" id="{8BBCA500-D0C7-4C51-AB43-07815F131D48}"/>
              </a:ext>
            </a:extLst>
          </p:cNvPr>
          <p:cNvSpPr>
            <a:spLocks noGrp="1"/>
          </p:cNvSpPr>
          <p:nvPr/>
        </p:nvSpPr>
        <p:spPr>
          <a:xfrm>
            <a:off x="6724650" y="1809750"/>
            <a:ext cx="3905250" cy="3143250"/>
          </a:xfrm>
          <a:prstGeom prst="roundRect">
            <a:avLst>
              <a:gd name="adj" fmla="val 242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right-title">
            <a:extLst>
              <a:ext uri="{FF2B5EF4-FFF2-40B4-BE49-F238E27FC236}">
                <a16:creationId xmlns:a16="http://schemas.microsoft.com/office/drawing/2014/main" id="{25DDB925-6F1A-433B-B779-A58D08645CFC}"/>
              </a:ext>
            </a:extLst>
          </p:cNvPr>
          <p:cNvSpPr>
            <a:spLocks noGrp="1"/>
          </p:cNvSpPr>
          <p:nvPr/>
        </p:nvSpPr>
        <p:spPr>
          <a:xfrm>
            <a:off x="7067550" y="2152650"/>
            <a:ext cx="3143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人要負責</a:t>
            </a:r>
          </a:p>
        </p:txBody>
      </p:sp>
      <p:sp>
        <p:nvSpPr>
          <p:cNvPr id="7" name="right-bullets">
            <a:extLst>
              <a:ext uri="{FF2B5EF4-FFF2-40B4-BE49-F238E27FC236}">
                <a16:creationId xmlns:a16="http://schemas.microsoft.com/office/drawing/2014/main" id="{A676F867-F85E-4412-A926-7A751774A1A9}"/>
              </a:ext>
            </a:extLst>
          </p:cNvPr>
          <p:cNvSpPr>
            <a:spLocks noGrp="1"/>
          </p:cNvSpPr>
          <p:nvPr/>
        </p:nvSpPr>
        <p:spPr>
          <a:xfrm>
            <a:off x="7105650" y="2781300"/>
            <a:ext cx="30099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claims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data access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cloud execution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merge decision</a:t>
            </a:r>
          </a:p>
        </p:txBody>
      </p:sp>
      <p:pic>
        <p:nvPicPr>
          <p:cNvPr id="9" name="Graphic 9" descr="No sign icon for do-not-delega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499100"/>
            <a:ext cx="533400" cy="533400"/>
          </a:xfrm>
          <a:prstGeom prst="rect">
            <a:avLst/>
          </a:prstGeom>
        </p:spPr>
      </p:pic>
      <p:sp>
        <p:nvSpPr>
          <p:cNvPr id="10" name="圓角矩形 9">
            <a:extLst>
              <a:ext uri="{FF2B5EF4-FFF2-40B4-BE49-F238E27FC236}">
                <a16:creationId xmlns:a16="http://schemas.microsoft.com/office/drawing/2014/main" id="{5D65EEE5-77B4-A948-899C-4AC6269A84D9}"/>
              </a:ext>
            </a:extLst>
          </p:cNvPr>
          <p:cNvSpPr/>
          <p:nvPr/>
        </p:nvSpPr>
        <p:spPr>
          <a:xfrm>
            <a:off x="1651000" y="5435600"/>
            <a:ext cx="9525000" cy="698500"/>
          </a:xfrm>
          <a:prstGeom prst="roundRect">
            <a:avLst/>
          </a:prstGeom>
          <a:solidFill>
            <a:srgbClr val="FBEEEC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C85A4A"/>
                </a:solidFill>
              </a:rPr>
              <a:t>紅線：</a:t>
            </a:r>
            <a:r>
              <a:rPr lang="zh-TW" sz="1400" dirty="0">
                <a:solidFill>
                  <a:srgbClr val="404040"/>
                </a:solidFill>
              </a:rPr>
              <a:t>這些決策永遠需要人類簽核，agent 只能提供草稿或建議，不能取代最終判斷。</a:t>
            </a:r>
          </a:p>
        </p:txBody>
      </p:sp>
    </p:spTree>
    <p:extLst>
      <p:ext uri="{BB962C8B-B14F-4D97-AF65-F5344CB8AC3E}">
        <p14:creationId xmlns:p14="http://schemas.microsoft.com/office/powerpoint/2010/main" val="37685351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eyebrow">
            <a:extLst>
              <a:ext uri="{FF2B5EF4-FFF2-40B4-BE49-F238E27FC236}">
                <a16:creationId xmlns:a16="http://schemas.microsoft.com/office/drawing/2014/main" id="{25589803-52B0-444C-AC23-8DFB45C1FE5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STUDENT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2D5671-C734-4E40-978F-A39F0F92860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學生練習分成 coding agent 與 Seqera AI 兩個 prompt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9C9470C5-DD9B-463F-8E0C-75A471419D5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35/38</a:t>
            </a:r>
          </a:p>
        </p:txBody>
      </p:sp>
      <p:sp>
        <p:nvSpPr>
          <p:cNvPr id="4" name="header-0">
            <a:extLst>
              <a:ext uri="{FF2B5EF4-FFF2-40B4-BE49-F238E27FC236}">
                <a16:creationId xmlns:a16="http://schemas.microsoft.com/office/drawing/2014/main" id="{6E9D2834-B419-4F08-9068-46299F6916B7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2000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eader-text-0">
            <a:extLst>
              <a:ext uri="{FF2B5EF4-FFF2-40B4-BE49-F238E27FC236}">
                <a16:creationId xmlns:a16="http://schemas.microsoft.com/office/drawing/2014/main" id="{EF218826-B0E0-4197-B5CC-2072F45CA4F7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階段</a:t>
            </a:r>
          </a:p>
        </p:txBody>
      </p:sp>
      <p:sp>
        <p:nvSpPr>
          <p:cNvPr id="6" name="header-1">
            <a:extLst>
              <a:ext uri="{FF2B5EF4-FFF2-40B4-BE49-F238E27FC236}">
                <a16:creationId xmlns:a16="http://schemas.microsoft.com/office/drawing/2014/main" id="{3144A076-7252-4E3B-AA26-9BA59DAA5AA7}"/>
              </a:ext>
            </a:extLst>
          </p:cNvPr>
          <p:cNvSpPr>
            <a:spLocks noGrp="1"/>
          </p:cNvSpPr>
          <p:nvPr/>
        </p:nvSpPr>
        <p:spPr>
          <a:xfrm>
            <a:off x="2800350" y="1885950"/>
            <a:ext cx="46672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header-text-1">
            <a:extLst>
              <a:ext uri="{FF2B5EF4-FFF2-40B4-BE49-F238E27FC236}">
                <a16:creationId xmlns:a16="http://schemas.microsoft.com/office/drawing/2014/main" id="{76E82D83-AF72-40A5-80FD-3819255AA22C}"/>
              </a:ext>
            </a:extLst>
          </p:cNvPr>
          <p:cNvSpPr>
            <a:spLocks noGrp="1"/>
          </p:cNvSpPr>
          <p:nvPr/>
        </p:nvSpPr>
        <p:spPr>
          <a:xfrm>
            <a:off x="2914650" y="2000250"/>
            <a:ext cx="4438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交付物</a:t>
            </a:r>
          </a:p>
        </p:txBody>
      </p:sp>
      <p:sp>
        <p:nvSpPr>
          <p:cNvPr id="8" name="header-2">
            <a:extLst>
              <a:ext uri="{FF2B5EF4-FFF2-40B4-BE49-F238E27FC236}">
                <a16:creationId xmlns:a16="http://schemas.microsoft.com/office/drawing/2014/main" id="{4CF07B65-A664-4A2D-80D3-FD8537CA69E0}"/>
              </a:ext>
            </a:extLst>
          </p:cNvPr>
          <p:cNvSpPr>
            <a:spLocks noGrp="1"/>
          </p:cNvSpPr>
          <p:nvPr/>
        </p:nvSpPr>
        <p:spPr>
          <a:xfrm>
            <a:off x="7467600" y="1885950"/>
            <a:ext cx="3714750" cy="419100"/>
          </a:xfrm>
          <a:prstGeom prst="roundRect">
            <a:avLst>
              <a:gd name="adj" fmla="val 9091"/>
            </a:avLst>
          </a:prstGeom>
          <a:solidFill>
            <a:srgbClr val="3446A8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er-text-2">
            <a:extLst>
              <a:ext uri="{FF2B5EF4-FFF2-40B4-BE49-F238E27FC236}">
                <a16:creationId xmlns:a16="http://schemas.microsoft.com/office/drawing/2014/main" id="{6A25523F-C443-4F4F-BE9E-48A79ADAA7EC}"/>
              </a:ext>
            </a:extLst>
          </p:cNvPr>
          <p:cNvSpPr>
            <a:spLocks noGrp="1"/>
          </p:cNvSpPr>
          <p:nvPr/>
        </p:nvSpPr>
        <p:spPr>
          <a:xfrm>
            <a:off x="7581900" y="2000250"/>
            <a:ext cx="3486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評分檢查</a:t>
            </a:r>
          </a:p>
        </p:txBody>
      </p:sp>
      <p:sp>
        <p:nvSpPr>
          <p:cNvPr id="10" name="cell-0-0">
            <a:extLst>
              <a:ext uri="{FF2B5EF4-FFF2-40B4-BE49-F238E27FC236}">
                <a16:creationId xmlns:a16="http://schemas.microsoft.com/office/drawing/2014/main" id="{B13F180A-1D93-4836-BCEA-42B2055402E8}"/>
              </a:ext>
            </a:extLst>
          </p:cNvPr>
          <p:cNvSpPr>
            <a:spLocks noGrp="1"/>
          </p:cNvSpPr>
          <p:nvPr/>
        </p:nvSpPr>
        <p:spPr>
          <a:xfrm>
            <a:off x="800100" y="230505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ell-text-0-0">
            <a:extLst>
              <a:ext uri="{FF2B5EF4-FFF2-40B4-BE49-F238E27FC236}">
                <a16:creationId xmlns:a16="http://schemas.microsoft.com/office/drawing/2014/main" id="{308084DC-6017-4BF8-A9C5-FA648EADDDF9}"/>
              </a:ext>
            </a:extLst>
          </p:cNvPr>
          <p:cNvSpPr>
            <a:spLocks noGrp="1"/>
          </p:cNvSpPr>
          <p:nvPr/>
        </p:nvSpPr>
        <p:spPr>
          <a:xfrm>
            <a:off x="914400" y="240030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prompt</a:t>
            </a:r>
          </a:p>
        </p:txBody>
      </p:sp>
      <p:sp>
        <p:nvSpPr>
          <p:cNvPr id="12" name="cell-0-1">
            <a:extLst>
              <a:ext uri="{FF2B5EF4-FFF2-40B4-BE49-F238E27FC236}">
                <a16:creationId xmlns:a16="http://schemas.microsoft.com/office/drawing/2014/main" id="{4025F161-8C20-4507-B6CD-158C9EEFF355}"/>
              </a:ext>
            </a:extLst>
          </p:cNvPr>
          <p:cNvSpPr>
            <a:spLocks noGrp="1"/>
          </p:cNvSpPr>
          <p:nvPr/>
        </p:nvSpPr>
        <p:spPr>
          <a:xfrm>
            <a:off x="2800350" y="230505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ell-text-0-1">
            <a:extLst>
              <a:ext uri="{FF2B5EF4-FFF2-40B4-BE49-F238E27FC236}">
                <a16:creationId xmlns:a16="http://schemas.microsoft.com/office/drawing/2014/main" id="{DA2119FF-C2DD-4062-9DC6-00C05576152A}"/>
              </a:ext>
            </a:extLst>
          </p:cNvPr>
          <p:cNvSpPr>
            <a:spLocks noGrp="1"/>
          </p:cNvSpPr>
          <p:nvPr/>
        </p:nvSpPr>
        <p:spPr>
          <a:xfrm>
            <a:off x="2914650" y="240030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read set、allowed write、validation command</a:t>
            </a:r>
          </a:p>
        </p:txBody>
      </p:sp>
      <p:sp>
        <p:nvSpPr>
          <p:cNvPr id="14" name="cell-0-2">
            <a:extLst>
              <a:ext uri="{FF2B5EF4-FFF2-40B4-BE49-F238E27FC236}">
                <a16:creationId xmlns:a16="http://schemas.microsoft.com/office/drawing/2014/main" id="{948CFCB8-0617-4A5D-A792-879B8FF7CAC8}"/>
              </a:ext>
            </a:extLst>
          </p:cNvPr>
          <p:cNvSpPr>
            <a:spLocks noGrp="1"/>
          </p:cNvSpPr>
          <p:nvPr/>
        </p:nvSpPr>
        <p:spPr>
          <a:xfrm>
            <a:off x="7467600" y="230505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ell-text-0-2">
            <a:extLst>
              <a:ext uri="{FF2B5EF4-FFF2-40B4-BE49-F238E27FC236}">
                <a16:creationId xmlns:a16="http://schemas.microsoft.com/office/drawing/2014/main" id="{E313A1E3-35F7-4013-851E-740A86A51F5D}"/>
              </a:ext>
            </a:extLst>
          </p:cNvPr>
          <p:cNvSpPr>
            <a:spLocks noGrp="1"/>
          </p:cNvSpPr>
          <p:nvPr/>
        </p:nvSpPr>
        <p:spPr>
          <a:xfrm>
            <a:off x="7581900" y="240030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是否限制 scope</a:t>
            </a:r>
          </a:p>
        </p:txBody>
      </p:sp>
      <p:sp>
        <p:nvSpPr>
          <p:cNvPr id="16" name="cell-1-0">
            <a:extLst>
              <a:ext uri="{FF2B5EF4-FFF2-40B4-BE49-F238E27FC236}">
                <a16:creationId xmlns:a16="http://schemas.microsoft.com/office/drawing/2014/main" id="{837BBEE1-992E-4F27-9E7D-0B509CA86EC1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ell-text-1-0">
            <a:extLst>
              <a:ext uri="{FF2B5EF4-FFF2-40B4-BE49-F238E27FC236}">
                <a16:creationId xmlns:a16="http://schemas.microsoft.com/office/drawing/2014/main" id="{336BF577-C9F8-4971-A46B-38F5505C32B2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Patch review</a:t>
            </a:r>
          </a:p>
        </p:txBody>
      </p:sp>
      <p:sp>
        <p:nvSpPr>
          <p:cNvPr id="18" name="cell-1-1">
            <a:extLst>
              <a:ext uri="{FF2B5EF4-FFF2-40B4-BE49-F238E27FC236}">
                <a16:creationId xmlns:a16="http://schemas.microsoft.com/office/drawing/2014/main" id="{5CCFCD13-914D-4B28-A1D9-DD6CE5CBDBB8}"/>
              </a:ext>
            </a:extLst>
          </p:cNvPr>
          <p:cNvSpPr>
            <a:spLocks noGrp="1"/>
          </p:cNvSpPr>
          <p:nvPr/>
        </p:nvSpPr>
        <p:spPr>
          <a:xfrm>
            <a:off x="2800350" y="297180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ell-text-1-1">
            <a:extLst>
              <a:ext uri="{FF2B5EF4-FFF2-40B4-BE49-F238E27FC236}">
                <a16:creationId xmlns:a16="http://schemas.microsoft.com/office/drawing/2014/main" id="{7FA138A2-5C5A-4051-9304-3A6211475444}"/>
              </a:ext>
            </a:extLst>
          </p:cNvPr>
          <p:cNvSpPr>
            <a:spLocks noGrp="1"/>
          </p:cNvSpPr>
          <p:nvPr/>
        </p:nvSpPr>
        <p:spPr>
          <a:xfrm>
            <a:off x="2914650" y="306705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diff 摘要、測試結果、風險清單</a:t>
            </a:r>
          </a:p>
        </p:txBody>
      </p:sp>
      <p:sp>
        <p:nvSpPr>
          <p:cNvPr id="20" name="cell-1-2">
            <a:extLst>
              <a:ext uri="{FF2B5EF4-FFF2-40B4-BE49-F238E27FC236}">
                <a16:creationId xmlns:a16="http://schemas.microsoft.com/office/drawing/2014/main" id="{C5C0FA7E-A6D4-47A2-BCE7-92DF9CB786E5}"/>
              </a:ext>
            </a:extLst>
          </p:cNvPr>
          <p:cNvSpPr>
            <a:spLocks noGrp="1"/>
          </p:cNvSpPr>
          <p:nvPr/>
        </p:nvSpPr>
        <p:spPr>
          <a:xfrm>
            <a:off x="7467600" y="297180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cell-text-1-2">
            <a:extLst>
              <a:ext uri="{FF2B5EF4-FFF2-40B4-BE49-F238E27FC236}">
                <a16:creationId xmlns:a16="http://schemas.microsoft.com/office/drawing/2014/main" id="{76AF72B0-6FB5-499C-B873-11E8E17498C3}"/>
              </a:ext>
            </a:extLst>
          </p:cNvPr>
          <p:cNvSpPr>
            <a:spLocks noGrp="1"/>
          </p:cNvSpPr>
          <p:nvPr/>
        </p:nvSpPr>
        <p:spPr>
          <a:xfrm>
            <a:off x="7581900" y="306705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是否可重跑</a:t>
            </a:r>
          </a:p>
        </p:txBody>
      </p:sp>
      <p:sp>
        <p:nvSpPr>
          <p:cNvPr id="22" name="cell-2-0">
            <a:extLst>
              <a:ext uri="{FF2B5EF4-FFF2-40B4-BE49-F238E27FC236}">
                <a16:creationId xmlns:a16="http://schemas.microsoft.com/office/drawing/2014/main" id="{D2B81BA8-86C1-4365-9469-10F36100F1B1}"/>
              </a:ext>
            </a:extLst>
          </p:cNvPr>
          <p:cNvSpPr>
            <a:spLocks noGrp="1"/>
          </p:cNvSpPr>
          <p:nvPr/>
        </p:nvSpPr>
        <p:spPr>
          <a:xfrm>
            <a:off x="800100" y="363855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cell-text-2-0">
            <a:extLst>
              <a:ext uri="{FF2B5EF4-FFF2-40B4-BE49-F238E27FC236}">
                <a16:creationId xmlns:a16="http://schemas.microsoft.com/office/drawing/2014/main" id="{D1D47A3B-F70B-459E-A432-564B8FA5181D}"/>
              </a:ext>
            </a:extLst>
          </p:cNvPr>
          <p:cNvSpPr>
            <a:spLocks noGrp="1"/>
          </p:cNvSpPr>
          <p:nvPr/>
        </p:nvSpPr>
        <p:spPr>
          <a:xfrm>
            <a:off x="914400" y="373380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Seqera AI prompt</a:t>
            </a:r>
          </a:p>
        </p:txBody>
      </p:sp>
      <p:sp>
        <p:nvSpPr>
          <p:cNvPr id="24" name="cell-2-1">
            <a:extLst>
              <a:ext uri="{FF2B5EF4-FFF2-40B4-BE49-F238E27FC236}">
                <a16:creationId xmlns:a16="http://schemas.microsoft.com/office/drawing/2014/main" id="{BC5CC803-2FFE-421D-8E13-B99990100889}"/>
              </a:ext>
            </a:extLst>
          </p:cNvPr>
          <p:cNvSpPr>
            <a:spLocks noGrp="1"/>
          </p:cNvSpPr>
          <p:nvPr/>
        </p:nvSpPr>
        <p:spPr>
          <a:xfrm>
            <a:off x="2800350" y="363855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cell-text-2-1">
            <a:extLst>
              <a:ext uri="{FF2B5EF4-FFF2-40B4-BE49-F238E27FC236}">
                <a16:creationId xmlns:a16="http://schemas.microsoft.com/office/drawing/2014/main" id="{39764066-C65F-4C14-9A49-56F89FA1EAD3}"/>
              </a:ext>
            </a:extLst>
          </p:cNvPr>
          <p:cNvSpPr>
            <a:spLocks noGrp="1"/>
          </p:cNvSpPr>
          <p:nvPr/>
        </p:nvSpPr>
        <p:spPr>
          <a:xfrm>
            <a:off x="2914650" y="373380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Nextflow context、禁止外部 action、期望輸出</a:t>
            </a:r>
          </a:p>
        </p:txBody>
      </p:sp>
      <p:sp>
        <p:nvSpPr>
          <p:cNvPr id="26" name="cell-2-2">
            <a:extLst>
              <a:ext uri="{FF2B5EF4-FFF2-40B4-BE49-F238E27FC236}">
                <a16:creationId xmlns:a16="http://schemas.microsoft.com/office/drawing/2014/main" id="{32DAD4D7-DE41-429F-91AF-59E789AB1230}"/>
              </a:ext>
            </a:extLst>
          </p:cNvPr>
          <p:cNvSpPr>
            <a:spLocks noGrp="1"/>
          </p:cNvSpPr>
          <p:nvPr/>
        </p:nvSpPr>
        <p:spPr>
          <a:xfrm>
            <a:off x="7467600" y="363855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cell-text-2-2">
            <a:extLst>
              <a:ext uri="{FF2B5EF4-FFF2-40B4-BE49-F238E27FC236}">
                <a16:creationId xmlns:a16="http://schemas.microsoft.com/office/drawing/2014/main" id="{A5C9E752-CD91-4515-B9B9-EAC2B1F0505F}"/>
              </a:ext>
            </a:extLst>
          </p:cNvPr>
          <p:cNvSpPr>
            <a:spLocks noGrp="1"/>
          </p:cNvSpPr>
          <p:nvPr/>
        </p:nvSpPr>
        <p:spPr>
          <a:xfrm>
            <a:off x="7581900" y="373380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是否適合 domain agent</a:t>
            </a:r>
          </a:p>
        </p:txBody>
      </p:sp>
      <p:sp>
        <p:nvSpPr>
          <p:cNvPr id="28" name="cell-3-0">
            <a:extLst>
              <a:ext uri="{FF2B5EF4-FFF2-40B4-BE49-F238E27FC236}">
                <a16:creationId xmlns:a16="http://schemas.microsoft.com/office/drawing/2014/main" id="{F02C79FF-619C-4702-877B-E62D4DB53074}"/>
              </a:ext>
            </a:extLst>
          </p:cNvPr>
          <p:cNvSpPr>
            <a:spLocks noGrp="1"/>
          </p:cNvSpPr>
          <p:nvPr/>
        </p:nvSpPr>
        <p:spPr>
          <a:xfrm>
            <a:off x="800100" y="4305300"/>
            <a:ext cx="2000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cell-text-3-0">
            <a:extLst>
              <a:ext uri="{FF2B5EF4-FFF2-40B4-BE49-F238E27FC236}">
                <a16:creationId xmlns:a16="http://schemas.microsoft.com/office/drawing/2014/main" id="{12158EBB-D051-4124-A4A3-66E43251ECFE}"/>
              </a:ext>
            </a:extLst>
          </p:cNvPr>
          <p:cNvSpPr>
            <a:spLocks noGrp="1"/>
          </p:cNvSpPr>
          <p:nvPr/>
        </p:nvSpPr>
        <p:spPr>
          <a:xfrm>
            <a:off x="914400" y="4400550"/>
            <a:ext cx="1771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Final note</a:t>
            </a:r>
          </a:p>
        </p:txBody>
      </p:sp>
      <p:sp>
        <p:nvSpPr>
          <p:cNvPr id="30" name="cell-3-1">
            <a:extLst>
              <a:ext uri="{FF2B5EF4-FFF2-40B4-BE49-F238E27FC236}">
                <a16:creationId xmlns:a16="http://schemas.microsoft.com/office/drawing/2014/main" id="{C58E6649-5BCA-4622-AABA-06B107E0D8FB}"/>
              </a:ext>
            </a:extLst>
          </p:cNvPr>
          <p:cNvSpPr>
            <a:spLocks noGrp="1"/>
          </p:cNvSpPr>
          <p:nvPr/>
        </p:nvSpPr>
        <p:spPr>
          <a:xfrm>
            <a:off x="2800350" y="4305300"/>
            <a:ext cx="46672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cell-text-3-1">
            <a:extLst>
              <a:ext uri="{FF2B5EF4-FFF2-40B4-BE49-F238E27FC236}">
                <a16:creationId xmlns:a16="http://schemas.microsoft.com/office/drawing/2014/main" id="{BFC8BC34-6340-4329-AC51-71CBB385FFE8}"/>
              </a:ext>
            </a:extLst>
          </p:cNvPr>
          <p:cNvSpPr>
            <a:spLocks noGrp="1"/>
          </p:cNvSpPr>
          <p:nvPr/>
        </p:nvSpPr>
        <p:spPr>
          <a:xfrm>
            <a:off x="2914650" y="4400550"/>
            <a:ext cx="4438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commit hash 或 pseudo-patch plan</a:t>
            </a:r>
          </a:p>
        </p:txBody>
      </p:sp>
      <p:sp>
        <p:nvSpPr>
          <p:cNvPr id="32" name="cell-3-2">
            <a:extLst>
              <a:ext uri="{FF2B5EF4-FFF2-40B4-BE49-F238E27FC236}">
                <a16:creationId xmlns:a16="http://schemas.microsoft.com/office/drawing/2014/main" id="{E4CFCD08-6D06-4D2B-B558-A048490188DF}"/>
              </a:ext>
            </a:extLst>
          </p:cNvPr>
          <p:cNvSpPr>
            <a:spLocks noGrp="1"/>
          </p:cNvSpPr>
          <p:nvPr/>
        </p:nvSpPr>
        <p:spPr>
          <a:xfrm>
            <a:off x="7467600" y="4305300"/>
            <a:ext cx="3714750" cy="666750"/>
          </a:xfrm>
          <a:prstGeom prst="roundRect">
            <a:avLst>
              <a:gd name="adj" fmla="val 5714"/>
            </a:avLst>
          </a:prstGeom>
          <a:solidFill>
            <a:srgbClr val="F1F4F5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cell-text-3-2">
            <a:extLst>
              <a:ext uri="{FF2B5EF4-FFF2-40B4-BE49-F238E27FC236}">
                <a16:creationId xmlns:a16="http://schemas.microsoft.com/office/drawing/2014/main" id="{CD21D4A5-9C6C-4FDC-82C1-9CD2F7A567F3}"/>
              </a:ext>
            </a:extLst>
          </p:cNvPr>
          <p:cNvSpPr>
            <a:spLocks noGrp="1"/>
          </p:cNvSpPr>
          <p:nvPr/>
        </p:nvSpPr>
        <p:spPr>
          <a:xfrm>
            <a:off x="7581900" y="4400550"/>
            <a:ext cx="3486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是否可追溯</a:t>
            </a:r>
          </a:p>
        </p:txBody>
      </p:sp>
      <p:pic>
        <p:nvPicPr>
          <p:cNvPr id="35" name="Graphic 35" descr="Graduation cap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100" y="5334000"/>
            <a:ext cx="533400" cy="533400"/>
          </a:xfrm>
          <a:prstGeom prst="rect">
            <a:avLst/>
          </a:prstGeom>
        </p:spPr>
      </p:pic>
      <p:sp>
        <p:nvSpPr>
          <p:cNvPr id="36" name="圓角矩形 35">
            <a:extLst>
              <a:ext uri="{FF2B5EF4-FFF2-40B4-BE49-F238E27FC236}">
                <a16:creationId xmlns:a16="http://schemas.microsoft.com/office/drawing/2014/main" id="{394E8612-C709-B94B-9A6E-692740143B3A}"/>
              </a:ext>
            </a:extLst>
          </p:cNvPr>
          <p:cNvSpPr/>
          <p:nvPr/>
        </p:nvSpPr>
        <p:spPr>
          <a:xfrm>
            <a:off x="1498600" y="5270500"/>
            <a:ext cx="9690100" cy="698500"/>
          </a:xfrm>
          <a:prstGeom prst="roundRect">
            <a:avLst/>
          </a:prstGeom>
          <a:solidFill>
            <a:srgbClr val="EE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提醒：</a:t>
            </a:r>
            <a:r>
              <a:rPr lang="zh-TW" sz="1400" dirty="0">
                <a:solidFill>
                  <a:srgbClr val="404040"/>
                </a:solidFill>
              </a:rPr>
              <a:t>三個 phase 循序漸進，先確認 agent 有讀懂 repo，再放手讓它動手改 —— 每個 phase 都要留下可驗證的 diff。</a:t>
            </a:r>
          </a:p>
        </p:txBody>
      </p:sp>
    </p:spTree>
    <p:extLst>
      <p:ext uri="{BB962C8B-B14F-4D97-AF65-F5344CB8AC3E}">
        <p14:creationId xmlns:p14="http://schemas.microsoft.com/office/powerpoint/2010/main" val="20148265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AAD7D159-8740-4047-9142-8A7365DFABF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CHEAT SHEET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0F45BBE-CBD6-4074-86D1-77E2D5013C8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今天可直接帶走的 prompt checklist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B1A1C1D-21EC-4817-A8E6-2B69E680956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36/38</a:t>
            </a:r>
          </a:p>
        </p:txBody>
      </p:sp>
      <p:sp>
        <p:nvSpPr>
          <p:cNvPr id="4" name="left-title">
            <a:extLst>
              <a:ext uri="{FF2B5EF4-FFF2-40B4-BE49-F238E27FC236}">
                <a16:creationId xmlns:a16="http://schemas.microsoft.com/office/drawing/2014/main" id="{8DFAF6B4-BC6B-4D03-9AEE-5898B1DACEE7}"/>
              </a:ext>
            </a:extLst>
          </p:cNvPr>
          <p:cNvSpPr>
            <a:spLocks noGrp="1"/>
          </p:cNvSpPr>
          <p:nvPr/>
        </p:nvSpPr>
        <p:spPr>
          <a:xfrm>
            <a:off x="876300" y="1809750"/>
            <a:ext cx="487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Checklist</a:t>
            </a:r>
          </a:p>
        </p:txBody>
      </p:sp>
      <p:sp>
        <p:nvSpPr>
          <p:cNvPr id="5" name="left-code-box">
            <a:extLst>
              <a:ext uri="{FF2B5EF4-FFF2-40B4-BE49-F238E27FC236}">
                <a16:creationId xmlns:a16="http://schemas.microsoft.com/office/drawing/2014/main" id="{D0E6E5EF-6798-467E-BDCC-272715A7EA86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5181600" cy="2876550"/>
          </a:xfrm>
          <a:prstGeom prst="roundRect">
            <a:avLst>
              <a:gd name="adj" fmla="val 2649"/>
            </a:avLst>
          </a:prstGeom>
          <a:solidFill>
            <a:srgbClr val="202A33"/>
          </a:solidFill>
          <a:ln w="9525">
            <a:solidFill>
              <a:srgbClr val="131A21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code">
            <a:extLst>
              <a:ext uri="{FF2B5EF4-FFF2-40B4-BE49-F238E27FC236}">
                <a16:creationId xmlns:a16="http://schemas.microsoft.com/office/drawing/2014/main" id="{CD123454-0FCA-482E-8204-B7C0DE9E84C6}"/>
              </a:ext>
            </a:extLst>
          </p:cNvPr>
          <p:cNvSpPr>
            <a:spLocks noGrp="1"/>
          </p:cNvSpPr>
          <p:nvPr/>
        </p:nvSpPr>
        <p:spPr>
          <a:xfrm>
            <a:off x="1047750" y="2390775"/>
            <a:ext cx="483870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Before patch: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files should the agent read?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files may it edit?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commands prove success?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What should it not do?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After patch: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report touched files?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run validation?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preserve user changes?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it separate evidence from guess?</a:t>
            </a:r>
          </a:p>
          <a:p>
            <a:endParaRPr sz="825" b="0">
              <a:solidFill>
                <a:srgbClr val="F3F7FA"/>
              </a:solidFill>
              <a:latin typeface="Menlo"/>
              <a:ea typeface="Menlo"/>
              <a:cs typeface="Menlo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Seqera AI: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prompt include Nextflow context?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[ ] Did prompt require approval before Platform actions?</a:t>
            </a:r>
          </a:p>
        </p:txBody>
      </p:sp>
      <p:sp>
        <p:nvSpPr>
          <p:cNvPr id="7" name="right-box">
            <a:extLst>
              <a:ext uri="{FF2B5EF4-FFF2-40B4-BE49-F238E27FC236}">
                <a16:creationId xmlns:a16="http://schemas.microsoft.com/office/drawing/2014/main" id="{F795BFB2-FFE3-40CC-A971-21FF57DDDE98}"/>
              </a:ext>
            </a:extLst>
          </p:cNvPr>
          <p:cNvSpPr>
            <a:spLocks noGrp="1"/>
          </p:cNvSpPr>
          <p:nvPr/>
        </p:nvSpPr>
        <p:spPr>
          <a:xfrm>
            <a:off x="6705600" y="2114550"/>
            <a:ext cx="3924300" cy="2724150"/>
          </a:xfrm>
          <a:prstGeom prst="roundRect">
            <a:avLst>
              <a:gd name="adj" fmla="val 279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ght-title">
            <a:extLst>
              <a:ext uri="{FF2B5EF4-FFF2-40B4-BE49-F238E27FC236}">
                <a16:creationId xmlns:a16="http://schemas.microsoft.com/office/drawing/2014/main" id="{A8EB97C3-059A-4CA2-A55E-4741D61B3AC6}"/>
              </a:ext>
            </a:extLst>
          </p:cNvPr>
          <p:cNvSpPr>
            <a:spLocks noGrp="1"/>
          </p:cNvSpPr>
          <p:nvPr/>
        </p:nvSpPr>
        <p:spPr>
          <a:xfrm>
            <a:off x="7048500" y="2419350"/>
            <a:ext cx="320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一句話</a:t>
            </a:r>
          </a:p>
        </p:txBody>
      </p:sp>
      <p:sp>
        <p:nvSpPr>
          <p:cNvPr id="9" name="right-bullets">
            <a:extLst>
              <a:ext uri="{FF2B5EF4-FFF2-40B4-BE49-F238E27FC236}">
                <a16:creationId xmlns:a16="http://schemas.microsoft.com/office/drawing/2014/main" id="{16F626CC-ED84-40FA-B9B1-AA86564C6042}"/>
              </a:ext>
            </a:extLst>
          </p:cNvPr>
          <p:cNvSpPr>
            <a:spLocks noGrp="1"/>
          </p:cNvSpPr>
          <p:nvPr/>
        </p:nvSpPr>
        <p:spPr>
          <a:xfrm>
            <a:off x="7086600" y="2990850"/>
            <a:ext cx="30289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prompt 是小型工程規格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agent workflow 會留下 diff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 biomedical workflow 會留下 evidence</a:t>
            </a:r>
          </a:p>
        </p:txBody>
      </p:sp>
      <p:pic>
        <p:nvPicPr>
          <p:cNvPr id="11" name="Graphic 11" descr="Bookmark icon for cheat shee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4991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E41F221B-5125-574D-BE2B-8E613005EF7E}"/>
              </a:ext>
            </a:extLst>
          </p:cNvPr>
          <p:cNvSpPr/>
          <p:nvPr/>
        </p:nvSpPr>
        <p:spPr>
          <a:xfrm>
            <a:off x="876300" y="5435600"/>
            <a:ext cx="8890000" cy="635000"/>
          </a:xfrm>
          <a:prstGeom prst="roundRect">
            <a:avLst/>
          </a:prstGeom>
          <a:solidFill>
            <a:srgbClr val="EEF0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3446A8"/>
                </a:solidFill>
              </a:rPr>
              <a:t>怎麼用：</a:t>
            </a:r>
            <a:r>
              <a:rPr lang="zh-TW" sz="1400" dirty="0">
                <a:solidFill>
                  <a:srgbClr val="404040"/>
                </a:solidFill>
              </a:rPr>
              <a:t>印出來貼在螢幕旁；忘記指令時先查這張，再考慮直接問 agent。</a:t>
            </a:r>
          </a:p>
        </p:txBody>
      </p:sp>
    </p:spTree>
    <p:extLst>
      <p:ext uri="{BB962C8B-B14F-4D97-AF65-F5344CB8AC3E}">
        <p14:creationId xmlns:p14="http://schemas.microsoft.com/office/powerpoint/2010/main" val="23696093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yebrow">
            <a:extLst>
              <a:ext uri="{FF2B5EF4-FFF2-40B4-BE49-F238E27FC236}">
                <a16:creationId xmlns:a16="http://schemas.microsoft.com/office/drawing/2014/main" id="{C7D69471-758E-4503-ABF8-A2343EC5BFF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SOURCES AND PRACTICE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ED2A869-AD85-404A-90D8-64071746DDC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補充材料放在 repo，官方文件放在 speaker notes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E23BF87-7571-4C2F-8A23-DB89A7D78D4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37/38</a:t>
            </a:r>
          </a:p>
        </p:txBody>
      </p:sp>
      <p:sp>
        <p:nvSpPr>
          <p:cNvPr id="4" name="lab-box">
            <a:extLst>
              <a:ext uri="{FF2B5EF4-FFF2-40B4-BE49-F238E27FC236}">
                <a16:creationId xmlns:a16="http://schemas.microsoft.com/office/drawing/2014/main" id="{036DC43F-F321-46B9-B46A-66327EEB3349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762500" cy="2647950"/>
          </a:xfrm>
          <a:prstGeom prst="roundRect">
            <a:avLst>
              <a:gd name="adj" fmla="val 2878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ab-title">
            <a:extLst>
              <a:ext uri="{FF2B5EF4-FFF2-40B4-BE49-F238E27FC236}">
                <a16:creationId xmlns:a16="http://schemas.microsoft.com/office/drawing/2014/main" id="{23D67434-AB71-41A7-9303-6CB1DD04902F}"/>
              </a:ext>
            </a:extLst>
          </p:cNvPr>
          <p:cNvSpPr>
            <a:spLocks noGrp="1"/>
          </p:cNvSpPr>
          <p:nvPr/>
        </p:nvSpPr>
        <p:spPr>
          <a:xfrm>
            <a:off x="1200150" y="22860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Repo materials</a:t>
            </a:r>
          </a:p>
        </p:txBody>
      </p:sp>
      <p:sp>
        <p:nvSpPr>
          <p:cNvPr id="6" name="lab-list">
            <a:extLst>
              <a:ext uri="{FF2B5EF4-FFF2-40B4-BE49-F238E27FC236}">
                <a16:creationId xmlns:a16="http://schemas.microsoft.com/office/drawing/2014/main" id="{CE396E74-433C-48AF-A97E-6AE0E32C23D2}"/>
              </a:ext>
            </a:extLst>
          </p:cNvPr>
          <p:cNvSpPr>
            <a:spLocks noGrp="1"/>
          </p:cNvSpPr>
          <p:nvPr/>
        </p:nvSpPr>
        <p:spPr>
          <a:xfrm>
            <a:off x="1238250" y="2895600"/>
            <a:ext cx="37909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425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labs/lesson-07-coding-agents-cli-workflows/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425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sample_manifest.csv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425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coding_agent_task.md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425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425">
                <a:solidFill>
                  <a:srgbClr val="17202A"/>
                </a:solidFill>
                <a:latin typeface="Menlo"/>
                <a:ea typeface="Menlo"/>
                <a:cs typeface="Menlo"/>
              </a:rPr>
              <a:t>seqera_ai_task.md</a:t>
            </a:r>
          </a:p>
        </p:txBody>
      </p:sp>
      <p:sp>
        <p:nvSpPr>
          <p:cNvPr id="7" name="src-box">
            <a:extLst>
              <a:ext uri="{FF2B5EF4-FFF2-40B4-BE49-F238E27FC236}">
                <a16:creationId xmlns:a16="http://schemas.microsoft.com/office/drawing/2014/main" id="{09090483-3763-4D7D-93AF-685C026D453A}"/>
              </a:ext>
            </a:extLst>
          </p:cNvPr>
          <p:cNvSpPr>
            <a:spLocks noGrp="1"/>
          </p:cNvSpPr>
          <p:nvPr/>
        </p:nvSpPr>
        <p:spPr>
          <a:xfrm>
            <a:off x="6191250" y="1943100"/>
            <a:ext cx="4476750" cy="2647950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rc-title">
            <a:extLst>
              <a:ext uri="{FF2B5EF4-FFF2-40B4-BE49-F238E27FC236}">
                <a16:creationId xmlns:a16="http://schemas.microsoft.com/office/drawing/2014/main" id="{54EAC699-BA47-4972-99A0-24E49343B577}"/>
              </a:ext>
            </a:extLst>
          </p:cNvPr>
          <p:cNvSpPr>
            <a:spLocks noGrp="1"/>
          </p:cNvSpPr>
          <p:nvPr/>
        </p:nvSpPr>
        <p:spPr>
          <a:xfrm>
            <a:off x="6534150" y="22860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Official sources</a:t>
            </a:r>
          </a:p>
        </p:txBody>
      </p:sp>
      <p:sp>
        <p:nvSpPr>
          <p:cNvPr id="9" name="src-list">
            <a:extLst>
              <a:ext uri="{FF2B5EF4-FFF2-40B4-BE49-F238E27FC236}">
                <a16:creationId xmlns:a16="http://schemas.microsoft.com/office/drawing/2014/main" id="{EF555C85-097C-4EB3-8181-EE157754F811}"/>
              </a:ext>
            </a:extLst>
          </p:cNvPr>
          <p:cNvSpPr>
            <a:spLocks noGrp="1"/>
          </p:cNvSpPr>
          <p:nvPr/>
        </p:nvSpPr>
        <p:spPr>
          <a:xfrm>
            <a:off x="6572250" y="2895600"/>
            <a:ext cx="36385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docs.seqera.io/platform-cloud/co-scientist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seqera.io/platform/seqera-ai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docs.seqera.io/nextflow</a:t>
            </a:r>
          </a:p>
          <a:p>
            <a:pPr marL="24" indent="-12">
              <a:lnSpc>
                <a:spcPct val="108000"/>
              </a:lnSpc>
              <a:spcAft>
                <a:spcPts val="11"/>
              </a:spcAft>
              <a:buNone/>
              <a:defRPr sz="1275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7202A"/>
                </a:solidFill>
                <a:latin typeface="Aptos"/>
                <a:ea typeface="Aptos"/>
                <a:cs typeface="Aptos"/>
              </a:rPr>
              <a:t>training.nextflow.io/latest</a:t>
            </a:r>
          </a:p>
        </p:txBody>
      </p:sp>
      <p:pic>
        <p:nvPicPr>
          <p:cNvPr id="11" name="Graphic 11" descr="Link icon for resourc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20300" y="5080000"/>
            <a:ext cx="558800" cy="558800"/>
          </a:xfrm>
          <a:prstGeom prst="rect">
            <a:avLst/>
          </a:prstGeom>
        </p:spPr>
      </p:pic>
      <p:sp>
        <p:nvSpPr>
          <p:cNvPr id="12" name="圓角矩形 11">
            <a:extLst>
              <a:ext uri="{FF2B5EF4-FFF2-40B4-BE49-F238E27FC236}">
                <a16:creationId xmlns:a16="http://schemas.microsoft.com/office/drawing/2014/main" id="{3C6335F6-5D0B-954B-B5F4-4C864A025EE5}"/>
              </a:ext>
            </a:extLst>
          </p:cNvPr>
          <p:cNvSpPr/>
          <p:nvPr/>
        </p:nvSpPr>
        <p:spPr>
          <a:xfrm>
            <a:off x="876300" y="5016500"/>
            <a:ext cx="8890000" cy="698500"/>
          </a:xfrm>
          <a:prstGeom prst="roundRect">
            <a:avLst/>
          </a:prstGeom>
          <a:solidFill>
            <a:srgbClr val="F3EEF8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6B4AA0"/>
                </a:solidFill>
              </a:rPr>
              <a:t>課後練習：</a:t>
            </a:r>
            <a:r>
              <a:rPr lang="zh-TW" sz="1400" dirty="0">
                <a:solidFill>
                  <a:srgbClr val="404040"/>
                </a:solidFill>
              </a:rPr>
              <a:t>先跑一次 lab repo 的 demo loop，再用官方文件比對 Seqera AI 與 Codex 的分工邊界，確認自己能覆盤每個決策。</a:t>
            </a:r>
          </a:p>
        </p:txBody>
      </p:sp>
    </p:spTree>
    <p:extLst>
      <p:ext uri="{BB962C8B-B14F-4D97-AF65-F5344CB8AC3E}">
        <p14:creationId xmlns:p14="http://schemas.microsoft.com/office/powerpoint/2010/main" val="15163514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B97E4BDF-DDB4-4FB4-8907-D32E5456387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19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37CA2C5-2571-428F-ACCB-0D45759E383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最後帶走五句話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772B8CB-4777-4BC9-9FA4-93D045D344D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Coding agents and CLI workflows  |  38/38</a:t>
            </a:r>
          </a:p>
        </p:txBody>
      </p:sp>
      <p:sp>
        <p:nvSpPr>
          <p:cNvPr id="4" name="wrap-0">
            <a:extLst>
              <a:ext uri="{FF2B5EF4-FFF2-40B4-BE49-F238E27FC236}">
                <a16:creationId xmlns:a16="http://schemas.microsoft.com/office/drawing/2014/main" id="{C462AFB2-434B-4846-8366-604834D68132}"/>
              </a:ext>
            </a:extLst>
          </p:cNvPr>
          <p:cNvSpPr>
            <a:spLocks noGrp="1"/>
          </p:cNvSpPr>
          <p:nvPr/>
        </p:nvSpPr>
        <p:spPr>
          <a:xfrm>
            <a:off x="1123950" y="15811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rap-text-0">
            <a:extLst>
              <a:ext uri="{FF2B5EF4-FFF2-40B4-BE49-F238E27FC236}">
                <a16:creationId xmlns:a16="http://schemas.microsoft.com/office/drawing/2014/main" id="{BB786076-C45F-45B0-B4E4-3D016BE1A10D}"/>
              </a:ext>
            </a:extLst>
          </p:cNvPr>
          <p:cNvSpPr>
            <a:spLocks noGrp="1"/>
          </p:cNvSpPr>
          <p:nvPr/>
        </p:nvSpPr>
        <p:spPr>
          <a:xfrm>
            <a:off x="1409700" y="17335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1. Coding agent 要先讀 repo，不能直接憑空建議。</a:t>
            </a:r>
          </a:p>
        </p:txBody>
      </p:sp>
      <p:sp>
        <p:nvSpPr>
          <p:cNvPr id="6" name="wrap-1">
            <a:extLst>
              <a:ext uri="{FF2B5EF4-FFF2-40B4-BE49-F238E27FC236}">
                <a16:creationId xmlns:a16="http://schemas.microsoft.com/office/drawing/2014/main" id="{C5BEB7D3-8FBE-4149-89DC-83654D4A0653}"/>
              </a:ext>
            </a:extLst>
          </p:cNvPr>
          <p:cNvSpPr>
            <a:spLocks noGrp="1"/>
          </p:cNvSpPr>
          <p:nvPr/>
        </p:nvSpPr>
        <p:spPr>
          <a:xfrm>
            <a:off x="1123950" y="23622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wrap-text-1">
            <a:extLst>
              <a:ext uri="{FF2B5EF4-FFF2-40B4-BE49-F238E27FC236}">
                <a16:creationId xmlns:a16="http://schemas.microsoft.com/office/drawing/2014/main" id="{8D624968-889F-43C8-B232-9DB91E61CE1B}"/>
              </a:ext>
            </a:extLst>
          </p:cNvPr>
          <p:cNvSpPr>
            <a:spLocks noGrp="1"/>
          </p:cNvSpPr>
          <p:nvPr/>
        </p:nvSpPr>
        <p:spPr>
          <a:xfrm>
            <a:off x="1409700" y="25146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2. 小 scope、明確 command、清楚 diff，比長篇 prompt 更重要。</a:t>
            </a:r>
          </a:p>
        </p:txBody>
      </p:sp>
      <p:sp>
        <p:nvSpPr>
          <p:cNvPr id="8" name="wrap-2">
            <a:extLst>
              <a:ext uri="{FF2B5EF4-FFF2-40B4-BE49-F238E27FC236}">
                <a16:creationId xmlns:a16="http://schemas.microsoft.com/office/drawing/2014/main" id="{B31B4200-191D-4E64-A334-09E7C65FFE82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rap-text-2">
            <a:extLst>
              <a:ext uri="{FF2B5EF4-FFF2-40B4-BE49-F238E27FC236}">
                <a16:creationId xmlns:a16="http://schemas.microsoft.com/office/drawing/2014/main" id="{E3062F7D-C8D4-4B16-BD71-B8778DE0A36C}"/>
              </a:ext>
            </a:extLst>
          </p:cNvPr>
          <p:cNvSpPr>
            <a:spLocks noGrp="1"/>
          </p:cNvSpPr>
          <p:nvPr/>
        </p:nvSpPr>
        <p:spPr>
          <a:xfrm>
            <a:off x="1409700" y="32956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438D4A"/>
                </a:solidFill>
                <a:latin typeface="PingFang TC"/>
                <a:ea typeface="PingFang TC"/>
                <a:cs typeface="PingFang TC"/>
              </a:rPr>
              <a:t>3. 測試輸出是完成任務的證據，不是附錄。</a:t>
            </a:r>
          </a:p>
        </p:txBody>
      </p:sp>
      <p:sp>
        <p:nvSpPr>
          <p:cNvPr id="10" name="wrap-3">
            <a:extLst>
              <a:ext uri="{FF2B5EF4-FFF2-40B4-BE49-F238E27FC236}">
                <a16:creationId xmlns:a16="http://schemas.microsoft.com/office/drawing/2014/main" id="{83204982-1A6D-4610-9EC4-882A6300F4AF}"/>
              </a:ext>
            </a:extLst>
          </p:cNvPr>
          <p:cNvSpPr>
            <a:spLocks noGrp="1"/>
          </p:cNvSpPr>
          <p:nvPr/>
        </p:nvSpPr>
        <p:spPr>
          <a:xfrm>
            <a:off x="1123950" y="392430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rap-text-3">
            <a:extLst>
              <a:ext uri="{FF2B5EF4-FFF2-40B4-BE49-F238E27FC236}">
                <a16:creationId xmlns:a16="http://schemas.microsoft.com/office/drawing/2014/main" id="{A5E45672-ED15-482A-9E88-BD3221C918A5}"/>
              </a:ext>
            </a:extLst>
          </p:cNvPr>
          <p:cNvSpPr>
            <a:spLocks noGrp="1"/>
          </p:cNvSpPr>
          <p:nvPr/>
        </p:nvSpPr>
        <p:spPr>
          <a:xfrm>
            <a:off x="1409700" y="407670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4. Seqera AI 適合處理 Nextflow / nf-core / Platform domain context。</a:t>
            </a:r>
          </a:p>
        </p:txBody>
      </p:sp>
      <p:sp>
        <p:nvSpPr>
          <p:cNvPr id="12" name="wrap-4">
            <a:extLst>
              <a:ext uri="{FF2B5EF4-FFF2-40B4-BE49-F238E27FC236}">
                <a16:creationId xmlns:a16="http://schemas.microsoft.com/office/drawing/2014/main" id="{68FE63B9-C071-41F5-AD21-619734A1275F}"/>
              </a:ext>
            </a:extLst>
          </p:cNvPr>
          <p:cNvSpPr>
            <a:spLocks noGrp="1"/>
          </p:cNvSpPr>
          <p:nvPr/>
        </p:nvSpPr>
        <p:spPr>
          <a:xfrm>
            <a:off x="1123950" y="4705350"/>
            <a:ext cx="962025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wrap-text-4">
            <a:extLst>
              <a:ext uri="{FF2B5EF4-FFF2-40B4-BE49-F238E27FC236}">
                <a16:creationId xmlns:a16="http://schemas.microsoft.com/office/drawing/2014/main" id="{A499DEB8-6DBB-4BBF-893D-42D6B205A241}"/>
              </a:ext>
            </a:extLst>
          </p:cNvPr>
          <p:cNvSpPr>
            <a:spLocks noGrp="1"/>
          </p:cNvSpPr>
          <p:nvPr/>
        </p:nvSpPr>
        <p:spPr>
          <a:xfrm>
            <a:off x="1409700" y="4857750"/>
            <a:ext cx="885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5. Biomedical workflow 的外部 action 和高風險 claim 必須有人 gate。</a:t>
            </a:r>
          </a:p>
        </p:txBody>
      </p:sp>
      <p:pic>
        <p:nvPicPr>
          <p:cNvPr id="15" name="Graphic 15" descr="Race flag clos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6300" y="5562600"/>
            <a:ext cx="508000" cy="508000"/>
          </a:xfrm>
          <a:prstGeom prst="rect">
            <a:avLst/>
          </a:prstGeom>
        </p:spPr>
      </p:pic>
      <p:sp>
        <p:nvSpPr>
          <p:cNvPr id="16" name="圓角矩形 15">
            <a:extLst>
              <a:ext uri="{FF2B5EF4-FFF2-40B4-BE49-F238E27FC236}">
                <a16:creationId xmlns:a16="http://schemas.microsoft.com/office/drawing/2014/main" id="{4B1AA11F-4AC3-314D-8CFE-A46018891383}"/>
              </a:ext>
            </a:extLst>
          </p:cNvPr>
          <p:cNvSpPr/>
          <p:nvPr/>
        </p:nvSpPr>
        <p:spPr>
          <a:xfrm>
            <a:off x="1587500" y="5562600"/>
            <a:ext cx="9169400" cy="508000"/>
          </a:xfrm>
          <a:prstGeom prst="roundRect">
            <a:avLst/>
          </a:prstGeom>
          <a:solidFill>
            <a:srgbClr val="F2F7FA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>
              <a:buNone/>
            </a:pPr>
            <a:r>
              <a:rPr lang="zh-TW" sz="1400" b="1" dirty="0">
                <a:solidFill>
                  <a:srgbClr val="156082"/>
                </a:solidFill>
              </a:rPr>
              <a:t>下一步：</a:t>
            </a:r>
            <a:r>
              <a:rPr lang="zh-TW" sz="1400" dirty="0">
                <a:solidFill>
                  <a:srgbClr val="404040"/>
                </a:solidFill>
              </a:rPr>
              <a:t>進入 Lab Demo，用今天的原則帶 coding agent 跑一次真的 biomedical pipeline 任務。</a:t>
            </a:r>
          </a:p>
        </p:txBody>
      </p:sp>
    </p:spTree>
    <p:extLst>
      <p:ext uri="{BB962C8B-B14F-4D97-AF65-F5344CB8AC3E}">
        <p14:creationId xmlns:p14="http://schemas.microsoft.com/office/powerpoint/2010/main" val="6688739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3CD56B6-127B-644F-BC2C-965B4939D10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a972fe-fe57-4d7c-a56e-8d08838790f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559</TotalTime>
  <Words>6182</Words>
  <Application>Microsoft Macintosh PowerPoint</Application>
  <DocSecurity>0</DocSecurity>
  <PresentationFormat>寬螢幕</PresentationFormat>
  <Paragraphs>971</Paragraphs>
  <Slides>38</Slides>
  <Notes>38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4" baseType="lpstr">
      <vt:lpstr>PingFang TC</vt:lpstr>
      <vt:lpstr>Aptos</vt:lpstr>
      <vt:lpstr>Arial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2</cp:revision>
  <dcterms:created xsi:type="dcterms:W3CDTF">2026-07-07T12:36:52Z</dcterms:created>
  <dcterms:modified xsi:type="dcterms:W3CDTF">2026-07-10T00:45:09Z</dcterms:modified>
</cp:coreProperties>
</file>