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520" r:id="rId2"/>
    <p:sldId id="521" r:id="rId3"/>
    <p:sldId id="522" r:id="rId4"/>
    <p:sldId id="523" r:id="rId5"/>
    <p:sldId id="524" r:id="rId6"/>
    <p:sldId id="525" r:id="rId7"/>
    <p:sldId id="526" r:id="rId8"/>
    <p:sldId id="527" r:id="rId9"/>
    <p:sldId id="528" r:id="rId10"/>
    <p:sldId id="529" r:id="rId11"/>
    <p:sldId id="530" r:id="rId12"/>
    <p:sldId id="531" r:id="rId13"/>
    <p:sldId id="572" r:id="rId14"/>
    <p:sldId id="532" r:id="rId15"/>
    <p:sldId id="533" r:id="rId16"/>
    <p:sldId id="534" r:id="rId17"/>
    <p:sldId id="535" r:id="rId18"/>
    <p:sldId id="536" r:id="rId19"/>
    <p:sldId id="537" r:id="rId20"/>
    <p:sldId id="538" r:id="rId21"/>
    <p:sldId id="539" r:id="rId22"/>
    <p:sldId id="540" r:id="rId23"/>
    <p:sldId id="541" r:id="rId24"/>
    <p:sldId id="542" r:id="rId25"/>
    <p:sldId id="543" r:id="rId26"/>
    <p:sldId id="544" r:id="rId27"/>
    <p:sldId id="545" r:id="rId28"/>
    <p:sldId id="546" r:id="rId29"/>
    <p:sldId id="547" r:id="rId30"/>
    <p:sldId id="568" r:id="rId31"/>
    <p:sldId id="571" r:id="rId32"/>
    <p:sldId id="549" r:id="rId33"/>
    <p:sldId id="550" r:id="rId34"/>
    <p:sldId id="551" r:id="rId35"/>
    <p:sldId id="552" r:id="rId36"/>
    <p:sldId id="553" r:id="rId37"/>
    <p:sldId id="554" r:id="rId38"/>
    <p:sldId id="566" r:id="rId39"/>
    <p:sldId id="556" r:id="rId40"/>
    <p:sldId id="567" r:id="rId41"/>
    <p:sldId id="558" r:id="rId42"/>
    <p:sldId id="559" r:id="rId43"/>
    <p:sldId id="560" r:id="rId44"/>
    <p:sldId id="561" r:id="rId45"/>
    <p:sldId id="562" r:id="rId46"/>
    <p:sldId id="569" r:id="rId47"/>
    <p:sldId id="564" r:id="rId4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59"/>
    <p:restoredTop sz="79601"/>
  </p:normalViewPr>
  <p:slideViewPr>
    <p:cSldViewPr snapToGrid="0">
      <p:cViewPr varScale="1">
        <p:scale>
          <a:sx n="143" d="100"/>
          <a:sy n="143" d="100"/>
        </p:scale>
        <p:origin x="12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開場先定位這堂課:不是教語法,而是教怎麼跟 coding agent 協作、怎麼靠 CLI 與 git 建立安全網。可以問問學生有沒有用過 GUI 型的 AI 編輯器,帶出今天要進到 CLI 世界的原因。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這句話是整堂課的主軸,務必先講清楚:重點不是「要不要信任 agent」,而是「怎麼要求它證明自己做對了」。可以預告後面會看到 diff、測試結果、commit log 這些「證據」的具體例子。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這是整堂課唯一的核心圖,之後每張投影片都是在拆解這六步中的某一步。強調這是一個閉環(可以指著底部的回圈箭頭說明),不是一次性的問答;agent 卡住時通常是某一步沒做完整,而不是整個流程失敗。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把鏡頭拉近到上一頁「Patch」這一步內部,說明一次 tool call 其實包含好幾個子階段。可以強調:學生日後 debug agent 行為時,要學會分辨是 Reason(判斷錯工具)還是 Observe(沒讀到執行結果)出的問題。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呼應上一頁的 Perceive 階段,深入解釋 agent 是怎麼「看到」專案的。可以現場打開一個有 AGENTS.md 的 repo 給學生看,對比沒有這份文件時 agent 常會亂猜檔案結構。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強調核可模式是設計出來的,不是靠「感覺這個 agent 應該很聰明」來決定。可以用一個實際案例:哪些操作你會用 auto-edit,哪些一定要切到 read-only 或 sandboxed。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這是進入 Git 段落的起手式,先建立「沒有 git 就只能相信 agent 的話」這個危機感。右側 GUI vs CLI+Git 的對比,可以請學生舉自己用過的 GUI 工具當例子。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這頁是速查表,不用逐行念過去,挑 2-3 個最常忘記的指令示範(例如 git add -p、git restore --staged)。可以提醒學生截圖或印出來,實作時放在螢幕旁。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強調「agent 的改動預設是草稿」這個心態,分支就是草稿紙。可以現場示範 git switch -c 開一條新分支的過程,順便帶到下一頁的 worktree。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這頁是進階技巧,如果時間有限可以簡化成一句話帶過:「需要同時跑兩個獨立任務時才需要」。有時間的話可以現場示範 git worktree add,讓學生看到兩個資料夾同時存在。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重點是讓學生理解 commit message 不是寫給自己看,是寫給未來的人(或另一個 agent)看。可以對比一個「改東西」的爛 commit 訊息和投影片上的範例。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這頁是「安全網」的最後一道防線,強調 git reflog 幾乎可以救回所有誤刪的 commit,學生不用太緊張。可以提醒:這些指令平常不會用到,但出事時要知道去哪裡找。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這頁在幫學生建立選擇工具的判斷框架,不是要推銷特定產品。可以問學生:如果今天任務是「修一個 bug」vs「設計整個 Nextflow pipeline」,會怎麼選?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強調「小步快跑」是貫穿整堂課的操作原則,跟第3頁的六步驟閉環互相呼應。可以提醒學生:agent 跟人一樣,一次改太多東西就難以除錯。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 show 負面示範,可以請學生念一次這個爛 prompt,感受一下「含糊」會造成什麼問題。搭配下一頁的好範例做對比,效果最好。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對比上一頁,逐項指出這個好 prompt 多了哪些東西(範圍、驗收標準、回報格式)。可以請學生現場改寫一個自己隨口寫的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呼應第5頁的 context engineering,強調「讀」不是浪費時間,是 agent 建立正確心智模型的必要步驟。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這些是低風險的「偵查」指令,可以請學生記住:看到這些指令不用緊張,是 agent 在做功課,還沒有動任何檔案。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呼應後面 git worktree／branching 段落,先讓學生知道「畫邊界」的重要性,這是後面 git 安全網的前置作業。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這是全場最重要的心法之一,可以大聲念出來:「沒有跑過測試的修改,就當作沒改過。」report 要附上實際輸出,不能只聽 agent 說「應該可以了」。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強調「可重現」是關鍵字,agent 的解釋如果無法重現,就不能採信,這跟上一頁的驗證心法是同一件事的兩面。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不用逐一介紹四款工具的細節,重點放在「團隊要統一用同一款」這個結論,避免各自為政、review 時互相看不懂彼此的工作流程。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這頁在解釋為什麼不能只用一種 agent 打天下,幫下面 Part 3(Seqera 段落)鋪路,可以先預告等一下會看到專門懂 Nextflow 的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 Part 2 的轉場頁,可以停頓一下,先問學生:「如果你是老闆,會怎麼防止 agent 亂改你的 repo?」再進入 guardrails 的具體做法。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左側是中文原則,右側是可以直接貼進 AGENTS.md 的英文 prompt guard 範例,可以請學生截圖收藏右側內容,實作時直接套用。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呼應前面的 git 分支段落,強調這不只是個人習慣,也是團隊協作、甚至是這堂課「可以被檢核」的機制,老師會看 commit log 給分。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這頁在教學生怎麼幫 agent「挑任務」,不是每個生資問題都適合丟給 agent,先挑結果可驗證的,再逐步嘗試更開放的問題。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這是進入實作段落前的轉場,帶學生看一次 repo 結構,確認大家都找得到 prompts/ 資料夾,再往下走實際操作。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可以現場打開這兩個 task 檔案讓學生看,對比 CLI agent 與 Seqera AI 的 prompt 寫法有什麼不同,呼應第13頁的工具選擇原則。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可以現場打開這兩個 task 檔案讓學生看,對比 CLI agent 與 Seqera AI 的 prompt 寫法有什麼不同,呼應第13頁的工具選擇原則。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這頁是實作前的最後提醒,可以請學生對照自己等下要寫的 prompt,檢查有沒有漏掉驗收標準,而不是只寫「幫我改一下」。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強調「Record」不是額外負擔,是讓下一輪迭代更快的投資,也是老師事後評分、追蹤每組進度的依據。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進入 Part 3 前的轉場,提醒學生這段要換腦袋:從「改 agent 行為」切換到「補 agent 的領域知識」。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強調 Seqera AI 的價值不只是懂 DSL2 語法,而是懂「為什麼這次 run 失敗」,這是通用 CLI agent 做不到的地方。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提醒學生這些指令會動到雲端資源,實作前務必先確認登入的帳號和 workspace,避免不小心動到別人的環境或花到別人的額度。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呼應第20頁的 validation 心法,再次強調「不能只聽 agent 自己說」,這次是換到 Seqera 的場景下重申同一個原則。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這張圖是整個 Part 3 的總結,強調不管兩個 agent 怎麼分工,最後合併的關卡永遠是人類,這點務必講清楚。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可以提醒學生 headless 模式沒有互動視窗,debug 比較麻煩,所以輸出一定要落地成檔案,才能事後追查發生什麼事。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這頁再次呼應 tight loop 的概念,只是換到 Nextflow 的情境,可以請學生比較跟第14頁的異同,加深印象。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這是最重的一條紅線,務必講清楚:病人資料與費用相關操作,agent 永遠只能建議,不能自己執行,這在生醫場景特別重要。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解釋為什麼 demo 選這個簡單情境,是刻意設計讓學生專注在「交接」這個技能,而不是被複雜資料本身卡住。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可以請學生舉例:自己的研究裡有沒有「絕對不能交給 agent」的決策,用互動討論代替條列念稿,效果會更好。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這是課後練習的操作說明,強調三個 phase 要循序做,不要跳過「確認 agent 讀懂 repo」這一步就直接放手改。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鼓勵學生實際列印或截圖這頁,養成「先查表再問 agent」的習慣,減少不必要的來回對話。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提醒學生這是收尾頁,列出的資料來源都值得課後細讀,尤其是官方文件裡對 Seqera AI 與 Codex 分工邊界的說明。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dirty="0"/>
              <a:t>課程收尾,呼應開場的 learning target:提醒學生今天的重點不是 agent 有多聰明,而是「你會不會要求它留下證據」。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svg"/><Relationship Id="rId4" Type="http://schemas.openxmlformats.org/officeDocument/2006/relationships/image" Target="../media/image25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BDB08180-AB88-44DE-8BBE-15650F44AC3B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07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E28D941-EC59-42C9-B1F0-7BCA648773A2}"/>
              </a:ext>
            </a:extLst>
          </p:cNvPr>
          <p:cNvSpPr>
            <a:spLocks noGrp="1"/>
          </p:cNvSpPr>
          <p:nvPr/>
        </p:nvSpPr>
        <p:spPr>
          <a:xfrm>
            <a:off x="723900" y="1504950"/>
            <a:ext cx="7239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Coding Agents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CLI Workflows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591059C-5E48-4321-AEB2-C931D70A63A7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8001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 agent 放進 repo、terminal、tests 與 Nextflow pipeline 開發流程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B033C1DF-2467-42D3-AD7B-488B1047F0B5}"/>
              </a:ext>
            </a:extLst>
          </p:cNvPr>
          <p:cNvSpPr>
            <a:spLocks noGrp="1"/>
          </p:cNvSpPr>
          <p:nvPr/>
        </p:nvSpPr>
        <p:spPr>
          <a:xfrm>
            <a:off x="8210550" y="1238250"/>
            <a:ext cx="2857500" cy="3333750"/>
          </a:xfrm>
          <a:prstGeom prst="roundRect">
            <a:avLst>
              <a:gd name="adj" fmla="val 2667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F4B3D108-0F07-4007-85BC-47D5488362E9}"/>
              </a:ext>
            </a:extLst>
          </p:cNvPr>
          <p:cNvSpPr>
            <a:spLocks noGrp="1"/>
          </p:cNvSpPr>
          <p:nvPr/>
        </p:nvSpPr>
        <p:spPr>
          <a:xfrm>
            <a:off x="85344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0511CA4A-C111-48BB-939C-D0E2B364FD03}"/>
              </a:ext>
            </a:extLst>
          </p:cNvPr>
          <p:cNvSpPr>
            <a:spLocks noGrp="1"/>
          </p:cNvSpPr>
          <p:nvPr/>
        </p:nvSpPr>
        <p:spPr>
          <a:xfrm>
            <a:off x="8572500" y="2190750"/>
            <a:ext cx="209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repo-grounded CLI workflow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tool choice matrix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guardrails against messy edits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Seqera AI for Nextflow work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C983E5BE-DA9D-491E-8E2B-76EF80BA801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1/45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445A4C5A-1F42-054F-90C1-212E3DE9F274}"/>
              </a:ext>
            </a:extLst>
          </p:cNvPr>
          <p:cNvSpPr/>
          <p:nvPr/>
        </p:nvSpPr>
        <p:spPr>
          <a:xfrm>
            <a:off x="7239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4EA1D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8FCBEF"/>
                </a:solidFill>
              </a:rPr>
              <a:t>Part 1 · CLI 基本操作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945DDCD-FDD3-144F-93D0-0AE485D6DC21}"/>
              </a:ext>
            </a:extLst>
          </p:cNvPr>
          <p:cNvSpPr/>
          <p:nvPr/>
        </p:nvSpPr>
        <p:spPr>
          <a:xfrm>
            <a:off x="34417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E9A15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0C48C"/>
                </a:solidFill>
              </a:rPr>
              <a:t>Part 2 · Guardrails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4FC912A-BC07-2C44-A112-EC3A861ABEFD}"/>
              </a:ext>
            </a:extLst>
          </p:cNvPr>
          <p:cNvSpPr/>
          <p:nvPr/>
        </p:nvSpPr>
        <p:spPr>
          <a:xfrm>
            <a:off x="61595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C48FE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DCB8F0"/>
                </a:solidFill>
              </a:rPr>
              <a:t>Part 3 · Seqera AI</a:t>
            </a:r>
          </a:p>
        </p:txBody>
      </p:sp>
    </p:spTree>
    <p:extLst>
      <p:ext uri="{BB962C8B-B14F-4D97-AF65-F5344CB8AC3E}">
        <p14:creationId xmlns:p14="http://schemas.microsoft.com/office/powerpoint/2010/main" val="3388465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13B74B51-933B-4FB4-AC17-CBF2BB6FDB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749B36D-2290-42BC-822C-C9E449F2950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今天不是教大家相信 agent，而是教大家要求它留下證據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A4A8626-D579-4135-8246-55953A658C3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8E2C4F35-24BA-43F3-8244-E049157D579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先讀 repo，再提出小範圍修改計畫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改程式、跑測試、解釋錯誤與回報 diff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知道何時用桌面工具、IDE assistant、CLI coding agent 或 Seqera AI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biomedical pipeline 開發變成可追溯的 commit 與驗證紀錄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E3C48D09-542C-4A5B-B6BF-6586540B0A5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A7463C0-8375-4573-B289-832090E1ADE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16D9625D-61F6-4257-AAAB-F27F9FE1B1CA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能下達 repo-grounded task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能限制改檔範圍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能檢查測試輸出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能寫 Seqera AI prompt</a:t>
            </a:r>
          </a:p>
        </p:txBody>
      </p:sp>
      <p:pic>
        <p:nvPicPr>
          <p:cNvPr id="9" name="Graphic 9" descr="Target icon for learning goa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87B28D74-A0AE-084A-9FFF-F3871F3219F9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以上四項能力，正是評估「這個 agent 值不值得信任」的最低標準。</a:t>
            </a:r>
          </a:p>
        </p:txBody>
      </p:sp>
    </p:spTree>
    <p:extLst>
      <p:ext uri="{BB962C8B-B14F-4D97-AF65-F5344CB8AC3E}">
        <p14:creationId xmlns:p14="http://schemas.microsoft.com/office/powerpoint/2010/main" val="73210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8DE85288-734A-4422-8215-8022438485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921ACE7-A601-4DCA-BE50-1FB0E2C228F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的價值在這條閉環，不在單次回答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559574B-1DFE-4133-ACD8-B558281545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E9AE90F5-B4CC-47A1-BB98-EFE3F890BB3A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D2B9A64A-78AB-4438-B63B-5E1CC983317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692A8DC-3CB2-451A-BFDA-E1D9CB418821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26AACE5E-279B-4A28-9C47-C7112AD4874D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讀檔、看測試、理解資料格式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4F85936A-BCE5-487D-8198-502B374867BA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0FCCF454-C719-4AC4-B4BA-DDF2274F2255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CBEE882A-25D6-46E4-AEF2-E37BFB1029A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F826D732-59D7-4AEE-86F0-24262BF00CBA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2123D384-6DF1-4493-9275-31A58269ECC7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scope，先講要改哪裡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3FEFC250-F6F1-4C4A-90D4-36CA30851AD8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F595659A-9A9C-45DD-9903-D3EA6453C15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94841AA-4924-4AE3-9E2D-B4A3CE7CEAF2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B8BB3713-32F2-42E7-A78F-5D63BFF27AC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7473283-E246-497A-B3D1-A0B7092F3DA3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用小 diff 修改程式或文件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1D52C29F-D1F4-4283-967E-2F5249AFE0F4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07C9D32-2C23-4C51-8016-0FB7D86FA167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003652-D004-43B7-8A92-CD3C25217F5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F7AB4394-3B3B-4085-A439-30122C3C4F64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C1E29C7C-00B1-47C2-83F3-95996100C040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跑測試、lint、sample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F1C9DB84-4091-4E74-A8EC-FE6702B0FBEE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DB52690D-A0EC-4884-846A-0F4EDF4CAD7C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FB7FD134-C713-4F6D-9A70-9C1CFA0CA1AD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2F82C4FB-6326-469F-814F-E968E5212EB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0B73533-B74F-4F70-AE2F-4F96F32DAA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列出改動、風險、未完成項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06E2A9E-E59C-4CCF-98E7-C085AC7FB73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6EFD8258-D551-4E75-8AF9-08A6C86443D3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10F958CE-DF9D-4780-BE6B-FAA4171C3500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4556F8EA-4645-4FE7-80C2-D1AFE53374AA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Commit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3B1CB588-8A4B-4BF4-9ED3-C8959F8ED28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留下可追溯版本紀錄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0649E9A3-9434-2049-B2A3-7A3EBE1F1E54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為什麼要照順序：</a:t>
            </a:r>
            <a:r>
              <a:rPr lang="zh-TW" sz="1400" dirty="0">
                <a:solidFill>
                  <a:srgbClr val="404040"/>
                </a:solidFill>
              </a:rPr>
              <a:t>每個步驟都在降低風險、建立可追溯性；跳過 Validate 或 Report，等於把除錯責任丟回給人類。</a:t>
            </a:r>
          </a:p>
        </p:txBody>
      </p:sp>
      <p:cxnSp>
        <p:nvCxnSpPr>
          <p:cNvPr id="40" name="loop-connector-a"/>
          <p:cNvCxnSpPr/>
          <p:nvPr/>
        </p:nvCxnSpPr>
        <p:spPr>
          <a:xfrm>
            <a:off x="10064750" y="4140200"/>
            <a:ext cx="0" cy="584200"/>
          </a:xfrm>
          <a:prstGeom prst="line">
            <a:avLst/>
          </a:prstGeom>
          <a:ln w="19050">
            <a:solidFill>
              <a:srgbClr val="3446A8"/>
            </a:solidFill>
          </a:ln>
        </p:spPr>
      </p:cxnSp>
      <p:cxnSp>
        <p:nvCxnSpPr>
          <p:cNvPr id="41" name="loop-connector-b"/>
          <p:cNvCxnSpPr/>
          <p:nvPr/>
        </p:nvCxnSpPr>
        <p:spPr>
          <a:xfrm>
            <a:off x="1631950" y="4724400"/>
            <a:ext cx="8432800" cy="0"/>
          </a:xfrm>
          <a:prstGeom prst="line">
            <a:avLst/>
          </a:prstGeom>
          <a:ln w="19050">
            <a:solidFill>
              <a:srgbClr val="3446A8"/>
            </a:solidFill>
          </a:ln>
        </p:spPr>
      </p:cxnSp>
      <p:cxnSp>
        <p:nvCxnSpPr>
          <p:cNvPr id="42" name="loop-connector-c"/>
          <p:cNvCxnSpPr/>
          <p:nvPr/>
        </p:nvCxnSpPr>
        <p:spPr>
          <a:xfrm>
            <a:off x="1631950" y="4191000"/>
            <a:ext cx="0" cy="533400"/>
          </a:xfrm>
          <a:prstGeom prst="line">
            <a:avLst/>
          </a:prstGeom>
          <a:ln w="19050">
            <a:solidFill>
              <a:srgbClr val="3446A8"/>
            </a:solidFill>
            <a:headEnd type="triangle" w="med" len="med"/>
          </a:ln>
        </p:spPr>
      </p:cxnSp>
      <p:sp>
        <p:nvSpPr>
          <p:cNvPr id="43" name="loop-label"/>
          <p:cNvSpPr txBox="1"/>
          <p:nvPr/>
        </p:nvSpPr>
        <p:spPr>
          <a:xfrm>
            <a:off x="4705350" y="4578350"/>
            <a:ext cx="2286000" cy="292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i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重複，直到任務完成</a:t>
            </a:r>
          </a:p>
        </p:txBody>
      </p:sp>
    </p:spTree>
    <p:extLst>
      <p:ext uri="{BB962C8B-B14F-4D97-AF65-F5344CB8AC3E}">
        <p14:creationId xmlns:p14="http://schemas.microsoft.com/office/powerpoint/2010/main" val="822562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8DE85288-734A-4422-8215-8022438485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ARCHITECTURE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921ACE7-A601-4DCA-BE50-1FB0E2C228F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每一步靠的是「呼叫工具、看結果」的迴圈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559574B-1DFE-4133-ACD8-B558281545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E9AE90F5-B4CC-47A1-BB98-EFE3F890BB3A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D2B9A64A-78AB-4438-B63B-5E1CC983317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692A8DC-3CB2-451A-BFDA-E1D9CB418821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Perceive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26AACE5E-279B-4A28-9C47-C7112AD4874D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 context、AGENTS.md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4F85936A-BCE5-487D-8198-502B374867BA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0FCCF454-C719-4AC4-B4BA-DDF2274F2255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CBEE882A-25D6-46E4-AEF2-E37BFB1029A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F826D732-59D7-4AEE-86F0-24262BF00CBA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Reason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2123D384-6DF1-4493-9275-31A58269ECC7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決定下一步呼叫哪個工具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3FEFC250-F6F1-4C4A-90D4-36CA30851AD8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F595659A-9A9C-45DD-9903-D3EA6453C15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94841AA-4924-4AE3-9E2D-B4A3CE7CEAF2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B8BB3713-32F2-42E7-A78F-5D63BFF27AC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Act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7473283-E246-497A-B3D1-A0B7092F3DA3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read／edit／shell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1D52C29F-D1F4-4283-967E-2F5249AFE0F4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07C9D32-2C23-4C51-8016-0FB7D86FA167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003652-D004-43B7-8A92-CD3C25217F5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F7AB4394-3B3B-4085-A439-30122C3C4F64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Observe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C1E29C7C-00B1-47C2-83F3-95996100C040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把輸出塞回 context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F1C9DB84-4091-4E74-A8EC-FE6702B0FBEE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DB52690D-A0EC-4884-846A-0F4EDF4CAD7C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FB7FD134-C713-4F6D-9A70-9C1CFA0CA1AD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2F82C4FB-6326-469F-814F-E968E5212EB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Reflect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0B73533-B74F-4F70-AE2F-4F96F32DAA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比對結果，決定要不要重試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06E2A9E-E59C-4CCF-98E7-C085AC7FB73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6EFD8258-D551-4E75-8AF9-08A6C86443D3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10F958CE-DF9D-4780-BE6B-FAA4171C3500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4556F8EA-4645-4FE7-80C2-D1AFE53374AA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3B1CB588-8A4B-4BF4-9ED3-C8959F8ED28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重複到任務完成或達上限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0649E9A3-9434-2049-B2A3-7A3EBE1F1E54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為什麼要懂這層：</a:t>
            </a:r>
            <a:r>
              <a:rPr lang="zh-TW" sz="1400" dirty="0">
                <a:solidFill>
                  <a:srgbClr val="404040"/>
                </a:solidFill>
              </a:rPr>
              <a:t>每次 Patch 其實是這個 tool-calling loop 跑了好幾輪；agent 卡住通常是 Reason 或 Observe 出錯，而不是模型不會寫程式。</a:t>
            </a:r>
          </a:p>
        </p:txBody>
      </p:sp>
    </p:spTree>
    <p:extLst>
      <p:ext uri="{BB962C8B-B14F-4D97-AF65-F5344CB8AC3E}">
        <p14:creationId xmlns:p14="http://schemas.microsoft.com/office/powerpoint/2010/main" val="3310319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讀不到你腦中的規格，context 要主動餵進去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5/45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AGENTS.md／CLAUDE.md 放專案慣例、允許的指令與程式風格，agent 開工前會自動讀取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 map（檔案樹＋關鍵模組摘要）讓 agent 不用整包掃描就找到入口點與資料流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Context window 有上限：整份 log 或整個大檔案硬塞進去，反而擠掉真正需要的程式碼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沒有這些線索，agent 只能靠檔名猜測，容易改錯模組或漏掉相依檔案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常見 context 來源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AGENTS.md：規則與慣例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 map：檔案樹與摘要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data／schema：資料格式範例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先前 commit／test log：延續脈絡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好的 context 工程讓 agent 少問、少猜、少改錯地方；過量或雜亂的 context，只會讓它像人一樣抓不到重點。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9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3068227-4327-433E-B29E-5647473411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PERMISSIONS &amp; SANDBOX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D5A6FD1-06A8-4879-B1C8-CC705F1DE02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能做多少，要由核可模式決定，不是由信任感決定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F68FB7-769E-4339-9AD7-45D049CA639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6/45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C41D210-525E-44D6-871D-B081AE56472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24298E48-E1A0-456F-84F9-9878B46D94E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核可模式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BB0211F9-EF04-4E4D-9E61-79D7BC74BFD4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24CE8F8-9113-4B97-BC14-4F96D666918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可以做什麼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CAFB1C0-5229-464A-84E1-258633057105}"/>
              </a:ext>
            </a:extLst>
          </p:cNvPr>
          <p:cNvSpPr>
            <a:spLocks noGrp="1"/>
          </p:cNvSpPr>
          <p:nvPr/>
        </p:nvSpPr>
        <p:spPr>
          <a:xfrm>
            <a:off x="6943725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59BEEA2-1948-4B9C-908E-01D67D392135}"/>
              </a:ext>
            </a:extLst>
          </p:cNvPr>
          <p:cNvSpPr>
            <a:spLocks noGrp="1"/>
          </p:cNvSpPr>
          <p:nvPr/>
        </p:nvSpPr>
        <p:spPr>
          <a:xfrm>
            <a:off x="7058025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風險與限制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05C83A9B-FCA2-423F-9032-461BF97F30D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778C22E-E3B0-40D1-AA9B-6A4089D6F36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Read-only／Suggest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AA0F2-57A8-4BBC-9618-5B2EA4151CA6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14BCF776-C1DF-4BDD-896C-5DD7516B6E36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只讀檔、產出建議與 diff，不會自動寫入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D96B4574-EE11-4DAC-B920-4A96F001710C}"/>
              </a:ext>
            </a:extLst>
          </p:cNvPr>
          <p:cNvSpPr>
            <a:spLocks noGrp="1"/>
          </p:cNvSpPr>
          <p:nvPr/>
        </p:nvSpPr>
        <p:spPr>
          <a:xfrm>
            <a:off x="6943725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7C43E3C-608B-4BE7-9C4F-16FF031AE81A}"/>
              </a:ext>
            </a:extLst>
          </p:cNvPr>
          <p:cNvSpPr>
            <a:spLocks noGrp="1"/>
          </p:cNvSpPr>
          <p:nvPr/>
        </p:nvSpPr>
        <p:spPr>
          <a:xfrm>
            <a:off x="7058025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改動仍要人工核可，適合初次接觸新 repo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771F32D-35E0-4465-A1C6-8B26BA0DF1D4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E31C272-35D6-4D52-A6F6-9A396D014E88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Auto-edit（限定目錄）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4A03BE-A9EC-4CEB-B97A-EDD694445698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1D9FAE88-BC68-4AD0-816B-837B09C28F93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允許清單內的檔案自動讀寫、跑測試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C53020A-3807-4193-9FAE-E59B61A2EDD5}"/>
              </a:ext>
            </a:extLst>
          </p:cNvPr>
          <p:cNvSpPr>
            <a:spLocks noGrp="1"/>
          </p:cNvSpPr>
          <p:nvPr/>
        </p:nvSpPr>
        <p:spPr>
          <a:xfrm>
            <a:off x="6943725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26B6430-E235-4F64-99AD-30AD7DE24FB5}"/>
              </a:ext>
            </a:extLst>
          </p:cNvPr>
          <p:cNvSpPr>
            <a:spLocks noGrp="1"/>
          </p:cNvSpPr>
          <p:nvPr/>
        </p:nvSpPr>
        <p:spPr>
          <a:xfrm>
            <a:off x="7058025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目錄外操作、刪除檔案仍需詢問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069909-D8A9-41D9-8E1C-6A73FB987F2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F4B4143-DA29-437B-9C9F-2620B3FFB4C2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Full-auto／YOLO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636FFA6-2B05-4EBA-B0F7-F53B66BDA85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3162C8F-EBDE-4DAB-8D65-4BBFFEA34C61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連續執行多步不中斷，速度最快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9C938C-D30D-4317-A9F4-3E66889E8B4C}"/>
              </a:ext>
            </a:extLst>
          </p:cNvPr>
          <p:cNvSpPr>
            <a:spLocks noGrp="1"/>
          </p:cNvSpPr>
          <p:nvPr/>
        </p:nvSpPr>
        <p:spPr>
          <a:xfrm>
            <a:off x="6943725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9581B-A6CF-44FE-999D-D2F443182DA9}"/>
              </a:ext>
            </a:extLst>
          </p:cNvPr>
          <p:cNvSpPr>
            <a:spLocks noGrp="1"/>
          </p:cNvSpPr>
          <p:nvPr/>
        </p:nvSpPr>
        <p:spPr>
          <a:xfrm>
            <a:off x="7058025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風險最高，僅建議在隔離分支使用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B819AAC-CDF2-4D4D-8D5C-6C74FCD24F6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271E958-4B70-4F18-BD0F-1389D51784A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Sandboxed／network-off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62E1AE1-3210-47DC-AE0F-47D26386FD69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4D27A1F-4DD9-48F2-8B29-3D69CC8D6768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限制檔案範圍與對外網路存取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C883AB2-229D-4C47-92DB-5903750F90EE}"/>
              </a:ext>
            </a:extLst>
          </p:cNvPr>
          <p:cNvSpPr>
            <a:spLocks noGrp="1"/>
          </p:cNvSpPr>
          <p:nvPr/>
        </p:nvSpPr>
        <p:spPr>
          <a:xfrm>
            <a:off x="6943725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F516FF-E00C-4D8A-8CEF-4BD664C45204}"/>
              </a:ext>
            </a:extLst>
          </p:cNvPr>
          <p:cNvSpPr>
            <a:spLocks noGrp="1"/>
          </p:cNvSpPr>
          <p:nvPr/>
        </p:nvSpPr>
        <p:spPr>
          <a:xfrm>
            <a:off x="7058025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避免外洩憑證，教學 demo 首選</a:t>
            </a:r>
          </a:p>
        </p:txBody>
      </p:sp>
      <p:pic>
        <p:nvPicPr>
          <p:cNvPr id="35" name="Graphic 35" descr="Decision/compa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13874302-88CE-C848-8E49-656D3726209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設計原則：</a:t>
            </a:r>
            <a:r>
              <a:rPr lang="zh-TW" sz="1400" dirty="0">
                <a:solidFill>
                  <a:srgbClr val="404040"/>
                </a:solidFill>
              </a:rPr>
              <a:t>課堂與 demo 一律從 Read-only 或 Auto-edit 開始，Full-auto 只在有備份、有分支、有人盯著的情況下才開。</a:t>
            </a:r>
          </a:p>
        </p:txBody>
      </p:sp>
    </p:spTree>
    <p:extLst>
      <p:ext uri="{BB962C8B-B14F-4D97-AF65-F5344CB8AC3E}">
        <p14:creationId xmlns:p14="http://schemas.microsoft.com/office/powerpoint/2010/main" val="2268927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為什麼 coding agent 離不開 Git？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7/45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Git 把整個 repo 變成有版本紀錄的狀態，每個檔案的每次修改都有跡可循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直接在你的檔案系統上動手改，diff 就是它唯一「說話」的方式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是檢查點：出錯了用 git 回到上一步，而不是重新解釋一次需求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git，你只能相信 agent 的文字摘要；有 git，你能逐行檢查它實際改了什麼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多個 agent 任務可以在同一個 repo 上並行，靠分支互不干擾（詳見後面的分支策略）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跟 GUI 聊天的差異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GUI：複製貼上它給的建議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CLI+Git：它直接寫檔，diff 即時可見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GUI：對話紀錄是唯一記錄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CLI+Git：commit log 才是可信歷史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GUI：只能整段重寫、難挑著改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CLI+Git：git add -p 可以只挑幾行進版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核心觀念：</a:t>
            </a:r>
            <a:r>
              <a:rPr lang="zh-TW" sz="1400" dirty="0">
                <a:solidFill>
                  <a:srgbClr val="404040"/>
                </a:solidFill>
              </a:rPr>
              <a:t>Git 讓 agent 的每個動作都變成可以被檢查、被回退的『事實』，這是 CLI workflow 比純聊天更可信的根本原因。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0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看懂 agent 動了什麼：常用 Git 指令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8/45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Git 指令速查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-p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"訊息"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log --oneline -10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switch -c feature/xxx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restore --staged &lt;file&gt;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reset --hard &lt;commit&gt;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pull --rebase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push -u origin HEAD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stash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使用時機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status／diff 用來檢查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add／commit 建立檢查點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switch 隔離風險分支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reset／restore 用來回退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pull／push 同步遠端備份</a:t>
            </a:r>
          </a:p>
          <a:p>
            <a:pPr marL="24" indent="-12">
              <a:lnSpc>
                <a:spcPct val="106000"/>
              </a:lnSpc>
              <a:spcAft>
                <a:spcPts val="8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stash 暫存改動不遺失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先讓 agent 在新分支上工作、每個小步驟都 commit，事後只要看 git log 與 git diff 就能重建它做過的每一步。</a:t>
            </a:r>
          </a:p>
        </p:txBody>
      </p:sp>
    </p:spTree>
    <p:extLst>
      <p:ext uri="{BB962C8B-B14F-4D97-AF65-F5344CB8AC3E}">
        <p14:creationId xmlns:p14="http://schemas.microsoft.com/office/powerpoint/2010/main" val="2921400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CBA9C30-6C0F-4FFD-8199-5C126EF57A6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61EDD6-BDAA-4074-A227-58276AB52E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用分支把每個 agent 任務隔離開來，出錯才好收拾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9209057-41BF-42F7-A6D4-7C51F9546EA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31806D0-436F-49F8-A6CC-B782F1F1FFE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BCD8729-BD60-46C2-958B-58CD4AC1D1B4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設定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688F68E-8B4D-4B44-84E6-AF49F7ABFFB7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84B1BCCF-3ADA-4A91-83F4-AC0D82917555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好寫法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C636B261-3D4A-4261-B04A-16EAA6ACD606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C606837-254B-47EC-9388-54F1ED3D7E0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E5E2B16-DE90-4675-8AA2-C7CD84DF805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36D5C2F-20D2-4D92-AF72-3A9254513608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分支命名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79B4ABF8-B394-4BAB-B80C-E64E65E868BE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90FDF26C-A38B-422C-8488-528E102AF7F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feature/task-name，一眼看出誰在做什麼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1B32994F-1A92-46BC-9274-DE2C39533A37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B353621-408C-417E-ACB9-C03D4E6255CF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方便用 git log 追蹤是誰、做了什麼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5799AB5-2F02-40D2-BCF9-C643104F9007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64F01A7-0C41-4551-A848-F1B5EB88EB05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任務隔離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75DD6B1-A3B8-469E-BEC8-023F10C7FF1D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0525F69D-BF94-49B5-A8CB-75568FA379B3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agent 任務開新分支，不直接在 main 上跑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84743C1-3028-4AD3-8CE7-391EA558A791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7CF17BC-F852-4844-8A75-349D8379A0F3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出錯只需砍掉分支，不影響主幹進度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F8772260-B71C-4A5D-B8E0-E81C791AB07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5328E8-DB6C-4B8D-A3F5-1DF3CD6C6412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平行任務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7830D0C-9634-4F3D-AC79-0C1A44DF74F2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14BF67-7D30-40D2-9788-ED465577E863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多任務用 git worktree（同一個 repo 開多個工作目錄）同時處理，詳見下一頁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9942D79-EBE8-4188-BDFB-5592ED2BCC2F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784EBF7-0AC7-4540-ACF4-E6082E157049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避免頻繁 checkout，互不干擾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5E3058B4-7F8C-4C0C-8588-61D8057DEAC5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BA58DDB-C15E-40D3-B454-A94FB727522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保護主幹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C6C806B-762D-4679-8738-0EA058AB8455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90575C6-6DF8-4870-91C8-522C97AA7AB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main／release 設 branch protection（分支保護規則，禁止未經審核直接 push）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A94F158-BD74-41BC-8F50-3B43E9012FF9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A2C516B0-6FF1-4CBD-9988-ECAFFE80E914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改動需經 review 才進正式版本</a:t>
            </a:r>
          </a:p>
        </p:txBody>
      </p:sp>
      <p:pic>
        <p:nvPicPr>
          <p:cNvPr id="35" name="Graphic 35" descr="Ruler icon for edit scop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48351626-90C8-C241-B78E-635B1BCCB39B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分支原則：</a:t>
            </a:r>
            <a:r>
              <a:rPr lang="zh-TW" sz="1400" dirty="0">
                <a:solidFill>
                  <a:srgbClr val="404040"/>
                </a:solidFill>
              </a:rPr>
              <a:t>agent 產生的改動預設視為草稿，草稿就該待在自己的分支，直到人確認才合併進主幹。</a:t>
            </a:r>
          </a:p>
        </p:txBody>
      </p:sp>
    </p:spTree>
    <p:extLst>
      <p:ext uri="{BB962C8B-B14F-4D97-AF65-F5344CB8AC3E}">
        <p14:creationId xmlns:p14="http://schemas.microsoft.com/office/powerpoint/2010/main" val="1507586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13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WORKTREE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同時開好幾個工作目錄，讓多個 agent 任務不互相干擾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zh-TW" sz="1600" b="1" dirty="0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什麼是 git worktree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目前在 main，想同時處理另一個任務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worktree add ../repo-taskB feature/taskB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現在有兩個獨立工作目錄，同一個 .git 歷史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../repo        -&gt; main 分支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../repo-taskB  -&gt; feature/taskB 分支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個別資料夾各自跑各自的 agent，互不干擾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cd ../repo-taskB &amp;&amp; claude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任務結束後移除工作目錄</a:t>
            </a:r>
          </a:p>
          <a:p>
            <a:pPr algn="l">
              <a:lnSpc>
                <a:spcPct val="106000"/>
              </a:lnSpc>
              <a:buNone/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worktree remove ../repo-taskB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zh-TW" sz="1600" b="1" dirty="0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為什麼值得多談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一個 repo、多個資料夾，各自 checkout 不同分支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不用來回 checkout，兩個 agent 可以同時執行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檔案系統彼此獨立，一個任務改壞不影響另一個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比開多個 clone 省空間，.git 歷史是共用的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什麼時候用：</a:t>
            </a:r>
            <a:r>
              <a:rPr lang="zh-TW" sz="1400" dirty="0">
                <a:solidFill>
                  <a:srgbClr val="404040"/>
                </a:solidFill>
              </a:rPr>
              <a:t>手上有兩個以上獨立任務要並行處理時，用 worktree 分頭進行，比一直 stash／checkout 來回切換更不容易出錯。</a:t>
            </a:r>
          </a:p>
        </p:txBody>
      </p:sp>
    </p:spTree>
    <p:extLst>
      <p:ext uri="{BB962C8B-B14F-4D97-AF65-F5344CB8AC3E}">
        <p14:creationId xmlns:p14="http://schemas.microsoft.com/office/powerpoint/2010/main" val="3192215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COMMIT CONVENTIONS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寫的 commit 也能一眼看懂改了什麼、為什麼改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11/45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Conventional commit 範例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feat(validator): add FASTQ checks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add sample_id/fastq_1/fastq_2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reject missing-column rows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Task: coding_agent_task.md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Test: pytest -q (12 passed)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commit message 該包含什麼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type(scope)：一行摘要，動詞開頭、現在式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空一行後列出改了什麼、為什麼改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註明對應的 task／prompt 檔案名稱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附上驗證結果，reviewer 不用重跑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為什麼要規範：</a:t>
            </a:r>
            <a:r>
              <a:rPr lang="zh-TW" sz="1400" dirty="0">
                <a:solidFill>
                  <a:srgbClr val="404040"/>
                </a:solidFill>
              </a:rPr>
              <a:t>agent 產生的 commit 常常一行話講不清楚；固定格式讓 code review、git blame、事後回溯都更快。</a:t>
            </a:r>
          </a:p>
        </p:txBody>
      </p:sp>
    </p:spTree>
    <p:extLst>
      <p:ext uri="{BB962C8B-B14F-4D97-AF65-F5344CB8AC3E}">
        <p14:creationId xmlns:p14="http://schemas.microsoft.com/office/powerpoint/2010/main" val="654282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BB980F1-1CA1-47B7-B3F4-1F569656AA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SAFETY NET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4E4F77-623B-4841-B795-019841DDD8E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搞砸時，這幾個</a:t>
            </a:r>
            <a:r>
              <a:rPr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 git </a:t>
            </a: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指令能把狀態救回來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D949F1A-574E-49F3-AF6C-8178EEC49F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12/45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7B18FC-ECE4-412E-9164-702AE1B57B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Recovery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7050343-1FCD-4994-B098-A8892CCF4DF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B9CF81FA-67BD-4009-9BA1-37B4369156F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找回歷史，連 reset 過的都在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reflog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暫存改動，先切走處理別的事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stash push -m "wip"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二分法找出壞掉的 commit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bisect start</a:t>
            </a:r>
          </a:p>
          <a:p>
            <a:endParaRPr sz="14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強制回到已知良好版本</a:t>
            </a:r>
          </a:p>
          <a:p>
            <a:pPr algn="l">
              <a:lnSpc>
                <a:spcPct val="104000"/>
              </a:lnSpc>
              <a:buNone/>
              <a:defRPr sz="14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reset --hard &lt;commit&gt;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D3BC850-8C92-4E69-B887-3C6FB916C47A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A55ECF3-5BDF-4F5C-B83F-99319C276CF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什麼時候用哪個指令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D02C803B-5052-4B5F-92A6-2CBBEDD6C2A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剛 commit 完發現壞了 → git revert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還沒 commit、想丟掉全部改動 → git reset --hard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已經 reset 但後悔了 → git reflog 找回來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要交錯測試多個 commit 找 bug → git bisect</a:t>
            </a:r>
          </a:p>
        </p:txBody>
      </p:sp>
      <p:pic>
        <p:nvPicPr>
          <p:cNvPr id="11" name="Graphic 11" descr="Validation checklis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0D7992-98B9-3B45-B8E0-C6423FDFF981}"/>
              </a:ext>
            </a:extLst>
          </p:cNvPr>
          <p:cNvSpPr/>
          <p:nvPr/>
        </p:nvSpPr>
        <p:spPr>
          <a:xfrm>
            <a:off x="1498600" y="5435600"/>
            <a:ext cx="96901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救援心法：</a:t>
            </a:r>
            <a:r>
              <a:rPr lang="zh-TW" sz="1400" dirty="0">
                <a:solidFill>
                  <a:srgbClr val="404040"/>
                </a:solidFill>
              </a:rPr>
              <a:t>任何救援指令前先確認目前分支與 git status 乾淨；agent 只在自己的分支上操作，救援時人類才是最後一道防線。</a:t>
            </a:r>
          </a:p>
        </p:txBody>
      </p:sp>
    </p:spTree>
    <p:extLst>
      <p:ext uri="{BB962C8B-B14F-4D97-AF65-F5344CB8AC3E}">
        <p14:creationId xmlns:p14="http://schemas.microsoft.com/office/powerpoint/2010/main" val="1715657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1AC412E0-6813-A432-4841-76A376753533}"/>
              </a:ext>
            </a:extLst>
          </p:cNvPr>
          <p:cNvSpPr txBox="1"/>
          <p:nvPr/>
        </p:nvSpPr>
        <p:spPr>
          <a:xfrm>
            <a:off x="3994554" y="6273225"/>
            <a:ext cx="340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sz="3200" dirty="0"/>
              <a:t>https://</a:t>
            </a:r>
            <a:r>
              <a:rPr kumimoji="1" lang="en" altLang="zh-TW" sz="3200" dirty="0" err="1"/>
              <a:t>gitbook.tw</a:t>
            </a:r>
            <a:r>
              <a:rPr kumimoji="1" lang="en" altLang="zh-TW" sz="3200" dirty="0"/>
              <a:t>/</a:t>
            </a:r>
            <a:endParaRPr kumimoji="1" lang="zh-TW" altLang="en-US" sz="3200" dirty="0"/>
          </a:p>
        </p:txBody>
      </p:sp>
      <p:sp>
        <p:nvSpPr>
          <p:cNvPr id="3" name="eyebrow">
            <a:extLst>
              <a:ext uri="{FF2B5EF4-FFF2-40B4-BE49-F238E27FC236}">
                <a16:creationId xmlns:a16="http://schemas.microsoft.com/office/drawing/2014/main" id="{5D9F68D0-2D8E-A49A-C497-1B394C5EA72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lang="en-US" sz="1125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 OF </a:t>
            </a:r>
            <a:r>
              <a:rPr sz="1125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EEA111E7-EC7E-1FEF-369B-83C9148DECD6}"/>
              </a:ext>
            </a:extLst>
          </p:cNvPr>
          <p:cNvSpPr>
            <a:spLocks noGrp="1"/>
          </p:cNvSpPr>
          <p:nvPr/>
        </p:nvSpPr>
        <p:spPr>
          <a:xfrm>
            <a:off x="1270747" y="1093694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如果你想要對</a:t>
            </a:r>
            <a:r>
              <a:rPr lang="en-US" altLang="zh-TW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`git`</a:t>
            </a:r>
            <a:r>
              <a:rPr lang="zh-TW" alt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這個工具了解更多，請參考</a:t>
            </a:r>
            <a:r>
              <a:rPr lang="en-US" altLang="zh-TW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【</a:t>
            </a:r>
            <a:r>
              <a:rPr lang="zh-TW" alt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為你自己學</a:t>
            </a:r>
            <a:r>
              <a:rPr lang="en-US" altLang="zh-TW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git】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569A8E7-F10E-BD93-AC37-22B7F91C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57" y="1744362"/>
            <a:ext cx="9099177" cy="4307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33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3068227-4327-433E-B29E-5647473411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CHOICE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D5A6FD1-06A8-4879-B1C8-CC705F1DE02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桌面工具、IDE assistant、CLI coding agent 的邊界要分清楚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F68FB7-769E-4339-9AD7-45D049CA639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13/45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C41D210-525E-44D6-871D-B081AE56472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24298E48-E1A0-456F-84F9-9878B46D94E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工具型態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BB0211F9-EF04-4E4D-9E61-79D7BC74BFD4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24CE8F8-9113-4B97-BC14-4F96D666918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CAFB1C0-5229-464A-84E1-258633057105}"/>
              </a:ext>
            </a:extLst>
          </p:cNvPr>
          <p:cNvSpPr>
            <a:spLocks noGrp="1"/>
          </p:cNvSpPr>
          <p:nvPr/>
        </p:nvSpPr>
        <p:spPr>
          <a:xfrm>
            <a:off x="6943725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59BEEA2-1948-4B9C-908E-01D67D392135}"/>
              </a:ext>
            </a:extLst>
          </p:cNvPr>
          <p:cNvSpPr>
            <a:spLocks noGrp="1"/>
          </p:cNvSpPr>
          <p:nvPr/>
        </p:nvSpPr>
        <p:spPr>
          <a:xfrm>
            <a:off x="7058025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不適合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05C83A9B-FCA2-423F-9032-461BF97F30D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778C22E-E3B0-40D1-AA9B-6A4089D6F36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 agent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AA0F2-57A8-4BBC-9618-5B2EA4151CA6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14BCF776-C1DF-4BDD-896C-5DD7516B6E36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 PDF、整理文獻、瀏覽網頁、做研究筆記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D96B4574-EE11-4DAC-B920-4A96F001710C}"/>
              </a:ext>
            </a:extLst>
          </p:cNvPr>
          <p:cNvSpPr>
            <a:spLocks noGrp="1"/>
          </p:cNvSpPr>
          <p:nvPr/>
        </p:nvSpPr>
        <p:spPr>
          <a:xfrm>
            <a:off x="6943725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7C43E3C-608B-4BE7-9C4F-16FF031AE81A}"/>
              </a:ext>
            </a:extLst>
          </p:cNvPr>
          <p:cNvSpPr>
            <a:spLocks noGrp="1"/>
          </p:cNvSpPr>
          <p:nvPr/>
        </p:nvSpPr>
        <p:spPr>
          <a:xfrm>
            <a:off x="7058025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大量改 repo、跑測試、處理多檔 diff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771F32D-35E0-4465-A1C6-8B26BA0DF1D4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E31C272-35D6-4D52-A6F6-9A396D014E88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assistant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4A03BE-A9EC-4CEB-B97A-EDD694445698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1D9FAE88-BC68-4AD0-816B-837B09C28F93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局部補完、函式重構、API 用法提示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C53020A-3807-4193-9FAE-E59B61A2EDD5}"/>
              </a:ext>
            </a:extLst>
          </p:cNvPr>
          <p:cNvSpPr>
            <a:spLocks noGrp="1"/>
          </p:cNvSpPr>
          <p:nvPr/>
        </p:nvSpPr>
        <p:spPr>
          <a:xfrm>
            <a:off x="6943725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26B6430-E235-4F64-99AD-30AD7DE24FB5}"/>
              </a:ext>
            </a:extLst>
          </p:cNvPr>
          <p:cNvSpPr>
            <a:spLocks noGrp="1"/>
          </p:cNvSpPr>
          <p:nvPr/>
        </p:nvSpPr>
        <p:spPr>
          <a:xfrm>
            <a:off x="7058025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repo 規劃、批次驗證、完整報告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069909-D8A9-41D9-8E1C-6A73FB987F2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F4B4143-DA29-437B-9C9F-2620B3FFB4C2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coding agent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636FFA6-2B05-4EBA-B0F7-F53B66BDA85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3162C8F-EBDE-4DAB-8D65-4BBFFEA34C61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讀檔、改程式、跑測試、整理 diff 與風險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9C938C-D30D-4317-A9F4-3E66889E8B4C}"/>
              </a:ext>
            </a:extLst>
          </p:cNvPr>
          <p:cNvSpPr>
            <a:spLocks noGrp="1"/>
          </p:cNvSpPr>
          <p:nvPr/>
        </p:nvSpPr>
        <p:spPr>
          <a:xfrm>
            <a:off x="6943725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9581B-A6CF-44FE-999D-D2F443182DA9}"/>
              </a:ext>
            </a:extLst>
          </p:cNvPr>
          <p:cNvSpPr>
            <a:spLocks noGrp="1"/>
          </p:cNvSpPr>
          <p:nvPr/>
        </p:nvSpPr>
        <p:spPr>
          <a:xfrm>
            <a:off x="7058025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無規格大型重寫、未授權外部操作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B819AAC-CDF2-4D4D-8D5C-6C74FCD24F6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271E958-4B70-4F18-BD0F-1389D51784A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62E1AE1-3210-47DC-AE0F-47D26386FD69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4D27A1F-4DD9-48F2-8B29-3D69CC8D6768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/ nf-core / Seqera Platform 工作流輔助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C883AB2-229D-4C47-92DB-5903750F90EE}"/>
              </a:ext>
            </a:extLst>
          </p:cNvPr>
          <p:cNvSpPr>
            <a:spLocks noGrp="1"/>
          </p:cNvSpPr>
          <p:nvPr/>
        </p:nvSpPr>
        <p:spPr>
          <a:xfrm>
            <a:off x="6943725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F516FF-E00C-4D8A-8CEF-4BD664C45204}"/>
              </a:ext>
            </a:extLst>
          </p:cNvPr>
          <p:cNvSpPr>
            <a:spLocks noGrp="1"/>
          </p:cNvSpPr>
          <p:nvPr/>
        </p:nvSpPr>
        <p:spPr>
          <a:xfrm>
            <a:off x="7058025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一般非生物資訊程式碼或不需 workflow context 的任務</a:t>
            </a:r>
          </a:p>
        </p:txBody>
      </p:sp>
      <p:pic>
        <p:nvPicPr>
          <p:cNvPr id="35" name="Graphic 35" descr="Decision/compa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13874302-88CE-C848-8E49-656D3726209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決策原則：</a:t>
            </a:r>
            <a:r>
              <a:rPr lang="zh-TW" sz="1400" dirty="0">
                <a:solidFill>
                  <a:srgbClr val="404040"/>
                </a:solidFill>
              </a:rPr>
              <a:t>能力越強、風險越高，就越需要人類 checkpoint；Seqera AI 專精生資 workflow，其餘場景交給通用 CLI agent。</a:t>
            </a:r>
          </a:p>
        </p:txBody>
      </p:sp>
    </p:spTree>
    <p:extLst>
      <p:ext uri="{BB962C8B-B14F-4D97-AF65-F5344CB8AC3E}">
        <p14:creationId xmlns:p14="http://schemas.microsoft.com/office/powerpoint/2010/main" val="1291122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DFC24F58-3E93-451D-BB6A-12916FC9FE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BASIC OPERATIONS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242143-29C6-4459-A2D7-590630C022D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agent 不是聊天視窗，而是有工具的 repo worker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33A47-72F7-4F09-B0CC-ABFAD173B2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14/45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956DAEE9-6006-4DBE-9312-37CBE5123E04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25EBE914-80F2-40D7-85E2-CD456A539F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讀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7BAF90F7-0DA4-46E6-B94B-9C4EB6A2F9EB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列檔案、搜尋關鍵字、讀 README、看 config、檢查 sample data。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680510EB-AC89-4DFD-9FF6-E9508592A808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C6B063E2-BDF5-4174-9622-C084BD44A586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改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5E46108-0855-4839-BF78-382C019D087D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只改指定檔案，保留既有風格，避免順手重構和無關格式化。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B69C608F-6A58-4EAB-B357-D876A56F594C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ECEDD156-D44B-4A87-B7B8-89D9597A9AC6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驗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8BE41274-ACEF-4B77-806C-7971166EBC9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跑測試、重現錯誤、比較輸出，最後用 diff 說明改了什麼。</a:t>
            </a:r>
          </a:p>
        </p:txBody>
      </p:sp>
      <p:pic>
        <p:nvPicPr>
          <p:cNvPr id="14" name="Graphic 14" descr="讀取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5" name="Graphic 15" descr="改程式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驗證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7" name="圓角矩形 16">
            <a:extLst>
              <a:ext uri="{FF2B5EF4-FFF2-40B4-BE49-F238E27FC236}">
                <a16:creationId xmlns:a16="http://schemas.microsoft.com/office/drawing/2014/main" id="{942B5EE6-F394-B545-902A-D1F7F852B00E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Tight Loop：</a:t>
            </a:r>
            <a:r>
              <a:rPr lang="zh-TW" sz="1400" dirty="0">
                <a:solidFill>
                  <a:srgbClr val="404040"/>
                </a:solidFill>
              </a:rPr>
              <a:t>讀 → 改 → 驗 三步驟反覆疊代，每次只做小範圍修改並立刻驗證，避免一次改太多導致難以追蹤。</a:t>
            </a:r>
          </a:p>
        </p:txBody>
      </p:sp>
    </p:spTree>
    <p:extLst>
      <p:ext uri="{BB962C8B-B14F-4D97-AF65-F5344CB8AC3E}">
        <p14:creationId xmlns:p14="http://schemas.microsoft.com/office/powerpoint/2010/main" val="1475708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DBF280FB-3316-4C36-806A-E801FE52A2C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F58DC5-D6D8-492A-A778-B9D44D7EBB6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coding agent 的任務要像 issue，不要像願望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4A9612D-02D2-46AA-B525-0A15CC68215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15/45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7FE4ACE-8850-499D-854C-B1182FC14ABF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Bad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7C545A35-1C43-4706-9152-5D79A6C02B9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02B5E96-B7E7-4162-AAD7-706CC0C1F540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幫我修一下這個 pipeline，順便整理一下程式。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EAA1B77-1FC0-4555-A133-0EDE6826D3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3E207AF-DE3F-425B-8BEA-E7A0A99BF48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問題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FF00CD8-3935-4B92-9CEC-D828D9CA8F50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repo context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沒有輸入輸出規格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沒有改檔邊界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沒有驗證命令</a:t>
            </a:r>
          </a:p>
        </p:txBody>
      </p:sp>
      <p:pic>
        <p:nvPicPr>
          <p:cNvPr id="11" name="Graphic 11" descr="War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6FA1088F-4F8B-754B-A958-E2E691B3D696}"/>
              </a:ext>
            </a:extLst>
          </p:cNvPr>
          <p:cNvSpPr/>
          <p:nvPr/>
        </p:nvSpPr>
        <p:spPr>
          <a:xfrm>
            <a:off x="1651000" y="53340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常見地雷：</a:t>
            </a:r>
            <a:r>
              <a:rPr lang="zh-TW" sz="1400" dirty="0">
                <a:solidFill>
                  <a:srgbClr val="404040"/>
                </a:solidFill>
              </a:rPr>
              <a:t>模糊指令會讓 agent 自行猜測範圍，往往牽動不相關檔案，且沒有驗證步驟就直接 commit。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5CD1D9-0B2B-DE4E-8C27-CD084E25271C}"/>
              </a:ext>
            </a:extLst>
          </p:cNvPr>
          <p:cNvSpPr txBox="1"/>
          <p:nvPr/>
        </p:nvSpPr>
        <p:spPr>
          <a:xfrm>
            <a:off x="1054100" y="3175000"/>
            <a:ext cx="4838700" cy="7848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沒指定要改哪些檔案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沒有驗收 / 測試標準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沒說範圍多大、能不能碰設定檔</a:t>
            </a:r>
          </a:p>
        </p:txBody>
      </p:sp>
    </p:spTree>
    <p:extLst>
      <p:ext uri="{BB962C8B-B14F-4D97-AF65-F5344CB8AC3E}">
        <p14:creationId xmlns:p14="http://schemas.microsoft.com/office/powerpoint/2010/main" val="2251072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task packet 會把自由度放在該放的地方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16/45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Better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目標：修正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README.md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只允許修改：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tests/test_validate_manifest.py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驗證：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pytest -q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修改摘要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測試結果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仍需人工確認的風險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為什麼有效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明確告訴 agent 先讀什麼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write surface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測試命令可重跑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要求風險回報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關鍵差異：</a:t>
            </a:r>
            <a:r>
              <a:rPr lang="zh-TW" sz="1400" dirty="0">
                <a:solidFill>
                  <a:srgbClr val="404040"/>
                </a:solidFill>
              </a:rPr>
              <a:t>明確的檔案範圍、驗證方式與回報格式，讓 agent 的行為變得可預測、可檢查。</a:t>
            </a:r>
          </a:p>
        </p:txBody>
      </p:sp>
    </p:spTree>
    <p:extLst>
      <p:ext uri="{BB962C8B-B14F-4D97-AF65-F5344CB8AC3E}">
        <p14:creationId xmlns:p14="http://schemas.microsoft.com/office/powerpoint/2010/main" val="336749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 BEFORE WRITE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先建立 repo map，再開始改檔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17/45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請 agent 先列出它讀過的檔案與理解到的資料流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要求它標出 entry point、主要輸入、輸出與測試位置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它若沒有讀檔就開始建議，先停下來補 context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對 biomedical pipeline，要額外標出資料版本與 sample manifest 欄位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檢查句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你讀了哪些檔案？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哪個 command 可重現？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你會改哪幾個檔？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不會碰哪些檔？</a:t>
            </a:r>
          </a:p>
        </p:txBody>
      </p:sp>
      <p:pic>
        <p:nvPicPr>
          <p:cNvPr id="9" name="Graphic 9" descr="Read before writ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先讀後寫能避免 agent 對著錯誤的資料流亂猜，也讓你事後能追溯它「看過什麼」。</a:t>
            </a:r>
          </a:p>
        </p:txBody>
      </p:sp>
    </p:spTree>
    <p:extLst>
      <p:ext uri="{BB962C8B-B14F-4D97-AF65-F5344CB8AC3E}">
        <p14:creationId xmlns:p14="http://schemas.microsoft.com/office/powerpoint/2010/main" val="4038292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CLI COMMANDS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最常用的 repo inspection 命令要讓學生看得懂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18/45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Inspection 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pwd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--files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-n "TODO|FIXME|manifest|sample_id"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README.md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scripts/validate_manifest.py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不用神秘化 terminal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每個命令都有目的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輸出要回到任務規格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先看 status 避免覆蓋別人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實用技巧：</a:t>
            </a:r>
            <a:r>
              <a:rPr lang="zh-TW" sz="1400" dirty="0">
                <a:solidFill>
                  <a:srgbClr val="404040"/>
                </a:solidFill>
              </a:rPr>
              <a:t>這些指令幾乎不改動任何檔案，是讓 agent 安全建立 context 的第一步。</a:t>
            </a:r>
          </a:p>
        </p:txBody>
      </p:sp>
    </p:spTree>
    <p:extLst>
      <p:ext uri="{BB962C8B-B14F-4D97-AF65-F5344CB8AC3E}">
        <p14:creationId xmlns:p14="http://schemas.microsoft.com/office/powerpoint/2010/main" val="2482121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CBA9C30-6C0F-4FFD-8199-5C126EF57A6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EDIT SCOPE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61EDD6-BDAA-4074-A227-58276AB52E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改程式時，要明確定義可碰與不可碰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9209057-41BF-42F7-A6D4-7C51F9546EA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31806D0-436F-49F8-A6CC-B782F1F1FFE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BCD8729-BD60-46C2-958B-58CD4AC1D1B4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設定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688F68E-8B4D-4B44-84E6-AF49F7ABFFB7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84B1BCCF-3ADA-4A91-83F4-AC0D82917555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好寫法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C636B261-3D4A-4261-B04A-16EAA6ACD606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C606837-254B-47EC-9388-54F1ED3D7E0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E5E2B16-DE90-4675-8AA2-C7CD84DF805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36D5C2F-20D2-4D92-AF72-3A9254513608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Allowed files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79B4ABF8-B394-4BAB-B80C-E64E65E868BE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90FDF26C-A38B-422C-8488-528E102AF7F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只允許改 scripts/validate_manifest.py 與 tests/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1B32994F-1A92-46BC-9274-DE2C39533A37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B353621-408C-417E-ACB9-C03D4E6255CF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縮小 blast radius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5799AB5-2F02-40D2-BCF9-C643104F9007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64F01A7-0C41-4551-A848-F1B5EB88EB05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 of scope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75DD6B1-A3B8-469E-BEC8-023F10C7FF1D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0525F69D-BF94-49B5-A8CB-75568FA379B3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不要改資料檔、不要重命名欄位、不要大重構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84743C1-3028-4AD3-8CE7-391EA558A791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7CF17BC-F852-4844-8A75-349D8379A0F3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避免破壞既有流程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F8772260-B71C-4A5D-B8E0-E81C791AB07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5328E8-DB6C-4B8D-A3F5-1DF3CD6C6412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Style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7830D0C-9634-4F3D-AC79-0C1A44DF74F2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14BF67-7D30-40D2-9788-ED465577E863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沿用現有 argparse、logging、pytest 風格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9942D79-EBE8-4188-BDFB-5592ED2BCC2F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784EBF7-0AC7-4540-ACF4-E6082E157049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維持 repo 一致性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5E3058B4-7F8C-4C0C-8588-61D8057DEAC5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BA58DDB-C15E-40D3-B454-A94FB727522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Exit rule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C6C806B-762D-4679-8738-0EA058AB8455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90575C6-6DF8-4870-91C8-522C97AA7AB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不確定時先回報，不要猜測臨床或資料語意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A94F158-BD74-41BC-8F50-3B43E9012FF9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A2C516B0-6FF1-4CBD-9988-ECAFFE80E914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 biomedical 風險</a:t>
            </a:r>
          </a:p>
        </p:txBody>
      </p:sp>
      <p:pic>
        <p:nvPicPr>
          <p:cNvPr id="35" name="Graphic 35" descr="Ruler icon for edit scop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48351626-90C8-C241-B78E-635B1BCCB39B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邊界原則：</a:t>
            </a:r>
            <a:r>
              <a:rPr lang="zh-TW" sz="1400" dirty="0">
                <a:solidFill>
                  <a:srgbClr val="404040"/>
                </a:solidFill>
              </a:rPr>
              <a:t>在 prompt 一開始就寫清楚 allowed files，agent 才不會「順手」動到不該碰的模組或設定檔。</a:t>
            </a:r>
          </a:p>
        </p:txBody>
      </p:sp>
    </p:spTree>
    <p:extLst>
      <p:ext uri="{BB962C8B-B14F-4D97-AF65-F5344CB8AC3E}">
        <p14:creationId xmlns:p14="http://schemas.microsoft.com/office/powerpoint/2010/main" val="28414844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BB980F1-1CA1-47B7-B3F4-1F569656AA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4E4F77-623B-4841-B795-019841DDD8E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測試命令不是儀式，是 agent 完成任務的證據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D949F1A-574E-49F3-AF6C-8178EEC49F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7B18FC-ECE4-412E-9164-702AE1B57B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7050343-1FCD-4994-B098-A8892CCF4DF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B9CF81FA-67BD-4009-9BA1-37B4369156F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unit tests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sample data smoke test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python3 scripts/validate_manifest.py sample_manifest.csv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formatting or lint, if project uses them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ruff check scripts tests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pipeline dry run, if applicable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nextflow run nextflow/main.nf -profile test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D3BC850-8C92-4E69-B887-3C6FB916C47A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A55ECF3-5BDF-4F5C-B83F-99319C276CF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回報格式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D02C803B-5052-4B5F-92A6-2CBBEDD6C2A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命令原文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通過或失敗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關鍵錯誤訊息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改完後是否重跑</a:t>
            </a:r>
          </a:p>
        </p:txBody>
      </p:sp>
      <p:pic>
        <p:nvPicPr>
          <p:cNvPr id="11" name="Graphic 11" descr="Validation checklis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0D7992-98B9-3B45-B8E0-C6423FDFF981}"/>
              </a:ext>
            </a:extLst>
          </p:cNvPr>
          <p:cNvSpPr/>
          <p:nvPr/>
        </p:nvSpPr>
        <p:spPr>
          <a:xfrm>
            <a:off x="1498600" y="5435600"/>
            <a:ext cx="96901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驗證優先：</a:t>
            </a:r>
            <a:r>
              <a:rPr lang="zh-TW" sz="1400" dirty="0">
                <a:solidFill>
                  <a:srgbClr val="404040"/>
                </a:solidFill>
              </a:rPr>
              <a:t>沒有跑過測試的修改，就當作沒改過——report 要附上實際指令輸出，而不是 agent 自己說「應該可以了」。</a:t>
            </a:r>
          </a:p>
        </p:txBody>
      </p:sp>
    </p:spTree>
    <p:extLst>
      <p:ext uri="{BB962C8B-B14F-4D97-AF65-F5344CB8AC3E}">
        <p14:creationId xmlns:p14="http://schemas.microsoft.com/office/powerpoint/2010/main" val="2995453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FE495BBC-4848-43C7-B05E-EDC1500084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ERROR EXPLANATION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194B64-43D5-4F7E-A24A-C43A0D31BDE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叫 agent 解釋錯誤時，要要求它把推論拆開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5961767-0F1B-4115-9EE9-69DC9ECA217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21/45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FCEDB067-FADA-4273-9CEC-1E281C8C4DB2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先貼出最小錯誤訊息與重現 command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要求它指出錯在哪個檔案、哪個函式、哪個資料欄位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要求列出假設，並用讀檔或測試結果支持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修正後必須重跑同一個 command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E0A2F7E-89D1-4A2C-93CF-263ED7446C17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B24590-2528-4A17-9376-1E7EFB58D50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錯誤報告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0C53F809-5D91-4935-B6C9-4A5D43A865B6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Symptom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Root cause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Verification</a:t>
            </a:r>
          </a:p>
        </p:txBody>
      </p:sp>
      <p:pic>
        <p:nvPicPr>
          <p:cNvPr id="9" name="Graphic 9" descr="Bug icon for error explan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79FECD9F-0EE6-4540-9F2A-E6A41B2CE7DB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為什麼要這樣做：</a:t>
            </a:r>
            <a:r>
              <a:rPr lang="zh-TW" sz="1400" dirty="0">
                <a:solidFill>
                  <a:srgbClr val="404040"/>
                </a:solidFill>
              </a:rPr>
              <a:t>讓 agent 用證據說話，而不是用猜的；每次解釋都要能被重現與驗證。</a:t>
            </a:r>
          </a:p>
        </p:txBody>
      </p:sp>
    </p:spTree>
    <p:extLst>
      <p:ext uri="{BB962C8B-B14F-4D97-AF65-F5344CB8AC3E}">
        <p14:creationId xmlns:p14="http://schemas.microsoft.com/office/powerpoint/2010/main" val="833085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8D1B6457-FEB5-4C46-B065-EE44C37ECFB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COMPARISON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340170B-C92F-4C10-8B8E-9E33F23176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 / Claude Code / Gemini CLI / Copilot CLI：先看工作情境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D8F6E73-5FFB-45E5-8D26-864F3443902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22/45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F1E21C97-891A-4FE2-A517-0D25064D44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573352C-5B70-411B-A82E-64708547154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1BC2240-996E-46D3-97DC-19D406AE1FEA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619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DBCC921-B49F-4D13-8EE0-7623C0D03793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391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強項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36F50C2-E6CD-4411-8610-6F60A7D0626C}"/>
              </a:ext>
            </a:extLst>
          </p:cNvPr>
          <p:cNvSpPr>
            <a:spLocks noGrp="1"/>
          </p:cNvSpPr>
          <p:nvPr/>
        </p:nvSpPr>
        <p:spPr>
          <a:xfrm>
            <a:off x="6848475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4D70684-BAE4-468C-B649-98BF86E2191A}"/>
              </a:ext>
            </a:extLst>
          </p:cNvPr>
          <p:cNvSpPr>
            <a:spLocks noGrp="1"/>
          </p:cNvSpPr>
          <p:nvPr/>
        </p:nvSpPr>
        <p:spPr>
          <a:xfrm>
            <a:off x="6962775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適合教學任務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D64016EC-3ADC-4239-9A8E-48CB545F86A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0D380C6B-9E25-4D8E-8351-42364C159CB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89067601-48C4-48DC-BF26-3D860B3D20EA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60BFA57-BB15-4184-A405-FB446877BFC4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repo-grounded CLI workflow、diff、測試、commit 導向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1EDE1D8-ADB7-47D6-8707-E02AD2293865}"/>
              </a:ext>
            </a:extLst>
          </p:cNvPr>
          <p:cNvSpPr>
            <a:spLocks noGrp="1"/>
          </p:cNvSpPr>
          <p:nvPr/>
        </p:nvSpPr>
        <p:spPr>
          <a:xfrm>
            <a:off x="6848475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457FBBB-349C-4CB4-B7AF-CD3CE1CF8479}"/>
              </a:ext>
            </a:extLst>
          </p:cNvPr>
          <p:cNvSpPr>
            <a:spLocks noGrp="1"/>
          </p:cNvSpPr>
          <p:nvPr/>
        </p:nvSpPr>
        <p:spPr>
          <a:xfrm>
            <a:off x="6962775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小型資料處理、bugfix、課堂 lab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E890C651-3ADF-4E85-9802-D6138038EE48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6DA3C57-A3C3-4F1E-A923-22C0E4299965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Claude Code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7174F1D-8209-48D8-BA56-B8CED275B8CE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BAC948-C82C-4E04-B576-68673139AEB9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 context 程式理解、多檔重構討論、plan-first workflow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F9A605A-35A9-4628-9EDC-667B53E9D565}"/>
              </a:ext>
            </a:extLst>
          </p:cNvPr>
          <p:cNvSpPr>
            <a:spLocks noGrp="1"/>
          </p:cNvSpPr>
          <p:nvPr/>
        </p:nvSpPr>
        <p:spPr>
          <a:xfrm>
            <a:off x="6848475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67843D9-3DE6-4E53-937B-3F64D7A38FFA}"/>
              </a:ext>
            </a:extLst>
          </p:cNvPr>
          <p:cNvSpPr>
            <a:spLocks noGrp="1"/>
          </p:cNvSpPr>
          <p:nvPr/>
        </p:nvSpPr>
        <p:spPr>
          <a:xfrm>
            <a:off x="6962775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讀大型 repo、設計改動策略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B271AAF9-9933-4861-BC6B-AEDF5FFEA6AC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C27FAD0-DE3F-4980-B462-921446E3B6F0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Gemini CLI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9A2FABB9-EFB7-4154-AA84-63480626E837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E21106-89BA-41E1-B876-D275A7517E3A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生態、長 context、多模態或雲端整合場景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F464540-D804-4202-913E-2149E534BC3E}"/>
              </a:ext>
            </a:extLst>
          </p:cNvPr>
          <p:cNvSpPr>
            <a:spLocks noGrp="1"/>
          </p:cNvSpPr>
          <p:nvPr/>
        </p:nvSpPr>
        <p:spPr>
          <a:xfrm>
            <a:off x="6848475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562A024-1511-4BEE-8B7A-E8FA574260FC}"/>
              </a:ext>
            </a:extLst>
          </p:cNvPr>
          <p:cNvSpPr>
            <a:spLocks noGrp="1"/>
          </p:cNvSpPr>
          <p:nvPr/>
        </p:nvSpPr>
        <p:spPr>
          <a:xfrm>
            <a:off x="6962775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讀大量文件、搭配 Google Cloud workflow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A616C7A-DC11-4052-B867-8C9AEDB76D1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853375CD-AF5D-48C0-B4E5-7947C212B4B7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Copilot CLI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F365A62-BF2B-43B2-8CBF-FDC9DD817326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7EB064B4-78F0-48AC-85AE-A494439D4418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terminal 內命令輔助、GitHub/IDE 生態銜接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198BEB-89C8-4AAA-9D43-B087A7C503D4}"/>
              </a:ext>
            </a:extLst>
          </p:cNvPr>
          <p:cNvSpPr>
            <a:spLocks noGrp="1"/>
          </p:cNvSpPr>
          <p:nvPr/>
        </p:nvSpPr>
        <p:spPr>
          <a:xfrm>
            <a:off x="6848475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6B1C63B-276A-4B57-B254-37605BB040E9}"/>
              </a:ext>
            </a:extLst>
          </p:cNvPr>
          <p:cNvSpPr>
            <a:spLocks noGrp="1"/>
          </p:cNvSpPr>
          <p:nvPr/>
        </p:nvSpPr>
        <p:spPr>
          <a:xfrm>
            <a:off x="6962775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解釋 shell/git 命令、日常 developer help</a:t>
            </a:r>
          </a:p>
        </p:txBody>
      </p:sp>
      <p:pic>
        <p:nvPicPr>
          <p:cNvPr id="35" name="Graphic 35" descr="Table comparis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2B501BD4-FAB2-0B43-B3AA-29ADA5E6C845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怎麼選：</a:t>
            </a:r>
            <a:r>
              <a:rPr lang="zh-TW" sz="1400" dirty="0">
                <a:solidFill>
                  <a:srgbClr val="404040"/>
                </a:solidFill>
              </a:rPr>
              <a:t>四款工具能力相近，差異在生態系整合與授權；先確認團隊現有訂閱與資安規範，再統一團隊用同一款工具。</a:t>
            </a:r>
          </a:p>
        </p:txBody>
      </p:sp>
    </p:spTree>
    <p:extLst>
      <p:ext uri="{BB962C8B-B14F-4D97-AF65-F5344CB8AC3E}">
        <p14:creationId xmlns:p14="http://schemas.microsoft.com/office/powerpoint/2010/main" val="2031866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BA8A6F7-17FF-4741-8D4B-56F707348E2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POSITIONING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130F961-7722-467C-9E9B-6F3253C18B7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不只是另一個 coding agent，而是 bioinformatics workflow agent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28B4553-C36D-4928-8DEB-0B77149A325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23/45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0D0A2CE-D855-45DC-993E-C1DB39E4E2CB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F5A7CFC-9AC4-493B-AE80-7DFBAACD80C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5FD350A-1B0E-4F40-9648-7DC403AABBE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286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ADE0276-C666-4391-B93C-2C7843B3C550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057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一般 CLI coding agent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7AF77E2-EA36-4018-BBD2-4970B81F852F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2E0ABCD-F541-4CF9-8C35-C5FF015837E7}"/>
              </a:ext>
            </a:extLst>
          </p:cNvPr>
          <p:cNvSpPr>
            <a:spLocks noGrp="1"/>
          </p:cNvSpPr>
          <p:nvPr/>
        </p:nvSpPr>
        <p:spPr>
          <a:xfrm>
            <a:off x="68199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Seqera AI / Co-Scientist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A450F2D-80DF-4991-90AD-3CE489944B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D33B6829-75FB-442D-A3BA-BF93B23F3EC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主要 context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3BB9DC9-4C04-4962-B27A-29A735B0BC12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B7C0D2B-F20C-4846-894B-653FE122E24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repo、測試、程式碼、shell 輸出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CCB118E-1BA3-4814-9B7B-11DCA32797EA}"/>
              </a:ext>
            </a:extLst>
          </p:cNvPr>
          <p:cNvSpPr>
            <a:spLocks noGrp="1"/>
          </p:cNvSpPr>
          <p:nvPr/>
        </p:nvSpPr>
        <p:spPr>
          <a:xfrm>
            <a:off x="6705600" y="230505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DEA81FA3-0732-4475-8EC8-9187A9633313}"/>
              </a:ext>
            </a:extLst>
          </p:cNvPr>
          <p:cNvSpPr>
            <a:spLocks noGrp="1"/>
          </p:cNvSpPr>
          <p:nvPr/>
        </p:nvSpPr>
        <p:spPr>
          <a:xfrm>
            <a:off x="6819900" y="240030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Nextflow、nf-core、Seqera Platform、runs、datasets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F8A63154-BD8E-435A-94F5-627DA156C347}"/>
              </a:ext>
            </a:extLst>
          </p:cNvPr>
          <p:cNvSpPr>
            <a:spLocks noGrp="1"/>
          </p:cNvSpPr>
          <p:nvPr/>
        </p:nvSpPr>
        <p:spPr>
          <a:xfrm>
            <a:off x="800100" y="296227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0877BAB6-61FE-456B-965F-FF093C2DEA61}"/>
              </a:ext>
            </a:extLst>
          </p:cNvPr>
          <p:cNvSpPr>
            <a:spLocks noGrp="1"/>
          </p:cNvSpPr>
          <p:nvPr/>
        </p:nvSpPr>
        <p:spPr>
          <a:xfrm>
            <a:off x="914400" y="305752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最常見任務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8237FBB-C49B-468B-A9C0-4CC792DE27A0}"/>
              </a:ext>
            </a:extLst>
          </p:cNvPr>
          <p:cNvSpPr>
            <a:spLocks noGrp="1"/>
          </p:cNvSpPr>
          <p:nvPr/>
        </p:nvSpPr>
        <p:spPr>
          <a:xfrm>
            <a:off x="2419350" y="296227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493ECB00-6A0C-49EF-91F6-AD0E0D48EBAE}"/>
              </a:ext>
            </a:extLst>
          </p:cNvPr>
          <p:cNvSpPr>
            <a:spLocks noGrp="1"/>
          </p:cNvSpPr>
          <p:nvPr/>
        </p:nvSpPr>
        <p:spPr>
          <a:xfrm>
            <a:off x="2533650" y="305752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修 bug、寫 script、跑 tests、整理 diff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B755FE5-F20F-4348-A16E-8028C0FE3B17}"/>
              </a:ext>
            </a:extLst>
          </p:cNvPr>
          <p:cNvSpPr>
            <a:spLocks noGrp="1"/>
          </p:cNvSpPr>
          <p:nvPr/>
        </p:nvSpPr>
        <p:spPr>
          <a:xfrm>
            <a:off x="6705600" y="296227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A305002-13C5-4D5C-99FC-DF040FA6F7FF}"/>
              </a:ext>
            </a:extLst>
          </p:cNvPr>
          <p:cNvSpPr>
            <a:spLocks noGrp="1"/>
          </p:cNvSpPr>
          <p:nvPr/>
        </p:nvSpPr>
        <p:spPr>
          <a:xfrm>
            <a:off x="6819900" y="305752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建立/除錯 pipeline、找 module、轉換 WDL/R、管理 runs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3302750-15BD-4156-9542-9E8A4C90A2C1}"/>
              </a:ext>
            </a:extLst>
          </p:cNvPr>
          <p:cNvSpPr>
            <a:spLocks noGrp="1"/>
          </p:cNvSpPr>
          <p:nvPr/>
        </p:nvSpPr>
        <p:spPr>
          <a:xfrm>
            <a:off x="800100" y="361950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490A94B-0D24-4F87-9EED-82ACE6964374}"/>
              </a:ext>
            </a:extLst>
          </p:cNvPr>
          <p:cNvSpPr>
            <a:spLocks noGrp="1"/>
          </p:cNvSpPr>
          <p:nvPr/>
        </p:nvSpPr>
        <p:spPr>
          <a:xfrm>
            <a:off x="914400" y="371475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驗證方式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0FA12E7-0E51-489F-9D3E-D2E4FA52BF97}"/>
              </a:ext>
            </a:extLst>
          </p:cNvPr>
          <p:cNvSpPr>
            <a:spLocks noGrp="1"/>
          </p:cNvSpPr>
          <p:nvPr/>
        </p:nvSpPr>
        <p:spPr>
          <a:xfrm>
            <a:off x="2419350" y="361950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60A34E5-0C32-4E37-935D-3154DC423705}"/>
              </a:ext>
            </a:extLst>
          </p:cNvPr>
          <p:cNvSpPr>
            <a:spLocks noGrp="1"/>
          </p:cNvSpPr>
          <p:nvPr/>
        </p:nvSpPr>
        <p:spPr>
          <a:xfrm>
            <a:off x="2533650" y="371475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unit test、smoke test、lint、git diff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D06D141-5350-4A28-ACE0-CB40DEE762B6}"/>
              </a:ext>
            </a:extLst>
          </p:cNvPr>
          <p:cNvSpPr>
            <a:spLocks noGrp="1"/>
          </p:cNvSpPr>
          <p:nvPr/>
        </p:nvSpPr>
        <p:spPr>
          <a:xfrm>
            <a:off x="6705600" y="361950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45C24CB-55AA-4EC6-A515-D044993884C0}"/>
              </a:ext>
            </a:extLst>
          </p:cNvPr>
          <p:cNvSpPr>
            <a:spLocks noGrp="1"/>
          </p:cNvSpPr>
          <p:nvPr/>
        </p:nvSpPr>
        <p:spPr>
          <a:xfrm>
            <a:off x="6819900" y="371475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dry run、nf-test、run logs、MultiQC、Platform metrics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583F96A-DB97-4BA1-8B58-91385FBE80E5}"/>
              </a:ext>
            </a:extLst>
          </p:cNvPr>
          <p:cNvSpPr>
            <a:spLocks noGrp="1"/>
          </p:cNvSpPr>
          <p:nvPr/>
        </p:nvSpPr>
        <p:spPr>
          <a:xfrm>
            <a:off x="800100" y="427672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20191B5-AE96-40E6-9835-406AF6EA4BA9}"/>
              </a:ext>
            </a:extLst>
          </p:cNvPr>
          <p:cNvSpPr>
            <a:spLocks noGrp="1"/>
          </p:cNvSpPr>
          <p:nvPr/>
        </p:nvSpPr>
        <p:spPr>
          <a:xfrm>
            <a:off x="914400" y="437197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 gate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DE077390-9C59-4823-A29C-2B51A32C2152}"/>
              </a:ext>
            </a:extLst>
          </p:cNvPr>
          <p:cNvSpPr>
            <a:spLocks noGrp="1"/>
          </p:cNvSpPr>
          <p:nvPr/>
        </p:nvSpPr>
        <p:spPr>
          <a:xfrm>
            <a:off x="2419350" y="427672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CDD21AB9-1FE8-4610-97CC-CA0F07C1A92F}"/>
              </a:ext>
            </a:extLst>
          </p:cNvPr>
          <p:cNvSpPr>
            <a:spLocks noGrp="1"/>
          </p:cNvSpPr>
          <p:nvPr/>
        </p:nvSpPr>
        <p:spPr>
          <a:xfrm>
            <a:off x="2533650" y="437197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合併前 code review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E06A6B9-F242-4BDA-BF32-E6D60EB17D70}"/>
              </a:ext>
            </a:extLst>
          </p:cNvPr>
          <p:cNvSpPr>
            <a:spLocks noGrp="1"/>
          </p:cNvSpPr>
          <p:nvPr/>
        </p:nvSpPr>
        <p:spPr>
          <a:xfrm>
            <a:off x="6705600" y="427672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BEE3F9E-B489-447A-B23D-211EFEA9B43F}"/>
              </a:ext>
            </a:extLst>
          </p:cNvPr>
          <p:cNvSpPr>
            <a:spLocks noGrp="1"/>
          </p:cNvSpPr>
          <p:nvPr/>
        </p:nvSpPr>
        <p:spPr>
          <a:xfrm>
            <a:off x="6819900" y="437197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啟動雲端 run、改 workspace、動用資料前 approval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504A2E39-A669-4526-B561-2626FD465C65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docs.seqera.io, seqera.io/platform/seqera-ai</a:t>
            </a:r>
          </a:p>
        </p:txBody>
      </p:sp>
      <p:pic>
        <p:nvPicPr>
          <p:cNvPr id="36" name="Graphic 36" descr="Cloud computing icon for Seqera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143500"/>
            <a:ext cx="533400" cy="533400"/>
          </a:xfrm>
          <a:prstGeom prst="rect">
            <a:avLst/>
          </a:prstGeom>
        </p:spPr>
      </p:pic>
      <p:sp>
        <p:nvSpPr>
          <p:cNvPr id="37" name="圓角矩形 36">
            <a:extLst>
              <a:ext uri="{FF2B5EF4-FFF2-40B4-BE49-F238E27FC236}">
                <a16:creationId xmlns:a16="http://schemas.microsoft.com/office/drawing/2014/main" id="{6BD80F5E-3A0F-9C48-A72B-73E87D57F748}"/>
              </a:ext>
            </a:extLst>
          </p:cNvPr>
          <p:cNvSpPr/>
          <p:nvPr/>
        </p:nvSpPr>
        <p:spPr>
          <a:xfrm>
            <a:off x="1498600" y="5080000"/>
            <a:ext cx="9690100" cy="698500"/>
          </a:xfrm>
          <a:prstGeom prst="roundRect">
            <a:avLst/>
          </a:prstGeom>
          <a:solidFill>
            <a:srgbClr val="F5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為什麼要多學一個工具：</a:t>
            </a:r>
            <a:r>
              <a:rPr lang="zh-TW" sz="1400" dirty="0">
                <a:solidFill>
                  <a:srgbClr val="404040"/>
                </a:solidFill>
              </a:rPr>
              <a:t>通用 CLI agent 不懂 Nextflow channel 與 config profile；Seqera AI 把這些 domain knowledge 內建，減少來回除錯。</a:t>
            </a:r>
          </a:p>
        </p:txBody>
      </p:sp>
    </p:spTree>
    <p:extLst>
      <p:ext uri="{BB962C8B-B14F-4D97-AF65-F5344CB8AC3E}">
        <p14:creationId xmlns:p14="http://schemas.microsoft.com/office/powerpoint/2010/main" val="42623439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9955771-09C7-4D80-96A9-89A3C96985C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AA7AA920-3AA0-4FCA-8959-C6E987DFB41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如何避免 agent 亂改檔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F3069DC-472A-4304-B61D-B75DD2266769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真正的問題通常不是 agent 不能改，而是它改太多、改太快、又沒有留下可檢查證據。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B4613BC-93C1-4CF9-8C22-3E318E482CB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24/45</a:t>
            </a:r>
          </a:p>
        </p:txBody>
      </p:sp>
      <p:pic>
        <p:nvPicPr>
          <p:cNvPr id="6" name="Graphic 6" descr="Guardrail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CF331D95-F529-CC4D-B610-89E5EA647858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E97132"/>
                </a:solidFill>
              </a:rPr>
              <a:t>Guardrails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限制 write surface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DB926AB-620B-DD44-8206-3CCD83BFA2C6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Git Hygiene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保護工作樹與 commit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34FDAAB-83BD-7843-8625-387EC20D9C3F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Biomedical Tasks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可驗證 artifact</a:t>
            </a:r>
          </a:p>
        </p:txBody>
      </p:sp>
    </p:spTree>
    <p:extLst>
      <p:ext uri="{BB962C8B-B14F-4D97-AF65-F5344CB8AC3E}">
        <p14:creationId xmlns:p14="http://schemas.microsoft.com/office/powerpoint/2010/main" val="359699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32EEF9A6-37DB-4BBD-B87F-E935D068D7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FD87A8B-4F46-4E52-B3B3-E86AA5E8948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agent 的 write surface，比事後整理爛 diff 更有效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87B8187-6551-49FF-9E03-558195F5D4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25/45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BB16F1B3-17DE-4CEB-A8AC-3968C5B6035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每次任務只允許少數檔案或一個資料夾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要求修改前先回報 plan，修改後先 show diff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禁止無關格式化、重命名、搬檔與大規模重構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資料檔、credential、環境設定與雲端資源要需要人工確認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BFFC4E24-693B-409E-9EF4-E0101620102F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FB01CDCB-5FBE-462F-A5B0-8CE4579F11F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Prompt guard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34180734-A198-4294-8BC2-057BD0029775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edit files outside...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run destructive commands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Ask before external actions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Preserve user changes</a:t>
            </a:r>
          </a:p>
        </p:txBody>
      </p:sp>
      <p:pic>
        <p:nvPicPr>
          <p:cNvPr id="9" name="Graphic 9" descr="Shield icon for guardr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356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E62B39E4-A067-4E4C-9B38-4DF81FF95716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為什麼要設限：</a:t>
            </a:r>
            <a:r>
              <a:rPr lang="zh-TW" sz="1400" dirty="0">
                <a:solidFill>
                  <a:srgbClr val="404040"/>
                </a:solidFill>
              </a:rPr>
              <a:t>guardrails 把 agent 的自由度收斂到「小、可逆、可審查」，出錯也只是一次小修補而不是整個 repo 重來。</a:t>
            </a:r>
          </a:p>
        </p:txBody>
      </p:sp>
    </p:spTree>
    <p:extLst>
      <p:ext uri="{BB962C8B-B14F-4D97-AF65-F5344CB8AC3E}">
        <p14:creationId xmlns:p14="http://schemas.microsoft.com/office/powerpoint/2010/main" val="4315767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4AFE077-9436-4B16-9FB3-C0BE6B7A702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HYGIENE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E042FC7-3976-4640-AC96-B7989471AA3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每次讓 agent 動手前，先保護工作樹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1838E11-5E10-44B7-A628-EE5B0D96D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26/45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B5ED9D1-880B-497E-9645-02069A599616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Minimum git ritual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EF8E4DC-89E9-47E6-B628-352AF6F0DFA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59D068E-8300-40CC-9290-8304F36EBDC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 --stat</a:t>
            </a:r>
          </a:p>
          <a:p>
            <a:endParaRPr sz="11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after patch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&lt;touched files&gt;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"Add manifest validation checks"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A64C3275-2694-4F2A-839A-FD75148DB6B5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85D916A-890A-4FD7-A885-3F4D4F22B0A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學生要會看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9ACBD08-8B9E-478A-97F5-00BD4C441806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有哪些檔案被改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有沒有無關檔案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測試是否真的跑過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訊息是否可追溯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4C80345-1307-5541-8221-207875582E31}"/>
              </a:ext>
            </a:extLst>
          </p:cNvPr>
          <p:cNvSpPr/>
          <p:nvPr/>
        </p:nvSpPr>
        <p:spPr>
          <a:xfrm>
            <a:off x="1651000" y="5499100"/>
            <a:ext cx="9779000" cy="6350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為什麼要乾淨：</a:t>
            </a:r>
            <a:r>
              <a:rPr lang="zh-TW" sz="1400" dirty="0">
                <a:solidFill>
                  <a:srgbClr val="404040"/>
                </a:solidFill>
              </a:rPr>
              <a:t>每個任務都是獨立分支與可回溯 commit，出問題能立刻 revert，也方便老師事後 review。</a:t>
            </a:r>
          </a:p>
        </p:txBody>
      </p:sp>
    </p:spTree>
    <p:extLst>
      <p:ext uri="{BB962C8B-B14F-4D97-AF65-F5344CB8AC3E}">
        <p14:creationId xmlns:p14="http://schemas.microsoft.com/office/powerpoint/2010/main" val="9376937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B1D067C-54BD-46F6-8AB3-F144AD28EB0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BIOMEDICAL TASKS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8BB7CF-BB23-44D1-A982-AC5782CACD4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這堂課的 biomedical examples 都要落在可驗證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3B03D72-FFE8-444C-AB64-ED478A504C5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27/45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96F442F5-3866-4A09-BF39-D19ADAFD8BF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190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B741674-A73C-4221-82C4-943FE74383B3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962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任務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AF4828B-4953-4D50-BA8C-5992FAE95DA9}"/>
              </a:ext>
            </a:extLst>
          </p:cNvPr>
          <p:cNvSpPr>
            <a:spLocks noGrp="1"/>
          </p:cNvSpPr>
          <p:nvPr/>
        </p:nvSpPr>
        <p:spPr>
          <a:xfrm>
            <a:off x="2990850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64B19A9-A536-4B45-9A6F-09D1F9D20694}"/>
              </a:ext>
            </a:extLst>
          </p:cNvPr>
          <p:cNvSpPr>
            <a:spLocks noGrp="1"/>
          </p:cNvSpPr>
          <p:nvPr/>
        </p:nvSpPr>
        <p:spPr>
          <a:xfrm>
            <a:off x="3105150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4236A37-7C82-4B4D-9422-B0CDF243F8C2}"/>
              </a:ext>
            </a:extLst>
          </p:cNvPr>
          <p:cNvSpPr>
            <a:spLocks noGrp="1"/>
          </p:cNvSpPr>
          <p:nvPr/>
        </p:nvSpPr>
        <p:spPr>
          <a:xfrm>
            <a:off x="7229475" y="1885950"/>
            <a:ext cx="395287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C0D18362-57E3-4E0B-B7A9-3167E2436B0D}"/>
              </a:ext>
            </a:extLst>
          </p:cNvPr>
          <p:cNvSpPr>
            <a:spLocks noGrp="1"/>
          </p:cNvSpPr>
          <p:nvPr/>
        </p:nvSpPr>
        <p:spPr>
          <a:xfrm>
            <a:off x="7343775" y="2000250"/>
            <a:ext cx="3724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人工要檢查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FAB9FD2-80DC-4220-8750-72C9EA593C6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478E1E-ADAC-493A-ACC5-D1178FD8B2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文獻表格轉 CSV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BC1C6954-F3C0-45BB-968E-66283B3359B0}"/>
              </a:ext>
            </a:extLst>
          </p:cNvPr>
          <p:cNvSpPr>
            <a:spLocks noGrp="1"/>
          </p:cNvSpPr>
          <p:nvPr/>
        </p:nvSpPr>
        <p:spPr>
          <a:xfrm>
            <a:off x="2990850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EA7A2B-F68A-4B5C-8D7A-230B928F130C}"/>
              </a:ext>
            </a:extLst>
          </p:cNvPr>
          <p:cNvSpPr>
            <a:spLocks noGrp="1"/>
          </p:cNvSpPr>
          <p:nvPr/>
        </p:nvSpPr>
        <p:spPr>
          <a:xfrm>
            <a:off x="3105150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解析欄位、清理空值、輸出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EE8263EA-76CE-4DFB-AA62-640DFA58DFB3}"/>
              </a:ext>
            </a:extLst>
          </p:cNvPr>
          <p:cNvSpPr>
            <a:spLocks noGrp="1"/>
          </p:cNvSpPr>
          <p:nvPr/>
        </p:nvSpPr>
        <p:spPr>
          <a:xfrm>
            <a:off x="7229475" y="23050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760D2FB-021B-49F2-A9E4-C0063912AD15}"/>
              </a:ext>
            </a:extLst>
          </p:cNvPr>
          <p:cNvSpPr>
            <a:spLocks noGrp="1"/>
          </p:cNvSpPr>
          <p:nvPr/>
        </p:nvSpPr>
        <p:spPr>
          <a:xfrm>
            <a:off x="7343775" y="24003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PMID/DOI 是否真實、欄位語意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37D7D9F-E290-4C3A-9480-8478EB2E12EE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99CA22B-FFD5-4DEB-B0B5-6D293211571B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symbol check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8D35058-8B9E-49C2-9174-3261898843F3}"/>
              </a:ext>
            </a:extLst>
          </p:cNvPr>
          <p:cNvSpPr>
            <a:spLocks noGrp="1"/>
          </p:cNvSpPr>
          <p:nvPr/>
        </p:nvSpPr>
        <p:spPr>
          <a:xfrm>
            <a:off x="2990850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0F15B89-F786-4796-B1F6-FEE973BC4F45}"/>
              </a:ext>
            </a:extLst>
          </p:cNvPr>
          <p:cNvSpPr>
            <a:spLocks noGrp="1"/>
          </p:cNvSpPr>
          <p:nvPr/>
        </p:nvSpPr>
        <p:spPr>
          <a:xfrm>
            <a:off x="3105150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格式檢查、大小寫、空值、重複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D4BA2D3-B008-414C-9E48-0DC00429C3CC}"/>
              </a:ext>
            </a:extLst>
          </p:cNvPr>
          <p:cNvSpPr>
            <a:spLocks noGrp="1"/>
          </p:cNvSpPr>
          <p:nvPr/>
        </p:nvSpPr>
        <p:spPr>
          <a:xfrm>
            <a:off x="7229475" y="29718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3E9265A-DF67-452B-87EC-8A8BA928B62D}"/>
              </a:ext>
            </a:extLst>
          </p:cNvPr>
          <p:cNvSpPr>
            <a:spLocks noGrp="1"/>
          </p:cNvSpPr>
          <p:nvPr/>
        </p:nvSpPr>
        <p:spPr>
          <a:xfrm>
            <a:off x="7343775" y="30670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是否為 approved symbol、物種與舊名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F9BFF8A-1054-4954-B1D2-10A270EA3472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125B0022-8027-404D-AD86-A1C8DB59EAB6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JSON/HTML report extraction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1BB8584-7B9C-4D9C-9CBA-E3D5F749F510}"/>
              </a:ext>
            </a:extLst>
          </p:cNvPr>
          <p:cNvSpPr>
            <a:spLocks noGrp="1"/>
          </p:cNvSpPr>
          <p:nvPr/>
        </p:nvSpPr>
        <p:spPr>
          <a:xfrm>
            <a:off x="2990850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1C080E2-EB9D-4110-838A-5025C90BF156}"/>
              </a:ext>
            </a:extLst>
          </p:cNvPr>
          <p:cNvSpPr>
            <a:spLocks noGrp="1"/>
          </p:cNvSpPr>
          <p:nvPr/>
        </p:nvSpPr>
        <p:spPr>
          <a:xfrm>
            <a:off x="3105150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 table、產生 summary、寫 parser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612A604C-8FB3-458F-8E08-36DA1ECE5AB9}"/>
              </a:ext>
            </a:extLst>
          </p:cNvPr>
          <p:cNvSpPr>
            <a:spLocks noGrp="1"/>
          </p:cNvSpPr>
          <p:nvPr/>
        </p:nvSpPr>
        <p:spPr>
          <a:xfrm>
            <a:off x="7229475" y="36385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E141B-55C0-44F8-9489-33F9BB7D5E2D}"/>
              </a:ext>
            </a:extLst>
          </p:cNvPr>
          <p:cNvSpPr>
            <a:spLocks noGrp="1"/>
          </p:cNvSpPr>
          <p:nvPr/>
        </p:nvSpPr>
        <p:spPr>
          <a:xfrm>
            <a:off x="7343775" y="37338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來源欄位是否被誤解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EF82B99-D454-4E88-A8B8-F7F6DE1EB54E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98BBE1C-CFDA-4D12-A2B3-C5B83EB00C1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Pipeline validation report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466AB79-21F2-470D-9F18-2191D8519F49}"/>
              </a:ext>
            </a:extLst>
          </p:cNvPr>
          <p:cNvSpPr>
            <a:spLocks noGrp="1"/>
          </p:cNvSpPr>
          <p:nvPr/>
        </p:nvSpPr>
        <p:spPr>
          <a:xfrm>
            <a:off x="2990850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E375CA1-FF8D-494E-8942-986769CD6DDA}"/>
              </a:ext>
            </a:extLst>
          </p:cNvPr>
          <p:cNvSpPr>
            <a:spLocks noGrp="1"/>
          </p:cNvSpPr>
          <p:nvPr/>
        </p:nvSpPr>
        <p:spPr>
          <a:xfrm>
            <a:off x="3105150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統計樣本數、錯誤列、exit code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818BDF42-6E41-4A78-8CA4-AB1C2D830A47}"/>
              </a:ext>
            </a:extLst>
          </p:cNvPr>
          <p:cNvSpPr>
            <a:spLocks noGrp="1"/>
          </p:cNvSpPr>
          <p:nvPr/>
        </p:nvSpPr>
        <p:spPr>
          <a:xfrm>
            <a:off x="7229475" y="43053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306A1DA-03A9-4FBE-A79C-2144B9B33B36}"/>
              </a:ext>
            </a:extLst>
          </p:cNvPr>
          <p:cNvSpPr>
            <a:spLocks noGrp="1"/>
          </p:cNvSpPr>
          <p:nvPr/>
        </p:nvSpPr>
        <p:spPr>
          <a:xfrm>
            <a:off x="7343775" y="44005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分析結論與臨床語意</a:t>
            </a:r>
          </a:p>
        </p:txBody>
      </p:sp>
      <p:pic>
        <p:nvPicPr>
          <p:cNvPr id="35" name="Graphic 35" descr="DNA icon for biomedical tas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AE7F52F7-542E-B84C-94F9-F3FF10261E86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挑選原則：</a:t>
            </a:r>
            <a:r>
              <a:rPr lang="zh-TW" sz="1400" dirty="0">
                <a:solidFill>
                  <a:srgbClr val="404040"/>
                </a:solidFill>
              </a:rPr>
              <a:t>優先選擇結果可用檔案或數值直接驗證的任務，避免需要人工判斷生物學意義的開放性問題。</a:t>
            </a:r>
          </a:p>
        </p:txBody>
      </p:sp>
    </p:spTree>
    <p:extLst>
      <p:ext uri="{BB962C8B-B14F-4D97-AF65-F5344CB8AC3E}">
        <p14:creationId xmlns:p14="http://schemas.microsoft.com/office/powerpoint/2010/main" val="35126513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8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A6D505B-836E-4FCA-B778-216360DB46E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DEMO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7BE226B-92E5-47A5-AAD3-9FF98972FB58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從 sample manifest 到 validation patch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A2FDFC9-63B9-4A04-ADFF-DF1D76E834E8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示範重點不是寫很難的程式，而是讓 agent 讀檔、改小範圍、跑測試、留下 report。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D5A559D-8FBF-40FE-9503-2F9AC8A624D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28/45</a:t>
            </a:r>
          </a:p>
        </p:txBody>
      </p:sp>
      <p:pic>
        <p:nvPicPr>
          <p:cNvPr id="6" name="Graphic 6" descr="Flask icon for lab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BC62A5D8-5921-3945-9E26-01E127E571C4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Lab File Tree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repo 檔案與 prompts 結構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4CA6D58-5163-EB4C-A0C8-1885C1F47FE1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Prompt Skeleton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小範圍、可驗證 task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29483C1C-8D7F-3D47-B938-4781C60E4C27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Demo Loop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Ask→Patch→Run→Record</a:t>
            </a:r>
          </a:p>
        </p:txBody>
      </p:sp>
    </p:spTree>
    <p:extLst>
      <p:ext uri="{BB962C8B-B14F-4D97-AF65-F5344CB8AC3E}">
        <p14:creationId xmlns:p14="http://schemas.microsoft.com/office/powerpoint/2010/main" val="3328848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0FC5405-D664-49B2-A9AA-43DB92A8CBB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FILE TREE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ED5637-F4C7-4C5F-B1A7-3C5BC21F51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材料讓學生可以練習 repo-grounded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7E39D6A-ADBE-4597-8CBC-B89E5C5C625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29/45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61F06C91-B964-4B59-A509-A79C9F519D6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lesson-07 lab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FFAD1C7F-8B4F-440B-8FC0-EF5B13E54CC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EA93EA2-EBEB-402F-9C0E-D439809B210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lesson-07-coding-agents-cli-workflows/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README.md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sample_manifest.csv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scripts/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validate_manifest.py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prompts/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├── coding_agent_task.md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nextflow_task.md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└── nextflow/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├── main.nf</a:t>
            </a:r>
          </a:p>
          <a:p>
            <a:pPr algn="l">
              <a:lnSpc>
                <a:spcPct val="106000"/>
              </a:lnSpc>
              <a:buNone/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└── nextflow.config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BADD5C35-1D4E-4645-B559-AF319DFCABC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6BE46B3-AB1A-48BA-8EB3-233ECBDC36C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Demo 目標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2A667A2-409F-4F6A-95A7-2A8E5B7F2B7E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先理解資料欄位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 manifest validation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summary report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留下 diff 與測試紀錄，供下一輪迭代</a:t>
            </a:r>
          </a:p>
        </p:txBody>
      </p:sp>
      <p:pic>
        <p:nvPicPr>
          <p:cNvPr id="11" name="Graphic 11" descr="Fold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279141B3-D033-BC4F-897C-770F010D445D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為什麼這樣分：</a:t>
            </a:r>
            <a:r>
              <a:rPr lang="zh-TW" sz="1400" dirty="0">
                <a:solidFill>
                  <a:srgbClr val="404040"/>
                </a:solidFill>
              </a:rPr>
              <a:t>prompts/ 資料夾先把任務範圍寫清楚，讓學生練習時不用自己臆測要改哪裡、驗收標準是什麼。</a:t>
            </a:r>
          </a:p>
        </p:txBody>
      </p:sp>
    </p:spTree>
    <p:extLst>
      <p:ext uri="{BB962C8B-B14F-4D97-AF65-F5344CB8AC3E}">
        <p14:creationId xmlns:p14="http://schemas.microsoft.com/office/powerpoint/2010/main" val="11246612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0FC5405-D664-49B2-A9AA-43DB92A8CBB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總覽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ED5637-F4C7-4C5F-B1A7-3C5BC21F51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練習總覽：目標、任務、做法與成果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7E39D6A-ADBE-4597-8CBC-B89E5C5C625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30/46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61F06C91-B964-4B59-A509-A79C9F519D6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目標與任務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FFAD1C7F-8B4F-440B-8FC0-EF5B13E54CC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59080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EA93EA2-EBEB-402F-9C0E-D439809B210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26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spcAft>
                <a:spcPts val="300"/>
              </a:spcAft>
              <a:buNone/>
            </a:pPr>
            <a:r>
              <a:rPr sz="1500" b="1">
                <a:solidFill>
                  <a:srgbClr val="6FCF7C"/>
                </a:solidFill>
                <a:latin typeface="PingFang TC"/>
                <a:ea typeface="PingFang TC"/>
                <a:cs typeface="PingFang TC"/>
              </a:rPr>
              <a:t>目標</a:t>
            </a:r>
          </a:p>
          <a:p>
            <a:pPr algn="l">
              <a:lnSpc>
                <a:spcPct val="112000"/>
              </a:lnSpc>
              <a:spcAft>
                <a:spcPts val="50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撰寫 repo-grounded prompt，讓 coding agent 在明確範圍內完成小範圍、可驗證的修改。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6FCF7C"/>
                </a:solidFill>
                <a:latin typeface="PingFang TC"/>
                <a:ea typeface="PingFang TC"/>
                <a:cs typeface="PingFang TC"/>
              </a:rPr>
              <a:t>要做什麼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完成 coding_agent_task.md 的 manifest validation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讓 validate_manifest.py 通過測試</a:t>
            </a:r>
          </a:p>
          <a:p>
            <a:pPr marL="24" indent="-12">
              <a:lnSpc>
                <a:spcPct val="110000"/>
              </a:lnSpc>
              <a:spcAft>
                <a:spcPts val="150"/>
              </a:spcAft>
              <a:buNone/>
            </a:pPr>
            <a:r>
              <a:rPr sz="1400" b="0">
                <a:solidFill>
                  <a:srgbClr val="F3F7FA"/>
                </a:solidFill>
                <a:latin typeface="PingFang TC"/>
                <a:ea typeface="PingFang TC"/>
                <a:cs typeface="PingFang TC"/>
              </a:rPr>
              <a:t>產出 summary report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BADD5C35-1D4E-4645-B559-AF319DFCABC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6BE46B3-AB1A-48BA-8EB3-233ECBDC36C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怎麼做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2A667A2-409F-4F6A-95A7-2A8E5B7F2B7E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閱讀 README 與 prompts/ 任務說明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依 read set／allowed write／acceptance criteria 撰寫 prompt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執行 coding agent 並檢視產出的 diff</a:t>
            </a:r>
          </a:p>
          <a:p>
            <a:pPr marL="24" indent="-12">
              <a:lnSpc>
                <a:spcPct val="108000"/>
              </a:lnSpc>
              <a:spcAft>
                <a:spcPts val="110"/>
              </a:spcAft>
              <a:buNone/>
            </a:pPr>
            <a:r>
              <a:rPr sz="14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依測試結果反覆迭代，直到符合驗收標準</a:t>
            </a:r>
          </a:p>
        </p:txBody>
      </p:sp>
      <p:pic>
        <p:nvPicPr>
          <p:cNvPr id="11" name="Graphic 11" descr="Fold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279141B3-D033-BC4F-897C-770F010D445D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做完會得到：</a:t>
            </a:r>
            <a:r>
              <a:rPr lang="zh-TW" sz="1400" dirty="0">
                <a:solidFill>
                  <a:srgbClr val="404040"/>
                </a:solidFill>
              </a:rPr>
              <a:t>通過測試的 validate_manifest.py、一份 summary report，以及保留下來的 diff 與測試紀錄，可作為下一輪迭代或作業繳交的依據。</a:t>
            </a:r>
          </a:p>
        </p:txBody>
      </p:sp>
    </p:spTree>
    <p:extLst>
      <p:ext uri="{BB962C8B-B14F-4D97-AF65-F5344CB8AC3E}">
        <p14:creationId xmlns:p14="http://schemas.microsoft.com/office/powerpoint/2010/main" val="14616118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C8EFEF4-D576-4462-84BE-E6FE86AE78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5F4EC98-8B5F-4B32-9F44-30C9F4B8F9A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demo prompt：小範圍、可驗證、可回報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A2A7386-6536-43F8-AB40-23AB8AE6E28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C2BAC78-D4A1-4B5B-967D-5C80D0042D7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 skeleton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358FF9A-81DD-4416-A61A-4C68C11E0C34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82115A3-AD44-4C5C-BAF2-157CCE10C3C1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請在這個 lab repo 中完成：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先讀 README、sample_manifest.csv、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只修改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加入欄位檢查：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sample_id, fastq_1, fastq_2, condition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輸出 summary：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total_rows, invalid_rows, error_messages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跑：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6. 回報 diff 摘要與剩餘風險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3CFA12E-87D6-44B2-BBB3-98C8FB91281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38FFCF22-BA80-4DF6-B1EA-1D40CB909BB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教師強調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8A5C12AC-488D-4DFD-BB73-29461F1D5B17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read set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allowed write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acceptance criteria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command output</a:t>
            </a:r>
          </a:p>
        </p:txBody>
      </p:sp>
      <p:pic>
        <p:nvPicPr>
          <p:cNvPr id="11" name="Graphic 11" descr="Prompt cha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2850E76-3E80-0944-AE93-658E3C59FCDC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寫 prompt 的關鍵：</a:t>
            </a:r>
            <a:r>
              <a:rPr lang="zh-TW" sz="1400" dirty="0">
                <a:solidFill>
                  <a:srgbClr val="404040"/>
                </a:solidFill>
              </a:rPr>
              <a:t>先給脈絡與範圍，再給驗收標準——讓 agent 知道「做到什麼程度算完成」。</a:t>
            </a:r>
          </a:p>
        </p:txBody>
      </p:sp>
    </p:spTree>
    <p:extLst>
      <p:ext uri="{BB962C8B-B14F-4D97-AF65-F5344CB8AC3E}">
        <p14:creationId xmlns:p14="http://schemas.microsoft.com/office/powerpoint/2010/main" val="16673258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183690C0-A1B8-4FC0-8F6E-8D6777816B8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1109B2-B0BE-4464-B62C-A5742CD8051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課堂示範可以照這個節奏跑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0FC1C5-B03B-4673-8576-E5B4BD85B3B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31/45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B279EF21-EA8D-48A7-9B81-A87FAE593614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64DEB9CF-F2F8-49FF-B359-6F5F1E0CBEC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0DD9C5BB-FD18-4CAC-9D23-BD644A488719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Ask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9CFD7147-BD7A-4FC8-8343-415E96E94E70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貼 task packet，不直接叫它自由修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CD9286E8-2C97-4984-A890-43F178A54A09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1AE16755-713C-4F01-BBA1-F3A8892CA01F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9FFBBE62-AF8E-4332-9F0A-50EDE15C75FC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58F97B77-FD3D-4B10-A522-E760EA9B27C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F478C2F7-1092-4966-A88F-FD8B7F3B442A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 agent 讀了哪些檔案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C52892F-9636-445C-855E-E069BA2505A5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39336D07-28CA-4462-B727-712C1E6C173A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4B120138-9483-4AAF-A8D5-6F6F19105720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491BE9AF-E1E5-484F-8C2D-3C62A69E4E8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38ECBA0-DE6D-4440-975D-29D2C505F747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確認只改指定檔案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EFFF4DF-B6AE-4F4E-A9D3-4F6825A9000B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AAA83FC-D669-4F63-8CD0-457B2C73C40F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2F2AC61-C4BC-4AA6-824F-D6BB3F2506D2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E7079074-1B83-4A3A-9289-812D7D8B9FDE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Run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B92E7714-52FB-4E5C-A1DE-2956CDA034CF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重跑 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648781E4-4451-4442-AE13-7A041C17970A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5A87FF54-972A-465C-BE7E-558B519C9609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96BB7D08-7A77-4055-99C6-14192BE45335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53790F15-C052-4F0B-B58D-4EA7DA7E7451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B6700754-E7A9-4D81-A9CA-65EDBCA052B6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diff 與錯誤列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DCC12FC0-285D-433A-AB0A-A9FF42CFE41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4FF42984-BB8E-4D2C-96F3-F15D7E9C927C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F672FECF-AF99-4565-9928-D621AC8B75A7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F5167A8A-E163-445A-9D24-B878EAED71B2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C7A32C00-39FE-4AEA-93C6-ACFE6EBE439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prompt、command、commit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FEA9E9F2-296E-6F44-9852-C78E05356F3F}"/>
              </a:ext>
            </a:extLst>
          </p:cNvPr>
          <p:cNvSpPr/>
          <p:nvPr/>
        </p:nvSpPr>
        <p:spPr>
          <a:xfrm>
            <a:off x="800100" y="5080000"/>
            <a:ext cx="10591800" cy="762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為什麼每輪都要 Record：</a:t>
            </a:r>
            <a:r>
              <a:rPr lang="zh-TW" sz="1400" dirty="0">
                <a:solidFill>
                  <a:srgbClr val="404040"/>
                </a:solidFill>
              </a:rPr>
              <a:t>留下 diff 與測試結果，下一輪才能延續脈絡，也讓老師能追蹤每組的推進過程。</a:t>
            </a:r>
          </a:p>
        </p:txBody>
      </p:sp>
    </p:spTree>
    <p:extLst>
      <p:ext uri="{BB962C8B-B14F-4D97-AF65-F5344CB8AC3E}">
        <p14:creationId xmlns:p14="http://schemas.microsoft.com/office/powerpoint/2010/main" val="1866633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7CCD25E-8FA5-45E1-BC2B-BC292CA25F1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BBECDDE-17E1-4FB9-A2B7-80120002A95F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AI：把 workflow domain knowledge 帶進 CLI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6ECE9702-A151-42A0-AFD7-46C2C7FF3691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可以改 repo；Seqera AI 的價值是理解 Nextflow、nf-core、Seqera Platform 與 pipeline execution context。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F4B0431-F9E5-48AE-BC6A-AB45DD0DA1D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32/45</a:t>
            </a:r>
          </a:p>
        </p:txBody>
      </p:sp>
      <p:pic>
        <p:nvPicPr>
          <p:cNvPr id="6" name="Graphic 6" descr="DNA icon for Seqera AI sec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3D6493A4-2546-5543-9D81-CDB4DBDB3781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Nextflow Context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DSL2、config、schema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3E0ED9B-06FC-E94A-A34A-42A63588CA55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Handoff Design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Codex 與 Seqera AI 分工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8E3DCE2-32E2-CD40-985C-88DD4D47397D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Safety Rules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雲端與資料治理邊界</a:t>
            </a:r>
          </a:p>
        </p:txBody>
      </p:sp>
    </p:spTree>
    <p:extLst>
      <p:ext uri="{BB962C8B-B14F-4D97-AF65-F5344CB8AC3E}">
        <p14:creationId xmlns:p14="http://schemas.microsoft.com/office/powerpoint/2010/main" val="21457294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5ED8E21-FD80-4E53-85BB-4CC47055FAF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SEQERA AI ADDS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4E09D86-C02F-4404-845E-7B5924B082B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適合放在 bioinformatics pipeline 開發的 domain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5475671-6E9D-413D-B693-0B0CB19C0B5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33/45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E3AA21AF-53AF-4EF5-9C40-0699BECC07F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A52E91AB-27BC-4E06-94F4-85AF55D435FA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Nextflow fluency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35E821B7-531B-418E-A56A-BF5307D79D1D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協助撰寫 DSL2、config、schema、module glue 與 pipeline 結構。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319F9186-5331-4F57-8D2F-D9864C169AC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1581DE4-858C-4949-827F-9104B67CA3BF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Run context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CF9FD76-EF15-4E28-B18C-013C37A92A3C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結合 Seqera Platform 的 run、logs、metrics、datasets 與 compute environment。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80FA07E8-1989-4F07-88E5-B5289A435F9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26CB7B41-E655-4C2B-9395-3AC68E22FAFC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Domain tasks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7A681956-7433-4D11-B900-AA8FB005442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 nf-core modules、轉換 WDL/R、產生 containers、協助 debug workflow。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562C0A9-B040-4F11-B9FB-FE485E75FE4F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docs.seqera.io/platform-cloud/co-scientist</a:t>
            </a:r>
          </a:p>
        </p:txBody>
      </p:sp>
      <p:pic>
        <p:nvPicPr>
          <p:cNvPr id="15" name="Graphic 15" descr="Workflow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Rocke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7" name="Graphic 17" descr="Flas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7EF2ABC1-FB4C-B44D-A6E5-19BCFC6FE317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三個能力互補：</a:t>
            </a:r>
            <a:r>
              <a:rPr lang="zh-TW" sz="1400" dirty="0">
                <a:solidFill>
                  <a:srgbClr val="404040"/>
                </a:solidFill>
              </a:rPr>
              <a:t>懂 DSL2 語法只是基本功，真正的價值是把「這次 run 為什麼失敗」與「這是哪種生資任務」一起納入判斷。</a:t>
            </a:r>
          </a:p>
        </p:txBody>
      </p:sp>
    </p:spTree>
    <p:extLst>
      <p:ext uri="{BB962C8B-B14F-4D97-AF65-F5344CB8AC3E}">
        <p14:creationId xmlns:p14="http://schemas.microsoft.com/office/powerpoint/2010/main" val="1403508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DE216118-2F2E-4FE3-85E5-FE5F4B3EA9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CLI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4A7B1BA-6C42-4AA8-9517-5395F797EB1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課堂中可以先展示 CLI 入口，不一定要當場登入學生帳號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92BD925-2231-4DEC-9711-09DD613D1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34/45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3EC11EC-CFC4-460F-80E4-2353357047AD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Useful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AF156B1F-0E73-4EF7-AF75-069C6BC4686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8A1C2816-67FA-443D-B9BF-15F67A45C94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npm install -g seqera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login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headless mode for reproducible prompt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"Review this Nextflow pipeline"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resume previous session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-c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install/check coding-agent skill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install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check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832BFF2-0B9C-40AD-BF96-CB1C67E0FCA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D0897807-D5C2-4899-ADFA-1E4C317E8DF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0FD9946-2568-4E5F-BFC1-F0A317C9EA1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Seqera login 或 token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外部 action 先確認 approval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與 run record 要保存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教學可先用 headless prompt 範例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422B16E-01DD-4DF0-A1D9-E0D914FCE6FD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local seqera CLI help, docs.seqera.io</a:t>
            </a:r>
          </a:p>
        </p:txBody>
      </p:sp>
      <p:pic>
        <p:nvPicPr>
          <p:cNvPr id="12" name="Graphic 12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3" name="圓角矩形 12">
            <a:extLst>
              <a:ext uri="{FF2B5EF4-FFF2-40B4-BE49-F238E27FC236}">
                <a16:creationId xmlns:a16="http://schemas.microsoft.com/office/drawing/2014/main" id="{E83AB273-F917-0D45-A7E1-9810BB00BD58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Seqera CLI 指令會直接連結 Studio / Compute Environment，執行前先確認目前登入的 workspace 與帳號權限。</a:t>
            </a:r>
          </a:p>
        </p:txBody>
      </p:sp>
    </p:spTree>
    <p:extLst>
      <p:ext uri="{BB962C8B-B14F-4D97-AF65-F5344CB8AC3E}">
        <p14:creationId xmlns:p14="http://schemas.microsoft.com/office/powerpoint/2010/main" val="724197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771646D1-69A3-411C-A217-E4607CC356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AI USE CASES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48A4472-70A7-4E5A-B4BC-A035CE3D590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Seqera AI 補進課程時，重點放在 pipeline lifecycle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3A485-1B15-474D-B424-21125123E8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35/45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D6187AC3-F374-4F80-809A-E58E3E60EFA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6693797-D055-469C-A03B-F5470107DC7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11547DF-8511-47F0-90C4-E9321640EA8D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8F5BF9A-2568-4E26-98EC-326838E98284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 Seqera AI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5325B42-7E4E-4158-B50B-DB18A562E5E2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8E94F558-ED1C-44A3-A4D6-E8B1EC7447E0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驗證 artifact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E262B666-C86A-4063-863D-93F84CEF360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5F51606-BED8-4C8E-9708-75708CB8629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031748E-1F16-42A7-B6F2-809632AE7BC0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B94D09E6-5011-41E3-8FD8-E0C92050E82A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根據 FASTQ manifest 草擬 DSL2 pipeline 與 params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EE2CD0E-BA75-4450-AB2E-35D670418FC6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B58487E-4891-47D8-845D-C9727E3AA42B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pipeline sketch、schema、assumptions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66F23F3-9439-4B7E-AA97-64C3DEF93956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D7E400F3-3DAF-48D2-B37B-3B0CE022A08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實作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8A30CE-03A6-4983-B02A-D6BB055A7C86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8BA3B246-AEB1-4E97-84C3-18CA51A27068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建議 nf-core modules、container、process I/O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90592BC-7BE5-421D-8BB5-CF038AD4C031}"/>
              </a:ext>
            </a:extLst>
          </p:cNvPr>
          <p:cNvSpPr>
            <a:spLocks noGrp="1"/>
          </p:cNvSpPr>
          <p:nvPr/>
        </p:nvSpPr>
        <p:spPr>
          <a:xfrm>
            <a:off x="7562850" y="29718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5117AB5-1532-4E46-AC33-E6D688D49C49}"/>
              </a:ext>
            </a:extLst>
          </p:cNvPr>
          <p:cNvSpPr>
            <a:spLocks noGrp="1"/>
          </p:cNvSpPr>
          <p:nvPr/>
        </p:nvSpPr>
        <p:spPr>
          <a:xfrm>
            <a:off x="7677150" y="30670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main.nf、modules、containers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43AC4BA-3847-4ED5-BC3E-6021A03A2CB0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B80C9919-10AA-4DFE-8A83-C77A7802A505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除錯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2687E04-AE9C-4E67-AD27-820EF52A637B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E71857B3-26BC-4AE9-BB22-A8520D58FEBB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解讀 failed task log、resource metrics、Nextflow error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FAB2F17-90FE-422A-BBA8-1E3C0A50C0E0}"/>
              </a:ext>
            </a:extLst>
          </p:cNvPr>
          <p:cNvSpPr>
            <a:spLocks noGrp="1"/>
          </p:cNvSpPr>
          <p:nvPr/>
        </p:nvSpPr>
        <p:spPr>
          <a:xfrm>
            <a:off x="7562850" y="36385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9756DA3-24CF-40A8-B978-F6C20CC3CD2F}"/>
              </a:ext>
            </a:extLst>
          </p:cNvPr>
          <p:cNvSpPr>
            <a:spLocks noGrp="1"/>
          </p:cNvSpPr>
          <p:nvPr/>
        </p:nvSpPr>
        <p:spPr>
          <a:xfrm>
            <a:off x="7677150" y="37338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log excerpt、root cause、patch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81A75290-F379-4248-BD98-40502D6DB64A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9BE238-28B7-49B1-ACA6-E767F013A3F3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474BF2BA-5310-4C90-92D8-916AD82490F2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F7422B6-3A15-4C88-8A1C-D9841E2AD053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協助 launch/monitor Seqera Platform runs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7D5112E1-2C84-412B-92FF-3283BFCB7801}"/>
              </a:ext>
            </a:extLst>
          </p:cNvPr>
          <p:cNvSpPr>
            <a:spLocks noGrp="1"/>
          </p:cNvSpPr>
          <p:nvPr/>
        </p:nvSpPr>
        <p:spPr>
          <a:xfrm>
            <a:off x="7562850" y="43053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950E2ED-3F9B-41DD-A67B-2CB6CC289E5A}"/>
              </a:ext>
            </a:extLst>
          </p:cNvPr>
          <p:cNvSpPr>
            <a:spLocks noGrp="1"/>
          </p:cNvSpPr>
          <p:nvPr/>
        </p:nvSpPr>
        <p:spPr>
          <a:xfrm>
            <a:off x="7677150" y="44005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run ID、labels、MultiQC/report</a:t>
            </a:r>
          </a:p>
        </p:txBody>
      </p:sp>
      <p:pic>
        <p:nvPicPr>
          <p:cNvPr id="35" name="Graphic 35" descr="Lightbulb icon for use cas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C43F3A3A-53FE-7943-A477-0EE5B2DB3EF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四個階段各自問對問題，並用可重現的 artifact（log、report、diff）驗證，而不是只看 agent 的口頭保證。</a:t>
            </a:r>
          </a:p>
        </p:txBody>
      </p:sp>
    </p:spTree>
    <p:extLst>
      <p:ext uri="{BB962C8B-B14F-4D97-AF65-F5344CB8AC3E}">
        <p14:creationId xmlns:p14="http://schemas.microsoft.com/office/powerpoint/2010/main" val="14377912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A9F00DFF-3025-454A-A67A-1836A8D69FB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HANDOFF DESIGN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8DB0DB-A44B-431A-97E7-8DC3E6E4B0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和 Seqera AI 可以分工，不需要互相取代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E0802F4-5465-4228-A420-C20F3E63AC3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36/45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00721F1C-2EEF-4F74-A8D2-9BF98908FD5F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BAEA00E0-13D2-42DA-AF2B-3A1E40211933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D76235C-5077-4F0B-8650-EDC4D830B907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52FE65C9-D4A6-44D5-A172-79178D902F9F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教師或學生定義資料、目標、限制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5F203165-3BDD-4EFE-B112-0C227EC2BC6C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F11A3038-0F9E-4EAE-9892-1F8EFE5E280E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0B6F2249-9C23-408C-88E5-657457B9BC93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48AA79AE-B8DC-4D2E-8F04-036766448ED3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Coding Agent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C4D4F8B3-CCB6-4FFA-9273-3AB14FAC8852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 repo、寫小 patch、跑本地測試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1839888-1949-4A30-8681-8C5548B66E2D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E37AA203-9B10-4A63-BD35-7CDA9C4B7A3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BF440DE7-7458-445F-A713-B63879932BBB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C46A72DE-0025-45C1-B705-1D65992717D1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1994A85E-B8B4-4BA2-BE6A-C33082EEDB96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Nextflow/nf-core/Platform 問題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C8A0DE4-2BE6-4D58-8E4E-BF3E0311B4DF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0708ABC1-7BF7-4B47-BA49-B1C1F28603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3FBDEB49-321A-4192-9E2E-959360E8709D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828D2BC5-F379-44CB-B39C-D604441B1B35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Coding Agent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D34B8CFD-D4A9-427A-8D3B-EE69BAF80822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把建議落成可 review 的 diff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D52299C0-DA99-4F53-AEB0-D26C25E062A7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06020C97-0621-4D07-AEB7-E130D7C786FD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EBD0BE2-E7E2-41DE-8976-2B317361B993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39E2432C-35F4-47E2-90E4-AA64D09EB7B7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086D4784-6A92-47C8-990D-A4C89606DF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批准雲端 run、資料存取與 merge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A437D6F-DFA1-4E9B-B082-EFFC10C169A1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F71EF0-D7EB-4EA5-8DA4-D25B024ABCF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99F809A0-5C5C-4B79-8BFE-6C2C95804A33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0F457162-F99A-405D-82A4-E4B6B55BC508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E2FB57D-6BE8-4114-934F-B5E6BFBEFBE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prompt、run ID、commit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6A659778-B8D2-DC46-AFC7-B23BB148F1A5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分工的核心：</a:t>
            </a:r>
            <a:r>
              <a:rPr lang="zh-TW" sz="1400" dirty="0">
                <a:solidFill>
                  <a:srgbClr val="404040"/>
                </a:solidFill>
              </a:rPr>
              <a:t>Coding agent 負責一般程式碼修改，Seqera AI 負責 Nextflow / workflow 領域知識；Human Review 是唯一的合併關卡。</a:t>
            </a:r>
          </a:p>
        </p:txBody>
      </p:sp>
    </p:spTree>
    <p:extLst>
      <p:ext uri="{BB962C8B-B14F-4D97-AF65-F5344CB8AC3E}">
        <p14:creationId xmlns:p14="http://schemas.microsoft.com/office/powerpoint/2010/main" val="2477086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940CF113-74EF-47A1-9684-EBFD437CD4C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9EFCEBB-37B9-48C7-97EA-8CA75D1F9BC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Seqera AI 的 prompt 要包含 workflow context，而不是只貼錯誤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6555E2F-C4C3-493B-B000-96CAF40D7B8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37/45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3FC078-1F5E-4592-ADFE-9B17806F31D8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Headless prompt example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CE112B0-4A01-4FCF-A24A-ACA74DA3590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60A109B-F26A-4F6E-B33B-8FD63E27D3F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 am teaching a small RNA-seq style Nextflow lab.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review nextflow/main.nf and nextflow.config.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Goals: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 sample_manifest.csv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validate paired FASTQ columns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keep a test profile for local demo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avoid cloud execution unless I approve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return: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likely DSL2 issues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missing params/schema checks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a minimal patch plan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commands to validate locally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79E4472D-DE4E-4F72-8302-B2507F04FCC1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37A898A-55E2-4FCF-A00A-B9C238B76B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設計重點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29A0B2C9-E9FA-462A-B2C2-84C6D1C4E88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說明教學情境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限制不要啟動雲端 run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patch plan 而非直接亂改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local validation commands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73F432A-53A6-4748-A261-C24AEBD9005B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設計重點：</a:t>
            </a:r>
            <a:r>
              <a:rPr lang="zh-TW" sz="1400" dirty="0">
                <a:solidFill>
                  <a:srgbClr val="404040"/>
                </a:solidFill>
              </a:rPr>
              <a:t>headless 模式適合排入 CI／batch job，記得把輸出導向檔案，方便事後稽核與重播。</a:t>
            </a:r>
          </a:p>
        </p:txBody>
      </p:sp>
    </p:spTree>
    <p:extLst>
      <p:ext uri="{BB962C8B-B14F-4D97-AF65-F5344CB8AC3E}">
        <p14:creationId xmlns:p14="http://schemas.microsoft.com/office/powerpoint/2010/main" val="4043582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yebrow">
            <a:extLst>
              <a:ext uri="{FF2B5EF4-FFF2-40B4-BE49-F238E27FC236}">
                <a16:creationId xmlns:a16="http://schemas.microsoft.com/office/drawing/2014/main" id="{B5FA9383-A5B3-4863-B1F2-056BD11D3B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NEXTFLOW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DF94F7-068A-4BB7-AB95-689567B5A8B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採用 Seqera AI 的建議後，仍要走一遍更嚴格的 Nextflow validation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BC18CB4-BDBB-42F9-9A85-3D1EF844D20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38/45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6810297D-53AA-4D84-8B6E-ADD12C842C77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test profile 和小樣本做 dry run，不直接上 production data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process input/output、channel shape、params schema 寫清楚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failed work dir、command.log、exit code 追 root cause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MultiQC/report 是 evidence，不是修飾品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3ADDCED-9970-464A-9254-6618B19AF271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0B2D86E1-D513-4C86-B024-74112B2F9755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常用檢查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7DF7BAA5-2E94-424E-8475-390C0E4A24FF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nextflow run ... -profile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nf-test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validation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run logs / metrics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768F3EB8-41CB-4900-8269-722D562C6391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docs.seqera.io/nextflow, training.nextflow.io</a:t>
            </a:r>
          </a:p>
        </p:txBody>
      </p:sp>
      <p:pic>
        <p:nvPicPr>
          <p:cNvPr id="10" name="Graphic 10" descr="Loo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1" name="圓角矩形 10">
            <a:extLst>
              <a:ext uri="{FF2B5EF4-FFF2-40B4-BE49-F238E27FC236}">
                <a16:creationId xmlns:a16="http://schemas.microsoft.com/office/drawing/2014/main" id="{BF29691F-E67C-D147-B949-3E535C42F342}"/>
              </a:ext>
            </a:extLst>
          </p:cNvPr>
          <p:cNvSpPr/>
          <p:nvPr/>
        </p:nvSpPr>
        <p:spPr>
          <a:xfrm>
            <a:off x="1651000" y="5435600"/>
            <a:ext cx="89916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原則：</a:t>
            </a:r>
            <a:r>
              <a:rPr lang="zh-TW" sz="1400" dirty="0">
                <a:solidFill>
                  <a:srgbClr val="404040"/>
                </a:solidFill>
              </a:rPr>
              <a:t>先小規模驗證、把介面定義清楚，出錯時靠 log 而非直覺，report 永遠附上。</a:t>
            </a:r>
          </a:p>
        </p:txBody>
      </p:sp>
    </p:spTree>
    <p:extLst>
      <p:ext uri="{BB962C8B-B14F-4D97-AF65-F5344CB8AC3E}">
        <p14:creationId xmlns:p14="http://schemas.microsoft.com/office/powerpoint/2010/main" val="38245407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4490F0F-3344-4053-91FF-56F25F214A1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SEQERA SAFETY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88DE288-684F-401E-B864-FC50A2A4DC9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連到平台時，安全邊界要比本地 coding 更清楚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D8D0035-8857-4BD7-A3B6-FC396D2ADC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39/45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877E041-A1C2-4477-9C0A-D69A0C5AFF08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C1BD572-C192-425F-A19C-A00761E3CD9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84D8455-7A6A-4E60-930D-EA9218F8B45F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557212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55DA8CF7-A2BE-41BE-857E-68DAD23156F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53435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教學規則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535B028-FDBB-4557-A76C-B023D9DB5C7A}"/>
              </a:ext>
            </a:extLst>
          </p:cNvPr>
          <p:cNvSpPr>
            <a:spLocks noGrp="1"/>
          </p:cNvSpPr>
          <p:nvPr/>
        </p:nvSpPr>
        <p:spPr>
          <a:xfrm>
            <a:off x="8181975" y="1885950"/>
            <a:ext cx="300037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3483BEE-49CF-45C8-9B65-7570AE73FEB9}"/>
              </a:ext>
            </a:extLst>
          </p:cNvPr>
          <p:cNvSpPr>
            <a:spLocks noGrp="1"/>
          </p:cNvSpPr>
          <p:nvPr/>
        </p:nvSpPr>
        <p:spPr>
          <a:xfrm>
            <a:off x="8296275" y="2000250"/>
            <a:ext cx="27717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50EEF84C-78A9-4B2E-8521-BEB3946A403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3CB1205-100E-4B23-A62A-A0156A0AC26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Authentication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668277F-F041-4EC8-A59A-018332D1D6C9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0A2C73E-D422-4C13-9C8A-EE6E7393CA1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不在投影片或 repo 放 token；使用 seqera login 或環境變數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A8E5A92E-ACA6-488F-A7F1-A30D0556E367}"/>
              </a:ext>
            </a:extLst>
          </p:cNvPr>
          <p:cNvSpPr>
            <a:spLocks noGrp="1"/>
          </p:cNvSpPr>
          <p:nvPr/>
        </p:nvSpPr>
        <p:spPr>
          <a:xfrm>
            <a:off x="8181975" y="23050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AB92C79-3073-426D-9601-0B344D1B998F}"/>
              </a:ext>
            </a:extLst>
          </p:cNvPr>
          <p:cNvSpPr>
            <a:spLocks noGrp="1"/>
          </p:cNvSpPr>
          <p:nvPr/>
        </p:nvSpPr>
        <p:spPr>
          <a:xfrm>
            <a:off x="8296275" y="24003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 credential leak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3676FFA-2BAE-4DC4-B115-0B9CA1900D99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66ECD88-1316-4821-A44A-45E802BC5E0C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cost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1C470F3-F1B6-445D-B50A-861F0F15116D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C6C0E49-AFA0-4320-8269-732169E5F1A1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任何 launch 或 compute environment 修改都要人工批准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E716F44-2446-47F3-9613-96F4CDCF8EE5}"/>
              </a:ext>
            </a:extLst>
          </p:cNvPr>
          <p:cNvSpPr>
            <a:spLocks noGrp="1"/>
          </p:cNvSpPr>
          <p:nvPr/>
        </p:nvSpPr>
        <p:spPr>
          <a:xfrm>
            <a:off x="8181975" y="29718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079AB9CB-1B26-4326-AA81-5E5EC1A5F9F5}"/>
              </a:ext>
            </a:extLst>
          </p:cNvPr>
          <p:cNvSpPr>
            <a:spLocks noGrp="1"/>
          </p:cNvSpPr>
          <p:nvPr/>
        </p:nvSpPr>
        <p:spPr>
          <a:xfrm>
            <a:off x="8296275" y="30670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避免意外開資源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CF6D338-A10C-4E11-B2B8-F036C9D4D016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C9F6085F-FC8C-46D5-B896-31E3F6757FB3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governance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661B8189-754F-4FA4-A20E-C6843A4D8A1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F48FC52-5930-4C02-9F45-E8C0C4EF778B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不使用真實病人識別資料；demo data 要匿名或合成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2F56465-27CF-4C58-811D-14F0D4863DB2}"/>
              </a:ext>
            </a:extLst>
          </p:cNvPr>
          <p:cNvSpPr>
            <a:spLocks noGrp="1"/>
          </p:cNvSpPr>
          <p:nvPr/>
        </p:nvSpPr>
        <p:spPr>
          <a:xfrm>
            <a:off x="8181975" y="36385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7BA4F7FD-C7A5-45F5-AC1B-1377C5A23930}"/>
              </a:ext>
            </a:extLst>
          </p:cNvPr>
          <p:cNvSpPr>
            <a:spLocks noGrp="1"/>
          </p:cNvSpPr>
          <p:nvPr/>
        </p:nvSpPr>
        <p:spPr>
          <a:xfrm>
            <a:off x="8296275" y="37338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符合 biomedical safety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2C8FB15-1AE8-4021-98A5-0133DE8EA04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6E1C595-CAB8-4905-A361-EB620D93D6AC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Workspace actions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A6F055E8-C9AE-4E0B-81FC-AC1C7442F30B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570B606-110B-4C6F-8229-1AEC0D32BB26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 dataset、labels、runs 前先要求確認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5824370-E602-4B84-874D-DEFF920959BA}"/>
              </a:ext>
            </a:extLst>
          </p:cNvPr>
          <p:cNvSpPr>
            <a:spLocks noGrp="1"/>
          </p:cNvSpPr>
          <p:nvPr/>
        </p:nvSpPr>
        <p:spPr>
          <a:xfrm>
            <a:off x="8181975" y="43053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EDD7203-7789-4547-8AD5-FB0F42F01DF3}"/>
              </a:ext>
            </a:extLst>
          </p:cNvPr>
          <p:cNvSpPr>
            <a:spLocks noGrp="1"/>
          </p:cNvSpPr>
          <p:nvPr/>
        </p:nvSpPr>
        <p:spPr>
          <a:xfrm>
            <a:off x="8296275" y="44005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外部狀態不可隨意變更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409FF90-CFBE-F84B-A52F-9242AF3EBD4F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雲端資源、費用與病人資料相關的操作一律要人類核可，agent 只能提出建議，不能自己按下確認鍵。</a:t>
            </a:r>
          </a:p>
        </p:txBody>
      </p:sp>
      <p:pic>
        <p:nvPicPr>
          <p:cNvPr id="37" name="Graphic 37" descr="Safety shield icon r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0994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6B559059-E17B-4795-BF1E-E166C70FE5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SCENARIO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F5EFB83-2423-4CA3-8EE6-6D09AA913A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完整 demo：manifest validation + Nextflow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8C923A-8ECC-4851-9210-EC5528B207F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40/45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14D90654-54C2-451F-B36C-85475668A55E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Scenario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1BEA090-250E-493E-990D-20AB8D440F0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9E450C4-C592-4622-8F60-EEF6C82D81A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Input: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nextflow/main.nf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A with coding agent: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improve manifest validator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run sample smoke test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report invalid rows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B with Seqera AI: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review Nextflow test profile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identify DSL2 / params issues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suggest local validation commands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AC448AF-267B-47C5-AF8F-9F96D603827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FAD2BA9-ADE6-4726-B51E-13B64372257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Expected outputs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9B3EAEB-32EF-4CA9-BB1B-F689F9EE425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validator patch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command output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review notes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human-approved next actions</a:t>
            </a:r>
          </a:p>
        </p:txBody>
      </p:sp>
      <p:pic>
        <p:nvPicPr>
          <p:cNvPr id="11" name="Graphic 11" descr="Flask icon for demo scenari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0CB1E74-CC46-F148-8113-3B06FF9273DA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為什麼選這個情境：</a:t>
            </a:r>
            <a:r>
              <a:rPr lang="zh-TW" sz="1400" dirty="0">
                <a:solidFill>
                  <a:srgbClr val="404040"/>
                </a:solidFill>
              </a:rPr>
              <a:t>公開測試資料、流程單純、結果可驗證，讓學生把注意力放在 handoff 分工而非除錯資料本身。</a:t>
            </a:r>
          </a:p>
        </p:txBody>
      </p:sp>
    </p:spTree>
    <p:extLst>
      <p:ext uri="{BB962C8B-B14F-4D97-AF65-F5344CB8AC3E}">
        <p14:creationId xmlns:p14="http://schemas.microsoft.com/office/powerpoint/2010/main" val="13353909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BC6A87E-548A-43EE-8C4A-E9B0DBA8ED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 NOT DELEGATE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BC6006-5850-46F4-8678-6463D19A2AB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有些事情可以讓 agent 幫忙準備，但不能讓它自行決定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0F743F-2E2E-4C43-97A7-366C32EDB8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41/45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2549DAAE-B4B8-4AF1-93FB-835598D2654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自行判定臨床建議、治療策略或病患處置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自行上傳、下載或移動敏感資料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未經同意啟動昂貴雲端工作流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在未 review 的情況下 merge 或覆蓋他人工作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BBCA500-D0C7-4C51-AB43-07815F131D48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25DDB925-6F1A-433B-B779-A58D08645CF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人要負責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A676F867-F85E-4412-A926-7A751774A1A9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access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execution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merge decision</a:t>
            </a:r>
          </a:p>
        </p:txBody>
      </p:sp>
      <p:pic>
        <p:nvPicPr>
          <p:cNvPr id="9" name="Graphic 9" descr="No sign icon for do-not-dele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5D65EEE5-77B4-A948-899C-4AC6269A84D9}"/>
              </a:ext>
            </a:extLst>
          </p:cNvPr>
          <p:cNvSpPr/>
          <p:nvPr/>
        </p:nvSpPr>
        <p:spPr>
          <a:xfrm>
            <a:off x="1651000" y="5435600"/>
            <a:ext cx="9525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這些決策永遠需要人類簽核，agent 只能提供草稿或建議，不能取代最終判斷。</a:t>
            </a:r>
          </a:p>
        </p:txBody>
      </p:sp>
    </p:spTree>
    <p:extLst>
      <p:ext uri="{BB962C8B-B14F-4D97-AF65-F5344CB8AC3E}">
        <p14:creationId xmlns:p14="http://schemas.microsoft.com/office/powerpoint/2010/main" val="25160234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5589803-52B0-444C-AC23-8DFB45C1FE5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2D5671-C734-4E40-978F-A39F0F92860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學生練習分成 coding agent 與 Seqera AI 兩個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C9470C5-DD9B-463F-8E0C-75A471419D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42/45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E9D2834-B419-4F08-9068-46299F6916B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000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F218826-B0E0-4197-B5CC-2072F45CA4F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3144A076-7252-4E3B-AA26-9BA59DAA5AA7}"/>
              </a:ext>
            </a:extLst>
          </p:cNvPr>
          <p:cNvSpPr>
            <a:spLocks noGrp="1"/>
          </p:cNvSpPr>
          <p:nvPr/>
        </p:nvSpPr>
        <p:spPr>
          <a:xfrm>
            <a:off x="2800350" y="1885950"/>
            <a:ext cx="4667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6E82D83-AF72-40A5-80FD-3819255AA22C}"/>
              </a:ext>
            </a:extLst>
          </p:cNvPr>
          <p:cNvSpPr>
            <a:spLocks noGrp="1"/>
          </p:cNvSpPr>
          <p:nvPr/>
        </p:nvSpPr>
        <p:spPr>
          <a:xfrm>
            <a:off x="2914650" y="2000250"/>
            <a:ext cx="443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CF07B65-A664-4A2D-80D3-FD8537CA69E0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A25523F-C443-4F4F-BE9E-48A79ADAA7EC}"/>
              </a:ext>
            </a:extLst>
          </p:cNvPr>
          <p:cNvSpPr>
            <a:spLocks noGrp="1"/>
          </p:cNvSpPr>
          <p:nvPr/>
        </p:nvSpPr>
        <p:spPr>
          <a:xfrm>
            <a:off x="75819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評分檢查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13F180A-1D93-4836-BCEA-42B2055402E8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8084DC-6017-4BF8-A9C5-FA648EADDDF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prompt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025F161-8C20-4507-B6CD-158C9EEFF355}"/>
              </a:ext>
            </a:extLst>
          </p:cNvPr>
          <p:cNvSpPr>
            <a:spLocks noGrp="1"/>
          </p:cNvSpPr>
          <p:nvPr/>
        </p:nvSpPr>
        <p:spPr>
          <a:xfrm>
            <a:off x="2800350" y="23050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A2119FF-C2DD-4062-9DC6-00C05576152A}"/>
              </a:ext>
            </a:extLst>
          </p:cNvPr>
          <p:cNvSpPr>
            <a:spLocks noGrp="1"/>
          </p:cNvSpPr>
          <p:nvPr/>
        </p:nvSpPr>
        <p:spPr>
          <a:xfrm>
            <a:off x="2914650" y="24003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read set、allowed write、validation command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48CFCB8-0617-4A5D-A792-879B8FF7CAC8}"/>
              </a:ext>
            </a:extLst>
          </p:cNvPr>
          <p:cNvSpPr>
            <a:spLocks noGrp="1"/>
          </p:cNvSpPr>
          <p:nvPr/>
        </p:nvSpPr>
        <p:spPr>
          <a:xfrm>
            <a:off x="7467600" y="23050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313A1E3-35F7-4013-851E-740A86A51F5D}"/>
              </a:ext>
            </a:extLst>
          </p:cNvPr>
          <p:cNvSpPr>
            <a:spLocks noGrp="1"/>
          </p:cNvSpPr>
          <p:nvPr/>
        </p:nvSpPr>
        <p:spPr>
          <a:xfrm>
            <a:off x="7581900" y="24003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37BBEE1-992E-4F27-9E7D-0B509CA86EC1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336BF577-C9F8-4971-A46B-38F5505C32B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 review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CCFCD13-914D-4B28-A1D9-DD6CE5CBDBB8}"/>
              </a:ext>
            </a:extLst>
          </p:cNvPr>
          <p:cNvSpPr>
            <a:spLocks noGrp="1"/>
          </p:cNvSpPr>
          <p:nvPr/>
        </p:nvSpPr>
        <p:spPr>
          <a:xfrm>
            <a:off x="2800350" y="29718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FA138A2-5C5A-4051-9304-3A6211475444}"/>
              </a:ext>
            </a:extLst>
          </p:cNvPr>
          <p:cNvSpPr>
            <a:spLocks noGrp="1"/>
          </p:cNvSpPr>
          <p:nvPr/>
        </p:nvSpPr>
        <p:spPr>
          <a:xfrm>
            <a:off x="2914650" y="30670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diff 摘要、測試結果、風險清單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5C0FA7E-A6D4-47A2-BCE7-92DF9CB786E5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6AF72B0-6FB5-499C-B873-11E8E17498C3}"/>
              </a:ext>
            </a:extLst>
          </p:cNvPr>
          <p:cNvSpPr>
            <a:spLocks noGrp="1"/>
          </p:cNvSpPr>
          <p:nvPr/>
        </p:nvSpPr>
        <p:spPr>
          <a:xfrm>
            <a:off x="7581900" y="30670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是否可重跑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D2B81BA8-86C1-4365-9469-10F36100F1B1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1D47A3B-F70B-459E-A432-564B8FA5181D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prompt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C5CC803-2FFE-421D-8E13-B99990100889}"/>
              </a:ext>
            </a:extLst>
          </p:cNvPr>
          <p:cNvSpPr>
            <a:spLocks noGrp="1"/>
          </p:cNvSpPr>
          <p:nvPr/>
        </p:nvSpPr>
        <p:spPr>
          <a:xfrm>
            <a:off x="2800350" y="36385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764066-C65F-4C14-9A49-56F89FA1EAD3}"/>
              </a:ext>
            </a:extLst>
          </p:cNvPr>
          <p:cNvSpPr>
            <a:spLocks noGrp="1"/>
          </p:cNvSpPr>
          <p:nvPr/>
        </p:nvSpPr>
        <p:spPr>
          <a:xfrm>
            <a:off x="2914650" y="37338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context、禁止外部 action、期望輸出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2DAD4D7-DE41-429F-91AF-59E789AB1230}"/>
              </a:ext>
            </a:extLst>
          </p:cNvPr>
          <p:cNvSpPr>
            <a:spLocks noGrp="1"/>
          </p:cNvSpPr>
          <p:nvPr/>
        </p:nvSpPr>
        <p:spPr>
          <a:xfrm>
            <a:off x="7467600" y="36385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5C9E752-CD91-4515-B9B9-EAC2B1F0505F}"/>
              </a:ext>
            </a:extLst>
          </p:cNvPr>
          <p:cNvSpPr>
            <a:spLocks noGrp="1"/>
          </p:cNvSpPr>
          <p:nvPr/>
        </p:nvSpPr>
        <p:spPr>
          <a:xfrm>
            <a:off x="7581900" y="37338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是否適合 domain agent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02C79FF-619C-4702-877B-E62D4DB5307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12158EBB-D051-4124-A4A3-66E43251ECFE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Final note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C58E6649-5BCA-4622-AABA-06B107E0D8FB}"/>
              </a:ext>
            </a:extLst>
          </p:cNvPr>
          <p:cNvSpPr>
            <a:spLocks noGrp="1"/>
          </p:cNvSpPr>
          <p:nvPr/>
        </p:nvSpPr>
        <p:spPr>
          <a:xfrm>
            <a:off x="2800350" y="43053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FC8BC34-6340-4329-AC51-71CBB385FFE8}"/>
              </a:ext>
            </a:extLst>
          </p:cNvPr>
          <p:cNvSpPr>
            <a:spLocks noGrp="1"/>
          </p:cNvSpPr>
          <p:nvPr/>
        </p:nvSpPr>
        <p:spPr>
          <a:xfrm>
            <a:off x="2914650" y="44005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commit hash 或 pseudo-patch plan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E4CFCD08-6D06-4D2B-B558-A048490188DF}"/>
              </a:ext>
            </a:extLst>
          </p:cNvPr>
          <p:cNvSpPr>
            <a:spLocks noGrp="1"/>
          </p:cNvSpPr>
          <p:nvPr/>
        </p:nvSpPr>
        <p:spPr>
          <a:xfrm>
            <a:off x="7467600" y="43053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21D4A5-9C6C-4FDC-82C1-9CD2F7A567F3}"/>
              </a:ext>
            </a:extLst>
          </p:cNvPr>
          <p:cNvSpPr>
            <a:spLocks noGrp="1"/>
          </p:cNvSpPr>
          <p:nvPr/>
        </p:nvSpPr>
        <p:spPr>
          <a:xfrm>
            <a:off x="7581900" y="44005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是否可追溯</a:t>
            </a:r>
          </a:p>
        </p:txBody>
      </p:sp>
      <p:pic>
        <p:nvPicPr>
          <p:cNvPr id="35" name="Graphic 35" descr="Graduation ca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394E8612-C709-B94B-9A6E-692740143B3A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提醒：</a:t>
            </a:r>
            <a:r>
              <a:rPr lang="zh-TW" sz="1400" dirty="0">
                <a:solidFill>
                  <a:srgbClr val="404040"/>
                </a:solidFill>
              </a:rPr>
              <a:t>三個 phase 循序漸進，先確認 agent 有讀懂 repo，再放手讓它動手改 —— 每個 phase 都要留下可驗證的 diff。</a:t>
            </a:r>
          </a:p>
        </p:txBody>
      </p:sp>
    </p:spTree>
    <p:extLst>
      <p:ext uri="{BB962C8B-B14F-4D97-AF65-F5344CB8AC3E}">
        <p14:creationId xmlns:p14="http://schemas.microsoft.com/office/powerpoint/2010/main" val="841164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AD7D159-8740-4047-9142-8A7365DFABF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CHEAT 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0F45BBE-CBD6-4074-86D1-77E2D5013C8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今天可直接帶走的 prompt checklist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B1A1C1D-21EC-4817-A8E6-2B69E680956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43/45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FAF6B4-BC6B-4D03-9AEE-5898B1DACE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D0E6E5EF-6798-467E-BDCC-272715A7EA8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D123454-0FCA-482E-8204-B7C0DE9E84C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Before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should the agent read?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may it edit?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commands prove success?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should it not do?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After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report touched files?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run validation?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preserve user changes?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separate evidence from guess?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include Nextflow context?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require approval before Platform actions?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795BFB2-FFE3-40CC-A971-21FF57DDDE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A8EB97C3-059A-4CA2-A55E-4741D61B3AC6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一句話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6F626CC-ED84-40FA-B9B1-AA86564C604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prompt 是小型工程規格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agent workflow 會留下 diff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biomedical workflow 會留下 evidence</a:t>
            </a:r>
          </a:p>
        </p:txBody>
      </p:sp>
      <p:pic>
        <p:nvPicPr>
          <p:cNvPr id="11" name="Graphic 11" descr="Bookmark icon for cheat shee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E41F221B-5125-574D-BE2B-8E613005EF7E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印出來貼在螢幕旁；忘記指令時先查這張，再考慮直接問 agent。</a:t>
            </a:r>
          </a:p>
        </p:txBody>
      </p:sp>
    </p:spTree>
    <p:extLst>
      <p:ext uri="{BB962C8B-B14F-4D97-AF65-F5344CB8AC3E}">
        <p14:creationId xmlns:p14="http://schemas.microsoft.com/office/powerpoint/2010/main" val="3624626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7D69471-758E-4503-ABF8-A2343EC5BFF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SOURCES AND PRACTICE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ED2A869-AD85-404A-90D8-64071746DDC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補充材料放在 repo，官方文件放在 speaker notes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E23BF87-7571-4C2F-8A23-DB89A7D78D4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44/45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036DC43F-F321-46B9-B46A-66327EEB3349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23D67434-AB71-41A7-9303-6CB1DD04902F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CE396E74-433C-48AF-A97E-6AE0E32C23D2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labs/lesson-07-coding-agents-cli-workflows/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sample_manifest.csv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coding_agent_task.md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nextflow_task.md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09090483-3763-4D7D-93AF-685C026D453A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54EAC699-BA47-4972-99A0-24E49343B577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Official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EF555C85-097C-4EB3-8181-EE157754F811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docs.seqera.io/platform-cloud/co-scientist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seqera.io/platform/seqera-ai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docs.seqera.io/nextflow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training.nextflow.io/latest</a:t>
            </a:r>
          </a:p>
        </p:txBody>
      </p:sp>
      <p:pic>
        <p:nvPicPr>
          <p:cNvPr id="11" name="Graphic 11" descr="Link icon for resour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0800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6335F6-5D0B-954B-B5F4-4C864A025EE5}"/>
              </a:ext>
            </a:extLst>
          </p:cNvPr>
          <p:cNvSpPr/>
          <p:nvPr/>
        </p:nvSpPr>
        <p:spPr>
          <a:xfrm>
            <a:off x="876300" y="5016500"/>
            <a:ext cx="88900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課後練習：</a:t>
            </a:r>
            <a:r>
              <a:rPr lang="zh-TW" sz="1400" dirty="0">
                <a:solidFill>
                  <a:srgbClr val="404040"/>
                </a:solidFill>
              </a:rPr>
              <a:t>先跑一次 lab repo 的 demo loop，再用官方文件比對 Seqera AI 與 Codex 的分工邊界，確認自己能覆盤每個決策。</a:t>
            </a:r>
          </a:p>
        </p:txBody>
      </p:sp>
    </p:spTree>
    <p:extLst>
      <p:ext uri="{BB962C8B-B14F-4D97-AF65-F5344CB8AC3E}">
        <p14:creationId xmlns:p14="http://schemas.microsoft.com/office/powerpoint/2010/main" val="27838249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B97E4BDF-DDB4-4FB4-8907-D32E5456387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7CA2C5-2571-428F-ACCB-0D45759E38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72B8CB-4777-4BC9-9FA4-93D045D344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45/45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C462AFB2-434B-4846-8366-604834D68132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BB786076-C45F-45B0-B4E4-3D016BE1A10D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Coding agent 要先讀 repo，不能直接憑空建議。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C5BEB7D3-8FBE-4149-89DC-83654D4A0653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8D624968-889F-43C8-B232-9DB91E61CE1B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小 scope、明確 command、清楚 diff，比長篇 prompt 更重要。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B31B4200-191D-4E64-A334-09E7C65FFE82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E3062F7D-C8D4-4B16-BD71-B8778DE0A36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測試輸出是完成任務的證據，不是附錄。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83204982-1A6D-4610-9EC4-882A6300F4AF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5E45672-ED15-482A-9E88-BD3221C918A5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Seqera AI 適合處理 Nextflow / nf-core / Platform domain context。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68FE63B9-C071-41F5-AD21-619734A1275F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A499DEB8-6DBB-4BBF-893D-42D6B205A241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Biomedical workflow 的外部 action 和高風險 claim 必須有人 gate。</a:t>
            </a:r>
          </a:p>
        </p:txBody>
      </p:sp>
      <p:pic>
        <p:nvPicPr>
          <p:cNvPr id="15" name="Graphic 15" descr="Race flag clos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62600"/>
            <a:ext cx="508000" cy="508000"/>
          </a:xfrm>
          <a:prstGeom prst="rect">
            <a:avLst/>
          </a:prstGeom>
        </p:spPr>
      </p:pic>
      <p:sp>
        <p:nvSpPr>
          <p:cNvPr id="16" name="圓角矩形 15">
            <a:extLst>
              <a:ext uri="{FF2B5EF4-FFF2-40B4-BE49-F238E27FC236}">
                <a16:creationId xmlns:a16="http://schemas.microsoft.com/office/drawing/2014/main" id="{4B1AA11F-4AC3-314D-8CFE-A46018891383}"/>
              </a:ext>
            </a:extLst>
          </p:cNvPr>
          <p:cNvSpPr/>
          <p:nvPr/>
        </p:nvSpPr>
        <p:spPr>
          <a:xfrm>
            <a:off x="1587500" y="5562600"/>
            <a:ext cx="9169400" cy="508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下一步：</a:t>
            </a:r>
            <a:r>
              <a:rPr lang="zh-TW" sz="1400" dirty="0">
                <a:solidFill>
                  <a:srgbClr val="404040"/>
                </a:solidFill>
              </a:rPr>
              <a:t>進入 Lab Demo，用今天的原則帶 coding agent 跑一次真的 biomedical pipeline 任務。</a:t>
            </a:r>
          </a:p>
        </p:txBody>
      </p:sp>
    </p:spTree>
    <p:extLst>
      <p:ext uri="{BB962C8B-B14F-4D97-AF65-F5344CB8AC3E}">
        <p14:creationId xmlns:p14="http://schemas.microsoft.com/office/powerpoint/2010/main" val="15319730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3CD56B6-127B-644F-BC2C-965B4939D1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a972fe-fe57-4d7c-a56e-8d08838790f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6814</Words>
  <Application>Microsoft Macintosh PowerPoint</Application>
  <DocSecurity>0</DocSecurity>
  <PresentationFormat>寬螢幕</PresentationFormat>
  <Paragraphs>882</Paragraphs>
  <Slides>47</Slides>
  <Notes>46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47</vt:i4>
      </vt:variant>
    </vt:vector>
  </HeadingPairs>
  <TitlesOfParts>
    <vt:vector size="53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5</cp:revision>
  <dcterms:created xsi:type="dcterms:W3CDTF">2026-07-07T12:36:52Z</dcterms:created>
  <dcterms:modified xsi:type="dcterms:W3CDTF">2026-07-12T01:16:18Z</dcterms:modified>
</cp:coreProperties>
</file>