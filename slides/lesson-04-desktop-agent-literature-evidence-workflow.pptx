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add6cd536748f5" /><Relationship Type="http://schemas.openxmlformats.org/officeDocument/2006/relationships/extended-properties" Target="/docProps/app.xml" Id="Rbc21637fbd744f5a" /><Relationship Type="http://schemas.openxmlformats.org/officeDocument/2006/relationships/officeDocument" Target="/ppt/presentation.xml" Id="R939cf49f6d32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948c538a8a4258"/>
  </p:sldMasterIdLst>
  <p:notesMasterIdLst>
    <p:notesMasterId xmlns:r="http://schemas.openxmlformats.org/officeDocument/2006/relationships" r:id="R79223d2565744b78"/>
  </p:notesMasterIdLst>
  <p:sldIdLst>
    <p:sldId xmlns:r="http://schemas.openxmlformats.org/officeDocument/2006/relationships" id="256" r:id="R505f10afed234444"/>
    <p:sldId xmlns:r="http://schemas.openxmlformats.org/officeDocument/2006/relationships" id="257" r:id="R8587852932d54fa3"/>
    <p:sldId xmlns:r="http://schemas.openxmlformats.org/officeDocument/2006/relationships" id="258" r:id="R93ae7724df1d4107"/>
    <p:sldId xmlns:r="http://schemas.openxmlformats.org/officeDocument/2006/relationships" id="259" r:id="R63bfebaf86ea40a7"/>
    <p:sldId xmlns:r="http://schemas.openxmlformats.org/officeDocument/2006/relationships" id="260" r:id="R73eec574f2544af9"/>
    <p:sldId xmlns:r="http://schemas.openxmlformats.org/officeDocument/2006/relationships" id="261" r:id="R37ade9ea20e346f0"/>
    <p:sldId xmlns:r="http://schemas.openxmlformats.org/officeDocument/2006/relationships" id="262" r:id="Rfd430801f99d4f9e"/>
    <p:sldId xmlns:r="http://schemas.openxmlformats.org/officeDocument/2006/relationships" id="263" r:id="R48285dad8b174291"/>
    <p:sldId xmlns:r="http://schemas.openxmlformats.org/officeDocument/2006/relationships" id="264" r:id="R0797f8dfa33f4597"/>
    <p:sldId xmlns:r="http://schemas.openxmlformats.org/officeDocument/2006/relationships" id="265" r:id="Rf344b4fdb6e1466a"/>
    <p:sldId xmlns:r="http://schemas.openxmlformats.org/officeDocument/2006/relationships" id="266" r:id="R172d4c2edba54059"/>
    <p:sldId xmlns:r="http://schemas.openxmlformats.org/officeDocument/2006/relationships" id="267" r:id="R1fd7dbe8e8584873"/>
    <p:sldId xmlns:r="http://schemas.openxmlformats.org/officeDocument/2006/relationships" id="268" r:id="Rddbd4927fe76487d"/>
    <p:sldId xmlns:r="http://schemas.openxmlformats.org/officeDocument/2006/relationships" id="269" r:id="R3e21a33ff2bf43f7"/>
    <p:sldId xmlns:r="http://schemas.openxmlformats.org/officeDocument/2006/relationships" id="270" r:id="R1952ebd9a8a04927"/>
    <p:sldId xmlns:r="http://schemas.openxmlformats.org/officeDocument/2006/relationships" id="271" r:id="R4c16ade8fcdf41e2"/>
    <p:sldId xmlns:r="http://schemas.openxmlformats.org/officeDocument/2006/relationships" id="272" r:id="R139143aff2524686"/>
    <p:sldId xmlns:r="http://schemas.openxmlformats.org/officeDocument/2006/relationships" id="273" r:id="R9335c19b50d64442"/>
    <p:sldId xmlns:r="http://schemas.openxmlformats.org/officeDocument/2006/relationships" id="274" r:id="R3cfe04990eb947f6"/>
    <p:sldId xmlns:r="http://schemas.openxmlformats.org/officeDocument/2006/relationships" id="275" r:id="R2f81566064004ec8"/>
    <p:sldId xmlns:r="http://schemas.openxmlformats.org/officeDocument/2006/relationships" id="276" r:id="R89317c8bde584415"/>
    <p:sldId xmlns:r="http://schemas.openxmlformats.org/officeDocument/2006/relationships" id="277" r:id="R1c8e306da7d54b9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4064e9e4ce4820" /><Relationship Type="http://schemas.openxmlformats.org/officeDocument/2006/relationships/slideMaster" Target="/ppt/slideMasters/slideMaster1.xml" Id="Ra7948c538a8a4258" /><Relationship Type="http://schemas.openxmlformats.org/officeDocument/2006/relationships/notesMaster" Target="/ppt/notesMasters/notesMaster1.xml" Id="R79223d2565744b78" /><Relationship Type="http://schemas.openxmlformats.org/officeDocument/2006/relationships/presProps" Target="/ppt/presProps.xml" Id="Re6399155dd8443cb" /><Relationship Type="http://schemas.openxmlformats.org/officeDocument/2006/relationships/tableStyles" Target="/ppt/tableStyles.xml" Id="Rf9a50a1201af4c51" /><Relationship Type="http://schemas.openxmlformats.org/officeDocument/2006/relationships/slide" Target="/ppt/slides/slide1.xml" Id="R505f10afed234444" /><Relationship Type="http://schemas.openxmlformats.org/officeDocument/2006/relationships/slide" Target="/ppt/slides/slide2.xml" Id="R8587852932d54fa3" /><Relationship Type="http://schemas.openxmlformats.org/officeDocument/2006/relationships/slide" Target="/ppt/slides/slide3.xml" Id="R93ae7724df1d4107" /><Relationship Type="http://schemas.openxmlformats.org/officeDocument/2006/relationships/slide" Target="/ppt/slides/slide4.xml" Id="R63bfebaf86ea40a7" /><Relationship Type="http://schemas.openxmlformats.org/officeDocument/2006/relationships/slide" Target="/ppt/slides/slide5.xml" Id="R73eec574f2544af9" /><Relationship Type="http://schemas.openxmlformats.org/officeDocument/2006/relationships/slide" Target="/ppt/slides/slide6.xml" Id="R37ade9ea20e346f0" /><Relationship Type="http://schemas.openxmlformats.org/officeDocument/2006/relationships/slide" Target="/ppt/slides/slide7.xml" Id="Rfd430801f99d4f9e" /><Relationship Type="http://schemas.openxmlformats.org/officeDocument/2006/relationships/slide" Target="/ppt/slides/slide8.xml" Id="R48285dad8b174291" /><Relationship Type="http://schemas.openxmlformats.org/officeDocument/2006/relationships/slide" Target="/ppt/slides/slide9.xml" Id="R0797f8dfa33f4597" /><Relationship Type="http://schemas.openxmlformats.org/officeDocument/2006/relationships/slide" Target="/ppt/slides/slide10.xml" Id="Rf344b4fdb6e1466a" /><Relationship Type="http://schemas.openxmlformats.org/officeDocument/2006/relationships/slide" Target="/ppt/slides/slide11.xml" Id="R172d4c2edba54059" /><Relationship Type="http://schemas.openxmlformats.org/officeDocument/2006/relationships/slide" Target="/ppt/slides/slide12.xml" Id="R1fd7dbe8e8584873" /><Relationship Type="http://schemas.openxmlformats.org/officeDocument/2006/relationships/slide" Target="/ppt/slides/slide13.xml" Id="Rddbd4927fe76487d" /><Relationship Type="http://schemas.openxmlformats.org/officeDocument/2006/relationships/slide" Target="/ppt/slides/slide14.xml" Id="R3e21a33ff2bf43f7" /><Relationship Type="http://schemas.openxmlformats.org/officeDocument/2006/relationships/slide" Target="/ppt/slides/slide15.xml" Id="R1952ebd9a8a04927" /><Relationship Type="http://schemas.openxmlformats.org/officeDocument/2006/relationships/slide" Target="/ppt/slides/slide16.xml" Id="R4c16ade8fcdf41e2" /><Relationship Type="http://schemas.openxmlformats.org/officeDocument/2006/relationships/slide" Target="/ppt/slides/slide17.xml" Id="R139143aff2524686" /><Relationship Type="http://schemas.openxmlformats.org/officeDocument/2006/relationships/slide" Target="/ppt/slides/slide18.xml" Id="R9335c19b50d64442" /><Relationship Type="http://schemas.openxmlformats.org/officeDocument/2006/relationships/slide" Target="/ppt/slides/slide19.xml" Id="R3cfe04990eb947f6" /><Relationship Type="http://schemas.openxmlformats.org/officeDocument/2006/relationships/slide" Target="/ppt/slides/slide20.xml" Id="R2f81566064004ec8" /><Relationship Type="http://schemas.openxmlformats.org/officeDocument/2006/relationships/slide" Target="/ppt/slides/slide21.xml" Id="R89317c8bde584415" /><Relationship Type="http://schemas.openxmlformats.org/officeDocument/2006/relationships/slide" Target="/ppt/slides/slide22.xml" Id="R1c8e306da7d54b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7d19608b234b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b1541ae03446fd" /><Relationship Type="http://schemas.openxmlformats.org/officeDocument/2006/relationships/notesMaster" Target="/ppt/notesMasters/notesMaster1.xml" Id="Ra6fc152bc0e248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132f3a494a4e5b" /><Relationship Type="http://schemas.openxmlformats.org/officeDocument/2006/relationships/notesMaster" Target="/ppt/notesMasters/notesMaster1.xml" Id="R25332824d6d540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bc634a65444145" /><Relationship Type="http://schemas.openxmlformats.org/officeDocument/2006/relationships/notesMaster" Target="/ppt/notesMasters/notesMaster1.xml" Id="R4e4fbf5443ec44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72446b48954fe0" /><Relationship Type="http://schemas.openxmlformats.org/officeDocument/2006/relationships/notesMaster" Target="/ppt/notesMasters/notesMaster1.xml" Id="R8a1715811730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812d4dfb614998" /><Relationship Type="http://schemas.openxmlformats.org/officeDocument/2006/relationships/notesMaster" Target="/ppt/notesMasters/notesMaster1.xml" Id="Ra4966be3c1c746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614f5e8cdf437d" /><Relationship Type="http://schemas.openxmlformats.org/officeDocument/2006/relationships/notesMaster" Target="/ppt/notesMasters/notesMaster1.xml" Id="Rde169e85d3364a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968f7bd9034d16" /><Relationship Type="http://schemas.openxmlformats.org/officeDocument/2006/relationships/notesMaster" Target="/ppt/notesMasters/notesMaster1.xml" Id="Rfcd66c96b04b4b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f924378fcc4647" /><Relationship Type="http://schemas.openxmlformats.org/officeDocument/2006/relationships/notesMaster" Target="/ppt/notesMasters/notesMaster1.xml" Id="Re83c21c48a644b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7020b70eae445b" /><Relationship Type="http://schemas.openxmlformats.org/officeDocument/2006/relationships/notesMaster" Target="/ppt/notesMasters/notesMaster1.xml" Id="R91dd086e5cbe4b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8fda065e2c4285" /><Relationship Type="http://schemas.openxmlformats.org/officeDocument/2006/relationships/notesMaster" Target="/ppt/notesMasters/notesMaster1.xml" Id="Rd71f56cffaee4c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30673158ee461d" /><Relationship Type="http://schemas.openxmlformats.org/officeDocument/2006/relationships/notesMaster" Target="/ppt/notesMasters/notesMaster1.xml" Id="R295b9d69744740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59d521c38a4da4" /><Relationship Type="http://schemas.openxmlformats.org/officeDocument/2006/relationships/notesMaster" Target="/ppt/notesMasters/notesMaster1.xml" Id="Rdf773d1093c94c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90b1c97b364908" /><Relationship Type="http://schemas.openxmlformats.org/officeDocument/2006/relationships/notesMaster" Target="/ppt/notesMasters/notesMaster1.xml" Id="R7e515676c1bf40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2772c39a404f45" /><Relationship Type="http://schemas.openxmlformats.org/officeDocument/2006/relationships/notesMaster" Target="/ppt/notesMasters/notesMaster1.xml" Id="R5c6fead9a94148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ee8e3c8dbca4d26" /><Relationship Type="http://schemas.openxmlformats.org/officeDocument/2006/relationships/notesMaster" Target="/ppt/notesMasters/notesMaster1.xml" Id="R65613173ea1c49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31a60e9aaf41d1" /><Relationship Type="http://schemas.openxmlformats.org/officeDocument/2006/relationships/notesMaster" Target="/ppt/notesMasters/notesMaster1.xml" Id="R9692d7ba88ba4e5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bdded58578b45ac" /><Relationship Type="http://schemas.openxmlformats.org/officeDocument/2006/relationships/notesMaster" Target="/ppt/notesMasters/notesMaster1.xml" Id="Rbf1846fe756543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e3235e5652460c" /><Relationship Type="http://schemas.openxmlformats.org/officeDocument/2006/relationships/notesMaster" Target="/ppt/notesMasters/notesMaster1.xml" Id="R6cb7bce34c1d4fa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36f0902fc14c71" /><Relationship Type="http://schemas.openxmlformats.org/officeDocument/2006/relationships/notesMaster" Target="/ppt/notesMasters/notesMaster1.xml" Id="R567e7455c6074f1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78d47f5c014442" /><Relationship Type="http://schemas.openxmlformats.org/officeDocument/2006/relationships/notesMaster" Target="/ppt/notesMasters/notesMaster1.xml" Id="R531c6f775f704cf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fb2095d95f4169" /><Relationship Type="http://schemas.openxmlformats.org/officeDocument/2006/relationships/notesMaster" Target="/ppt/notesMasters/notesMaster1.xml" Id="R963efcbcb9454ec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e3c8dca8544587" /><Relationship Type="http://schemas.openxmlformats.org/officeDocument/2006/relationships/notesMaster" Target="/ppt/notesMasters/notesMaster1.xml" Id="R7bbc2482847a4f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本堂課定位為老師示範課。重點是讓學生看到完整 workflow，而不是只看到 agent 生成的一張表。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這張和課綱對齊：如何讓 agent 產出的 evidence table 能被人檢查，而不是只有看起來整齊。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示範問題故意設計為小型但真實，讓學生可以看見任務拆解和 evidence table schema 的必要性。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對應課綱的研究問題拆解：研究主題、gene list、disease scope、資料類型和輸出格式。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這張告訴學生真正的輸出不是投影片，而是一個可交接的 demo bundle。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這張有線，但只使用水平線，並且線在節點前畫，避免 PowerPoint connector 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對應課綱的 literature search workflow：保留來源、日期、關鍵字和排除條件。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這張示範 prompt design：先要 search strategy，而不是讓 agent 直接生成 evidence table。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資料來自 PubMed abstract / E-utilities：PMID 29151359、25470694、25079552。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對應使用者要求的欄位：PMID、研究類型、樣本數、疾病、基因、藥物、結論。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 evidence extraction prompt。重點是 evidence_kind 和 model_inference 欄位。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示範表格放在 demos/lesson-04-literature-evidence-workflow/evidence_table.demo.csv。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這張直接回應使用者列出的欄位需求。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這張符合使用者要求：如何要求 agent 區分文獻證據和模型推測。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 prompt 是 review prompt，不是 extraction prompt。它是把 agent 轉成 reviewer，而不是讓它繼續擴寫。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TP53 row 是教學用的壞例子，目標是示範 evidence_kind 和 needs_source 的價值。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這張的線全是水平線，避免前面投影片發生的線條方向錯誤。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對應課綱 Research note structure。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使用者要求如果需要 MCP 或 skills，要先提會用哪些，隔天再詳細介紹。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這張可當教師上課時的示範腳本。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這個活動設計為短時間檢查，為 Lesson 05 hands-on 做準備。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收束到下一堂 hands-on lab。線條只用水平線，避免 connector 錯位。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1f369bac84c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ea26123daa4bc3" /><Relationship Type="http://schemas.openxmlformats.org/officeDocument/2006/relationships/slideLayout" Target="/ppt/slideLayouts/slideLayout1.xml" Id="R3f6e9071efae4a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6e9071efae4a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79664a4f048ce" /><Relationship Type="http://schemas.openxmlformats.org/officeDocument/2006/relationships/notesSlide" Target="/ppt/notesSlides/notesSlide1.xml" Id="R3f634d1141c24a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09f60fe614c13" /><Relationship Type="http://schemas.openxmlformats.org/officeDocument/2006/relationships/notesSlide" Target="/ppt/notesSlides/notesSlide2.xml" Id="R22d4be73f1954e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d55451852419f" /><Relationship Type="http://schemas.openxmlformats.org/officeDocument/2006/relationships/notesSlide" Target="/ppt/notesSlides/notesSlide3.xml" Id="R996d242f4b794e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882a99f164fca" /><Relationship Type="http://schemas.openxmlformats.org/officeDocument/2006/relationships/notesSlide" Target="/ppt/notesSlides/notesSlide4.xml" Id="R3cb750956cfc4c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9ddefed994278" /><Relationship Type="http://schemas.openxmlformats.org/officeDocument/2006/relationships/notesSlide" Target="/ppt/notesSlides/notesSlide5.xml" Id="R89a5ea509f4e46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c2af49867402d" /><Relationship Type="http://schemas.openxmlformats.org/officeDocument/2006/relationships/notesSlide" Target="/ppt/notesSlides/notesSlide6.xml" Id="R082ec0972a884b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3854457c74134" /><Relationship Type="http://schemas.openxmlformats.org/officeDocument/2006/relationships/notesSlide" Target="/ppt/notesSlides/notesSlide7.xml" Id="R5c0900600a5a41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79c2bf2fe48bb" /><Relationship Type="http://schemas.openxmlformats.org/officeDocument/2006/relationships/notesSlide" Target="/ppt/notesSlides/notesSlide8.xml" Id="R661011d759ec49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d48366f3e4cb9" /><Relationship Type="http://schemas.openxmlformats.org/officeDocument/2006/relationships/notesSlide" Target="/ppt/notesSlides/notesSlide9.xml" Id="Re884a1b33a7848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0a38caed748a0" /><Relationship Type="http://schemas.openxmlformats.org/officeDocument/2006/relationships/notesSlide" Target="/ppt/notesSlides/notesSlide10.xml" Id="Raf8c8f9eb1a04e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5deb9266a43b2" /><Relationship Type="http://schemas.openxmlformats.org/officeDocument/2006/relationships/notesSlide" Target="/ppt/notesSlides/notesSlide11.xml" Id="R43d3fa5d40f74d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0bb79dcd849aa" /><Relationship Type="http://schemas.openxmlformats.org/officeDocument/2006/relationships/notesSlide" Target="/ppt/notesSlides/notesSlide12.xml" Id="R840d993116804b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5cc5d7e464c86" /><Relationship Type="http://schemas.openxmlformats.org/officeDocument/2006/relationships/notesSlide" Target="/ppt/notesSlides/notesSlide13.xml" Id="R5e1a71471cbc42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4bfa69f4143fe" /><Relationship Type="http://schemas.openxmlformats.org/officeDocument/2006/relationships/notesSlide" Target="/ppt/notesSlides/notesSlide14.xml" Id="R0bb6a0c21b5b40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2c72775de4bdf" /><Relationship Type="http://schemas.openxmlformats.org/officeDocument/2006/relationships/notesSlide" Target="/ppt/notesSlides/notesSlide15.xml" Id="R179b654f8b1a4c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909c7166d4c96" /><Relationship Type="http://schemas.openxmlformats.org/officeDocument/2006/relationships/notesSlide" Target="/ppt/notesSlides/notesSlide16.xml" Id="R1fabc8daa1b64b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10bf731ea43c0" /><Relationship Type="http://schemas.openxmlformats.org/officeDocument/2006/relationships/notesSlide" Target="/ppt/notesSlides/notesSlide17.xml" Id="Re79db9a5642a40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c779165b5494a" /><Relationship Type="http://schemas.openxmlformats.org/officeDocument/2006/relationships/notesSlide" Target="/ppt/notesSlides/notesSlide18.xml" Id="Rd02d019c0a884d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d2a39bab3499f" /><Relationship Type="http://schemas.openxmlformats.org/officeDocument/2006/relationships/notesSlide" Target="/ppt/notesSlides/notesSlide19.xml" Id="R9f1df2afad004c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c627ab28a49b6" /><Relationship Type="http://schemas.openxmlformats.org/officeDocument/2006/relationships/notesSlide" Target="/ppt/notesSlides/notesSlide20.xml" Id="R6f41a35d35544f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335cfdaca4821" /><Relationship Type="http://schemas.openxmlformats.org/officeDocument/2006/relationships/notesSlide" Target="/ppt/notesSlides/notesSlide21.xml" Id="R5a0e4953ac054e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d30a0123347d7" /><Relationship Type="http://schemas.openxmlformats.org/officeDocument/2006/relationships/notesSlide" Target="/ppt/notesSlides/notesSlide22.xml" Id="Rc423e79116f148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B9963F2-7FFA-4EAC-A516-7FA6B7B0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LESSON 04  |  DESKTOP AGENT WORKFLOW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5F83E7-2915-4044-B249-6528D4AB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Literature search to evidence table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FF55B9E-3E75-40C1-AA67-0CA7BFC5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如何用 agent 查文獻、產生可審核 evidence table，並區分文獻證據與模型推測</a:t>
            </a:r>
          </a:p>
        </p:txBody>
      </p:sp>
      <p:sp>
        <p:nvSpPr>
          <p:cNvPr id="4" name="entry-0">
            <a:extLst xmlns:a="http://schemas.openxmlformats.org/drawingml/2006/main">
              <a:ext uri="{FF2B5EF4-FFF2-40B4-BE49-F238E27FC236}">
                <a16:creationId xmlns:a16="http://schemas.microsoft.com/office/drawing/2014/main" id="{C1A79D1A-D1D2-4BC9-A1F9-BD4FFB1B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24300"/>
            <a:ext cx="1981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 strategy</a:t>
            </a:r>
          </a:p>
        </p:txBody>
      </p:sp>
      <p:sp>
        <p:nvSpPr>
          <p:cNvPr id="5" name="entry-1">
            <a:extLst xmlns:a="http://schemas.openxmlformats.org/drawingml/2006/main">
              <a:ext uri="{FF2B5EF4-FFF2-40B4-BE49-F238E27FC236}">
                <a16:creationId xmlns:a16="http://schemas.microsoft.com/office/drawing/2014/main" id="{CD2EDDAF-F541-4D1D-83BD-227496DA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24300"/>
            <a:ext cx="1981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source inventory</a:t>
            </a:r>
          </a:p>
        </p:txBody>
      </p:sp>
      <p:sp>
        <p:nvSpPr>
          <p:cNvPr id="6" name="entry-2">
            <a:extLst xmlns:a="http://schemas.openxmlformats.org/drawingml/2006/main">
              <a:ext uri="{FF2B5EF4-FFF2-40B4-BE49-F238E27FC236}">
                <a16:creationId xmlns:a16="http://schemas.microsoft.com/office/drawing/2014/main" id="{6BB4DDF5-EB57-4CA4-9994-3F94275C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24300"/>
            <a:ext cx="1981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 table</a:t>
            </a:r>
          </a:p>
        </p:txBody>
      </p:sp>
      <p:sp>
        <p:nvSpPr>
          <p:cNvPr id="7" name="entry-3">
            <a:extLst xmlns:a="http://schemas.openxmlformats.org/drawingml/2006/main">
              <a:ext uri="{FF2B5EF4-FFF2-40B4-BE49-F238E27FC236}">
                <a16:creationId xmlns:a16="http://schemas.microsoft.com/office/drawing/2014/main" id="{E9B8ABBA-55AD-4997-BCF9-F3DEF2F2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24300"/>
            <a:ext cx="1981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research note</a:t>
            </a:r>
          </a:p>
        </p:txBody>
      </p:sp>
      <p:sp>
        <p:nvSpPr>
          <p:cNvPr id="8" name="note">
            <a:extLst xmlns:a="http://schemas.openxmlformats.org/drawingml/2006/main">
              <a:ext uri="{FF2B5EF4-FFF2-40B4-BE49-F238E27FC236}">
                <a16:creationId xmlns:a16="http://schemas.microsoft.com/office/drawing/2014/main" id="{E92EE613-AAA5-4DB1-A865-5466E4FF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19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Demo theme: NSCLC precision oncology literature evidence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12C1627-D289-4FFE-92EA-F43493E9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1/22</a:t>
            </a:r>
          </a:p>
        </p:txBody>
      </p:sp>
    </p:spTree>
    <p:extLst>
      <p:ext uri="{BB962C8B-B14F-4D97-AF65-F5344CB8AC3E}">
        <p14:creationId xmlns:p14="http://schemas.microsoft.com/office/powerpoint/2010/main" val="18362744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DB02962-40E6-4004-A2A5-F0755349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LEARNING JOB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6D803B9-E1B9-4CE2-A3DD-61A2023A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這堂課不是要得到答案，而是要留下可檢查的查證流程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B062497C-5E95-48C2-9590-E8194DC7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2/22</a:t>
            </a:r>
          </a:p>
        </p:txBody>
      </p:sp>
      <p:sp>
        <p:nvSpPr>
          <p:cNvPr id="4" name="panel-0">
            <a:extLst xmlns:a="http://schemas.openxmlformats.org/drawingml/2006/main">
              <a:ext uri="{FF2B5EF4-FFF2-40B4-BE49-F238E27FC236}">
                <a16:creationId xmlns:a16="http://schemas.microsoft.com/office/drawing/2014/main" id="{DED0740D-3184-4C8D-867D-E4EF6E17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4191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5" name="head-0">
            <a:extLst xmlns:a="http://schemas.openxmlformats.org/drawingml/2006/main">
              <a:ext uri="{FF2B5EF4-FFF2-40B4-BE49-F238E27FC236}">
                <a16:creationId xmlns:a16="http://schemas.microsoft.com/office/drawing/2014/main" id="{DE48FDA9-A23A-47CB-A930-302DEB20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5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Agent 可以做</a:t>
            </a:r>
          </a:p>
        </p:txBody>
      </p:sp>
      <p:sp>
        <p:nvSpPr>
          <p:cNvPr id="6" name="bullets-0">
            <a:extLst xmlns:a="http://schemas.openxmlformats.org/drawingml/2006/main">
              <a:ext uri="{FF2B5EF4-FFF2-40B4-BE49-F238E27FC236}">
                <a16:creationId xmlns:a16="http://schemas.microsoft.com/office/drawing/2014/main" id="{2B4FA79C-687D-4109-AE42-5DA98D40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766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拆研究問題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產生 query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整理候選文獻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產出初版 table</a:t>
            </a:r>
          </a:p>
        </p:txBody>
      </p:sp>
      <p:sp>
        <p:nvSpPr>
          <p:cNvPr id="7" name="panel-1">
            <a:extLst xmlns:a="http://schemas.openxmlformats.org/drawingml/2006/main">
              <a:ext uri="{FF2B5EF4-FFF2-40B4-BE49-F238E27FC236}">
                <a16:creationId xmlns:a16="http://schemas.microsoft.com/office/drawing/2014/main" id="{7E4F6522-8D52-46A5-8722-A429F52B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4191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8" name="head-1">
            <a:extLst xmlns:a="http://schemas.openxmlformats.org/drawingml/2006/main">
              <a:ext uri="{FF2B5EF4-FFF2-40B4-BE49-F238E27FC236}">
                <a16:creationId xmlns:a16="http://schemas.microsoft.com/office/drawing/2014/main" id="{6E33F54A-20FA-4591-9160-F127ACAC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人必須檢查</a:t>
            </a:r>
          </a:p>
        </p:txBody>
      </p:sp>
      <p:sp>
        <p:nvSpPr>
          <p:cNvPr id="9" name="bullets-1">
            <a:extLst xmlns:a="http://schemas.openxmlformats.org/drawingml/2006/main">
              <a:ext uri="{FF2B5EF4-FFF2-40B4-BE49-F238E27FC236}">
                <a16:creationId xmlns:a16="http://schemas.microsoft.com/office/drawing/2014/main" id="{D54F3325-F37E-4E0B-8E0F-F2F341EE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7660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 / DOI 是否存在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是否支持 claim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sample size 是否照抄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9"/>
              </a:spcAft>
              <a:buNone/>
              <a:def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推測是否被標記</a:t>
            </a:r>
          </a:p>
        </p:txBody>
      </p:sp>
      <p:sp>
        <p:nvSpPr>
          <p:cNvPr id="10" name="bottom">
            <a:extLst xmlns:a="http://schemas.openxmlformats.org/drawingml/2006/main">
              <a:ext uri="{FF2B5EF4-FFF2-40B4-BE49-F238E27FC236}">
                <a16:creationId xmlns:a16="http://schemas.microsoft.com/office/drawing/2014/main" id="{C8CAD5AD-D0A3-40E1-B58F-B1E8270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2450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核心標準：任何 biomedical claim 都要能回到來源、欄位和人工 review。</a:t>
            </a:r>
          </a:p>
        </p:txBody>
      </p:sp>
    </p:spTree>
    <p:extLst>
      <p:ext uri="{BB962C8B-B14F-4D97-AF65-F5344CB8AC3E}">
        <p14:creationId xmlns:p14="http://schemas.microsoft.com/office/powerpoint/2010/main" val="1110321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79F0ED2-3AA2-433F-A07D-698A4E81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DEMO QUESTION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A68900-EFED-4EBF-986F-20A1D297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Demo 問題要小到能查證，也要足夠真實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0BE6EC7-8C1A-4E72-BE18-EA93F86B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3/22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61E456E0-4638-4DAD-9E47-41976E2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71650"/>
            <a:ext cx="10210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question-text">
            <a:extLst xmlns:a="http://schemas.openxmlformats.org/drawingml/2006/main">
              <a:ext uri="{FF2B5EF4-FFF2-40B4-BE49-F238E27FC236}">
                <a16:creationId xmlns:a16="http://schemas.microsoft.com/office/drawing/2014/main" id="{C8CB8F40-222C-48E4-8C9E-E3D583E8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25" b="1">
                <a:solidFill>
                  <a:srgbClr val="3446A8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3446A8"/>
                </a:solidFill>
                <a:latin typeface="PingFang TC"/>
                <a:ea typeface="PingFang TC"/>
                <a:cs typeface="PingFang TC"/>
              </a:rPr>
              <a:t>在 NSCLC precision oncology 中，EGFR、ALK、TP53 相關 claim 要如何整理成 evidence table？</a:t>
            </a:r>
          </a:p>
        </p:txBody>
      </p:sp>
      <p:sp>
        <p:nvSpPr>
          <p:cNvPr id="6" name="row-head-0">
            <a:extLst xmlns:a="http://schemas.openxmlformats.org/drawingml/2006/main">
              <a:ext uri="{FF2B5EF4-FFF2-40B4-BE49-F238E27FC236}">
                <a16:creationId xmlns:a16="http://schemas.microsoft.com/office/drawing/2014/main" id="{1111F656-F954-4250-B8D9-4168630D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Disease</a:t>
            </a:r>
          </a:p>
        </p:txBody>
      </p:sp>
      <p:sp>
        <p:nvSpPr>
          <p:cNvPr id="7" name="row-copy-0">
            <a:extLst xmlns:a="http://schemas.openxmlformats.org/drawingml/2006/main">
              <a:ext uri="{FF2B5EF4-FFF2-40B4-BE49-F238E27FC236}">
                <a16:creationId xmlns:a16="http://schemas.microsoft.com/office/drawing/2014/main" id="{9DBDB334-B3A6-4588-A32C-D6EC8D61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671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advanced NSCLC / lung adenocarcinoma</a:t>
            </a:r>
          </a:p>
        </p:txBody>
      </p:sp>
      <p:sp>
        <p:nvSpPr>
          <p:cNvPr id="8" name="row-head-1">
            <a:extLst xmlns:a="http://schemas.openxmlformats.org/drawingml/2006/main">
              <a:ext uri="{FF2B5EF4-FFF2-40B4-BE49-F238E27FC236}">
                <a16:creationId xmlns:a16="http://schemas.microsoft.com/office/drawing/2014/main" id="{2F27C90F-005B-44FB-AAE9-90C4A538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052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Genes</a:t>
            </a:r>
          </a:p>
        </p:txBody>
      </p:sp>
      <p:sp>
        <p:nvSpPr>
          <p:cNvPr id="9" name="row-copy-1">
            <a:extLst xmlns:a="http://schemas.openxmlformats.org/drawingml/2006/main">
              <a:ext uri="{FF2B5EF4-FFF2-40B4-BE49-F238E27FC236}">
                <a16:creationId xmlns:a16="http://schemas.microsoft.com/office/drawing/2014/main" id="{F89A40B0-D6D2-45CB-9E92-991CC2A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814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EGFR, ALK, TP53</a:t>
            </a:r>
          </a:p>
        </p:txBody>
      </p:sp>
      <p:sp>
        <p:nvSpPr>
          <p:cNvPr id="10" name="row-head-2">
            <a:extLst xmlns:a="http://schemas.openxmlformats.org/drawingml/2006/main">
              <a:ext uri="{FF2B5EF4-FFF2-40B4-BE49-F238E27FC236}">
                <a16:creationId xmlns:a16="http://schemas.microsoft.com/office/drawing/2014/main" id="{245B6D76-C2AB-409D-916B-A5E068C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1960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Drugs</a:t>
            </a:r>
          </a:p>
        </p:txBody>
      </p:sp>
      <p:sp>
        <p:nvSpPr>
          <p:cNvPr id="11" name="row-copy-2">
            <a:extLst xmlns:a="http://schemas.openxmlformats.org/drawingml/2006/main">
              <a:ext uri="{FF2B5EF4-FFF2-40B4-BE49-F238E27FC236}">
                <a16:creationId xmlns:a16="http://schemas.microsoft.com/office/drawing/2014/main" id="{33B9E845-9605-4DB6-B9AA-7E3DAF4E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958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osimertinib, crizotinib, chemotherapy</a:t>
            </a:r>
          </a:p>
        </p:txBody>
      </p:sp>
      <p:sp>
        <p:nvSpPr>
          <p:cNvPr id="12" name="row-head-3">
            <a:extLst xmlns:a="http://schemas.openxmlformats.org/drawingml/2006/main">
              <a:ext uri="{FF2B5EF4-FFF2-40B4-BE49-F238E27FC236}">
                <a16:creationId xmlns:a16="http://schemas.microsoft.com/office/drawing/2014/main" id="{C2A73D1A-CB71-4AF8-8614-7E8B64D3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339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3" name="row-copy-3">
            <a:extLst xmlns:a="http://schemas.openxmlformats.org/drawingml/2006/main">
              <a:ext uri="{FF2B5EF4-FFF2-40B4-BE49-F238E27FC236}">
                <a16:creationId xmlns:a16="http://schemas.microsoft.com/office/drawing/2014/main" id="{C7560D65-6795-4B78-A086-92CCD8C3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01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CSV evidence table + review note</a:t>
            </a:r>
          </a:p>
        </p:txBody>
      </p:sp>
    </p:spTree>
    <p:extLst>
      <p:ext uri="{BB962C8B-B14F-4D97-AF65-F5344CB8AC3E}">
        <p14:creationId xmlns:p14="http://schemas.microsoft.com/office/powerpoint/2010/main" val="982183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B381A76-4334-4900-BD01-EF2FB5C0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TASK DECOMPOSITION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68AC7E1-D28B-4E6D-8D0F-B9143BC7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先把研究問題拆成 query 能處理的概念塊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DB3A5BC-56CA-4D63-9608-96412D60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4/22</a:t>
            </a:r>
          </a:p>
        </p:txBody>
      </p:sp>
      <p:sp>
        <p:nvSpPr>
          <p:cNvPr id="4" name="block-0">
            <a:extLst xmlns:a="http://schemas.openxmlformats.org/drawingml/2006/main">
              <a:ext uri="{FF2B5EF4-FFF2-40B4-BE49-F238E27FC236}">
                <a16:creationId xmlns:a16="http://schemas.microsoft.com/office/drawing/2014/main" id="{946829D3-D535-482B-8602-1AF9D98A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5" name="block-head-0">
            <a:extLst xmlns:a="http://schemas.openxmlformats.org/drawingml/2006/main">
              <a:ext uri="{FF2B5EF4-FFF2-40B4-BE49-F238E27FC236}">
                <a16:creationId xmlns:a16="http://schemas.microsoft.com/office/drawing/2014/main" id="{16B59BE7-58EB-4E02-A5CE-389AB474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Disease</a:t>
            </a:r>
          </a:p>
        </p:txBody>
      </p:sp>
      <p:sp>
        <p:nvSpPr>
          <p:cNvPr id="6" name="block-copy-0">
            <a:extLst xmlns:a="http://schemas.openxmlformats.org/drawingml/2006/main">
              <a:ext uri="{FF2B5EF4-FFF2-40B4-BE49-F238E27FC236}">
                <a16:creationId xmlns:a16="http://schemas.microsoft.com/office/drawing/2014/main" id="{B6E3ABD8-28CF-463B-8294-D7384B6C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NSCLC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lung adenocarcinoma</a:t>
            </a:r>
          </a:p>
        </p:txBody>
      </p:sp>
      <p:sp>
        <p:nvSpPr>
          <p:cNvPr id="7" name="block-1">
            <a:extLst xmlns:a="http://schemas.openxmlformats.org/drawingml/2006/main">
              <a:ext uri="{FF2B5EF4-FFF2-40B4-BE49-F238E27FC236}">
                <a16:creationId xmlns:a16="http://schemas.microsoft.com/office/drawing/2014/main" id="{87AE5C3A-FB98-49CF-8D12-8C164146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09800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8" name="block-head-1">
            <a:extLst xmlns:a="http://schemas.openxmlformats.org/drawingml/2006/main">
              <a:ext uri="{FF2B5EF4-FFF2-40B4-BE49-F238E27FC236}">
                <a16:creationId xmlns:a16="http://schemas.microsoft.com/office/drawing/2014/main" id="{0901C92F-60DB-4091-A287-9A3838CA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14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Gene</a:t>
            </a:r>
          </a:p>
        </p:txBody>
      </p:sp>
      <p:sp>
        <p:nvSpPr>
          <p:cNvPr id="9" name="block-copy-1">
            <a:extLst xmlns:a="http://schemas.openxmlformats.org/drawingml/2006/main">
              <a:ext uri="{FF2B5EF4-FFF2-40B4-BE49-F238E27FC236}">
                <a16:creationId xmlns:a16="http://schemas.microsoft.com/office/drawing/2014/main" id="{85082093-D1DF-4266-BCB6-B53111AC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4325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EGFR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TP53</a:t>
            </a:r>
          </a:p>
        </p:txBody>
      </p:sp>
      <p:sp>
        <p:nvSpPr>
          <p:cNvPr id="10" name="block-2">
            <a:extLst xmlns:a="http://schemas.openxmlformats.org/drawingml/2006/main">
              <a:ext uri="{FF2B5EF4-FFF2-40B4-BE49-F238E27FC236}">
                <a16:creationId xmlns:a16="http://schemas.microsoft.com/office/drawing/2014/main" id="{97B01206-E926-4A8F-964F-60E5F282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1" name="block-head-2">
            <a:extLst xmlns:a="http://schemas.openxmlformats.org/drawingml/2006/main">
              <a:ext uri="{FF2B5EF4-FFF2-40B4-BE49-F238E27FC236}">
                <a16:creationId xmlns:a16="http://schemas.microsoft.com/office/drawing/2014/main" id="{DB96F4D1-9EED-4F0E-92A4-22BBB350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14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Drug</a:t>
            </a:r>
          </a:p>
        </p:txBody>
      </p:sp>
      <p:sp>
        <p:nvSpPr>
          <p:cNvPr id="12" name="block-copy-2">
            <a:extLst xmlns:a="http://schemas.openxmlformats.org/drawingml/2006/main">
              <a:ext uri="{FF2B5EF4-FFF2-40B4-BE49-F238E27FC236}">
                <a16:creationId xmlns:a16="http://schemas.microsoft.com/office/drawing/2014/main" id="{5CB5A051-3C05-40A0-B95E-D5413EE3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4325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osimertinib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crizotinib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EGFR-TKI</a:t>
            </a:r>
          </a:p>
        </p:txBody>
      </p:sp>
      <p:sp>
        <p:nvSpPr>
          <p:cNvPr id="13" name="block-3">
            <a:extLst xmlns:a="http://schemas.openxmlformats.org/drawingml/2006/main">
              <a:ext uri="{FF2B5EF4-FFF2-40B4-BE49-F238E27FC236}">
                <a16:creationId xmlns:a16="http://schemas.microsoft.com/office/drawing/2014/main" id="{D2DC9E98-C2D6-4930-B9F0-64034BCE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2343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4" name="block-head-3">
            <a:extLst xmlns:a="http://schemas.openxmlformats.org/drawingml/2006/main">
              <a:ext uri="{FF2B5EF4-FFF2-40B4-BE49-F238E27FC236}">
                <a16:creationId xmlns:a16="http://schemas.microsoft.com/office/drawing/2014/main" id="{01FCFDEC-88F2-4CBB-8F6A-D965AD1F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5" name="block-copy-3">
            <a:extLst xmlns:a="http://schemas.openxmlformats.org/drawingml/2006/main">
              <a:ext uri="{FF2B5EF4-FFF2-40B4-BE49-F238E27FC236}">
                <a16:creationId xmlns:a16="http://schemas.microsoft.com/office/drawing/2014/main" id="{55C72DE1-DEAB-44DC-8996-1FF3B296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676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clinical trial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molecular profiling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review needed</a:t>
            </a:r>
          </a:p>
        </p:txBody>
      </p:sp>
      <p:sp>
        <p:nvSpPr>
          <p:cNvPr id="16" name="bottom">
            <a:extLst xmlns:a="http://schemas.openxmlformats.org/drawingml/2006/main">
              <a:ext uri="{FF2B5EF4-FFF2-40B4-BE49-F238E27FC236}">
                <a16:creationId xmlns:a16="http://schemas.microsoft.com/office/drawing/2014/main" id="{B95EE367-6B8E-4D49-B67D-C246651F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91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這一步讓 agent 產生 search strategy，而不是直接產生結論。</a:t>
            </a:r>
          </a:p>
        </p:txBody>
      </p:sp>
    </p:spTree>
    <p:extLst>
      <p:ext uri="{BB962C8B-B14F-4D97-AF65-F5344CB8AC3E}">
        <p14:creationId xmlns:p14="http://schemas.microsoft.com/office/powerpoint/2010/main" val="1812375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B900827-425F-4212-BBE8-6080AF2C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DEMO FILES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01ED03-64B1-46C2-87BE-B5923F4B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Demo 會留下五個可以檢查的檔案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47B958C-05A8-4683-B522-78DB366B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5/22</a:t>
            </a:r>
          </a:p>
        </p:txBody>
      </p:sp>
      <p:sp>
        <p:nvSpPr>
          <p:cNvPr id="4" name="file-0">
            <a:extLst xmlns:a="http://schemas.openxmlformats.org/drawingml/2006/main">
              <a:ext uri="{FF2B5EF4-FFF2-40B4-BE49-F238E27FC236}">
                <a16:creationId xmlns:a16="http://schemas.microsoft.com/office/drawing/2014/main" id="{6D1B94A6-50E8-4A07-9FFE-4F61B1BC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3810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5" name="file-name-0">
            <a:extLst xmlns:a="http://schemas.openxmlformats.org/drawingml/2006/main">
              <a:ext uri="{FF2B5EF4-FFF2-40B4-BE49-F238E27FC236}">
                <a16:creationId xmlns:a16="http://schemas.microsoft.com/office/drawing/2014/main" id="{6AE0BB77-29ED-4465-9247-445ADAAD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81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task_spec.md</a:t>
            </a:r>
          </a:p>
        </p:txBody>
      </p:sp>
      <p:sp>
        <p:nvSpPr>
          <p:cNvPr id="6" name="file-desc-0">
            <a:extLst xmlns:a="http://schemas.openxmlformats.org/drawingml/2006/main">
              <a:ext uri="{FF2B5EF4-FFF2-40B4-BE49-F238E27FC236}">
                <a16:creationId xmlns:a16="http://schemas.microsoft.com/office/drawing/2014/main" id="{D3D8A9B2-FCF1-4E92-982B-F815B83F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192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研究問題、欄位、規則</a:t>
            </a:r>
          </a:p>
        </p:txBody>
      </p:sp>
      <p:sp>
        <p:nvSpPr>
          <p:cNvPr id="7" name="file-line-0">
            <a:extLst xmlns:a="http://schemas.openxmlformats.org/drawingml/2006/main">
              <a:ext uri="{FF2B5EF4-FFF2-40B4-BE49-F238E27FC236}">
                <a16:creationId xmlns:a16="http://schemas.microsoft.com/office/drawing/2014/main" id="{63961217-B453-4461-94A3-AED1B77D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335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DADD"/>
            </a:solidFill>
            <a:prstDash val="solid"/>
          </a:ln>
        </p:spPr>
      </p:sp>
      <p:sp>
        <p:nvSpPr>
          <p:cNvPr id="8" name="file-1">
            <a:extLst xmlns:a="http://schemas.openxmlformats.org/drawingml/2006/main">
              <a:ext uri="{FF2B5EF4-FFF2-40B4-BE49-F238E27FC236}">
                <a16:creationId xmlns:a16="http://schemas.microsoft.com/office/drawing/2014/main" id="{047B7BE5-C248-4750-845E-967FDA15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1250"/>
            <a:ext cx="3810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9" name="file-name-1">
            <a:extLst xmlns:a="http://schemas.openxmlformats.org/drawingml/2006/main">
              <a:ext uri="{FF2B5EF4-FFF2-40B4-BE49-F238E27FC236}">
                <a16:creationId xmlns:a16="http://schemas.microsoft.com/office/drawing/2014/main" id="{2D6D4CC2-BB2C-4072-A364-2B99FD69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05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prompts.md</a:t>
            </a:r>
          </a:p>
        </p:txBody>
      </p:sp>
      <p:sp>
        <p:nvSpPr>
          <p:cNvPr id="10" name="file-desc-1">
            <a:extLst xmlns:a="http://schemas.openxmlformats.org/drawingml/2006/main">
              <a:ext uri="{FF2B5EF4-FFF2-40B4-BE49-F238E27FC236}">
                <a16:creationId xmlns:a16="http://schemas.microsoft.com/office/drawing/2014/main" id="{D2F309D1-F831-4ACC-8935-AEDE269D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050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設計過的 agent prompts</a:t>
            </a:r>
          </a:p>
        </p:txBody>
      </p:sp>
      <p:sp>
        <p:nvSpPr>
          <p:cNvPr id="11" name="file-line-1">
            <a:extLst xmlns:a="http://schemas.openxmlformats.org/drawingml/2006/main">
              <a:ext uri="{FF2B5EF4-FFF2-40B4-BE49-F238E27FC236}">
                <a16:creationId xmlns:a16="http://schemas.microsoft.com/office/drawing/2014/main" id="{14F25703-FF86-45B5-A2EB-A255985D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193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DADD"/>
            </a:solidFill>
            <a:prstDash val="solid"/>
          </a:ln>
        </p:spPr>
      </p:sp>
      <p:sp>
        <p:nvSpPr>
          <p:cNvPr id="12" name="file-2">
            <a:extLst xmlns:a="http://schemas.openxmlformats.org/drawingml/2006/main">
              <a:ext uri="{FF2B5EF4-FFF2-40B4-BE49-F238E27FC236}">
                <a16:creationId xmlns:a16="http://schemas.microsoft.com/office/drawing/2014/main" id="{D2D4FB22-4BD3-43AA-9863-2E893826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67050"/>
            <a:ext cx="3810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3" name="file-name-2">
            <a:extLst xmlns:a="http://schemas.openxmlformats.org/drawingml/2006/main">
              <a:ext uri="{FF2B5EF4-FFF2-40B4-BE49-F238E27FC236}">
                <a16:creationId xmlns:a16="http://schemas.microsoft.com/office/drawing/2014/main" id="{5A0D0035-B3A5-4320-8EFE-205285E6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90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source_inventory.csv</a:t>
            </a:r>
          </a:p>
        </p:txBody>
      </p:sp>
      <p:sp>
        <p:nvSpPr>
          <p:cNvPr id="14" name="file-desc-2">
            <a:extLst xmlns:a="http://schemas.openxmlformats.org/drawingml/2006/main">
              <a:ext uri="{FF2B5EF4-FFF2-40B4-BE49-F238E27FC236}">
                <a16:creationId xmlns:a16="http://schemas.microsoft.com/office/drawing/2014/main" id="{37FE86C2-4DD4-4FEB-8C25-13EBD389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PMID / DOI / title / n</a:t>
            </a:r>
          </a:p>
        </p:txBody>
      </p:sp>
      <p:sp>
        <p:nvSpPr>
          <p:cNvPr id="15" name="file-line-2">
            <a:extLst xmlns:a="http://schemas.openxmlformats.org/drawingml/2006/main">
              <a:ext uri="{FF2B5EF4-FFF2-40B4-BE49-F238E27FC236}">
                <a16:creationId xmlns:a16="http://schemas.microsoft.com/office/drawing/2014/main" id="{8534C107-62A2-4572-BCE3-4729CD57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051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DADD"/>
            </a:solidFill>
            <a:prstDash val="solid"/>
          </a:ln>
        </p:spPr>
      </p:sp>
      <p:sp>
        <p:nvSpPr>
          <p:cNvPr id="16" name="file-3">
            <a:extLst xmlns:a="http://schemas.openxmlformats.org/drawingml/2006/main">
              <a:ext uri="{FF2B5EF4-FFF2-40B4-BE49-F238E27FC236}">
                <a16:creationId xmlns:a16="http://schemas.microsoft.com/office/drawing/2014/main" id="{27673FFD-BEEA-4B40-A5B0-91D2F001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52850"/>
            <a:ext cx="3810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file-name-3">
            <a:extLst xmlns:a="http://schemas.openxmlformats.org/drawingml/2006/main">
              <a:ext uri="{FF2B5EF4-FFF2-40B4-BE49-F238E27FC236}">
                <a16:creationId xmlns:a16="http://schemas.microsoft.com/office/drawing/2014/main" id="{A33FD02E-002B-4F4E-961F-5EA25EB8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766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evidence_table.demo.csv</a:t>
            </a:r>
          </a:p>
        </p:txBody>
      </p:sp>
      <p:sp>
        <p:nvSpPr>
          <p:cNvPr id="18" name="file-desc-3">
            <a:extLst xmlns:a="http://schemas.openxmlformats.org/drawingml/2006/main">
              <a:ext uri="{FF2B5EF4-FFF2-40B4-BE49-F238E27FC236}">
                <a16:creationId xmlns:a16="http://schemas.microsoft.com/office/drawing/2014/main" id="{657572CE-8878-4DF0-A7FA-E6986C02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766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可審核 evidence rows</a:t>
            </a:r>
          </a:p>
        </p:txBody>
      </p:sp>
      <p:sp>
        <p:nvSpPr>
          <p:cNvPr id="19" name="file-line-3">
            <a:extLst xmlns:a="http://schemas.openxmlformats.org/drawingml/2006/main">
              <a:ext uri="{FF2B5EF4-FFF2-40B4-BE49-F238E27FC236}">
                <a16:creationId xmlns:a16="http://schemas.microsoft.com/office/drawing/2014/main" id="{846E5542-63D4-4F0E-88BF-49EB62E8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90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DADD"/>
            </a:solidFill>
            <a:prstDash val="solid"/>
          </a:ln>
        </p:spPr>
      </p:sp>
      <p:sp>
        <p:nvSpPr>
          <p:cNvPr id="20" name="file-4">
            <a:extLst xmlns:a="http://schemas.openxmlformats.org/drawingml/2006/main">
              <a:ext uri="{FF2B5EF4-FFF2-40B4-BE49-F238E27FC236}">
                <a16:creationId xmlns:a16="http://schemas.microsoft.com/office/drawing/2014/main" id="{9DCF2AC0-D326-48E3-8E34-4A11FA3C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3810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1" name="file-name-4">
            <a:extLst xmlns:a="http://schemas.openxmlformats.org/drawingml/2006/main">
              <a:ext uri="{FF2B5EF4-FFF2-40B4-BE49-F238E27FC236}">
                <a16:creationId xmlns:a16="http://schemas.microsoft.com/office/drawing/2014/main" id="{587F2F69-800C-4C5D-B81F-70BC34CE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624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research_note.demo.md</a:t>
            </a:r>
          </a:p>
        </p:txBody>
      </p:sp>
      <p:sp>
        <p:nvSpPr>
          <p:cNvPr id="22" name="file-desc-4">
            <a:extLst xmlns:a="http://schemas.openxmlformats.org/drawingml/2006/main">
              <a:ext uri="{FF2B5EF4-FFF2-40B4-BE49-F238E27FC236}">
                <a16:creationId xmlns:a16="http://schemas.microsoft.com/office/drawing/2014/main" id="{ACBD46E4-9CCF-469C-B8FD-761E565D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624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摘要、限制、下一步</a:t>
            </a:r>
          </a:p>
        </p:txBody>
      </p:sp>
      <p:sp>
        <p:nvSpPr>
          <p:cNvPr id="23" name="file-line-4">
            <a:extLst xmlns:a="http://schemas.openxmlformats.org/drawingml/2006/main">
              <a:ext uri="{FF2B5EF4-FFF2-40B4-BE49-F238E27FC236}">
                <a16:creationId xmlns:a16="http://schemas.microsoft.com/office/drawing/2014/main" id="{4C7DD103-DD2D-4117-8E48-61839885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767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DADD"/>
            </a:solidFill>
            <a:prstDash val="solid"/>
          </a:ln>
        </p:spPr>
      </p:sp>
      <p:sp>
        <p:nvSpPr>
          <p:cNvPr id="24" name="path">
            <a:extLst xmlns:a="http://schemas.openxmlformats.org/drawingml/2006/main">
              <a:ext uri="{FF2B5EF4-FFF2-40B4-BE49-F238E27FC236}">
                <a16:creationId xmlns:a16="http://schemas.microsoft.com/office/drawing/2014/main" id="{0D3C0205-31D6-4C7E-980E-E867AA2D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7202A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17202A"/>
                </a:solidFill>
                <a:latin typeface="Menlo"/>
                <a:ea typeface="Menlo"/>
                <a:cs typeface="Menlo"/>
              </a:rPr>
              <a:t>demos/lesson-04-literature-evidence-workflow/</a:t>
            </a:r>
          </a:p>
        </p:txBody>
      </p:sp>
    </p:spTree>
    <p:extLst>
      <p:ext uri="{BB962C8B-B14F-4D97-AF65-F5344CB8AC3E}">
        <p14:creationId xmlns:p14="http://schemas.microsoft.com/office/powerpoint/2010/main" val="4922603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2DF6457-FD06-4567-95C4-1A26B97B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WORKFLOW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780460-3597-48D3-AB19-72E3023F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Agent workflow 要把搜尋、整理、查證和筆記分開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E5C1D0A-3511-4CFF-8898-36FAA494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6/22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2BBC4CDC-55CA-4D85-8E7C-8BCC804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1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5" name="flow-line-1">
            <a:extLst xmlns:a="http://schemas.openxmlformats.org/drawingml/2006/main">
              <a:ext uri="{FF2B5EF4-FFF2-40B4-BE49-F238E27FC236}">
                <a16:creationId xmlns:a16="http://schemas.microsoft.com/office/drawing/2014/main" id="{29223F24-B36A-42A0-A973-71FA6242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290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93110BE1-FF8A-4558-A09A-F90E384C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3370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2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strategy</a:t>
            </a:r>
          </a:p>
        </p:txBody>
      </p:sp>
      <p:sp>
        <p:nvSpPr>
          <p:cNvPr id="7" name="flow-line-2">
            <a:extLst xmlns:a="http://schemas.openxmlformats.org/drawingml/2006/main">
              <a:ext uri="{FF2B5EF4-FFF2-40B4-BE49-F238E27FC236}">
                <a16:creationId xmlns:a16="http://schemas.microsoft.com/office/drawing/2014/main" id="{9B7D4D3B-9528-45B5-A8E4-4EF69FE5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290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8" name="step-2">
            <a:extLst xmlns:a="http://schemas.openxmlformats.org/drawingml/2006/main">
              <a:ext uri="{FF2B5EF4-FFF2-40B4-BE49-F238E27FC236}">
                <a16:creationId xmlns:a16="http://schemas.microsoft.com/office/drawing/2014/main" id="{099AD0AC-FCE0-4F10-916C-5AE1316C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3370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3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Source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9" name="flow-line-3">
            <a:extLst xmlns:a="http://schemas.openxmlformats.org/drawingml/2006/main">
              <a:ext uri="{FF2B5EF4-FFF2-40B4-BE49-F238E27FC236}">
                <a16:creationId xmlns:a16="http://schemas.microsoft.com/office/drawing/2014/main" id="{6EE8391A-F93D-4C7A-92B6-235D8D68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10" name="step-3">
            <a:extLst xmlns:a="http://schemas.openxmlformats.org/drawingml/2006/main">
              <a:ext uri="{FF2B5EF4-FFF2-40B4-BE49-F238E27FC236}">
                <a16:creationId xmlns:a16="http://schemas.microsoft.com/office/drawing/2014/main" id="{610B66C9-0448-46BB-B419-3371F081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4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11" name="flow-line-4">
            <a:extLst xmlns:a="http://schemas.openxmlformats.org/drawingml/2006/main">
              <a:ext uri="{FF2B5EF4-FFF2-40B4-BE49-F238E27FC236}">
                <a16:creationId xmlns:a16="http://schemas.microsoft.com/office/drawing/2014/main" id="{1AD30E6A-88CB-4100-8C6C-5A715B6E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12" name="step-4">
            <a:extLst xmlns:a="http://schemas.openxmlformats.org/drawingml/2006/main">
              <a:ext uri="{FF2B5EF4-FFF2-40B4-BE49-F238E27FC236}">
                <a16:creationId xmlns:a16="http://schemas.microsoft.com/office/drawing/2014/main" id="{20804DE2-37A6-4A02-8E26-C6DAFA88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5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Human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3" name="flow-line-5">
            <a:extLst xmlns:a="http://schemas.openxmlformats.org/drawingml/2006/main">
              <a:ext uri="{FF2B5EF4-FFF2-40B4-BE49-F238E27FC236}">
                <a16:creationId xmlns:a16="http://schemas.microsoft.com/office/drawing/2014/main" id="{4B172859-B147-4409-B4FD-A08BB195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290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4DADD"/>
            </a:solidFill>
            <a:prstDash val="solid"/>
          </a:ln>
        </p:spPr>
      </p:sp>
      <p:sp>
        <p:nvSpPr>
          <p:cNvPr id="14" name="step-5">
            <a:extLst xmlns:a="http://schemas.openxmlformats.org/drawingml/2006/main">
              <a:ext uri="{FF2B5EF4-FFF2-40B4-BE49-F238E27FC236}">
                <a16:creationId xmlns:a16="http://schemas.microsoft.com/office/drawing/2014/main" id="{F6963B95-B6DB-470D-93CE-244FE6F3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33700"/>
            <a:ext cx="1314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6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Research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note</a:t>
            </a:r>
          </a:p>
        </p:txBody>
      </p:sp>
      <p:sp>
        <p:nvSpPr>
          <p:cNvPr id="15" name="bottom">
            <a:extLst xmlns:a="http://schemas.openxmlformats.org/drawingml/2006/main">
              <a:ext uri="{FF2B5EF4-FFF2-40B4-BE49-F238E27FC236}">
                <a16:creationId xmlns:a16="http://schemas.microsoft.com/office/drawing/2014/main" id="{1F1DDA19-A6D3-499C-BD69-60B4D82F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每一步都有自己的 artifact；不要讓 agent 一次完成所有事。</a:t>
            </a:r>
          </a:p>
        </p:txBody>
      </p:sp>
    </p:spTree>
    <p:extLst>
      <p:ext uri="{BB962C8B-B14F-4D97-AF65-F5344CB8AC3E}">
        <p14:creationId xmlns:p14="http://schemas.microsoft.com/office/powerpoint/2010/main" val="6194579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7954F92-7399-416F-A313-C8785BB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 STRATEGY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957BAA-DA03-469A-9E9E-6E5CDD98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先要求 agent 產生搜尋策略，不要直接要答案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98026B8-561A-4EF0-9F4A-BE7A6988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7/22</a:t>
            </a:r>
          </a:p>
        </p:txBody>
      </p:sp>
      <p:sp>
        <p:nvSpPr>
          <p:cNvPr id="4" name="strategy-0">
            <a:extLst xmlns:a="http://schemas.openxmlformats.org/drawingml/2006/main">
              <a:ext uri="{FF2B5EF4-FFF2-40B4-BE49-F238E27FC236}">
                <a16:creationId xmlns:a16="http://schemas.microsoft.com/office/drawing/2014/main" id="{C1484647-4DDA-442B-9F3D-2931EAD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4229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5" name="strategy-head-0">
            <a:extLst xmlns:a="http://schemas.openxmlformats.org/drawingml/2006/main">
              <a:ext uri="{FF2B5EF4-FFF2-40B4-BE49-F238E27FC236}">
                <a16:creationId xmlns:a16="http://schemas.microsoft.com/office/drawing/2014/main" id="{9C6871DF-00D7-4F7D-9A98-85A080ED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Concept blocks</a:t>
            </a:r>
          </a:p>
        </p:txBody>
      </p:sp>
      <p:sp>
        <p:nvSpPr>
          <p:cNvPr id="6" name="strategy-copy-0">
            <a:extLst xmlns:a="http://schemas.openxmlformats.org/drawingml/2006/main">
              <a:ext uri="{FF2B5EF4-FFF2-40B4-BE49-F238E27FC236}">
                <a16:creationId xmlns:a16="http://schemas.microsoft.com/office/drawing/2014/main" id="{F4E52123-73ED-4F70-AA92-CA480444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disease / genes / drugs / evidence type</a:t>
            </a:r>
          </a:p>
        </p:txBody>
      </p:sp>
      <p:sp>
        <p:nvSpPr>
          <p:cNvPr id="7" name="strategy-1">
            <a:extLst xmlns:a="http://schemas.openxmlformats.org/drawingml/2006/main">
              <a:ext uri="{FF2B5EF4-FFF2-40B4-BE49-F238E27FC236}">
                <a16:creationId xmlns:a16="http://schemas.microsoft.com/office/drawing/2014/main" id="{9D42122E-AB24-4AD0-9F66-97123D92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4229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8" name="strategy-head-1">
            <a:extLst xmlns:a="http://schemas.openxmlformats.org/drawingml/2006/main">
              <a:ext uri="{FF2B5EF4-FFF2-40B4-BE49-F238E27FC236}">
                <a16:creationId xmlns:a16="http://schemas.microsoft.com/office/drawing/2014/main" id="{CEC3A48D-5E56-4235-BB8D-7D4B6533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Query strings</a:t>
            </a:r>
          </a:p>
        </p:txBody>
      </p:sp>
      <p:sp>
        <p:nvSpPr>
          <p:cNvPr id="9" name="strategy-copy-1">
            <a:extLst xmlns:a="http://schemas.openxmlformats.org/drawingml/2006/main">
              <a:ext uri="{FF2B5EF4-FFF2-40B4-BE49-F238E27FC236}">
                <a16:creationId xmlns:a16="http://schemas.microsoft.com/office/drawing/2014/main" id="{26EE4C73-4258-4A39-B31D-18DC1A70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098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PubMed-style Boolean query</a:t>
            </a:r>
          </a:p>
        </p:txBody>
      </p:sp>
      <p:sp>
        <p:nvSpPr>
          <p:cNvPr id="10" name="strategy-2">
            <a:extLst xmlns:a="http://schemas.openxmlformats.org/drawingml/2006/main">
              <a:ext uri="{FF2B5EF4-FFF2-40B4-BE49-F238E27FC236}">
                <a16:creationId xmlns:a16="http://schemas.microsoft.com/office/drawing/2014/main" id="{D07CD775-48A6-4577-9704-46711814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4229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1" name="strategy-head-2">
            <a:extLst xmlns:a="http://schemas.openxmlformats.org/drawingml/2006/main">
              <a:ext uri="{FF2B5EF4-FFF2-40B4-BE49-F238E27FC236}">
                <a16:creationId xmlns:a16="http://schemas.microsoft.com/office/drawing/2014/main" id="{F50B525A-A389-48AD-9D54-51034CD8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12" name="strategy-copy-2">
            <a:extLst xmlns:a="http://schemas.openxmlformats.org/drawingml/2006/main">
              <a:ext uri="{FF2B5EF4-FFF2-40B4-BE49-F238E27FC236}">
                <a16:creationId xmlns:a16="http://schemas.microsoft.com/office/drawing/2014/main" id="{82D9CCC4-1B21-41D5-8373-C8EC7E3F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clinical trial / molecular profiling / date</a:t>
            </a:r>
          </a:p>
        </p:txBody>
      </p:sp>
      <p:sp>
        <p:nvSpPr>
          <p:cNvPr id="13" name="strategy-3">
            <a:extLst xmlns:a="http://schemas.openxmlformats.org/drawingml/2006/main">
              <a:ext uri="{FF2B5EF4-FFF2-40B4-BE49-F238E27FC236}">
                <a16:creationId xmlns:a16="http://schemas.microsoft.com/office/drawing/2014/main" id="{196B1860-898C-4912-9DA9-F89340B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505200"/>
            <a:ext cx="42291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14" name="strategy-head-3">
            <a:extLst xmlns:a="http://schemas.openxmlformats.org/drawingml/2006/main">
              <a:ext uri="{FF2B5EF4-FFF2-40B4-BE49-F238E27FC236}">
                <a16:creationId xmlns:a16="http://schemas.microsoft.com/office/drawing/2014/main" id="{312B8FC4-79BE-4503-ABEA-2A52C26B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14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Capture fields</a:t>
            </a:r>
          </a:p>
        </p:txBody>
      </p:sp>
      <p:sp>
        <p:nvSpPr>
          <p:cNvPr id="15" name="strategy-copy-3">
            <a:extLst xmlns:a="http://schemas.openxmlformats.org/drawingml/2006/main">
              <a:ext uri="{FF2B5EF4-FFF2-40B4-BE49-F238E27FC236}">
                <a16:creationId xmlns:a16="http://schemas.microsoft.com/office/drawing/2014/main" id="{B15A5B62-7D18-4744-945D-8C7824D4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148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PMID / DOI / title / n / conclusion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D8B6B20-7AC5-400B-B87C-C90A513D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911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Rule: 找不到來源時寫 not_found，不要補一個看起來合理的 PMID。</a:t>
            </a:r>
          </a:p>
        </p:txBody>
      </p:sp>
    </p:spTree>
    <p:extLst>
      <p:ext uri="{BB962C8B-B14F-4D97-AF65-F5344CB8AC3E}">
        <p14:creationId xmlns:p14="http://schemas.microsoft.com/office/powerpoint/2010/main" val="662235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A4348B7-255C-4456-BF57-E28DE6D2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PROMPT 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8573F5-05E1-477E-93F6-68EF5493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設計 prompt 時先限制 agent 的輸出範圍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B601AC7-3047-428C-A2FF-E5CCA9CA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8/22</a:t>
            </a:r>
          </a:p>
        </p:txBody>
      </p:sp>
      <p:sp>
        <p:nvSpPr>
          <p:cNvPr id="4" name="prompt1-bg">
            <a:extLst xmlns:a="http://schemas.openxmlformats.org/drawingml/2006/main">
              <a:ext uri="{FF2B5EF4-FFF2-40B4-BE49-F238E27FC236}">
                <a16:creationId xmlns:a16="http://schemas.microsoft.com/office/drawing/2014/main" id="{E0C8F4CC-457E-4268-9AE7-D3C77714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3A4650"/>
            </a:solidFill>
            <a:prstDash val="solid"/>
          </a:ln>
        </p:spPr>
      </p:sp>
      <p:sp>
        <p:nvSpPr>
          <p:cNvPr id="5" name="prompt1">
            <a:extLst xmlns:a="http://schemas.openxmlformats.org/drawingml/2006/main">
              <a:ext uri="{FF2B5EF4-FFF2-40B4-BE49-F238E27FC236}">
                <a16:creationId xmlns:a16="http://schemas.microsoft.com/office/drawing/2014/main" id="{41A22357-3D17-47EA-AD24-B3E966F8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81200"/>
            <a:ext cx="97536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You are assisting with a biomedical literature evidence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Research question: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For NSCLC, identify literature-backed claims involving EGFR,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ALK, or TP53, and separate treatment-efficacy evidence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from molecular-context evidence and model speculation.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Before searching, produce a search strategy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Rules: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Do not answer the biomedical question yet.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Do not invent PMIDs, DOIs, sample sizes, or conclusions.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Mark unsupported guesses as model_inference_candidate.</a:t>
            </a:r>
          </a:p>
        </p:txBody>
      </p:sp>
      <p:sp>
        <p:nvSpPr>
          <p:cNvPr id="6" name="file">
            <a:extLst xmlns:a="http://schemas.openxmlformats.org/drawingml/2006/main">
              <a:ext uri="{FF2B5EF4-FFF2-40B4-BE49-F238E27FC236}">
                <a16:creationId xmlns:a16="http://schemas.microsoft.com/office/drawing/2014/main" id="{9E29A991-D914-4544-8ED2-7DBB0543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53100"/>
            <a:ext cx="895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5C667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5C6670"/>
                </a:solidFill>
                <a:latin typeface="Menlo"/>
                <a:ea typeface="Menlo"/>
                <a:cs typeface="Menlo"/>
              </a:rPr>
              <a:t>Full prompt: demos/lesson-04-literature-evidence-workflow/prompts.md</a:t>
            </a:r>
          </a:p>
        </p:txBody>
      </p:sp>
    </p:spTree>
    <p:extLst>
      <p:ext uri="{BB962C8B-B14F-4D97-AF65-F5344CB8AC3E}">
        <p14:creationId xmlns:p14="http://schemas.microsoft.com/office/powerpoint/2010/main" val="712591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BD80FD7-F2C0-4212-8A68-C2A07185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SOURCE INVENTORY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9E3ACB-A298-40B2-A4B6-22371E56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候選文獻先進 source inventory，再進 evidence table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43A70FC-8027-4726-A132-BCA95CAE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9/22</a:t>
            </a:r>
          </a:p>
        </p:txBody>
      </p:sp>
      <p:sp>
        <p:nvSpPr>
          <p:cNvPr id="4" name="table-head-PMID-0">
            <a:extLst xmlns:a="http://schemas.openxmlformats.org/drawingml/2006/main">
              <a:ext uri="{FF2B5EF4-FFF2-40B4-BE49-F238E27FC236}">
                <a16:creationId xmlns:a16="http://schemas.microsoft.com/office/drawing/2014/main" id="{B0C74672-9675-4992-B1DE-5EF6B733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PMID</a:t>
            </a:r>
          </a:p>
        </p:txBody>
      </p:sp>
      <p:sp>
        <p:nvSpPr>
          <p:cNvPr id="5" name="table-head-source-1">
            <a:extLst xmlns:a="http://schemas.openxmlformats.org/drawingml/2006/main">
              <a:ext uri="{FF2B5EF4-FFF2-40B4-BE49-F238E27FC236}">
                <a16:creationId xmlns:a16="http://schemas.microsoft.com/office/drawing/2014/main" id="{B30023F6-565D-4A82-A8A3-8ED8A400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6" name="table-head-type-2">
            <a:extLst xmlns:a="http://schemas.openxmlformats.org/drawingml/2006/main">
              <a:ext uri="{FF2B5EF4-FFF2-40B4-BE49-F238E27FC236}">
                <a16:creationId xmlns:a16="http://schemas.microsoft.com/office/drawing/2014/main" id="{775B8BE2-B81D-41D8-881E-C47AC0EB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type</a:t>
            </a:r>
          </a:p>
        </p:txBody>
      </p:sp>
      <p:sp>
        <p:nvSpPr>
          <p:cNvPr id="7" name="table-head-n-3">
            <a:extLst xmlns:a="http://schemas.openxmlformats.org/drawingml/2006/main">
              <a:ext uri="{FF2B5EF4-FFF2-40B4-BE49-F238E27FC236}">
                <a16:creationId xmlns:a16="http://schemas.microsoft.com/office/drawing/2014/main" id="{EA222143-9190-40C5-8DB1-EFADAF24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8" name="table-head-use-4">
            <a:extLst xmlns:a="http://schemas.openxmlformats.org/drawingml/2006/main">
              <a:ext uri="{FF2B5EF4-FFF2-40B4-BE49-F238E27FC236}">
                <a16:creationId xmlns:a16="http://schemas.microsoft.com/office/drawing/2014/main" id="{36DD83B2-FC0E-4622-AB16-C9AF7E2D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9" name="source-row-0">
            <a:extLst xmlns:a="http://schemas.openxmlformats.org/drawingml/2006/main">
              <a:ext uri="{FF2B5EF4-FFF2-40B4-BE49-F238E27FC236}">
                <a16:creationId xmlns:a16="http://schemas.microsoft.com/office/drawing/2014/main" id="{C1D5135B-189A-40F7-8663-61BD193F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0" name="source-0-0">
            <a:extLst xmlns:a="http://schemas.openxmlformats.org/drawingml/2006/main">
              <a:ext uri="{FF2B5EF4-FFF2-40B4-BE49-F238E27FC236}">
                <a16:creationId xmlns:a16="http://schemas.microsoft.com/office/drawing/2014/main" id="{8C8E9A63-A434-4A05-9285-EF6E345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02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29151359</a:t>
            </a:r>
          </a:p>
        </p:txBody>
      </p:sp>
      <p:sp>
        <p:nvSpPr>
          <p:cNvPr id="11" name="source-0-1">
            <a:extLst xmlns:a="http://schemas.openxmlformats.org/drawingml/2006/main">
              <a:ext uri="{FF2B5EF4-FFF2-40B4-BE49-F238E27FC236}">
                <a16:creationId xmlns:a16="http://schemas.microsoft.com/office/drawing/2014/main" id="{563774BC-F034-4E8A-A981-13FBAD63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00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Osimertinib in EGFR-mutated advanced NSCLC</a:t>
            </a:r>
          </a:p>
        </p:txBody>
      </p:sp>
      <p:sp>
        <p:nvSpPr>
          <p:cNvPr id="12" name="source-0-2">
            <a:extLst xmlns:a="http://schemas.openxmlformats.org/drawingml/2006/main">
              <a:ext uri="{FF2B5EF4-FFF2-40B4-BE49-F238E27FC236}">
                <a16:creationId xmlns:a16="http://schemas.microsoft.com/office/drawing/2014/main" id="{83D320A5-8C95-45F2-8F12-EF7A1FC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0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phase 3 RCT</a:t>
            </a:r>
          </a:p>
        </p:txBody>
      </p:sp>
      <p:sp>
        <p:nvSpPr>
          <p:cNvPr id="13" name="source-0-3">
            <a:extLst xmlns:a="http://schemas.openxmlformats.org/drawingml/2006/main">
              <a:ext uri="{FF2B5EF4-FFF2-40B4-BE49-F238E27FC236}">
                <a16:creationId xmlns:a16="http://schemas.microsoft.com/office/drawing/2014/main" id="{F8A706BF-212B-480A-85BC-208C98E8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02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556</a:t>
            </a:r>
          </a:p>
        </p:txBody>
      </p:sp>
      <p:sp>
        <p:nvSpPr>
          <p:cNvPr id="14" name="source-0-4">
            <a:extLst xmlns:a="http://schemas.openxmlformats.org/drawingml/2006/main">
              <a:ext uri="{FF2B5EF4-FFF2-40B4-BE49-F238E27FC236}">
                <a16:creationId xmlns:a16="http://schemas.microsoft.com/office/drawing/2014/main" id="{F4A5F124-6071-46E9-8E15-E6B84AEB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002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treatment evidence</a:t>
            </a:r>
          </a:p>
        </p:txBody>
      </p:sp>
      <p:sp>
        <p:nvSpPr>
          <p:cNvPr id="15" name="source-row-1">
            <a:extLst xmlns:a="http://schemas.openxmlformats.org/drawingml/2006/main">
              <a:ext uri="{FF2B5EF4-FFF2-40B4-BE49-F238E27FC236}">
                <a16:creationId xmlns:a16="http://schemas.microsoft.com/office/drawing/2014/main" id="{64ACE586-8F84-49DC-8DD2-E2F6128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6" name="source-1-0">
            <a:extLst xmlns:a="http://schemas.openxmlformats.org/drawingml/2006/main">
              <a:ext uri="{FF2B5EF4-FFF2-40B4-BE49-F238E27FC236}">
                <a16:creationId xmlns:a16="http://schemas.microsoft.com/office/drawing/2014/main" id="{7E96394D-C3F3-45CA-BBDF-6189E09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22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25470694</a:t>
            </a:r>
          </a:p>
        </p:txBody>
      </p:sp>
      <p:sp>
        <p:nvSpPr>
          <p:cNvPr id="17" name="source-1-1">
            <a:extLst xmlns:a="http://schemas.openxmlformats.org/drawingml/2006/main">
              <a:ext uri="{FF2B5EF4-FFF2-40B4-BE49-F238E27FC236}">
                <a16:creationId xmlns:a16="http://schemas.microsoft.com/office/drawing/2014/main" id="{DEE7E0EC-D913-4715-AB03-57D7F4B9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62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Crizotinib vs chemotherapy in ALK+ lung cancer</a:t>
            </a:r>
          </a:p>
        </p:txBody>
      </p:sp>
      <p:sp>
        <p:nvSpPr>
          <p:cNvPr id="18" name="source-1-2">
            <a:extLst xmlns:a="http://schemas.openxmlformats.org/drawingml/2006/main">
              <a:ext uri="{FF2B5EF4-FFF2-40B4-BE49-F238E27FC236}">
                <a16:creationId xmlns:a16="http://schemas.microsoft.com/office/drawing/2014/main" id="{34B1A57A-A0C1-4D99-AD53-DBB7EC19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62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phase 3 RCT</a:t>
            </a:r>
          </a:p>
        </p:txBody>
      </p:sp>
      <p:sp>
        <p:nvSpPr>
          <p:cNvPr id="19" name="source-1-3">
            <a:extLst xmlns:a="http://schemas.openxmlformats.org/drawingml/2006/main">
              <a:ext uri="{FF2B5EF4-FFF2-40B4-BE49-F238E27FC236}">
                <a16:creationId xmlns:a16="http://schemas.microsoft.com/office/drawing/2014/main" id="{4F2CA01A-DFB2-401A-B21C-EA713956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622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343</a:t>
            </a:r>
          </a:p>
        </p:txBody>
      </p:sp>
      <p:sp>
        <p:nvSpPr>
          <p:cNvPr id="20" name="source-1-4">
            <a:extLst xmlns:a="http://schemas.openxmlformats.org/drawingml/2006/main">
              <a:ext uri="{FF2B5EF4-FFF2-40B4-BE49-F238E27FC236}">
                <a16:creationId xmlns:a16="http://schemas.microsoft.com/office/drawing/2014/main" id="{876765E7-4514-4100-B478-D99F11E6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622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treatment evidence</a:t>
            </a:r>
          </a:p>
        </p:txBody>
      </p:sp>
      <p:sp>
        <p:nvSpPr>
          <p:cNvPr id="21" name="source-row-2">
            <a:extLst xmlns:a="http://schemas.openxmlformats.org/drawingml/2006/main">
              <a:ext uri="{FF2B5EF4-FFF2-40B4-BE49-F238E27FC236}">
                <a16:creationId xmlns:a16="http://schemas.microsoft.com/office/drawing/2014/main" id="{6D7CD5A7-94A9-44B5-A91C-B6E75BC8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1066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2" name="source-2-0">
            <a:extLst xmlns:a="http://schemas.openxmlformats.org/drawingml/2006/main">
              <a:ext uri="{FF2B5EF4-FFF2-40B4-BE49-F238E27FC236}">
                <a16:creationId xmlns:a16="http://schemas.microsoft.com/office/drawing/2014/main" id="{64505CAE-5676-4863-A1A8-8AA85676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25079552</a:t>
            </a:r>
          </a:p>
        </p:txBody>
      </p:sp>
      <p:sp>
        <p:nvSpPr>
          <p:cNvPr id="23" name="source-2-1">
            <a:extLst xmlns:a="http://schemas.openxmlformats.org/drawingml/2006/main">
              <a:ext uri="{FF2B5EF4-FFF2-40B4-BE49-F238E27FC236}">
                <a16:creationId xmlns:a16="http://schemas.microsoft.com/office/drawing/2014/main" id="{EE29BC6D-4CF4-4CBB-BF61-AB183391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242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TCGA lung adenocarcinoma molecular profiling</a:t>
            </a:r>
          </a:p>
        </p:txBody>
      </p:sp>
      <p:sp>
        <p:nvSpPr>
          <p:cNvPr id="24" name="source-2-2">
            <a:extLst xmlns:a="http://schemas.openxmlformats.org/drawingml/2006/main">
              <a:ext uri="{FF2B5EF4-FFF2-40B4-BE49-F238E27FC236}">
                <a16:creationId xmlns:a16="http://schemas.microsoft.com/office/drawing/2014/main" id="{FA9D1DC2-65A5-4988-972A-2EBD3F1A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242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profiling cohort</a:t>
            </a:r>
          </a:p>
        </p:txBody>
      </p:sp>
      <p:sp>
        <p:nvSpPr>
          <p:cNvPr id="25" name="source-2-3">
            <a:extLst xmlns:a="http://schemas.openxmlformats.org/drawingml/2006/main">
              <a:ext uri="{FF2B5EF4-FFF2-40B4-BE49-F238E27FC236}">
                <a16:creationId xmlns:a16="http://schemas.microsoft.com/office/drawing/2014/main" id="{A9A44237-3591-4541-9EF4-514D7F0B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242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230</a:t>
            </a:r>
          </a:p>
        </p:txBody>
      </p:sp>
      <p:sp>
        <p:nvSpPr>
          <p:cNvPr id="26" name="source-2-4">
            <a:extLst xmlns:a="http://schemas.openxmlformats.org/drawingml/2006/main">
              <a:ext uri="{FF2B5EF4-FFF2-40B4-BE49-F238E27FC236}">
                <a16:creationId xmlns:a16="http://schemas.microsoft.com/office/drawing/2014/main" id="{D990837D-DBC9-4184-A424-12DB5D74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242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molecular context</a:t>
            </a:r>
          </a:p>
        </p:txBody>
      </p:sp>
      <p:sp>
        <p:nvSpPr>
          <p:cNvPr id="27" name="rule">
            <a:extLst xmlns:a="http://schemas.openxmlformats.org/drawingml/2006/main">
              <a:ext uri="{FF2B5EF4-FFF2-40B4-BE49-F238E27FC236}">
                <a16:creationId xmlns:a16="http://schemas.microsoft.com/office/drawing/2014/main" id="{D5628039-4DDD-43AB-AFE6-20E85300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只有 source inventory 通過基本檢查後，才允許 agent 抽 evidence rows。</a:t>
            </a:r>
          </a:p>
        </p:txBody>
      </p:sp>
    </p:spTree>
    <p:extLst>
      <p:ext uri="{BB962C8B-B14F-4D97-AF65-F5344CB8AC3E}">
        <p14:creationId xmlns:p14="http://schemas.microsoft.com/office/powerpoint/2010/main" val="7851812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A789E72-78CA-4664-BCDD-D0633CA8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 TABLE SCHEMA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AB8EE18-4175-45E7-967F-EECD6306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Evidence table 欄位要能回答：誰說了什麼，憑什麼？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970FDF4-1107-4334-960B-43EAC389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10/22</a:t>
            </a:r>
          </a:p>
        </p:txBody>
      </p:sp>
      <p:sp>
        <p:nvSpPr>
          <p:cNvPr id="4" name="schema-0">
            <a:extLst xmlns:a="http://schemas.openxmlformats.org/drawingml/2006/main">
              <a:ext uri="{FF2B5EF4-FFF2-40B4-BE49-F238E27FC236}">
                <a16:creationId xmlns:a16="http://schemas.microsoft.com/office/drawing/2014/main" id="{19804979-60FB-43D5-93E3-5147AE11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3431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EF1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</p:sp>
      <p:sp>
        <p:nvSpPr>
          <p:cNvPr id="5" name="schema-head-0">
            <a:extLst xmlns:a="http://schemas.openxmlformats.org/drawingml/2006/main">
              <a:ext uri="{FF2B5EF4-FFF2-40B4-BE49-F238E27FC236}">
                <a16:creationId xmlns:a16="http://schemas.microsoft.com/office/drawing/2014/main" id="{7566D843-C0D6-4929-B2F6-4C6EAC01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Entity</a:t>
            </a:r>
          </a:p>
        </p:txBody>
      </p:sp>
      <p:sp>
        <p:nvSpPr>
          <p:cNvPr id="6" name="schema-fields-0">
            <a:extLst xmlns:a="http://schemas.openxmlformats.org/drawingml/2006/main">
              <a:ext uri="{FF2B5EF4-FFF2-40B4-BE49-F238E27FC236}">
                <a16:creationId xmlns:a16="http://schemas.microsoft.com/office/drawing/2014/main" id="{50D051E0-A669-4557-9DBE-EEA14812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disease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drug</a:t>
            </a:r>
          </a:p>
        </p:txBody>
      </p:sp>
      <p:sp>
        <p:nvSpPr>
          <p:cNvPr id="7" name="schema-1">
            <a:extLst xmlns:a="http://schemas.openxmlformats.org/drawingml/2006/main">
              <a:ext uri="{FF2B5EF4-FFF2-40B4-BE49-F238E27FC236}">
                <a16:creationId xmlns:a16="http://schemas.microsoft.com/office/drawing/2014/main" id="{01911524-3445-4321-884D-8BC37809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66950"/>
            <a:ext cx="23431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8" name="schema-head-1">
            <a:extLst xmlns:a="http://schemas.openxmlformats.org/drawingml/2006/main">
              <a:ext uri="{FF2B5EF4-FFF2-40B4-BE49-F238E27FC236}">
                <a16:creationId xmlns:a16="http://schemas.microsoft.com/office/drawing/2014/main" id="{0627F162-7204-4219-99FD-8C2A3A2F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9" name="schema-fields-1">
            <a:extLst xmlns:a="http://schemas.openxmlformats.org/drawingml/2006/main">
              <a:ext uri="{FF2B5EF4-FFF2-40B4-BE49-F238E27FC236}">
                <a16:creationId xmlns:a16="http://schemas.microsoft.com/office/drawing/2014/main" id="{9E27A6F2-CE05-4B3C-8EA7-6D1ADA1B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claim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study_type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sample_n</a:t>
            </a:r>
          </a:p>
        </p:txBody>
      </p:sp>
      <p:sp>
        <p:nvSpPr>
          <p:cNvPr id="10" name="schema-2">
            <a:extLst xmlns:a="http://schemas.openxmlformats.org/drawingml/2006/main">
              <a:ext uri="{FF2B5EF4-FFF2-40B4-BE49-F238E27FC236}">
                <a16:creationId xmlns:a16="http://schemas.microsoft.com/office/drawing/2014/main" id="{74E7678C-C0F6-4093-A219-9550C1B8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23431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1" name="schema-head-2">
            <a:extLst xmlns:a="http://schemas.openxmlformats.org/drawingml/2006/main">
              <a:ext uri="{FF2B5EF4-FFF2-40B4-BE49-F238E27FC236}">
                <a16:creationId xmlns:a16="http://schemas.microsoft.com/office/drawing/2014/main" id="{378AA3CD-F24B-4E59-8217-693D17C1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2" name="schema-fields-2">
            <a:extLst xmlns:a="http://schemas.openxmlformats.org/drawingml/2006/main">
              <a:ext uri="{FF2B5EF4-FFF2-40B4-BE49-F238E27FC236}">
                <a16:creationId xmlns:a16="http://schemas.microsoft.com/office/drawing/2014/main" id="{EF8E4D53-A5EF-4695-9EA7-A47CF262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4325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PMID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DOI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source_note</a:t>
            </a:r>
          </a:p>
        </p:txBody>
      </p:sp>
      <p:sp>
        <p:nvSpPr>
          <p:cNvPr id="13" name="schema-3">
            <a:extLst xmlns:a="http://schemas.openxmlformats.org/drawingml/2006/main">
              <a:ext uri="{FF2B5EF4-FFF2-40B4-BE49-F238E27FC236}">
                <a16:creationId xmlns:a16="http://schemas.microsoft.com/office/drawing/2014/main" id="{13606A8E-655B-451E-A1FB-62989ABF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66950"/>
            <a:ext cx="23431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4" name="schema-head-3">
            <a:extLst xmlns:a="http://schemas.openxmlformats.org/drawingml/2006/main">
              <a:ext uri="{FF2B5EF4-FFF2-40B4-BE49-F238E27FC236}">
                <a16:creationId xmlns:a16="http://schemas.microsoft.com/office/drawing/2014/main" id="{AF8AF0A3-2ED8-4B63-89AC-00022CEA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5" name="schema-fields-3">
            <a:extLst xmlns:a="http://schemas.openxmlformats.org/drawingml/2006/main">
              <a:ext uri="{FF2B5EF4-FFF2-40B4-BE49-F238E27FC236}">
                <a16:creationId xmlns:a16="http://schemas.microsoft.com/office/drawing/2014/main" id="{8599A2A6-4544-415B-A99B-0EFFB9D5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supported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not_found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5"/>
              </a:spcAft>
              <a:buNone/>
              <a:defRPr sz="150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7202A"/>
                </a:solidFill>
                <a:latin typeface="Aptos"/>
                <a:ea typeface="Aptos"/>
                <a:cs typeface="Aptos"/>
              </a:rPr>
              <a:t>needs_review</a:t>
            </a:r>
          </a:p>
        </p:txBody>
      </p:sp>
      <p:sp>
        <p:nvSpPr>
          <p:cNvPr id="16" name="bottom">
            <a:extLst xmlns:a="http://schemas.openxmlformats.org/drawingml/2006/main">
              <a:ext uri="{FF2B5EF4-FFF2-40B4-BE49-F238E27FC236}">
                <a16:creationId xmlns:a16="http://schemas.microsoft.com/office/drawing/2014/main" id="{7E09E669-226D-4735-9765-EA69B4C4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欄位不是越多越好；每個欄位都要支援 review。</a:t>
            </a:r>
          </a:p>
        </p:txBody>
      </p:sp>
    </p:spTree>
    <p:extLst>
      <p:ext uri="{BB962C8B-B14F-4D97-AF65-F5344CB8AC3E}">
        <p14:creationId xmlns:p14="http://schemas.microsoft.com/office/powerpoint/2010/main" val="19549585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CAD0BE7-E791-4941-81CA-1CC4E5A9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PROMPT 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14A46C-3168-4182-82D4-1B392566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抽 evidence row 時，要求 agent 只用已驗證來源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8F229455-F2A9-4D14-8059-AACCE045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11/22</a:t>
            </a:r>
          </a:p>
        </p:txBody>
      </p:sp>
      <p:sp>
        <p:nvSpPr>
          <p:cNvPr id="4" name="prompt2-bg">
            <a:extLst xmlns:a="http://schemas.openxmlformats.org/drawingml/2006/main">
              <a:ext uri="{FF2B5EF4-FFF2-40B4-BE49-F238E27FC236}">
                <a16:creationId xmlns:a16="http://schemas.microsoft.com/office/drawing/2014/main" id="{06EAA2B0-405C-45BB-B150-4BB0E6F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101346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3A4650"/>
            </a:solidFill>
            <a:prstDash val="solid"/>
          </a:ln>
        </p:spPr>
      </p:sp>
      <p:sp>
        <p:nvSpPr>
          <p:cNvPr id="5" name="prompt2">
            <a:extLst xmlns:a="http://schemas.openxmlformats.org/drawingml/2006/main">
              <a:ext uri="{FF2B5EF4-FFF2-40B4-BE49-F238E27FC236}">
                <a16:creationId xmlns:a16="http://schemas.microsoft.com/office/drawing/2014/main" id="{3127A91E-9B08-40A7-BE2A-FCBCE67F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97917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Convert the verified source inventory into an evidence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Required columns: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question, entity_type, gene, disease, drug, claim,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evidence_kind, study_type, sample_n, source_title,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PMID, DOI, year, source_note, status, model_inference.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Rules: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One row makes one narrow claim.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Use literature_evidence only when the source supports the claim.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Use molecular_context when the source is biology, not treatment efficacy.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Use model_inference when no PMID or DOI supports the statement.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- Every row starts with needs_human_review=TRUE.</a:t>
            </a:r>
          </a:p>
        </p:txBody>
      </p:sp>
    </p:spTree>
    <p:extLst>
      <p:ext uri="{BB962C8B-B14F-4D97-AF65-F5344CB8AC3E}">
        <p14:creationId xmlns:p14="http://schemas.microsoft.com/office/powerpoint/2010/main" val="7343001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77F811E-1461-440E-9D48-115CDC84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DEMO TABLE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6A0F81-AA86-4CDE-B757-F67F2627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一份好的 evidence table 應該讓錯誤容易被看見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0B2E34D9-FAE1-4030-8A26-5B7AF1EC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12/22</a:t>
            </a:r>
          </a:p>
        </p:txBody>
      </p:sp>
      <p:sp>
        <p:nvSpPr>
          <p:cNvPr id="4" name="table-head-gene-0">
            <a:extLst xmlns:a="http://schemas.openxmlformats.org/drawingml/2006/main">
              <a:ext uri="{FF2B5EF4-FFF2-40B4-BE49-F238E27FC236}">
                <a16:creationId xmlns:a16="http://schemas.microsoft.com/office/drawing/2014/main" id="{52199DB5-2D98-46E2-806B-DCB35499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gene</a:t>
            </a:r>
          </a:p>
        </p:txBody>
      </p:sp>
      <p:sp>
        <p:nvSpPr>
          <p:cNvPr id="5" name="table-head-drug-1">
            <a:extLst xmlns:a="http://schemas.openxmlformats.org/drawingml/2006/main">
              <a:ext uri="{FF2B5EF4-FFF2-40B4-BE49-F238E27FC236}">
                <a16:creationId xmlns:a16="http://schemas.microsoft.com/office/drawing/2014/main" id="{303F847F-7C0A-401B-8DF6-0B0CADDE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90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drug</a:t>
            </a:r>
          </a:p>
        </p:txBody>
      </p:sp>
      <p:sp>
        <p:nvSpPr>
          <p:cNvPr id="6" name="table-head-PMID-2">
            <a:extLst xmlns:a="http://schemas.openxmlformats.org/drawingml/2006/main">
              <a:ext uri="{FF2B5EF4-FFF2-40B4-BE49-F238E27FC236}">
                <a16:creationId xmlns:a16="http://schemas.microsoft.com/office/drawing/2014/main" id="{65E39270-1E88-446A-9171-C55CD46D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907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PMID</a:t>
            </a:r>
          </a:p>
        </p:txBody>
      </p:sp>
      <p:sp>
        <p:nvSpPr>
          <p:cNvPr id="7" name="table-head-n-3">
            <a:extLst xmlns:a="http://schemas.openxmlformats.org/drawingml/2006/main">
              <a:ext uri="{FF2B5EF4-FFF2-40B4-BE49-F238E27FC236}">
                <a16:creationId xmlns:a16="http://schemas.microsoft.com/office/drawing/2014/main" id="{F785216D-EDAE-4CB7-BF88-CC6E2C38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90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8" name="table-head-evidence kind-4">
            <a:extLst xmlns:a="http://schemas.openxmlformats.org/drawingml/2006/main">
              <a:ext uri="{FF2B5EF4-FFF2-40B4-BE49-F238E27FC236}">
                <a16:creationId xmlns:a16="http://schemas.microsoft.com/office/drawing/2014/main" id="{62C442A1-38E4-42F1-8D02-8943940A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9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 kind</a:t>
            </a:r>
          </a:p>
        </p:txBody>
      </p:sp>
      <p:sp>
        <p:nvSpPr>
          <p:cNvPr id="9" name="table-head-status-5">
            <a:extLst xmlns:a="http://schemas.openxmlformats.org/drawingml/2006/main">
              <a:ext uri="{FF2B5EF4-FFF2-40B4-BE49-F238E27FC236}">
                <a16:creationId xmlns:a16="http://schemas.microsoft.com/office/drawing/2014/main" id="{779E4AAF-1788-4BEC-B9C9-2FDC7435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90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0" name="ev-row-0">
            <a:extLst xmlns:a="http://schemas.openxmlformats.org/drawingml/2006/main">
              <a:ext uri="{FF2B5EF4-FFF2-40B4-BE49-F238E27FC236}">
                <a16:creationId xmlns:a16="http://schemas.microsoft.com/office/drawing/2014/main" id="{19D2A14E-F659-469F-8209-9D08753D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10706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ev-0-0">
            <a:extLst xmlns:a="http://schemas.openxmlformats.org/drawingml/2006/main">
              <a:ext uri="{FF2B5EF4-FFF2-40B4-BE49-F238E27FC236}">
                <a16:creationId xmlns:a16="http://schemas.microsoft.com/office/drawing/2014/main" id="{42D0270C-0087-4EF0-AEB4-F1BBDBD2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</a:t>
            </a:r>
          </a:p>
        </p:txBody>
      </p:sp>
      <p:sp>
        <p:nvSpPr>
          <p:cNvPr id="12" name="ev-0-1">
            <a:extLst xmlns:a="http://schemas.openxmlformats.org/drawingml/2006/main">
              <a:ext uri="{FF2B5EF4-FFF2-40B4-BE49-F238E27FC236}">
                <a16:creationId xmlns:a16="http://schemas.microsoft.com/office/drawing/2014/main" id="{25A9B436-DD22-4F9F-A431-3CD0FD3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621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osimertinib</a:t>
            </a:r>
          </a:p>
        </p:txBody>
      </p:sp>
      <p:sp>
        <p:nvSpPr>
          <p:cNvPr id="13" name="ev-0-2">
            <a:extLst xmlns:a="http://schemas.openxmlformats.org/drawingml/2006/main">
              <a:ext uri="{FF2B5EF4-FFF2-40B4-BE49-F238E27FC236}">
                <a16:creationId xmlns:a16="http://schemas.microsoft.com/office/drawing/2014/main" id="{5C56EBC2-45AF-4221-A46C-1EAFE659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621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6A8"/>
                </a:solidFill>
                <a:latin typeface="Aptos"/>
                <a:ea typeface="Aptos"/>
                <a:cs typeface="Aptos"/>
              </a:rPr>
              <a:t>29151359</a:t>
            </a:r>
          </a:p>
        </p:txBody>
      </p:sp>
      <p:sp>
        <p:nvSpPr>
          <p:cNvPr id="14" name="ev-0-3">
            <a:extLst xmlns:a="http://schemas.openxmlformats.org/drawingml/2006/main">
              <a:ext uri="{FF2B5EF4-FFF2-40B4-BE49-F238E27FC236}">
                <a16:creationId xmlns:a16="http://schemas.microsoft.com/office/drawing/2014/main" id="{FC051A9B-BC8E-42DC-9E68-1F5B32CA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62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556</a:t>
            </a:r>
          </a:p>
        </p:txBody>
      </p:sp>
      <p:sp>
        <p:nvSpPr>
          <p:cNvPr id="15" name="ev-0-4">
            <a:extLst xmlns:a="http://schemas.openxmlformats.org/drawingml/2006/main">
              <a:ext uri="{FF2B5EF4-FFF2-40B4-BE49-F238E27FC236}">
                <a16:creationId xmlns:a16="http://schemas.microsoft.com/office/drawing/2014/main" id="{1926EF94-B407-47DA-AFBF-E64B73B2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621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literature_evidence</a:t>
            </a:r>
          </a:p>
        </p:txBody>
      </p:sp>
      <p:sp>
        <p:nvSpPr>
          <p:cNvPr id="16" name="ev-0-5">
            <a:extLst xmlns:a="http://schemas.openxmlformats.org/drawingml/2006/main">
              <a:ext uri="{FF2B5EF4-FFF2-40B4-BE49-F238E27FC236}">
                <a16:creationId xmlns:a16="http://schemas.microsoft.com/office/drawing/2014/main" id="{4DC9D289-E2F5-443C-A835-B1CD467E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621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17" name="ev-row-1">
            <a:extLst xmlns:a="http://schemas.openxmlformats.org/drawingml/2006/main">
              <a:ext uri="{FF2B5EF4-FFF2-40B4-BE49-F238E27FC236}">
                <a16:creationId xmlns:a16="http://schemas.microsoft.com/office/drawing/2014/main" id="{46C35E3B-258E-4459-A41F-D0676B03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706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8" name="ev-1-0">
            <a:extLst xmlns:a="http://schemas.openxmlformats.org/drawingml/2006/main">
              <a:ext uri="{FF2B5EF4-FFF2-40B4-BE49-F238E27FC236}">
                <a16:creationId xmlns:a16="http://schemas.microsoft.com/office/drawing/2014/main" id="{ACB7CF5F-646A-4DAC-8B38-6CD254D2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ALK</a:t>
            </a:r>
          </a:p>
        </p:txBody>
      </p:sp>
      <p:sp>
        <p:nvSpPr>
          <p:cNvPr id="19" name="ev-1-1">
            <a:extLst xmlns:a="http://schemas.openxmlformats.org/drawingml/2006/main">
              <a:ext uri="{FF2B5EF4-FFF2-40B4-BE49-F238E27FC236}">
                <a16:creationId xmlns:a16="http://schemas.microsoft.com/office/drawing/2014/main" id="{A2D60B16-6FA5-4FF9-9FA7-67E2DA6F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717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crizotinib</a:t>
            </a:r>
          </a:p>
        </p:txBody>
      </p:sp>
      <p:sp>
        <p:nvSpPr>
          <p:cNvPr id="20" name="ev-1-2">
            <a:extLst xmlns:a="http://schemas.openxmlformats.org/drawingml/2006/main">
              <a:ext uri="{FF2B5EF4-FFF2-40B4-BE49-F238E27FC236}">
                <a16:creationId xmlns:a16="http://schemas.microsoft.com/office/drawing/2014/main" id="{10943410-F447-4B8F-A26F-808722AF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717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6A8"/>
                </a:solidFill>
                <a:latin typeface="Aptos"/>
                <a:ea typeface="Aptos"/>
                <a:cs typeface="Aptos"/>
              </a:rPr>
              <a:t>25470694</a:t>
            </a:r>
          </a:p>
        </p:txBody>
      </p:sp>
      <p:sp>
        <p:nvSpPr>
          <p:cNvPr id="21" name="ev-1-3">
            <a:extLst xmlns:a="http://schemas.openxmlformats.org/drawingml/2006/main">
              <a:ext uri="{FF2B5EF4-FFF2-40B4-BE49-F238E27FC236}">
                <a16:creationId xmlns:a16="http://schemas.microsoft.com/office/drawing/2014/main" id="{F8DC7276-F149-4EDA-8006-C3437306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717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343</a:t>
            </a:r>
          </a:p>
        </p:txBody>
      </p:sp>
      <p:sp>
        <p:nvSpPr>
          <p:cNvPr id="22" name="ev-1-4">
            <a:extLst xmlns:a="http://schemas.openxmlformats.org/drawingml/2006/main">
              <a:ext uri="{FF2B5EF4-FFF2-40B4-BE49-F238E27FC236}">
                <a16:creationId xmlns:a16="http://schemas.microsoft.com/office/drawing/2014/main" id="{F92277E6-56B6-4DDD-B6FB-5186A5F1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717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literature_evidence</a:t>
            </a:r>
          </a:p>
        </p:txBody>
      </p:sp>
      <p:sp>
        <p:nvSpPr>
          <p:cNvPr id="23" name="ev-1-5">
            <a:extLst xmlns:a="http://schemas.openxmlformats.org/drawingml/2006/main">
              <a:ext uri="{FF2B5EF4-FFF2-40B4-BE49-F238E27FC236}">
                <a16:creationId xmlns:a16="http://schemas.microsoft.com/office/drawing/2014/main" id="{DFF553A3-077A-4172-A17A-1B21B440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717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24" name="ev-row-2">
            <a:extLst xmlns:a="http://schemas.openxmlformats.org/drawingml/2006/main">
              <a:ext uri="{FF2B5EF4-FFF2-40B4-BE49-F238E27FC236}">
                <a16:creationId xmlns:a16="http://schemas.microsoft.com/office/drawing/2014/main" id="{F9BF799F-8758-480B-A8DC-E3BC85C1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10706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5" name="ev-2-0">
            <a:extLst xmlns:a="http://schemas.openxmlformats.org/drawingml/2006/main">
              <a:ext uri="{FF2B5EF4-FFF2-40B4-BE49-F238E27FC236}">
                <a16:creationId xmlns:a16="http://schemas.microsoft.com/office/drawing/2014/main" id="{B70E735B-7497-4A69-BC78-B775AFC8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EGFR/MET/etc.</a:t>
            </a:r>
          </a:p>
        </p:txBody>
      </p:sp>
      <p:sp>
        <p:nvSpPr>
          <p:cNvPr id="26" name="ev-2-1">
            <a:extLst xmlns:a="http://schemas.openxmlformats.org/drawingml/2006/main">
              <a:ext uri="{FF2B5EF4-FFF2-40B4-BE49-F238E27FC236}">
                <a16:creationId xmlns:a16="http://schemas.microsoft.com/office/drawing/2014/main" id="{FCA08E83-E2D4-4CB4-ADCA-665A25F1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813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27" name="ev-2-2">
            <a:extLst xmlns:a="http://schemas.openxmlformats.org/drawingml/2006/main">
              <a:ext uri="{FF2B5EF4-FFF2-40B4-BE49-F238E27FC236}">
                <a16:creationId xmlns:a16="http://schemas.microsoft.com/office/drawing/2014/main" id="{0CC44D3E-5E50-42A0-BB85-1F3BBF6C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813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6A8"/>
                </a:solidFill>
                <a:latin typeface="Aptos"/>
                <a:ea typeface="Aptos"/>
                <a:cs typeface="Aptos"/>
              </a:rPr>
              <a:t>25079552</a:t>
            </a:r>
          </a:p>
        </p:txBody>
      </p:sp>
      <p:sp>
        <p:nvSpPr>
          <p:cNvPr id="28" name="ev-2-3">
            <a:extLst xmlns:a="http://schemas.openxmlformats.org/drawingml/2006/main">
              <a:ext uri="{FF2B5EF4-FFF2-40B4-BE49-F238E27FC236}">
                <a16:creationId xmlns:a16="http://schemas.microsoft.com/office/drawing/2014/main" id="{B2EB2E25-B6C7-4EAE-BED4-FEABC6FC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813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230</a:t>
            </a:r>
          </a:p>
        </p:txBody>
      </p:sp>
      <p:sp>
        <p:nvSpPr>
          <p:cNvPr id="29" name="ev-2-4">
            <a:extLst xmlns:a="http://schemas.openxmlformats.org/drawingml/2006/main">
              <a:ext uri="{FF2B5EF4-FFF2-40B4-BE49-F238E27FC236}">
                <a16:creationId xmlns:a16="http://schemas.microsoft.com/office/drawing/2014/main" id="{6365DE9D-91FA-44A0-998D-C8632D94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813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molecular_context</a:t>
            </a:r>
          </a:p>
        </p:txBody>
      </p:sp>
      <p:sp>
        <p:nvSpPr>
          <p:cNvPr id="30" name="ev-2-5">
            <a:extLst xmlns:a="http://schemas.openxmlformats.org/drawingml/2006/main">
              <a:ext uri="{FF2B5EF4-FFF2-40B4-BE49-F238E27FC236}">
                <a16:creationId xmlns:a16="http://schemas.microsoft.com/office/drawing/2014/main" id="{55105B66-2900-4FF8-9111-BFF5773B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81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31" name="ev-row-3">
            <a:extLst xmlns:a="http://schemas.openxmlformats.org/drawingml/2006/main">
              <a:ext uri="{FF2B5EF4-FFF2-40B4-BE49-F238E27FC236}">
                <a16:creationId xmlns:a16="http://schemas.microsoft.com/office/drawing/2014/main" id="{2740BB6F-815D-4CE7-A7A4-047934B4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706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32" name="ev-3-0">
            <a:extLst xmlns:a="http://schemas.openxmlformats.org/drawingml/2006/main">
              <a:ext uri="{FF2B5EF4-FFF2-40B4-BE49-F238E27FC236}">
                <a16:creationId xmlns:a16="http://schemas.microsoft.com/office/drawing/2014/main" id="{B41E92DA-37F1-43B9-A02C-866874AA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TP53</a:t>
            </a:r>
          </a:p>
        </p:txBody>
      </p:sp>
      <p:sp>
        <p:nvSpPr>
          <p:cNvPr id="33" name="ev-3-1">
            <a:extLst xmlns:a="http://schemas.openxmlformats.org/drawingml/2006/main">
              <a:ext uri="{FF2B5EF4-FFF2-40B4-BE49-F238E27FC236}">
                <a16:creationId xmlns:a16="http://schemas.microsoft.com/office/drawing/2014/main" id="{CB03A747-3008-43E6-B273-EF784A2D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909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targeted therapy</a:t>
            </a:r>
          </a:p>
        </p:txBody>
      </p:sp>
      <p:sp>
        <p:nvSpPr>
          <p:cNvPr id="34" name="ev-3-2">
            <a:extLst xmlns:a="http://schemas.openxmlformats.org/drawingml/2006/main">
              <a:ext uri="{FF2B5EF4-FFF2-40B4-BE49-F238E27FC236}">
                <a16:creationId xmlns:a16="http://schemas.microsoft.com/office/drawing/2014/main" id="{852071B2-F85B-49C5-B171-E302FB01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909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6A8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35" name="ev-3-3">
            <a:extLst xmlns:a="http://schemas.openxmlformats.org/drawingml/2006/main">
              <a:ext uri="{FF2B5EF4-FFF2-40B4-BE49-F238E27FC236}">
                <a16:creationId xmlns:a16="http://schemas.microsoft.com/office/drawing/2014/main" id="{A694FBFD-FA7B-4572-993A-6182D14A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909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UNKNOWN</a:t>
            </a:r>
          </a:p>
        </p:txBody>
      </p:sp>
      <p:sp>
        <p:nvSpPr>
          <p:cNvPr id="36" name="ev-3-4">
            <a:extLst xmlns:a="http://schemas.openxmlformats.org/drawingml/2006/main">
              <a:ext uri="{FF2B5EF4-FFF2-40B4-BE49-F238E27FC236}">
                <a16:creationId xmlns:a16="http://schemas.microsoft.com/office/drawing/2014/main" id="{59E0E74B-591B-4AAE-B2CE-9B7F9733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9097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model_inference</a:t>
            </a:r>
          </a:p>
        </p:txBody>
      </p:sp>
      <p:sp>
        <p:nvSpPr>
          <p:cNvPr id="37" name="ev-3-5">
            <a:extLst xmlns:a="http://schemas.openxmlformats.org/drawingml/2006/main">
              <a:ext uri="{FF2B5EF4-FFF2-40B4-BE49-F238E27FC236}">
                <a16:creationId xmlns:a16="http://schemas.microsoft.com/office/drawing/2014/main" id="{0FDCC741-5138-4218-A87F-D300787E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90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needs_source</a:t>
            </a:r>
          </a:p>
        </p:txBody>
      </p:sp>
      <p:sp>
        <p:nvSpPr>
          <p:cNvPr id="38" name="bottom">
            <a:extLst xmlns:a="http://schemas.openxmlformats.org/drawingml/2006/main">
              <a:ext uri="{FF2B5EF4-FFF2-40B4-BE49-F238E27FC236}">
                <a16:creationId xmlns:a16="http://schemas.microsoft.com/office/drawing/2014/main" id="{ECA58738-6882-4FD7-A300-E780F1BB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0065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TP53 那列不是錯誤要刪掉，而是要明確標成 model inference。</a:t>
            </a:r>
          </a:p>
        </p:txBody>
      </p:sp>
    </p:spTree>
    <p:extLst>
      <p:ext uri="{BB962C8B-B14F-4D97-AF65-F5344CB8AC3E}">
        <p14:creationId xmlns:p14="http://schemas.microsoft.com/office/powerpoint/2010/main" val="1170387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667D59B-A6F9-4273-AF26-97BC022A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FIELDS THAT MATTER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7AE10F-730B-4E84-AFF4-E68F308D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PMID、研究類型、樣本數是 evidence table 的最小查證欄位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B480AA0-C2E5-4A7A-A803-27C9B049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13/22</a:t>
            </a:r>
          </a:p>
        </p:txBody>
      </p:sp>
      <p:sp>
        <p:nvSpPr>
          <p:cNvPr id="4" name="check-head-0">
            <a:extLst xmlns:a="http://schemas.openxmlformats.org/drawingml/2006/main">
              <a:ext uri="{FF2B5EF4-FFF2-40B4-BE49-F238E27FC236}">
                <a16:creationId xmlns:a16="http://schemas.microsoft.com/office/drawing/2014/main" id="{EF5E3A48-7D4D-4134-BDCC-A4EDF346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76400"/>
            <a:ext cx="2000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PMID / DOI</a:t>
            </a:r>
          </a:p>
        </p:txBody>
      </p:sp>
      <p:sp>
        <p:nvSpPr>
          <p:cNvPr id="5" name="check-copy-0">
            <a:extLst xmlns:a="http://schemas.openxmlformats.org/drawingml/2006/main">
              <a:ext uri="{FF2B5EF4-FFF2-40B4-BE49-F238E27FC236}">
                <a16:creationId xmlns:a16="http://schemas.microsoft.com/office/drawing/2014/main" id="{6A7B4C8E-554A-4401-909D-1FF8E619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7165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來源真的存在，且可回查</a:t>
            </a:r>
          </a:p>
        </p:txBody>
      </p:sp>
      <p:sp>
        <p:nvSpPr>
          <p:cNvPr id="6" name="check-head-1">
            <a:extLst xmlns:a="http://schemas.openxmlformats.org/drawingml/2006/main">
              <a:ext uri="{FF2B5EF4-FFF2-40B4-BE49-F238E27FC236}">
                <a16:creationId xmlns:a16="http://schemas.microsoft.com/office/drawing/2014/main" id="{CB598E64-A5E8-4D9E-B36F-486F31DE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0300"/>
            <a:ext cx="2000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study_type</a:t>
            </a:r>
          </a:p>
        </p:txBody>
      </p:sp>
      <p:sp>
        <p:nvSpPr>
          <p:cNvPr id="7" name="check-copy-1">
            <a:extLst xmlns:a="http://schemas.openxmlformats.org/drawingml/2006/main">
              <a:ext uri="{FF2B5EF4-FFF2-40B4-BE49-F238E27FC236}">
                <a16:creationId xmlns:a16="http://schemas.microsoft.com/office/drawing/2014/main" id="{861FB871-A910-48C1-B679-D5FE8930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9555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clinical trial、cohort、molecular profiling 不可混用</a:t>
            </a:r>
          </a:p>
        </p:txBody>
      </p:sp>
      <p:sp>
        <p:nvSpPr>
          <p:cNvPr id="8" name="check-head-2">
            <a:extLst xmlns:a="http://schemas.openxmlformats.org/drawingml/2006/main">
              <a:ext uri="{FF2B5EF4-FFF2-40B4-BE49-F238E27FC236}">
                <a16:creationId xmlns:a16="http://schemas.microsoft.com/office/drawing/2014/main" id="{B0C9866F-59D1-4257-94F4-64CE883C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2000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sample_n</a:t>
            </a:r>
          </a:p>
        </p:txBody>
      </p:sp>
      <p:sp>
        <p:nvSpPr>
          <p:cNvPr id="9" name="check-copy-2">
            <a:extLst xmlns:a="http://schemas.openxmlformats.org/drawingml/2006/main">
              <a:ext uri="{FF2B5EF4-FFF2-40B4-BE49-F238E27FC236}">
                <a16:creationId xmlns:a16="http://schemas.microsoft.com/office/drawing/2014/main" id="{0A990AFF-9FBC-4967-ACAB-5E621DA3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1945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只能從 source text 取得，不能由 agent 猜</a:t>
            </a:r>
          </a:p>
        </p:txBody>
      </p:sp>
      <p:sp>
        <p:nvSpPr>
          <p:cNvPr id="10" name="check-head-3">
            <a:extLst xmlns:a="http://schemas.openxmlformats.org/drawingml/2006/main">
              <a:ext uri="{FF2B5EF4-FFF2-40B4-BE49-F238E27FC236}">
                <a16:creationId xmlns:a16="http://schemas.microsoft.com/office/drawing/2014/main" id="{34F6E146-8397-4DE4-93B6-A94A6BA1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2000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disease / gene / drug</a:t>
            </a:r>
          </a:p>
        </p:txBody>
      </p:sp>
      <p:sp>
        <p:nvSpPr>
          <p:cNvPr id="11" name="check-copy-3">
            <a:extLst xmlns:a="http://schemas.openxmlformats.org/drawingml/2006/main">
              <a:ext uri="{FF2B5EF4-FFF2-40B4-BE49-F238E27FC236}">
                <a16:creationId xmlns:a16="http://schemas.microsoft.com/office/drawing/2014/main" id="{BA52E423-66E9-4DB3-B7F7-4A4A5E93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不要把背景關係改寫成治療證據</a:t>
            </a:r>
          </a:p>
        </p:txBody>
      </p:sp>
      <p:sp>
        <p:nvSpPr>
          <p:cNvPr id="12" name="check-head-4">
            <a:extLst xmlns:a="http://schemas.openxmlformats.org/drawingml/2006/main">
              <a:ext uri="{FF2B5EF4-FFF2-40B4-BE49-F238E27FC236}">
                <a16:creationId xmlns:a16="http://schemas.microsoft.com/office/drawing/2014/main" id="{FF44692E-4937-48D2-A032-B9E44112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2000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13" name="check-copy-4">
            <a:extLst xmlns:a="http://schemas.openxmlformats.org/drawingml/2006/main">
              <a:ext uri="{FF2B5EF4-FFF2-40B4-BE49-F238E27FC236}">
                <a16:creationId xmlns:a16="http://schemas.microsoft.com/office/drawing/2014/main" id="{4EBA0832-8D77-4EFF-9DDF-6C1365E9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67250"/>
            <a:ext cx="695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只能寫來源支持的 narrow claim</a:t>
            </a:r>
          </a:p>
        </p:txBody>
      </p:sp>
    </p:spTree>
    <p:extLst>
      <p:ext uri="{BB962C8B-B14F-4D97-AF65-F5344CB8AC3E}">
        <p14:creationId xmlns:p14="http://schemas.microsoft.com/office/powerpoint/2010/main" val="20852043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4B76BA0-E763-4440-8A18-8586B915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EVIDENCE VS INFERENCE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4D3A70-0141-4077-AF94-9B124A94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模型推測可以保留，但不能偽裝成文獻證據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1717D4CE-7538-4973-8562-0F77D942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14/22</a:t>
            </a:r>
          </a:p>
        </p:txBody>
      </p:sp>
      <p:sp>
        <p:nvSpPr>
          <p:cNvPr id="4" name="col-0">
            <a:extLst xmlns:a="http://schemas.openxmlformats.org/drawingml/2006/main">
              <a:ext uri="{FF2B5EF4-FFF2-40B4-BE49-F238E27FC236}">
                <a16:creationId xmlns:a16="http://schemas.microsoft.com/office/drawing/2014/main" id="{9EA50F4B-4BB0-4D86-AB0B-1CFCEE2F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38350"/>
            <a:ext cx="405765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5" name="col-head-0">
            <a:extLst xmlns:a="http://schemas.openxmlformats.org/drawingml/2006/main">
              <a:ext uri="{FF2B5EF4-FFF2-40B4-BE49-F238E27FC236}">
                <a16:creationId xmlns:a16="http://schemas.microsoft.com/office/drawing/2014/main" id="{9C6A8D3A-C51B-42FC-80DC-8B203C56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19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文獻證據</a:t>
            </a:r>
          </a:p>
        </p:txBody>
      </p:sp>
      <p:sp>
        <p:nvSpPr>
          <p:cNvPr id="6" name="col-bullets-0">
            <a:extLst xmlns:a="http://schemas.openxmlformats.org/drawingml/2006/main">
              <a:ext uri="{FF2B5EF4-FFF2-40B4-BE49-F238E27FC236}">
                <a16:creationId xmlns:a16="http://schemas.microsoft.com/office/drawing/2014/main" id="{D5EBF9E7-F6AE-4671-9D10-9FA5170B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2575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有 PMID / DOI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支持 exact claim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study type 與 sample_n 可查</a:t>
            </a:r>
          </a:p>
        </p:txBody>
      </p:sp>
      <p:sp>
        <p:nvSpPr>
          <p:cNvPr id="7" name="col-1">
            <a:extLst xmlns:a="http://schemas.openxmlformats.org/drawingml/2006/main">
              <a:ext uri="{FF2B5EF4-FFF2-40B4-BE49-F238E27FC236}">
                <a16:creationId xmlns:a16="http://schemas.microsoft.com/office/drawing/2014/main" id="{22315A4A-7FB8-458A-84D9-EB6267B9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8350"/>
            <a:ext cx="405765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8" name="col-head-1">
            <a:extLst xmlns:a="http://schemas.openxmlformats.org/drawingml/2006/main">
              <a:ext uri="{FF2B5EF4-FFF2-40B4-BE49-F238E27FC236}">
                <a16:creationId xmlns:a16="http://schemas.microsoft.com/office/drawing/2014/main" id="{277DAB0A-57D7-4D0F-8E14-FBF58C6D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193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模型推測</a:t>
            </a:r>
          </a:p>
        </p:txBody>
      </p:sp>
      <p:sp>
        <p:nvSpPr>
          <p:cNvPr id="9" name="col-bullets-1">
            <a:extLst xmlns:a="http://schemas.openxmlformats.org/drawingml/2006/main">
              <a:ext uri="{FF2B5EF4-FFF2-40B4-BE49-F238E27FC236}">
                <a16:creationId xmlns:a16="http://schemas.microsoft.com/office/drawing/2014/main" id="{DF7AFB92-74E8-402D-91EA-B28CE411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2705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沒有可查來源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只是生物學上合理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8"/>
              </a:spcAft>
              <a:buNone/>
              <a:def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65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只能標 needs_source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0664841-8940-4062-90CD-3F531363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864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這是 biomedical agent 的安全底線。</a:t>
            </a:r>
          </a:p>
        </p:txBody>
      </p:sp>
    </p:spTree>
    <p:extLst>
      <p:ext uri="{BB962C8B-B14F-4D97-AF65-F5344CB8AC3E}">
        <p14:creationId xmlns:p14="http://schemas.microsoft.com/office/powerpoint/2010/main" val="6102194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42A9CCA-0271-46A5-B75E-C906D54F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PROMPT 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98128D-604F-4DF8-9E53-2115DF2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要求 agent 自己標出哪些列不是文獻證據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7FEA6F0-01C3-4D47-984F-E924FBBD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15/22</a:t>
            </a:r>
          </a:p>
        </p:txBody>
      </p:sp>
      <p:sp>
        <p:nvSpPr>
          <p:cNvPr id="4" name="prompt3-bg">
            <a:extLst xmlns:a="http://schemas.openxmlformats.org/drawingml/2006/main">
              <a:ext uri="{FF2B5EF4-FFF2-40B4-BE49-F238E27FC236}">
                <a16:creationId xmlns:a16="http://schemas.microsoft.com/office/drawing/2014/main" id="{62613029-ABB1-431F-89BC-292D6B27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3A4650"/>
            </a:solidFill>
            <a:prstDash val="solid"/>
          </a:ln>
        </p:spPr>
      </p:sp>
      <p:sp>
        <p:nvSpPr>
          <p:cNvPr id="5" name="prompt3">
            <a:extLst xmlns:a="http://schemas.openxmlformats.org/drawingml/2006/main">
              <a:ext uri="{FF2B5EF4-FFF2-40B4-BE49-F238E27FC236}">
                <a16:creationId xmlns:a16="http://schemas.microsoft.com/office/drawing/2014/main" id="{EA657596-7DE8-4E8F-A2BD-33817FEB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81200"/>
            <a:ext cx="97536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Review this evidence table row by 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For each row, answer: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1. Does the PMID or DOI exist?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2. Does the source support the exact claim?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3. Is sample_n copied from the source or inferred?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4. Is this literature_evidence, molecular_context,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   model_inference, conflicting, or not_found?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5. What must a human reviewer check before accepting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EEF3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EF3F4"/>
                </a:solidFill>
                <a:latin typeface="Menlo"/>
                <a:ea typeface="Menlo"/>
                <a:cs typeface="Menlo"/>
              </a:rPr>
              <a:t>Output a corrected table plus a short review note.</a:t>
            </a:r>
          </a:p>
        </p:txBody>
      </p:sp>
    </p:spTree>
    <p:extLst>
      <p:ext uri="{BB962C8B-B14F-4D97-AF65-F5344CB8AC3E}">
        <p14:creationId xmlns:p14="http://schemas.microsoft.com/office/powerpoint/2010/main" val="16210453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68B43E6-295C-47B3-909C-1924BAC2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BAD ROW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8FB3F6-8A10-483F-8EA6-048E47EF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TP53 這種合理推測要被抓出來，不是自動補成證據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713ECB1D-B6C0-405E-910B-FD92605B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16/22</a:t>
            </a:r>
          </a:p>
        </p:txBody>
      </p:sp>
      <p:sp>
        <p:nvSpPr>
          <p:cNvPr id="4" name="bad">
            <a:extLst xmlns:a="http://schemas.openxmlformats.org/drawingml/2006/main">
              <a:ext uri="{FF2B5EF4-FFF2-40B4-BE49-F238E27FC236}">
                <a16:creationId xmlns:a16="http://schemas.microsoft.com/office/drawing/2014/main" id="{4F95DB4E-1CD6-43E0-B248-7089D44F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101346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5" name="bad-row">
            <a:extLst xmlns:a="http://schemas.openxmlformats.org/drawingml/2006/main">
              <a:ext uri="{FF2B5EF4-FFF2-40B4-BE49-F238E27FC236}">
                <a16:creationId xmlns:a16="http://schemas.microsoft.com/office/drawing/2014/main" id="{C840D8EA-0DB6-4A2A-B5BA-56D419DD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479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TP53 | NSCLC | osimertinib or ALK inhibitor | TP53 mutation predicts worse response | PMID: NA | evidence_kind: model_inference</a:t>
            </a:r>
          </a:p>
        </p:txBody>
      </p:sp>
      <p:sp>
        <p:nvSpPr>
          <p:cNvPr id="6" name="fix-0">
            <a:extLst xmlns:a="http://schemas.openxmlformats.org/drawingml/2006/main">
              <a:ext uri="{FF2B5EF4-FFF2-40B4-BE49-F238E27FC236}">
                <a16:creationId xmlns:a16="http://schemas.microsoft.com/office/drawing/2014/main" id="{34283621-592F-4A24-9BDE-E38F11E8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38600"/>
            <a:ext cx="2762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7" name="fix-head-0">
            <a:extLst xmlns:a="http://schemas.openxmlformats.org/drawingml/2006/main">
              <a:ext uri="{FF2B5EF4-FFF2-40B4-BE49-F238E27FC236}">
                <a16:creationId xmlns:a16="http://schemas.microsoft.com/office/drawing/2014/main" id="{2FA2CBE6-CB8E-45B1-BDEE-AA8B67FE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不要做</a:t>
            </a:r>
          </a:p>
        </p:txBody>
      </p:sp>
      <p:sp>
        <p:nvSpPr>
          <p:cNvPr id="8" name="fix-copy-0">
            <a:extLst xmlns:a="http://schemas.openxmlformats.org/drawingml/2006/main">
              <a:ext uri="{FF2B5EF4-FFF2-40B4-BE49-F238E27FC236}">
                <a16:creationId xmlns:a16="http://schemas.microsoft.com/office/drawing/2014/main" id="{616FBC2C-6DCC-4FD6-ACE1-A2E54486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29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把它改寫成 clinical conclusion</a:t>
            </a:r>
          </a:p>
        </p:txBody>
      </p:sp>
      <p:sp>
        <p:nvSpPr>
          <p:cNvPr id="9" name="fix-1">
            <a:extLst xmlns:a="http://schemas.openxmlformats.org/drawingml/2006/main">
              <a:ext uri="{FF2B5EF4-FFF2-40B4-BE49-F238E27FC236}">
                <a16:creationId xmlns:a16="http://schemas.microsoft.com/office/drawing/2014/main" id="{B4F54485-18A2-4B0A-9FB3-048A1DF8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38600"/>
            <a:ext cx="2762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10" name="fix-head-1">
            <a:extLst xmlns:a="http://schemas.openxmlformats.org/drawingml/2006/main">
              <a:ext uri="{FF2B5EF4-FFF2-40B4-BE49-F238E27FC236}">
                <a16:creationId xmlns:a16="http://schemas.microsoft.com/office/drawing/2014/main" id="{9E099810-FD51-43CC-A415-2C478708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67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要做</a:t>
            </a:r>
          </a:p>
        </p:txBody>
      </p:sp>
      <p:sp>
        <p:nvSpPr>
          <p:cNvPr id="11" name="fix-copy-1">
            <a:extLst xmlns:a="http://schemas.openxmlformats.org/drawingml/2006/main">
              <a:ext uri="{FF2B5EF4-FFF2-40B4-BE49-F238E27FC236}">
                <a16:creationId xmlns:a16="http://schemas.microsoft.com/office/drawing/2014/main" id="{60BCFEEE-86BD-4C9B-9D2A-2236570D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29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標記 needs_source 並產生下一個 search task</a:t>
            </a:r>
          </a:p>
        </p:txBody>
      </p:sp>
      <p:sp>
        <p:nvSpPr>
          <p:cNvPr id="12" name="fix-2">
            <a:extLst xmlns:a="http://schemas.openxmlformats.org/drawingml/2006/main">
              <a:ext uri="{FF2B5EF4-FFF2-40B4-BE49-F238E27FC236}">
                <a16:creationId xmlns:a16="http://schemas.microsoft.com/office/drawing/2014/main" id="{61395BEB-7681-46FA-89B1-1470A180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2762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3" name="fix-head-2">
            <a:extLst xmlns:a="http://schemas.openxmlformats.org/drawingml/2006/main">
              <a:ext uri="{FF2B5EF4-FFF2-40B4-BE49-F238E27FC236}">
                <a16:creationId xmlns:a16="http://schemas.microsoft.com/office/drawing/2014/main" id="{BEAF7E8B-12FA-478C-A2A9-574461BF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接受條件</a:t>
            </a:r>
          </a:p>
        </p:txBody>
      </p:sp>
      <p:sp>
        <p:nvSpPr>
          <p:cNvPr id="14" name="fix-copy-2">
            <a:extLst xmlns:a="http://schemas.openxmlformats.org/drawingml/2006/main">
              <a:ext uri="{FF2B5EF4-FFF2-40B4-BE49-F238E27FC236}">
                <a16:creationId xmlns:a16="http://schemas.microsoft.com/office/drawing/2014/main" id="{9F42B018-350E-4C68-85A3-666CE03B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找到 source 並確認 source 支持 exact claim</a:t>
            </a:r>
          </a:p>
        </p:txBody>
      </p:sp>
    </p:spTree>
    <p:extLst>
      <p:ext uri="{BB962C8B-B14F-4D97-AF65-F5344CB8AC3E}">
        <p14:creationId xmlns:p14="http://schemas.microsoft.com/office/powerpoint/2010/main" val="15419145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8EB1749-3E30-4D97-9334-22709679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CITATION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2AEF44-4F20-462C-9295-79A2CFC2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Citation check 是 workflow，不是最後才補的格式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FB4DF960-518C-4D2A-93E4-5667C81C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17/22</a:t>
            </a:r>
          </a:p>
        </p:txBody>
      </p:sp>
      <p:sp>
        <p:nvSpPr>
          <p:cNvPr id="4" name="check-step-0">
            <a:extLst xmlns:a="http://schemas.openxmlformats.org/drawingml/2006/main">
              <a:ext uri="{FF2B5EF4-FFF2-40B4-BE49-F238E27FC236}">
                <a16:creationId xmlns:a16="http://schemas.microsoft.com/office/drawing/2014/main" id="{5D69D4CD-6993-47BD-9A60-0CEA2FD2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Open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PMID / DOI page</a:t>
            </a:r>
          </a:p>
        </p:txBody>
      </p:sp>
      <p:sp>
        <p:nvSpPr>
          <p:cNvPr id="5" name="check-line-1">
            <a:extLst xmlns:a="http://schemas.openxmlformats.org/drawingml/2006/main">
              <a:ext uri="{FF2B5EF4-FFF2-40B4-BE49-F238E27FC236}">
                <a16:creationId xmlns:a16="http://schemas.microsoft.com/office/drawing/2014/main" id="{A7BEBD14-20E8-48B0-9FFF-5378CC4D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90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DADD"/>
            </a:solidFill>
            <a:prstDash val="solid"/>
          </a:ln>
        </p:spPr>
      </p:sp>
      <p:sp>
        <p:nvSpPr>
          <p:cNvPr id="6" name="check-step-1">
            <a:extLst xmlns:a="http://schemas.openxmlformats.org/drawingml/2006/main">
              <a:ext uri="{FF2B5EF4-FFF2-40B4-BE49-F238E27FC236}">
                <a16:creationId xmlns:a16="http://schemas.microsoft.com/office/drawing/2014/main" id="{4E8A595D-DEA8-4C07-ABE1-C7614564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14650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Match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title / year / journal</a:t>
            </a:r>
          </a:p>
        </p:txBody>
      </p:sp>
      <p:sp>
        <p:nvSpPr>
          <p:cNvPr id="7" name="check-line-2">
            <a:extLst xmlns:a="http://schemas.openxmlformats.org/drawingml/2006/main">
              <a:ext uri="{FF2B5EF4-FFF2-40B4-BE49-F238E27FC236}">
                <a16:creationId xmlns:a16="http://schemas.microsoft.com/office/drawing/2014/main" id="{81694569-53FA-49F5-9B2C-A5901B6E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90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DADD"/>
            </a:solidFill>
            <a:prstDash val="solid"/>
          </a:ln>
        </p:spPr>
      </p:sp>
      <p:sp>
        <p:nvSpPr>
          <p:cNvPr id="8" name="check-step-2">
            <a:extLst xmlns:a="http://schemas.openxmlformats.org/drawingml/2006/main">
              <a:ext uri="{FF2B5EF4-FFF2-40B4-BE49-F238E27FC236}">
                <a16:creationId xmlns:a16="http://schemas.microsoft.com/office/drawing/2014/main" id="{CEDAE1D1-6E38-416D-91A0-A35592EC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14650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Read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abstract method/results</a:t>
            </a:r>
          </a:p>
        </p:txBody>
      </p:sp>
      <p:sp>
        <p:nvSpPr>
          <p:cNvPr id="9" name="check-line-3">
            <a:extLst xmlns:a="http://schemas.openxmlformats.org/drawingml/2006/main">
              <a:ext uri="{FF2B5EF4-FFF2-40B4-BE49-F238E27FC236}">
                <a16:creationId xmlns:a16="http://schemas.microsoft.com/office/drawing/2014/main" id="{88AAA4A1-3E71-4318-A55F-57A1E754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DADD"/>
            </a:solidFill>
            <a:prstDash val="solid"/>
          </a:ln>
        </p:spPr>
      </p:sp>
      <p:sp>
        <p:nvSpPr>
          <p:cNvPr id="10" name="check-step-3">
            <a:extLst xmlns:a="http://schemas.openxmlformats.org/drawingml/2006/main">
              <a:ext uri="{FF2B5EF4-FFF2-40B4-BE49-F238E27FC236}">
                <a16:creationId xmlns:a16="http://schemas.microsoft.com/office/drawing/2014/main" id="{DCABE75F-2EB5-4F01-A40B-8537B8A9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14650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Compare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claim vs source</a:t>
            </a:r>
          </a:p>
        </p:txBody>
      </p:sp>
      <p:sp>
        <p:nvSpPr>
          <p:cNvPr id="11" name="check-line-4">
            <a:extLst xmlns:a="http://schemas.openxmlformats.org/drawingml/2006/main">
              <a:ext uri="{FF2B5EF4-FFF2-40B4-BE49-F238E27FC236}">
                <a16:creationId xmlns:a16="http://schemas.microsoft.com/office/drawing/2014/main" id="{3E1DB4F4-9980-42FD-919B-F9E30ED5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909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DADD"/>
            </a:solidFill>
            <a:prstDash val="solid"/>
          </a:ln>
        </p:spPr>
      </p:sp>
      <p:sp>
        <p:nvSpPr>
          <p:cNvPr id="12" name="check-step-4">
            <a:extLst xmlns:a="http://schemas.openxmlformats.org/drawingml/2006/main">
              <a:ext uri="{FF2B5EF4-FFF2-40B4-BE49-F238E27FC236}">
                <a16:creationId xmlns:a16="http://schemas.microsoft.com/office/drawing/2014/main" id="{1B5B5AEF-01AE-464D-8B71-504A8215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14650"/>
            <a:ext cx="1485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DEDE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Mark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supported / needs review</a:t>
            </a:r>
          </a:p>
        </p:txBody>
      </p:sp>
      <p:sp>
        <p:nvSpPr>
          <p:cNvPr id="13" name="bottom">
            <a:extLst xmlns:a="http://schemas.openxmlformats.org/drawingml/2006/main">
              <a:ext uri="{FF2B5EF4-FFF2-40B4-BE49-F238E27FC236}">
                <a16:creationId xmlns:a16="http://schemas.microsoft.com/office/drawing/2014/main" id="{CFE7C5AF-20C2-44C3-BAE2-2D1553DD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D89A1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D89A16"/>
                </a:solidFill>
                <a:latin typeface="PingFang TC"/>
                <a:ea typeface="PingFang TC"/>
                <a:cs typeface="PingFang TC"/>
              </a:rPr>
              <a:t>檢查失敗不是失敗；沒有標記檢查失敗才是失敗。</a:t>
            </a:r>
          </a:p>
        </p:txBody>
      </p:sp>
    </p:spTree>
    <p:extLst>
      <p:ext uri="{BB962C8B-B14F-4D97-AF65-F5344CB8AC3E}">
        <p14:creationId xmlns:p14="http://schemas.microsoft.com/office/powerpoint/2010/main" val="14936746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E62C451-AF68-43BB-8BE3-7E74FB5A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RESEARCH NOTE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9F7A02-E6FC-4B79-90B6-85C89E9B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Research note 把表格變成可交接的研究紀錄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AE57E07A-D1FE-480D-848B-A02144B2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18/22</a:t>
            </a:r>
          </a:p>
        </p:txBody>
      </p:sp>
      <p:sp>
        <p:nvSpPr>
          <p:cNvPr id="4" name="note-part-0">
            <a:extLst xmlns:a="http://schemas.openxmlformats.org/drawingml/2006/main">
              <a:ext uri="{FF2B5EF4-FFF2-40B4-BE49-F238E27FC236}">
                <a16:creationId xmlns:a16="http://schemas.microsoft.com/office/drawing/2014/main" id="{D4C69096-D465-4A4F-9668-DDBE1339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5" name="note-head-0">
            <a:extLst xmlns:a="http://schemas.openxmlformats.org/drawingml/2006/main">
              <a:ext uri="{FF2B5EF4-FFF2-40B4-BE49-F238E27FC236}">
                <a16:creationId xmlns:a16="http://schemas.microsoft.com/office/drawing/2014/main" id="{A0AA8643-77C1-453E-B499-E472CCFC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6" name="note-copy-0">
            <a:extLst xmlns:a="http://schemas.openxmlformats.org/drawingml/2006/main">
              <a:ext uri="{FF2B5EF4-FFF2-40B4-BE49-F238E27FC236}">
                <a16:creationId xmlns:a16="http://schemas.microsoft.com/office/drawing/2014/main" id="{FBAF9E12-10BC-4521-9A79-ECEA340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問題與範圍</a:t>
            </a:r>
          </a:p>
        </p:txBody>
      </p:sp>
      <p:sp>
        <p:nvSpPr>
          <p:cNvPr id="7" name="note-part-1">
            <a:extLst xmlns:a="http://schemas.openxmlformats.org/drawingml/2006/main">
              <a:ext uri="{FF2B5EF4-FFF2-40B4-BE49-F238E27FC236}">
                <a16:creationId xmlns:a16="http://schemas.microsoft.com/office/drawing/2014/main" id="{2E1C3D23-8A38-4B68-84C0-54B9225A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81200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8" name="note-head-1">
            <a:extLst xmlns:a="http://schemas.openxmlformats.org/drawingml/2006/main">
              <a:ext uri="{FF2B5EF4-FFF2-40B4-BE49-F238E27FC236}">
                <a16:creationId xmlns:a16="http://schemas.microsoft.com/office/drawing/2014/main" id="{570C49DE-919B-4883-BAA6-C30AB9FB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71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Search strategy</a:t>
            </a:r>
          </a:p>
        </p:txBody>
      </p:sp>
      <p:sp>
        <p:nvSpPr>
          <p:cNvPr id="9" name="note-copy-1">
            <a:extLst xmlns:a="http://schemas.openxmlformats.org/drawingml/2006/main">
              <a:ext uri="{FF2B5EF4-FFF2-40B4-BE49-F238E27FC236}">
                <a16:creationId xmlns:a16="http://schemas.microsoft.com/office/drawing/2014/main" id="{A264CDC5-67B4-47D6-8EB1-74AF19A1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query、日期、排除條件</a:t>
            </a:r>
          </a:p>
        </p:txBody>
      </p:sp>
      <p:sp>
        <p:nvSpPr>
          <p:cNvPr id="10" name="note-part-2">
            <a:extLst xmlns:a="http://schemas.openxmlformats.org/drawingml/2006/main">
              <a:ext uri="{FF2B5EF4-FFF2-40B4-BE49-F238E27FC236}">
                <a16:creationId xmlns:a16="http://schemas.microsoft.com/office/drawing/2014/main" id="{283422C0-E501-4A35-905F-CF896B68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1" name="note-head-2">
            <a:extLst xmlns:a="http://schemas.openxmlformats.org/drawingml/2006/main">
              <a:ext uri="{FF2B5EF4-FFF2-40B4-BE49-F238E27FC236}">
                <a16:creationId xmlns:a16="http://schemas.microsoft.com/office/drawing/2014/main" id="{56245512-6BE0-471D-8C30-CDFA1826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Evidence table</a:t>
            </a:r>
          </a:p>
        </p:txBody>
      </p:sp>
      <p:sp>
        <p:nvSpPr>
          <p:cNvPr id="12" name="note-copy-2">
            <a:extLst xmlns:a="http://schemas.openxmlformats.org/drawingml/2006/main">
              <a:ext uri="{FF2B5EF4-FFF2-40B4-BE49-F238E27FC236}">
                <a16:creationId xmlns:a16="http://schemas.microsoft.com/office/drawing/2014/main" id="{98317B02-2B03-423C-B477-D65DF36A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structured rows</a:t>
            </a:r>
          </a:p>
        </p:txBody>
      </p:sp>
      <p:sp>
        <p:nvSpPr>
          <p:cNvPr id="13" name="note-part-3">
            <a:extLst xmlns:a="http://schemas.openxmlformats.org/drawingml/2006/main">
              <a:ext uri="{FF2B5EF4-FFF2-40B4-BE49-F238E27FC236}">
                <a16:creationId xmlns:a16="http://schemas.microsoft.com/office/drawing/2014/main" id="{C44EAE92-44F4-4007-843E-D35EC00F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4" name="note-head-3">
            <a:extLst xmlns:a="http://schemas.openxmlformats.org/drawingml/2006/main">
              <a:ext uri="{FF2B5EF4-FFF2-40B4-BE49-F238E27FC236}">
                <a16:creationId xmlns:a16="http://schemas.microsoft.com/office/drawing/2014/main" id="{82EDE12B-FD39-4157-903E-C6F9F77B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Unresolved questions</a:t>
            </a:r>
          </a:p>
        </p:txBody>
      </p:sp>
      <p:sp>
        <p:nvSpPr>
          <p:cNvPr id="15" name="note-copy-3">
            <a:extLst xmlns:a="http://schemas.openxmlformats.org/drawingml/2006/main">
              <a:ext uri="{FF2B5EF4-FFF2-40B4-BE49-F238E27FC236}">
                <a16:creationId xmlns:a16="http://schemas.microsoft.com/office/drawing/2014/main" id="{8E7B0972-8D1C-4753-A041-44BC05FB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not_found / conflicting</a:t>
            </a:r>
          </a:p>
        </p:txBody>
      </p:sp>
      <p:sp>
        <p:nvSpPr>
          <p:cNvPr id="16" name="note-part-4">
            <a:extLst xmlns:a="http://schemas.openxmlformats.org/drawingml/2006/main">
              <a:ext uri="{FF2B5EF4-FFF2-40B4-BE49-F238E27FC236}">
                <a16:creationId xmlns:a16="http://schemas.microsoft.com/office/drawing/2014/main" id="{28624F32-2470-4FF5-B773-676F0C59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52800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17" name="note-head-4">
            <a:extLst xmlns:a="http://schemas.openxmlformats.org/drawingml/2006/main">
              <a:ext uri="{FF2B5EF4-FFF2-40B4-BE49-F238E27FC236}">
                <a16:creationId xmlns:a16="http://schemas.microsoft.com/office/drawing/2014/main" id="{6A3E3554-C179-4CA9-9492-B57AAE82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543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Human review notes</a:t>
            </a:r>
          </a:p>
        </p:txBody>
      </p:sp>
      <p:sp>
        <p:nvSpPr>
          <p:cNvPr id="18" name="note-copy-4">
            <a:extLst xmlns:a="http://schemas.openxmlformats.org/drawingml/2006/main">
              <a:ext uri="{FF2B5EF4-FFF2-40B4-BE49-F238E27FC236}">
                <a16:creationId xmlns:a16="http://schemas.microsoft.com/office/drawing/2014/main" id="{3CFDC269-FEA4-4525-924D-768CCAF2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8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哪些 row 被改過</a:t>
            </a:r>
          </a:p>
        </p:txBody>
      </p:sp>
      <p:sp>
        <p:nvSpPr>
          <p:cNvPr id="19" name="note-part-5">
            <a:extLst xmlns:a="http://schemas.openxmlformats.org/drawingml/2006/main">
              <a:ext uri="{FF2B5EF4-FFF2-40B4-BE49-F238E27FC236}">
                <a16:creationId xmlns:a16="http://schemas.microsoft.com/office/drawing/2014/main" id="{F674E91E-08F7-4D23-B818-130FAD80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52800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0" name="note-head-5">
            <a:extLst xmlns:a="http://schemas.openxmlformats.org/drawingml/2006/main">
              <a:ext uri="{FF2B5EF4-FFF2-40B4-BE49-F238E27FC236}">
                <a16:creationId xmlns:a16="http://schemas.microsoft.com/office/drawing/2014/main" id="{FFF077A2-47DD-458C-B796-78A9174C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Next actions</a:t>
            </a:r>
          </a:p>
        </p:txBody>
      </p:sp>
      <p:sp>
        <p:nvSpPr>
          <p:cNvPr id="21" name="note-copy-5">
            <a:extLst xmlns:a="http://schemas.openxmlformats.org/drawingml/2006/main">
              <a:ext uri="{FF2B5EF4-FFF2-40B4-BE49-F238E27FC236}">
                <a16:creationId xmlns:a16="http://schemas.microsoft.com/office/drawing/2014/main" id="{2DA937BA-471B-404C-B54B-8589189B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下一輪 search 或驗證</a:t>
            </a:r>
          </a:p>
        </p:txBody>
      </p:sp>
    </p:spTree>
    <p:extLst>
      <p:ext uri="{BB962C8B-B14F-4D97-AF65-F5344CB8AC3E}">
        <p14:creationId xmlns:p14="http://schemas.microsoft.com/office/powerpoint/2010/main" val="2055780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C3B3425-DD32-4B08-B59D-FB608CED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MCP / SKILLS PREVIEW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340542-9088-4456-9BC5-532BB7F6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今天只先知道會用哪些工具，細節留到明天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61EEC10E-3430-4056-8761-FC2C5EB1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19/22</a:t>
            </a:r>
          </a:p>
        </p:txBody>
      </p:sp>
      <p:sp>
        <p:nvSpPr>
          <p:cNvPr id="4" name="tool-0">
            <a:extLst xmlns:a="http://schemas.openxmlformats.org/drawingml/2006/main">
              <a:ext uri="{FF2B5EF4-FFF2-40B4-BE49-F238E27FC236}">
                <a16:creationId xmlns:a16="http://schemas.microsoft.com/office/drawing/2014/main" id="{B845EAEA-FD6D-4741-B486-9C5C98F2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954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PubMed skill</a:t>
            </a:r>
          </a:p>
        </p:txBody>
      </p:sp>
      <p:sp>
        <p:nvSpPr>
          <p:cNvPr id="5" name="tool-use-0">
            <a:extLst xmlns:a="http://schemas.openxmlformats.org/drawingml/2006/main">
              <a:ext uri="{FF2B5EF4-FFF2-40B4-BE49-F238E27FC236}">
                <a16:creationId xmlns:a16="http://schemas.microsoft.com/office/drawing/2014/main" id="{63646D69-C79E-4DCF-97A0-A644DB85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90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查 PMID、DOI、abstract metadata</a:t>
            </a:r>
          </a:p>
        </p:txBody>
      </p:sp>
      <p:sp>
        <p:nvSpPr>
          <p:cNvPr id="6" name="tool-1">
            <a:extLst xmlns:a="http://schemas.openxmlformats.org/drawingml/2006/main">
              <a:ext uri="{FF2B5EF4-FFF2-40B4-BE49-F238E27FC236}">
                <a16:creationId xmlns:a16="http://schemas.microsoft.com/office/drawing/2014/main" id="{24337876-3024-43FF-A841-AE8FA0C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812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7" name="tool-use-1">
            <a:extLst xmlns:a="http://schemas.openxmlformats.org/drawingml/2006/main">
              <a:ext uri="{FF2B5EF4-FFF2-40B4-BE49-F238E27FC236}">
                <a16:creationId xmlns:a16="http://schemas.microsoft.com/office/drawing/2014/main" id="{09DD7F8F-85F6-430F-A529-87363676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765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開來源頁面做人工確認</a:t>
            </a:r>
          </a:p>
        </p:txBody>
      </p:sp>
      <p:sp>
        <p:nvSpPr>
          <p:cNvPr id="8" name="tool-2">
            <a:extLst xmlns:a="http://schemas.openxmlformats.org/drawingml/2006/main">
              <a:ext uri="{FF2B5EF4-FFF2-40B4-BE49-F238E27FC236}">
                <a16:creationId xmlns:a16="http://schemas.microsoft.com/office/drawing/2014/main" id="{6176A981-A871-486A-8E0C-5F21C654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Spreadsheet / CSV</a:t>
            </a:r>
          </a:p>
        </p:txBody>
      </p:sp>
      <p:sp>
        <p:nvSpPr>
          <p:cNvPr id="9" name="tool-use-2">
            <a:extLst xmlns:a="http://schemas.openxmlformats.org/drawingml/2006/main">
              <a:ext uri="{FF2B5EF4-FFF2-40B4-BE49-F238E27FC236}">
                <a16:creationId xmlns:a16="http://schemas.microsoft.com/office/drawing/2014/main" id="{12AE9068-7ED3-471D-AB83-EB9CD5A7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623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保存 evidence table</a:t>
            </a:r>
          </a:p>
        </p:txBody>
      </p:sp>
      <p:sp>
        <p:nvSpPr>
          <p:cNvPr id="10" name="tool-3">
            <a:extLst xmlns:a="http://schemas.openxmlformats.org/drawingml/2006/main">
              <a:ext uri="{FF2B5EF4-FFF2-40B4-BE49-F238E27FC236}">
                <a16:creationId xmlns:a16="http://schemas.microsoft.com/office/drawing/2014/main" id="{C4E1792F-6D06-4767-B42F-56E8B419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Terminal / script</a:t>
            </a:r>
          </a:p>
        </p:txBody>
      </p:sp>
      <p:sp>
        <p:nvSpPr>
          <p:cNvPr id="11" name="tool-use-3">
            <a:extLst xmlns:a="http://schemas.openxmlformats.org/drawingml/2006/main">
              <a:ext uri="{FF2B5EF4-FFF2-40B4-BE49-F238E27FC236}">
                <a16:creationId xmlns:a16="http://schemas.microsoft.com/office/drawing/2014/main" id="{C27B9500-6D4F-43F0-8DD0-6C94EB1C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481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檢查欄位與格式</a:t>
            </a:r>
          </a:p>
        </p:txBody>
      </p:sp>
      <p:sp>
        <p:nvSpPr>
          <p:cNvPr id="12" name="tool-4">
            <a:extLst xmlns:a="http://schemas.openxmlformats.org/drawingml/2006/main">
              <a:ext uri="{FF2B5EF4-FFF2-40B4-BE49-F238E27FC236}">
                <a16:creationId xmlns:a16="http://schemas.microsoft.com/office/drawing/2014/main" id="{8FC152A3-DC90-43A9-ACFE-45A9E90D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2095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C6670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6670"/>
                </a:solidFill>
                <a:latin typeface="Aptos"/>
                <a:ea typeface="Aptos"/>
                <a:cs typeface="Aptos"/>
              </a:rPr>
              <a:t>Citation manager</a:t>
            </a:r>
          </a:p>
        </p:txBody>
      </p:sp>
      <p:sp>
        <p:nvSpPr>
          <p:cNvPr id="13" name="tool-use-4">
            <a:extLst xmlns:a="http://schemas.openxmlformats.org/drawingml/2006/main">
              <a:ext uri="{FF2B5EF4-FFF2-40B4-BE49-F238E27FC236}">
                <a16:creationId xmlns:a16="http://schemas.microsoft.com/office/drawing/2014/main" id="{9623AFCA-C0D3-4781-9397-E141BC7F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保存候選文獻</a:t>
            </a:r>
          </a:p>
        </p:txBody>
      </p:sp>
      <p:sp>
        <p:nvSpPr>
          <p:cNvPr id="14" name="bottom">
            <a:extLst xmlns:a="http://schemas.openxmlformats.org/drawingml/2006/main">
              <a:ext uri="{FF2B5EF4-FFF2-40B4-BE49-F238E27FC236}">
                <a16:creationId xmlns:a16="http://schemas.microsoft.com/office/drawing/2014/main" id="{085C6BB3-AFE3-451C-95F7-B56E37BB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245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工具越多，越要明確權限、輸入、輸出和 review gate。</a:t>
            </a:r>
          </a:p>
        </p:txBody>
      </p:sp>
    </p:spTree>
    <p:extLst>
      <p:ext uri="{BB962C8B-B14F-4D97-AF65-F5344CB8AC3E}">
        <p14:creationId xmlns:p14="http://schemas.microsoft.com/office/powerpoint/2010/main" val="12362913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5F59363-21A5-48CF-89BC-C1794E69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LIVE DEMO SCRIPT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98F60D-183B-44FD-A091-C229462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課堂示範照著四個 checkpoint 推進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E4AED5CB-E513-4758-BFC6-D1AD2E7E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20/22</a:t>
            </a:r>
          </a:p>
        </p:txBody>
      </p:sp>
      <p:sp>
        <p:nvSpPr>
          <p:cNvPr id="4" name="demo-step-0">
            <a:extLst xmlns:a="http://schemas.openxmlformats.org/drawingml/2006/main">
              <a:ext uri="{FF2B5EF4-FFF2-40B4-BE49-F238E27FC236}">
                <a16:creationId xmlns:a16="http://schemas.microsoft.com/office/drawing/2014/main" id="{00FD4ADD-FD71-4470-B347-62F07002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2057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5" name="demo-num-0">
            <a:extLst xmlns:a="http://schemas.openxmlformats.org/drawingml/2006/main">
              <a:ext uri="{FF2B5EF4-FFF2-40B4-BE49-F238E27FC236}">
                <a16:creationId xmlns:a16="http://schemas.microsoft.com/office/drawing/2014/main" id="{BE8961FA-A1B3-4D94-A32C-A10467FC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09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demo-head-0">
            <a:extLst xmlns:a="http://schemas.openxmlformats.org/drawingml/2006/main">
              <a:ext uri="{FF2B5EF4-FFF2-40B4-BE49-F238E27FC236}">
                <a16:creationId xmlns:a16="http://schemas.microsoft.com/office/drawing/2014/main" id="{C1B78B1F-C68E-4E2B-801C-9082579E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47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show task_spec</a:t>
            </a:r>
          </a:p>
        </p:txBody>
      </p:sp>
      <p:sp>
        <p:nvSpPr>
          <p:cNvPr id="7" name="demo-copy-0">
            <a:extLst xmlns:a="http://schemas.openxmlformats.org/drawingml/2006/main">
              <a:ext uri="{FF2B5EF4-FFF2-40B4-BE49-F238E27FC236}">
                <a16:creationId xmlns:a16="http://schemas.microsoft.com/office/drawing/2014/main" id="{B1374B2C-DE2E-408D-999A-9B714647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528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確認範圍與欄位</a:t>
            </a:r>
          </a:p>
        </p:txBody>
      </p:sp>
      <p:sp>
        <p:nvSpPr>
          <p:cNvPr id="8" name="demo-step-1">
            <a:extLst xmlns:a="http://schemas.openxmlformats.org/drawingml/2006/main">
              <a:ext uri="{FF2B5EF4-FFF2-40B4-BE49-F238E27FC236}">
                <a16:creationId xmlns:a16="http://schemas.microsoft.com/office/drawing/2014/main" id="{D7AE639B-698F-4E41-B101-BB5A9D7E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2057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9" name="demo-num-1">
            <a:extLst xmlns:a="http://schemas.openxmlformats.org/drawingml/2006/main">
              <a:ext uri="{FF2B5EF4-FFF2-40B4-BE49-F238E27FC236}">
                <a16:creationId xmlns:a16="http://schemas.microsoft.com/office/drawing/2014/main" id="{296964D6-2F01-4530-B549-28CC4776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9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demo-head-1">
            <a:extLst xmlns:a="http://schemas.openxmlformats.org/drawingml/2006/main">
              <a:ext uri="{FF2B5EF4-FFF2-40B4-BE49-F238E27FC236}">
                <a16:creationId xmlns:a16="http://schemas.microsoft.com/office/drawing/2014/main" id="{3AAA00AC-9D35-4C49-8DCB-4C827396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Prompt 1</a:t>
            </a:r>
          </a:p>
        </p:txBody>
      </p:sp>
      <p:sp>
        <p:nvSpPr>
          <p:cNvPr id="11" name="demo-copy-1">
            <a:extLst xmlns:a="http://schemas.openxmlformats.org/drawingml/2006/main">
              <a:ext uri="{FF2B5EF4-FFF2-40B4-BE49-F238E27FC236}">
                <a16:creationId xmlns:a16="http://schemas.microsoft.com/office/drawing/2014/main" id="{EF36956D-9019-4A29-ACFA-73889CD9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528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產生 search strategy</a:t>
            </a:r>
          </a:p>
        </p:txBody>
      </p:sp>
      <p:sp>
        <p:nvSpPr>
          <p:cNvPr id="12" name="demo-step-2">
            <a:extLst xmlns:a="http://schemas.openxmlformats.org/drawingml/2006/main">
              <a:ext uri="{FF2B5EF4-FFF2-40B4-BE49-F238E27FC236}">
                <a16:creationId xmlns:a16="http://schemas.microsoft.com/office/drawing/2014/main" id="{5E100FCA-99C4-4820-96F0-A78762DF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2057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</p:sp>
      <p:sp>
        <p:nvSpPr>
          <p:cNvPr id="13" name="demo-num-2">
            <a:extLst xmlns:a="http://schemas.openxmlformats.org/drawingml/2006/main">
              <a:ext uri="{FF2B5EF4-FFF2-40B4-BE49-F238E27FC236}">
                <a16:creationId xmlns:a16="http://schemas.microsoft.com/office/drawing/2014/main" id="{C8BD1472-3DC4-4E94-98FD-2243499C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09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demo-head-2">
            <a:extLst xmlns:a="http://schemas.openxmlformats.org/drawingml/2006/main">
              <a:ext uri="{FF2B5EF4-FFF2-40B4-BE49-F238E27FC236}">
                <a16:creationId xmlns:a16="http://schemas.microsoft.com/office/drawing/2014/main" id="{D1E69E9F-D450-477E-8706-2E64807F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47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open sources</a:t>
            </a:r>
          </a:p>
        </p:txBody>
      </p:sp>
      <p:sp>
        <p:nvSpPr>
          <p:cNvPr id="15" name="demo-copy-2">
            <a:extLst xmlns:a="http://schemas.openxmlformats.org/drawingml/2006/main">
              <a:ext uri="{FF2B5EF4-FFF2-40B4-BE49-F238E27FC236}">
                <a16:creationId xmlns:a16="http://schemas.microsoft.com/office/drawing/2014/main" id="{4BCB7171-0384-4BB8-9277-7AA1A86C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建立 source inventory</a:t>
            </a:r>
          </a:p>
        </p:txBody>
      </p:sp>
      <p:sp>
        <p:nvSpPr>
          <p:cNvPr id="16" name="demo-step-3">
            <a:extLst xmlns:a="http://schemas.openxmlformats.org/drawingml/2006/main">
              <a:ext uri="{FF2B5EF4-FFF2-40B4-BE49-F238E27FC236}">
                <a16:creationId xmlns:a16="http://schemas.microsoft.com/office/drawing/2014/main" id="{2CE724FA-D179-4331-AC15-37D3FC07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43150"/>
            <a:ext cx="2057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</p:sp>
      <p:sp>
        <p:nvSpPr>
          <p:cNvPr id="17" name="demo-num-3">
            <a:extLst xmlns:a="http://schemas.openxmlformats.org/drawingml/2006/main">
              <a:ext uri="{FF2B5EF4-FFF2-40B4-BE49-F238E27FC236}">
                <a16:creationId xmlns:a16="http://schemas.microsoft.com/office/drawing/2014/main" id="{FCD83B12-E005-44A4-ADA1-02283E64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demo-head-3">
            <a:extLst xmlns:a="http://schemas.openxmlformats.org/drawingml/2006/main">
              <a:ext uri="{FF2B5EF4-FFF2-40B4-BE49-F238E27FC236}">
                <a16:creationId xmlns:a16="http://schemas.microsoft.com/office/drawing/2014/main" id="{89B9380A-DB0B-4FA2-BB33-F2D77DD3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Prompt 2/3</a:t>
            </a:r>
          </a:p>
        </p:txBody>
      </p:sp>
      <p:sp>
        <p:nvSpPr>
          <p:cNvPr id="19" name="demo-copy-3">
            <a:extLst xmlns:a="http://schemas.openxmlformats.org/drawingml/2006/main">
              <a:ext uri="{FF2B5EF4-FFF2-40B4-BE49-F238E27FC236}">
                <a16:creationId xmlns:a16="http://schemas.microsoft.com/office/drawing/2014/main" id="{51F36636-1D82-4A40-98A1-517051BC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528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5C6670"/>
                </a:solidFill>
                <a:latin typeface="PingFang TC"/>
                <a:ea typeface="PingFang TC"/>
                <a:cs typeface="PingFang TC"/>
              </a:rPr>
              <a:t>建表並標推測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089B2BC1-581C-41F2-B4BB-487D03E7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006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C85A4A"/>
                </a:solidFill>
                <a:latin typeface="PingFang TC"/>
                <a:ea typeface="PingFang TC"/>
                <a:cs typeface="PingFang TC"/>
              </a:rPr>
              <a:t>示範中要故意留下 TP53 needs_source row，讓學生看到 agent 不是全知。</a:t>
            </a:r>
          </a:p>
        </p:txBody>
      </p:sp>
    </p:spTree>
    <p:extLst>
      <p:ext uri="{BB962C8B-B14F-4D97-AF65-F5344CB8AC3E}">
        <p14:creationId xmlns:p14="http://schemas.microsoft.com/office/powerpoint/2010/main" val="4814243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C8E12C0-B4B7-48B0-A682-F531A909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MINI EXERCISE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436ED0-FEB1-4C54-8D6D-0D7683CA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學生不需要重做 demo，只要檢查一列 evidence row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55DBC525-0410-4CCB-9586-7E65D747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Desktop agent literature workflow  |  21/22</a:t>
            </a:r>
          </a:p>
        </p:txBody>
      </p:sp>
      <p:sp>
        <p:nvSpPr>
          <p:cNvPr id="4" name="task">
            <a:extLst xmlns:a="http://schemas.openxmlformats.org/drawingml/2006/main">
              <a:ext uri="{FF2B5EF4-FFF2-40B4-BE49-F238E27FC236}">
                <a16:creationId xmlns:a16="http://schemas.microsoft.com/office/drawing/2014/main" id="{94FFB0C2-6C49-4331-A2B9-1F2C0E5D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971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</p:sp>
      <p:sp>
        <p:nvSpPr>
          <p:cNvPr id="5" name="task-text">
            <a:extLst xmlns:a="http://schemas.openxmlformats.org/drawingml/2006/main">
              <a:ext uri="{FF2B5EF4-FFF2-40B4-BE49-F238E27FC236}">
                <a16:creationId xmlns:a16="http://schemas.microsoft.com/office/drawing/2014/main" id="{3A41A1A7-3AF0-4F74-BC49-61D0FF5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0E8F88"/>
                </a:solidFill>
                <a:latin typeface="PingFang TC"/>
                <a:ea typeface="PingFang TC"/>
                <a:cs typeface="PingFang TC"/>
              </a:rPr>
              <a:t>請每組挑一列：判斷它是 literature evidence、molecular context，還是 model inference。</a:t>
            </a:r>
          </a:p>
        </p:txBody>
      </p:sp>
      <p:sp>
        <p:nvSpPr>
          <p:cNvPr id="6" name="questions">
            <a:extLst xmlns:a="http://schemas.openxmlformats.org/drawingml/2006/main">
              <a:ext uri="{FF2B5EF4-FFF2-40B4-BE49-F238E27FC236}">
                <a16:creationId xmlns:a16="http://schemas.microsoft.com/office/drawing/2014/main" id="{85BBD1B0-A7C8-4929-9748-B1B053E1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76650"/>
            <a:ext cx="657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PMID / DOI 是否存在？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source 是否支持 exact claim？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sample_n 是否照來源填？</a:t>
            </a:r>
          </a:p>
          <a:p xmlns:a="http://schemas.openxmlformats.org/drawingml/2006/main">
            <a:pPr marL="24" indent="-12">
              <a:lnSpc>
                <a:spcPct val="108000"/>
              </a:lnSpc>
              <a:spcAft>
                <a:spcPts val="10"/>
              </a:spcAft>
              <a:buNone/>
              <a:def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defRPr>
            </a:pPr>
            <a:r>
              <a:rPr sz="1800">
                <a:solidFill>
                  <a:srgbClr val="17202A"/>
                </a:solidFill>
                <a:latin typeface="PingFang TC"/>
                <a:ea typeface="PingFang TC"/>
                <a:cs typeface="PingFang TC"/>
              </a:rPr>
              <a:t>需要 human review 的原因是什麼？</a:t>
            </a:r>
          </a:p>
        </p:txBody>
      </p:sp>
    </p:spTree>
    <p:extLst>
      <p:ext uri="{BB962C8B-B14F-4D97-AF65-F5344CB8AC3E}">
        <p14:creationId xmlns:p14="http://schemas.microsoft.com/office/powerpoint/2010/main" val="10008808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20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9D5F67E-C88D-4889-B5A9-88EB1A18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382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Next: build and validate your own table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81EC92-943B-4578-AC1B-60C3BCEF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明天會把 PubMed / browser / CSV / validation script 接進 hands-on workflow</a:t>
            </a:r>
          </a:p>
        </p:txBody>
      </p:sp>
      <p:sp>
        <p:nvSpPr>
          <p:cNvPr id="3" name="next-Spec">
            <a:extLst xmlns:a="http://schemas.openxmlformats.org/drawingml/2006/main">
              <a:ext uri="{FF2B5EF4-FFF2-40B4-BE49-F238E27FC236}">
                <a16:creationId xmlns:a16="http://schemas.microsoft.com/office/drawing/2014/main" id="{6798DE15-B1F6-41B4-A67C-AF0AD76C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3446A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3446A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446A8"/>
                </a:solidFill>
                <a:latin typeface="Aptos"/>
                <a:ea typeface="Aptos"/>
                <a:cs typeface="Aptos"/>
              </a:rPr>
              <a:t>Spec</a:t>
            </a:r>
          </a:p>
        </p:txBody>
      </p:sp>
      <p:sp>
        <p:nvSpPr>
          <p:cNvPr id="4" name="next-line-1">
            <a:extLst xmlns:a="http://schemas.openxmlformats.org/drawingml/2006/main">
              <a:ext uri="{FF2B5EF4-FFF2-40B4-BE49-F238E27FC236}">
                <a16:creationId xmlns:a16="http://schemas.microsoft.com/office/drawing/2014/main" id="{B934A94A-1E20-4C08-BB26-DD578AF5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171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2616D"/>
            </a:solidFill>
            <a:prstDash val="solid"/>
          </a:ln>
        </p:spPr>
      </p:sp>
      <p:sp>
        <p:nvSpPr>
          <p:cNvPr id="5" name="next-Sources">
            <a:extLst xmlns:a="http://schemas.openxmlformats.org/drawingml/2006/main">
              <a:ext uri="{FF2B5EF4-FFF2-40B4-BE49-F238E27FC236}">
                <a16:creationId xmlns:a16="http://schemas.microsoft.com/office/drawing/2014/main" id="{0FEE7F40-92E9-432D-96D1-F1CCAA0E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05250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0E8F88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0E8F8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8F88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6" name="next-line-2">
            <a:extLst xmlns:a="http://schemas.openxmlformats.org/drawingml/2006/main">
              <a:ext uri="{FF2B5EF4-FFF2-40B4-BE49-F238E27FC236}">
                <a16:creationId xmlns:a16="http://schemas.microsoft.com/office/drawing/2014/main" id="{0EB058F8-6270-4B2E-843C-40EAA5DA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71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2616D"/>
            </a:solidFill>
            <a:prstDash val="solid"/>
          </a:ln>
        </p:spPr>
      </p:sp>
      <p:sp>
        <p:nvSpPr>
          <p:cNvPr id="7" name="next-Table">
            <a:extLst xmlns:a="http://schemas.openxmlformats.org/drawingml/2006/main">
              <a:ext uri="{FF2B5EF4-FFF2-40B4-BE49-F238E27FC236}">
                <a16:creationId xmlns:a16="http://schemas.microsoft.com/office/drawing/2014/main" id="{8DDB5C69-4E57-4D4B-88AF-B17F9BE6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D89A16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D89A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89A16"/>
                </a:solidFill>
                <a:latin typeface="Aptos"/>
                <a:ea typeface="Aptos"/>
                <a:cs typeface="Aptos"/>
              </a:rPr>
              <a:t>Table</a:t>
            </a:r>
          </a:p>
        </p:txBody>
      </p:sp>
      <p:sp>
        <p:nvSpPr>
          <p:cNvPr id="8" name="next-line-3">
            <a:extLst xmlns:a="http://schemas.openxmlformats.org/drawingml/2006/main">
              <a:ext uri="{FF2B5EF4-FFF2-40B4-BE49-F238E27FC236}">
                <a16:creationId xmlns:a16="http://schemas.microsoft.com/office/drawing/2014/main" id="{3A7A0E17-83AC-4947-A617-BD1DC6FA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719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2616D"/>
            </a:solidFill>
            <a:prstDash val="solid"/>
          </a:ln>
        </p:spPr>
      </p:sp>
      <p:sp>
        <p:nvSpPr>
          <p:cNvPr id="9" name="next-Review">
            <a:extLst xmlns:a="http://schemas.openxmlformats.org/drawingml/2006/main">
              <a:ext uri="{FF2B5EF4-FFF2-40B4-BE49-F238E27FC236}">
                <a16:creationId xmlns:a16="http://schemas.microsoft.com/office/drawing/2014/main" id="{1D7A2B5A-AB1D-46BF-B322-F8E64376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05250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C85A4A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C85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5A4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0" name="wrap">
            <a:extLst xmlns:a="http://schemas.openxmlformats.org/drawingml/2006/main">
              <a:ext uri="{FF2B5EF4-FFF2-40B4-BE49-F238E27FC236}">
                <a16:creationId xmlns:a16="http://schemas.microsoft.com/office/drawing/2014/main" id="{17546CED-76DE-45BA-A63C-211566E6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0">
                <a:solidFill>
                  <a:srgbClr val="DDE4E8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DDE4E8"/>
                </a:solidFill>
                <a:latin typeface="PingFang TC"/>
                <a:ea typeface="PingFang TC"/>
                <a:cs typeface="PingFang TC"/>
              </a:rPr>
              <a:t>Lesson 04 看完整示範；Lesson 05 開始自己做，並用檢查規則讓表格能被信任。</a:t>
            </a:r>
          </a:p>
        </p:txBody>
      </p:sp>
      <p:sp>
        <p:nvSpPr>
          <p:cNvPr id="11" name="footer-dark">
            <a:extLst xmlns:a="http://schemas.openxmlformats.org/drawingml/2006/main">
              <a:ext uri="{FF2B5EF4-FFF2-40B4-BE49-F238E27FC236}">
                <a16:creationId xmlns:a16="http://schemas.microsoft.com/office/drawing/2014/main" id="{6D4D0A8C-43E5-41C2-B8B0-374A5D7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B7C0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0C7"/>
                </a:solidFill>
                <a:latin typeface="Aptos"/>
                <a:ea typeface="Aptos"/>
                <a:cs typeface="Aptos"/>
              </a:rPr>
              <a:t>Desktop agent literature workflow  |  22/22</a:t>
            </a:r>
          </a:p>
        </p:txBody>
      </p:sp>
    </p:spTree>
    <p:extLst>
      <p:ext uri="{BB962C8B-B14F-4D97-AF65-F5344CB8AC3E}">
        <p14:creationId xmlns:p14="http://schemas.microsoft.com/office/powerpoint/2010/main" val="269724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2026-07-05T13:29:18.1870000Z</dcterms:created>
  <dcterms:modified xsi:type="dcterms:W3CDTF">2026-07-05T13:29:18.1870000Z</dcterms:modified>
</coreProperties>
</file>