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44"/>
  </p:notesMasterIdLst>
  <p:sldIdLst>
    <p:sldId id="336" r:id="rId2"/>
    <p:sldId id="342" r:id="rId3"/>
    <p:sldId id="338" r:id="rId4"/>
    <p:sldId id="293" r:id="rId5"/>
    <p:sldId id="341" r:id="rId6"/>
    <p:sldId id="294" r:id="rId7"/>
    <p:sldId id="295" r:id="rId8"/>
    <p:sldId id="296" r:id="rId9"/>
    <p:sldId id="297" r:id="rId10"/>
    <p:sldId id="298" r:id="rId11"/>
    <p:sldId id="256" r:id="rId12"/>
    <p:sldId id="287" r:id="rId13"/>
    <p:sldId id="283" r:id="rId14"/>
    <p:sldId id="286" r:id="rId15"/>
    <p:sldId id="323" r:id="rId16"/>
    <p:sldId id="299" r:id="rId17"/>
    <p:sldId id="300" r:id="rId18"/>
    <p:sldId id="301" r:id="rId19"/>
    <p:sldId id="339" r:id="rId20"/>
    <p:sldId id="302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11" r:id="rId29"/>
    <p:sldId id="312" r:id="rId30"/>
    <p:sldId id="313" r:id="rId31"/>
    <p:sldId id="314" r:id="rId32"/>
    <p:sldId id="315" r:id="rId33"/>
    <p:sldId id="316" r:id="rId34"/>
    <p:sldId id="317" r:id="rId35"/>
    <p:sldId id="340" r:id="rId36"/>
    <p:sldId id="318" r:id="rId37"/>
    <p:sldId id="330" r:id="rId38"/>
    <p:sldId id="331" r:id="rId39"/>
    <p:sldId id="332" r:id="rId40"/>
    <p:sldId id="333" r:id="rId41"/>
    <p:sldId id="334" r:id="rId42"/>
    <p:sldId id="335" r:id="rId43"/>
  </p:sldIdLst>
  <p:sldSz cx="12192000" cy="6858000"/>
  <p:notesSz cx="6858000" cy="9144000"/>
  <p:custDataLst>
    <p:tags r:id="rId45"/>
  </p:custData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93"/>
    <p:restoredTop sz="94734"/>
  </p:normalViewPr>
  <p:slideViewPr>
    <p:cSldViewPr snapToGrid="0">
      <p:cViewPr varScale="1">
        <p:scale>
          <a:sx n="148" d="100"/>
          <a:sy n="148" d="100"/>
        </p:scale>
        <p:origin x="19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開場先定調：本課不是 prompt 技巧課，而是 workflow engineering 課。AI agent 在 biomedical 場景中有價值，但也有風險；課程目標是讓學生學會把 AI 放進一個可以被驗證的研究流程裡。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把學生帶到實際研究工作流，而不是抽象談 AI。強調 biomedical 場景中錯誤成本高，所以 agent workflow 必須有 evidence、logs、tests、review points。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明確區分會問 AI 和會設計 agent workflow。這張投影片建立全課的工程標準：每個 agent 行為都要能被追蹤、限制、驗證。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用學習路線圖建立期待，但避免行政式課綱朗讀。三天是連續堆疊：先理解模型，再控制工具，再設計規格與迴圈，最後整合成專題。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讓學生理解課程會動手做，而且做的是工程化 workflow。也要預告後面的 loop engineering：agent 的核心能力不是一次成功，而是能在約束內反覆檢查與改進。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把終點講清楚。學生要知道 hackathon 不是做一個炫技 demo，而是交付一個有工程品質的研究流程。這也替後續 spec-driven development 和 harness engineering 鋪路。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開場先定義這不是比誰的 AI 回答最華麗，而是比誰能把一個小型 biomedical workflow 做得可驗證、可重跑、可說明限制。今天上午建立 scaffold，下午實作與驗證，最後展示。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這是展示格式。學生必須先展示 runnable or inspectable workflow，再展示 output；不能花四分鐘講背景，最後三十秒才提 validation。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先給學生總覽：Evidence + traceability 最高分，但其他項目也重要。這告訴學生不要只做漂亮 demo，要留下可檢查的 engineering evidence。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這張避免學生誤以為只有成功結果才可展示。請明講：誠實的 failure log 和限制說明可以得分；編造來源或誇大 output 才會失分。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這張是轉場頁。第一堂課完成後，學生應該已經理解本課主軸：AI agent 的價值不在單次回答，而在能被設計、檢查與重跑的 biomedical research workflow。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新版 Lesson 02 的重心是判斷與拆解。學生要知道 agent 不是比較會聊天的模型，而是能和工具、檔案、資料來源、驗證規則一起工作的研究流程。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這張吸收原 Lesson 01 的技術定位，但避開行政課程介紹。負責老師開場後，這張把學生拉到本課的核心：工具只是入口，workflow 才是學習目標。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這張承接原 Lesson 01 的最終產出。讓學生一開始知道，這堂課不是孤立概念，而是在建立後續 spec、harness、loop、hackathon 的共同語言。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補回課綱原本要談的工具使用場景比較，並加入 Gemini 與 Antigravity。不要把工具講成排名，而是讓學生能依任務選入口：搜尋、長文整理、長 context multimodal、repo 修改、IDE 即時輔助或 agentic IDE。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把工具比較接回 agent workflow。每種工具都要對應到 artifact 與檢查點，否則學生只會知道工具名稱，不會知道如何安全使用。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 EGFR、ALK、TP53 的 evidence table 做貫穿案例。這個任務有文獻、資料庫、表格、citation 和 review，足以展示 agent workflow，但範圍仍可控制。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學生常把 agent 想成一個產品名稱。這張把它拆成成熟度光譜，讓學生知道我們要學的是可檢查的 tool-using 與 workflow agent。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把原本 chatbot vs agent 的概念再拉到 artifact。研究工作不是要得到一段話，而是要得到可檢查、可重跑、可交接的產物。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這張保留原本元件圖，但更強調元件與邊界。模型只是其中一個節點，workflow 品質還取決於 context、tools、state 與 verification。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這張是本堂課的核心。Agent workflow 要能在工具輸出後觀察與驗證，必要時更新 state 或停止，而不是一直生成。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這張是新版的重要補強。學生要理解 agent workflow 的可追溯性來自 artifact，而不是來自模型宣稱自己做了什麼。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這是學生最需要的判斷框架。不要從工具出發，而是先看任務是否有清楚輸入、固定輸出、外部來源與可發現的錯誤。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生醫安全要變成規則。這些輸出可以由 agent 協助整理背景資料，但不能讓 agent 做 final call。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保留 vibe coding，但補上責任邊界。快速不是讓模型負責，而是讓人更快得到可檢查原型。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這張是操作型 slide。學生可以照這個 loop 使用 coding agent 或 desktop agent：先讀真實檔案、先規劃、小範圍改、跑檢查、看 diff。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保留原本風險矩陣。這張讓學生把 vibe coding 放在任務風險和模糊度之中，而不是把它當成萬用工作法。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這張把 desktop utilities 的抽象能力映射到 biomedical 工作內容。重點是工具鏈，而不是產品清單。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 tool use 講成 lifecycle。重要的是每次工具呼叫都要有 input、output、validation 與 log，否則 agent 做過什麼很難被審查。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這張是新版重點之一。Lesson 03 會談 hallucination，這裡先談 workflow-level failure。學生要學會預先把失敗模式寫進規格和檢查。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 mini exercise 改成三案例判斷。這會讓學生主動使用 suitability、red lines、verification 和 artifacts 的框架。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這是課堂輸出。學生不是只回答問題，而是交出一張 agent-ready workflow worksheet，讓下一堂 LLM basics 和後面的 hands-on lab 可以接上。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自然收束到 Lesson 03。這堂已經建立 agent workflow 判斷框架，下一堂再看 model 層為什麼有效、為什麼會錯。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0174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4.xml"/><Relationship Id="rId7" Type="http://schemas.openxmlformats.org/officeDocument/2006/relationships/image" Target="../media/image3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2.sv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7.xml"/><Relationship Id="rId7" Type="http://schemas.openxmlformats.org/officeDocument/2006/relationships/image" Target="../media/image3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openxmlformats.org/officeDocument/2006/relationships/image" Target="../media/image6.sv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r/biology - WE DATA MINED ON A LARGE SCALE DATA-BASE. BE HONEST. I AM BEING HONEST. WHAT METHOD DID YOU USE?. WE USED THE NCBI SEARCH BAR THANK YOU">
            <a:extLst>
              <a:ext uri="{FF2B5EF4-FFF2-40B4-BE49-F238E27FC236}">
                <a16:creationId xmlns:a16="http://schemas.microsoft.com/office/drawing/2014/main" id="{14447741-7C2F-10C6-3084-D98215079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850" y="734538"/>
            <a:ext cx="4788975" cy="5919174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9CCE17D8-4ACD-A3B7-9025-2EA38C7C9572}"/>
              </a:ext>
            </a:extLst>
          </p:cNvPr>
          <p:cNvSpPr txBox="1"/>
          <p:nvPr/>
        </p:nvSpPr>
        <p:spPr>
          <a:xfrm>
            <a:off x="495946" y="294467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2400" dirty="0"/>
              <a:t>好像是，但不應該是</a:t>
            </a:r>
          </a:p>
        </p:txBody>
      </p:sp>
    </p:spTree>
    <p:extLst>
      <p:ext uri="{BB962C8B-B14F-4D97-AF65-F5344CB8AC3E}">
        <p14:creationId xmlns:p14="http://schemas.microsoft.com/office/powerpoint/2010/main" val="321279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B8949BE-8EC9-15ED-CBC1-5D5416945D0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9C9FF1-AE46-B0B7-673C-52473309B3C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9050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TW" altLang="en-US" sz="4000" b="1">
                <a:solidFill>
                  <a:srgbClr val="000000"/>
                </a:solidFill>
              </a:rPr>
              <a:t>使用過以下哪些工具？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61777A-F999-A0B1-3C43-0226470F09BB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92500"/>
          </a:bodyPr>
          <a:lstStyle/>
          <a:p>
            <a:r>
              <a:rPr kumimoji="1" lang="en" altLang="zh-TW" sz="2600">
                <a:solidFill>
                  <a:srgbClr val="FFFFFF"/>
                </a:solidFill>
              </a:rPr>
              <a:t>The </a:t>
            </a:r>
            <a:r>
              <a:rPr kumimoji="1" lang="en" altLang="zh-TW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kumimoji="1" lang="en" altLang="zh-TW" sz="2600">
                <a:solidFill>
                  <a:srgbClr val="FFFFFF"/>
                </a:solidFill>
              </a:rPr>
              <a:t> must be installed on every computer you’re presenting from</a:t>
            </a:r>
            <a:endParaRPr kumimoji="1" lang="zh-TW" altLang="en-US" sz="2600">
              <a:solidFill>
                <a:srgbClr val="FFFFFF"/>
              </a:solidFill>
            </a:endParaRPr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6A81F594-B78F-412E-E7D7-7B1004E0D09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不規則四邊形 6">
            <a:extLst>
              <a:ext uri="{FF2B5EF4-FFF2-40B4-BE49-F238E27FC236}">
                <a16:creationId xmlns:a16="http://schemas.microsoft.com/office/drawing/2014/main" id="{448A72C7-D897-AE26-4134-776342BE5992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kumimoji="1" lang="en" altLang="zh-TW" sz="2600" b="1">
                <a:solidFill>
                  <a:srgbClr val="198038"/>
                </a:solidFill>
              </a:rPr>
              <a:t>Do not edit
</a:t>
            </a:r>
            <a:r>
              <a:rPr kumimoji="1" lang="en" altLang="zh-TW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kumimoji="1" lang="zh-TW" altLang="en-US" sz="2200">
              <a:solidFill>
                <a:srgbClr val="198038"/>
              </a:solidFill>
            </a:endParaRPr>
          </a:p>
        </p:txBody>
      </p:sp>
      <p:pic>
        <p:nvPicPr>
          <p:cNvPr id="9" name="圖形 8">
            <a:extLst>
              <a:ext uri="{FF2B5EF4-FFF2-40B4-BE49-F238E27FC236}">
                <a16:creationId xmlns:a16="http://schemas.microsoft.com/office/drawing/2014/main" id="{C2BE9FCA-0644-F37B-C855-436AB4B326B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44720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091604EE-22E3-D579-9413-378F47802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564" y="604954"/>
            <a:ext cx="7890872" cy="5781159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8CCED5D4-1CDA-50D3-426C-7BA11E0C8197}"/>
              </a:ext>
            </a:extLst>
          </p:cNvPr>
          <p:cNvSpPr txBox="1"/>
          <p:nvPr/>
        </p:nvSpPr>
        <p:spPr>
          <a:xfrm>
            <a:off x="1981675" y="6460273"/>
            <a:ext cx="89707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TW" sz="1200" dirty="0"/>
              <a:t>https://data-</a:t>
            </a:r>
            <a:r>
              <a:rPr kumimoji="1" lang="en" altLang="zh-TW" sz="1200" dirty="0" err="1"/>
              <a:t>champions.renew</a:t>
            </a:r>
            <a:r>
              <a:rPr kumimoji="1" lang="en" altLang="zh-TW" sz="1200" dirty="0"/>
              <a:t>-</a:t>
            </a:r>
            <a:r>
              <a:rPr kumimoji="1" lang="en" altLang="zh-TW" sz="1200" dirty="0" err="1"/>
              <a:t>platforms.dk</a:t>
            </a:r>
            <a:r>
              <a:rPr kumimoji="1" lang="en" altLang="zh-TW" sz="1200" dirty="0"/>
              <a:t>/renew-data-champions/informational-guides/research-planning/</a:t>
            </a:r>
            <a:r>
              <a:rPr kumimoji="1" lang="en" altLang="zh-TW" sz="1200" dirty="0" err="1"/>
              <a:t>rdm</a:t>
            </a:r>
            <a:r>
              <a:rPr kumimoji="1" lang="en" altLang="zh-TW" sz="1200" dirty="0"/>
              <a:t>-guide/research-workflows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726028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yebrow">
            <a:extLst>
              <a:ext uri="{FF2B5EF4-FFF2-40B4-BE49-F238E27FC236}">
                <a16:creationId xmlns:a16="http://schemas.microsoft.com/office/drawing/2014/main" id="{3471D4FA-4B1A-4E45-8016-35EFF96DF965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COURSE INTRODUCTION</a:t>
            </a:r>
          </a:p>
        </p:txBody>
      </p:sp>
      <p:sp>
        <p:nvSpPr>
          <p:cNvPr id="2" name="course-name">
            <a:extLst>
              <a:ext uri="{FF2B5EF4-FFF2-40B4-BE49-F238E27FC236}">
                <a16:creationId xmlns:a16="http://schemas.microsoft.com/office/drawing/2014/main" id="{3003EB14-C4EF-4881-B70C-EE8FF8DB13CA}"/>
              </a:ext>
            </a:extLst>
          </p:cNvPr>
          <p:cNvSpPr>
            <a:spLocks noGrp="1"/>
          </p:cNvSpPr>
          <p:nvPr/>
        </p:nvSpPr>
        <p:spPr>
          <a:xfrm>
            <a:off x="723900" y="1085850"/>
            <a:ext cx="5810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24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 dirty="0" err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醫療大數據：生醫資料庫與人工智慧應用</a:t>
            </a:r>
            <a:endParaRPr sz="2400" b="1" dirty="0">
              <a:solidFill>
                <a:srgbClr val="17202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97A6B0CB-286E-4605-9F34-3D80DBF43A75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542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AI agents for biomedical research workflows</a:t>
            </a:r>
          </a:p>
        </p:txBody>
      </p:sp>
      <p:sp>
        <p:nvSpPr>
          <p:cNvPr id="4" name="opening-bullets">
            <a:extLst>
              <a:ext uri="{FF2B5EF4-FFF2-40B4-BE49-F238E27FC236}">
                <a16:creationId xmlns:a16="http://schemas.microsoft.com/office/drawing/2014/main" id="{57C16B68-B9D6-4A44-A9C7-F401AD793A38}"/>
              </a:ext>
            </a:extLst>
          </p:cNvPr>
          <p:cNvSpPr>
            <a:spLocks noGrp="1"/>
          </p:cNvSpPr>
          <p:nvPr/>
        </p:nvSpPr>
        <p:spPr>
          <a:xfrm>
            <a:off x="723900" y="2895600"/>
            <a:ext cx="5429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4"/>
              </a:spcAft>
              <a:buNone/>
              <a:def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我們關心的不只是得到答案</a:t>
            </a:r>
          </a:p>
          <a:p>
            <a:pPr marL="24" indent="-12">
              <a:lnSpc>
                <a:spcPct val="108000"/>
              </a:lnSpc>
              <a:spcAft>
                <a:spcPts val="14"/>
              </a:spcAft>
              <a:buNone/>
              <a:def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而是答案如何被產生、檢查、重跑</a:t>
            </a:r>
          </a:p>
          <a:p>
            <a:pPr marL="24" indent="-12">
              <a:lnSpc>
                <a:spcPct val="108000"/>
              </a:lnSpc>
              <a:spcAft>
                <a:spcPts val="14"/>
              </a:spcAft>
              <a:buNone/>
              <a:def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三天後，你要能設計一個可信的 biomedical AI agent workflow</a:t>
            </a:r>
          </a:p>
        </p:txBody>
      </p:sp>
      <p:sp>
        <p:nvSpPr>
          <p:cNvPr id="5" name="node-question">
            <a:extLst>
              <a:ext uri="{FF2B5EF4-FFF2-40B4-BE49-F238E27FC236}">
                <a16:creationId xmlns:a16="http://schemas.microsoft.com/office/drawing/2014/main" id="{53367A2D-4FED-48D0-995A-FDE87EC6C00F}"/>
              </a:ext>
            </a:extLst>
          </p:cNvPr>
          <p:cNvSpPr>
            <a:spLocks noGrp="1"/>
          </p:cNvSpPr>
          <p:nvPr/>
        </p:nvSpPr>
        <p:spPr>
          <a:xfrm>
            <a:off x="7010400" y="1466850"/>
            <a:ext cx="142875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3335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75" b="1">
                <a:solidFill>
                  <a:srgbClr val="0B6E6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0B6E68"/>
                </a:solidFill>
                <a:latin typeface="PingFang TC"/>
                <a:ea typeface="PingFang TC"/>
                <a:cs typeface="PingFang TC"/>
              </a:rPr>
              <a:t>Research</a:t>
            </a:r>
          </a:p>
          <a:p>
            <a:pPr algn="ctr">
              <a:defRPr sz="1275" b="1">
                <a:solidFill>
                  <a:srgbClr val="0B6E6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0B6E68"/>
                </a:solidFill>
                <a:latin typeface="PingFang TC"/>
                <a:ea typeface="PingFang TC"/>
                <a:cs typeface="PingFang TC"/>
              </a:rPr>
              <a:t>question</a:t>
            </a:r>
          </a:p>
        </p:txBody>
      </p:sp>
      <p:sp>
        <p:nvSpPr>
          <p:cNvPr id="6" name="node-agent">
            <a:extLst>
              <a:ext uri="{FF2B5EF4-FFF2-40B4-BE49-F238E27FC236}">
                <a16:creationId xmlns:a16="http://schemas.microsoft.com/office/drawing/2014/main" id="{BC81E8A5-103F-4937-9583-B8EFA485A2D1}"/>
              </a:ext>
            </a:extLst>
          </p:cNvPr>
          <p:cNvSpPr>
            <a:spLocks noGrp="1"/>
          </p:cNvSpPr>
          <p:nvPr/>
        </p:nvSpPr>
        <p:spPr>
          <a:xfrm>
            <a:off x="9372600" y="1466850"/>
            <a:ext cx="161925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3335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AI agent</a:t>
            </a:r>
          </a:p>
          <a:p>
            <a:pPr algn="ctr">
              <a:def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workflow</a:t>
            </a:r>
          </a:p>
        </p:txBody>
      </p:sp>
      <p:sp>
        <p:nvSpPr>
          <p:cNvPr id="7" name="node-paper">
            <a:extLst>
              <a:ext uri="{FF2B5EF4-FFF2-40B4-BE49-F238E27FC236}">
                <a16:creationId xmlns:a16="http://schemas.microsoft.com/office/drawing/2014/main" id="{44A3704A-C796-41E4-95AE-EE705F765121}"/>
              </a:ext>
            </a:extLst>
          </p:cNvPr>
          <p:cNvSpPr>
            <a:spLocks noGrp="1"/>
          </p:cNvSpPr>
          <p:nvPr/>
        </p:nvSpPr>
        <p:spPr>
          <a:xfrm>
            <a:off x="7029450" y="3200400"/>
            <a:ext cx="11049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335">
            <a:solidFill>
              <a:srgbClr val="5C6670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00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Paper</a:t>
            </a:r>
          </a:p>
        </p:txBody>
      </p:sp>
      <p:sp>
        <p:nvSpPr>
          <p:cNvPr id="8" name="node-data">
            <a:extLst>
              <a:ext uri="{FF2B5EF4-FFF2-40B4-BE49-F238E27FC236}">
                <a16:creationId xmlns:a16="http://schemas.microsoft.com/office/drawing/2014/main" id="{B3FF219D-1BCF-48DB-82F2-940CDF773C1E}"/>
              </a:ext>
            </a:extLst>
          </p:cNvPr>
          <p:cNvSpPr>
            <a:spLocks noGrp="1"/>
          </p:cNvSpPr>
          <p:nvPr/>
        </p:nvSpPr>
        <p:spPr>
          <a:xfrm>
            <a:off x="8572500" y="3200400"/>
            <a:ext cx="12573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335">
            <a:solidFill>
              <a:srgbClr val="5C6670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00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Dataset</a:t>
            </a:r>
          </a:p>
        </p:txBody>
      </p:sp>
      <p:sp>
        <p:nvSpPr>
          <p:cNvPr id="9" name="node-code">
            <a:extLst>
              <a:ext uri="{FF2B5EF4-FFF2-40B4-BE49-F238E27FC236}">
                <a16:creationId xmlns:a16="http://schemas.microsoft.com/office/drawing/2014/main" id="{01E0672E-5AF2-4D24-99B3-2D9C1663D501}"/>
              </a:ext>
            </a:extLst>
          </p:cNvPr>
          <p:cNvSpPr>
            <a:spLocks noGrp="1"/>
          </p:cNvSpPr>
          <p:nvPr/>
        </p:nvSpPr>
        <p:spPr>
          <a:xfrm>
            <a:off x="10267950" y="3200400"/>
            <a:ext cx="10668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335">
            <a:solidFill>
              <a:srgbClr val="5C6670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00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Code</a:t>
            </a:r>
          </a:p>
        </p:txBody>
      </p:sp>
      <p:sp>
        <p:nvSpPr>
          <p:cNvPr id="10" name="node-output">
            <a:extLst>
              <a:ext uri="{FF2B5EF4-FFF2-40B4-BE49-F238E27FC236}">
                <a16:creationId xmlns:a16="http://schemas.microsoft.com/office/drawing/2014/main" id="{12FEA1D9-D3CD-4E9E-A68F-308C30B9A395}"/>
              </a:ext>
            </a:extLst>
          </p:cNvPr>
          <p:cNvSpPr>
            <a:spLocks noGrp="1"/>
          </p:cNvSpPr>
          <p:nvPr/>
        </p:nvSpPr>
        <p:spPr>
          <a:xfrm>
            <a:off x="8334375" y="4648200"/>
            <a:ext cx="200025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3335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00" b="1">
                <a:solidFill>
                  <a:srgbClr val="0B6E6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B6E68"/>
                </a:solidFill>
                <a:latin typeface="PingFang TC"/>
                <a:ea typeface="PingFang TC"/>
                <a:cs typeface="PingFang TC"/>
              </a:rPr>
              <a:t>Evidence-backed</a:t>
            </a:r>
          </a:p>
          <a:p>
            <a:pPr algn="ctr">
              <a:defRPr sz="1200" b="1">
                <a:solidFill>
                  <a:srgbClr val="0B6E6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B6E68"/>
                </a:solidFill>
                <a:latin typeface="PingFang TC"/>
                <a:ea typeface="PingFang TC"/>
                <a:cs typeface="PingFang TC"/>
              </a:rPr>
              <a:t>output</a:t>
            </a:r>
          </a:p>
        </p:txBody>
      </p:sp>
      <p:sp>
        <p:nvSpPr>
          <p:cNvPr id="11" name="line-question-agent">
            <a:extLst>
              <a:ext uri="{FF2B5EF4-FFF2-40B4-BE49-F238E27FC236}">
                <a16:creationId xmlns:a16="http://schemas.microsoft.com/office/drawing/2014/main" id="{2EAC8E01-3312-4737-866F-6C84FC20720F}"/>
              </a:ext>
            </a:extLst>
          </p:cNvPr>
          <p:cNvSpPr>
            <a:spLocks noGrp="1"/>
          </p:cNvSpPr>
          <p:nvPr/>
        </p:nvSpPr>
        <p:spPr>
          <a:xfrm>
            <a:off x="8439150" y="1790700"/>
            <a:ext cx="933450" cy="0"/>
          </a:xfrm>
          <a:prstGeom prst="line">
            <a:avLst/>
          </a:prstGeom>
          <a:noFill/>
          <a:ln w="1714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line-agent-down">
            <a:extLst>
              <a:ext uri="{FF2B5EF4-FFF2-40B4-BE49-F238E27FC236}">
                <a16:creationId xmlns:a16="http://schemas.microsoft.com/office/drawing/2014/main" id="{DA755D8D-2F13-4836-8703-337FE8910FF4}"/>
              </a:ext>
            </a:extLst>
          </p:cNvPr>
          <p:cNvSpPr>
            <a:spLocks noGrp="1"/>
          </p:cNvSpPr>
          <p:nvPr/>
        </p:nvSpPr>
        <p:spPr>
          <a:xfrm>
            <a:off x="10182225" y="2114550"/>
            <a:ext cx="0" cy="742950"/>
          </a:xfrm>
          <a:prstGeom prst="line">
            <a:avLst/>
          </a:prstGeom>
          <a:noFill/>
          <a:ln w="14288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line-agent-bus">
            <a:extLst>
              <a:ext uri="{FF2B5EF4-FFF2-40B4-BE49-F238E27FC236}">
                <a16:creationId xmlns:a16="http://schemas.microsoft.com/office/drawing/2014/main" id="{66648085-D33A-46CA-84CD-A43ACAC482E2}"/>
              </a:ext>
            </a:extLst>
          </p:cNvPr>
          <p:cNvSpPr>
            <a:spLocks noGrp="1"/>
          </p:cNvSpPr>
          <p:nvPr/>
        </p:nvSpPr>
        <p:spPr>
          <a:xfrm>
            <a:off x="7581900" y="2857500"/>
            <a:ext cx="3219450" cy="0"/>
          </a:xfrm>
          <a:prstGeom prst="line">
            <a:avLst/>
          </a:prstGeom>
          <a:noFill/>
          <a:ln w="14288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line-paper-in">
            <a:extLst>
              <a:ext uri="{FF2B5EF4-FFF2-40B4-BE49-F238E27FC236}">
                <a16:creationId xmlns:a16="http://schemas.microsoft.com/office/drawing/2014/main" id="{EAF1B416-AAD8-45FF-AED1-AB516E01D907}"/>
              </a:ext>
            </a:extLst>
          </p:cNvPr>
          <p:cNvSpPr>
            <a:spLocks noGrp="1"/>
          </p:cNvSpPr>
          <p:nvPr/>
        </p:nvSpPr>
        <p:spPr>
          <a:xfrm>
            <a:off x="7581900" y="2857500"/>
            <a:ext cx="0" cy="342900"/>
          </a:xfrm>
          <a:prstGeom prst="line">
            <a:avLst/>
          </a:prstGeom>
          <a:noFill/>
          <a:ln w="14288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line-data-in">
            <a:extLst>
              <a:ext uri="{FF2B5EF4-FFF2-40B4-BE49-F238E27FC236}">
                <a16:creationId xmlns:a16="http://schemas.microsoft.com/office/drawing/2014/main" id="{FD7E2F3B-9CA5-4E42-81D3-3D8DBA58A815}"/>
              </a:ext>
            </a:extLst>
          </p:cNvPr>
          <p:cNvSpPr>
            <a:spLocks noGrp="1"/>
          </p:cNvSpPr>
          <p:nvPr/>
        </p:nvSpPr>
        <p:spPr>
          <a:xfrm>
            <a:off x="9201150" y="2857500"/>
            <a:ext cx="0" cy="342900"/>
          </a:xfrm>
          <a:prstGeom prst="line">
            <a:avLst/>
          </a:prstGeom>
          <a:noFill/>
          <a:ln w="14288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line-code-in">
            <a:extLst>
              <a:ext uri="{FF2B5EF4-FFF2-40B4-BE49-F238E27FC236}">
                <a16:creationId xmlns:a16="http://schemas.microsoft.com/office/drawing/2014/main" id="{52DAA266-E4F5-4E3B-8807-213EBBB4ADB2}"/>
              </a:ext>
            </a:extLst>
          </p:cNvPr>
          <p:cNvSpPr>
            <a:spLocks noGrp="1"/>
          </p:cNvSpPr>
          <p:nvPr/>
        </p:nvSpPr>
        <p:spPr>
          <a:xfrm>
            <a:off x="10801350" y="2857500"/>
            <a:ext cx="0" cy="342900"/>
          </a:xfrm>
          <a:prstGeom prst="line">
            <a:avLst/>
          </a:prstGeom>
          <a:noFill/>
          <a:ln w="14288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line-paper-out">
            <a:extLst>
              <a:ext uri="{FF2B5EF4-FFF2-40B4-BE49-F238E27FC236}">
                <a16:creationId xmlns:a16="http://schemas.microsoft.com/office/drawing/2014/main" id="{DDD157CC-971A-4F9D-849E-2347D42DDF77}"/>
              </a:ext>
            </a:extLst>
          </p:cNvPr>
          <p:cNvSpPr>
            <a:spLocks noGrp="1"/>
          </p:cNvSpPr>
          <p:nvPr/>
        </p:nvSpPr>
        <p:spPr>
          <a:xfrm>
            <a:off x="7581900" y="3676650"/>
            <a:ext cx="0" cy="495300"/>
          </a:xfrm>
          <a:prstGeom prst="line">
            <a:avLst/>
          </a:prstGeom>
          <a:noFill/>
          <a:ln w="14288">
            <a:solidFill>
              <a:srgbClr val="0B6E6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line-data-out">
            <a:extLst>
              <a:ext uri="{FF2B5EF4-FFF2-40B4-BE49-F238E27FC236}">
                <a16:creationId xmlns:a16="http://schemas.microsoft.com/office/drawing/2014/main" id="{40969DD5-1CB0-46E1-A251-FC95BE72EECD}"/>
              </a:ext>
            </a:extLst>
          </p:cNvPr>
          <p:cNvSpPr>
            <a:spLocks noGrp="1"/>
          </p:cNvSpPr>
          <p:nvPr/>
        </p:nvSpPr>
        <p:spPr>
          <a:xfrm>
            <a:off x="9201150" y="3676650"/>
            <a:ext cx="0" cy="495300"/>
          </a:xfrm>
          <a:prstGeom prst="line">
            <a:avLst/>
          </a:prstGeom>
          <a:noFill/>
          <a:ln w="14288">
            <a:solidFill>
              <a:srgbClr val="0B6E6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line-code-out">
            <a:extLst>
              <a:ext uri="{FF2B5EF4-FFF2-40B4-BE49-F238E27FC236}">
                <a16:creationId xmlns:a16="http://schemas.microsoft.com/office/drawing/2014/main" id="{C1F8740D-9AC2-4429-99EF-ACB92D1C6761}"/>
              </a:ext>
            </a:extLst>
          </p:cNvPr>
          <p:cNvSpPr>
            <a:spLocks noGrp="1"/>
          </p:cNvSpPr>
          <p:nvPr/>
        </p:nvSpPr>
        <p:spPr>
          <a:xfrm>
            <a:off x="10801350" y="3676650"/>
            <a:ext cx="0" cy="495300"/>
          </a:xfrm>
          <a:prstGeom prst="line">
            <a:avLst/>
          </a:prstGeom>
          <a:noFill/>
          <a:ln w="14288">
            <a:solidFill>
              <a:srgbClr val="0B6E6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line-output-bus">
            <a:extLst>
              <a:ext uri="{FF2B5EF4-FFF2-40B4-BE49-F238E27FC236}">
                <a16:creationId xmlns:a16="http://schemas.microsoft.com/office/drawing/2014/main" id="{60BCB4C2-F2F3-4BA9-914A-AA3B354C7DE2}"/>
              </a:ext>
            </a:extLst>
          </p:cNvPr>
          <p:cNvSpPr>
            <a:spLocks noGrp="1"/>
          </p:cNvSpPr>
          <p:nvPr/>
        </p:nvSpPr>
        <p:spPr>
          <a:xfrm>
            <a:off x="7581900" y="4171950"/>
            <a:ext cx="3219450" cy="0"/>
          </a:xfrm>
          <a:prstGeom prst="line">
            <a:avLst/>
          </a:prstGeom>
          <a:noFill/>
          <a:ln w="14288">
            <a:solidFill>
              <a:srgbClr val="0B6E6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line-output-down">
            <a:extLst>
              <a:ext uri="{FF2B5EF4-FFF2-40B4-BE49-F238E27FC236}">
                <a16:creationId xmlns:a16="http://schemas.microsoft.com/office/drawing/2014/main" id="{BD82C53D-2059-4B8D-AAF2-8FEC721B9FAE}"/>
              </a:ext>
            </a:extLst>
          </p:cNvPr>
          <p:cNvSpPr>
            <a:spLocks noGrp="1"/>
          </p:cNvSpPr>
          <p:nvPr/>
        </p:nvSpPr>
        <p:spPr>
          <a:xfrm>
            <a:off x="9334500" y="4171950"/>
            <a:ext cx="0" cy="476250"/>
          </a:xfrm>
          <a:prstGeom prst="line">
            <a:avLst/>
          </a:prstGeom>
          <a:noFill/>
          <a:ln w="17145">
            <a:solidFill>
              <a:srgbClr val="0B6E6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footer">
            <a:extLst>
              <a:ext uri="{FF2B5EF4-FFF2-40B4-BE49-F238E27FC236}">
                <a16:creationId xmlns:a16="http://schemas.microsoft.com/office/drawing/2014/main" id="{5609B696-87E4-4AEC-A762-1CF129D7FC69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Course introduction  |  1/7</a:t>
            </a:r>
          </a:p>
        </p:txBody>
      </p:sp>
      <p:sp>
        <p:nvSpPr>
          <p:cNvPr id="101" name="session-a-head"/>
          <p:cNvSpPr>
            <a:spLocks noGrp="1"/>
          </p:cNvSpPr>
          <p:nvPr/>
        </p:nvSpPr>
        <p:spPr>
          <a:xfrm>
            <a:off x="723900" y="4648200"/>
            <a:ext cx="2781300" cy="55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marL="20" indent="-10">
              <a:lnSpc>
                <a:spcPct val="108000"/>
              </a:lnSpc>
              <a:spcAft>
                <a:spcPts val="20"/>
              </a:spcAft>
              <a:buNone/>
              <a:defRPr sz="1000" b="1">
                <a:solidFill>
                  <a:srgbClr val="0B6E68"/>
                </a:solidFill>
                <a:latin typeface="PingFang TC"/>
                <a:ea typeface="PingFang TC"/>
                <a:cs typeface="PingFang TC"/>
              </a:defRPr>
            </a:pPr>
            <a:r>
              <a:rPr lang="en-US" altLang="zh-TW" sz="1000" b="1" dirty="0">
                <a:solidFill>
                  <a:srgbClr val="0B6E68"/>
                </a:solidFill>
                <a:latin typeface="PingFang TC"/>
                <a:ea typeface="PingFang TC"/>
                <a:cs typeface="PingFang TC"/>
              </a:rPr>
              <a:t>----------------------</a:t>
            </a:r>
          </a:p>
          <a:p>
            <a:pPr marL="20" indent="-10">
              <a:lnSpc>
                <a:spcPct val="108000"/>
              </a:lnSpc>
              <a:spcAft>
                <a:spcPts val="0"/>
              </a:spcAft>
              <a:buNone/>
              <a:defRPr sz="1600" b="1">
                <a:solidFill>
                  <a:srgbClr val="0B6E68"/>
                </a:solidFill>
                <a:latin typeface="PingFang TC"/>
                <a:ea typeface="PingFang TC"/>
                <a:cs typeface="PingFang TC"/>
              </a:defRPr>
            </a:pPr>
            <a:r>
              <a:rPr sz="1600" b="1" dirty="0" err="1">
                <a:solidFill>
                  <a:srgbClr val="0B6E68"/>
                </a:solidFill>
                <a:latin typeface="PingFang TC"/>
                <a:ea typeface="PingFang TC"/>
                <a:cs typeface="PingFang TC"/>
              </a:rPr>
              <a:t>課程介紹</a:t>
            </a:r>
            <a:endParaRPr sz="1600" b="1" dirty="0">
              <a:solidFill>
                <a:srgbClr val="0B6E6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02" name="session-a-bar"/>
          <p:cNvSpPr>
            <a:spLocks noGrp="1"/>
          </p:cNvSpPr>
          <p:nvPr/>
        </p:nvSpPr>
        <p:spPr>
          <a:xfrm>
            <a:off x="723900" y="5232400"/>
            <a:ext cx="2781300" cy="38100"/>
          </a:xfrm>
          <a:prstGeom prst="rect">
            <a:avLst/>
          </a:prstGeom>
          <a:solidFill>
            <a:srgbClr val="0B6E68"/>
          </a:solidFill>
          <a:ln w="0">
            <a:solidFill>
              <a:srgbClr val="0B6E68"/>
            </a:solidFill>
            <a:prstDash val="solid"/>
          </a:ln>
        </p:spPr>
        <p:txBody>
          <a:bodyPr/>
          <a:lstStyle/>
          <a:p>
            <a:endParaRPr lang="zh-TW" altLang="en-US">
              <a:solidFill>
                <a:srgbClr val="0B6E68"/>
              </a:solidFill>
            </a:endParaRPr>
          </a:p>
        </p:txBody>
      </p:sp>
      <p:sp>
        <p:nvSpPr>
          <p:cNvPr id="103" name="session-a-list"/>
          <p:cNvSpPr>
            <a:spLocks noGrp="1"/>
          </p:cNvSpPr>
          <p:nvPr/>
        </p:nvSpPr>
        <p:spPr>
          <a:xfrm>
            <a:off x="723900" y="5372100"/>
            <a:ext cx="2781300" cy="86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marL="20" indent="-10">
              <a:lnSpc>
                <a:spcPct val="108000"/>
              </a:lnSpc>
              <a:spcAft>
                <a:spcPts val="40"/>
              </a:spcAft>
              <a:buNone/>
              <a:defRPr sz="12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課程目標與三天架構</a:t>
            </a:r>
          </a:p>
          <a:p>
            <a:pPr marL="20" indent="-10">
              <a:lnSpc>
                <a:spcPct val="108000"/>
              </a:lnSpc>
              <a:spcAft>
                <a:spcPts val="40"/>
              </a:spcAft>
              <a:buNone/>
              <a:defRPr sz="12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評分方式與分組原則</a:t>
            </a:r>
          </a:p>
          <a:p>
            <a:pPr marL="20" indent="-10">
              <a:lnSpc>
                <a:spcPct val="108000"/>
              </a:lnSpc>
              <a:spcAft>
                <a:spcPts val="0"/>
              </a:spcAft>
              <a:buNone/>
              <a:defRPr sz="12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Hackathon 與工具規範</a:t>
            </a:r>
          </a:p>
        </p:txBody>
      </p:sp>
      <p:sp>
        <p:nvSpPr>
          <p:cNvPr id="104" name="session-b-head"/>
          <p:cNvSpPr>
            <a:spLocks noGrp="1"/>
          </p:cNvSpPr>
          <p:nvPr/>
        </p:nvSpPr>
        <p:spPr>
          <a:xfrm>
            <a:off x="3759200" y="4648200"/>
            <a:ext cx="2781300" cy="55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marL="20" indent="-10">
              <a:lnSpc>
                <a:spcPct val="108000"/>
              </a:lnSpc>
              <a:spcAft>
                <a:spcPts val="20"/>
              </a:spcAft>
              <a:buNone/>
              <a:defRPr sz="10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lang="en-US" sz="1000" b="1" dirty="0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--------------------------------</a:t>
            </a:r>
            <a:endParaRPr sz="1000" b="1" dirty="0">
              <a:solidFill>
                <a:srgbClr val="3446A8"/>
              </a:solidFill>
              <a:latin typeface="PingFang TC"/>
              <a:ea typeface="PingFang TC"/>
              <a:cs typeface="PingFang TC"/>
            </a:endParaRPr>
          </a:p>
          <a:p>
            <a:pPr marL="20" indent="-10">
              <a:lnSpc>
                <a:spcPct val="108000"/>
              </a:lnSpc>
              <a:spcAft>
                <a:spcPts val="0"/>
              </a:spcAft>
              <a:buNone/>
              <a:defRPr sz="16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00" b="1" dirty="0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AI Agent </a:t>
            </a:r>
            <a:r>
              <a:rPr sz="1600" b="1" dirty="0" err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入門</a:t>
            </a:r>
            <a:endParaRPr sz="1600" b="1" dirty="0">
              <a:solidFill>
                <a:srgbClr val="3446A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05" name="session-b-bar"/>
          <p:cNvSpPr>
            <a:spLocks noGrp="1"/>
          </p:cNvSpPr>
          <p:nvPr/>
        </p:nvSpPr>
        <p:spPr>
          <a:xfrm>
            <a:off x="3759200" y="5232400"/>
            <a:ext cx="2781300" cy="38100"/>
          </a:xfrm>
          <a:prstGeom prst="rect">
            <a:avLst/>
          </a:prstGeom>
          <a:solidFill>
            <a:srgbClr val="3446A8"/>
          </a:solidFill>
          <a:ln w="0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>
              <a:solidFill>
                <a:srgbClr val="3446A8"/>
              </a:solidFill>
            </a:endParaRPr>
          </a:p>
        </p:txBody>
      </p:sp>
      <p:sp>
        <p:nvSpPr>
          <p:cNvPr id="106" name="session-b-list"/>
          <p:cNvSpPr>
            <a:spLocks noGrp="1"/>
          </p:cNvSpPr>
          <p:nvPr/>
        </p:nvSpPr>
        <p:spPr>
          <a:xfrm>
            <a:off x="3759200" y="5372100"/>
            <a:ext cx="2781300" cy="863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marL="20" indent="-10">
              <a:lnSpc>
                <a:spcPct val="108000"/>
              </a:lnSpc>
              <a:spcAft>
                <a:spcPts val="40"/>
              </a:spcAft>
              <a:buNone/>
              <a:defRPr sz="12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LLM 與 agent 的差異</a:t>
            </a:r>
          </a:p>
          <a:p>
            <a:pPr marL="20" indent="-10">
              <a:lnSpc>
                <a:spcPct val="108000"/>
              </a:lnSpc>
              <a:spcAft>
                <a:spcPts val="40"/>
              </a:spcAft>
              <a:buNone/>
              <a:defRPr sz="12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Vibe coding 的優點與風險</a:t>
            </a:r>
          </a:p>
          <a:p>
            <a:pPr marL="20" indent="-10">
              <a:lnSpc>
                <a:spcPct val="108000"/>
              </a:lnSpc>
              <a:spcAft>
                <a:spcPts val="0"/>
              </a:spcAft>
              <a:buNone/>
              <a:defRPr sz="12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桌面／CLI 工具比較</a:t>
            </a:r>
          </a:p>
        </p:txBody>
      </p:sp>
      <p:cxnSp>
        <p:nvCxnSpPr>
          <p:cNvPr id="107" name="session-divider"/>
          <p:cNvCxnSpPr/>
          <p:nvPr/>
        </p:nvCxnSpPr>
        <p:spPr>
          <a:xfrm>
            <a:off x="3632200" y="4699000"/>
            <a:ext cx="0" cy="1473200"/>
          </a:xfrm>
          <a:prstGeom prst="line">
            <a:avLst/>
          </a:prstGeom>
          <a:ln w="9525">
            <a:solidFill>
              <a:srgbClr val="E8E8E8"/>
            </a:solidFill>
          </a:ln>
        </p:spPr>
      </p:cxnSp>
      <p:sp>
        <p:nvSpPr>
          <p:cNvPr id="108" name="diagram-caption"/>
          <p:cNvSpPr>
            <a:spLocks noGrp="1"/>
          </p:cNvSpPr>
          <p:nvPr/>
        </p:nvSpPr>
        <p:spPr>
          <a:xfrm>
            <a:off x="7010400" y="1117600"/>
            <a:ext cx="4381500" cy="25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1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AGENT WORKFLOW PREVIEW</a:t>
            </a:r>
          </a:p>
        </p:txBody>
      </p:sp>
    </p:spTree>
    <p:extLst>
      <p:ext uri="{BB962C8B-B14F-4D97-AF65-F5344CB8AC3E}">
        <p14:creationId xmlns:p14="http://schemas.microsoft.com/office/powerpoint/2010/main" val="99501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93F0DFF-B702-1B25-822B-E41FF350425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1685F8-7177-DD73-86A6-CB67862770C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9050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TW" sz="4000" b="1">
                <a:solidFill>
                  <a:srgbClr val="000000"/>
                </a:solidFill>
              </a:rPr>
              <a:t>Audience Q&amp;A</a:t>
            </a:r>
            <a:endParaRPr kumimoji="1" lang="zh-TW" altLang="en-US" sz="4000" b="1">
              <a:solidFill>
                <a:srgbClr val="00000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CF0DB62-5741-D8A1-D505-3B2AB328F599}"/>
              </a:ext>
            </a:extLst>
          </p:cNvPr>
          <p:cNvSpPr/>
          <p:nvPr/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92500"/>
          </a:bodyPr>
          <a:lstStyle/>
          <a:p>
            <a:r>
              <a:rPr kumimoji="1" lang="en" altLang="zh-TW" sz="2600">
                <a:solidFill>
                  <a:srgbClr val="FFFFFF"/>
                </a:solidFill>
              </a:rPr>
              <a:t>The </a:t>
            </a:r>
            <a:r>
              <a:rPr kumimoji="1" lang="en" altLang="zh-TW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kumimoji="1" lang="en" altLang="zh-TW" sz="2600">
                <a:solidFill>
                  <a:srgbClr val="FFFFFF"/>
                </a:solidFill>
              </a:rPr>
              <a:t> must be installed on every computer you’re presenting from</a:t>
            </a:r>
            <a:endParaRPr kumimoji="1" lang="zh-TW" altLang="en-US" sz="2600">
              <a:solidFill>
                <a:srgbClr val="FFFFFF"/>
              </a:solidFill>
            </a:endParaRPr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288E9B44-5AC6-2208-BF53-8A01DB8E567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不規則四邊形 6">
            <a:extLst>
              <a:ext uri="{FF2B5EF4-FFF2-40B4-BE49-F238E27FC236}">
                <a16:creationId xmlns:a16="http://schemas.microsoft.com/office/drawing/2014/main" id="{B0F0C53E-7FE6-D0A8-9EC1-5181AAA3078F}"/>
              </a:ext>
            </a:extLst>
          </p:cNvPr>
          <p:cNvSpPr/>
          <p:nvPr/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kumimoji="1" lang="en" altLang="zh-TW" sz="2600" b="1">
                <a:solidFill>
                  <a:srgbClr val="198038"/>
                </a:solidFill>
              </a:rPr>
              <a:t>Do not edit
</a:t>
            </a:r>
            <a:r>
              <a:rPr kumimoji="1" lang="en" altLang="zh-TW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kumimoji="1" lang="zh-TW" altLang="en-US" sz="2200">
              <a:solidFill>
                <a:srgbClr val="198038"/>
              </a:solidFill>
            </a:endParaRPr>
          </a:p>
        </p:txBody>
      </p:sp>
      <p:pic>
        <p:nvPicPr>
          <p:cNvPr id="9" name="圖形 8">
            <a:extLst>
              <a:ext uri="{FF2B5EF4-FFF2-40B4-BE49-F238E27FC236}">
                <a16:creationId xmlns:a16="http://schemas.microsoft.com/office/drawing/2014/main" id="{7976CD8A-E8BC-14AD-089A-0CBB9AB0C9C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22157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yebrow">
            <a:extLst>
              <a:ext uri="{FF2B5EF4-FFF2-40B4-BE49-F238E27FC236}">
                <a16:creationId xmlns:a16="http://schemas.microsoft.com/office/drawing/2014/main" id="{989E4ED8-37A7-4A13-9581-957408A11B1B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WHY WORKFLOWS MATTER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4D938CE-2F3C-4294-B304-0CFE4C4B0E3B}"/>
              </a:ext>
            </a:extLst>
          </p:cNvPr>
          <p:cNvSpPr>
            <a:spLocks noGrp="1"/>
          </p:cNvSpPr>
          <p:nvPr/>
        </p:nvSpPr>
        <p:spPr>
          <a:xfrm>
            <a:off x="723900" y="895350"/>
            <a:ext cx="933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Biomedical research 的難點在流程銜接與檢查</a:t>
            </a:r>
          </a:p>
        </p:txBody>
      </p:sp>
      <p:sp>
        <p:nvSpPr>
          <p:cNvPr id="3" name="bullets">
            <a:extLst>
              <a:ext uri="{FF2B5EF4-FFF2-40B4-BE49-F238E27FC236}">
                <a16:creationId xmlns:a16="http://schemas.microsoft.com/office/drawing/2014/main" id="{618E0931-BA56-494E-A939-5C3BAB0603F4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542925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常見任務：讀文獻、查資料庫、寫程式、產出報告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真正困難不是單一步驟，而是前後步驟是否接得起來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價值：把推理、工具、紀錄、修正串成可控流程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最大風險：來源不明、步驟不可追、結果不可重現</a:t>
            </a:r>
          </a:p>
        </p:txBody>
      </p:sp>
      <p:sp>
        <p:nvSpPr>
          <p:cNvPr id="4" name="lit">
            <a:extLst>
              <a:ext uri="{FF2B5EF4-FFF2-40B4-BE49-F238E27FC236}">
                <a16:creationId xmlns:a16="http://schemas.microsoft.com/office/drawing/2014/main" id="{A3D13FD8-3E8E-4CC7-B910-39FCDBEB072A}"/>
              </a:ext>
            </a:extLst>
          </p:cNvPr>
          <p:cNvSpPr>
            <a:spLocks noGrp="1"/>
          </p:cNvSpPr>
          <p:nvPr/>
        </p:nvSpPr>
        <p:spPr>
          <a:xfrm>
            <a:off x="6705600" y="1962150"/>
            <a:ext cx="10668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3335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350" b="1">
                <a:solidFill>
                  <a:srgbClr val="0B6E6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6E68"/>
                </a:solidFill>
                <a:latin typeface="PingFang TC"/>
                <a:ea typeface="PingFang TC"/>
                <a:cs typeface="PingFang TC"/>
              </a:rPr>
              <a:t>Literature</a:t>
            </a:r>
          </a:p>
        </p:txBody>
      </p:sp>
      <p:sp>
        <p:nvSpPr>
          <p:cNvPr id="5" name="db">
            <a:extLst>
              <a:ext uri="{FF2B5EF4-FFF2-40B4-BE49-F238E27FC236}">
                <a16:creationId xmlns:a16="http://schemas.microsoft.com/office/drawing/2014/main" id="{89080C1F-B520-4ED6-875A-080A36310E5F}"/>
              </a:ext>
            </a:extLst>
          </p:cNvPr>
          <p:cNvSpPr>
            <a:spLocks noGrp="1"/>
          </p:cNvSpPr>
          <p:nvPr/>
        </p:nvSpPr>
        <p:spPr>
          <a:xfrm>
            <a:off x="8020050" y="1962150"/>
            <a:ext cx="10668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3335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350" b="1">
                <a:solidFill>
                  <a:srgbClr val="0B6E6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6E68"/>
                </a:solidFill>
                <a:latin typeface="PingFang TC"/>
                <a:ea typeface="PingFang TC"/>
                <a:cs typeface="PingFang TC"/>
              </a:rPr>
              <a:t>Database</a:t>
            </a:r>
          </a:p>
        </p:txBody>
      </p:sp>
      <p:sp>
        <p:nvSpPr>
          <p:cNvPr id="6" name="analysis">
            <a:extLst>
              <a:ext uri="{FF2B5EF4-FFF2-40B4-BE49-F238E27FC236}">
                <a16:creationId xmlns:a16="http://schemas.microsoft.com/office/drawing/2014/main" id="{3ACE0AFE-B83A-4D96-ABD6-759806E835C3}"/>
              </a:ext>
            </a:extLst>
          </p:cNvPr>
          <p:cNvSpPr>
            <a:spLocks noGrp="1"/>
          </p:cNvSpPr>
          <p:nvPr/>
        </p:nvSpPr>
        <p:spPr>
          <a:xfrm>
            <a:off x="9334500" y="1962150"/>
            <a:ext cx="10668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3335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3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Analysis</a:t>
            </a:r>
          </a:p>
        </p:txBody>
      </p:sp>
      <p:sp>
        <p:nvSpPr>
          <p:cNvPr id="7" name="report">
            <a:extLst>
              <a:ext uri="{FF2B5EF4-FFF2-40B4-BE49-F238E27FC236}">
                <a16:creationId xmlns:a16="http://schemas.microsoft.com/office/drawing/2014/main" id="{0B3F2CA8-29B7-448B-A9C8-E3E791EA87AB}"/>
              </a:ext>
            </a:extLst>
          </p:cNvPr>
          <p:cNvSpPr>
            <a:spLocks noGrp="1"/>
          </p:cNvSpPr>
          <p:nvPr/>
        </p:nvSpPr>
        <p:spPr>
          <a:xfrm>
            <a:off x="10648950" y="1962150"/>
            <a:ext cx="10668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3335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350" b="1">
                <a:solidFill>
                  <a:srgbClr val="0B6E6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6E68"/>
                </a:solidFill>
                <a:latin typeface="PingFang TC"/>
                <a:ea typeface="PingFang TC"/>
                <a:cs typeface="PingFang TC"/>
              </a:rPr>
              <a:t>Report</a:t>
            </a:r>
          </a:p>
        </p:txBody>
      </p:sp>
      <p:cxnSp>
        <p:nvCxnSpPr>
          <p:cNvPr id="27" name="直線箭頭接點 26"/>
          <p:cNvCxnSpPr>
            <a:stCxn id="4" idx="3"/>
            <a:endCxn id="5" idx="1"/>
          </p:cNvCxnSpPr>
          <p:nvPr/>
        </p:nvCxnSpPr>
        <p:spPr>
          <a:xfrm>
            <a:off x="7772400" y="2228850"/>
            <a:ext cx="247650" cy="0"/>
          </a:xfrm>
          <a:prstGeom prst="straightConnector1">
            <a:avLst/>
          </a:prstGeom>
          <a:ln w="16193">
            <a:solidFill>
              <a:srgbClr val="5C6670"/>
            </a:solidFill>
            <a:prstDash val="solid"/>
            <a:tailEnd type="arrow" w="sm" len="sm"/>
          </a:ln>
        </p:spPr>
      </p:cxnSp>
      <p:cxnSp>
        <p:nvCxnSpPr>
          <p:cNvPr id="28" name="直線箭頭接點 27"/>
          <p:cNvCxnSpPr>
            <a:stCxn id="5" idx="3"/>
            <a:endCxn id="6" idx="1"/>
          </p:cNvCxnSpPr>
          <p:nvPr/>
        </p:nvCxnSpPr>
        <p:spPr>
          <a:xfrm>
            <a:off x="9086850" y="2228850"/>
            <a:ext cx="247650" cy="0"/>
          </a:xfrm>
          <a:prstGeom prst="straightConnector1">
            <a:avLst/>
          </a:prstGeom>
          <a:ln w="16193">
            <a:solidFill>
              <a:srgbClr val="5C6670"/>
            </a:solidFill>
            <a:prstDash val="solid"/>
            <a:tailEnd type="arrow" w="sm" len="sm"/>
          </a:ln>
        </p:spPr>
      </p:cxnSp>
      <p:cxnSp>
        <p:nvCxnSpPr>
          <p:cNvPr id="29" name="直線箭頭接點 28"/>
          <p:cNvCxnSpPr>
            <a:stCxn id="6" idx="3"/>
            <a:endCxn id="7" idx="1"/>
          </p:cNvCxnSpPr>
          <p:nvPr/>
        </p:nvCxnSpPr>
        <p:spPr>
          <a:xfrm>
            <a:off x="10401300" y="2228850"/>
            <a:ext cx="247650" cy="0"/>
          </a:xfrm>
          <a:prstGeom prst="straightConnector1">
            <a:avLst/>
          </a:prstGeom>
          <a:ln w="16193">
            <a:solidFill>
              <a:srgbClr val="5C6670"/>
            </a:solidFill>
            <a:prstDash val="solid"/>
            <a:tailEnd type="arrow" w="sm" len="sm"/>
          </a:ln>
        </p:spPr>
      </p:cxnSp>
      <p:sp>
        <p:nvSpPr>
          <p:cNvPr id="11" name="verification-branch">
            <a:extLst>
              <a:ext uri="{FF2B5EF4-FFF2-40B4-BE49-F238E27FC236}">
                <a16:creationId xmlns:a16="http://schemas.microsoft.com/office/drawing/2014/main" id="{0DE37413-4221-4538-A834-4F5DCF799902}"/>
              </a:ext>
            </a:extLst>
          </p:cNvPr>
          <p:cNvSpPr>
            <a:spLocks noGrp="1"/>
          </p:cNvSpPr>
          <p:nvPr/>
        </p:nvSpPr>
        <p:spPr>
          <a:xfrm>
            <a:off x="7239000" y="2495550"/>
            <a:ext cx="0" cy="571500"/>
          </a:xfrm>
          <a:prstGeom prst="line">
            <a:avLst/>
          </a:prstGeom>
          <a:noFill/>
          <a:ln w="14288">
            <a:solidFill>
              <a:srgbClr val="8A5D08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verification-branch">
            <a:extLst>
              <a:ext uri="{FF2B5EF4-FFF2-40B4-BE49-F238E27FC236}">
                <a16:creationId xmlns:a16="http://schemas.microsoft.com/office/drawing/2014/main" id="{AFBFAAF9-F5D4-4F7B-86BD-DD88DDD9033F}"/>
              </a:ext>
            </a:extLst>
          </p:cNvPr>
          <p:cNvSpPr>
            <a:spLocks noGrp="1"/>
          </p:cNvSpPr>
          <p:nvPr/>
        </p:nvSpPr>
        <p:spPr>
          <a:xfrm>
            <a:off x="8553450" y="2495550"/>
            <a:ext cx="0" cy="571500"/>
          </a:xfrm>
          <a:prstGeom prst="line">
            <a:avLst/>
          </a:prstGeom>
          <a:noFill/>
          <a:ln w="14288">
            <a:solidFill>
              <a:srgbClr val="8A5D08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verification-branch">
            <a:extLst>
              <a:ext uri="{FF2B5EF4-FFF2-40B4-BE49-F238E27FC236}">
                <a16:creationId xmlns:a16="http://schemas.microsoft.com/office/drawing/2014/main" id="{15045A57-EE07-45A2-AA82-3230459B762E}"/>
              </a:ext>
            </a:extLst>
          </p:cNvPr>
          <p:cNvSpPr>
            <a:spLocks noGrp="1"/>
          </p:cNvSpPr>
          <p:nvPr/>
        </p:nvSpPr>
        <p:spPr>
          <a:xfrm>
            <a:off x="9867900" y="2495550"/>
            <a:ext cx="0" cy="571500"/>
          </a:xfrm>
          <a:prstGeom prst="line">
            <a:avLst/>
          </a:prstGeom>
          <a:noFill/>
          <a:ln w="14288">
            <a:solidFill>
              <a:srgbClr val="8A5D08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verification-branch">
            <a:extLst>
              <a:ext uri="{FF2B5EF4-FFF2-40B4-BE49-F238E27FC236}">
                <a16:creationId xmlns:a16="http://schemas.microsoft.com/office/drawing/2014/main" id="{9FA639E5-9FC4-4FD7-AD32-81E1647E2545}"/>
              </a:ext>
            </a:extLst>
          </p:cNvPr>
          <p:cNvSpPr>
            <a:spLocks noGrp="1"/>
          </p:cNvSpPr>
          <p:nvPr/>
        </p:nvSpPr>
        <p:spPr>
          <a:xfrm>
            <a:off x="11182350" y="2495550"/>
            <a:ext cx="0" cy="571500"/>
          </a:xfrm>
          <a:prstGeom prst="line">
            <a:avLst/>
          </a:prstGeom>
          <a:noFill/>
          <a:ln w="14288">
            <a:solidFill>
              <a:srgbClr val="8A5D08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verification-bus">
            <a:extLst>
              <a:ext uri="{FF2B5EF4-FFF2-40B4-BE49-F238E27FC236}">
                <a16:creationId xmlns:a16="http://schemas.microsoft.com/office/drawing/2014/main" id="{40B8E0F3-6C67-40A6-8744-C43C554D394B}"/>
              </a:ext>
            </a:extLst>
          </p:cNvPr>
          <p:cNvSpPr>
            <a:spLocks noGrp="1"/>
          </p:cNvSpPr>
          <p:nvPr/>
        </p:nvSpPr>
        <p:spPr>
          <a:xfrm>
            <a:off x="7239000" y="3067050"/>
            <a:ext cx="3943350" cy="0"/>
          </a:xfrm>
          <a:prstGeom prst="line">
            <a:avLst/>
          </a:prstGeom>
          <a:noFill/>
          <a:ln w="14288">
            <a:solidFill>
              <a:srgbClr val="8A5D08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verification-down">
            <a:extLst>
              <a:ext uri="{FF2B5EF4-FFF2-40B4-BE49-F238E27FC236}">
                <a16:creationId xmlns:a16="http://schemas.microsoft.com/office/drawing/2014/main" id="{505C09C1-4F7F-4508-BD12-21AF4C17B3B7}"/>
              </a:ext>
            </a:extLst>
          </p:cNvPr>
          <p:cNvSpPr>
            <a:spLocks noGrp="1"/>
          </p:cNvSpPr>
          <p:nvPr/>
        </p:nvSpPr>
        <p:spPr>
          <a:xfrm>
            <a:off x="9210675" y="3067050"/>
            <a:ext cx="0" cy="457200"/>
          </a:xfrm>
          <a:prstGeom prst="line">
            <a:avLst/>
          </a:prstGeom>
          <a:noFill/>
          <a:ln w="14288">
            <a:solidFill>
              <a:srgbClr val="8A5D08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verification">
            <a:extLst>
              <a:ext uri="{FF2B5EF4-FFF2-40B4-BE49-F238E27FC236}">
                <a16:creationId xmlns:a16="http://schemas.microsoft.com/office/drawing/2014/main" id="{C0592958-52B0-4818-A0F4-2ACB0D8C6E42}"/>
              </a:ext>
            </a:extLst>
          </p:cNvPr>
          <p:cNvSpPr>
            <a:spLocks noGrp="1"/>
          </p:cNvSpPr>
          <p:nvPr/>
        </p:nvSpPr>
        <p:spPr>
          <a:xfrm>
            <a:off x="7162800" y="3524250"/>
            <a:ext cx="4095750" cy="552450"/>
          </a:xfrm>
          <a:prstGeom prst="roundRect">
            <a:avLst>
              <a:gd name="adj" fmla="val 13793"/>
            </a:avLst>
          </a:prstGeom>
          <a:solidFill>
            <a:srgbClr val="FFF8E8"/>
          </a:solidFill>
          <a:ln w="13335">
            <a:solidFill>
              <a:srgbClr val="8A5D0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500" b="1">
                <a:solidFill>
                  <a:srgbClr val="8A5D08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8A5D08"/>
                </a:solidFill>
                <a:latin typeface="PingFang TC"/>
                <a:ea typeface="PingFang TC"/>
                <a:cs typeface="PingFang TC"/>
              </a:rPr>
              <a:t>Verification checkpoints</a:t>
            </a:r>
          </a:p>
        </p:txBody>
      </p:sp>
      <p:sp>
        <p:nvSpPr>
          <p:cNvPr id="18" name="risk-note">
            <a:extLst>
              <a:ext uri="{FF2B5EF4-FFF2-40B4-BE49-F238E27FC236}">
                <a16:creationId xmlns:a16="http://schemas.microsoft.com/office/drawing/2014/main" id="{CD046791-DE80-4F8F-BF9D-43E106D80860}"/>
              </a:ext>
            </a:extLst>
          </p:cNvPr>
          <p:cNvSpPr>
            <a:spLocks noGrp="1"/>
          </p:cNvSpPr>
          <p:nvPr/>
        </p:nvSpPr>
        <p:spPr>
          <a:xfrm>
            <a:off x="7620000" y="466725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950" b="1">
                <a:solidFill>
                  <a:srgbClr val="B0432F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B0432F"/>
                </a:solidFill>
                <a:latin typeface="PingFang TC"/>
                <a:ea typeface="PingFang TC"/>
                <a:cs typeface="PingFang TC"/>
              </a:rPr>
              <a:t>看起來流暢 ≠ 可以信任</a:t>
            </a:r>
          </a:p>
        </p:txBody>
      </p:sp>
      <p:sp>
        <p:nvSpPr>
          <p:cNvPr id="19" name="footer">
            <a:extLst>
              <a:ext uri="{FF2B5EF4-FFF2-40B4-BE49-F238E27FC236}">
                <a16:creationId xmlns:a16="http://schemas.microsoft.com/office/drawing/2014/main" id="{BF5355F5-6CBE-4BF8-A47A-A1A0162D8FBA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Course introduction  |  2/7</a:t>
            </a:r>
          </a:p>
        </p:txBody>
      </p:sp>
    </p:spTree>
    <p:extLst>
      <p:ext uri="{BB962C8B-B14F-4D97-AF65-F5344CB8AC3E}">
        <p14:creationId xmlns:p14="http://schemas.microsoft.com/office/powerpoint/2010/main" val="3337240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yebrow">
            <a:extLst>
              <a:ext uri="{FF2B5EF4-FFF2-40B4-BE49-F238E27FC236}">
                <a16:creationId xmlns:a16="http://schemas.microsoft.com/office/drawing/2014/main" id="{C25ED26F-8047-46CA-9166-AD8485F5EA99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AGENT VIEW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6D489A0-2297-4101-A88D-773C7816C005}"/>
              </a:ext>
            </a:extLst>
          </p:cNvPr>
          <p:cNvSpPr>
            <a:spLocks noGrp="1"/>
          </p:cNvSpPr>
          <p:nvPr/>
        </p:nvSpPr>
        <p:spPr>
          <a:xfrm>
            <a:off x="723900" y="895350"/>
            <a:ext cx="933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本課的 agent 觀點：不是 prompt，而是系統</a:t>
            </a:r>
          </a:p>
        </p:txBody>
      </p:sp>
      <p:sp>
        <p:nvSpPr>
          <p:cNvPr id="3" name="lead">
            <a:extLst>
              <a:ext uri="{FF2B5EF4-FFF2-40B4-BE49-F238E27FC236}">
                <a16:creationId xmlns:a16="http://schemas.microsoft.com/office/drawing/2014/main" id="{85F7998F-5B20-4701-9115-FB8EE60B8EAD}"/>
              </a:ext>
            </a:extLst>
          </p:cNvPr>
          <p:cNvSpPr>
            <a:spLocks noGrp="1"/>
          </p:cNvSpPr>
          <p:nvPr/>
        </p:nvSpPr>
        <p:spPr>
          <a:xfrm>
            <a:off x="723900" y="1733550"/>
            <a:ext cx="723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Prompt 是入口，不是完整解法。好的 workflow 要能回答三個問題。</a:t>
            </a:r>
          </a:p>
        </p:txBody>
      </p:sp>
      <p:sp>
        <p:nvSpPr>
          <p:cNvPr id="4" name="what">
            <a:extLst>
              <a:ext uri="{FF2B5EF4-FFF2-40B4-BE49-F238E27FC236}">
                <a16:creationId xmlns:a16="http://schemas.microsoft.com/office/drawing/2014/main" id="{A0012314-EE0A-4434-85B2-7A1E9EF0D1E6}"/>
              </a:ext>
            </a:extLst>
          </p:cNvPr>
          <p:cNvSpPr>
            <a:spLocks noGrp="1"/>
          </p:cNvSpPr>
          <p:nvPr/>
        </p:nvSpPr>
        <p:spPr>
          <a:xfrm>
            <a:off x="876300" y="2647950"/>
            <a:ext cx="23812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335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650" b="1">
                <a:solidFill>
                  <a:srgbClr val="0B6E6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B6E68"/>
                </a:solidFill>
                <a:latin typeface="PingFang TC"/>
                <a:ea typeface="PingFang TC"/>
                <a:cs typeface="PingFang TC"/>
              </a:rPr>
              <a:t>它做了什麼？</a:t>
            </a:r>
          </a:p>
        </p:txBody>
      </p:sp>
      <p:sp>
        <p:nvSpPr>
          <p:cNvPr id="5" name="basis">
            <a:extLst>
              <a:ext uri="{FF2B5EF4-FFF2-40B4-BE49-F238E27FC236}">
                <a16:creationId xmlns:a16="http://schemas.microsoft.com/office/drawing/2014/main" id="{57460E62-4A2B-4B45-8292-3717A4A624A8}"/>
              </a:ext>
            </a:extLst>
          </p:cNvPr>
          <p:cNvSpPr>
            <a:spLocks noGrp="1"/>
          </p:cNvSpPr>
          <p:nvPr/>
        </p:nvSpPr>
        <p:spPr>
          <a:xfrm>
            <a:off x="876300" y="3505200"/>
            <a:ext cx="23812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335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根據什麼做？</a:t>
            </a:r>
          </a:p>
        </p:txBody>
      </p:sp>
      <p:sp>
        <p:nvSpPr>
          <p:cNvPr id="6" name="rerun">
            <a:extLst>
              <a:ext uri="{FF2B5EF4-FFF2-40B4-BE49-F238E27FC236}">
                <a16:creationId xmlns:a16="http://schemas.microsoft.com/office/drawing/2014/main" id="{8082C455-A303-4665-AA49-097D2AD58CFD}"/>
              </a:ext>
            </a:extLst>
          </p:cNvPr>
          <p:cNvSpPr>
            <a:spLocks noGrp="1"/>
          </p:cNvSpPr>
          <p:nvPr/>
        </p:nvSpPr>
        <p:spPr>
          <a:xfrm>
            <a:off x="876300" y="4362450"/>
            <a:ext cx="23812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335">
            <a:solidFill>
              <a:srgbClr val="8A5D0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650" b="1">
                <a:solidFill>
                  <a:srgbClr val="8A5D0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8A5D08"/>
                </a:solidFill>
                <a:latin typeface="PingFang TC"/>
                <a:ea typeface="PingFang TC"/>
                <a:cs typeface="PingFang TC"/>
              </a:rPr>
              <a:t>如何檢查或重跑？</a:t>
            </a:r>
          </a:p>
        </p:txBody>
      </p:sp>
      <p:sp>
        <p:nvSpPr>
          <p:cNvPr id="7" name="workflow">
            <a:extLst>
              <a:ext uri="{FF2B5EF4-FFF2-40B4-BE49-F238E27FC236}">
                <a16:creationId xmlns:a16="http://schemas.microsoft.com/office/drawing/2014/main" id="{399A17E3-81DD-462F-846F-ABA075160B33}"/>
              </a:ext>
            </a:extLst>
          </p:cNvPr>
          <p:cNvSpPr>
            <a:spLocks noGrp="1"/>
          </p:cNvSpPr>
          <p:nvPr/>
        </p:nvSpPr>
        <p:spPr>
          <a:xfrm>
            <a:off x="4905375" y="337185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1F3FF"/>
          </a:solidFill>
          <a:ln w="13335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Agent workflow</a:t>
            </a:r>
          </a:p>
        </p:txBody>
      </p:sp>
      <p:sp>
        <p:nvSpPr>
          <p:cNvPr id="8" name="spec">
            <a:extLst>
              <a:ext uri="{FF2B5EF4-FFF2-40B4-BE49-F238E27FC236}">
                <a16:creationId xmlns:a16="http://schemas.microsoft.com/office/drawing/2014/main" id="{B007252A-FB6A-4630-AD18-C9C470D1F2FC}"/>
              </a:ext>
            </a:extLst>
          </p:cNvPr>
          <p:cNvSpPr>
            <a:spLocks noGrp="1"/>
          </p:cNvSpPr>
          <p:nvPr/>
        </p:nvSpPr>
        <p:spPr>
          <a:xfrm>
            <a:off x="4305300" y="2228850"/>
            <a:ext cx="12954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335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00" b="1">
                <a:solidFill>
                  <a:srgbClr val="0B6E6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B6E68"/>
                </a:solidFill>
                <a:latin typeface="PingFang TC"/>
                <a:ea typeface="PingFang TC"/>
                <a:cs typeface="PingFang TC"/>
              </a:rPr>
              <a:t>Task spec</a:t>
            </a:r>
          </a:p>
        </p:txBody>
      </p:sp>
      <p:sp>
        <p:nvSpPr>
          <p:cNvPr id="9" name="context">
            <a:extLst>
              <a:ext uri="{FF2B5EF4-FFF2-40B4-BE49-F238E27FC236}">
                <a16:creationId xmlns:a16="http://schemas.microsoft.com/office/drawing/2014/main" id="{345B3508-B153-40BA-B6DF-37E748982D6C}"/>
              </a:ext>
            </a:extLst>
          </p:cNvPr>
          <p:cNvSpPr>
            <a:spLocks noGrp="1"/>
          </p:cNvSpPr>
          <p:nvPr/>
        </p:nvSpPr>
        <p:spPr>
          <a:xfrm>
            <a:off x="6134100" y="2228850"/>
            <a:ext cx="120015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335">
            <a:solidFill>
              <a:srgbClr val="5C6670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00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Context</a:t>
            </a:r>
          </a:p>
        </p:txBody>
      </p:sp>
      <p:sp>
        <p:nvSpPr>
          <p:cNvPr id="10" name="tools">
            <a:extLst>
              <a:ext uri="{FF2B5EF4-FFF2-40B4-BE49-F238E27FC236}">
                <a16:creationId xmlns:a16="http://schemas.microsoft.com/office/drawing/2014/main" id="{BA35D87E-A465-4A1A-8C44-FE3DD5260C5D}"/>
              </a:ext>
            </a:extLst>
          </p:cNvPr>
          <p:cNvSpPr>
            <a:spLocks noGrp="1"/>
          </p:cNvSpPr>
          <p:nvPr/>
        </p:nvSpPr>
        <p:spPr>
          <a:xfrm>
            <a:off x="7943850" y="3009900"/>
            <a:ext cx="104775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335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Tools</a:t>
            </a:r>
          </a:p>
        </p:txBody>
      </p:sp>
      <p:sp>
        <p:nvSpPr>
          <p:cNvPr id="11" name="sources">
            <a:extLst>
              <a:ext uri="{FF2B5EF4-FFF2-40B4-BE49-F238E27FC236}">
                <a16:creationId xmlns:a16="http://schemas.microsoft.com/office/drawing/2014/main" id="{35B95D83-DD09-4AD2-BF71-78B68877C22F}"/>
              </a:ext>
            </a:extLst>
          </p:cNvPr>
          <p:cNvSpPr>
            <a:spLocks noGrp="1"/>
          </p:cNvSpPr>
          <p:nvPr/>
        </p:nvSpPr>
        <p:spPr>
          <a:xfrm>
            <a:off x="7943850" y="4229100"/>
            <a:ext cx="116205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335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00" b="1">
                <a:solidFill>
                  <a:srgbClr val="0B6E6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B6E68"/>
                </a:solidFill>
                <a:latin typeface="PingFang TC"/>
                <a:ea typeface="PingFang TC"/>
                <a:cs typeface="PingFang TC"/>
              </a:rPr>
              <a:t>Sources</a:t>
            </a:r>
          </a:p>
        </p:txBody>
      </p:sp>
      <p:sp>
        <p:nvSpPr>
          <p:cNvPr id="12" name="loop">
            <a:extLst>
              <a:ext uri="{FF2B5EF4-FFF2-40B4-BE49-F238E27FC236}">
                <a16:creationId xmlns:a16="http://schemas.microsoft.com/office/drawing/2014/main" id="{EE9827D2-256A-4D2A-A5DD-50B8AA1E4260}"/>
              </a:ext>
            </a:extLst>
          </p:cNvPr>
          <p:cNvSpPr>
            <a:spLocks noGrp="1"/>
          </p:cNvSpPr>
          <p:nvPr/>
        </p:nvSpPr>
        <p:spPr>
          <a:xfrm>
            <a:off x="6134100" y="5200650"/>
            <a:ext cx="112395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335">
            <a:solidFill>
              <a:srgbClr val="8A5D0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00" b="1">
                <a:solidFill>
                  <a:srgbClr val="8A5D0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8A5D08"/>
                </a:solidFill>
                <a:latin typeface="PingFang TC"/>
                <a:ea typeface="PingFang TC"/>
                <a:cs typeface="PingFang TC"/>
              </a:rPr>
              <a:t>Loop</a:t>
            </a:r>
          </a:p>
        </p:txBody>
      </p:sp>
      <p:sp>
        <p:nvSpPr>
          <p:cNvPr id="13" name="output">
            <a:extLst>
              <a:ext uri="{FF2B5EF4-FFF2-40B4-BE49-F238E27FC236}">
                <a16:creationId xmlns:a16="http://schemas.microsoft.com/office/drawing/2014/main" id="{BAE23856-2E0D-4243-9347-FB9E7D4DA5D8}"/>
              </a:ext>
            </a:extLst>
          </p:cNvPr>
          <p:cNvSpPr>
            <a:spLocks noGrp="1"/>
          </p:cNvSpPr>
          <p:nvPr/>
        </p:nvSpPr>
        <p:spPr>
          <a:xfrm>
            <a:off x="4305300" y="5200650"/>
            <a:ext cx="118110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335">
            <a:solidFill>
              <a:srgbClr val="5C6670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00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Output</a:t>
            </a:r>
          </a:p>
        </p:txBody>
      </p:sp>
      <p:cxnSp>
        <p:nvCxnSpPr>
          <p:cNvPr id="40" name="直線箭頭接點 39"/>
          <p:cNvCxnSpPr>
            <a:stCxn id="7" idx="0"/>
            <a:endCxn id="8" idx="3"/>
          </p:cNvCxnSpPr>
          <p:nvPr/>
        </p:nvCxnSpPr>
        <p:spPr>
          <a:xfrm flipH="1" flipV="1">
            <a:off x="5600700" y="2466975"/>
            <a:ext cx="209550" cy="904875"/>
          </a:xfrm>
          <a:prstGeom prst="straightConnector1">
            <a:avLst/>
          </a:prstGeom>
          <a:ln w="11430">
            <a:solidFill>
              <a:srgbClr val="D4DADD"/>
            </a:solidFill>
            <a:prstDash val="solid"/>
          </a:ln>
        </p:spPr>
      </p:cxnSp>
      <p:cxnSp>
        <p:nvCxnSpPr>
          <p:cNvPr id="41" name="直線箭頭接點 40"/>
          <p:cNvCxnSpPr>
            <a:stCxn id="7" idx="0"/>
            <a:endCxn id="9" idx="1"/>
          </p:cNvCxnSpPr>
          <p:nvPr/>
        </p:nvCxnSpPr>
        <p:spPr>
          <a:xfrm flipV="1">
            <a:off x="5810250" y="2466975"/>
            <a:ext cx="323850" cy="904875"/>
          </a:xfrm>
          <a:prstGeom prst="straightConnector1">
            <a:avLst/>
          </a:prstGeom>
          <a:ln w="11430">
            <a:solidFill>
              <a:srgbClr val="D4DADD"/>
            </a:solidFill>
            <a:prstDash val="solid"/>
          </a:ln>
        </p:spPr>
      </p:cxnSp>
      <p:cxnSp>
        <p:nvCxnSpPr>
          <p:cNvPr id="42" name="直線箭頭接點 41"/>
          <p:cNvCxnSpPr>
            <a:stCxn id="7" idx="3"/>
            <a:endCxn id="10" idx="1"/>
          </p:cNvCxnSpPr>
          <p:nvPr/>
        </p:nvCxnSpPr>
        <p:spPr>
          <a:xfrm flipV="1">
            <a:off x="6715125" y="3248025"/>
            <a:ext cx="1228725" cy="523875"/>
          </a:xfrm>
          <a:prstGeom prst="straightConnector1">
            <a:avLst/>
          </a:prstGeom>
          <a:ln w="11430">
            <a:solidFill>
              <a:srgbClr val="D4DADD"/>
            </a:solidFill>
            <a:prstDash val="solid"/>
          </a:ln>
        </p:spPr>
      </p:cxnSp>
      <p:cxnSp>
        <p:nvCxnSpPr>
          <p:cNvPr id="43" name="直線箭頭接點 42"/>
          <p:cNvCxnSpPr>
            <a:stCxn id="7" idx="3"/>
            <a:endCxn id="11" idx="1"/>
          </p:cNvCxnSpPr>
          <p:nvPr/>
        </p:nvCxnSpPr>
        <p:spPr>
          <a:xfrm>
            <a:off x="6715125" y="3771900"/>
            <a:ext cx="1228725" cy="695325"/>
          </a:xfrm>
          <a:prstGeom prst="straightConnector1">
            <a:avLst/>
          </a:prstGeom>
          <a:ln w="11430">
            <a:solidFill>
              <a:srgbClr val="D4DADD"/>
            </a:solidFill>
            <a:prstDash val="solid"/>
          </a:ln>
        </p:spPr>
      </p:cxnSp>
      <p:cxnSp>
        <p:nvCxnSpPr>
          <p:cNvPr id="44" name="直線箭頭接點 43"/>
          <p:cNvCxnSpPr>
            <a:stCxn id="7" idx="2"/>
            <a:endCxn id="12" idx="1"/>
          </p:cNvCxnSpPr>
          <p:nvPr/>
        </p:nvCxnSpPr>
        <p:spPr>
          <a:xfrm>
            <a:off x="5810250" y="4171950"/>
            <a:ext cx="323850" cy="1266825"/>
          </a:xfrm>
          <a:prstGeom prst="straightConnector1">
            <a:avLst/>
          </a:prstGeom>
          <a:ln w="11430">
            <a:solidFill>
              <a:srgbClr val="D4DADD"/>
            </a:solidFill>
            <a:prstDash val="solid"/>
          </a:ln>
        </p:spPr>
      </p:cxnSp>
      <p:cxnSp>
        <p:nvCxnSpPr>
          <p:cNvPr id="45" name="直線箭頭接點 44"/>
          <p:cNvCxnSpPr>
            <a:stCxn id="7" idx="2"/>
            <a:endCxn id="13" idx="3"/>
          </p:cNvCxnSpPr>
          <p:nvPr/>
        </p:nvCxnSpPr>
        <p:spPr>
          <a:xfrm flipH="1">
            <a:off x="5486400" y="4171950"/>
            <a:ext cx="323850" cy="1266825"/>
          </a:xfrm>
          <a:prstGeom prst="straightConnector1">
            <a:avLst/>
          </a:prstGeom>
          <a:ln w="11430">
            <a:solidFill>
              <a:srgbClr val="D4DADD"/>
            </a:solidFill>
            <a:prstDash val="solid"/>
          </a:ln>
        </p:spPr>
      </p:cxnSp>
      <p:cxnSp>
        <p:nvCxnSpPr>
          <p:cNvPr id="46" name="肘形接點 45"/>
          <p:cNvCxnSpPr>
            <a:stCxn id="4" idx="3"/>
            <a:endCxn id="7" idx="1"/>
          </p:cNvCxnSpPr>
          <p:nvPr/>
        </p:nvCxnSpPr>
        <p:spPr>
          <a:xfrm>
            <a:off x="3257550" y="2952750"/>
            <a:ext cx="1647825" cy="819150"/>
          </a:xfrm>
          <a:prstGeom prst="bentConnector3">
            <a:avLst>
              <a:gd name="adj1" fmla="val 50000"/>
            </a:avLst>
          </a:prstGeom>
          <a:ln w="13335">
            <a:solidFill>
              <a:srgbClr val="0B6E68"/>
            </a:solidFill>
            <a:prstDash val="solid"/>
            <a:tailEnd type="arrow" w="sm" len="sm"/>
          </a:ln>
        </p:spPr>
      </p:cxnSp>
      <p:cxnSp>
        <p:nvCxnSpPr>
          <p:cNvPr id="47" name="肘形接點 46"/>
          <p:cNvCxnSpPr>
            <a:stCxn id="5" idx="3"/>
            <a:endCxn id="7" idx="1"/>
          </p:cNvCxnSpPr>
          <p:nvPr/>
        </p:nvCxnSpPr>
        <p:spPr>
          <a:xfrm flipV="1">
            <a:off x="3257550" y="3771900"/>
            <a:ext cx="1647825" cy="38100"/>
          </a:xfrm>
          <a:prstGeom prst="bentConnector3">
            <a:avLst>
              <a:gd name="adj1" fmla="val 50000"/>
            </a:avLst>
          </a:prstGeom>
          <a:ln w="13335">
            <a:solidFill>
              <a:srgbClr val="3446A8"/>
            </a:solidFill>
            <a:prstDash val="solid"/>
            <a:tailEnd type="arrow" w="sm" len="sm"/>
          </a:ln>
        </p:spPr>
      </p:cxnSp>
      <p:cxnSp>
        <p:nvCxnSpPr>
          <p:cNvPr id="48" name="肘形接點 47"/>
          <p:cNvCxnSpPr>
            <a:stCxn id="6" idx="3"/>
            <a:endCxn id="7" idx="1"/>
          </p:cNvCxnSpPr>
          <p:nvPr/>
        </p:nvCxnSpPr>
        <p:spPr>
          <a:xfrm flipV="1">
            <a:off x="3257550" y="3771900"/>
            <a:ext cx="1647825" cy="895350"/>
          </a:xfrm>
          <a:prstGeom prst="bentConnector3">
            <a:avLst>
              <a:gd name="adj1" fmla="val 50000"/>
            </a:avLst>
          </a:prstGeom>
          <a:ln w="13335">
            <a:solidFill>
              <a:srgbClr val="8A5D08"/>
            </a:solidFill>
            <a:prstDash val="solid"/>
            <a:tailEnd type="arrow" w="sm" len="sm"/>
          </a:ln>
        </p:spPr>
      </p:cxnSp>
      <p:sp>
        <p:nvSpPr>
          <p:cNvPr id="23" name="goal1">
            <a:extLst>
              <a:ext uri="{FF2B5EF4-FFF2-40B4-BE49-F238E27FC236}">
                <a16:creationId xmlns:a16="http://schemas.microsoft.com/office/drawing/2014/main" id="{8FA79DDA-E799-4BDD-B593-08CDC7EF55E4}"/>
              </a:ext>
            </a:extLst>
          </p:cNvPr>
          <p:cNvSpPr>
            <a:spLocks noGrp="1"/>
          </p:cNvSpPr>
          <p:nvPr/>
        </p:nvSpPr>
        <p:spPr>
          <a:xfrm>
            <a:off x="9353550" y="2590800"/>
            <a:ext cx="1257300" cy="361950"/>
          </a:xfrm>
          <a:prstGeom prst="roundRect">
            <a:avLst>
              <a:gd name="adj" fmla="val 26316"/>
            </a:avLst>
          </a:prstGeom>
          <a:solidFill>
            <a:srgbClr val="EAF8F6"/>
          </a:solidFill>
          <a:ln w="12383">
            <a:solidFill>
              <a:srgbClr val="0B6E68"/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275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checkable</a:t>
            </a:r>
          </a:p>
        </p:txBody>
      </p:sp>
      <p:sp>
        <p:nvSpPr>
          <p:cNvPr id="24" name="goal2">
            <a:extLst>
              <a:ext uri="{FF2B5EF4-FFF2-40B4-BE49-F238E27FC236}">
                <a16:creationId xmlns:a16="http://schemas.microsoft.com/office/drawing/2014/main" id="{BEC6BF9A-D79D-472A-9FE8-091FF3BD0EFD}"/>
              </a:ext>
            </a:extLst>
          </p:cNvPr>
          <p:cNvSpPr>
            <a:spLocks noGrp="1"/>
          </p:cNvSpPr>
          <p:nvPr/>
        </p:nvSpPr>
        <p:spPr>
          <a:xfrm>
            <a:off x="9353550" y="3143250"/>
            <a:ext cx="1466850" cy="361950"/>
          </a:xfrm>
          <a:prstGeom prst="roundRect">
            <a:avLst>
              <a:gd name="adj" fmla="val 26316"/>
            </a:avLst>
          </a:prstGeom>
          <a:solidFill>
            <a:srgbClr val="EEF1FF"/>
          </a:solidFill>
          <a:ln w="12383">
            <a:solidFill>
              <a:srgbClr val="3446A8"/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reproducible</a:t>
            </a:r>
          </a:p>
        </p:txBody>
      </p:sp>
      <p:sp>
        <p:nvSpPr>
          <p:cNvPr id="25" name="goal3">
            <a:extLst>
              <a:ext uri="{FF2B5EF4-FFF2-40B4-BE49-F238E27FC236}">
                <a16:creationId xmlns:a16="http://schemas.microsoft.com/office/drawing/2014/main" id="{AEDFA80B-0B37-42F0-9EFF-057A27528519}"/>
              </a:ext>
            </a:extLst>
          </p:cNvPr>
          <p:cNvSpPr>
            <a:spLocks noGrp="1"/>
          </p:cNvSpPr>
          <p:nvPr/>
        </p:nvSpPr>
        <p:spPr>
          <a:xfrm>
            <a:off x="9353550" y="3695700"/>
            <a:ext cx="1466850" cy="361950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2383">
            <a:solidFill>
              <a:srgbClr val="5C6670"/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275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maintainable</a:t>
            </a:r>
          </a:p>
        </p:txBody>
      </p:sp>
      <p:sp>
        <p:nvSpPr>
          <p:cNvPr id="26" name="footer">
            <a:extLst>
              <a:ext uri="{FF2B5EF4-FFF2-40B4-BE49-F238E27FC236}">
                <a16:creationId xmlns:a16="http://schemas.microsoft.com/office/drawing/2014/main" id="{9EC5DA74-F093-4889-897D-9A188C948B30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Course introduction  |  3/7</a:t>
            </a:r>
          </a:p>
        </p:txBody>
      </p:sp>
    </p:spTree>
    <p:extLst>
      <p:ext uri="{BB962C8B-B14F-4D97-AF65-F5344CB8AC3E}">
        <p14:creationId xmlns:p14="http://schemas.microsoft.com/office/powerpoint/2010/main" val="3426889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yebrow">
            <a:extLst>
              <a:ext uri="{FF2B5EF4-FFF2-40B4-BE49-F238E27FC236}">
                <a16:creationId xmlns:a16="http://schemas.microsoft.com/office/drawing/2014/main" id="{EDC8114B-7D95-4883-9B45-24426077344C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THREE-DAY ROADMAP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8835DB3-1A9A-4148-A2C5-6DB661B377FE}"/>
              </a:ext>
            </a:extLst>
          </p:cNvPr>
          <p:cNvSpPr>
            <a:spLocks noGrp="1"/>
          </p:cNvSpPr>
          <p:nvPr/>
        </p:nvSpPr>
        <p:spPr>
          <a:xfrm>
            <a:off x="723900" y="895350"/>
            <a:ext cx="933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三天課程會從操作走到可交付 workflow</a:t>
            </a:r>
          </a:p>
        </p:txBody>
      </p:sp>
      <p:sp>
        <p:nvSpPr>
          <p:cNvPr id="3" name="Day 1-head">
            <a:extLst>
              <a:ext uri="{FF2B5EF4-FFF2-40B4-BE49-F238E27FC236}">
                <a16:creationId xmlns:a16="http://schemas.microsoft.com/office/drawing/2014/main" id="{AB4CAA5A-149A-49CD-9F08-76696868EF7E}"/>
              </a:ext>
            </a:extLst>
          </p:cNvPr>
          <p:cNvSpPr>
            <a:spLocks noGrp="1"/>
          </p:cNvSpPr>
          <p:nvPr/>
        </p:nvSpPr>
        <p:spPr>
          <a:xfrm>
            <a:off x="857250" y="2266950"/>
            <a:ext cx="238125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335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650" b="1">
                <a:solidFill>
                  <a:srgbClr val="0B6E6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B6E68"/>
                </a:solidFill>
                <a:latin typeface="PingFang TC"/>
                <a:ea typeface="PingFang TC"/>
                <a:cs typeface="PingFang TC"/>
              </a:rPr>
              <a:t>Day 1</a:t>
            </a:r>
          </a:p>
          <a:p>
            <a:pPr algn="ctr">
              <a:defRPr sz="1650" b="1">
                <a:solidFill>
                  <a:srgbClr val="0B6E6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B6E68"/>
                </a:solidFill>
                <a:latin typeface="PingFang TC"/>
                <a:ea typeface="PingFang TC"/>
                <a:cs typeface="PingFang TC"/>
              </a:rPr>
              <a:t>Foundations</a:t>
            </a:r>
          </a:p>
        </p:txBody>
      </p:sp>
      <p:sp>
        <p:nvSpPr>
          <p:cNvPr id="4" name="Day 1-list">
            <a:extLst>
              <a:ext uri="{FF2B5EF4-FFF2-40B4-BE49-F238E27FC236}">
                <a16:creationId xmlns:a16="http://schemas.microsoft.com/office/drawing/2014/main" id="{48B535C6-B596-4A76-92A6-5264D4B1076E}"/>
              </a:ext>
            </a:extLst>
          </p:cNvPr>
          <p:cNvSpPr>
            <a:spLocks noGrp="1"/>
          </p:cNvSpPr>
          <p:nvPr/>
        </p:nvSpPr>
        <p:spPr>
          <a:xfrm>
            <a:off x="952500" y="3467100"/>
            <a:ext cx="22098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0" indent="-10">
              <a:lnSpc>
                <a:spcPct val="108000"/>
              </a:lnSpc>
              <a:spcAft>
                <a:spcPts val="10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LLM basics</a:t>
            </a:r>
          </a:p>
          <a:p>
            <a:pPr marL="20" indent="-10">
              <a:lnSpc>
                <a:spcPct val="108000"/>
              </a:lnSpc>
              <a:spcAft>
                <a:spcPts val="10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Desktop agent</a:t>
            </a:r>
          </a:p>
          <a:p>
            <a:pPr marL="20" indent="-10">
              <a:lnSpc>
                <a:spcPct val="108000"/>
              </a:lnSpc>
              <a:spcAft>
                <a:spcPts val="10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Evidence table</a:t>
            </a:r>
          </a:p>
          <a:p>
            <a:pPr marL="20" indent="-10">
              <a:lnSpc>
                <a:spcPct val="108000"/>
              </a:lnSpc>
              <a:spcAft>
                <a:spcPts val="10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Source checking</a:t>
            </a:r>
          </a:p>
        </p:txBody>
      </p:sp>
      <p:sp>
        <p:nvSpPr>
          <p:cNvPr id="5" name="Day 1-bar">
            <a:extLst>
              <a:ext uri="{FF2B5EF4-FFF2-40B4-BE49-F238E27FC236}">
                <a16:creationId xmlns:a16="http://schemas.microsoft.com/office/drawing/2014/main" id="{07A9A4A2-8EC2-4528-A596-5C2FBF0F3812}"/>
              </a:ext>
            </a:extLst>
          </p:cNvPr>
          <p:cNvSpPr>
            <a:spLocks noGrp="1"/>
          </p:cNvSpPr>
          <p:nvPr/>
        </p:nvSpPr>
        <p:spPr>
          <a:xfrm>
            <a:off x="857250" y="3219450"/>
            <a:ext cx="2381250" cy="76200"/>
          </a:xfrm>
          <a:prstGeom prst="rect">
            <a:avLst/>
          </a:prstGeom>
          <a:solidFill>
            <a:srgbClr val="0B6E68"/>
          </a:solidFill>
          <a:ln w="0">
            <a:solidFill>
              <a:srgbClr val="0B6E6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Day 2-head">
            <a:extLst>
              <a:ext uri="{FF2B5EF4-FFF2-40B4-BE49-F238E27FC236}">
                <a16:creationId xmlns:a16="http://schemas.microsoft.com/office/drawing/2014/main" id="{CCAC29A3-9C87-4DD8-A55C-07E445D4F0A3}"/>
              </a:ext>
            </a:extLst>
          </p:cNvPr>
          <p:cNvSpPr>
            <a:spLocks noGrp="1"/>
          </p:cNvSpPr>
          <p:nvPr/>
        </p:nvSpPr>
        <p:spPr>
          <a:xfrm>
            <a:off x="4476750" y="2266950"/>
            <a:ext cx="238125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335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Day 2</a:t>
            </a:r>
          </a:p>
          <a:p>
            <a:pPr algn="ctr"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Engineering</a:t>
            </a:r>
          </a:p>
        </p:txBody>
      </p:sp>
      <p:sp>
        <p:nvSpPr>
          <p:cNvPr id="7" name="Day 2-list">
            <a:extLst>
              <a:ext uri="{FF2B5EF4-FFF2-40B4-BE49-F238E27FC236}">
                <a16:creationId xmlns:a16="http://schemas.microsoft.com/office/drawing/2014/main" id="{C753ADE9-C5F1-4E9C-AE84-F5A935971467}"/>
              </a:ext>
            </a:extLst>
          </p:cNvPr>
          <p:cNvSpPr>
            <a:spLocks noGrp="1"/>
          </p:cNvSpPr>
          <p:nvPr/>
        </p:nvSpPr>
        <p:spPr>
          <a:xfrm>
            <a:off x="4572000" y="3467100"/>
            <a:ext cx="22098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0" indent="-10">
              <a:lnSpc>
                <a:spcPct val="108000"/>
              </a:lnSpc>
              <a:spcAft>
                <a:spcPts val="10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Harness</a:t>
            </a:r>
          </a:p>
          <a:p>
            <a:pPr marL="20" indent="-10">
              <a:lnSpc>
                <a:spcPct val="108000"/>
              </a:lnSpc>
              <a:spcAft>
                <a:spcPts val="10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Coding agent / CLI</a:t>
            </a:r>
          </a:p>
          <a:p>
            <a:pPr marL="20" indent="-10">
              <a:lnSpc>
                <a:spcPct val="108000"/>
              </a:lnSpc>
              <a:spcAft>
                <a:spcPts val="10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Spec-driven dev</a:t>
            </a:r>
          </a:p>
          <a:p>
            <a:pPr marL="20" indent="-10">
              <a:lnSpc>
                <a:spcPct val="108000"/>
              </a:lnSpc>
              <a:spcAft>
                <a:spcPts val="10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Loop lab</a:t>
            </a:r>
          </a:p>
        </p:txBody>
      </p:sp>
      <p:sp>
        <p:nvSpPr>
          <p:cNvPr id="8" name="Day 2-bar">
            <a:extLst>
              <a:ext uri="{FF2B5EF4-FFF2-40B4-BE49-F238E27FC236}">
                <a16:creationId xmlns:a16="http://schemas.microsoft.com/office/drawing/2014/main" id="{001DC2CE-C8EE-40D1-B675-FB998C922A9A}"/>
              </a:ext>
            </a:extLst>
          </p:cNvPr>
          <p:cNvSpPr>
            <a:spLocks noGrp="1"/>
          </p:cNvSpPr>
          <p:nvPr/>
        </p:nvSpPr>
        <p:spPr>
          <a:xfrm>
            <a:off x="4476750" y="3219450"/>
            <a:ext cx="2381250" cy="76200"/>
          </a:xfrm>
          <a:prstGeom prst="rect">
            <a:avLst/>
          </a:prstGeom>
          <a:solidFill>
            <a:srgbClr val="3446A8"/>
          </a:solidFill>
          <a:ln w="0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Day 3-head">
            <a:extLst>
              <a:ext uri="{FF2B5EF4-FFF2-40B4-BE49-F238E27FC236}">
                <a16:creationId xmlns:a16="http://schemas.microsoft.com/office/drawing/2014/main" id="{F961BEFC-8A70-4D27-B4CA-2119C806A73E}"/>
              </a:ext>
            </a:extLst>
          </p:cNvPr>
          <p:cNvSpPr>
            <a:spLocks noGrp="1"/>
          </p:cNvSpPr>
          <p:nvPr/>
        </p:nvSpPr>
        <p:spPr>
          <a:xfrm>
            <a:off x="8096250" y="2266950"/>
            <a:ext cx="238125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3335">
            <a:solidFill>
              <a:srgbClr val="8A5D0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650" b="1">
                <a:solidFill>
                  <a:srgbClr val="8A5D0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8A5D08"/>
                </a:solidFill>
                <a:latin typeface="PingFang TC"/>
                <a:ea typeface="PingFang TC"/>
                <a:cs typeface="PingFang TC"/>
              </a:rPr>
              <a:t>Day 3</a:t>
            </a:r>
          </a:p>
          <a:p>
            <a:pPr algn="ctr">
              <a:defRPr sz="1650" b="1">
                <a:solidFill>
                  <a:srgbClr val="8A5D0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8A5D08"/>
                </a:solidFill>
                <a:latin typeface="PingFang TC"/>
                <a:ea typeface="PingFang TC"/>
                <a:cs typeface="PingFang TC"/>
              </a:rPr>
              <a:t>Integration</a:t>
            </a:r>
          </a:p>
        </p:txBody>
      </p:sp>
      <p:sp>
        <p:nvSpPr>
          <p:cNvPr id="10" name="Day 3-list">
            <a:extLst>
              <a:ext uri="{FF2B5EF4-FFF2-40B4-BE49-F238E27FC236}">
                <a16:creationId xmlns:a16="http://schemas.microsoft.com/office/drawing/2014/main" id="{06D4AD55-A7F3-4934-A1BA-FB6726937768}"/>
              </a:ext>
            </a:extLst>
          </p:cNvPr>
          <p:cNvSpPr>
            <a:spLocks noGrp="1"/>
          </p:cNvSpPr>
          <p:nvPr/>
        </p:nvSpPr>
        <p:spPr>
          <a:xfrm>
            <a:off x="8191500" y="3467100"/>
            <a:ext cx="22098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0" indent="-10">
              <a:lnSpc>
                <a:spcPct val="108000"/>
              </a:lnSpc>
              <a:spcAft>
                <a:spcPts val="10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Hackathon</a:t>
            </a:r>
          </a:p>
          <a:p>
            <a:pPr marL="20" indent="-10">
              <a:lnSpc>
                <a:spcPct val="108000"/>
              </a:lnSpc>
              <a:spcAft>
                <a:spcPts val="10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Validation</a:t>
            </a:r>
          </a:p>
          <a:p>
            <a:pPr marL="20" indent="-10">
              <a:lnSpc>
                <a:spcPct val="108000"/>
              </a:lnSpc>
              <a:spcAft>
                <a:spcPts val="10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Reproducibility</a:t>
            </a:r>
          </a:p>
          <a:p>
            <a:pPr marL="20" indent="-10">
              <a:lnSpc>
                <a:spcPct val="108000"/>
              </a:lnSpc>
              <a:spcAft>
                <a:spcPts val="10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Demo</a:t>
            </a:r>
          </a:p>
        </p:txBody>
      </p:sp>
      <p:sp>
        <p:nvSpPr>
          <p:cNvPr id="11" name="Day 3-bar">
            <a:extLst>
              <a:ext uri="{FF2B5EF4-FFF2-40B4-BE49-F238E27FC236}">
                <a16:creationId xmlns:a16="http://schemas.microsoft.com/office/drawing/2014/main" id="{7DFE8282-6626-4DD1-9472-62A2B65FF3B2}"/>
              </a:ext>
            </a:extLst>
          </p:cNvPr>
          <p:cNvSpPr>
            <a:spLocks noGrp="1"/>
          </p:cNvSpPr>
          <p:nvPr/>
        </p:nvSpPr>
        <p:spPr>
          <a:xfrm>
            <a:off x="8096250" y="3219450"/>
            <a:ext cx="2381250" cy="76200"/>
          </a:xfrm>
          <a:prstGeom prst="rect">
            <a:avLst/>
          </a:prstGeom>
          <a:solidFill>
            <a:srgbClr val="8A5D08"/>
          </a:solidFill>
          <a:ln w="0">
            <a:solidFill>
              <a:srgbClr val="8A5D0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divider">
            <a:extLst>
              <a:ext uri="{FF2B5EF4-FFF2-40B4-BE49-F238E27FC236}">
                <a16:creationId xmlns:a16="http://schemas.microsoft.com/office/drawing/2014/main" id="{A2A725CE-ABFF-414F-92A2-A010B0DB9AB3}"/>
              </a:ext>
            </a:extLst>
          </p:cNvPr>
          <p:cNvSpPr>
            <a:spLocks noGrp="1"/>
          </p:cNvSpPr>
          <p:nvPr/>
        </p:nvSpPr>
        <p:spPr>
          <a:xfrm>
            <a:off x="1466850" y="1952625"/>
            <a:ext cx="8877300" cy="0"/>
          </a:xfrm>
          <a:prstGeom prst="line">
            <a:avLst/>
          </a:prstGeom>
          <a:noFill/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roadmap-note">
            <a:extLst>
              <a:ext uri="{FF2B5EF4-FFF2-40B4-BE49-F238E27FC236}">
                <a16:creationId xmlns:a16="http://schemas.microsoft.com/office/drawing/2014/main" id="{89ED2DB2-B4D1-42E8-9ABE-57111842FB71}"/>
              </a:ext>
            </a:extLst>
          </p:cNvPr>
          <p:cNvSpPr>
            <a:spLocks noGrp="1"/>
          </p:cNvSpPr>
          <p:nvPr/>
        </p:nvSpPr>
        <p:spPr>
          <a:xfrm>
            <a:off x="1504950" y="550545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每一天都從概念進到可執行流程，最後整合成 biomedical agent workflow。</a:t>
            </a:r>
          </a:p>
        </p:txBody>
      </p:sp>
      <p:sp>
        <p:nvSpPr>
          <p:cNvPr id="14" name="footer">
            <a:extLst>
              <a:ext uri="{FF2B5EF4-FFF2-40B4-BE49-F238E27FC236}">
                <a16:creationId xmlns:a16="http://schemas.microsoft.com/office/drawing/2014/main" id="{9606D863-B4F1-4373-9FBC-FBB917B7834A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Course introduction  |  4/7</a:t>
            </a:r>
          </a:p>
        </p:txBody>
      </p:sp>
    </p:spTree>
    <p:extLst>
      <p:ext uri="{BB962C8B-B14F-4D97-AF65-F5344CB8AC3E}">
        <p14:creationId xmlns:p14="http://schemas.microsoft.com/office/powerpoint/2010/main" val="492780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">
            <a:extLst>
              <a:ext uri="{FF2B5EF4-FFF2-40B4-BE49-F238E27FC236}">
                <a16:creationId xmlns:a16="http://schemas.microsoft.com/office/drawing/2014/main" id="{8FBEA845-F44D-4C61-B957-1183C7875CA9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HANDS-ON WORK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DAF54AB-C015-4E33-A122-9C2D49032DAC}"/>
              </a:ext>
            </a:extLst>
          </p:cNvPr>
          <p:cNvSpPr>
            <a:spLocks noGrp="1"/>
          </p:cNvSpPr>
          <p:nvPr/>
        </p:nvSpPr>
        <p:spPr>
          <a:xfrm>
            <a:off x="723900" y="895350"/>
            <a:ext cx="933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你會把 biomedical task 拆成 agent 可以執行的流程</a:t>
            </a:r>
          </a:p>
        </p:txBody>
      </p:sp>
      <p:sp>
        <p:nvSpPr>
          <p:cNvPr id="3" name="step-0">
            <a:extLst>
              <a:ext uri="{FF2B5EF4-FFF2-40B4-BE49-F238E27FC236}">
                <a16:creationId xmlns:a16="http://schemas.microsoft.com/office/drawing/2014/main" id="{90453939-6524-4B20-97EA-821AE7B169A2}"/>
              </a:ext>
            </a:extLst>
          </p:cNvPr>
          <p:cNvSpPr>
            <a:spLocks noGrp="1"/>
          </p:cNvSpPr>
          <p:nvPr/>
        </p:nvSpPr>
        <p:spPr>
          <a:xfrm>
            <a:off x="876300" y="2324100"/>
            <a:ext cx="13525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335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00" b="1">
                <a:solidFill>
                  <a:srgbClr val="0B6E6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B6E68"/>
                </a:solidFill>
                <a:latin typeface="PingFang TC"/>
                <a:ea typeface="PingFang TC"/>
                <a:cs typeface="PingFang TC"/>
              </a:rPr>
              <a:t>Frame</a:t>
            </a:r>
          </a:p>
          <a:p>
            <a:pPr algn="ctr">
              <a:defRPr sz="1200" b="1">
                <a:solidFill>
                  <a:srgbClr val="0B6E6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B6E68"/>
                </a:solidFill>
                <a:latin typeface="PingFang TC"/>
                <a:ea typeface="PingFang TC"/>
                <a:cs typeface="PingFang TC"/>
              </a:rPr>
              <a:t>輸入、限制、成功條件</a:t>
            </a:r>
          </a:p>
        </p:txBody>
      </p:sp>
      <p:sp>
        <p:nvSpPr>
          <p:cNvPr id="4" name="step-1">
            <a:extLst>
              <a:ext uri="{FF2B5EF4-FFF2-40B4-BE49-F238E27FC236}">
                <a16:creationId xmlns:a16="http://schemas.microsoft.com/office/drawing/2014/main" id="{A8179126-7572-4F76-A6FD-3CFE4DB10ED6}"/>
              </a:ext>
            </a:extLst>
          </p:cNvPr>
          <p:cNvSpPr>
            <a:spLocks noGrp="1"/>
          </p:cNvSpPr>
          <p:nvPr/>
        </p:nvSpPr>
        <p:spPr>
          <a:xfrm>
            <a:off x="2628900" y="2324100"/>
            <a:ext cx="13525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335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00" b="1">
                <a:solidFill>
                  <a:srgbClr val="0B6E6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B6E68"/>
                </a:solidFill>
                <a:latin typeface="PingFang TC"/>
                <a:ea typeface="PingFang TC"/>
                <a:cs typeface="PingFang TC"/>
              </a:rPr>
              <a:t>Retrieve</a:t>
            </a:r>
          </a:p>
          <a:p>
            <a:pPr algn="ctr">
              <a:defRPr sz="1200" b="1">
                <a:solidFill>
                  <a:srgbClr val="0B6E6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B6E68"/>
                </a:solidFill>
                <a:latin typeface="PingFang TC"/>
                <a:ea typeface="PingFang TC"/>
                <a:cs typeface="PingFang TC"/>
              </a:rPr>
              <a:t>文獻與資料來源</a:t>
            </a:r>
          </a:p>
        </p:txBody>
      </p:sp>
      <p:cxnSp>
        <p:nvCxnSpPr>
          <p:cNvPr id="20" name="直線箭頭接點 19"/>
          <p:cNvCxnSpPr>
            <a:stCxn id="3" idx="3"/>
            <a:endCxn id="4" idx="1"/>
          </p:cNvCxnSpPr>
          <p:nvPr/>
        </p:nvCxnSpPr>
        <p:spPr>
          <a:xfrm>
            <a:off x="2228850" y="2733675"/>
            <a:ext cx="400050" cy="0"/>
          </a:xfrm>
          <a:prstGeom prst="straightConnector1">
            <a:avLst/>
          </a:prstGeom>
          <a:ln w="16193">
            <a:solidFill>
              <a:srgbClr val="5C6670"/>
            </a:solidFill>
            <a:prstDash val="solid"/>
            <a:tailEnd type="arrow" w="sm" len="sm"/>
          </a:ln>
        </p:spPr>
      </p:cxnSp>
      <p:sp>
        <p:nvSpPr>
          <p:cNvPr id="6" name="step-2">
            <a:extLst>
              <a:ext uri="{FF2B5EF4-FFF2-40B4-BE49-F238E27FC236}">
                <a16:creationId xmlns:a16="http://schemas.microsoft.com/office/drawing/2014/main" id="{2E9EFEF9-60DC-473A-87E9-6EF4A14A7D4F}"/>
              </a:ext>
            </a:extLst>
          </p:cNvPr>
          <p:cNvSpPr>
            <a:spLocks noGrp="1"/>
          </p:cNvSpPr>
          <p:nvPr/>
        </p:nvSpPr>
        <p:spPr>
          <a:xfrm>
            <a:off x="4381500" y="2324100"/>
            <a:ext cx="13525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335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Analyze</a:t>
            </a:r>
          </a:p>
          <a:p>
            <a:pPr algn="ctr">
              <a:def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摘要、比較、整理</a:t>
            </a:r>
          </a:p>
        </p:txBody>
      </p:sp>
      <p:cxnSp>
        <p:nvCxnSpPr>
          <p:cNvPr id="22" name="直線箭頭接點 21"/>
          <p:cNvCxnSpPr>
            <a:stCxn id="4" idx="3"/>
            <a:endCxn id="6" idx="1"/>
          </p:cNvCxnSpPr>
          <p:nvPr/>
        </p:nvCxnSpPr>
        <p:spPr>
          <a:xfrm>
            <a:off x="3981450" y="2733675"/>
            <a:ext cx="400050" cy="0"/>
          </a:xfrm>
          <a:prstGeom prst="straightConnector1">
            <a:avLst/>
          </a:prstGeom>
          <a:ln w="16193">
            <a:solidFill>
              <a:srgbClr val="5C6670"/>
            </a:solidFill>
            <a:prstDash val="solid"/>
            <a:tailEnd type="arrow" w="sm" len="sm"/>
          </a:ln>
        </p:spPr>
      </p:cxnSp>
      <p:sp>
        <p:nvSpPr>
          <p:cNvPr id="8" name="step-3">
            <a:extLst>
              <a:ext uri="{FF2B5EF4-FFF2-40B4-BE49-F238E27FC236}">
                <a16:creationId xmlns:a16="http://schemas.microsoft.com/office/drawing/2014/main" id="{01296323-3054-41B0-B376-7CC9D99E9AF2}"/>
              </a:ext>
            </a:extLst>
          </p:cNvPr>
          <p:cNvSpPr>
            <a:spLocks noGrp="1"/>
          </p:cNvSpPr>
          <p:nvPr/>
        </p:nvSpPr>
        <p:spPr>
          <a:xfrm>
            <a:off x="6134100" y="2324100"/>
            <a:ext cx="13525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335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Build</a:t>
            </a:r>
          </a:p>
          <a:p>
            <a:pPr algn="ctr">
              <a:def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script 或小工具</a:t>
            </a:r>
          </a:p>
        </p:txBody>
      </p:sp>
      <p:cxnSp>
        <p:nvCxnSpPr>
          <p:cNvPr id="24" name="直線箭頭接點 23"/>
          <p:cNvCxnSpPr>
            <a:stCxn id="6" idx="3"/>
            <a:endCxn id="8" idx="1"/>
          </p:cNvCxnSpPr>
          <p:nvPr/>
        </p:nvCxnSpPr>
        <p:spPr>
          <a:xfrm>
            <a:off x="5734050" y="2733675"/>
            <a:ext cx="400050" cy="0"/>
          </a:xfrm>
          <a:prstGeom prst="straightConnector1">
            <a:avLst/>
          </a:prstGeom>
          <a:ln w="16193">
            <a:solidFill>
              <a:srgbClr val="5C6670"/>
            </a:solidFill>
            <a:prstDash val="solid"/>
            <a:tailEnd type="arrow" w="sm" len="sm"/>
          </a:ln>
        </p:spPr>
      </p:cxnSp>
      <p:sp>
        <p:nvSpPr>
          <p:cNvPr id="10" name="step-4">
            <a:extLst>
              <a:ext uri="{FF2B5EF4-FFF2-40B4-BE49-F238E27FC236}">
                <a16:creationId xmlns:a16="http://schemas.microsoft.com/office/drawing/2014/main" id="{F678B7FC-FE1E-4623-915C-EC786E9631B4}"/>
              </a:ext>
            </a:extLst>
          </p:cNvPr>
          <p:cNvSpPr>
            <a:spLocks noGrp="1"/>
          </p:cNvSpPr>
          <p:nvPr/>
        </p:nvSpPr>
        <p:spPr>
          <a:xfrm>
            <a:off x="7886700" y="2324100"/>
            <a:ext cx="13525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335">
            <a:solidFill>
              <a:srgbClr val="8A5D0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200" b="1">
                <a:solidFill>
                  <a:srgbClr val="8A5D0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8A5D08"/>
                </a:solidFill>
                <a:latin typeface="PingFang TC"/>
                <a:ea typeface="PingFang TC"/>
                <a:cs typeface="PingFang TC"/>
              </a:rPr>
              <a:t>Verify</a:t>
            </a:r>
          </a:p>
          <a:p>
            <a:pPr algn="ctr">
              <a:defRPr sz="1200" b="1">
                <a:solidFill>
                  <a:srgbClr val="8A5D0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8A5D08"/>
                </a:solidFill>
                <a:latin typeface="PingFang TC"/>
                <a:ea typeface="PingFang TC"/>
                <a:cs typeface="PingFang TC"/>
              </a:rPr>
              <a:t>來源、測試、人工檢查</a:t>
            </a:r>
          </a:p>
        </p:txBody>
      </p:sp>
      <p:cxnSp>
        <p:nvCxnSpPr>
          <p:cNvPr id="26" name="直線箭頭接點 25"/>
          <p:cNvCxnSpPr>
            <a:stCxn id="8" idx="3"/>
            <a:endCxn id="10" idx="1"/>
          </p:cNvCxnSpPr>
          <p:nvPr/>
        </p:nvCxnSpPr>
        <p:spPr>
          <a:xfrm>
            <a:off x="7486650" y="2733675"/>
            <a:ext cx="400050" cy="0"/>
          </a:xfrm>
          <a:prstGeom prst="straightConnector1">
            <a:avLst/>
          </a:prstGeom>
          <a:ln w="16193">
            <a:solidFill>
              <a:srgbClr val="5C6670"/>
            </a:solidFill>
            <a:prstDash val="solid"/>
            <a:tailEnd type="arrow" w="sm" len="sm"/>
          </a:ln>
        </p:spPr>
      </p:cxnSp>
      <p:sp>
        <p:nvSpPr>
          <p:cNvPr id="12" name="step-5">
            <a:extLst>
              <a:ext uri="{FF2B5EF4-FFF2-40B4-BE49-F238E27FC236}">
                <a16:creationId xmlns:a16="http://schemas.microsoft.com/office/drawing/2014/main" id="{9473101F-E1B8-490B-B6D0-B07646058348}"/>
              </a:ext>
            </a:extLst>
          </p:cNvPr>
          <p:cNvSpPr>
            <a:spLocks noGrp="1"/>
          </p:cNvSpPr>
          <p:nvPr/>
        </p:nvSpPr>
        <p:spPr>
          <a:xfrm>
            <a:off x="9639300" y="2324100"/>
            <a:ext cx="13525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3335">
            <a:solidFill>
              <a:srgbClr val="5C6670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1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Report</a:t>
            </a:r>
          </a:p>
          <a:p>
            <a:pPr algn="ctr">
              <a:defRPr sz="11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輸出與 demo</a:t>
            </a:r>
          </a:p>
        </p:txBody>
      </p:sp>
      <p:cxnSp>
        <p:nvCxnSpPr>
          <p:cNvPr id="28" name="直線箭頭接點 27"/>
          <p:cNvCxnSpPr>
            <a:stCxn id="10" idx="3"/>
            <a:endCxn id="12" idx="1"/>
          </p:cNvCxnSpPr>
          <p:nvPr/>
        </p:nvCxnSpPr>
        <p:spPr>
          <a:xfrm>
            <a:off x="9239250" y="2733675"/>
            <a:ext cx="400050" cy="0"/>
          </a:xfrm>
          <a:prstGeom prst="straightConnector1">
            <a:avLst/>
          </a:prstGeom>
          <a:ln w="16193">
            <a:solidFill>
              <a:srgbClr val="5C6670"/>
            </a:solidFill>
            <a:prstDash val="solid"/>
            <a:tailEnd type="arrow" w="sm" len="sm"/>
          </a:ln>
        </p:spPr>
      </p:cxnSp>
      <p:sp>
        <p:nvSpPr>
          <p:cNvPr id="14" name="practice-bullets">
            <a:extLst>
              <a:ext uri="{FF2B5EF4-FFF2-40B4-BE49-F238E27FC236}">
                <a16:creationId xmlns:a16="http://schemas.microsoft.com/office/drawing/2014/main" id="{8405C655-F4E1-452E-8ECD-6C2443DA96EA}"/>
              </a:ext>
            </a:extLst>
          </p:cNvPr>
          <p:cNvSpPr>
            <a:spLocks noGrp="1"/>
          </p:cNvSpPr>
          <p:nvPr/>
        </p:nvSpPr>
        <p:spPr>
          <a:xfrm>
            <a:off x="1562100" y="4095750"/>
            <a:ext cx="8382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8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使用 desktop agent 與 coding agent 完成部分自動化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8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為 workflow 加上 source trace、test case、run log、review point</a:t>
            </a:r>
          </a:p>
          <a:p>
            <a:pPr marL="24" indent="-12">
              <a:lnSpc>
                <a:spcPct val="108000"/>
              </a:lnSpc>
              <a:spcAft>
                <a:spcPts val="12"/>
              </a:spcAft>
              <a:buNone/>
              <a:defRPr sz="18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練習讓 agent 失敗後修正，而不是只重問一次 prompt</a:t>
            </a:r>
          </a:p>
        </p:txBody>
      </p:sp>
      <p:sp>
        <p:nvSpPr>
          <p:cNvPr id="15" name="footer">
            <a:extLst>
              <a:ext uri="{FF2B5EF4-FFF2-40B4-BE49-F238E27FC236}">
                <a16:creationId xmlns:a16="http://schemas.microsoft.com/office/drawing/2014/main" id="{659BBE4C-CD80-4883-9E5B-AB00FB1C3731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Course introduction  |  5/7</a:t>
            </a:r>
          </a:p>
        </p:txBody>
      </p:sp>
    </p:spTree>
    <p:extLst>
      <p:ext uri="{BB962C8B-B14F-4D97-AF65-F5344CB8AC3E}">
        <p14:creationId xmlns:p14="http://schemas.microsoft.com/office/powerpoint/2010/main" val="3513346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yebrow">
            <a:extLst>
              <a:ext uri="{FF2B5EF4-FFF2-40B4-BE49-F238E27FC236}">
                <a16:creationId xmlns:a16="http://schemas.microsoft.com/office/drawing/2014/main" id="{BBC85640-862C-4874-B365-A7823D1B1115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FINAL DELIVERABLE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E9C5105-1899-4116-B874-69DE184C84EC}"/>
              </a:ext>
            </a:extLst>
          </p:cNvPr>
          <p:cNvSpPr>
            <a:spLocks noGrp="1"/>
          </p:cNvSpPr>
          <p:nvPr/>
        </p:nvSpPr>
        <p:spPr>
          <a:xfrm>
            <a:off x="723900" y="895350"/>
            <a:ext cx="9334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最後交付的是可信 workflow，不是漂亮答案</a:t>
            </a:r>
          </a:p>
        </p:txBody>
      </p:sp>
      <p:sp>
        <p:nvSpPr>
          <p:cNvPr id="3" name="lead">
            <a:extLst>
              <a:ext uri="{FF2B5EF4-FFF2-40B4-BE49-F238E27FC236}">
                <a16:creationId xmlns:a16="http://schemas.microsoft.com/office/drawing/2014/main" id="{C1C69073-BF96-4D4A-BCFF-E277BDD756FD}"/>
              </a:ext>
            </a:extLst>
          </p:cNvPr>
          <p:cNvSpPr>
            <a:spLocks noGrp="1"/>
          </p:cNvSpPr>
          <p:nvPr/>
        </p:nvSpPr>
        <p:spPr>
          <a:xfrm>
            <a:off x="723900" y="1695450"/>
            <a:ext cx="514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一個 biomedical AI agent workflow demo，至少包含：</a:t>
            </a:r>
          </a:p>
        </p:txBody>
      </p:sp>
      <p:sp>
        <p:nvSpPr>
          <p:cNvPr id="4" name="deliverable-list">
            <a:extLst>
              <a:ext uri="{FF2B5EF4-FFF2-40B4-BE49-F238E27FC236}">
                <a16:creationId xmlns:a16="http://schemas.microsoft.com/office/drawing/2014/main" id="{AF886ABB-E1A5-4C72-A53A-FCE0DA55956F}"/>
              </a:ext>
            </a:extLst>
          </p:cNvPr>
          <p:cNvSpPr>
            <a:spLocks noGrp="1"/>
          </p:cNvSpPr>
          <p:nvPr/>
        </p:nvSpPr>
        <p:spPr>
          <a:xfrm>
            <a:off x="723900" y="2324100"/>
            <a:ext cx="5143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0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Biomedical task specification</a:t>
            </a:r>
          </a:p>
          <a:p>
            <a:pPr marL="24" indent="-12">
              <a:lnSpc>
                <a:spcPct val="108000"/>
              </a:lnSpc>
              <a:spcAft>
                <a:spcPts val="10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Agent workflow 與工具使用說明</a:t>
            </a:r>
          </a:p>
          <a:p>
            <a:pPr marL="24" indent="-12">
              <a:lnSpc>
                <a:spcPct val="108000"/>
              </a:lnSpc>
              <a:spcAft>
                <a:spcPts val="10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可追蹤的資料來源與執行紀錄</a:t>
            </a:r>
          </a:p>
          <a:p>
            <a:pPr marL="24" indent="-12">
              <a:lnSpc>
                <a:spcPct val="108000"/>
              </a:lnSpc>
              <a:spcAft>
                <a:spcPts val="10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Evaluation criteria 或檢查方法</a:t>
            </a:r>
          </a:p>
          <a:p>
            <a:pPr marL="24" indent="-12">
              <a:lnSpc>
                <a:spcPct val="108000"/>
              </a:lnSpc>
              <a:spcAft>
                <a:spcPts val="10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最終輸出：表格、分析、程式、報告或 demo</a:t>
            </a:r>
          </a:p>
        </p:txBody>
      </p:sp>
      <p:sp>
        <p:nvSpPr>
          <p:cNvPr id="5" name="stack-0">
            <a:extLst>
              <a:ext uri="{FF2B5EF4-FFF2-40B4-BE49-F238E27FC236}">
                <a16:creationId xmlns:a16="http://schemas.microsoft.com/office/drawing/2014/main" id="{88A74977-5F8F-4E5D-9D60-18A2AB6D4085}"/>
              </a:ext>
            </a:extLst>
          </p:cNvPr>
          <p:cNvSpPr>
            <a:spLocks noGrp="1"/>
          </p:cNvSpPr>
          <p:nvPr/>
        </p:nvSpPr>
        <p:spPr>
          <a:xfrm>
            <a:off x="7353300" y="1676400"/>
            <a:ext cx="3143250" cy="476250"/>
          </a:xfrm>
          <a:prstGeom prst="roundRect">
            <a:avLst>
              <a:gd name="adj" fmla="val 16000"/>
            </a:avLst>
          </a:prstGeom>
          <a:solidFill>
            <a:srgbClr val="EAF8F6"/>
          </a:solidFill>
          <a:ln w="13335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350" b="1">
                <a:solidFill>
                  <a:srgbClr val="0B6E6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6E68"/>
                </a:solidFill>
                <a:latin typeface="PingFang TC"/>
                <a:ea typeface="PingFang TC"/>
                <a:cs typeface="PingFang TC"/>
              </a:rPr>
              <a:t>Research artifact</a:t>
            </a:r>
          </a:p>
        </p:txBody>
      </p:sp>
      <p:sp>
        <p:nvSpPr>
          <p:cNvPr id="6" name="stack-1">
            <a:extLst>
              <a:ext uri="{FF2B5EF4-FFF2-40B4-BE49-F238E27FC236}">
                <a16:creationId xmlns:a16="http://schemas.microsoft.com/office/drawing/2014/main" id="{99AEED05-BB77-438D-80D2-D9550D49DD83}"/>
              </a:ext>
            </a:extLst>
          </p:cNvPr>
          <p:cNvSpPr>
            <a:spLocks noGrp="1"/>
          </p:cNvSpPr>
          <p:nvPr/>
        </p:nvSpPr>
        <p:spPr>
          <a:xfrm>
            <a:off x="7448550" y="2362200"/>
            <a:ext cx="2952750" cy="476250"/>
          </a:xfrm>
          <a:prstGeom prst="roundRect">
            <a:avLst>
              <a:gd name="adj" fmla="val 16000"/>
            </a:avLst>
          </a:prstGeom>
          <a:solidFill>
            <a:srgbClr val="FFF8E8"/>
          </a:solidFill>
          <a:ln w="13335">
            <a:solidFill>
              <a:srgbClr val="8A5D0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350" b="1">
                <a:solidFill>
                  <a:srgbClr val="8A5D0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8A5D08"/>
                </a:solidFill>
                <a:latin typeface="PingFang TC"/>
                <a:ea typeface="PingFang TC"/>
                <a:cs typeface="PingFang TC"/>
              </a:rPr>
              <a:t>Evaluation loop</a:t>
            </a:r>
          </a:p>
        </p:txBody>
      </p:sp>
      <p:sp>
        <p:nvSpPr>
          <p:cNvPr id="7" name="stack-2">
            <a:extLst>
              <a:ext uri="{FF2B5EF4-FFF2-40B4-BE49-F238E27FC236}">
                <a16:creationId xmlns:a16="http://schemas.microsoft.com/office/drawing/2014/main" id="{597310A0-C4DC-4230-AF4A-44B642726A5A}"/>
              </a:ext>
            </a:extLst>
          </p:cNvPr>
          <p:cNvSpPr>
            <a:spLocks noGrp="1"/>
          </p:cNvSpPr>
          <p:nvPr/>
        </p:nvSpPr>
        <p:spPr>
          <a:xfrm>
            <a:off x="7543800" y="3048000"/>
            <a:ext cx="2762250" cy="476250"/>
          </a:xfrm>
          <a:prstGeom prst="roundRect">
            <a:avLst>
              <a:gd name="adj" fmla="val 16000"/>
            </a:avLst>
          </a:prstGeom>
          <a:solidFill>
            <a:srgbClr val="EEF1FF"/>
          </a:solidFill>
          <a:ln w="13335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3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Agent harness</a:t>
            </a:r>
          </a:p>
        </p:txBody>
      </p:sp>
      <p:sp>
        <p:nvSpPr>
          <p:cNvPr id="8" name="stack-3">
            <a:extLst>
              <a:ext uri="{FF2B5EF4-FFF2-40B4-BE49-F238E27FC236}">
                <a16:creationId xmlns:a16="http://schemas.microsoft.com/office/drawing/2014/main" id="{07EF8A12-6BCB-449A-9F4B-190459E28691}"/>
              </a:ext>
            </a:extLst>
          </p:cNvPr>
          <p:cNvSpPr>
            <a:spLocks noGrp="1"/>
          </p:cNvSpPr>
          <p:nvPr/>
        </p:nvSpPr>
        <p:spPr>
          <a:xfrm>
            <a:off x="7639050" y="3733800"/>
            <a:ext cx="257175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335">
            <a:solidFill>
              <a:srgbClr val="5C6670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350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Data / literature / code tools</a:t>
            </a:r>
          </a:p>
        </p:txBody>
      </p:sp>
      <p:sp>
        <p:nvSpPr>
          <p:cNvPr id="9" name="stack-4">
            <a:extLst>
              <a:ext uri="{FF2B5EF4-FFF2-40B4-BE49-F238E27FC236}">
                <a16:creationId xmlns:a16="http://schemas.microsoft.com/office/drawing/2014/main" id="{0D749718-62FD-4D3B-A235-D89B1D38F561}"/>
              </a:ext>
            </a:extLst>
          </p:cNvPr>
          <p:cNvSpPr>
            <a:spLocks noGrp="1"/>
          </p:cNvSpPr>
          <p:nvPr/>
        </p:nvSpPr>
        <p:spPr>
          <a:xfrm>
            <a:off x="7734300" y="4419600"/>
            <a:ext cx="238125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335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defRPr sz="1350" b="1">
                <a:solidFill>
                  <a:srgbClr val="0B6E6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6E68"/>
                </a:solidFill>
                <a:latin typeface="PingFang TC"/>
                <a:ea typeface="PingFang TC"/>
                <a:cs typeface="PingFang TC"/>
              </a:rPr>
              <a:t>Biomedical question</a:t>
            </a:r>
          </a:p>
        </p:txBody>
      </p:sp>
      <p:sp>
        <p:nvSpPr>
          <p:cNvPr id="10" name="score-note">
            <a:extLst>
              <a:ext uri="{FF2B5EF4-FFF2-40B4-BE49-F238E27FC236}">
                <a16:creationId xmlns:a16="http://schemas.microsoft.com/office/drawing/2014/main" id="{E6AAA8F5-BF8E-4BD9-B23C-592AF272D09C}"/>
              </a:ext>
            </a:extLst>
          </p:cNvPr>
          <p:cNvSpPr>
            <a:spLocks noGrp="1"/>
          </p:cNvSpPr>
          <p:nvPr/>
        </p:nvSpPr>
        <p:spPr>
          <a:xfrm>
            <a:off x="6553200" y="54102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B0432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B0432F"/>
                </a:solidFill>
                <a:latin typeface="PingFang TC"/>
                <a:ea typeface="PingFang TC"/>
                <a:cs typeface="PingFang TC"/>
              </a:rPr>
              <a:t>評估重點：workflow 是否可信、可檢查、可重跑</a:t>
            </a:r>
          </a:p>
        </p:txBody>
      </p:sp>
      <p:sp>
        <p:nvSpPr>
          <p:cNvPr id="11" name="footer">
            <a:extLst>
              <a:ext uri="{FF2B5EF4-FFF2-40B4-BE49-F238E27FC236}">
                <a16:creationId xmlns:a16="http://schemas.microsoft.com/office/drawing/2014/main" id="{1585F8D3-27A3-4220-8767-1A659FDC9FEA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Course introduction  |  6/7</a:t>
            </a:r>
          </a:p>
        </p:txBody>
      </p:sp>
    </p:spTree>
    <p:extLst>
      <p:ext uri="{BB962C8B-B14F-4D97-AF65-F5344CB8AC3E}">
        <p14:creationId xmlns:p14="http://schemas.microsoft.com/office/powerpoint/2010/main" val="2294037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ccent-rail-1">
            <a:extLst>
              <a:ext uri="{FF2B5EF4-FFF2-40B4-BE49-F238E27FC236}">
                <a16:creationId xmlns:a16="http://schemas.microsoft.com/office/drawing/2014/main" id="{C7749C81-B08B-416D-BBEF-6426D0D319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0E8F88"/>
          </a:solidFill>
          <a:ln w="0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1">
            <a:extLst>
              <a:ext uri="{FF2B5EF4-FFF2-40B4-BE49-F238E27FC236}">
                <a16:creationId xmlns:a16="http://schemas.microsoft.com/office/drawing/2014/main" id="{699ED5ED-C328-4E2C-BB72-511BCB9F2703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C3CDD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3CDD4"/>
                </a:solidFill>
                <a:latin typeface="Aptos"/>
                <a:ea typeface="Aptos"/>
                <a:cs typeface="Aptos"/>
              </a:rPr>
              <a:t>FRAME</a:t>
            </a:r>
          </a:p>
        </p:txBody>
      </p:sp>
      <p:sp>
        <p:nvSpPr>
          <p:cNvPr id="3" name="progress-track-1">
            <a:extLst>
              <a:ext uri="{FF2B5EF4-FFF2-40B4-BE49-F238E27FC236}">
                <a16:creationId xmlns:a16="http://schemas.microsoft.com/office/drawing/2014/main" id="{63CBDDF0-89D9-4919-9AD1-D754E0F96937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3A465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1">
            <a:extLst>
              <a:ext uri="{FF2B5EF4-FFF2-40B4-BE49-F238E27FC236}">
                <a16:creationId xmlns:a16="http://schemas.microsoft.com/office/drawing/2014/main" id="{095CC3EA-FEDD-4089-B163-06994B4A2352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76760" cy="0"/>
          </a:xfrm>
          <a:prstGeom prst="line">
            <a:avLst/>
          </a:prstGeom>
          <a:noFill/>
          <a:ln w="2857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3E8C4468-EDA0-4E79-8EFA-BC2A5C7221F5}"/>
              </a:ext>
            </a:extLst>
          </p:cNvPr>
          <p:cNvSpPr>
            <a:spLocks noGrp="1"/>
          </p:cNvSpPr>
          <p:nvPr/>
        </p:nvSpPr>
        <p:spPr>
          <a:xfrm>
            <a:off x="781050" y="62865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74D8D0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74D8D0"/>
                </a:solidFill>
                <a:latin typeface="Aptos"/>
                <a:ea typeface="Aptos"/>
                <a:cs typeface="Aptos"/>
              </a:rPr>
              <a:t>DAY 3  |  BIOMEDICAL HACKATHON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ACB07C3D-8800-411A-B88F-341048D3016B}"/>
              </a:ext>
            </a:extLst>
          </p:cNvPr>
          <p:cNvSpPr>
            <a:spLocks noGrp="1"/>
          </p:cNvSpPr>
          <p:nvPr/>
        </p:nvSpPr>
        <p:spPr>
          <a:xfrm>
            <a:off x="781050" y="1257300"/>
            <a:ext cx="8382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zh-TW" altLang="en-US" sz="36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本門課的第三天將會進行一場黑客松</a:t>
            </a:r>
            <a:endParaRPr sz="360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1FBAD95E-A50E-4C70-A0AC-1E993C560143}"/>
              </a:ext>
            </a:extLst>
          </p:cNvPr>
          <p:cNvSpPr>
            <a:spLocks noGrp="1"/>
          </p:cNvSpPr>
          <p:nvPr/>
        </p:nvSpPr>
        <p:spPr>
          <a:xfrm>
            <a:off x="819150" y="2266950"/>
            <a:ext cx="9658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DDE4E8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2025" b="1" dirty="0">
                <a:solidFill>
                  <a:srgbClr val="DDE4E8"/>
                </a:solidFill>
                <a:latin typeface="PingFang TC"/>
                <a:ea typeface="PingFang TC"/>
                <a:cs typeface="PingFang TC"/>
              </a:rPr>
              <a:t>目標是</a:t>
            </a:r>
            <a:r>
              <a:rPr lang="zh-TW" altLang="en-US" sz="2025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PingFang TC"/>
                <a:ea typeface="PingFang TC"/>
                <a:cs typeface="PingFang TC"/>
              </a:rPr>
              <a:t>建立</a:t>
            </a:r>
            <a:r>
              <a:rPr sz="2025" b="1" dirty="0" err="1">
                <a:solidFill>
                  <a:srgbClr val="FF0000"/>
                </a:solidFill>
                <a:latin typeface="PingFang TC"/>
                <a:ea typeface="PingFang TC"/>
                <a:cs typeface="PingFang TC"/>
              </a:rPr>
              <a:t>一個</a:t>
            </a:r>
            <a:r>
              <a:rPr lang="zh-TW" altLang="en-US" sz="2025" b="1" dirty="0">
                <a:solidFill>
                  <a:srgbClr val="DDE4E8"/>
                </a:solidFill>
                <a:latin typeface="PingFang TC"/>
                <a:ea typeface="PingFang TC"/>
                <a:cs typeface="PingFang TC"/>
              </a:rPr>
              <a:t>從某一特定</a:t>
            </a:r>
            <a:r>
              <a:rPr sz="2025" b="1" dirty="0" err="1">
                <a:solidFill>
                  <a:srgbClr val="DDE4E8"/>
                </a:solidFill>
                <a:latin typeface="PingFang TC"/>
                <a:ea typeface="PingFang TC"/>
                <a:cs typeface="PingFang TC"/>
              </a:rPr>
              <a:t>生醫問題縮成可執行、可驗證、可解釋的</a:t>
            </a:r>
            <a:r>
              <a:rPr sz="2025" b="1" dirty="0">
                <a:solidFill>
                  <a:srgbClr val="DDE4E8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2025" b="1" dirty="0">
                <a:solidFill>
                  <a:srgbClr val="FF0000"/>
                </a:solidFill>
                <a:latin typeface="PingFang TC"/>
                <a:ea typeface="PingFang TC"/>
                <a:cs typeface="PingFang TC"/>
              </a:rPr>
              <a:t>agent workflow</a:t>
            </a:r>
          </a:p>
        </p:txBody>
      </p:sp>
      <p:sp>
        <p:nvSpPr>
          <p:cNvPr id="8" name="title-node-0">
            <a:extLst>
              <a:ext uri="{FF2B5EF4-FFF2-40B4-BE49-F238E27FC236}">
                <a16:creationId xmlns:a16="http://schemas.microsoft.com/office/drawing/2014/main" id="{126E1197-9F27-448A-B747-888D8B6CCE12}"/>
              </a:ext>
            </a:extLst>
          </p:cNvPr>
          <p:cNvSpPr>
            <a:spLocks noGrp="1"/>
          </p:cNvSpPr>
          <p:nvPr/>
        </p:nvSpPr>
        <p:spPr>
          <a:xfrm>
            <a:off x="1485900" y="4000500"/>
            <a:ext cx="12573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3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Frame</a:t>
            </a:r>
          </a:p>
        </p:txBody>
      </p:sp>
      <p:sp>
        <p:nvSpPr>
          <p:cNvPr id="9" name="title-flow-1">
            <a:extLst>
              <a:ext uri="{FF2B5EF4-FFF2-40B4-BE49-F238E27FC236}">
                <a16:creationId xmlns:a16="http://schemas.microsoft.com/office/drawing/2014/main" id="{46CDE378-AF38-4EFD-881D-7AC35EB9388B}"/>
              </a:ext>
            </a:extLst>
          </p:cNvPr>
          <p:cNvSpPr>
            <a:spLocks noGrp="1"/>
          </p:cNvSpPr>
          <p:nvPr/>
        </p:nvSpPr>
        <p:spPr>
          <a:xfrm>
            <a:off x="2743200" y="4305300"/>
            <a:ext cx="647700" cy="0"/>
          </a:xfrm>
          <a:prstGeom prst="line">
            <a:avLst/>
          </a:prstGeom>
          <a:noFill/>
          <a:ln w="17145">
            <a:solidFill>
              <a:srgbClr val="6A798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itle-node-1">
            <a:extLst>
              <a:ext uri="{FF2B5EF4-FFF2-40B4-BE49-F238E27FC236}">
                <a16:creationId xmlns:a16="http://schemas.microsoft.com/office/drawing/2014/main" id="{BD51FA5A-BCDD-41B2-851C-67DA1C968724}"/>
              </a:ext>
            </a:extLst>
          </p:cNvPr>
          <p:cNvSpPr>
            <a:spLocks noGrp="1"/>
          </p:cNvSpPr>
          <p:nvPr/>
        </p:nvSpPr>
        <p:spPr>
          <a:xfrm>
            <a:off x="3390900" y="4000500"/>
            <a:ext cx="12573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E8F8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3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11" name="title-flow-2">
            <a:extLst>
              <a:ext uri="{FF2B5EF4-FFF2-40B4-BE49-F238E27FC236}">
                <a16:creationId xmlns:a16="http://schemas.microsoft.com/office/drawing/2014/main" id="{D6579798-C9EF-43F9-B195-BB495E2468C3}"/>
              </a:ext>
            </a:extLst>
          </p:cNvPr>
          <p:cNvSpPr>
            <a:spLocks noGrp="1"/>
          </p:cNvSpPr>
          <p:nvPr/>
        </p:nvSpPr>
        <p:spPr>
          <a:xfrm>
            <a:off x="4648200" y="4305300"/>
            <a:ext cx="647700" cy="0"/>
          </a:xfrm>
          <a:prstGeom prst="line">
            <a:avLst/>
          </a:prstGeom>
          <a:noFill/>
          <a:ln w="17145">
            <a:solidFill>
              <a:srgbClr val="6A798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itle-node-2">
            <a:extLst>
              <a:ext uri="{FF2B5EF4-FFF2-40B4-BE49-F238E27FC236}">
                <a16:creationId xmlns:a16="http://schemas.microsoft.com/office/drawing/2014/main" id="{D324B9ED-A46B-46CB-9080-F5C0F1B04F4D}"/>
              </a:ext>
            </a:extLst>
          </p:cNvPr>
          <p:cNvSpPr>
            <a:spLocks noGrp="1"/>
          </p:cNvSpPr>
          <p:nvPr/>
        </p:nvSpPr>
        <p:spPr>
          <a:xfrm>
            <a:off x="5295900" y="4000500"/>
            <a:ext cx="12573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89A16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3000"/>
              </a:lnSpc>
              <a:buNone/>
              <a:defRPr sz="13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13" name="title-flow-3">
            <a:extLst>
              <a:ext uri="{FF2B5EF4-FFF2-40B4-BE49-F238E27FC236}">
                <a16:creationId xmlns:a16="http://schemas.microsoft.com/office/drawing/2014/main" id="{835B65BD-4965-4116-BE5A-75FB2B60A4FD}"/>
              </a:ext>
            </a:extLst>
          </p:cNvPr>
          <p:cNvSpPr>
            <a:spLocks noGrp="1"/>
          </p:cNvSpPr>
          <p:nvPr/>
        </p:nvSpPr>
        <p:spPr>
          <a:xfrm>
            <a:off x="6553200" y="4305300"/>
            <a:ext cx="647700" cy="0"/>
          </a:xfrm>
          <a:prstGeom prst="line">
            <a:avLst/>
          </a:prstGeom>
          <a:noFill/>
          <a:ln w="17145">
            <a:solidFill>
              <a:srgbClr val="6A798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itle-node-3">
            <a:extLst>
              <a:ext uri="{FF2B5EF4-FFF2-40B4-BE49-F238E27FC236}">
                <a16:creationId xmlns:a16="http://schemas.microsoft.com/office/drawing/2014/main" id="{2392774B-5D54-4D10-AB59-A9779662C397}"/>
              </a:ext>
            </a:extLst>
          </p:cNvPr>
          <p:cNvSpPr>
            <a:spLocks noGrp="1"/>
          </p:cNvSpPr>
          <p:nvPr/>
        </p:nvSpPr>
        <p:spPr>
          <a:xfrm>
            <a:off x="7200900" y="4000500"/>
            <a:ext cx="12573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85A4A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3000"/>
              </a:lnSpc>
              <a:buNone/>
              <a:defRPr sz="13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15" name="title-flow-4">
            <a:extLst>
              <a:ext uri="{FF2B5EF4-FFF2-40B4-BE49-F238E27FC236}">
                <a16:creationId xmlns:a16="http://schemas.microsoft.com/office/drawing/2014/main" id="{22869961-6D7E-484C-8546-C7B6C142B5F2}"/>
              </a:ext>
            </a:extLst>
          </p:cNvPr>
          <p:cNvSpPr>
            <a:spLocks noGrp="1"/>
          </p:cNvSpPr>
          <p:nvPr/>
        </p:nvSpPr>
        <p:spPr>
          <a:xfrm>
            <a:off x="8458200" y="4305300"/>
            <a:ext cx="647700" cy="0"/>
          </a:xfrm>
          <a:prstGeom prst="line">
            <a:avLst/>
          </a:prstGeom>
          <a:noFill/>
          <a:ln w="17145">
            <a:solidFill>
              <a:srgbClr val="6A798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itle-node-4">
            <a:extLst>
              <a:ext uri="{FF2B5EF4-FFF2-40B4-BE49-F238E27FC236}">
                <a16:creationId xmlns:a16="http://schemas.microsoft.com/office/drawing/2014/main" id="{80034642-6798-4ED8-B190-8CF73068A3C5}"/>
              </a:ext>
            </a:extLst>
          </p:cNvPr>
          <p:cNvSpPr>
            <a:spLocks noGrp="1"/>
          </p:cNvSpPr>
          <p:nvPr/>
        </p:nvSpPr>
        <p:spPr>
          <a:xfrm>
            <a:off x="9105900" y="4000500"/>
            <a:ext cx="12573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6B4AA0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3000"/>
              </a:lnSpc>
              <a:buNone/>
              <a:defRPr sz="1350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Reflect</a:t>
            </a:r>
          </a:p>
        </p:txBody>
      </p:sp>
      <p:sp>
        <p:nvSpPr>
          <p:cNvPr id="17" name="callout">
            <a:extLst>
              <a:ext uri="{FF2B5EF4-FFF2-40B4-BE49-F238E27FC236}">
                <a16:creationId xmlns:a16="http://schemas.microsoft.com/office/drawing/2014/main" id="{386CECE8-EEE6-4E16-8A06-0CBFF93D89E5}"/>
              </a:ext>
            </a:extLst>
          </p:cNvPr>
          <p:cNvSpPr>
            <a:spLocks noGrp="1"/>
          </p:cNvSpPr>
          <p:nvPr/>
        </p:nvSpPr>
        <p:spPr>
          <a:xfrm>
            <a:off x="1619250" y="5334000"/>
            <a:ext cx="885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650" b="0">
                <a:solidFill>
                  <a:srgbClr val="C7D2D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7D2D8"/>
                </a:solidFill>
                <a:latin typeface="Aptos"/>
                <a:ea typeface="Aptos"/>
                <a:cs typeface="Aptos"/>
              </a:rPr>
              <a:t>Success = a small workflow another person can inspect and run again.</a:t>
            </a:r>
          </a:p>
        </p:txBody>
      </p:sp>
      <p:sp>
        <p:nvSpPr>
          <p:cNvPr id="18" name="footer-dark">
            <a:extLst>
              <a:ext uri="{FF2B5EF4-FFF2-40B4-BE49-F238E27FC236}">
                <a16:creationId xmlns:a16="http://schemas.microsoft.com/office/drawing/2014/main" id="{87B96A84-69CE-4413-A0A6-638A9419554F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C3CDD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3CDD4"/>
                </a:solidFill>
                <a:latin typeface="Aptos"/>
                <a:ea typeface="Aptos"/>
                <a:cs typeface="Aptos"/>
              </a:rPr>
              <a:t>Biomedical hackathon briefing  |  1/34</a:t>
            </a:r>
          </a:p>
        </p:txBody>
      </p:sp>
    </p:spTree>
    <p:extLst>
      <p:ext uri="{BB962C8B-B14F-4D97-AF65-F5344CB8AC3E}">
        <p14:creationId xmlns:p14="http://schemas.microsoft.com/office/powerpoint/2010/main" val="492703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accent-rail-32">
            <a:extLst>
              <a:ext uri="{FF2B5EF4-FFF2-40B4-BE49-F238E27FC236}">
                <a16:creationId xmlns:a16="http://schemas.microsoft.com/office/drawing/2014/main" id="{CFD61384-EA26-4CAB-B876-967E64E020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3446A8"/>
          </a:solidFill>
          <a:ln w="0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32">
            <a:extLst>
              <a:ext uri="{FF2B5EF4-FFF2-40B4-BE49-F238E27FC236}">
                <a16:creationId xmlns:a16="http://schemas.microsoft.com/office/drawing/2014/main" id="{12B84F67-F96E-47E7-832E-CB228CD9EFA4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3" name="progress-track-32">
            <a:extLst>
              <a:ext uri="{FF2B5EF4-FFF2-40B4-BE49-F238E27FC236}">
                <a16:creationId xmlns:a16="http://schemas.microsoft.com/office/drawing/2014/main" id="{C484B080-86C4-41C9-842D-8DC5C92414FC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32">
            <a:extLst>
              <a:ext uri="{FF2B5EF4-FFF2-40B4-BE49-F238E27FC236}">
                <a16:creationId xmlns:a16="http://schemas.microsoft.com/office/drawing/2014/main" id="{5BD16E9A-4D10-40DC-BD66-4A3E5CFCF6B0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456329" cy="0"/>
          </a:xfrm>
          <a:prstGeom prst="line">
            <a:avLst/>
          </a:prstGeom>
          <a:noFill/>
          <a:ln w="2857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BCC50176-7879-4D8F-B8AF-A48838108D16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00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DEMO FORMAT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528CA00E-0617-4DB4-8046-BA5DEE295990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5 分鐘 demo + 3 分鐘 QA：展示 workflow，不只是給結論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1C7B275-E35E-4690-A80D-2BAB18625CDB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32/34</a:t>
            </a:r>
          </a:p>
        </p:txBody>
      </p:sp>
      <p:sp>
        <p:nvSpPr>
          <p:cNvPr id="8" name="demo-step-0">
            <a:extLst>
              <a:ext uri="{FF2B5EF4-FFF2-40B4-BE49-F238E27FC236}">
                <a16:creationId xmlns:a16="http://schemas.microsoft.com/office/drawing/2014/main" id="{1AA84BDF-AB3C-41E2-99A4-909CBD5A31F4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1524000" cy="1638300"/>
          </a:xfrm>
          <a:prstGeom prst="roundRect">
            <a:avLst>
              <a:gd name="adj" fmla="val 5000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demo-time-0">
            <a:extLst>
              <a:ext uri="{FF2B5EF4-FFF2-40B4-BE49-F238E27FC236}">
                <a16:creationId xmlns:a16="http://schemas.microsoft.com/office/drawing/2014/main" id="{A96CDC2A-92D4-4EF5-BAB4-031E7BAB77AB}"/>
              </a:ext>
            </a:extLst>
          </p:cNvPr>
          <p:cNvSpPr>
            <a:spLocks noGrp="1"/>
          </p:cNvSpPr>
          <p:nvPr/>
        </p:nvSpPr>
        <p:spPr>
          <a:xfrm>
            <a:off x="857250" y="2838450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0:00</a:t>
            </a:r>
          </a:p>
        </p:txBody>
      </p:sp>
      <p:sp>
        <p:nvSpPr>
          <p:cNvPr id="10" name="demo-head-0">
            <a:extLst>
              <a:ext uri="{FF2B5EF4-FFF2-40B4-BE49-F238E27FC236}">
                <a16:creationId xmlns:a16="http://schemas.microsoft.com/office/drawing/2014/main" id="{665AEA35-E4CD-4448-8FEA-B964AAE23EB9}"/>
              </a:ext>
            </a:extLst>
          </p:cNvPr>
          <p:cNvSpPr>
            <a:spLocks noGrp="1"/>
          </p:cNvSpPr>
          <p:nvPr/>
        </p:nvSpPr>
        <p:spPr>
          <a:xfrm>
            <a:off x="857250" y="3200400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11" name="demo-copy-0">
            <a:extLst>
              <a:ext uri="{FF2B5EF4-FFF2-40B4-BE49-F238E27FC236}">
                <a16:creationId xmlns:a16="http://schemas.microsoft.com/office/drawing/2014/main" id="{E0DFF32B-FF6B-4DC6-9087-60D5DDDF1BA0}"/>
              </a:ext>
            </a:extLst>
          </p:cNvPr>
          <p:cNvSpPr>
            <a:spLocks noGrp="1"/>
          </p:cNvSpPr>
          <p:nvPr/>
        </p:nvSpPr>
        <p:spPr>
          <a:xfrm>
            <a:off x="838200" y="3638550"/>
            <a:ext cx="1219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10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題目與 scope</a:t>
            </a:r>
          </a:p>
        </p:txBody>
      </p:sp>
      <p:sp>
        <p:nvSpPr>
          <p:cNvPr id="12" name="demo-line-1">
            <a:extLst>
              <a:ext uri="{FF2B5EF4-FFF2-40B4-BE49-F238E27FC236}">
                <a16:creationId xmlns:a16="http://schemas.microsoft.com/office/drawing/2014/main" id="{9D4C335A-B56A-4BD0-A138-C124EDD8EDEE}"/>
              </a:ext>
            </a:extLst>
          </p:cNvPr>
          <p:cNvSpPr>
            <a:spLocks noGrp="1"/>
          </p:cNvSpPr>
          <p:nvPr/>
        </p:nvSpPr>
        <p:spPr>
          <a:xfrm>
            <a:off x="2209800" y="3467100"/>
            <a:ext cx="361950" cy="0"/>
          </a:xfrm>
          <a:prstGeom prst="line">
            <a:avLst/>
          </a:prstGeom>
          <a:noFill/>
          <a:ln w="1524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demo-step-1">
            <a:extLst>
              <a:ext uri="{FF2B5EF4-FFF2-40B4-BE49-F238E27FC236}">
                <a16:creationId xmlns:a16="http://schemas.microsoft.com/office/drawing/2014/main" id="{2A90B268-B7A8-4128-AA33-1195B5BBB2AB}"/>
              </a:ext>
            </a:extLst>
          </p:cNvPr>
          <p:cNvSpPr>
            <a:spLocks noGrp="1"/>
          </p:cNvSpPr>
          <p:nvPr/>
        </p:nvSpPr>
        <p:spPr>
          <a:xfrm>
            <a:off x="2571750" y="2647950"/>
            <a:ext cx="1524000" cy="16383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demo-time-1">
            <a:extLst>
              <a:ext uri="{FF2B5EF4-FFF2-40B4-BE49-F238E27FC236}">
                <a16:creationId xmlns:a16="http://schemas.microsoft.com/office/drawing/2014/main" id="{645F1EE1-3B65-4275-95F8-49D56576B73C}"/>
              </a:ext>
            </a:extLst>
          </p:cNvPr>
          <p:cNvSpPr>
            <a:spLocks noGrp="1"/>
          </p:cNvSpPr>
          <p:nvPr/>
        </p:nvSpPr>
        <p:spPr>
          <a:xfrm>
            <a:off x="2743200" y="2838450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0:45</a:t>
            </a:r>
          </a:p>
        </p:txBody>
      </p:sp>
      <p:sp>
        <p:nvSpPr>
          <p:cNvPr id="15" name="demo-head-1">
            <a:extLst>
              <a:ext uri="{FF2B5EF4-FFF2-40B4-BE49-F238E27FC236}">
                <a16:creationId xmlns:a16="http://schemas.microsoft.com/office/drawing/2014/main" id="{506C92F5-EFDE-4B66-9902-77B8089DAA8F}"/>
              </a:ext>
            </a:extLst>
          </p:cNvPr>
          <p:cNvSpPr>
            <a:spLocks noGrp="1"/>
          </p:cNvSpPr>
          <p:nvPr/>
        </p:nvSpPr>
        <p:spPr>
          <a:xfrm>
            <a:off x="2743200" y="3200400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Spec</a:t>
            </a:r>
          </a:p>
        </p:txBody>
      </p:sp>
      <p:sp>
        <p:nvSpPr>
          <p:cNvPr id="16" name="demo-copy-1">
            <a:extLst>
              <a:ext uri="{FF2B5EF4-FFF2-40B4-BE49-F238E27FC236}">
                <a16:creationId xmlns:a16="http://schemas.microsoft.com/office/drawing/2014/main" id="{92DBFAEC-1849-4D4E-8D0A-DF0343DC7BFD}"/>
              </a:ext>
            </a:extLst>
          </p:cNvPr>
          <p:cNvSpPr>
            <a:spLocks noGrp="1"/>
          </p:cNvSpPr>
          <p:nvPr/>
        </p:nvSpPr>
        <p:spPr>
          <a:xfrm>
            <a:off x="2724150" y="3638550"/>
            <a:ext cx="1219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10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input / output / rules</a:t>
            </a:r>
          </a:p>
        </p:txBody>
      </p:sp>
      <p:sp>
        <p:nvSpPr>
          <p:cNvPr id="17" name="demo-line-2">
            <a:extLst>
              <a:ext uri="{FF2B5EF4-FFF2-40B4-BE49-F238E27FC236}">
                <a16:creationId xmlns:a16="http://schemas.microsoft.com/office/drawing/2014/main" id="{F1A6E8B9-259F-4AB1-A17D-EF974F8A107F}"/>
              </a:ext>
            </a:extLst>
          </p:cNvPr>
          <p:cNvSpPr>
            <a:spLocks noGrp="1"/>
          </p:cNvSpPr>
          <p:nvPr/>
        </p:nvSpPr>
        <p:spPr>
          <a:xfrm>
            <a:off x="4095750" y="3467100"/>
            <a:ext cx="361950" cy="0"/>
          </a:xfrm>
          <a:prstGeom prst="line">
            <a:avLst/>
          </a:prstGeom>
          <a:noFill/>
          <a:ln w="1524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demo-step-2">
            <a:extLst>
              <a:ext uri="{FF2B5EF4-FFF2-40B4-BE49-F238E27FC236}">
                <a16:creationId xmlns:a16="http://schemas.microsoft.com/office/drawing/2014/main" id="{E07FE2DF-8E47-474C-850C-AC93B59B5A6C}"/>
              </a:ext>
            </a:extLst>
          </p:cNvPr>
          <p:cNvSpPr>
            <a:spLocks noGrp="1"/>
          </p:cNvSpPr>
          <p:nvPr/>
        </p:nvSpPr>
        <p:spPr>
          <a:xfrm>
            <a:off x="4457700" y="2647950"/>
            <a:ext cx="1524000" cy="1638300"/>
          </a:xfrm>
          <a:prstGeom prst="roundRect">
            <a:avLst>
              <a:gd name="adj" fmla="val 5000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demo-time-2">
            <a:extLst>
              <a:ext uri="{FF2B5EF4-FFF2-40B4-BE49-F238E27FC236}">
                <a16:creationId xmlns:a16="http://schemas.microsoft.com/office/drawing/2014/main" id="{798F4D26-B729-4A03-8C73-AB72357139FF}"/>
              </a:ext>
            </a:extLst>
          </p:cNvPr>
          <p:cNvSpPr>
            <a:spLocks noGrp="1"/>
          </p:cNvSpPr>
          <p:nvPr/>
        </p:nvSpPr>
        <p:spPr>
          <a:xfrm>
            <a:off x="4629150" y="2838450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1:30</a:t>
            </a:r>
          </a:p>
        </p:txBody>
      </p:sp>
      <p:sp>
        <p:nvSpPr>
          <p:cNvPr id="20" name="demo-head-2">
            <a:extLst>
              <a:ext uri="{FF2B5EF4-FFF2-40B4-BE49-F238E27FC236}">
                <a16:creationId xmlns:a16="http://schemas.microsoft.com/office/drawing/2014/main" id="{BA841D03-B462-4888-924B-F3B072E7769C}"/>
              </a:ext>
            </a:extLst>
          </p:cNvPr>
          <p:cNvSpPr>
            <a:spLocks noGrp="1"/>
          </p:cNvSpPr>
          <p:nvPr/>
        </p:nvSpPr>
        <p:spPr>
          <a:xfrm>
            <a:off x="4629150" y="3200400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21" name="demo-copy-2">
            <a:extLst>
              <a:ext uri="{FF2B5EF4-FFF2-40B4-BE49-F238E27FC236}">
                <a16:creationId xmlns:a16="http://schemas.microsoft.com/office/drawing/2014/main" id="{FCC0666B-3FB4-4366-B8CF-7A849116B3FC}"/>
              </a:ext>
            </a:extLst>
          </p:cNvPr>
          <p:cNvSpPr>
            <a:spLocks noGrp="1"/>
          </p:cNvSpPr>
          <p:nvPr/>
        </p:nvSpPr>
        <p:spPr>
          <a:xfrm>
            <a:off x="4610100" y="3638550"/>
            <a:ext cx="1219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10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agent + tool main path</a:t>
            </a:r>
          </a:p>
        </p:txBody>
      </p:sp>
      <p:sp>
        <p:nvSpPr>
          <p:cNvPr id="22" name="demo-line-3">
            <a:extLst>
              <a:ext uri="{FF2B5EF4-FFF2-40B4-BE49-F238E27FC236}">
                <a16:creationId xmlns:a16="http://schemas.microsoft.com/office/drawing/2014/main" id="{49D9685A-E29A-4BB4-A9AD-D91C84C0DDDD}"/>
              </a:ext>
            </a:extLst>
          </p:cNvPr>
          <p:cNvSpPr>
            <a:spLocks noGrp="1"/>
          </p:cNvSpPr>
          <p:nvPr/>
        </p:nvSpPr>
        <p:spPr>
          <a:xfrm>
            <a:off x="5981700" y="3467100"/>
            <a:ext cx="361950" cy="0"/>
          </a:xfrm>
          <a:prstGeom prst="line">
            <a:avLst/>
          </a:prstGeom>
          <a:noFill/>
          <a:ln w="1524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demo-step-3">
            <a:extLst>
              <a:ext uri="{FF2B5EF4-FFF2-40B4-BE49-F238E27FC236}">
                <a16:creationId xmlns:a16="http://schemas.microsoft.com/office/drawing/2014/main" id="{7C376AD4-B882-4D5C-A1DA-B4B6269B940B}"/>
              </a:ext>
            </a:extLst>
          </p:cNvPr>
          <p:cNvSpPr>
            <a:spLocks noGrp="1"/>
          </p:cNvSpPr>
          <p:nvPr/>
        </p:nvSpPr>
        <p:spPr>
          <a:xfrm>
            <a:off x="6343650" y="2647950"/>
            <a:ext cx="1524000" cy="16383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demo-time-3">
            <a:extLst>
              <a:ext uri="{FF2B5EF4-FFF2-40B4-BE49-F238E27FC236}">
                <a16:creationId xmlns:a16="http://schemas.microsoft.com/office/drawing/2014/main" id="{60D19ED4-2E61-4391-B7EA-7AE5BA041144}"/>
              </a:ext>
            </a:extLst>
          </p:cNvPr>
          <p:cNvSpPr>
            <a:spLocks noGrp="1"/>
          </p:cNvSpPr>
          <p:nvPr/>
        </p:nvSpPr>
        <p:spPr>
          <a:xfrm>
            <a:off x="6515100" y="2838450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2:45</a:t>
            </a:r>
          </a:p>
        </p:txBody>
      </p:sp>
      <p:sp>
        <p:nvSpPr>
          <p:cNvPr id="25" name="demo-head-3">
            <a:extLst>
              <a:ext uri="{FF2B5EF4-FFF2-40B4-BE49-F238E27FC236}">
                <a16:creationId xmlns:a16="http://schemas.microsoft.com/office/drawing/2014/main" id="{5F40CAD6-46A6-4846-A490-1F8D01C7FC95}"/>
              </a:ext>
            </a:extLst>
          </p:cNvPr>
          <p:cNvSpPr>
            <a:spLocks noGrp="1"/>
          </p:cNvSpPr>
          <p:nvPr/>
        </p:nvSpPr>
        <p:spPr>
          <a:xfrm>
            <a:off x="6515100" y="3200400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26" name="demo-copy-3">
            <a:extLst>
              <a:ext uri="{FF2B5EF4-FFF2-40B4-BE49-F238E27FC236}">
                <a16:creationId xmlns:a16="http://schemas.microsoft.com/office/drawing/2014/main" id="{496E9908-E681-4896-83B8-FC2788AE62FD}"/>
              </a:ext>
            </a:extLst>
          </p:cNvPr>
          <p:cNvSpPr>
            <a:spLocks noGrp="1"/>
          </p:cNvSpPr>
          <p:nvPr/>
        </p:nvSpPr>
        <p:spPr>
          <a:xfrm>
            <a:off x="6496050" y="3638550"/>
            <a:ext cx="1219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10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source / test / validation</a:t>
            </a:r>
          </a:p>
        </p:txBody>
      </p:sp>
      <p:sp>
        <p:nvSpPr>
          <p:cNvPr id="27" name="demo-line-4">
            <a:extLst>
              <a:ext uri="{FF2B5EF4-FFF2-40B4-BE49-F238E27FC236}">
                <a16:creationId xmlns:a16="http://schemas.microsoft.com/office/drawing/2014/main" id="{B339FAB0-4FDC-4B26-99D7-91EDB43E8D8B}"/>
              </a:ext>
            </a:extLst>
          </p:cNvPr>
          <p:cNvSpPr>
            <a:spLocks noGrp="1"/>
          </p:cNvSpPr>
          <p:nvPr/>
        </p:nvSpPr>
        <p:spPr>
          <a:xfrm>
            <a:off x="7867650" y="3467100"/>
            <a:ext cx="361950" cy="0"/>
          </a:xfrm>
          <a:prstGeom prst="line">
            <a:avLst/>
          </a:prstGeom>
          <a:noFill/>
          <a:ln w="1524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demo-step-4">
            <a:extLst>
              <a:ext uri="{FF2B5EF4-FFF2-40B4-BE49-F238E27FC236}">
                <a16:creationId xmlns:a16="http://schemas.microsoft.com/office/drawing/2014/main" id="{B3C6A10F-10AF-42A9-8B06-496F833BCF11}"/>
              </a:ext>
            </a:extLst>
          </p:cNvPr>
          <p:cNvSpPr>
            <a:spLocks noGrp="1"/>
          </p:cNvSpPr>
          <p:nvPr/>
        </p:nvSpPr>
        <p:spPr>
          <a:xfrm>
            <a:off x="8229600" y="2647950"/>
            <a:ext cx="1524000" cy="1638300"/>
          </a:xfrm>
          <a:prstGeom prst="roundRect">
            <a:avLst>
              <a:gd name="adj" fmla="val 5000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demo-time-4">
            <a:extLst>
              <a:ext uri="{FF2B5EF4-FFF2-40B4-BE49-F238E27FC236}">
                <a16:creationId xmlns:a16="http://schemas.microsoft.com/office/drawing/2014/main" id="{D6E274F7-D74E-40ED-969E-BC0E8B819417}"/>
              </a:ext>
            </a:extLst>
          </p:cNvPr>
          <p:cNvSpPr>
            <a:spLocks noGrp="1"/>
          </p:cNvSpPr>
          <p:nvPr/>
        </p:nvSpPr>
        <p:spPr>
          <a:xfrm>
            <a:off x="8401050" y="2838450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3:45</a:t>
            </a:r>
          </a:p>
        </p:txBody>
      </p:sp>
      <p:sp>
        <p:nvSpPr>
          <p:cNvPr id="30" name="demo-head-4">
            <a:extLst>
              <a:ext uri="{FF2B5EF4-FFF2-40B4-BE49-F238E27FC236}">
                <a16:creationId xmlns:a16="http://schemas.microsoft.com/office/drawing/2014/main" id="{7C1A5D86-48F6-4B68-9678-04CCBF29F738}"/>
              </a:ext>
            </a:extLst>
          </p:cNvPr>
          <p:cNvSpPr>
            <a:spLocks noGrp="1"/>
          </p:cNvSpPr>
          <p:nvPr/>
        </p:nvSpPr>
        <p:spPr>
          <a:xfrm>
            <a:off x="8401050" y="3200400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Limit</a:t>
            </a:r>
          </a:p>
        </p:txBody>
      </p:sp>
      <p:sp>
        <p:nvSpPr>
          <p:cNvPr id="31" name="demo-copy-4">
            <a:extLst>
              <a:ext uri="{FF2B5EF4-FFF2-40B4-BE49-F238E27FC236}">
                <a16:creationId xmlns:a16="http://schemas.microsoft.com/office/drawing/2014/main" id="{3484EAC2-677B-4195-9924-A84E68DBA2B9}"/>
              </a:ext>
            </a:extLst>
          </p:cNvPr>
          <p:cNvSpPr>
            <a:spLocks noGrp="1"/>
          </p:cNvSpPr>
          <p:nvPr/>
        </p:nvSpPr>
        <p:spPr>
          <a:xfrm>
            <a:off x="8382000" y="3638550"/>
            <a:ext cx="1219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10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not_found / safety boundary</a:t>
            </a:r>
          </a:p>
        </p:txBody>
      </p:sp>
      <p:sp>
        <p:nvSpPr>
          <p:cNvPr id="32" name="demo-line-5">
            <a:extLst>
              <a:ext uri="{FF2B5EF4-FFF2-40B4-BE49-F238E27FC236}">
                <a16:creationId xmlns:a16="http://schemas.microsoft.com/office/drawing/2014/main" id="{BA7E201F-E32C-4546-9D8E-8E1AFBCE7E62}"/>
              </a:ext>
            </a:extLst>
          </p:cNvPr>
          <p:cNvSpPr>
            <a:spLocks noGrp="1"/>
          </p:cNvSpPr>
          <p:nvPr/>
        </p:nvSpPr>
        <p:spPr>
          <a:xfrm>
            <a:off x="9753600" y="3467100"/>
            <a:ext cx="361950" cy="0"/>
          </a:xfrm>
          <a:prstGeom prst="line">
            <a:avLst/>
          </a:prstGeom>
          <a:noFill/>
          <a:ln w="1524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demo-step-5">
            <a:extLst>
              <a:ext uri="{FF2B5EF4-FFF2-40B4-BE49-F238E27FC236}">
                <a16:creationId xmlns:a16="http://schemas.microsoft.com/office/drawing/2014/main" id="{D66C7AB9-B70B-45D1-AB38-40144D13D74A}"/>
              </a:ext>
            </a:extLst>
          </p:cNvPr>
          <p:cNvSpPr>
            <a:spLocks noGrp="1"/>
          </p:cNvSpPr>
          <p:nvPr/>
        </p:nvSpPr>
        <p:spPr>
          <a:xfrm>
            <a:off x="10115550" y="2647950"/>
            <a:ext cx="1524000" cy="16383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demo-time-5">
            <a:extLst>
              <a:ext uri="{FF2B5EF4-FFF2-40B4-BE49-F238E27FC236}">
                <a16:creationId xmlns:a16="http://schemas.microsoft.com/office/drawing/2014/main" id="{3EA7F165-2AA2-4BC1-BB1D-1A0F0950F694}"/>
              </a:ext>
            </a:extLst>
          </p:cNvPr>
          <p:cNvSpPr>
            <a:spLocks noGrp="1"/>
          </p:cNvSpPr>
          <p:nvPr/>
        </p:nvSpPr>
        <p:spPr>
          <a:xfrm>
            <a:off x="10287000" y="2838450"/>
            <a:ext cx="118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4:30</a:t>
            </a:r>
          </a:p>
        </p:txBody>
      </p:sp>
      <p:sp>
        <p:nvSpPr>
          <p:cNvPr id="35" name="demo-head-5">
            <a:extLst>
              <a:ext uri="{FF2B5EF4-FFF2-40B4-BE49-F238E27FC236}">
                <a16:creationId xmlns:a16="http://schemas.microsoft.com/office/drawing/2014/main" id="{707F043E-1D16-4AB2-964F-CE4E335E1651}"/>
              </a:ext>
            </a:extLst>
          </p:cNvPr>
          <p:cNvSpPr>
            <a:spLocks noGrp="1"/>
          </p:cNvSpPr>
          <p:nvPr/>
        </p:nvSpPr>
        <p:spPr>
          <a:xfrm>
            <a:off x="10287000" y="3200400"/>
            <a:ext cx="1181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36" name="demo-copy-5">
            <a:extLst>
              <a:ext uri="{FF2B5EF4-FFF2-40B4-BE49-F238E27FC236}">
                <a16:creationId xmlns:a16="http://schemas.microsoft.com/office/drawing/2014/main" id="{B15363AE-2679-400E-819D-4F319F8CBA33}"/>
              </a:ext>
            </a:extLst>
          </p:cNvPr>
          <p:cNvSpPr>
            <a:spLocks noGrp="1"/>
          </p:cNvSpPr>
          <p:nvPr/>
        </p:nvSpPr>
        <p:spPr>
          <a:xfrm>
            <a:off x="10267950" y="3638550"/>
            <a:ext cx="1219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10000"/>
              </a:lnSpc>
              <a:buNone/>
              <a:def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what you would improve</a:t>
            </a:r>
          </a:p>
        </p:txBody>
      </p:sp>
      <p:sp>
        <p:nvSpPr>
          <p:cNvPr id="37" name="qa-box">
            <a:extLst>
              <a:ext uri="{FF2B5EF4-FFF2-40B4-BE49-F238E27FC236}">
                <a16:creationId xmlns:a16="http://schemas.microsoft.com/office/drawing/2014/main" id="{E69CAD10-3467-4D2A-89BB-B6C03EDF91E0}"/>
              </a:ext>
            </a:extLst>
          </p:cNvPr>
          <p:cNvSpPr>
            <a:spLocks noGrp="1"/>
          </p:cNvSpPr>
          <p:nvPr/>
        </p:nvSpPr>
        <p:spPr>
          <a:xfrm>
            <a:off x="1524000" y="5048250"/>
            <a:ext cx="9144000" cy="609600"/>
          </a:xfrm>
          <a:prstGeom prst="roundRect">
            <a:avLst>
              <a:gd name="adj" fmla="val 12500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qa-copy">
            <a:extLst>
              <a:ext uri="{FF2B5EF4-FFF2-40B4-BE49-F238E27FC236}">
                <a16:creationId xmlns:a16="http://schemas.microsoft.com/office/drawing/2014/main" id="{8C614237-B8DA-44C9-BC04-2F1BB9A998D5}"/>
              </a:ext>
            </a:extLst>
          </p:cNvPr>
          <p:cNvSpPr>
            <a:spLocks noGrp="1"/>
          </p:cNvSpPr>
          <p:nvPr/>
        </p:nvSpPr>
        <p:spPr>
          <a:xfrm>
            <a:off x="1866900" y="5162550"/>
            <a:ext cx="8458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10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3 分鐘 Q&amp;A：會問來源、失敗案例、停止條件與人工審查界線。</a:t>
            </a:r>
          </a:p>
        </p:txBody>
      </p:sp>
    </p:spTree>
    <p:extLst>
      <p:ext uri="{BB962C8B-B14F-4D97-AF65-F5344CB8AC3E}">
        <p14:creationId xmlns:p14="http://schemas.microsoft.com/office/powerpoint/2010/main" val="238019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ccent-rail-28">
            <a:extLst>
              <a:ext uri="{FF2B5EF4-FFF2-40B4-BE49-F238E27FC236}">
                <a16:creationId xmlns:a16="http://schemas.microsoft.com/office/drawing/2014/main" id="{3583290A-70B9-400B-808F-71958FCF9E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6B4AA0"/>
          </a:solidFill>
          <a:ln w="0">
            <a:solidFill>
              <a:srgbClr val="6B4A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28">
            <a:extLst>
              <a:ext uri="{FF2B5EF4-FFF2-40B4-BE49-F238E27FC236}">
                <a16:creationId xmlns:a16="http://schemas.microsoft.com/office/drawing/2014/main" id="{9C098206-D4B9-401B-AE20-B54AC7A0365A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3" name="progress-track-28">
            <a:extLst>
              <a:ext uri="{FF2B5EF4-FFF2-40B4-BE49-F238E27FC236}">
                <a16:creationId xmlns:a16="http://schemas.microsoft.com/office/drawing/2014/main" id="{E2605212-1F4E-4977-BC56-D0F06631EBE9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28">
            <a:extLst>
              <a:ext uri="{FF2B5EF4-FFF2-40B4-BE49-F238E27FC236}">
                <a16:creationId xmlns:a16="http://schemas.microsoft.com/office/drawing/2014/main" id="{5D29878B-0A3B-4084-BAD8-4242F1140401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149288" cy="0"/>
          </a:xfrm>
          <a:prstGeom prst="line">
            <a:avLst/>
          </a:prstGeom>
          <a:noFill/>
          <a:ln w="28575">
            <a:solidFill>
              <a:srgbClr val="6B4A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EA2BC57E-2F4F-4F0B-8E23-89F263A078AE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00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SCORING OVERVIEW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8B42DCA5-D73E-40A7-A3F2-7B6B2091FC9D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總分 100 分，獎勵可驗證的 workflow，而不是功能堆疊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D09AD243-D091-4ADF-B751-6E55325B1AC0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28/34</a:t>
            </a:r>
          </a:p>
        </p:txBody>
      </p:sp>
      <p:sp>
        <p:nvSpPr>
          <p:cNvPr id="8" name="score-bar-0">
            <a:extLst>
              <a:ext uri="{FF2B5EF4-FFF2-40B4-BE49-F238E27FC236}">
                <a16:creationId xmlns:a16="http://schemas.microsoft.com/office/drawing/2014/main" id="{284CA6AE-FDBC-42A5-9923-BFD5B0E74FB7}"/>
              </a:ext>
            </a:extLst>
          </p:cNvPr>
          <p:cNvSpPr>
            <a:spLocks noGrp="1"/>
          </p:cNvSpPr>
          <p:nvPr/>
        </p:nvSpPr>
        <p:spPr>
          <a:xfrm>
            <a:off x="1238250" y="2533650"/>
            <a:ext cx="1943100" cy="1200150"/>
          </a:xfrm>
          <a:prstGeom prst="rect">
            <a:avLst/>
          </a:prstGeom>
          <a:solidFill>
            <a:srgbClr val="3446A8"/>
          </a:solidFill>
          <a:ln w="0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core-points-0">
            <a:extLst>
              <a:ext uri="{FF2B5EF4-FFF2-40B4-BE49-F238E27FC236}">
                <a16:creationId xmlns:a16="http://schemas.microsoft.com/office/drawing/2014/main" id="{B9133D51-7829-42DD-886B-42C012EE8893}"/>
              </a:ext>
            </a:extLst>
          </p:cNvPr>
          <p:cNvSpPr>
            <a:spLocks noGrp="1"/>
          </p:cNvSpPr>
          <p:nvPr/>
        </p:nvSpPr>
        <p:spPr>
          <a:xfrm>
            <a:off x="1238250" y="2724150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score-label-0">
            <a:extLst>
              <a:ext uri="{FF2B5EF4-FFF2-40B4-BE49-F238E27FC236}">
                <a16:creationId xmlns:a16="http://schemas.microsoft.com/office/drawing/2014/main" id="{64570519-3995-4975-BB3E-72378AA783DD}"/>
              </a:ext>
            </a:extLst>
          </p:cNvPr>
          <p:cNvSpPr>
            <a:spLocks noGrp="1"/>
          </p:cNvSpPr>
          <p:nvPr/>
        </p:nvSpPr>
        <p:spPr>
          <a:xfrm>
            <a:off x="1314450" y="3257550"/>
            <a:ext cx="1790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Problem framing</a:t>
            </a:r>
          </a:p>
        </p:txBody>
      </p:sp>
      <p:sp>
        <p:nvSpPr>
          <p:cNvPr id="11" name="score-bar-1">
            <a:extLst>
              <a:ext uri="{FF2B5EF4-FFF2-40B4-BE49-F238E27FC236}">
                <a16:creationId xmlns:a16="http://schemas.microsoft.com/office/drawing/2014/main" id="{FDF118F6-BCDD-4E92-BDB8-7F5F151DA472}"/>
              </a:ext>
            </a:extLst>
          </p:cNvPr>
          <p:cNvSpPr>
            <a:spLocks noGrp="1"/>
          </p:cNvSpPr>
          <p:nvPr/>
        </p:nvSpPr>
        <p:spPr>
          <a:xfrm>
            <a:off x="3181350" y="2533650"/>
            <a:ext cx="2428875" cy="1200150"/>
          </a:xfrm>
          <a:prstGeom prst="rect">
            <a:avLst/>
          </a:prstGeom>
          <a:solidFill>
            <a:srgbClr val="0E8F88"/>
          </a:solidFill>
          <a:ln w="0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core-points-1">
            <a:extLst>
              <a:ext uri="{FF2B5EF4-FFF2-40B4-BE49-F238E27FC236}">
                <a16:creationId xmlns:a16="http://schemas.microsoft.com/office/drawing/2014/main" id="{49D135A2-BFA2-4762-95BE-33000890BA39}"/>
              </a:ext>
            </a:extLst>
          </p:cNvPr>
          <p:cNvSpPr>
            <a:spLocks noGrp="1"/>
          </p:cNvSpPr>
          <p:nvPr/>
        </p:nvSpPr>
        <p:spPr>
          <a:xfrm>
            <a:off x="3181350" y="2724150"/>
            <a:ext cx="2428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3" name="score-label-1">
            <a:extLst>
              <a:ext uri="{FF2B5EF4-FFF2-40B4-BE49-F238E27FC236}">
                <a16:creationId xmlns:a16="http://schemas.microsoft.com/office/drawing/2014/main" id="{BC710F44-9846-41E4-8519-95C457D72D75}"/>
              </a:ext>
            </a:extLst>
          </p:cNvPr>
          <p:cNvSpPr>
            <a:spLocks noGrp="1"/>
          </p:cNvSpPr>
          <p:nvPr/>
        </p:nvSpPr>
        <p:spPr>
          <a:xfrm>
            <a:off x="3257550" y="3257550"/>
            <a:ext cx="22764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 + traceability</a:t>
            </a:r>
          </a:p>
        </p:txBody>
      </p:sp>
      <p:sp>
        <p:nvSpPr>
          <p:cNvPr id="14" name="score-bar-2">
            <a:extLst>
              <a:ext uri="{FF2B5EF4-FFF2-40B4-BE49-F238E27FC236}">
                <a16:creationId xmlns:a16="http://schemas.microsoft.com/office/drawing/2014/main" id="{5BDBA25C-CC76-42F1-95AF-26CC6466B573}"/>
              </a:ext>
            </a:extLst>
          </p:cNvPr>
          <p:cNvSpPr>
            <a:spLocks noGrp="1"/>
          </p:cNvSpPr>
          <p:nvPr/>
        </p:nvSpPr>
        <p:spPr>
          <a:xfrm>
            <a:off x="5610225" y="2533650"/>
            <a:ext cx="1943100" cy="1200150"/>
          </a:xfrm>
          <a:prstGeom prst="rect">
            <a:avLst/>
          </a:prstGeom>
          <a:solidFill>
            <a:srgbClr val="D89A16"/>
          </a:solidFill>
          <a:ln w="0">
            <a:solidFill>
              <a:srgbClr val="D89A1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core-points-2">
            <a:extLst>
              <a:ext uri="{FF2B5EF4-FFF2-40B4-BE49-F238E27FC236}">
                <a16:creationId xmlns:a16="http://schemas.microsoft.com/office/drawing/2014/main" id="{844E6614-EDDD-445B-AD2F-7B78015C258C}"/>
              </a:ext>
            </a:extLst>
          </p:cNvPr>
          <p:cNvSpPr>
            <a:spLocks noGrp="1"/>
          </p:cNvSpPr>
          <p:nvPr/>
        </p:nvSpPr>
        <p:spPr>
          <a:xfrm>
            <a:off x="5610225" y="2724150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6" name="score-label-2">
            <a:extLst>
              <a:ext uri="{FF2B5EF4-FFF2-40B4-BE49-F238E27FC236}">
                <a16:creationId xmlns:a16="http://schemas.microsoft.com/office/drawing/2014/main" id="{6363285B-1AD7-49BB-B698-E8EA82CF7D63}"/>
              </a:ext>
            </a:extLst>
          </p:cNvPr>
          <p:cNvSpPr>
            <a:spLocks noGrp="1"/>
          </p:cNvSpPr>
          <p:nvPr/>
        </p:nvSpPr>
        <p:spPr>
          <a:xfrm>
            <a:off x="5686425" y="3257550"/>
            <a:ext cx="1790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Harness design</a:t>
            </a:r>
          </a:p>
        </p:txBody>
      </p:sp>
      <p:sp>
        <p:nvSpPr>
          <p:cNvPr id="17" name="score-bar-3">
            <a:extLst>
              <a:ext uri="{FF2B5EF4-FFF2-40B4-BE49-F238E27FC236}">
                <a16:creationId xmlns:a16="http://schemas.microsoft.com/office/drawing/2014/main" id="{0ECC7813-E50C-4A4E-83FB-44C6132F2F29}"/>
              </a:ext>
            </a:extLst>
          </p:cNvPr>
          <p:cNvSpPr>
            <a:spLocks noGrp="1"/>
          </p:cNvSpPr>
          <p:nvPr/>
        </p:nvSpPr>
        <p:spPr>
          <a:xfrm>
            <a:off x="7553325" y="2533650"/>
            <a:ext cx="1943100" cy="1200150"/>
          </a:xfrm>
          <a:prstGeom prst="rect">
            <a:avLst/>
          </a:prstGeom>
          <a:solidFill>
            <a:srgbClr val="C85A4A"/>
          </a:solidFill>
          <a:ln w="0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core-points-3">
            <a:extLst>
              <a:ext uri="{FF2B5EF4-FFF2-40B4-BE49-F238E27FC236}">
                <a16:creationId xmlns:a16="http://schemas.microsoft.com/office/drawing/2014/main" id="{F8D5A547-B2FE-4CD3-A0D5-87BAC80526DF}"/>
              </a:ext>
            </a:extLst>
          </p:cNvPr>
          <p:cNvSpPr>
            <a:spLocks noGrp="1"/>
          </p:cNvSpPr>
          <p:nvPr/>
        </p:nvSpPr>
        <p:spPr>
          <a:xfrm>
            <a:off x="7553325" y="2724150"/>
            <a:ext cx="1943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9" name="score-label-3">
            <a:extLst>
              <a:ext uri="{FF2B5EF4-FFF2-40B4-BE49-F238E27FC236}">
                <a16:creationId xmlns:a16="http://schemas.microsoft.com/office/drawing/2014/main" id="{5760925A-FF14-4ECC-9937-55B11E390852}"/>
              </a:ext>
            </a:extLst>
          </p:cNvPr>
          <p:cNvSpPr>
            <a:spLocks noGrp="1"/>
          </p:cNvSpPr>
          <p:nvPr/>
        </p:nvSpPr>
        <p:spPr>
          <a:xfrm>
            <a:off x="7629525" y="3257550"/>
            <a:ext cx="1790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Loop + safety</a:t>
            </a:r>
          </a:p>
        </p:txBody>
      </p:sp>
      <p:sp>
        <p:nvSpPr>
          <p:cNvPr id="20" name="score-bar-4">
            <a:extLst>
              <a:ext uri="{FF2B5EF4-FFF2-40B4-BE49-F238E27FC236}">
                <a16:creationId xmlns:a16="http://schemas.microsoft.com/office/drawing/2014/main" id="{4032DD1F-4F22-4AE4-AD0F-9671D428665F}"/>
              </a:ext>
            </a:extLst>
          </p:cNvPr>
          <p:cNvSpPr>
            <a:spLocks noGrp="1"/>
          </p:cNvSpPr>
          <p:nvPr/>
        </p:nvSpPr>
        <p:spPr>
          <a:xfrm>
            <a:off x="9496425" y="2533650"/>
            <a:ext cx="1457325" cy="1200150"/>
          </a:xfrm>
          <a:prstGeom prst="rect">
            <a:avLst/>
          </a:prstGeom>
          <a:solidFill>
            <a:srgbClr val="6B4AA0"/>
          </a:solidFill>
          <a:ln w="0">
            <a:solidFill>
              <a:srgbClr val="6B4A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core-points-4">
            <a:extLst>
              <a:ext uri="{FF2B5EF4-FFF2-40B4-BE49-F238E27FC236}">
                <a16:creationId xmlns:a16="http://schemas.microsoft.com/office/drawing/2014/main" id="{8AB517D0-5A86-4BA9-BD46-8E6A4B51C695}"/>
              </a:ext>
            </a:extLst>
          </p:cNvPr>
          <p:cNvSpPr>
            <a:spLocks noGrp="1"/>
          </p:cNvSpPr>
          <p:nvPr/>
        </p:nvSpPr>
        <p:spPr>
          <a:xfrm>
            <a:off x="9496425" y="2724150"/>
            <a:ext cx="14573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22" name="score-label-4">
            <a:extLst>
              <a:ext uri="{FF2B5EF4-FFF2-40B4-BE49-F238E27FC236}">
                <a16:creationId xmlns:a16="http://schemas.microsoft.com/office/drawing/2014/main" id="{B164D601-325B-4450-B99C-D18A5DAC9C00}"/>
              </a:ext>
            </a:extLst>
          </p:cNvPr>
          <p:cNvSpPr>
            <a:spLocks noGrp="1"/>
          </p:cNvSpPr>
          <p:nvPr/>
        </p:nvSpPr>
        <p:spPr>
          <a:xfrm>
            <a:off x="9572625" y="3257550"/>
            <a:ext cx="13049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 clarity</a:t>
            </a:r>
          </a:p>
        </p:txBody>
      </p:sp>
      <p:sp>
        <p:nvSpPr>
          <p:cNvPr id="23" name="score-detail-label-0">
            <a:extLst>
              <a:ext uri="{FF2B5EF4-FFF2-40B4-BE49-F238E27FC236}">
                <a16:creationId xmlns:a16="http://schemas.microsoft.com/office/drawing/2014/main" id="{2A6C798B-A4DA-4667-A9AB-6D2E42D61B96}"/>
              </a:ext>
            </a:extLst>
          </p:cNvPr>
          <p:cNvSpPr>
            <a:spLocks noGrp="1"/>
          </p:cNvSpPr>
          <p:nvPr/>
        </p:nvSpPr>
        <p:spPr>
          <a:xfrm>
            <a:off x="1619250" y="44196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20  Problem framing</a:t>
            </a:r>
          </a:p>
        </p:txBody>
      </p:sp>
      <p:sp>
        <p:nvSpPr>
          <p:cNvPr id="24" name="score-detail-0">
            <a:extLst>
              <a:ext uri="{FF2B5EF4-FFF2-40B4-BE49-F238E27FC236}">
                <a16:creationId xmlns:a16="http://schemas.microsoft.com/office/drawing/2014/main" id="{BBD637D9-AE39-4494-84AC-87A93F277FAE}"/>
              </a:ext>
            </a:extLst>
          </p:cNvPr>
          <p:cNvSpPr>
            <a:spLocks noGrp="1"/>
          </p:cNvSpPr>
          <p:nvPr/>
        </p:nvSpPr>
        <p:spPr>
          <a:xfrm>
            <a:off x="4286250" y="4419600"/>
            <a:ext cx="600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題目、scope、input/output 清楚</a:t>
            </a:r>
          </a:p>
        </p:txBody>
      </p:sp>
      <p:sp>
        <p:nvSpPr>
          <p:cNvPr id="25" name="score-detail-label-1">
            <a:extLst>
              <a:ext uri="{FF2B5EF4-FFF2-40B4-BE49-F238E27FC236}">
                <a16:creationId xmlns:a16="http://schemas.microsoft.com/office/drawing/2014/main" id="{7284FA25-12B8-41D5-AE22-CAF6060E0800}"/>
              </a:ext>
            </a:extLst>
          </p:cNvPr>
          <p:cNvSpPr>
            <a:spLocks noGrp="1"/>
          </p:cNvSpPr>
          <p:nvPr/>
        </p:nvSpPr>
        <p:spPr>
          <a:xfrm>
            <a:off x="1619250" y="46863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25  Evidence + traceability</a:t>
            </a:r>
          </a:p>
        </p:txBody>
      </p:sp>
      <p:sp>
        <p:nvSpPr>
          <p:cNvPr id="26" name="score-detail-1">
            <a:extLst>
              <a:ext uri="{FF2B5EF4-FFF2-40B4-BE49-F238E27FC236}">
                <a16:creationId xmlns:a16="http://schemas.microsoft.com/office/drawing/2014/main" id="{E06AD917-6881-4BCE-81C3-272F169DDE4B}"/>
              </a:ext>
            </a:extLst>
          </p:cNvPr>
          <p:cNvSpPr>
            <a:spLocks noGrp="1"/>
          </p:cNvSpPr>
          <p:nvPr/>
        </p:nvSpPr>
        <p:spPr>
          <a:xfrm>
            <a:off x="4286250" y="4686300"/>
            <a:ext cx="600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來源可回查、not_found 不編造</a:t>
            </a:r>
          </a:p>
        </p:txBody>
      </p:sp>
      <p:sp>
        <p:nvSpPr>
          <p:cNvPr id="27" name="score-detail-label-2">
            <a:extLst>
              <a:ext uri="{FF2B5EF4-FFF2-40B4-BE49-F238E27FC236}">
                <a16:creationId xmlns:a16="http://schemas.microsoft.com/office/drawing/2014/main" id="{1C3D5A71-92F2-484B-A56A-A65449DB0AF4}"/>
              </a:ext>
            </a:extLst>
          </p:cNvPr>
          <p:cNvSpPr>
            <a:spLocks noGrp="1"/>
          </p:cNvSpPr>
          <p:nvPr/>
        </p:nvSpPr>
        <p:spPr>
          <a:xfrm>
            <a:off x="1619250" y="49530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20  Harness design</a:t>
            </a:r>
          </a:p>
        </p:txBody>
      </p:sp>
      <p:sp>
        <p:nvSpPr>
          <p:cNvPr id="28" name="score-detail-2">
            <a:extLst>
              <a:ext uri="{FF2B5EF4-FFF2-40B4-BE49-F238E27FC236}">
                <a16:creationId xmlns:a16="http://schemas.microsoft.com/office/drawing/2014/main" id="{39763F92-B16E-45A5-9A5A-477E0DC9A50D}"/>
              </a:ext>
            </a:extLst>
          </p:cNvPr>
          <p:cNvSpPr>
            <a:spLocks noGrp="1"/>
          </p:cNvSpPr>
          <p:nvPr/>
        </p:nvSpPr>
        <p:spPr>
          <a:xfrm>
            <a:off x="4286250" y="4953000"/>
            <a:ext cx="600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schema、eval cases、logs、failure policy</a:t>
            </a:r>
          </a:p>
        </p:txBody>
      </p:sp>
      <p:sp>
        <p:nvSpPr>
          <p:cNvPr id="29" name="score-detail-label-3">
            <a:extLst>
              <a:ext uri="{FF2B5EF4-FFF2-40B4-BE49-F238E27FC236}">
                <a16:creationId xmlns:a16="http://schemas.microsoft.com/office/drawing/2014/main" id="{07CD9072-47F2-43D6-8248-EC88D4DFAE03}"/>
              </a:ext>
            </a:extLst>
          </p:cNvPr>
          <p:cNvSpPr>
            <a:spLocks noGrp="1"/>
          </p:cNvSpPr>
          <p:nvPr/>
        </p:nvSpPr>
        <p:spPr>
          <a:xfrm>
            <a:off x="1619250" y="52197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20  Loop + safety</a:t>
            </a:r>
          </a:p>
        </p:txBody>
      </p:sp>
      <p:sp>
        <p:nvSpPr>
          <p:cNvPr id="30" name="score-detail-3">
            <a:extLst>
              <a:ext uri="{FF2B5EF4-FFF2-40B4-BE49-F238E27FC236}">
                <a16:creationId xmlns:a16="http://schemas.microsoft.com/office/drawing/2014/main" id="{9F80B5BA-F56C-4EF6-B916-7097FCB95D1E}"/>
              </a:ext>
            </a:extLst>
          </p:cNvPr>
          <p:cNvSpPr>
            <a:spLocks noGrp="1"/>
          </p:cNvSpPr>
          <p:nvPr/>
        </p:nvSpPr>
        <p:spPr>
          <a:xfrm>
            <a:off x="4286250" y="5219700"/>
            <a:ext cx="600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checkpoints、stop conditions、human gate</a:t>
            </a:r>
          </a:p>
        </p:txBody>
      </p:sp>
      <p:sp>
        <p:nvSpPr>
          <p:cNvPr id="31" name="score-detail-label-4">
            <a:extLst>
              <a:ext uri="{FF2B5EF4-FFF2-40B4-BE49-F238E27FC236}">
                <a16:creationId xmlns:a16="http://schemas.microsoft.com/office/drawing/2014/main" id="{25EFEE14-B5A1-43DF-A7F7-EFA68833B53D}"/>
              </a:ext>
            </a:extLst>
          </p:cNvPr>
          <p:cNvSpPr>
            <a:spLocks noGrp="1"/>
          </p:cNvSpPr>
          <p:nvPr/>
        </p:nvSpPr>
        <p:spPr>
          <a:xfrm>
            <a:off x="1619250" y="54864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15  Demo clarity</a:t>
            </a:r>
          </a:p>
        </p:txBody>
      </p:sp>
      <p:sp>
        <p:nvSpPr>
          <p:cNvPr id="32" name="score-detail-4">
            <a:extLst>
              <a:ext uri="{FF2B5EF4-FFF2-40B4-BE49-F238E27FC236}">
                <a16:creationId xmlns:a16="http://schemas.microsoft.com/office/drawing/2014/main" id="{5EDDF1E3-666E-42AE-B0C6-AE352C8C287B}"/>
              </a:ext>
            </a:extLst>
          </p:cNvPr>
          <p:cNvSpPr>
            <a:spLocks noGrp="1"/>
          </p:cNvSpPr>
          <p:nvPr/>
        </p:nvSpPr>
        <p:spPr>
          <a:xfrm>
            <a:off x="4286250" y="5486400"/>
            <a:ext cx="6000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五分鐘內讓人理解限制與價值</a:t>
            </a:r>
          </a:p>
        </p:txBody>
      </p:sp>
    </p:spTree>
    <p:extLst>
      <p:ext uri="{BB962C8B-B14F-4D97-AF65-F5344CB8AC3E}">
        <p14:creationId xmlns:p14="http://schemas.microsoft.com/office/powerpoint/2010/main" val="516196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ccent-rail-31">
            <a:extLst>
              <a:ext uri="{FF2B5EF4-FFF2-40B4-BE49-F238E27FC236}">
                <a16:creationId xmlns:a16="http://schemas.microsoft.com/office/drawing/2014/main" id="{EF7627E3-95A4-4AAA-8C6E-C4648FF4E6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6B4AA0"/>
          </a:solidFill>
          <a:ln w="0">
            <a:solidFill>
              <a:srgbClr val="6B4A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section-31">
            <a:extLst>
              <a:ext uri="{FF2B5EF4-FFF2-40B4-BE49-F238E27FC236}">
                <a16:creationId xmlns:a16="http://schemas.microsoft.com/office/drawing/2014/main" id="{618B7980-AB33-4A8B-B333-6407CCDF5111}"/>
              </a:ext>
            </a:extLst>
          </p:cNvPr>
          <p:cNvSpPr>
            <a:spLocks noGrp="1"/>
          </p:cNvSpPr>
          <p:nvPr/>
        </p:nvSpPr>
        <p:spPr>
          <a:xfrm>
            <a:off x="9810750" y="552450"/>
            <a:ext cx="1657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lnSpc>
                <a:spcPct val="108000"/>
              </a:lnSpc>
              <a:buNone/>
              <a:defRPr sz="900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3" name="progress-track-31">
            <a:extLst>
              <a:ext uri="{FF2B5EF4-FFF2-40B4-BE49-F238E27FC236}">
                <a16:creationId xmlns:a16="http://schemas.microsoft.com/office/drawing/2014/main" id="{599578F4-6C19-4DDF-B8BC-2F70A804DFCE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60985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progress-fill-31">
            <a:extLst>
              <a:ext uri="{FF2B5EF4-FFF2-40B4-BE49-F238E27FC236}">
                <a16:creationId xmlns:a16="http://schemas.microsoft.com/office/drawing/2014/main" id="{786D9CC9-9BC4-4107-AA44-AD960C551320}"/>
              </a:ext>
            </a:extLst>
          </p:cNvPr>
          <p:cNvSpPr>
            <a:spLocks noGrp="1"/>
          </p:cNvSpPr>
          <p:nvPr/>
        </p:nvSpPr>
        <p:spPr>
          <a:xfrm>
            <a:off x="8858250" y="6486525"/>
            <a:ext cx="2379569" cy="0"/>
          </a:xfrm>
          <a:prstGeom prst="line">
            <a:avLst/>
          </a:prstGeom>
          <a:noFill/>
          <a:ln w="28575">
            <a:solidFill>
              <a:srgbClr val="6B4A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eyebrow">
            <a:extLst>
              <a:ext uri="{FF2B5EF4-FFF2-40B4-BE49-F238E27FC236}">
                <a16:creationId xmlns:a16="http://schemas.microsoft.com/office/drawing/2014/main" id="{FF1D84E2-00A4-47CA-9C06-0AA00B02DA36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800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B4AA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4AA0"/>
                </a:solidFill>
                <a:latin typeface="Aptos"/>
                <a:ea typeface="Aptos"/>
                <a:cs typeface="Aptos"/>
              </a:rPr>
              <a:t>WHAT EARNS OR LOSES POINTS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476CAE43-4262-4236-A95E-AA97D5C31431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96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評分看你的判斷品質，不看你讓 agent 產生多少字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64C9F179-E58E-48CD-93EF-8270D801DFE4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Biomedical hackathon briefing  |  31/34</a:t>
            </a:r>
          </a:p>
        </p:txBody>
      </p:sp>
      <p:sp>
        <p:nvSpPr>
          <p:cNvPr id="8" name="points-col-0">
            <a:extLst>
              <a:ext uri="{FF2B5EF4-FFF2-40B4-BE49-F238E27FC236}">
                <a16:creationId xmlns:a16="http://schemas.microsoft.com/office/drawing/2014/main" id="{43AD2865-1A0E-45ED-A2AB-7903480AF552}"/>
              </a:ext>
            </a:extLst>
          </p:cNvPr>
          <p:cNvSpPr>
            <a:spLocks noGrp="1"/>
          </p:cNvSpPr>
          <p:nvPr/>
        </p:nvSpPr>
        <p:spPr>
          <a:xfrm>
            <a:off x="1104900" y="1905000"/>
            <a:ext cx="4267200" cy="3048000"/>
          </a:xfrm>
          <a:prstGeom prst="roundRect">
            <a:avLst>
              <a:gd name="adj" fmla="val 2500"/>
            </a:avLst>
          </a:prstGeom>
          <a:solidFill>
            <a:srgbClr val="EAF8F6"/>
          </a:solidFill>
          <a:ln w="9525">
            <a:solidFill>
              <a:srgbClr val="0E8F8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points-head-0">
            <a:extLst>
              <a:ext uri="{FF2B5EF4-FFF2-40B4-BE49-F238E27FC236}">
                <a16:creationId xmlns:a16="http://schemas.microsoft.com/office/drawing/2014/main" id="{EDADC439-4954-4464-A895-1311CE8CE83B}"/>
              </a:ext>
            </a:extLst>
          </p:cNvPr>
          <p:cNvSpPr>
            <a:spLocks noGrp="1"/>
          </p:cNvSpPr>
          <p:nvPr/>
        </p:nvSpPr>
        <p:spPr>
          <a:xfrm>
            <a:off x="1466850" y="22669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Earns points</a:t>
            </a:r>
          </a:p>
        </p:txBody>
      </p:sp>
      <p:sp>
        <p:nvSpPr>
          <p:cNvPr id="10" name="points-list-0">
            <a:extLst>
              <a:ext uri="{FF2B5EF4-FFF2-40B4-BE49-F238E27FC236}">
                <a16:creationId xmlns:a16="http://schemas.microsoft.com/office/drawing/2014/main" id="{3613FBA7-DFA6-45FF-9466-4BAE68FEC15E}"/>
              </a:ext>
            </a:extLst>
          </p:cNvPr>
          <p:cNvSpPr>
            <a:spLocks noGrp="1"/>
          </p:cNvSpPr>
          <p:nvPr/>
        </p:nvSpPr>
        <p:spPr>
          <a:xfrm>
            <a:off x="1752600" y="3067050"/>
            <a:ext cx="30099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明確拒絕超出來源的 claim</a:t>
            </a:r>
          </a:p>
          <a:p>
            <a:pPr marL="24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保留 not_found 與 failing case</a:t>
            </a:r>
          </a:p>
          <a:p>
            <a:pPr marL="24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小 patch + validation + diff</a:t>
            </a:r>
          </a:p>
          <a:p>
            <a:pPr marL="24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demo 直接展示 limitation</a:t>
            </a:r>
          </a:p>
        </p:txBody>
      </p:sp>
      <p:sp>
        <p:nvSpPr>
          <p:cNvPr id="11" name="points-col-1">
            <a:extLst>
              <a:ext uri="{FF2B5EF4-FFF2-40B4-BE49-F238E27FC236}">
                <a16:creationId xmlns:a16="http://schemas.microsoft.com/office/drawing/2014/main" id="{EA453958-FF04-434B-829D-C4B586680C43}"/>
              </a:ext>
            </a:extLst>
          </p:cNvPr>
          <p:cNvSpPr>
            <a:spLocks noGrp="1"/>
          </p:cNvSpPr>
          <p:nvPr/>
        </p:nvSpPr>
        <p:spPr>
          <a:xfrm>
            <a:off x="6496050" y="1905000"/>
            <a:ext cx="4267200" cy="3048000"/>
          </a:xfrm>
          <a:prstGeom prst="roundRect">
            <a:avLst>
              <a:gd name="adj" fmla="val 2500"/>
            </a:avLst>
          </a:prstGeom>
          <a:solidFill>
            <a:srgbClr val="FDEDEA"/>
          </a:solidFill>
          <a:ln w="9525">
            <a:solidFill>
              <a:srgbClr val="C85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points-head-1">
            <a:extLst>
              <a:ext uri="{FF2B5EF4-FFF2-40B4-BE49-F238E27FC236}">
                <a16:creationId xmlns:a16="http://schemas.microsoft.com/office/drawing/2014/main" id="{7B46AEB9-F301-4837-8B4F-C52ED804DC10}"/>
              </a:ext>
            </a:extLst>
          </p:cNvPr>
          <p:cNvSpPr>
            <a:spLocks noGrp="1"/>
          </p:cNvSpPr>
          <p:nvPr/>
        </p:nvSpPr>
        <p:spPr>
          <a:xfrm>
            <a:off x="6858000" y="22669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Loses points</a:t>
            </a:r>
          </a:p>
        </p:txBody>
      </p:sp>
      <p:sp>
        <p:nvSpPr>
          <p:cNvPr id="13" name="points-list-1">
            <a:extLst>
              <a:ext uri="{FF2B5EF4-FFF2-40B4-BE49-F238E27FC236}">
                <a16:creationId xmlns:a16="http://schemas.microsoft.com/office/drawing/2014/main" id="{E814E383-6792-4589-90F5-B8276C691F97}"/>
              </a:ext>
            </a:extLst>
          </p:cNvPr>
          <p:cNvSpPr>
            <a:spLocks noGrp="1"/>
          </p:cNvSpPr>
          <p:nvPr/>
        </p:nvSpPr>
        <p:spPr>
          <a:xfrm>
            <a:off x="7143750" y="3067050"/>
            <a:ext cx="300990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4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用模型猜 PMID / sample_n</a:t>
            </a:r>
          </a:p>
          <a:p>
            <a:pPr marL="24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只有漂亮答案，沒有 sources / logs</a:t>
            </a:r>
          </a:p>
          <a:p>
            <a:pPr marL="24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scope 太大，無法跑出完整路徑</a:t>
            </a:r>
          </a:p>
          <a:p>
            <a:pPr marL="24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 clinical inference 當一般摘要</a:t>
            </a:r>
          </a:p>
        </p:txBody>
      </p:sp>
      <p:sp>
        <p:nvSpPr>
          <p:cNvPr id="14" name="bottom">
            <a:extLst>
              <a:ext uri="{FF2B5EF4-FFF2-40B4-BE49-F238E27FC236}">
                <a16:creationId xmlns:a16="http://schemas.microsoft.com/office/drawing/2014/main" id="{ADB82914-D453-4B41-9C8A-EFF4546BAB55}"/>
              </a:ext>
            </a:extLst>
          </p:cNvPr>
          <p:cNvSpPr>
            <a:spLocks noGrp="1"/>
          </p:cNvSpPr>
          <p:nvPr/>
        </p:nvSpPr>
        <p:spPr>
          <a:xfrm>
            <a:off x="1333500" y="5391150"/>
            <a:ext cx="952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6B4AA0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6B4AA0"/>
                </a:solidFill>
                <a:latin typeface="PingFang TC"/>
                <a:ea typeface="PingFang TC"/>
                <a:cs typeface="PingFang TC"/>
              </a:rPr>
              <a:t>被發現一個誠實的 failure，比藏起十個 failure 更值得信任。</a:t>
            </a:r>
          </a:p>
        </p:txBody>
      </p:sp>
    </p:spTree>
    <p:extLst>
      <p:ext uri="{BB962C8B-B14F-4D97-AF65-F5344CB8AC3E}">
        <p14:creationId xmlns:p14="http://schemas.microsoft.com/office/powerpoint/2010/main" val="922388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ansition-title">
            <a:extLst>
              <a:ext uri="{FF2B5EF4-FFF2-40B4-BE49-F238E27FC236}">
                <a16:creationId xmlns:a16="http://schemas.microsoft.com/office/drawing/2014/main" id="{EA0493DC-58C1-4ADC-9AAF-1D3CBE21F5F3}"/>
              </a:ext>
            </a:extLst>
          </p:cNvPr>
          <p:cNvSpPr>
            <a:spLocks noGrp="1"/>
          </p:cNvSpPr>
          <p:nvPr/>
        </p:nvSpPr>
        <p:spPr>
          <a:xfrm>
            <a:off x="1466850" y="1771650"/>
            <a:ext cx="7048500" cy="1295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From language models</a:t>
            </a:r>
          </a:p>
          <a:p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 research agents</a:t>
            </a:r>
          </a:p>
        </p:txBody>
      </p:sp>
      <p:sp>
        <p:nvSpPr>
          <p:cNvPr id="2" name="transition-subtitle">
            <a:extLst>
              <a:ext uri="{FF2B5EF4-FFF2-40B4-BE49-F238E27FC236}">
                <a16:creationId xmlns:a16="http://schemas.microsoft.com/office/drawing/2014/main" id="{182343F4-13E0-4EF9-A57C-823A20899713}"/>
              </a:ext>
            </a:extLst>
          </p:cNvPr>
          <p:cNvSpPr>
            <a:spLocks noGrp="1"/>
          </p:cNvSpPr>
          <p:nvPr/>
        </p:nvSpPr>
        <p:spPr>
          <a:xfrm>
            <a:off x="1504950" y="3390900"/>
            <a:ext cx="609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00" b="0">
                <a:solidFill>
                  <a:srgbClr val="DDE4E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DE4E8"/>
                </a:solidFill>
                <a:latin typeface="Aptos"/>
                <a:ea typeface="Aptos"/>
                <a:cs typeface="Aptos"/>
              </a:rPr>
              <a:t>Next: LLM basics for biomedical workflows</a:t>
            </a:r>
          </a:p>
        </p:txBody>
      </p:sp>
      <p:sp>
        <p:nvSpPr>
          <p:cNvPr id="3" name="mini-0">
            <a:extLst>
              <a:ext uri="{FF2B5EF4-FFF2-40B4-BE49-F238E27FC236}">
                <a16:creationId xmlns:a16="http://schemas.microsoft.com/office/drawing/2014/main" id="{33444D59-A252-4D4E-80A0-6F3BAE310BA4}"/>
              </a:ext>
            </a:extLst>
          </p:cNvPr>
          <p:cNvSpPr>
            <a:spLocks noGrp="1"/>
          </p:cNvSpPr>
          <p:nvPr/>
        </p:nvSpPr>
        <p:spPr>
          <a:xfrm>
            <a:off x="1504950" y="4413250"/>
            <a:ext cx="1352550" cy="361950"/>
          </a:xfrm>
          <a:prstGeom prst="roundRect">
            <a:avLst>
              <a:gd name="adj" fmla="val 26316"/>
            </a:avLst>
          </a:prstGeom>
          <a:solidFill>
            <a:srgbClr val="26313A"/>
          </a:solidFill>
          <a:ln w="12383">
            <a:solidFill>
              <a:srgbClr val="2BB5AC"/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275" b="1">
                <a:solidFill>
                  <a:srgbClr val="2BB5A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B5AC"/>
                </a:solidFill>
                <a:latin typeface="Aptos"/>
                <a:ea typeface="Aptos"/>
                <a:cs typeface="Aptos"/>
              </a:rPr>
              <a:t>Intro</a:t>
            </a:r>
          </a:p>
        </p:txBody>
      </p:sp>
      <p:sp>
        <p:nvSpPr>
          <p:cNvPr id="4" name="mini-1">
            <a:extLst>
              <a:ext uri="{FF2B5EF4-FFF2-40B4-BE49-F238E27FC236}">
                <a16:creationId xmlns:a16="http://schemas.microsoft.com/office/drawing/2014/main" id="{C2D297FF-74B8-44F4-BFCA-6D182211F071}"/>
              </a:ext>
            </a:extLst>
          </p:cNvPr>
          <p:cNvSpPr>
            <a:spLocks noGrp="1"/>
          </p:cNvSpPr>
          <p:nvPr/>
        </p:nvSpPr>
        <p:spPr>
          <a:xfrm>
            <a:off x="3219450" y="4413250"/>
            <a:ext cx="1352550" cy="361950"/>
          </a:xfrm>
          <a:prstGeom prst="roundRect">
            <a:avLst>
              <a:gd name="adj" fmla="val 26316"/>
            </a:avLst>
          </a:prstGeom>
          <a:solidFill>
            <a:srgbClr val="EEF1FF"/>
          </a:solidFill>
          <a:ln w="12383">
            <a:solidFill>
              <a:srgbClr val="3446A8"/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LLM basics</a:t>
            </a:r>
          </a:p>
        </p:txBody>
      </p:sp>
      <p:sp>
        <p:nvSpPr>
          <p:cNvPr id="5" name="mini-2">
            <a:extLst>
              <a:ext uri="{FF2B5EF4-FFF2-40B4-BE49-F238E27FC236}">
                <a16:creationId xmlns:a16="http://schemas.microsoft.com/office/drawing/2014/main" id="{47FB0656-F6C2-4791-A6CC-609516EF1672}"/>
              </a:ext>
            </a:extLst>
          </p:cNvPr>
          <p:cNvSpPr>
            <a:spLocks noGrp="1"/>
          </p:cNvSpPr>
          <p:nvPr/>
        </p:nvSpPr>
        <p:spPr>
          <a:xfrm>
            <a:off x="4933950" y="4413250"/>
            <a:ext cx="1352550" cy="361950"/>
          </a:xfrm>
          <a:prstGeom prst="roundRect">
            <a:avLst>
              <a:gd name="adj" fmla="val 26316"/>
            </a:avLst>
          </a:prstGeom>
          <a:solidFill>
            <a:srgbClr val="26313A"/>
          </a:solidFill>
          <a:ln w="12383">
            <a:solidFill>
              <a:srgbClr val="E070D6"/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275" b="1">
                <a:solidFill>
                  <a:srgbClr val="E070D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070D6"/>
                </a:solidFill>
                <a:latin typeface="Aptos"/>
                <a:ea typeface="Aptos"/>
                <a:cs typeface="Aptos"/>
              </a:rPr>
              <a:t>Desktop</a:t>
            </a:r>
          </a:p>
        </p:txBody>
      </p:sp>
      <p:sp>
        <p:nvSpPr>
          <p:cNvPr id="6" name="mini-3">
            <a:extLst>
              <a:ext uri="{FF2B5EF4-FFF2-40B4-BE49-F238E27FC236}">
                <a16:creationId xmlns:a16="http://schemas.microsoft.com/office/drawing/2014/main" id="{91ADDAE9-9F2A-4EDB-B8AA-7512D2345A99}"/>
              </a:ext>
            </a:extLst>
          </p:cNvPr>
          <p:cNvSpPr>
            <a:spLocks noGrp="1"/>
          </p:cNvSpPr>
          <p:nvPr/>
        </p:nvSpPr>
        <p:spPr>
          <a:xfrm>
            <a:off x="6648450" y="4413250"/>
            <a:ext cx="1352550" cy="361950"/>
          </a:xfrm>
          <a:prstGeom prst="roundRect">
            <a:avLst>
              <a:gd name="adj" fmla="val 26316"/>
            </a:avLst>
          </a:prstGeom>
          <a:solidFill>
            <a:srgbClr val="26313A"/>
          </a:solidFill>
          <a:ln w="12383">
            <a:solidFill>
              <a:srgbClr val="D89A16"/>
            </a:solidFill>
            <a:prstDash val="solid"/>
          </a:ln>
        </p:spPr>
        <p:txBody>
          <a:bodyPr lIns="95250" tIns="38100" rIns="95250" bIns="38100" anchor="ctr"/>
          <a:lstStyle/>
          <a:p>
            <a:pPr algn="ctr">
              <a:defRPr sz="12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Lab 1</a:t>
            </a:r>
          </a:p>
        </p:txBody>
      </p:sp>
      <p:sp>
        <p:nvSpPr>
          <p:cNvPr id="7" name="footer-dark">
            <a:extLst>
              <a:ext uri="{FF2B5EF4-FFF2-40B4-BE49-F238E27FC236}">
                <a16:creationId xmlns:a16="http://schemas.microsoft.com/office/drawing/2014/main" id="{8884EB49-402A-49DD-A967-1C8B487D2CCC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B7C0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0C7"/>
                </a:solidFill>
                <a:latin typeface="Aptos"/>
                <a:ea typeface="Aptos"/>
                <a:cs typeface="Aptos"/>
              </a:rPr>
              <a:t>Course introduction  |  7/7</a:t>
            </a:r>
          </a:p>
        </p:txBody>
      </p:sp>
      <p:sp>
        <p:nvSpPr>
          <p:cNvPr id="201" name="mini-0-desc"/>
          <p:cNvSpPr>
            <a:spLocks noGrp="1"/>
          </p:cNvSpPr>
          <p:nvPr/>
        </p:nvSpPr>
        <p:spPr>
          <a:xfrm>
            <a:off x="1511300" y="4851400"/>
            <a:ext cx="13589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ctr">
              <a:lnSpc>
                <a:spcPct val="112000"/>
              </a:lnSpc>
              <a:buNone/>
              <a:defRPr sz="1000">
                <a:solidFill>
                  <a:srgbClr val="DDE4E8"/>
                </a:solidFill>
                <a:latin typeface="PingFang TC"/>
                <a:ea typeface="PingFang TC"/>
                <a:cs typeface="PingFang TC"/>
              </a:defRPr>
            </a:pPr>
            <a:r>
              <a:rPr sz="1000">
                <a:solidFill>
                  <a:srgbClr val="DDE4E8"/>
                </a:solidFill>
                <a:latin typeface="PingFang TC"/>
                <a:ea typeface="PingFang TC"/>
                <a:cs typeface="PingFang TC"/>
              </a:rPr>
              <a:t>Agent 與 chatbot 的差異</a:t>
            </a:r>
          </a:p>
        </p:txBody>
      </p:sp>
      <p:sp>
        <p:nvSpPr>
          <p:cNvPr id="202" name="mini-1-desc"/>
          <p:cNvSpPr>
            <a:spLocks noGrp="1"/>
          </p:cNvSpPr>
          <p:nvPr/>
        </p:nvSpPr>
        <p:spPr>
          <a:xfrm>
            <a:off x="3225800" y="4851400"/>
            <a:ext cx="13589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ctr">
              <a:lnSpc>
                <a:spcPct val="112000"/>
              </a:lnSpc>
              <a:buNone/>
              <a:defRPr sz="1000">
                <a:solidFill>
                  <a:srgbClr val="DDE4E8"/>
                </a:solidFill>
                <a:latin typeface="PingFang TC"/>
                <a:ea typeface="PingFang TC"/>
                <a:cs typeface="PingFang TC"/>
              </a:defRPr>
            </a:pPr>
            <a:r>
              <a:rPr sz="1000">
                <a:solidFill>
                  <a:srgbClr val="DDE4E8"/>
                </a:solidFill>
                <a:latin typeface="PingFang TC"/>
                <a:ea typeface="PingFang TC"/>
                <a:cs typeface="PingFang TC"/>
              </a:rPr>
              <a:t>LLM 如何生成答案</a:t>
            </a:r>
          </a:p>
        </p:txBody>
      </p:sp>
      <p:sp>
        <p:nvSpPr>
          <p:cNvPr id="203" name="mini-2-desc"/>
          <p:cNvSpPr>
            <a:spLocks noGrp="1"/>
          </p:cNvSpPr>
          <p:nvPr/>
        </p:nvSpPr>
        <p:spPr>
          <a:xfrm>
            <a:off x="4940300" y="4851400"/>
            <a:ext cx="13589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ctr">
              <a:lnSpc>
                <a:spcPct val="112000"/>
              </a:lnSpc>
              <a:buNone/>
              <a:defRPr sz="1000">
                <a:solidFill>
                  <a:srgbClr val="DDE4E8"/>
                </a:solidFill>
                <a:latin typeface="PingFang TC"/>
                <a:ea typeface="PingFang TC"/>
                <a:cs typeface="PingFang TC"/>
              </a:defRPr>
            </a:pPr>
            <a:r>
              <a:rPr sz="1000">
                <a:solidFill>
                  <a:srgbClr val="DDE4E8"/>
                </a:solidFill>
                <a:latin typeface="PingFang TC"/>
                <a:ea typeface="PingFang TC"/>
                <a:cs typeface="PingFang TC"/>
              </a:rPr>
              <a:t>桌面／CLI 工具比較</a:t>
            </a:r>
          </a:p>
        </p:txBody>
      </p:sp>
      <p:sp>
        <p:nvSpPr>
          <p:cNvPr id="204" name="mini-3-desc"/>
          <p:cNvSpPr>
            <a:spLocks noGrp="1"/>
          </p:cNvSpPr>
          <p:nvPr/>
        </p:nvSpPr>
        <p:spPr>
          <a:xfrm>
            <a:off x="6654800" y="4851400"/>
            <a:ext cx="13589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ctr">
              <a:lnSpc>
                <a:spcPct val="112000"/>
              </a:lnSpc>
              <a:buNone/>
              <a:defRPr sz="1000">
                <a:solidFill>
                  <a:srgbClr val="DDE4E8"/>
                </a:solidFill>
                <a:latin typeface="PingFang TC"/>
                <a:ea typeface="PingFang TC"/>
                <a:cs typeface="PingFang TC"/>
              </a:defRPr>
            </a:pPr>
            <a:r>
              <a:rPr sz="1000">
                <a:solidFill>
                  <a:srgbClr val="DDE4E8"/>
                </a:solidFill>
                <a:latin typeface="PingFang TC"/>
                <a:ea typeface="PingFang TC"/>
                <a:cs typeface="PingFang TC"/>
              </a:rPr>
              <a:t>動手比較不同工具</a:t>
            </a:r>
          </a:p>
        </p:txBody>
      </p:sp>
    </p:spTree>
    <p:extLst>
      <p:ext uri="{BB962C8B-B14F-4D97-AF65-F5344CB8AC3E}">
        <p14:creationId xmlns:p14="http://schemas.microsoft.com/office/powerpoint/2010/main" val="2937667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yebrow">
            <a:extLst>
              <a:ext uri="{FF2B5EF4-FFF2-40B4-BE49-F238E27FC236}">
                <a16:creationId xmlns:a16="http://schemas.microsoft.com/office/drawing/2014/main" id="{2795D964-2018-4763-AD88-669A9FDC516B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LESSON 02</a:t>
            </a:r>
          </a:p>
        </p:txBody>
      </p:sp>
      <p:sp>
        <p:nvSpPr>
          <p:cNvPr id="2" name="lesson-title">
            <a:extLst>
              <a:ext uri="{FF2B5EF4-FFF2-40B4-BE49-F238E27FC236}">
                <a16:creationId xmlns:a16="http://schemas.microsoft.com/office/drawing/2014/main" id="{385BE2F3-E405-4BB2-8E61-22DC47D45100}"/>
              </a:ext>
            </a:extLst>
          </p:cNvPr>
          <p:cNvSpPr>
            <a:spLocks noGrp="1"/>
          </p:cNvSpPr>
          <p:nvPr/>
        </p:nvSpPr>
        <p:spPr>
          <a:xfrm>
            <a:off x="723900" y="1143000"/>
            <a:ext cx="6477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5000"/>
              </a:lnSpc>
              <a:buNone/>
              <a:defRPr sz="315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315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AI agent 是可檢查的研究工作流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D377E8D-B057-491A-A5AD-57433728BEE0}"/>
              </a:ext>
            </a:extLst>
          </p:cNvPr>
          <p:cNvSpPr>
            <a:spLocks noGrp="1"/>
          </p:cNvSpPr>
          <p:nvPr/>
        </p:nvSpPr>
        <p:spPr>
          <a:xfrm>
            <a:off x="723900" y="2514600"/>
            <a:ext cx="6477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從聊天，進到能讀檔、查資料、跑工具、留下證據的流程</a:t>
            </a:r>
          </a:p>
        </p:txBody>
      </p:sp>
      <p:sp>
        <p:nvSpPr>
          <p:cNvPr id="4" name="questions">
            <a:extLst>
              <a:ext uri="{FF2B5EF4-FFF2-40B4-BE49-F238E27FC236}">
                <a16:creationId xmlns:a16="http://schemas.microsoft.com/office/drawing/2014/main" id="{3D6D0BD7-8AB3-46AF-99DD-348F94D08666}"/>
              </a:ext>
            </a:extLst>
          </p:cNvPr>
          <p:cNvSpPr>
            <a:spLocks noGrp="1"/>
          </p:cNvSpPr>
          <p:nvPr/>
        </p:nvSpPr>
        <p:spPr>
          <a:xfrm>
            <a:off x="723900" y="3733800"/>
            <a:ext cx="6191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2" indent="-10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什麼任務適合交給 agent？</a:t>
            </a:r>
          </a:p>
          <a:p>
            <a:pPr marL="22" indent="-10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vibe coding 要怎麼用才不失控？</a:t>
            </a:r>
          </a:p>
          <a:p>
            <a:pPr marL="22" indent="-10">
              <a:lnSpc>
                <a:spcPct val="108000"/>
              </a:lnSpc>
              <a:spcAft>
                <a:spcPts val="12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desktop utilities 如何接進 biomedical workflow？</a:t>
            </a:r>
          </a:p>
        </p:txBody>
      </p:sp>
      <p:sp>
        <p:nvSpPr>
          <p:cNvPr id="5" name="flow-line-1">
            <a:extLst>
              <a:ext uri="{FF2B5EF4-FFF2-40B4-BE49-F238E27FC236}">
                <a16:creationId xmlns:a16="http://schemas.microsoft.com/office/drawing/2014/main" id="{48E58FD8-9302-4684-B150-7292395A7747}"/>
              </a:ext>
            </a:extLst>
          </p:cNvPr>
          <p:cNvSpPr>
            <a:spLocks noGrp="1"/>
          </p:cNvSpPr>
          <p:nvPr/>
        </p:nvSpPr>
        <p:spPr>
          <a:xfrm>
            <a:off x="7571016" y="2381250"/>
            <a:ext cx="3000375" cy="0"/>
          </a:xfrm>
          <a:prstGeom prst="line">
            <a:avLst/>
          </a:prstGeom>
          <a:noFill/>
          <a:ln w="1333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flow-line-2">
            <a:extLst>
              <a:ext uri="{FF2B5EF4-FFF2-40B4-BE49-F238E27FC236}">
                <a16:creationId xmlns:a16="http://schemas.microsoft.com/office/drawing/2014/main" id="{27895856-4A7E-4E84-A33E-5D1D2A4BCC34}"/>
              </a:ext>
            </a:extLst>
          </p:cNvPr>
          <p:cNvSpPr>
            <a:spLocks noGrp="1"/>
          </p:cNvSpPr>
          <p:nvPr/>
        </p:nvSpPr>
        <p:spPr>
          <a:xfrm>
            <a:off x="10571391" y="2381250"/>
            <a:ext cx="0" cy="1771650"/>
          </a:xfrm>
          <a:prstGeom prst="line">
            <a:avLst/>
          </a:prstGeom>
          <a:noFill/>
          <a:ln w="1333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flow-line-3">
            <a:extLst>
              <a:ext uri="{FF2B5EF4-FFF2-40B4-BE49-F238E27FC236}">
                <a16:creationId xmlns:a16="http://schemas.microsoft.com/office/drawing/2014/main" id="{A8F63790-5EFC-438B-AF9C-79A4040CCBAF}"/>
              </a:ext>
            </a:extLst>
          </p:cNvPr>
          <p:cNvSpPr>
            <a:spLocks noGrp="1"/>
          </p:cNvSpPr>
          <p:nvPr/>
        </p:nvSpPr>
        <p:spPr>
          <a:xfrm>
            <a:off x="7571016" y="4152900"/>
            <a:ext cx="3000375" cy="0"/>
          </a:xfrm>
          <a:prstGeom prst="line">
            <a:avLst/>
          </a:prstGeom>
          <a:noFill/>
          <a:ln w="1333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ask">
            <a:extLst>
              <a:ext uri="{FF2B5EF4-FFF2-40B4-BE49-F238E27FC236}">
                <a16:creationId xmlns:a16="http://schemas.microsoft.com/office/drawing/2014/main" id="{1C37A376-1FF6-4929-8BB1-5313BC8C57EE}"/>
              </a:ext>
            </a:extLst>
          </p:cNvPr>
          <p:cNvSpPr>
            <a:spLocks noGrp="1"/>
          </p:cNvSpPr>
          <p:nvPr/>
        </p:nvSpPr>
        <p:spPr>
          <a:xfrm>
            <a:off x="7190016" y="2114550"/>
            <a:ext cx="8953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859">
            <a:solidFill>
              <a:srgbClr val="5C6670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Ask</a:t>
            </a:r>
          </a:p>
        </p:txBody>
      </p:sp>
      <p:sp>
        <p:nvSpPr>
          <p:cNvPr id="9" name="plan">
            <a:extLst>
              <a:ext uri="{FF2B5EF4-FFF2-40B4-BE49-F238E27FC236}">
                <a16:creationId xmlns:a16="http://schemas.microsoft.com/office/drawing/2014/main" id="{577CC9D1-518F-4722-BFDB-D69A79418A76}"/>
              </a:ext>
            </a:extLst>
          </p:cNvPr>
          <p:cNvSpPr>
            <a:spLocks noGrp="1"/>
          </p:cNvSpPr>
          <p:nvPr/>
        </p:nvSpPr>
        <p:spPr>
          <a:xfrm>
            <a:off x="8675916" y="2114550"/>
            <a:ext cx="895350" cy="533400"/>
          </a:xfrm>
          <a:prstGeom prst="roundRect">
            <a:avLst>
              <a:gd name="adj" fmla="val 14286"/>
            </a:avLst>
          </a:prstGeom>
          <a:solidFill>
            <a:srgbClr val="EEF1FF"/>
          </a:solidFill>
          <a:ln w="12859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10" name="tools">
            <a:extLst>
              <a:ext uri="{FF2B5EF4-FFF2-40B4-BE49-F238E27FC236}">
                <a16:creationId xmlns:a16="http://schemas.microsoft.com/office/drawing/2014/main" id="{5CD14647-0CE3-4100-B5F3-EC0B4BC9B671}"/>
              </a:ext>
            </a:extLst>
          </p:cNvPr>
          <p:cNvSpPr>
            <a:spLocks noGrp="1"/>
          </p:cNvSpPr>
          <p:nvPr/>
        </p:nvSpPr>
        <p:spPr>
          <a:xfrm>
            <a:off x="10161816" y="2114550"/>
            <a:ext cx="990600" cy="533400"/>
          </a:xfrm>
          <a:prstGeom prst="roundRect">
            <a:avLst>
              <a:gd name="adj" fmla="val 14286"/>
            </a:avLst>
          </a:prstGeom>
          <a:solidFill>
            <a:srgbClr val="EAF8F6"/>
          </a:solidFill>
          <a:ln w="12859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11" name="verify">
            <a:extLst>
              <a:ext uri="{FF2B5EF4-FFF2-40B4-BE49-F238E27FC236}">
                <a16:creationId xmlns:a16="http://schemas.microsoft.com/office/drawing/2014/main" id="{E47C98F3-8C09-43BE-B85D-A7D69B16AB8B}"/>
              </a:ext>
            </a:extLst>
          </p:cNvPr>
          <p:cNvSpPr>
            <a:spLocks noGrp="1"/>
          </p:cNvSpPr>
          <p:nvPr/>
        </p:nvSpPr>
        <p:spPr>
          <a:xfrm>
            <a:off x="9857016" y="3886200"/>
            <a:ext cx="1295400" cy="533400"/>
          </a:xfrm>
          <a:prstGeom prst="roundRect">
            <a:avLst>
              <a:gd name="adj" fmla="val 14286"/>
            </a:avLst>
          </a:prstGeom>
          <a:solidFill>
            <a:srgbClr val="FFF8E8"/>
          </a:solidFill>
          <a:ln w="12859">
            <a:solidFill>
              <a:srgbClr val="8A5D0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5D08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12" name="deliver">
            <a:extLst>
              <a:ext uri="{FF2B5EF4-FFF2-40B4-BE49-F238E27FC236}">
                <a16:creationId xmlns:a16="http://schemas.microsoft.com/office/drawing/2014/main" id="{F4823069-CF94-4B32-B756-9E01E111AD48}"/>
              </a:ext>
            </a:extLst>
          </p:cNvPr>
          <p:cNvSpPr>
            <a:spLocks noGrp="1"/>
          </p:cNvSpPr>
          <p:nvPr/>
        </p:nvSpPr>
        <p:spPr>
          <a:xfrm>
            <a:off x="7190016" y="3886200"/>
            <a:ext cx="12954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859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Deliver</a:t>
            </a:r>
          </a:p>
        </p:txBody>
      </p:sp>
      <p:sp>
        <p:nvSpPr>
          <p:cNvPr id="13" name="right-note">
            <a:extLst>
              <a:ext uri="{FF2B5EF4-FFF2-40B4-BE49-F238E27FC236}">
                <a16:creationId xmlns:a16="http://schemas.microsoft.com/office/drawing/2014/main" id="{C81F7129-02A0-46B7-9412-4ED3E5414305}"/>
              </a:ext>
            </a:extLst>
          </p:cNvPr>
          <p:cNvSpPr>
            <a:spLocks noGrp="1"/>
          </p:cNvSpPr>
          <p:nvPr/>
        </p:nvSpPr>
        <p:spPr>
          <a:xfrm>
            <a:off x="7361466" y="5086350"/>
            <a:ext cx="361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goal + tools + state + checks</a:t>
            </a:r>
          </a:p>
        </p:txBody>
      </p:sp>
      <p:sp>
        <p:nvSpPr>
          <p:cNvPr id="14" name="footer">
            <a:extLst>
              <a:ext uri="{FF2B5EF4-FFF2-40B4-BE49-F238E27FC236}">
                <a16:creationId xmlns:a16="http://schemas.microsoft.com/office/drawing/2014/main" id="{60548E09-6015-4E03-962E-128E7527201B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1/23</a:t>
            </a:r>
          </a:p>
        </p:txBody>
      </p:sp>
      <p:sp>
        <p:nvSpPr>
          <p:cNvPr id="201" name="highlights-label"/>
          <p:cNvSpPr>
            <a:spLocks noGrp="1"/>
          </p:cNvSpPr>
          <p:nvPr/>
        </p:nvSpPr>
        <p:spPr>
          <a:xfrm>
            <a:off x="723900" y="5270500"/>
            <a:ext cx="3810000" cy="20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0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本堂重點 SESSION HIGHLIGHTS</a:t>
            </a:r>
          </a:p>
        </p:txBody>
      </p:sp>
      <p:sp>
        <p:nvSpPr>
          <p:cNvPr id="202" name="highlight-0"/>
          <p:cNvSpPr>
            <a:spLocks noGrp="1"/>
          </p:cNvSpPr>
          <p:nvPr/>
        </p:nvSpPr>
        <p:spPr>
          <a:xfrm>
            <a:off x="723900" y="5537200"/>
            <a:ext cx="1416050" cy="558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383">
            <a:solidFill>
              <a:srgbClr val="0B6E68"/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buNone/>
              <a:defRPr sz="1100" b="1">
                <a:solidFill>
                  <a:srgbClr val="0B6E68"/>
                </a:solidFill>
                <a:latin typeface="PingFang TC"/>
                <a:ea typeface="PingFang TC"/>
                <a:cs typeface="PingFang TC"/>
              </a:defRPr>
            </a:pPr>
            <a:r>
              <a:rPr sz="1100" b="1">
                <a:solidFill>
                  <a:srgbClr val="0B6E68"/>
                </a:solidFill>
                <a:latin typeface="PingFang TC"/>
                <a:ea typeface="PingFang TC"/>
                <a:cs typeface="PingFang TC"/>
              </a:rPr>
              <a:t>LLM 與 Agent 基礎</a:t>
            </a:r>
          </a:p>
        </p:txBody>
      </p:sp>
      <p:sp>
        <p:nvSpPr>
          <p:cNvPr id="203" name="highlight-1"/>
          <p:cNvSpPr>
            <a:spLocks noGrp="1"/>
          </p:cNvSpPr>
          <p:nvPr/>
        </p:nvSpPr>
        <p:spPr>
          <a:xfrm>
            <a:off x="2317750" y="5537200"/>
            <a:ext cx="1416050" cy="558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383">
            <a:solidFill>
              <a:srgbClr val="3446A8"/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buNone/>
              <a:defRPr sz="110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10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Agent vs Chatbot</a:t>
            </a:r>
          </a:p>
        </p:txBody>
      </p:sp>
      <p:sp>
        <p:nvSpPr>
          <p:cNvPr id="204" name="highlight-2"/>
          <p:cNvSpPr>
            <a:spLocks noGrp="1"/>
          </p:cNvSpPr>
          <p:nvPr/>
        </p:nvSpPr>
        <p:spPr>
          <a:xfrm>
            <a:off x="3911600" y="5537200"/>
            <a:ext cx="1416050" cy="558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383">
            <a:solidFill>
              <a:srgbClr val="A02B93"/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buNone/>
              <a:defRPr sz="1100" b="1">
                <a:solidFill>
                  <a:srgbClr val="A02B93"/>
                </a:solidFill>
                <a:latin typeface="PingFang TC"/>
                <a:ea typeface="PingFang TC"/>
                <a:cs typeface="PingFang TC"/>
              </a:defRPr>
            </a:pPr>
            <a:r>
              <a:rPr sz="1100" b="1">
                <a:solidFill>
                  <a:srgbClr val="A02B93"/>
                </a:solidFill>
                <a:latin typeface="PingFang TC"/>
                <a:ea typeface="PingFang TC"/>
                <a:cs typeface="PingFang TC"/>
              </a:rPr>
              <a:t>Vibe Coding</a:t>
            </a:r>
          </a:p>
        </p:txBody>
      </p:sp>
      <p:sp>
        <p:nvSpPr>
          <p:cNvPr id="205" name="highlight-3"/>
          <p:cNvSpPr>
            <a:spLocks noGrp="1"/>
          </p:cNvSpPr>
          <p:nvPr/>
        </p:nvSpPr>
        <p:spPr>
          <a:xfrm>
            <a:off x="5505450" y="5537200"/>
            <a:ext cx="1416050" cy="558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383">
            <a:solidFill>
              <a:srgbClr val="8A5D08"/>
            </a:solidFill>
            <a:prstDash val="solid"/>
          </a:ln>
        </p:spPr>
        <p:txBody>
          <a:bodyPr lIns="38100" tIns="19050" rIns="38100" bIns="19050" anchor="ctr"/>
          <a:lstStyle/>
          <a:p>
            <a:pPr algn="ctr">
              <a:buNone/>
              <a:defRPr sz="1100" b="1">
                <a:solidFill>
                  <a:srgbClr val="8A5D08"/>
                </a:solidFill>
                <a:latin typeface="PingFang TC"/>
                <a:ea typeface="PingFang TC"/>
                <a:cs typeface="PingFang TC"/>
              </a:defRPr>
            </a:pPr>
            <a:r>
              <a:rPr sz="1100" b="1">
                <a:solidFill>
                  <a:srgbClr val="8A5D08"/>
                </a:solidFill>
                <a:latin typeface="PingFang TC"/>
                <a:ea typeface="PingFang TC"/>
                <a:cs typeface="PingFang TC"/>
              </a:rPr>
              <a:t>桌面／CLI 工具比較</a:t>
            </a:r>
          </a:p>
        </p:txBody>
      </p:sp>
    </p:spTree>
    <p:extLst>
      <p:ext uri="{BB962C8B-B14F-4D97-AF65-F5344CB8AC3E}">
        <p14:creationId xmlns:p14="http://schemas.microsoft.com/office/powerpoint/2010/main" val="1815717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yebrow">
            <a:extLst>
              <a:ext uri="{FF2B5EF4-FFF2-40B4-BE49-F238E27FC236}">
                <a16:creationId xmlns:a16="http://schemas.microsoft.com/office/drawing/2014/main" id="{4FA4292C-1B3B-46AD-8890-9FCD79A4298C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WHY THIS LESSON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BE2E144-4829-4D61-AEAA-2146EBC6778A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這門課要訓練的是 workflow 判斷，不是工具背誦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F1663C7C-8EE1-45AC-B2AC-04E25ED0B653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2/23</a:t>
            </a:r>
          </a:p>
        </p:txBody>
      </p:sp>
      <p:sp>
        <p:nvSpPr>
          <p:cNvPr id="4" name="lead">
            <a:extLst>
              <a:ext uri="{FF2B5EF4-FFF2-40B4-BE49-F238E27FC236}">
                <a16:creationId xmlns:a16="http://schemas.microsoft.com/office/drawing/2014/main" id="{59792631-D9DF-422C-8AA6-E0BED4561F23}"/>
              </a:ext>
            </a:extLst>
          </p:cNvPr>
          <p:cNvSpPr>
            <a:spLocks noGrp="1"/>
          </p:cNvSpPr>
          <p:nvPr/>
        </p:nvSpPr>
        <p:spPr>
          <a:xfrm>
            <a:off x="1028700" y="1752600"/>
            <a:ext cx="895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AI 工具真正有用的地方，是把研究任務拆成可執行、可檢查、可交接的步驟。</a:t>
            </a:r>
          </a:p>
        </p:txBody>
      </p:sp>
      <p:sp>
        <p:nvSpPr>
          <p:cNvPr id="5" name="surface-0">
            <a:extLst>
              <a:ext uri="{FF2B5EF4-FFF2-40B4-BE49-F238E27FC236}">
                <a16:creationId xmlns:a16="http://schemas.microsoft.com/office/drawing/2014/main" id="{C424ADC5-9A3C-4024-9C7A-B160338FF2BA}"/>
              </a:ext>
            </a:extLst>
          </p:cNvPr>
          <p:cNvSpPr>
            <a:spLocks noGrp="1"/>
          </p:cNvSpPr>
          <p:nvPr/>
        </p:nvSpPr>
        <p:spPr>
          <a:xfrm>
            <a:off x="1428750" y="2686050"/>
            <a:ext cx="4000500" cy="2381250"/>
          </a:xfrm>
          <a:prstGeom prst="roundRect">
            <a:avLst>
              <a:gd name="adj" fmla="val 3200"/>
            </a:avLst>
          </a:prstGeom>
          <a:solidFill>
            <a:srgbClr val="FDEDEA"/>
          </a:solidFill>
          <a:ln w="9525">
            <a:solidFill>
              <a:srgbClr val="B0432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head-0">
            <a:extLst>
              <a:ext uri="{FF2B5EF4-FFF2-40B4-BE49-F238E27FC236}">
                <a16:creationId xmlns:a16="http://schemas.microsoft.com/office/drawing/2014/main" id="{2E3B43C9-9702-4CEC-94E3-A3D0264697F5}"/>
              </a:ext>
            </a:extLst>
          </p:cNvPr>
          <p:cNvSpPr>
            <a:spLocks noGrp="1"/>
          </p:cNvSpPr>
          <p:nvPr/>
        </p:nvSpPr>
        <p:spPr>
          <a:xfrm>
            <a:off x="1752600" y="30289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B0432F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B0432F"/>
                </a:solidFill>
                <a:latin typeface="PingFang TC"/>
                <a:ea typeface="PingFang TC"/>
                <a:cs typeface="PingFang TC"/>
              </a:rPr>
              <a:t>不是</a:t>
            </a:r>
          </a:p>
        </p:txBody>
      </p:sp>
      <p:sp>
        <p:nvSpPr>
          <p:cNvPr id="7" name="list-0">
            <a:extLst>
              <a:ext uri="{FF2B5EF4-FFF2-40B4-BE49-F238E27FC236}">
                <a16:creationId xmlns:a16="http://schemas.microsoft.com/office/drawing/2014/main" id="{78ADA152-7802-4B21-9AE9-E36D826496C4}"/>
              </a:ext>
            </a:extLst>
          </p:cNvPr>
          <p:cNvSpPr>
            <a:spLocks noGrp="1"/>
          </p:cNvSpPr>
          <p:nvPr/>
        </p:nvSpPr>
        <p:spPr>
          <a:xfrm>
            <a:off x="2209800" y="3676650"/>
            <a:ext cx="2571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2" indent="-10">
              <a:lnSpc>
                <a:spcPct val="108000"/>
              </a:lnSpc>
              <a:spcAft>
                <a:spcPts val="10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工具清單</a:t>
            </a:r>
          </a:p>
          <a:p>
            <a:pPr marL="22" indent="-10">
              <a:lnSpc>
                <a:spcPct val="108000"/>
              </a:lnSpc>
              <a:spcAft>
                <a:spcPts val="10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prompt 技巧</a:t>
            </a:r>
          </a:p>
          <a:p>
            <a:pPr marL="22" indent="-10">
              <a:lnSpc>
                <a:spcPct val="108000"/>
              </a:lnSpc>
              <a:spcAft>
                <a:spcPts val="10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看起來完整的答案</a:t>
            </a:r>
          </a:p>
        </p:txBody>
      </p:sp>
      <p:sp>
        <p:nvSpPr>
          <p:cNvPr id="8" name="surface-1">
            <a:extLst>
              <a:ext uri="{FF2B5EF4-FFF2-40B4-BE49-F238E27FC236}">
                <a16:creationId xmlns:a16="http://schemas.microsoft.com/office/drawing/2014/main" id="{AEA1CC10-8CB6-4859-B191-3114EC5DDBCA}"/>
              </a:ext>
            </a:extLst>
          </p:cNvPr>
          <p:cNvSpPr>
            <a:spLocks noGrp="1"/>
          </p:cNvSpPr>
          <p:nvPr/>
        </p:nvSpPr>
        <p:spPr>
          <a:xfrm>
            <a:off x="6762750" y="2686050"/>
            <a:ext cx="4000500" cy="2381250"/>
          </a:xfrm>
          <a:prstGeom prst="roundRect">
            <a:avLst>
              <a:gd name="adj" fmla="val 3200"/>
            </a:avLst>
          </a:prstGeom>
          <a:solidFill>
            <a:srgbClr val="EAF8F6"/>
          </a:solidFill>
          <a:ln w="9525">
            <a:solidFill>
              <a:srgbClr val="0B6E6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head-1">
            <a:extLst>
              <a:ext uri="{FF2B5EF4-FFF2-40B4-BE49-F238E27FC236}">
                <a16:creationId xmlns:a16="http://schemas.microsoft.com/office/drawing/2014/main" id="{0886E134-7AC9-4583-9EF9-5F918A79DCA9}"/>
              </a:ext>
            </a:extLst>
          </p:cNvPr>
          <p:cNvSpPr>
            <a:spLocks noGrp="1"/>
          </p:cNvSpPr>
          <p:nvPr/>
        </p:nvSpPr>
        <p:spPr>
          <a:xfrm>
            <a:off x="7086600" y="30289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0B6E68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0B6E68"/>
                </a:solidFill>
                <a:latin typeface="PingFang TC"/>
                <a:ea typeface="PingFang TC"/>
                <a:cs typeface="PingFang TC"/>
              </a:rPr>
              <a:t>而是</a:t>
            </a:r>
          </a:p>
        </p:txBody>
      </p:sp>
      <p:sp>
        <p:nvSpPr>
          <p:cNvPr id="10" name="list-1">
            <a:extLst>
              <a:ext uri="{FF2B5EF4-FFF2-40B4-BE49-F238E27FC236}">
                <a16:creationId xmlns:a16="http://schemas.microsoft.com/office/drawing/2014/main" id="{251FC9CF-7AB3-4182-9D5A-8EDAEC588E26}"/>
              </a:ext>
            </a:extLst>
          </p:cNvPr>
          <p:cNvSpPr>
            <a:spLocks noGrp="1"/>
          </p:cNvSpPr>
          <p:nvPr/>
        </p:nvSpPr>
        <p:spPr>
          <a:xfrm>
            <a:off x="7543800" y="3676650"/>
            <a:ext cx="2571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2" indent="-10">
              <a:lnSpc>
                <a:spcPct val="108000"/>
              </a:lnSpc>
              <a:spcAft>
                <a:spcPts val="10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任務規格</a:t>
            </a:r>
          </a:p>
          <a:p>
            <a:pPr marL="22" indent="-10">
              <a:lnSpc>
                <a:spcPct val="108000"/>
              </a:lnSpc>
              <a:spcAft>
                <a:spcPts val="10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證據與檢查</a:t>
            </a:r>
          </a:p>
          <a:p>
            <a:pPr marL="22" indent="-10">
              <a:lnSpc>
                <a:spcPct val="108000"/>
              </a:lnSpc>
              <a:spcAft>
                <a:spcPts val="10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能重跑的流程</a:t>
            </a:r>
          </a:p>
        </p:txBody>
      </p:sp>
      <p:sp>
        <p:nvSpPr>
          <p:cNvPr id="11" name="bottom">
            <a:extLst>
              <a:ext uri="{FF2B5EF4-FFF2-40B4-BE49-F238E27FC236}">
                <a16:creationId xmlns:a16="http://schemas.microsoft.com/office/drawing/2014/main" id="{F7165F8E-B7BF-40E5-BD37-C02F1B7EA26A}"/>
              </a:ext>
            </a:extLst>
          </p:cNvPr>
          <p:cNvSpPr>
            <a:spLocks noGrp="1"/>
          </p:cNvSpPr>
          <p:nvPr/>
        </p:nvSpPr>
        <p:spPr>
          <a:xfrm>
            <a:off x="1809750" y="55816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今天會把 agent 放回 biomedical research 的資料、工具、證據與風險裡。</a:t>
            </a:r>
          </a:p>
        </p:txBody>
      </p:sp>
    </p:spTree>
    <p:extLst>
      <p:ext uri="{BB962C8B-B14F-4D97-AF65-F5344CB8AC3E}">
        <p14:creationId xmlns:p14="http://schemas.microsoft.com/office/powerpoint/2010/main" val="2761677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">
            <a:extLst>
              <a:ext uri="{FF2B5EF4-FFF2-40B4-BE49-F238E27FC236}">
                <a16:creationId xmlns:a16="http://schemas.microsoft.com/office/drawing/2014/main" id="{DAA2F4FC-82CA-496F-B71C-FF6440008990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A5D08"/>
                </a:solidFill>
                <a:latin typeface="Aptos"/>
                <a:ea typeface="Aptos"/>
                <a:cs typeface="Aptos"/>
              </a:rPr>
              <a:t>COURSE OUTCOME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E6667C1-EE65-43F3-9D37-02F35593D812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最後要留下的是可審核的 biomedical agent workflow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CB1202B5-E893-40C3-8B3B-B5D9918C28CE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3/23</a:t>
            </a:r>
          </a:p>
        </p:txBody>
      </p:sp>
      <p:sp>
        <p:nvSpPr>
          <p:cNvPr id="4" name="stack-0">
            <a:extLst>
              <a:ext uri="{FF2B5EF4-FFF2-40B4-BE49-F238E27FC236}">
                <a16:creationId xmlns:a16="http://schemas.microsoft.com/office/drawing/2014/main" id="{853A9EAF-8E47-45BC-A2B8-E3C481F2F470}"/>
              </a:ext>
            </a:extLst>
          </p:cNvPr>
          <p:cNvSpPr>
            <a:spLocks noGrp="1"/>
          </p:cNvSpPr>
          <p:nvPr/>
        </p:nvSpPr>
        <p:spPr>
          <a:xfrm>
            <a:off x="1600200" y="1714500"/>
            <a:ext cx="3619500" cy="514350"/>
          </a:xfrm>
          <a:prstGeom prst="roundRect">
            <a:avLst>
              <a:gd name="adj" fmla="val 14815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tack-name-0">
            <a:extLst>
              <a:ext uri="{FF2B5EF4-FFF2-40B4-BE49-F238E27FC236}">
                <a16:creationId xmlns:a16="http://schemas.microsoft.com/office/drawing/2014/main" id="{70A97201-6F3F-4C50-B36E-7F99F33D31EE}"/>
              </a:ext>
            </a:extLst>
          </p:cNvPr>
          <p:cNvSpPr>
            <a:spLocks noGrp="1"/>
          </p:cNvSpPr>
          <p:nvPr/>
        </p:nvSpPr>
        <p:spPr>
          <a:xfrm>
            <a:off x="1847850" y="18478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task_spec.md</a:t>
            </a:r>
          </a:p>
        </p:txBody>
      </p:sp>
      <p:sp>
        <p:nvSpPr>
          <p:cNvPr id="6" name="stack-copy-0">
            <a:extLst>
              <a:ext uri="{FF2B5EF4-FFF2-40B4-BE49-F238E27FC236}">
                <a16:creationId xmlns:a16="http://schemas.microsoft.com/office/drawing/2014/main" id="{9EE77F51-099C-4B7E-AF06-5419E4463115}"/>
              </a:ext>
            </a:extLst>
          </p:cNvPr>
          <p:cNvSpPr>
            <a:spLocks noGrp="1"/>
          </p:cNvSpPr>
          <p:nvPr/>
        </p:nvSpPr>
        <p:spPr>
          <a:xfrm>
            <a:off x="5905500" y="1838325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任務、輸入、輸出、限制</a:t>
            </a:r>
          </a:p>
        </p:txBody>
      </p:sp>
      <p:sp>
        <p:nvSpPr>
          <p:cNvPr id="7" name="stack-line-0">
            <a:extLst>
              <a:ext uri="{FF2B5EF4-FFF2-40B4-BE49-F238E27FC236}">
                <a16:creationId xmlns:a16="http://schemas.microsoft.com/office/drawing/2014/main" id="{0DC09228-59DE-42A9-B4C2-4B458ACEA8B8}"/>
              </a:ext>
            </a:extLst>
          </p:cNvPr>
          <p:cNvSpPr>
            <a:spLocks noGrp="1"/>
          </p:cNvSpPr>
          <p:nvPr/>
        </p:nvSpPr>
        <p:spPr>
          <a:xfrm>
            <a:off x="5314950" y="1971675"/>
            <a:ext cx="419100" cy="0"/>
          </a:xfrm>
          <a:prstGeom prst="line">
            <a:avLst/>
          </a:prstGeom>
          <a:noFill/>
          <a:ln w="1143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tack-1">
            <a:extLst>
              <a:ext uri="{FF2B5EF4-FFF2-40B4-BE49-F238E27FC236}">
                <a16:creationId xmlns:a16="http://schemas.microsoft.com/office/drawing/2014/main" id="{7CDF0CE4-81B9-46BE-82C6-9E1CE9341674}"/>
              </a:ext>
            </a:extLst>
          </p:cNvPr>
          <p:cNvSpPr>
            <a:spLocks noGrp="1"/>
          </p:cNvSpPr>
          <p:nvPr/>
        </p:nvSpPr>
        <p:spPr>
          <a:xfrm>
            <a:off x="1600200" y="2419350"/>
            <a:ext cx="3619500" cy="514350"/>
          </a:xfrm>
          <a:prstGeom prst="roundRect">
            <a:avLst>
              <a:gd name="adj" fmla="val 14815"/>
            </a:avLst>
          </a:prstGeom>
          <a:solidFill>
            <a:srgbClr val="EAF8F6"/>
          </a:solidFill>
          <a:ln w="9525">
            <a:solidFill>
              <a:srgbClr val="0B6E6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tack-name-1">
            <a:extLst>
              <a:ext uri="{FF2B5EF4-FFF2-40B4-BE49-F238E27FC236}">
                <a16:creationId xmlns:a16="http://schemas.microsoft.com/office/drawing/2014/main" id="{BB867072-0C7E-4B02-BD17-EBC51FB7B3C9}"/>
              </a:ext>
            </a:extLst>
          </p:cNvPr>
          <p:cNvSpPr>
            <a:spLocks noGrp="1"/>
          </p:cNvSpPr>
          <p:nvPr/>
        </p:nvSpPr>
        <p:spPr>
          <a:xfrm>
            <a:off x="1847850" y="25527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evidence_table</a:t>
            </a:r>
          </a:p>
        </p:txBody>
      </p:sp>
      <p:sp>
        <p:nvSpPr>
          <p:cNvPr id="10" name="stack-copy-1">
            <a:extLst>
              <a:ext uri="{FF2B5EF4-FFF2-40B4-BE49-F238E27FC236}">
                <a16:creationId xmlns:a16="http://schemas.microsoft.com/office/drawing/2014/main" id="{72ADE668-2AB6-45A8-BB70-6230D93390A5}"/>
              </a:ext>
            </a:extLst>
          </p:cNvPr>
          <p:cNvSpPr>
            <a:spLocks noGrp="1"/>
          </p:cNvSpPr>
          <p:nvPr/>
        </p:nvSpPr>
        <p:spPr>
          <a:xfrm>
            <a:off x="5905500" y="2543175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claim、source、status</a:t>
            </a:r>
          </a:p>
        </p:txBody>
      </p:sp>
      <p:sp>
        <p:nvSpPr>
          <p:cNvPr id="11" name="stack-line-1">
            <a:extLst>
              <a:ext uri="{FF2B5EF4-FFF2-40B4-BE49-F238E27FC236}">
                <a16:creationId xmlns:a16="http://schemas.microsoft.com/office/drawing/2014/main" id="{1E8B9387-F14F-4E36-A84B-340D5C2A2A81}"/>
              </a:ext>
            </a:extLst>
          </p:cNvPr>
          <p:cNvSpPr>
            <a:spLocks noGrp="1"/>
          </p:cNvSpPr>
          <p:nvPr/>
        </p:nvSpPr>
        <p:spPr>
          <a:xfrm>
            <a:off x="5314950" y="2676525"/>
            <a:ext cx="419100" cy="0"/>
          </a:xfrm>
          <a:prstGeom prst="line">
            <a:avLst/>
          </a:prstGeom>
          <a:noFill/>
          <a:ln w="1143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tack-2">
            <a:extLst>
              <a:ext uri="{FF2B5EF4-FFF2-40B4-BE49-F238E27FC236}">
                <a16:creationId xmlns:a16="http://schemas.microsoft.com/office/drawing/2014/main" id="{0BE76A9F-FC6C-40F7-9F41-7E262BEE8C39}"/>
              </a:ext>
            </a:extLst>
          </p:cNvPr>
          <p:cNvSpPr>
            <a:spLocks noGrp="1"/>
          </p:cNvSpPr>
          <p:nvPr/>
        </p:nvSpPr>
        <p:spPr>
          <a:xfrm>
            <a:off x="1600200" y="3124200"/>
            <a:ext cx="3619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5C667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tack-name-2">
            <a:extLst>
              <a:ext uri="{FF2B5EF4-FFF2-40B4-BE49-F238E27FC236}">
                <a16:creationId xmlns:a16="http://schemas.microsoft.com/office/drawing/2014/main" id="{920AA949-1CFE-4B49-B4E3-6413679B467C}"/>
              </a:ext>
            </a:extLst>
          </p:cNvPr>
          <p:cNvSpPr>
            <a:spLocks noGrp="1"/>
          </p:cNvSpPr>
          <p:nvPr/>
        </p:nvSpPr>
        <p:spPr>
          <a:xfrm>
            <a:off x="1847850" y="32575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tool_log</a:t>
            </a:r>
          </a:p>
        </p:txBody>
      </p:sp>
      <p:sp>
        <p:nvSpPr>
          <p:cNvPr id="14" name="stack-copy-2">
            <a:extLst>
              <a:ext uri="{FF2B5EF4-FFF2-40B4-BE49-F238E27FC236}">
                <a16:creationId xmlns:a16="http://schemas.microsoft.com/office/drawing/2014/main" id="{1B7D41FC-5F63-4D8F-A492-EB18964CF356}"/>
              </a:ext>
            </a:extLst>
          </p:cNvPr>
          <p:cNvSpPr>
            <a:spLocks noGrp="1"/>
          </p:cNvSpPr>
          <p:nvPr/>
        </p:nvSpPr>
        <p:spPr>
          <a:xfrm>
            <a:off x="5905500" y="3248025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工具輸入、輸出、錯誤</a:t>
            </a:r>
          </a:p>
        </p:txBody>
      </p:sp>
      <p:sp>
        <p:nvSpPr>
          <p:cNvPr id="15" name="stack-line-2">
            <a:extLst>
              <a:ext uri="{FF2B5EF4-FFF2-40B4-BE49-F238E27FC236}">
                <a16:creationId xmlns:a16="http://schemas.microsoft.com/office/drawing/2014/main" id="{CEB5F900-C16D-4861-8183-35236DAA4E81}"/>
              </a:ext>
            </a:extLst>
          </p:cNvPr>
          <p:cNvSpPr>
            <a:spLocks noGrp="1"/>
          </p:cNvSpPr>
          <p:nvPr/>
        </p:nvSpPr>
        <p:spPr>
          <a:xfrm>
            <a:off x="5314950" y="3381375"/>
            <a:ext cx="419100" cy="0"/>
          </a:xfrm>
          <a:prstGeom prst="line">
            <a:avLst/>
          </a:prstGeom>
          <a:noFill/>
          <a:ln w="1143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tack-3">
            <a:extLst>
              <a:ext uri="{FF2B5EF4-FFF2-40B4-BE49-F238E27FC236}">
                <a16:creationId xmlns:a16="http://schemas.microsoft.com/office/drawing/2014/main" id="{B26412E6-3271-4F26-85C0-24DEA1336C40}"/>
              </a:ext>
            </a:extLst>
          </p:cNvPr>
          <p:cNvSpPr>
            <a:spLocks noGrp="1"/>
          </p:cNvSpPr>
          <p:nvPr/>
        </p:nvSpPr>
        <p:spPr>
          <a:xfrm>
            <a:off x="1600200" y="3829050"/>
            <a:ext cx="3619500" cy="514350"/>
          </a:xfrm>
          <a:prstGeom prst="roundRect">
            <a:avLst>
              <a:gd name="adj" fmla="val 14815"/>
            </a:avLst>
          </a:prstGeom>
          <a:solidFill>
            <a:srgbClr val="FFF8E8"/>
          </a:solidFill>
          <a:ln w="9525">
            <a:solidFill>
              <a:srgbClr val="8A5D0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tack-name-3">
            <a:extLst>
              <a:ext uri="{FF2B5EF4-FFF2-40B4-BE49-F238E27FC236}">
                <a16:creationId xmlns:a16="http://schemas.microsoft.com/office/drawing/2014/main" id="{326F58E2-4698-4DFD-843D-8933339C3967}"/>
              </a:ext>
            </a:extLst>
          </p:cNvPr>
          <p:cNvSpPr>
            <a:spLocks noGrp="1"/>
          </p:cNvSpPr>
          <p:nvPr/>
        </p:nvSpPr>
        <p:spPr>
          <a:xfrm>
            <a:off x="1847850" y="39624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A5D08"/>
                </a:solidFill>
                <a:latin typeface="Aptos"/>
                <a:ea typeface="Aptos"/>
                <a:cs typeface="Aptos"/>
              </a:rPr>
              <a:t>check_report</a:t>
            </a:r>
          </a:p>
        </p:txBody>
      </p:sp>
      <p:sp>
        <p:nvSpPr>
          <p:cNvPr id="18" name="stack-copy-3">
            <a:extLst>
              <a:ext uri="{FF2B5EF4-FFF2-40B4-BE49-F238E27FC236}">
                <a16:creationId xmlns:a16="http://schemas.microsoft.com/office/drawing/2014/main" id="{6CC98C48-BA56-44CB-8420-EE5FD1F476D6}"/>
              </a:ext>
            </a:extLst>
          </p:cNvPr>
          <p:cNvSpPr>
            <a:spLocks noGrp="1"/>
          </p:cNvSpPr>
          <p:nvPr/>
        </p:nvSpPr>
        <p:spPr>
          <a:xfrm>
            <a:off x="5905500" y="3952875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通過、失敗、needs review</a:t>
            </a:r>
          </a:p>
        </p:txBody>
      </p:sp>
      <p:sp>
        <p:nvSpPr>
          <p:cNvPr id="19" name="stack-line-3">
            <a:extLst>
              <a:ext uri="{FF2B5EF4-FFF2-40B4-BE49-F238E27FC236}">
                <a16:creationId xmlns:a16="http://schemas.microsoft.com/office/drawing/2014/main" id="{C2F3C4A9-59E4-4071-8039-4093D4537CDD}"/>
              </a:ext>
            </a:extLst>
          </p:cNvPr>
          <p:cNvSpPr>
            <a:spLocks noGrp="1"/>
          </p:cNvSpPr>
          <p:nvPr/>
        </p:nvSpPr>
        <p:spPr>
          <a:xfrm>
            <a:off x="5314950" y="4086225"/>
            <a:ext cx="419100" cy="0"/>
          </a:xfrm>
          <a:prstGeom prst="line">
            <a:avLst/>
          </a:prstGeom>
          <a:noFill/>
          <a:ln w="1143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tack-4">
            <a:extLst>
              <a:ext uri="{FF2B5EF4-FFF2-40B4-BE49-F238E27FC236}">
                <a16:creationId xmlns:a16="http://schemas.microsoft.com/office/drawing/2014/main" id="{995728FD-B402-44E3-A34A-EC4529A44053}"/>
              </a:ext>
            </a:extLst>
          </p:cNvPr>
          <p:cNvSpPr>
            <a:spLocks noGrp="1"/>
          </p:cNvSpPr>
          <p:nvPr/>
        </p:nvSpPr>
        <p:spPr>
          <a:xfrm>
            <a:off x="1600200" y="4533900"/>
            <a:ext cx="3619500" cy="514350"/>
          </a:xfrm>
          <a:prstGeom prst="roundRect">
            <a:avLst>
              <a:gd name="adj" fmla="val 14815"/>
            </a:avLst>
          </a:prstGeom>
          <a:solidFill>
            <a:srgbClr val="FDEDEA"/>
          </a:solidFill>
          <a:ln w="9525">
            <a:solidFill>
              <a:srgbClr val="B0432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tack-name-4">
            <a:extLst>
              <a:ext uri="{FF2B5EF4-FFF2-40B4-BE49-F238E27FC236}">
                <a16:creationId xmlns:a16="http://schemas.microsoft.com/office/drawing/2014/main" id="{375C5352-962C-47BE-9482-26B67F77488E}"/>
              </a:ext>
            </a:extLst>
          </p:cNvPr>
          <p:cNvSpPr>
            <a:spLocks noGrp="1"/>
          </p:cNvSpPr>
          <p:nvPr/>
        </p:nvSpPr>
        <p:spPr>
          <a:xfrm>
            <a:off x="1847850" y="46672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B043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0432F"/>
                </a:solidFill>
                <a:latin typeface="Aptos"/>
                <a:ea typeface="Aptos"/>
                <a:cs typeface="Aptos"/>
              </a:rPr>
              <a:t>demo_notes</a:t>
            </a:r>
          </a:p>
        </p:txBody>
      </p:sp>
      <p:sp>
        <p:nvSpPr>
          <p:cNvPr id="22" name="stack-copy-4">
            <a:extLst>
              <a:ext uri="{FF2B5EF4-FFF2-40B4-BE49-F238E27FC236}">
                <a16:creationId xmlns:a16="http://schemas.microsoft.com/office/drawing/2014/main" id="{4331B738-E11E-4D8D-B37A-0F1B14D6711A}"/>
              </a:ext>
            </a:extLst>
          </p:cNvPr>
          <p:cNvSpPr>
            <a:spLocks noGrp="1"/>
          </p:cNvSpPr>
          <p:nvPr/>
        </p:nvSpPr>
        <p:spPr>
          <a:xfrm>
            <a:off x="5905500" y="4657725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限制、風險、下一步</a:t>
            </a:r>
          </a:p>
        </p:txBody>
      </p:sp>
      <p:sp>
        <p:nvSpPr>
          <p:cNvPr id="23" name="stack-line-4">
            <a:extLst>
              <a:ext uri="{FF2B5EF4-FFF2-40B4-BE49-F238E27FC236}">
                <a16:creationId xmlns:a16="http://schemas.microsoft.com/office/drawing/2014/main" id="{89043AAF-5009-4E5E-BAC3-42BEABC6136C}"/>
              </a:ext>
            </a:extLst>
          </p:cNvPr>
          <p:cNvSpPr>
            <a:spLocks noGrp="1"/>
          </p:cNvSpPr>
          <p:nvPr/>
        </p:nvSpPr>
        <p:spPr>
          <a:xfrm>
            <a:off x="5314950" y="4791075"/>
            <a:ext cx="419100" cy="0"/>
          </a:xfrm>
          <a:prstGeom prst="line">
            <a:avLst/>
          </a:prstGeom>
          <a:noFill/>
          <a:ln w="1143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goal-box">
            <a:extLst>
              <a:ext uri="{FF2B5EF4-FFF2-40B4-BE49-F238E27FC236}">
                <a16:creationId xmlns:a16="http://schemas.microsoft.com/office/drawing/2014/main" id="{40848B64-9CAF-415C-8978-55B26B0B6C8C}"/>
              </a:ext>
            </a:extLst>
          </p:cNvPr>
          <p:cNvSpPr>
            <a:spLocks noGrp="1"/>
          </p:cNvSpPr>
          <p:nvPr/>
        </p:nvSpPr>
        <p:spPr>
          <a:xfrm>
            <a:off x="2266950" y="5524500"/>
            <a:ext cx="76581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goal-text">
            <a:extLst>
              <a:ext uri="{FF2B5EF4-FFF2-40B4-BE49-F238E27FC236}">
                <a16:creationId xmlns:a16="http://schemas.microsoft.com/office/drawing/2014/main" id="{A7A0B29A-70ED-47AA-B539-16F6B7C8B164}"/>
              </a:ext>
            </a:extLst>
          </p:cNvPr>
          <p:cNvSpPr>
            <a:spLocks noGrp="1"/>
          </p:cNvSpPr>
          <p:nvPr/>
        </p:nvSpPr>
        <p:spPr>
          <a:xfrm>
            <a:off x="2628900" y="5695950"/>
            <a:ext cx="695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Lesson 02 先建立外框；後面課程會逐步補上 model、tools、spec、harness 與 loop。</a:t>
            </a:r>
          </a:p>
        </p:txBody>
      </p:sp>
    </p:spTree>
    <p:extLst>
      <p:ext uri="{BB962C8B-B14F-4D97-AF65-F5344CB8AC3E}">
        <p14:creationId xmlns:p14="http://schemas.microsoft.com/office/powerpoint/2010/main" val="2347222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64356444-3AFF-61FC-531F-E6782BF7B4EA}"/>
              </a:ext>
            </a:extLst>
          </p:cNvPr>
          <p:cNvSpPr txBox="1"/>
          <p:nvPr/>
        </p:nvSpPr>
        <p:spPr>
          <a:xfrm>
            <a:off x="1769327" y="6334780"/>
            <a:ext cx="86533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/>
              <a:t>https://substackcdn.com/image/fetch/$s_!FuaD!,f_auto,q_auto:good,fl_progressive:steep/https%3A%2F%2Fsubstack-post-media.s3.amazonaws.com%2Fpublic%2Fimages%2Feb87fa38-e501-4f63-a27c-b48e1555667b_732x840.jpeg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ED1339D-32B2-3EF6-0346-4AB08E05A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376" y="551398"/>
            <a:ext cx="5015248" cy="5755203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A4A4735E-3AE9-EBD7-228E-A070DF979AAC}"/>
              </a:ext>
            </a:extLst>
          </p:cNvPr>
          <p:cNvSpPr>
            <a:spLocks noGrp="1"/>
          </p:cNvSpPr>
          <p:nvPr/>
        </p:nvSpPr>
        <p:spPr>
          <a:xfrm>
            <a:off x="642125" y="178419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lang="en-US" sz="2700" b="1" dirty="0" err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現在的AI工具真的很多</a:t>
            </a:r>
            <a:endParaRPr sz="2700" b="1" dirty="0">
              <a:solidFill>
                <a:srgbClr val="17202A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29991817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eyebrow">
            <a:extLst>
              <a:ext uri="{FF2B5EF4-FFF2-40B4-BE49-F238E27FC236}">
                <a16:creationId xmlns:a16="http://schemas.microsoft.com/office/drawing/2014/main" id="{A054B08A-8EBC-447A-A524-679DCAF90D9B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TOOL LANDSCAPE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DA15D16-00FA-404E-840F-46EA6BE695F0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 dirty="0" err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先用任務型態選工具，不要只記工具名稱</a:t>
            </a:r>
            <a:endParaRPr sz="2700" b="1" dirty="0">
              <a:solidFill>
                <a:srgbClr val="17202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5E180257-B5BB-4E96-8FB9-55B143A27F7F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4/23</a:t>
            </a:r>
          </a:p>
        </p:txBody>
      </p:sp>
      <p:sp>
        <p:nvSpPr>
          <p:cNvPr id="4" name="lead">
            <a:extLst>
              <a:ext uri="{FF2B5EF4-FFF2-40B4-BE49-F238E27FC236}">
                <a16:creationId xmlns:a16="http://schemas.microsoft.com/office/drawing/2014/main" id="{988F561E-091E-4402-9BEC-C397447B0241}"/>
              </a:ext>
            </a:extLst>
          </p:cNvPr>
          <p:cNvSpPr>
            <a:spLocks noGrp="1"/>
          </p:cNvSpPr>
          <p:nvPr/>
        </p:nvSpPr>
        <p:spPr>
          <a:xfrm>
            <a:off x="914400" y="1676400"/>
            <a:ext cx="10267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lnSpc>
                <a:spcPct val="108000"/>
              </a:lnSpc>
              <a:defRPr sz="157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 dirty="0" err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Gemini、Perplexity</a:t>
            </a:r>
            <a:r>
              <a:rPr sz="1575" b="1" dirty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575" b="1" dirty="0" err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偏研究整理入口；Copilot、Antigravity</a:t>
            </a:r>
            <a:r>
              <a:rPr sz="1575" b="1" dirty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575" b="1" dirty="0" err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偏開發</a:t>
            </a:r>
            <a:r>
              <a:rPr lang="zh-TW" altLang="en-US" sz="1575" b="1" dirty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；</a:t>
            </a:r>
            <a:r>
              <a:rPr lang="en" altLang="zh-TW" sz="1575" b="1" dirty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 Claude</a:t>
            </a:r>
            <a:r>
              <a:rPr lang="zh-TW" altLang="en" sz="1575" b="1" dirty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、 </a:t>
            </a:r>
            <a:r>
              <a:rPr lang="en-US" altLang="zh-TW" sz="1575" b="1" dirty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Codex</a:t>
            </a:r>
            <a:r>
              <a:rPr lang="zh-TW" altLang="en-US" sz="1575" b="1" dirty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則是通用型</a:t>
            </a:r>
            <a:r>
              <a:rPr sz="1575" b="1" dirty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agentic workflow </a:t>
            </a:r>
            <a:r>
              <a:rPr sz="1575" b="1" dirty="0" err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入口</a:t>
            </a:r>
            <a:r>
              <a:rPr sz="1575" b="1" dirty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  <p:sp>
        <p:nvSpPr>
          <p:cNvPr id="5" name="tool-card-0">
            <a:extLst>
              <a:ext uri="{FF2B5EF4-FFF2-40B4-BE49-F238E27FC236}">
                <a16:creationId xmlns:a16="http://schemas.microsoft.com/office/drawing/2014/main" id="{FE85503B-1F14-4E36-9444-544CEDA5F882}"/>
              </a:ext>
            </a:extLst>
          </p:cNvPr>
          <p:cNvSpPr>
            <a:spLocks noGrp="1"/>
          </p:cNvSpPr>
          <p:nvPr/>
        </p:nvSpPr>
        <p:spPr>
          <a:xfrm>
            <a:off x="819150" y="2324100"/>
            <a:ext cx="3124200" cy="1200150"/>
          </a:xfrm>
          <a:prstGeom prst="roundRect">
            <a:avLst>
              <a:gd name="adj" fmla="val 6349"/>
            </a:avLst>
          </a:prstGeom>
          <a:solidFill>
            <a:srgbClr val="EEF1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ool-name-0">
            <a:extLst>
              <a:ext uri="{FF2B5EF4-FFF2-40B4-BE49-F238E27FC236}">
                <a16:creationId xmlns:a16="http://schemas.microsoft.com/office/drawing/2014/main" id="{EA11344D-30DF-43CA-925C-FF848D97CAF0}"/>
              </a:ext>
            </a:extLst>
          </p:cNvPr>
          <p:cNvSpPr>
            <a:spLocks noGrp="1"/>
          </p:cNvSpPr>
          <p:nvPr/>
        </p:nvSpPr>
        <p:spPr>
          <a:xfrm>
            <a:off x="1009650" y="2495550"/>
            <a:ext cx="137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Claude</a:t>
            </a:r>
          </a:p>
        </p:txBody>
      </p:sp>
      <p:sp>
        <p:nvSpPr>
          <p:cNvPr id="7" name="tool-role-0">
            <a:extLst>
              <a:ext uri="{FF2B5EF4-FFF2-40B4-BE49-F238E27FC236}">
                <a16:creationId xmlns:a16="http://schemas.microsoft.com/office/drawing/2014/main" id="{0A4245D2-27BA-4E9D-92C3-BA1F0C24DBDF}"/>
              </a:ext>
            </a:extLst>
          </p:cNvPr>
          <p:cNvSpPr>
            <a:spLocks noGrp="1"/>
          </p:cNvSpPr>
          <p:nvPr/>
        </p:nvSpPr>
        <p:spPr>
          <a:xfrm>
            <a:off x="2419350" y="2505075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長文推理與文件整理</a:t>
            </a:r>
          </a:p>
        </p:txBody>
      </p:sp>
      <p:sp>
        <p:nvSpPr>
          <p:cNvPr id="8" name="tool-uses-0">
            <a:extLst>
              <a:ext uri="{FF2B5EF4-FFF2-40B4-BE49-F238E27FC236}">
                <a16:creationId xmlns:a16="http://schemas.microsoft.com/office/drawing/2014/main" id="{682F84EF-A4FF-4322-8E27-854937EE5905}"/>
              </a:ext>
            </a:extLst>
          </p:cNvPr>
          <p:cNvSpPr>
            <a:spLocks noGrp="1"/>
          </p:cNvSpPr>
          <p:nvPr/>
        </p:nvSpPr>
        <p:spPr>
          <a:xfrm>
            <a:off x="1066800" y="2914650"/>
            <a:ext cx="1733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18" indent="-8">
              <a:lnSpc>
                <a:spcPct val="102000"/>
              </a:lnSpc>
              <a:spcAft>
                <a:spcPts val="2"/>
              </a:spcAft>
              <a:buNone/>
              <a:defRPr sz="120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讀長篇背景</a:t>
            </a:r>
          </a:p>
          <a:p>
            <a:pPr marL="18" indent="-8">
              <a:lnSpc>
                <a:spcPct val="102000"/>
              </a:lnSpc>
              <a:spcAft>
                <a:spcPts val="2"/>
              </a:spcAft>
              <a:buNone/>
              <a:defRPr sz="120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整理研究筆記</a:t>
            </a:r>
          </a:p>
        </p:txBody>
      </p:sp>
      <p:sp>
        <p:nvSpPr>
          <p:cNvPr id="9" name="tool-caution-0">
            <a:extLst>
              <a:ext uri="{FF2B5EF4-FFF2-40B4-BE49-F238E27FC236}">
                <a16:creationId xmlns:a16="http://schemas.microsoft.com/office/drawing/2014/main" id="{1800CBF5-AF93-42C8-986B-5600336E6CBE}"/>
              </a:ext>
            </a:extLst>
          </p:cNvPr>
          <p:cNvSpPr>
            <a:spLocks noGrp="1"/>
          </p:cNvSpPr>
          <p:nvPr/>
        </p:nvSpPr>
        <p:spPr>
          <a:xfrm>
            <a:off x="2838450" y="3105150"/>
            <a:ext cx="89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仍要回查來源</a:t>
            </a:r>
          </a:p>
        </p:txBody>
      </p:sp>
      <p:sp>
        <p:nvSpPr>
          <p:cNvPr id="10" name="tool-card-1">
            <a:extLst>
              <a:ext uri="{FF2B5EF4-FFF2-40B4-BE49-F238E27FC236}">
                <a16:creationId xmlns:a16="http://schemas.microsoft.com/office/drawing/2014/main" id="{00C12D94-B4EB-4E51-A1B0-41D8D81F3064}"/>
              </a:ext>
            </a:extLst>
          </p:cNvPr>
          <p:cNvSpPr>
            <a:spLocks noGrp="1"/>
          </p:cNvSpPr>
          <p:nvPr/>
        </p:nvSpPr>
        <p:spPr>
          <a:xfrm>
            <a:off x="4438650" y="2324100"/>
            <a:ext cx="3124200" cy="1200150"/>
          </a:xfrm>
          <a:prstGeom prst="roundRect">
            <a:avLst>
              <a:gd name="adj" fmla="val 6349"/>
            </a:avLst>
          </a:prstGeom>
          <a:solidFill>
            <a:srgbClr val="EAF8F6"/>
          </a:solidFill>
          <a:ln w="9525">
            <a:solidFill>
              <a:srgbClr val="0B6E6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ool-name-1">
            <a:extLst>
              <a:ext uri="{FF2B5EF4-FFF2-40B4-BE49-F238E27FC236}">
                <a16:creationId xmlns:a16="http://schemas.microsoft.com/office/drawing/2014/main" id="{D8BDD8E0-8FA0-4E38-BD70-527D1BE7F59D}"/>
              </a:ext>
            </a:extLst>
          </p:cNvPr>
          <p:cNvSpPr>
            <a:spLocks noGrp="1"/>
          </p:cNvSpPr>
          <p:nvPr/>
        </p:nvSpPr>
        <p:spPr>
          <a:xfrm>
            <a:off x="4629150" y="2495550"/>
            <a:ext cx="137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Gemini</a:t>
            </a:r>
          </a:p>
        </p:txBody>
      </p:sp>
      <p:sp>
        <p:nvSpPr>
          <p:cNvPr id="12" name="tool-role-1">
            <a:extLst>
              <a:ext uri="{FF2B5EF4-FFF2-40B4-BE49-F238E27FC236}">
                <a16:creationId xmlns:a16="http://schemas.microsoft.com/office/drawing/2014/main" id="{D419B7A7-619C-4F86-BDD8-1A1264F0FCE5}"/>
              </a:ext>
            </a:extLst>
          </p:cNvPr>
          <p:cNvSpPr>
            <a:spLocks noGrp="1"/>
          </p:cNvSpPr>
          <p:nvPr/>
        </p:nvSpPr>
        <p:spPr>
          <a:xfrm>
            <a:off x="6038850" y="2505075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長 context 與 multimodal</a:t>
            </a:r>
          </a:p>
        </p:txBody>
      </p:sp>
      <p:sp>
        <p:nvSpPr>
          <p:cNvPr id="13" name="tool-uses-1">
            <a:extLst>
              <a:ext uri="{FF2B5EF4-FFF2-40B4-BE49-F238E27FC236}">
                <a16:creationId xmlns:a16="http://schemas.microsoft.com/office/drawing/2014/main" id="{FA3E1987-394A-482E-8D1E-77A5C87E7510}"/>
              </a:ext>
            </a:extLst>
          </p:cNvPr>
          <p:cNvSpPr>
            <a:spLocks noGrp="1"/>
          </p:cNvSpPr>
          <p:nvPr/>
        </p:nvSpPr>
        <p:spPr>
          <a:xfrm>
            <a:off x="4686300" y="2914650"/>
            <a:ext cx="1733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18" indent="-8">
              <a:lnSpc>
                <a:spcPct val="102000"/>
              </a:lnSpc>
              <a:spcAft>
                <a:spcPts val="2"/>
              </a:spcAft>
              <a:buNone/>
              <a:defRPr sz="120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跨 PDF / 圖表 / 表格</a:t>
            </a:r>
          </a:p>
          <a:p>
            <a:pPr marL="18" indent="-8">
              <a:lnSpc>
                <a:spcPct val="102000"/>
              </a:lnSpc>
              <a:spcAft>
                <a:spcPts val="2"/>
              </a:spcAft>
              <a:buNone/>
              <a:defRPr sz="120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Google 生態整合</a:t>
            </a:r>
          </a:p>
        </p:txBody>
      </p:sp>
      <p:sp>
        <p:nvSpPr>
          <p:cNvPr id="14" name="tool-caution-1">
            <a:extLst>
              <a:ext uri="{FF2B5EF4-FFF2-40B4-BE49-F238E27FC236}">
                <a16:creationId xmlns:a16="http://schemas.microsoft.com/office/drawing/2014/main" id="{D83915AE-1452-48E9-9223-6721D7823CCF}"/>
              </a:ext>
            </a:extLst>
          </p:cNvPr>
          <p:cNvSpPr>
            <a:spLocks noGrp="1"/>
          </p:cNvSpPr>
          <p:nvPr/>
        </p:nvSpPr>
        <p:spPr>
          <a:xfrm>
            <a:off x="6457950" y="3105150"/>
            <a:ext cx="89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B6E6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0B6E68"/>
                </a:solidFill>
                <a:latin typeface="PingFang TC"/>
                <a:ea typeface="PingFang TC"/>
                <a:cs typeface="PingFang TC"/>
              </a:rPr>
              <a:t>抽樣核對脈絡</a:t>
            </a:r>
          </a:p>
        </p:txBody>
      </p:sp>
      <p:sp>
        <p:nvSpPr>
          <p:cNvPr id="15" name="tool-card-2">
            <a:extLst>
              <a:ext uri="{FF2B5EF4-FFF2-40B4-BE49-F238E27FC236}">
                <a16:creationId xmlns:a16="http://schemas.microsoft.com/office/drawing/2014/main" id="{347BFC16-1739-49E0-AA55-06B8EAB2DE7F}"/>
              </a:ext>
            </a:extLst>
          </p:cNvPr>
          <p:cNvSpPr>
            <a:spLocks noGrp="1"/>
          </p:cNvSpPr>
          <p:nvPr/>
        </p:nvSpPr>
        <p:spPr>
          <a:xfrm>
            <a:off x="8058150" y="2324100"/>
            <a:ext cx="3124200" cy="1200150"/>
          </a:xfrm>
          <a:prstGeom prst="roundRect">
            <a:avLst>
              <a:gd name="adj" fmla="val 6349"/>
            </a:avLst>
          </a:prstGeom>
          <a:solidFill>
            <a:srgbClr val="FDEDEA"/>
          </a:solidFill>
          <a:ln w="9525">
            <a:solidFill>
              <a:srgbClr val="B0432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ool-name-2">
            <a:extLst>
              <a:ext uri="{FF2B5EF4-FFF2-40B4-BE49-F238E27FC236}">
                <a16:creationId xmlns:a16="http://schemas.microsoft.com/office/drawing/2014/main" id="{E65A8819-9352-43A0-97E7-55089EA65515}"/>
              </a:ext>
            </a:extLst>
          </p:cNvPr>
          <p:cNvSpPr>
            <a:spLocks noGrp="1"/>
          </p:cNvSpPr>
          <p:nvPr/>
        </p:nvSpPr>
        <p:spPr>
          <a:xfrm>
            <a:off x="8248650" y="2495550"/>
            <a:ext cx="137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B043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0432F"/>
                </a:solidFill>
                <a:latin typeface="Aptos"/>
                <a:ea typeface="Aptos"/>
                <a:cs typeface="Aptos"/>
              </a:rPr>
              <a:t>Perplexity</a:t>
            </a:r>
          </a:p>
        </p:txBody>
      </p:sp>
      <p:sp>
        <p:nvSpPr>
          <p:cNvPr id="17" name="tool-role-2">
            <a:extLst>
              <a:ext uri="{FF2B5EF4-FFF2-40B4-BE49-F238E27FC236}">
                <a16:creationId xmlns:a16="http://schemas.microsoft.com/office/drawing/2014/main" id="{7EAA7890-0661-4E78-81CC-20F9772A37AC}"/>
              </a:ext>
            </a:extLst>
          </p:cNvPr>
          <p:cNvSpPr>
            <a:spLocks noGrp="1"/>
          </p:cNvSpPr>
          <p:nvPr/>
        </p:nvSpPr>
        <p:spPr>
          <a:xfrm>
            <a:off x="9658350" y="2505075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web-grounded 搜尋追蹤</a:t>
            </a:r>
          </a:p>
        </p:txBody>
      </p:sp>
      <p:sp>
        <p:nvSpPr>
          <p:cNvPr id="18" name="tool-uses-2">
            <a:extLst>
              <a:ext uri="{FF2B5EF4-FFF2-40B4-BE49-F238E27FC236}">
                <a16:creationId xmlns:a16="http://schemas.microsoft.com/office/drawing/2014/main" id="{6EFA8067-546C-46F0-81A7-96F4C52B5502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1733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18" indent="-8">
              <a:lnSpc>
                <a:spcPct val="102000"/>
              </a:lnSpc>
              <a:spcAft>
                <a:spcPts val="2"/>
              </a:spcAft>
              <a:buNone/>
              <a:defRPr sz="120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找文獻線索</a:t>
            </a:r>
          </a:p>
          <a:p>
            <a:pPr marL="18" indent="-8">
              <a:lnSpc>
                <a:spcPct val="102000"/>
              </a:lnSpc>
              <a:spcAft>
                <a:spcPts val="2"/>
              </a:spcAft>
              <a:buNone/>
              <a:defRPr sz="120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追 citation / source</a:t>
            </a:r>
          </a:p>
        </p:txBody>
      </p:sp>
      <p:sp>
        <p:nvSpPr>
          <p:cNvPr id="19" name="tool-caution-2">
            <a:extLst>
              <a:ext uri="{FF2B5EF4-FFF2-40B4-BE49-F238E27FC236}">
                <a16:creationId xmlns:a16="http://schemas.microsoft.com/office/drawing/2014/main" id="{5E02810D-5B47-4CEC-937E-A1F9A51A653A}"/>
              </a:ext>
            </a:extLst>
          </p:cNvPr>
          <p:cNvSpPr>
            <a:spLocks noGrp="1"/>
          </p:cNvSpPr>
          <p:nvPr/>
        </p:nvSpPr>
        <p:spPr>
          <a:xfrm>
            <a:off x="10077450" y="3105150"/>
            <a:ext cx="89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B0432F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B0432F"/>
                </a:solidFill>
                <a:latin typeface="PingFang TC"/>
                <a:ea typeface="PingFang TC"/>
                <a:cs typeface="PingFang TC"/>
              </a:rPr>
              <a:t>摘要不是證據</a:t>
            </a:r>
          </a:p>
        </p:txBody>
      </p:sp>
      <p:sp>
        <p:nvSpPr>
          <p:cNvPr id="20" name="tool-card-3">
            <a:extLst>
              <a:ext uri="{FF2B5EF4-FFF2-40B4-BE49-F238E27FC236}">
                <a16:creationId xmlns:a16="http://schemas.microsoft.com/office/drawing/2014/main" id="{EB966CD2-624B-4896-86DC-F6403A0F5C13}"/>
              </a:ext>
            </a:extLst>
          </p:cNvPr>
          <p:cNvSpPr>
            <a:spLocks noGrp="1"/>
          </p:cNvSpPr>
          <p:nvPr/>
        </p:nvSpPr>
        <p:spPr>
          <a:xfrm>
            <a:off x="819150" y="3829050"/>
            <a:ext cx="31242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0B6E6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ool-name-3">
            <a:extLst>
              <a:ext uri="{FF2B5EF4-FFF2-40B4-BE49-F238E27FC236}">
                <a16:creationId xmlns:a16="http://schemas.microsoft.com/office/drawing/2014/main" id="{B2396728-DA7F-470A-8A4B-A758826B1102}"/>
              </a:ext>
            </a:extLst>
          </p:cNvPr>
          <p:cNvSpPr>
            <a:spLocks noGrp="1"/>
          </p:cNvSpPr>
          <p:nvPr/>
        </p:nvSpPr>
        <p:spPr>
          <a:xfrm>
            <a:off x="1009650" y="4000500"/>
            <a:ext cx="137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Codex</a:t>
            </a:r>
          </a:p>
        </p:txBody>
      </p:sp>
      <p:sp>
        <p:nvSpPr>
          <p:cNvPr id="22" name="tool-role-3">
            <a:extLst>
              <a:ext uri="{FF2B5EF4-FFF2-40B4-BE49-F238E27FC236}">
                <a16:creationId xmlns:a16="http://schemas.microsoft.com/office/drawing/2014/main" id="{EC1F0510-DF0F-4D85-B7A3-521EB9AAC451}"/>
              </a:ext>
            </a:extLst>
          </p:cNvPr>
          <p:cNvSpPr>
            <a:spLocks noGrp="1"/>
          </p:cNvSpPr>
          <p:nvPr/>
        </p:nvSpPr>
        <p:spPr>
          <a:xfrm>
            <a:off x="2419350" y="4010025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repo-grounded 修改測試</a:t>
            </a:r>
          </a:p>
        </p:txBody>
      </p:sp>
      <p:sp>
        <p:nvSpPr>
          <p:cNvPr id="23" name="tool-uses-3">
            <a:extLst>
              <a:ext uri="{FF2B5EF4-FFF2-40B4-BE49-F238E27FC236}">
                <a16:creationId xmlns:a16="http://schemas.microsoft.com/office/drawing/2014/main" id="{8327C648-F3E2-4076-9F38-297A1EFC7479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1733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18" indent="-8">
              <a:lnSpc>
                <a:spcPct val="102000"/>
              </a:lnSpc>
              <a:spcAft>
                <a:spcPts val="2"/>
              </a:spcAft>
              <a:buNone/>
              <a:defRPr sz="120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讀實際程式碼</a:t>
            </a:r>
          </a:p>
          <a:p>
            <a:pPr marL="18" indent="-8">
              <a:lnSpc>
                <a:spcPct val="102000"/>
              </a:lnSpc>
              <a:spcAft>
                <a:spcPts val="2"/>
              </a:spcAft>
              <a:buNone/>
              <a:defRPr sz="120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跑測試與看 diff</a:t>
            </a:r>
          </a:p>
        </p:txBody>
      </p:sp>
      <p:sp>
        <p:nvSpPr>
          <p:cNvPr id="24" name="tool-caution-3">
            <a:extLst>
              <a:ext uri="{FF2B5EF4-FFF2-40B4-BE49-F238E27FC236}">
                <a16:creationId xmlns:a16="http://schemas.microsoft.com/office/drawing/2014/main" id="{8E9C2F78-EE10-4124-8164-50298002B2D7}"/>
              </a:ext>
            </a:extLst>
          </p:cNvPr>
          <p:cNvSpPr>
            <a:spLocks noGrp="1"/>
          </p:cNvSpPr>
          <p:nvPr/>
        </p:nvSpPr>
        <p:spPr>
          <a:xfrm>
            <a:off x="2838450" y="4610100"/>
            <a:ext cx="89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B6E6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0B6E68"/>
                </a:solidFill>
                <a:latin typeface="PingFang TC"/>
                <a:ea typeface="PingFang TC"/>
                <a:cs typeface="PingFang TC"/>
              </a:rPr>
              <a:t>不能跳過 review</a:t>
            </a:r>
          </a:p>
        </p:txBody>
      </p:sp>
      <p:sp>
        <p:nvSpPr>
          <p:cNvPr id="25" name="tool-card-4">
            <a:extLst>
              <a:ext uri="{FF2B5EF4-FFF2-40B4-BE49-F238E27FC236}">
                <a16:creationId xmlns:a16="http://schemas.microsoft.com/office/drawing/2014/main" id="{1206E57B-B52F-4BC3-9FC3-D23520D39E99}"/>
              </a:ext>
            </a:extLst>
          </p:cNvPr>
          <p:cNvSpPr>
            <a:spLocks noGrp="1"/>
          </p:cNvSpPr>
          <p:nvPr/>
        </p:nvSpPr>
        <p:spPr>
          <a:xfrm>
            <a:off x="4438650" y="3829050"/>
            <a:ext cx="3124200" cy="1200150"/>
          </a:xfrm>
          <a:prstGeom prst="roundRect">
            <a:avLst>
              <a:gd name="adj" fmla="val 6349"/>
            </a:avLst>
          </a:prstGeom>
          <a:solidFill>
            <a:srgbClr val="FFF8E8"/>
          </a:solidFill>
          <a:ln w="9525">
            <a:solidFill>
              <a:srgbClr val="8A5D0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ool-name-4">
            <a:extLst>
              <a:ext uri="{FF2B5EF4-FFF2-40B4-BE49-F238E27FC236}">
                <a16:creationId xmlns:a16="http://schemas.microsoft.com/office/drawing/2014/main" id="{95AF13D7-8337-455A-AAEE-21FEF3215E63}"/>
              </a:ext>
            </a:extLst>
          </p:cNvPr>
          <p:cNvSpPr>
            <a:spLocks noGrp="1"/>
          </p:cNvSpPr>
          <p:nvPr/>
        </p:nvSpPr>
        <p:spPr>
          <a:xfrm>
            <a:off x="4629150" y="4000500"/>
            <a:ext cx="137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8A5D08"/>
                </a:solidFill>
                <a:latin typeface="Aptos"/>
                <a:ea typeface="Aptos"/>
                <a:cs typeface="Aptos"/>
              </a:rPr>
              <a:t>Copilot</a:t>
            </a:r>
          </a:p>
        </p:txBody>
      </p:sp>
      <p:sp>
        <p:nvSpPr>
          <p:cNvPr id="27" name="tool-role-4">
            <a:extLst>
              <a:ext uri="{FF2B5EF4-FFF2-40B4-BE49-F238E27FC236}">
                <a16:creationId xmlns:a16="http://schemas.microsoft.com/office/drawing/2014/main" id="{A3F6608F-1B0C-4F9F-9337-1754994F8B61}"/>
              </a:ext>
            </a:extLst>
          </p:cNvPr>
          <p:cNvSpPr>
            <a:spLocks noGrp="1"/>
          </p:cNvSpPr>
          <p:nvPr/>
        </p:nvSpPr>
        <p:spPr>
          <a:xfrm>
            <a:off x="6038850" y="4010025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IDE 內即時輔助</a:t>
            </a:r>
          </a:p>
        </p:txBody>
      </p:sp>
      <p:sp>
        <p:nvSpPr>
          <p:cNvPr id="28" name="tool-uses-4">
            <a:extLst>
              <a:ext uri="{FF2B5EF4-FFF2-40B4-BE49-F238E27FC236}">
                <a16:creationId xmlns:a16="http://schemas.microsoft.com/office/drawing/2014/main" id="{973AC60A-F746-4EBA-B680-7DE41EDAAB2A}"/>
              </a:ext>
            </a:extLst>
          </p:cNvPr>
          <p:cNvSpPr>
            <a:spLocks noGrp="1"/>
          </p:cNvSpPr>
          <p:nvPr/>
        </p:nvSpPr>
        <p:spPr>
          <a:xfrm>
            <a:off x="4686300" y="4419600"/>
            <a:ext cx="1733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18" indent="-8">
              <a:lnSpc>
                <a:spcPct val="102000"/>
              </a:lnSpc>
              <a:spcAft>
                <a:spcPts val="2"/>
              </a:spcAft>
              <a:buNone/>
              <a:defRPr sz="120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補完程式片段</a:t>
            </a:r>
          </a:p>
          <a:p>
            <a:pPr marL="18" indent="-8">
              <a:lnSpc>
                <a:spcPct val="102000"/>
              </a:lnSpc>
              <a:spcAft>
                <a:spcPts val="2"/>
              </a:spcAft>
              <a:buNone/>
              <a:defRPr sz="120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局部重構 / API</a:t>
            </a:r>
          </a:p>
        </p:txBody>
      </p:sp>
      <p:sp>
        <p:nvSpPr>
          <p:cNvPr id="29" name="tool-caution-4">
            <a:extLst>
              <a:ext uri="{FF2B5EF4-FFF2-40B4-BE49-F238E27FC236}">
                <a16:creationId xmlns:a16="http://schemas.microsoft.com/office/drawing/2014/main" id="{19644E8B-A2AC-4FD9-BF88-D4E5207075C3}"/>
              </a:ext>
            </a:extLst>
          </p:cNvPr>
          <p:cNvSpPr>
            <a:spLocks noGrp="1"/>
          </p:cNvSpPr>
          <p:nvPr/>
        </p:nvSpPr>
        <p:spPr>
          <a:xfrm>
            <a:off x="6457950" y="4610100"/>
            <a:ext cx="89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8A5D0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8A5D08"/>
                </a:solidFill>
                <a:latin typeface="PingFang TC"/>
                <a:ea typeface="PingFang TC"/>
                <a:cs typeface="PingFang TC"/>
              </a:rPr>
              <a:t>容易局部正確</a:t>
            </a:r>
          </a:p>
        </p:txBody>
      </p:sp>
      <p:sp>
        <p:nvSpPr>
          <p:cNvPr id="30" name="tool-card-5">
            <a:extLst>
              <a:ext uri="{FF2B5EF4-FFF2-40B4-BE49-F238E27FC236}">
                <a16:creationId xmlns:a16="http://schemas.microsoft.com/office/drawing/2014/main" id="{C84B01B4-C6D5-4DDF-A553-00260750E5BC}"/>
              </a:ext>
            </a:extLst>
          </p:cNvPr>
          <p:cNvSpPr>
            <a:spLocks noGrp="1"/>
          </p:cNvSpPr>
          <p:nvPr/>
        </p:nvSpPr>
        <p:spPr>
          <a:xfrm>
            <a:off x="8058150" y="3829050"/>
            <a:ext cx="31242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ool-name-5">
            <a:extLst>
              <a:ext uri="{FF2B5EF4-FFF2-40B4-BE49-F238E27FC236}">
                <a16:creationId xmlns:a16="http://schemas.microsoft.com/office/drawing/2014/main" id="{07426696-B7F9-442E-8670-039F23850895}"/>
              </a:ext>
            </a:extLst>
          </p:cNvPr>
          <p:cNvSpPr>
            <a:spLocks noGrp="1"/>
          </p:cNvSpPr>
          <p:nvPr/>
        </p:nvSpPr>
        <p:spPr>
          <a:xfrm>
            <a:off x="8248650" y="4000500"/>
            <a:ext cx="1371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Antigravity</a:t>
            </a:r>
          </a:p>
        </p:txBody>
      </p:sp>
      <p:sp>
        <p:nvSpPr>
          <p:cNvPr id="32" name="tool-role-5">
            <a:extLst>
              <a:ext uri="{FF2B5EF4-FFF2-40B4-BE49-F238E27FC236}">
                <a16:creationId xmlns:a16="http://schemas.microsoft.com/office/drawing/2014/main" id="{8D56DC1E-F7A6-4C0D-81B7-242C3591FB68}"/>
              </a:ext>
            </a:extLst>
          </p:cNvPr>
          <p:cNvSpPr>
            <a:spLocks noGrp="1"/>
          </p:cNvSpPr>
          <p:nvPr/>
        </p:nvSpPr>
        <p:spPr>
          <a:xfrm>
            <a:off x="9658350" y="4010025"/>
            <a:ext cx="129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agentic IDE 與 artifacts</a:t>
            </a:r>
          </a:p>
        </p:txBody>
      </p:sp>
      <p:sp>
        <p:nvSpPr>
          <p:cNvPr id="33" name="tool-uses-5">
            <a:extLst>
              <a:ext uri="{FF2B5EF4-FFF2-40B4-BE49-F238E27FC236}">
                <a16:creationId xmlns:a16="http://schemas.microsoft.com/office/drawing/2014/main" id="{60372CE1-FB20-4AA6-B432-3928BF490941}"/>
              </a:ext>
            </a:extLst>
          </p:cNvPr>
          <p:cNvSpPr>
            <a:spLocks noGrp="1"/>
          </p:cNvSpPr>
          <p:nvPr/>
        </p:nvSpPr>
        <p:spPr>
          <a:xfrm>
            <a:off x="8305800" y="4419600"/>
            <a:ext cx="1733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18" indent="-8">
              <a:lnSpc>
                <a:spcPct val="102000"/>
              </a:lnSpc>
              <a:spcAft>
                <a:spcPts val="2"/>
              </a:spcAft>
              <a:buNone/>
              <a:defRPr sz="120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平行 agent 工作</a:t>
            </a:r>
          </a:p>
          <a:p>
            <a:pPr marL="18" indent="-8">
              <a:lnSpc>
                <a:spcPct val="102000"/>
              </a:lnSpc>
              <a:spcAft>
                <a:spcPts val="2"/>
              </a:spcAft>
              <a:buNone/>
              <a:defRPr sz="120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browser / terminal</a:t>
            </a:r>
          </a:p>
        </p:txBody>
      </p:sp>
      <p:sp>
        <p:nvSpPr>
          <p:cNvPr id="34" name="tool-caution-5">
            <a:extLst>
              <a:ext uri="{FF2B5EF4-FFF2-40B4-BE49-F238E27FC236}">
                <a16:creationId xmlns:a16="http://schemas.microsoft.com/office/drawing/2014/main" id="{0FC179F1-1007-45B8-A688-927B519C558D}"/>
              </a:ext>
            </a:extLst>
          </p:cNvPr>
          <p:cNvSpPr>
            <a:spLocks noGrp="1"/>
          </p:cNvSpPr>
          <p:nvPr/>
        </p:nvSpPr>
        <p:spPr>
          <a:xfrm>
            <a:off x="10077450" y="4610100"/>
            <a:ext cx="895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高權限要設 gate</a:t>
            </a:r>
          </a:p>
        </p:txBody>
      </p:sp>
      <p:sp>
        <p:nvSpPr>
          <p:cNvPr id="35" name="bottom">
            <a:extLst>
              <a:ext uri="{FF2B5EF4-FFF2-40B4-BE49-F238E27FC236}">
                <a16:creationId xmlns:a16="http://schemas.microsoft.com/office/drawing/2014/main" id="{FF60219D-0554-4169-A47D-F96ACF8E68F1}"/>
              </a:ext>
            </a:extLst>
          </p:cNvPr>
          <p:cNvSpPr>
            <a:spLocks noGrp="1"/>
          </p:cNvSpPr>
          <p:nvPr/>
        </p:nvSpPr>
        <p:spPr>
          <a:xfrm>
            <a:off x="1428750" y="56388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同一個 biomedical task 常需要串兩種以上工具；比較的重點是輸入、輸出、證據和風險。</a:t>
            </a:r>
          </a:p>
        </p:txBody>
      </p:sp>
    </p:spTree>
    <p:extLst>
      <p:ext uri="{BB962C8B-B14F-4D97-AF65-F5344CB8AC3E}">
        <p14:creationId xmlns:p14="http://schemas.microsoft.com/office/powerpoint/2010/main" val="3924016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2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2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2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2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2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2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2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yebrow">
            <a:extLst>
              <a:ext uri="{FF2B5EF4-FFF2-40B4-BE49-F238E27FC236}">
                <a16:creationId xmlns:a16="http://schemas.microsoft.com/office/drawing/2014/main" id="{FE9D911D-C2FE-4350-B968-1AB587169626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SCENARIO FIT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3C6E63D-EDDF-48F1-A952-90A9CF9C5EC6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不同工具要接到不同的 workflow 檢查點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0AF225D1-38A9-462B-BB83-EE6815C47ADE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5/23</a:t>
            </a:r>
          </a:p>
        </p:txBody>
      </p:sp>
      <p:sp>
        <p:nvSpPr>
          <p:cNvPr id="4" name="lead">
            <a:extLst>
              <a:ext uri="{FF2B5EF4-FFF2-40B4-BE49-F238E27FC236}">
                <a16:creationId xmlns:a16="http://schemas.microsoft.com/office/drawing/2014/main" id="{70B8E222-7796-4FE3-9CA6-C1A2492F3E00}"/>
              </a:ext>
            </a:extLst>
          </p:cNvPr>
          <p:cNvSpPr>
            <a:spLocks noGrp="1"/>
          </p:cNvSpPr>
          <p:nvPr/>
        </p:nvSpPr>
        <p:spPr>
          <a:xfrm>
            <a:off x="1047750" y="1676400"/>
            <a:ext cx="933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選工具時先問：它會產生什麼 artifact？那個 artifact 要怎麼被檢查？</a:t>
            </a:r>
          </a:p>
        </p:txBody>
      </p:sp>
      <p:sp>
        <p:nvSpPr>
          <p:cNvPr id="5" name="head-0">
            <a:extLst>
              <a:ext uri="{FF2B5EF4-FFF2-40B4-BE49-F238E27FC236}">
                <a16:creationId xmlns:a16="http://schemas.microsoft.com/office/drawing/2014/main" id="{E96B99FB-5F21-4E48-9415-C8CB2BBF3D09}"/>
              </a:ext>
            </a:extLst>
          </p:cNvPr>
          <p:cNvSpPr>
            <a:spLocks noGrp="1"/>
          </p:cNvSpPr>
          <p:nvPr/>
        </p:nvSpPr>
        <p:spPr>
          <a:xfrm>
            <a:off x="1047750" y="24193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工具入口</a:t>
            </a:r>
          </a:p>
        </p:txBody>
      </p:sp>
      <p:sp>
        <p:nvSpPr>
          <p:cNvPr id="6" name="head-1">
            <a:extLst>
              <a:ext uri="{FF2B5EF4-FFF2-40B4-BE49-F238E27FC236}">
                <a16:creationId xmlns:a16="http://schemas.microsoft.com/office/drawing/2014/main" id="{734AB153-9F72-44EB-A3ED-32C5C0E34733}"/>
              </a:ext>
            </a:extLst>
          </p:cNvPr>
          <p:cNvSpPr>
            <a:spLocks noGrp="1"/>
          </p:cNvSpPr>
          <p:nvPr/>
        </p:nvSpPr>
        <p:spPr>
          <a:xfrm>
            <a:off x="3143250" y="24193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0B6E6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B6E68"/>
                </a:solidFill>
                <a:latin typeface="PingFang TC"/>
                <a:ea typeface="PingFang TC"/>
                <a:cs typeface="PingFang TC"/>
              </a:rPr>
              <a:t>適合交付</a:t>
            </a:r>
          </a:p>
        </p:txBody>
      </p:sp>
      <p:sp>
        <p:nvSpPr>
          <p:cNvPr id="7" name="head-2">
            <a:extLst>
              <a:ext uri="{FF2B5EF4-FFF2-40B4-BE49-F238E27FC236}">
                <a16:creationId xmlns:a16="http://schemas.microsoft.com/office/drawing/2014/main" id="{B01A3DCE-6FA4-40BD-9D5B-FF7303C1B2D0}"/>
              </a:ext>
            </a:extLst>
          </p:cNvPr>
          <p:cNvSpPr>
            <a:spLocks noGrp="1"/>
          </p:cNvSpPr>
          <p:nvPr/>
        </p:nvSpPr>
        <p:spPr>
          <a:xfrm>
            <a:off x="6191250" y="241935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8A5D0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8A5D08"/>
                </a:solidFill>
                <a:latin typeface="PingFang TC"/>
                <a:ea typeface="PingFang TC"/>
                <a:cs typeface="PingFang TC"/>
              </a:rPr>
              <a:t>必要檢查</a:t>
            </a:r>
          </a:p>
        </p:txBody>
      </p:sp>
      <p:sp>
        <p:nvSpPr>
          <p:cNvPr id="8" name="row-bg-0">
            <a:extLst>
              <a:ext uri="{FF2B5EF4-FFF2-40B4-BE49-F238E27FC236}">
                <a16:creationId xmlns:a16="http://schemas.microsoft.com/office/drawing/2014/main" id="{96707B30-5D02-44A7-8951-B3766458F4E0}"/>
              </a:ext>
            </a:extLst>
          </p:cNvPr>
          <p:cNvSpPr>
            <a:spLocks noGrp="1"/>
          </p:cNvSpPr>
          <p:nvPr/>
        </p:nvSpPr>
        <p:spPr>
          <a:xfrm>
            <a:off x="876300" y="2724150"/>
            <a:ext cx="104394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ool-0">
            <a:extLst>
              <a:ext uri="{FF2B5EF4-FFF2-40B4-BE49-F238E27FC236}">
                <a16:creationId xmlns:a16="http://schemas.microsoft.com/office/drawing/2014/main" id="{88BE6A11-FD77-4086-B823-FE29134D25D2}"/>
              </a:ext>
            </a:extLst>
          </p:cNvPr>
          <p:cNvSpPr>
            <a:spLocks noGrp="1"/>
          </p:cNvSpPr>
          <p:nvPr/>
        </p:nvSpPr>
        <p:spPr>
          <a:xfrm>
            <a:off x="1047750" y="28194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B043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0432F"/>
                </a:solidFill>
                <a:latin typeface="Aptos"/>
                <a:ea typeface="Aptos"/>
                <a:cs typeface="Aptos"/>
              </a:rPr>
              <a:t>Perplexity 類</a:t>
            </a:r>
          </a:p>
        </p:txBody>
      </p:sp>
      <p:sp>
        <p:nvSpPr>
          <p:cNvPr id="10" name="artifact-0">
            <a:extLst>
              <a:ext uri="{FF2B5EF4-FFF2-40B4-BE49-F238E27FC236}">
                <a16:creationId xmlns:a16="http://schemas.microsoft.com/office/drawing/2014/main" id="{0A0FB84E-918C-4DD3-AB90-A25078309336}"/>
              </a:ext>
            </a:extLst>
          </p:cNvPr>
          <p:cNvSpPr>
            <a:spLocks noGrp="1"/>
          </p:cNvSpPr>
          <p:nvPr/>
        </p:nvSpPr>
        <p:spPr>
          <a:xfrm>
            <a:off x="3143250" y="28003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搜尋策略、候選文獻、來源連結</a:t>
            </a:r>
          </a:p>
        </p:txBody>
      </p:sp>
      <p:sp>
        <p:nvSpPr>
          <p:cNvPr id="11" name="check-0">
            <a:extLst>
              <a:ext uri="{FF2B5EF4-FFF2-40B4-BE49-F238E27FC236}">
                <a16:creationId xmlns:a16="http://schemas.microsoft.com/office/drawing/2014/main" id="{CE0847DA-B919-4703-9A90-594DBBC99D23}"/>
              </a:ext>
            </a:extLst>
          </p:cNvPr>
          <p:cNvSpPr>
            <a:spLocks noGrp="1"/>
          </p:cNvSpPr>
          <p:nvPr/>
        </p:nvSpPr>
        <p:spPr>
          <a:xfrm>
            <a:off x="6191250" y="28003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查 PMID / DOI / database record</a:t>
            </a:r>
          </a:p>
        </p:txBody>
      </p:sp>
      <p:sp>
        <p:nvSpPr>
          <p:cNvPr id="12" name="row-bg-1">
            <a:extLst>
              <a:ext uri="{FF2B5EF4-FFF2-40B4-BE49-F238E27FC236}">
                <a16:creationId xmlns:a16="http://schemas.microsoft.com/office/drawing/2014/main" id="{66661C28-180B-4997-B72B-9FE85FF9842C}"/>
              </a:ext>
            </a:extLst>
          </p:cNvPr>
          <p:cNvSpPr>
            <a:spLocks noGrp="1"/>
          </p:cNvSpPr>
          <p:nvPr/>
        </p:nvSpPr>
        <p:spPr>
          <a:xfrm>
            <a:off x="876300" y="3219450"/>
            <a:ext cx="10439400" cy="419100"/>
          </a:xfrm>
          <a:prstGeom prst="roundRect">
            <a:avLst>
              <a:gd name="adj" fmla="val 18182"/>
            </a:avLst>
          </a:prstGeom>
          <a:solidFill>
            <a:srgbClr val="EEF1F2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ool-1">
            <a:extLst>
              <a:ext uri="{FF2B5EF4-FFF2-40B4-BE49-F238E27FC236}">
                <a16:creationId xmlns:a16="http://schemas.microsoft.com/office/drawing/2014/main" id="{18402476-8437-4D06-9764-C7049F39BED1}"/>
              </a:ext>
            </a:extLst>
          </p:cNvPr>
          <p:cNvSpPr>
            <a:spLocks noGrp="1"/>
          </p:cNvSpPr>
          <p:nvPr/>
        </p:nvSpPr>
        <p:spPr>
          <a:xfrm>
            <a:off x="1047750" y="33147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Gemini 類</a:t>
            </a:r>
          </a:p>
        </p:txBody>
      </p:sp>
      <p:sp>
        <p:nvSpPr>
          <p:cNvPr id="14" name="artifact-1">
            <a:extLst>
              <a:ext uri="{FF2B5EF4-FFF2-40B4-BE49-F238E27FC236}">
                <a16:creationId xmlns:a16="http://schemas.microsoft.com/office/drawing/2014/main" id="{31D32838-9BD3-4F81-A82F-3933796B2ECC}"/>
              </a:ext>
            </a:extLst>
          </p:cNvPr>
          <p:cNvSpPr>
            <a:spLocks noGrp="1"/>
          </p:cNvSpPr>
          <p:nvPr/>
        </p:nvSpPr>
        <p:spPr>
          <a:xfrm>
            <a:off x="3143250" y="32956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多模態整理、文件對照、Workspace 草稿</a:t>
            </a:r>
          </a:p>
        </p:txBody>
      </p:sp>
      <p:sp>
        <p:nvSpPr>
          <p:cNvPr id="15" name="check-1">
            <a:extLst>
              <a:ext uri="{FF2B5EF4-FFF2-40B4-BE49-F238E27FC236}">
                <a16:creationId xmlns:a16="http://schemas.microsoft.com/office/drawing/2014/main" id="{EA6E8746-C39D-46A3-A1FD-86CC6070D985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抽樣核對來源、版本與上下文</a:t>
            </a:r>
          </a:p>
        </p:txBody>
      </p:sp>
      <p:sp>
        <p:nvSpPr>
          <p:cNvPr id="16" name="row-bg-2">
            <a:extLst>
              <a:ext uri="{FF2B5EF4-FFF2-40B4-BE49-F238E27FC236}">
                <a16:creationId xmlns:a16="http://schemas.microsoft.com/office/drawing/2014/main" id="{1EDE72DF-2CC7-4891-8E8C-D9AF41F247D9}"/>
              </a:ext>
            </a:extLst>
          </p:cNvPr>
          <p:cNvSpPr>
            <a:spLocks noGrp="1"/>
          </p:cNvSpPr>
          <p:nvPr/>
        </p:nvSpPr>
        <p:spPr>
          <a:xfrm>
            <a:off x="876300" y="3714750"/>
            <a:ext cx="104394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ool-2">
            <a:extLst>
              <a:ext uri="{FF2B5EF4-FFF2-40B4-BE49-F238E27FC236}">
                <a16:creationId xmlns:a16="http://schemas.microsoft.com/office/drawing/2014/main" id="{9E0DEEB8-4069-48B9-AA4D-5A81BDC9C936}"/>
              </a:ext>
            </a:extLst>
          </p:cNvPr>
          <p:cNvSpPr>
            <a:spLocks noGrp="1"/>
          </p:cNvSpPr>
          <p:nvPr/>
        </p:nvSpPr>
        <p:spPr>
          <a:xfrm>
            <a:off x="1047750" y="38100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Claude 類</a:t>
            </a:r>
          </a:p>
        </p:txBody>
      </p:sp>
      <p:sp>
        <p:nvSpPr>
          <p:cNvPr id="18" name="artifact-2">
            <a:extLst>
              <a:ext uri="{FF2B5EF4-FFF2-40B4-BE49-F238E27FC236}">
                <a16:creationId xmlns:a16="http://schemas.microsoft.com/office/drawing/2014/main" id="{92FE6695-132A-4CE5-A670-5148D94DA0BB}"/>
              </a:ext>
            </a:extLst>
          </p:cNvPr>
          <p:cNvSpPr>
            <a:spLocks noGrp="1"/>
          </p:cNvSpPr>
          <p:nvPr/>
        </p:nvSpPr>
        <p:spPr>
          <a:xfrm>
            <a:off x="3143250" y="37909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摘要、比較表、研究筆記初稿</a:t>
            </a:r>
          </a:p>
        </p:txBody>
      </p:sp>
      <p:sp>
        <p:nvSpPr>
          <p:cNvPr id="19" name="check-2">
            <a:extLst>
              <a:ext uri="{FF2B5EF4-FFF2-40B4-BE49-F238E27FC236}">
                <a16:creationId xmlns:a16="http://schemas.microsoft.com/office/drawing/2014/main" id="{03939359-09C4-479A-8CE0-20648A192F8E}"/>
              </a:ext>
            </a:extLst>
          </p:cNvPr>
          <p:cNvSpPr>
            <a:spLocks noGrp="1"/>
          </p:cNvSpPr>
          <p:nvPr/>
        </p:nvSpPr>
        <p:spPr>
          <a:xfrm>
            <a:off x="6191250" y="37909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逐段對來源與欄位定義</a:t>
            </a:r>
          </a:p>
        </p:txBody>
      </p:sp>
      <p:sp>
        <p:nvSpPr>
          <p:cNvPr id="20" name="row-bg-3">
            <a:extLst>
              <a:ext uri="{FF2B5EF4-FFF2-40B4-BE49-F238E27FC236}">
                <a16:creationId xmlns:a16="http://schemas.microsoft.com/office/drawing/2014/main" id="{F6BAA034-083B-4007-9949-2CC14F6D7231}"/>
              </a:ext>
            </a:extLst>
          </p:cNvPr>
          <p:cNvSpPr>
            <a:spLocks noGrp="1"/>
          </p:cNvSpPr>
          <p:nvPr/>
        </p:nvSpPr>
        <p:spPr>
          <a:xfrm>
            <a:off x="876300" y="4210050"/>
            <a:ext cx="10439400" cy="419100"/>
          </a:xfrm>
          <a:prstGeom prst="roundRect">
            <a:avLst>
              <a:gd name="adj" fmla="val 18182"/>
            </a:avLst>
          </a:prstGeom>
          <a:solidFill>
            <a:srgbClr val="EEF1F2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ool-3">
            <a:extLst>
              <a:ext uri="{FF2B5EF4-FFF2-40B4-BE49-F238E27FC236}">
                <a16:creationId xmlns:a16="http://schemas.microsoft.com/office/drawing/2014/main" id="{FA9F9C14-EE96-45E9-A695-70F1C1BA4908}"/>
              </a:ext>
            </a:extLst>
          </p:cNvPr>
          <p:cNvSpPr>
            <a:spLocks noGrp="1"/>
          </p:cNvSpPr>
          <p:nvPr/>
        </p:nvSpPr>
        <p:spPr>
          <a:xfrm>
            <a:off x="1047750" y="43053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Codex 類</a:t>
            </a:r>
          </a:p>
        </p:txBody>
      </p:sp>
      <p:sp>
        <p:nvSpPr>
          <p:cNvPr id="22" name="artifact-3">
            <a:extLst>
              <a:ext uri="{FF2B5EF4-FFF2-40B4-BE49-F238E27FC236}">
                <a16:creationId xmlns:a16="http://schemas.microsoft.com/office/drawing/2014/main" id="{88D4917F-3EAA-456A-95C4-1F1966CEEE89}"/>
              </a:ext>
            </a:extLst>
          </p:cNvPr>
          <p:cNvSpPr>
            <a:spLocks noGrp="1"/>
          </p:cNvSpPr>
          <p:nvPr/>
        </p:nvSpPr>
        <p:spPr>
          <a:xfrm>
            <a:off x="3143250" y="42862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腳本修改、資料處理程式、測試結果</a:t>
            </a:r>
          </a:p>
        </p:txBody>
      </p:sp>
      <p:sp>
        <p:nvSpPr>
          <p:cNvPr id="23" name="check-3">
            <a:extLst>
              <a:ext uri="{FF2B5EF4-FFF2-40B4-BE49-F238E27FC236}">
                <a16:creationId xmlns:a16="http://schemas.microsoft.com/office/drawing/2014/main" id="{542EAA04-88CB-41FF-9826-0A5DCCDE2E26}"/>
              </a:ext>
            </a:extLst>
          </p:cNvPr>
          <p:cNvSpPr>
            <a:spLocks noGrp="1"/>
          </p:cNvSpPr>
          <p:nvPr/>
        </p:nvSpPr>
        <p:spPr>
          <a:xfrm>
            <a:off x="6191250" y="42862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看 diff、跑 test、檢查輸出檔</a:t>
            </a:r>
          </a:p>
        </p:txBody>
      </p:sp>
      <p:sp>
        <p:nvSpPr>
          <p:cNvPr id="24" name="row-bg-4">
            <a:extLst>
              <a:ext uri="{FF2B5EF4-FFF2-40B4-BE49-F238E27FC236}">
                <a16:creationId xmlns:a16="http://schemas.microsoft.com/office/drawing/2014/main" id="{10CEFFE2-FBF0-4269-8283-3443773D4D4C}"/>
              </a:ext>
            </a:extLst>
          </p:cNvPr>
          <p:cNvSpPr>
            <a:spLocks noGrp="1"/>
          </p:cNvSpPr>
          <p:nvPr/>
        </p:nvSpPr>
        <p:spPr>
          <a:xfrm>
            <a:off x="876300" y="4705350"/>
            <a:ext cx="104394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ool-4">
            <a:extLst>
              <a:ext uri="{FF2B5EF4-FFF2-40B4-BE49-F238E27FC236}">
                <a16:creationId xmlns:a16="http://schemas.microsoft.com/office/drawing/2014/main" id="{7404EA94-0665-44D6-9D10-0B32F670E301}"/>
              </a:ext>
            </a:extLst>
          </p:cNvPr>
          <p:cNvSpPr>
            <a:spLocks noGrp="1"/>
          </p:cNvSpPr>
          <p:nvPr/>
        </p:nvSpPr>
        <p:spPr>
          <a:xfrm>
            <a:off x="1047750" y="48006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A5D08"/>
                </a:solidFill>
                <a:latin typeface="Aptos"/>
                <a:ea typeface="Aptos"/>
                <a:cs typeface="Aptos"/>
              </a:rPr>
              <a:t>Copilot 類</a:t>
            </a:r>
          </a:p>
        </p:txBody>
      </p:sp>
      <p:sp>
        <p:nvSpPr>
          <p:cNvPr id="26" name="artifact-4">
            <a:extLst>
              <a:ext uri="{FF2B5EF4-FFF2-40B4-BE49-F238E27FC236}">
                <a16:creationId xmlns:a16="http://schemas.microsoft.com/office/drawing/2014/main" id="{B587EC98-7776-4DBF-A54A-765C78B241EE}"/>
              </a:ext>
            </a:extLst>
          </p:cNvPr>
          <p:cNvSpPr>
            <a:spLocks noGrp="1"/>
          </p:cNvSpPr>
          <p:nvPr/>
        </p:nvSpPr>
        <p:spPr>
          <a:xfrm>
            <a:off x="3143250" y="47815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局部程式碼片段、函式補完</a:t>
            </a:r>
          </a:p>
        </p:txBody>
      </p:sp>
      <p:sp>
        <p:nvSpPr>
          <p:cNvPr id="27" name="check-4">
            <a:extLst>
              <a:ext uri="{FF2B5EF4-FFF2-40B4-BE49-F238E27FC236}">
                <a16:creationId xmlns:a16="http://schemas.microsoft.com/office/drawing/2014/main" id="{A7BFE93A-3D89-4342-BE55-6EF087B9AFBF}"/>
              </a:ext>
            </a:extLst>
          </p:cNvPr>
          <p:cNvSpPr>
            <a:spLocks noGrp="1"/>
          </p:cNvSpPr>
          <p:nvPr/>
        </p:nvSpPr>
        <p:spPr>
          <a:xfrm>
            <a:off x="6191250" y="47815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用 lint、unit test、review 限縮風險</a:t>
            </a:r>
          </a:p>
        </p:txBody>
      </p:sp>
      <p:sp>
        <p:nvSpPr>
          <p:cNvPr id="28" name="row-bg-5">
            <a:extLst>
              <a:ext uri="{FF2B5EF4-FFF2-40B4-BE49-F238E27FC236}">
                <a16:creationId xmlns:a16="http://schemas.microsoft.com/office/drawing/2014/main" id="{D0BE0F1B-BAF5-4F3E-8642-0F46C0AE8F13}"/>
              </a:ext>
            </a:extLst>
          </p:cNvPr>
          <p:cNvSpPr>
            <a:spLocks noGrp="1"/>
          </p:cNvSpPr>
          <p:nvPr/>
        </p:nvSpPr>
        <p:spPr>
          <a:xfrm>
            <a:off x="876300" y="5200650"/>
            <a:ext cx="10439400" cy="419100"/>
          </a:xfrm>
          <a:prstGeom prst="roundRect">
            <a:avLst>
              <a:gd name="adj" fmla="val 18182"/>
            </a:avLst>
          </a:prstGeom>
          <a:solidFill>
            <a:srgbClr val="EEF1F2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ool-5">
            <a:extLst>
              <a:ext uri="{FF2B5EF4-FFF2-40B4-BE49-F238E27FC236}">
                <a16:creationId xmlns:a16="http://schemas.microsoft.com/office/drawing/2014/main" id="{75AC6076-C6A9-412B-9E94-FB8E158F128E}"/>
              </a:ext>
            </a:extLst>
          </p:cNvPr>
          <p:cNvSpPr>
            <a:spLocks noGrp="1"/>
          </p:cNvSpPr>
          <p:nvPr/>
        </p:nvSpPr>
        <p:spPr>
          <a:xfrm>
            <a:off x="1047750" y="52959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Antigravity 類</a:t>
            </a:r>
          </a:p>
        </p:txBody>
      </p:sp>
      <p:sp>
        <p:nvSpPr>
          <p:cNvPr id="30" name="artifact-5">
            <a:extLst>
              <a:ext uri="{FF2B5EF4-FFF2-40B4-BE49-F238E27FC236}">
                <a16:creationId xmlns:a16="http://schemas.microsoft.com/office/drawing/2014/main" id="{ACB588EF-0A89-430F-8FC2-D6F6210A992A}"/>
              </a:ext>
            </a:extLst>
          </p:cNvPr>
          <p:cNvSpPr>
            <a:spLocks noGrp="1"/>
          </p:cNvSpPr>
          <p:nvPr/>
        </p:nvSpPr>
        <p:spPr>
          <a:xfrm>
            <a:off x="3143250" y="52768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plan、code change、browser / terminal artifact</a:t>
            </a:r>
          </a:p>
        </p:txBody>
      </p:sp>
      <p:sp>
        <p:nvSpPr>
          <p:cNvPr id="31" name="check-5">
            <a:extLst>
              <a:ext uri="{FF2B5EF4-FFF2-40B4-BE49-F238E27FC236}">
                <a16:creationId xmlns:a16="http://schemas.microsoft.com/office/drawing/2014/main" id="{64478724-5878-42C4-92D7-A22DC8376E63}"/>
              </a:ext>
            </a:extLst>
          </p:cNvPr>
          <p:cNvSpPr>
            <a:spLocks noGrp="1"/>
          </p:cNvSpPr>
          <p:nvPr/>
        </p:nvSpPr>
        <p:spPr>
          <a:xfrm>
            <a:off x="6191250" y="5276850"/>
            <a:ext cx="457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權限 gate、sandbox、test log</a:t>
            </a:r>
          </a:p>
        </p:txBody>
      </p:sp>
      <p:sp>
        <p:nvSpPr>
          <p:cNvPr id="32" name="bottom">
            <a:extLst>
              <a:ext uri="{FF2B5EF4-FFF2-40B4-BE49-F238E27FC236}">
                <a16:creationId xmlns:a16="http://schemas.microsoft.com/office/drawing/2014/main" id="{8EAC5B16-09D0-4EEF-B776-43718F545980}"/>
              </a:ext>
            </a:extLst>
          </p:cNvPr>
          <p:cNvSpPr>
            <a:spLocks noGrp="1"/>
          </p:cNvSpPr>
          <p:nvPr/>
        </p:nvSpPr>
        <p:spPr>
          <a:xfrm>
            <a:off x="2190750" y="5829300"/>
            <a:ext cx="781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0B6E68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0B6E68"/>
                </a:solidFill>
                <a:latin typeface="PingFang TC"/>
                <a:ea typeface="PingFang TC"/>
                <a:cs typeface="PingFang TC"/>
              </a:rPr>
              <a:t>工具選擇不是品牌偏好，而是 workflow 設計的一部分。</a:t>
            </a:r>
          </a:p>
        </p:txBody>
      </p:sp>
    </p:spTree>
    <p:extLst>
      <p:ext uri="{BB962C8B-B14F-4D97-AF65-F5344CB8AC3E}">
        <p14:creationId xmlns:p14="http://schemas.microsoft.com/office/powerpoint/2010/main" val="8389329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yebrow">
            <a:extLst>
              <a:ext uri="{FF2B5EF4-FFF2-40B4-BE49-F238E27FC236}">
                <a16:creationId xmlns:a16="http://schemas.microsoft.com/office/drawing/2014/main" id="{DF92EE33-B64B-4802-A29E-9B943210E968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RUNNING EXAMPLE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0AE1A4E-F325-43F8-90CE-6F81BF3A8B71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用同一個 biomedical 任務貫穿整堂課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72B9F5A2-D2AA-40E6-8F77-5046B5952064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6/23</a:t>
            </a:r>
          </a:p>
        </p:txBody>
      </p:sp>
      <p:sp>
        <p:nvSpPr>
          <p:cNvPr id="4" name="scenario">
            <a:extLst>
              <a:ext uri="{FF2B5EF4-FFF2-40B4-BE49-F238E27FC236}">
                <a16:creationId xmlns:a16="http://schemas.microsoft.com/office/drawing/2014/main" id="{F6A73743-A815-4D3F-AD8D-16DBB1934C74}"/>
              </a:ext>
            </a:extLst>
          </p:cNvPr>
          <p:cNvSpPr>
            <a:spLocks noGrp="1"/>
          </p:cNvSpPr>
          <p:nvPr/>
        </p:nvSpPr>
        <p:spPr>
          <a:xfrm>
            <a:off x="990600" y="1809750"/>
            <a:ext cx="9334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任務：整理 EGFR、ALK、TP53 與肺癌治療或研究關聯的 evidence table</a:t>
            </a:r>
          </a:p>
        </p:txBody>
      </p:sp>
      <p:sp>
        <p:nvSpPr>
          <p:cNvPr id="5" name="row-head-0">
            <a:extLst>
              <a:ext uri="{FF2B5EF4-FFF2-40B4-BE49-F238E27FC236}">
                <a16:creationId xmlns:a16="http://schemas.microsoft.com/office/drawing/2014/main" id="{F6DB8767-FA71-44C8-B539-7190D272A9C5}"/>
              </a:ext>
            </a:extLst>
          </p:cNvPr>
          <p:cNvSpPr>
            <a:spLocks noGrp="1"/>
          </p:cNvSpPr>
          <p:nvPr/>
        </p:nvSpPr>
        <p:spPr>
          <a:xfrm>
            <a:off x="1428750" y="2686050"/>
            <a:ext cx="16192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859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Entities</a:t>
            </a:r>
          </a:p>
        </p:txBody>
      </p:sp>
      <p:sp>
        <p:nvSpPr>
          <p:cNvPr id="6" name="row-copy-0">
            <a:extLst>
              <a:ext uri="{FF2B5EF4-FFF2-40B4-BE49-F238E27FC236}">
                <a16:creationId xmlns:a16="http://schemas.microsoft.com/office/drawing/2014/main" id="{8043C9D2-618E-4FED-A51E-818E3BE3F9CF}"/>
              </a:ext>
            </a:extLst>
          </p:cNvPr>
          <p:cNvSpPr>
            <a:spLocks noGrp="1"/>
          </p:cNvSpPr>
          <p:nvPr/>
        </p:nvSpPr>
        <p:spPr>
          <a:xfrm>
            <a:off x="3524250" y="2790825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gene / disease / drug / variant</a:t>
            </a:r>
          </a:p>
        </p:txBody>
      </p:sp>
      <p:sp>
        <p:nvSpPr>
          <p:cNvPr id="7" name="row-line-0">
            <a:extLst>
              <a:ext uri="{FF2B5EF4-FFF2-40B4-BE49-F238E27FC236}">
                <a16:creationId xmlns:a16="http://schemas.microsoft.com/office/drawing/2014/main" id="{532BD8E4-E784-44D7-89FF-6E17A9EE1282}"/>
              </a:ext>
            </a:extLst>
          </p:cNvPr>
          <p:cNvSpPr>
            <a:spLocks noGrp="1"/>
          </p:cNvSpPr>
          <p:nvPr/>
        </p:nvSpPr>
        <p:spPr>
          <a:xfrm>
            <a:off x="3143250" y="2914650"/>
            <a:ext cx="190500" cy="0"/>
          </a:xfrm>
          <a:prstGeom prst="line">
            <a:avLst/>
          </a:prstGeom>
          <a:noFill/>
          <a:ln w="1143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row-head-1">
            <a:extLst>
              <a:ext uri="{FF2B5EF4-FFF2-40B4-BE49-F238E27FC236}">
                <a16:creationId xmlns:a16="http://schemas.microsoft.com/office/drawing/2014/main" id="{C4D34A71-0F7A-4F59-BA80-C58E51435728}"/>
              </a:ext>
            </a:extLst>
          </p:cNvPr>
          <p:cNvSpPr>
            <a:spLocks noGrp="1"/>
          </p:cNvSpPr>
          <p:nvPr/>
        </p:nvSpPr>
        <p:spPr>
          <a:xfrm>
            <a:off x="1428750" y="3371850"/>
            <a:ext cx="16192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859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9" name="row-copy-1">
            <a:extLst>
              <a:ext uri="{FF2B5EF4-FFF2-40B4-BE49-F238E27FC236}">
                <a16:creationId xmlns:a16="http://schemas.microsoft.com/office/drawing/2014/main" id="{716E57F9-BB51-43D1-A1D8-19329DEF2BC1}"/>
              </a:ext>
            </a:extLst>
          </p:cNvPr>
          <p:cNvSpPr>
            <a:spLocks noGrp="1"/>
          </p:cNvSpPr>
          <p:nvPr/>
        </p:nvSpPr>
        <p:spPr>
          <a:xfrm>
            <a:off x="3524250" y="3476625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claim / PMID / DOI / source span</a:t>
            </a:r>
          </a:p>
        </p:txBody>
      </p:sp>
      <p:sp>
        <p:nvSpPr>
          <p:cNvPr id="10" name="row-line-1">
            <a:extLst>
              <a:ext uri="{FF2B5EF4-FFF2-40B4-BE49-F238E27FC236}">
                <a16:creationId xmlns:a16="http://schemas.microsoft.com/office/drawing/2014/main" id="{74990014-6B14-4C34-9CE1-3A06E239657B}"/>
              </a:ext>
            </a:extLst>
          </p:cNvPr>
          <p:cNvSpPr>
            <a:spLocks noGrp="1"/>
          </p:cNvSpPr>
          <p:nvPr/>
        </p:nvSpPr>
        <p:spPr>
          <a:xfrm>
            <a:off x="3143250" y="3600450"/>
            <a:ext cx="190500" cy="0"/>
          </a:xfrm>
          <a:prstGeom prst="line">
            <a:avLst/>
          </a:prstGeom>
          <a:noFill/>
          <a:ln w="1143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row-head-2">
            <a:extLst>
              <a:ext uri="{FF2B5EF4-FFF2-40B4-BE49-F238E27FC236}">
                <a16:creationId xmlns:a16="http://schemas.microsoft.com/office/drawing/2014/main" id="{19B6620A-566F-4C40-A0D4-6D53002CD4F8}"/>
              </a:ext>
            </a:extLst>
          </p:cNvPr>
          <p:cNvSpPr>
            <a:spLocks noGrp="1"/>
          </p:cNvSpPr>
          <p:nvPr/>
        </p:nvSpPr>
        <p:spPr>
          <a:xfrm>
            <a:off x="1428750" y="4057650"/>
            <a:ext cx="16192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859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Checks</a:t>
            </a:r>
          </a:p>
        </p:txBody>
      </p:sp>
      <p:sp>
        <p:nvSpPr>
          <p:cNvPr id="12" name="row-copy-2">
            <a:extLst>
              <a:ext uri="{FF2B5EF4-FFF2-40B4-BE49-F238E27FC236}">
                <a16:creationId xmlns:a16="http://schemas.microsoft.com/office/drawing/2014/main" id="{ED3D722E-EFDB-4804-BDF0-C568A8469C56}"/>
              </a:ext>
            </a:extLst>
          </p:cNvPr>
          <p:cNvSpPr>
            <a:spLocks noGrp="1"/>
          </p:cNvSpPr>
          <p:nvPr/>
        </p:nvSpPr>
        <p:spPr>
          <a:xfrm>
            <a:off x="3524250" y="4162425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gene symbol / citation / guideline / review</a:t>
            </a:r>
          </a:p>
        </p:txBody>
      </p:sp>
      <p:sp>
        <p:nvSpPr>
          <p:cNvPr id="13" name="row-line-2">
            <a:extLst>
              <a:ext uri="{FF2B5EF4-FFF2-40B4-BE49-F238E27FC236}">
                <a16:creationId xmlns:a16="http://schemas.microsoft.com/office/drawing/2014/main" id="{E8D91566-4C8E-4E9A-8797-A5E73D5503C5}"/>
              </a:ext>
            </a:extLst>
          </p:cNvPr>
          <p:cNvSpPr>
            <a:spLocks noGrp="1"/>
          </p:cNvSpPr>
          <p:nvPr/>
        </p:nvSpPr>
        <p:spPr>
          <a:xfrm>
            <a:off x="3143250" y="4286250"/>
            <a:ext cx="190500" cy="0"/>
          </a:xfrm>
          <a:prstGeom prst="line">
            <a:avLst/>
          </a:prstGeom>
          <a:noFill/>
          <a:ln w="1143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row-head-3">
            <a:extLst>
              <a:ext uri="{FF2B5EF4-FFF2-40B4-BE49-F238E27FC236}">
                <a16:creationId xmlns:a16="http://schemas.microsoft.com/office/drawing/2014/main" id="{95A3DDD8-005E-4A2C-A7F3-922A8758AAE7}"/>
              </a:ext>
            </a:extLst>
          </p:cNvPr>
          <p:cNvSpPr>
            <a:spLocks noGrp="1"/>
          </p:cNvSpPr>
          <p:nvPr/>
        </p:nvSpPr>
        <p:spPr>
          <a:xfrm>
            <a:off x="1428750" y="4743450"/>
            <a:ext cx="16192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859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5" name="row-copy-3">
            <a:extLst>
              <a:ext uri="{FF2B5EF4-FFF2-40B4-BE49-F238E27FC236}">
                <a16:creationId xmlns:a16="http://schemas.microsoft.com/office/drawing/2014/main" id="{07397D89-192E-465B-9F83-BE75F14D66AB}"/>
              </a:ext>
            </a:extLst>
          </p:cNvPr>
          <p:cNvSpPr>
            <a:spLocks noGrp="1"/>
          </p:cNvSpPr>
          <p:nvPr/>
        </p:nvSpPr>
        <p:spPr>
          <a:xfrm>
            <a:off x="3524250" y="4848225"/>
            <a:ext cx="590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table + research note + limitations</a:t>
            </a:r>
          </a:p>
        </p:txBody>
      </p:sp>
      <p:sp>
        <p:nvSpPr>
          <p:cNvPr id="16" name="row-line-3">
            <a:extLst>
              <a:ext uri="{FF2B5EF4-FFF2-40B4-BE49-F238E27FC236}">
                <a16:creationId xmlns:a16="http://schemas.microsoft.com/office/drawing/2014/main" id="{DC097C5B-AFA9-4320-AA47-81B9D0EACEAC}"/>
              </a:ext>
            </a:extLst>
          </p:cNvPr>
          <p:cNvSpPr>
            <a:spLocks noGrp="1"/>
          </p:cNvSpPr>
          <p:nvPr/>
        </p:nvSpPr>
        <p:spPr>
          <a:xfrm>
            <a:off x="3143250" y="4972050"/>
            <a:ext cx="190500" cy="0"/>
          </a:xfrm>
          <a:prstGeom prst="line">
            <a:avLst/>
          </a:prstGeom>
          <a:noFill/>
          <a:ln w="1143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note">
            <a:extLst>
              <a:ext uri="{FF2B5EF4-FFF2-40B4-BE49-F238E27FC236}">
                <a16:creationId xmlns:a16="http://schemas.microsoft.com/office/drawing/2014/main" id="{20AD771A-7506-4D76-8D32-7D9611C25266}"/>
              </a:ext>
            </a:extLst>
          </p:cNvPr>
          <p:cNvSpPr>
            <a:spLocks noGrp="1"/>
          </p:cNvSpPr>
          <p:nvPr/>
        </p:nvSpPr>
        <p:spPr>
          <a:xfrm>
            <a:off x="1809750" y="57340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B0432F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B0432F"/>
                </a:solidFill>
                <a:latin typeface="PingFang TC"/>
                <a:ea typeface="PingFang TC"/>
                <a:cs typeface="PingFang TC"/>
              </a:rPr>
              <a:t>這堂課不追求一次產出完整答案，而是學會把任務拆成可檢查步驟。</a:t>
            </a:r>
          </a:p>
        </p:txBody>
      </p:sp>
    </p:spTree>
    <p:extLst>
      <p:ext uri="{BB962C8B-B14F-4D97-AF65-F5344CB8AC3E}">
        <p14:creationId xmlns:p14="http://schemas.microsoft.com/office/powerpoint/2010/main" val="35181100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yebrow">
            <a:extLst>
              <a:ext uri="{FF2B5EF4-FFF2-40B4-BE49-F238E27FC236}">
                <a16:creationId xmlns:a16="http://schemas.microsoft.com/office/drawing/2014/main" id="{AEDA9EB2-499F-46E0-8D4F-9449B476AF46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AGENT MATURITY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2B7580-1B8C-4224-84F0-865688BF5DD2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Agent 不是單一型態，而是自動化程度的光譜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CAD548DA-7A12-49C1-BC69-DABCAE81162C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7/23</a:t>
            </a:r>
          </a:p>
        </p:txBody>
      </p:sp>
      <p:sp>
        <p:nvSpPr>
          <p:cNvPr id="4" name="ladder-line">
            <a:extLst>
              <a:ext uri="{FF2B5EF4-FFF2-40B4-BE49-F238E27FC236}">
                <a16:creationId xmlns:a16="http://schemas.microsoft.com/office/drawing/2014/main" id="{1452CCCA-7FB2-47EE-8B24-67AF68D5F3C3}"/>
              </a:ext>
            </a:extLst>
          </p:cNvPr>
          <p:cNvSpPr>
            <a:spLocks noGrp="1"/>
          </p:cNvSpPr>
          <p:nvPr/>
        </p:nvSpPr>
        <p:spPr>
          <a:xfrm>
            <a:off x="1314450" y="3314700"/>
            <a:ext cx="9448800" cy="0"/>
          </a:xfrm>
          <a:prstGeom prst="line">
            <a:avLst/>
          </a:prstGeom>
          <a:noFill/>
          <a:ln w="1905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level-0">
            <a:extLst>
              <a:ext uri="{FF2B5EF4-FFF2-40B4-BE49-F238E27FC236}">
                <a16:creationId xmlns:a16="http://schemas.microsoft.com/office/drawing/2014/main" id="{87F8866E-0EA4-42BB-A172-C3FD2659D107}"/>
              </a:ext>
            </a:extLst>
          </p:cNvPr>
          <p:cNvSpPr>
            <a:spLocks noGrp="1"/>
          </p:cNvSpPr>
          <p:nvPr/>
        </p:nvSpPr>
        <p:spPr>
          <a:xfrm>
            <a:off x="876300" y="2552700"/>
            <a:ext cx="16764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859">
            <a:solidFill>
              <a:srgbClr val="5C6670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Chatbot</a:t>
            </a:r>
          </a:p>
        </p:txBody>
      </p:sp>
      <p:sp>
        <p:nvSpPr>
          <p:cNvPr id="6" name="level-copy-0">
            <a:extLst>
              <a:ext uri="{FF2B5EF4-FFF2-40B4-BE49-F238E27FC236}">
                <a16:creationId xmlns:a16="http://schemas.microsoft.com/office/drawing/2014/main" id="{2B2C57D1-0CA8-4386-9B8B-01FB2EA32E13}"/>
              </a:ext>
            </a:extLst>
          </p:cNvPr>
          <p:cNvSpPr>
            <a:spLocks noGrp="1"/>
          </p:cNvSpPr>
          <p:nvPr/>
        </p:nvSpPr>
        <p:spPr>
          <a:xfrm>
            <a:off x="895350" y="3676650"/>
            <a:ext cx="1638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回答問題</a:t>
            </a:r>
          </a:p>
        </p:txBody>
      </p:sp>
      <p:sp>
        <p:nvSpPr>
          <p:cNvPr id="7" name="level-1">
            <a:extLst>
              <a:ext uri="{FF2B5EF4-FFF2-40B4-BE49-F238E27FC236}">
                <a16:creationId xmlns:a16="http://schemas.microsoft.com/office/drawing/2014/main" id="{016F461A-70FE-4798-880C-7A0FC125D08A}"/>
              </a:ext>
            </a:extLst>
          </p:cNvPr>
          <p:cNvSpPr>
            <a:spLocks noGrp="1"/>
          </p:cNvSpPr>
          <p:nvPr/>
        </p:nvSpPr>
        <p:spPr>
          <a:xfrm>
            <a:off x="3048000" y="2552700"/>
            <a:ext cx="16764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859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Assistant</a:t>
            </a:r>
          </a:p>
        </p:txBody>
      </p:sp>
      <p:sp>
        <p:nvSpPr>
          <p:cNvPr id="8" name="level-copy-1">
            <a:extLst>
              <a:ext uri="{FF2B5EF4-FFF2-40B4-BE49-F238E27FC236}">
                <a16:creationId xmlns:a16="http://schemas.microsoft.com/office/drawing/2014/main" id="{6CF0A4C6-6FCC-431B-8AA5-3CAD959D9B2B}"/>
              </a:ext>
            </a:extLst>
          </p:cNvPr>
          <p:cNvSpPr>
            <a:spLocks noGrp="1"/>
          </p:cNvSpPr>
          <p:nvPr/>
        </p:nvSpPr>
        <p:spPr>
          <a:xfrm>
            <a:off x="3067050" y="3676650"/>
            <a:ext cx="1638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摘要與整理</a:t>
            </a:r>
          </a:p>
        </p:txBody>
      </p:sp>
      <p:sp>
        <p:nvSpPr>
          <p:cNvPr id="9" name="level-2">
            <a:extLst>
              <a:ext uri="{FF2B5EF4-FFF2-40B4-BE49-F238E27FC236}">
                <a16:creationId xmlns:a16="http://schemas.microsoft.com/office/drawing/2014/main" id="{701A52EF-BF60-4006-A10B-AF2FCCC2198A}"/>
              </a:ext>
            </a:extLst>
          </p:cNvPr>
          <p:cNvSpPr>
            <a:spLocks noGrp="1"/>
          </p:cNvSpPr>
          <p:nvPr/>
        </p:nvSpPr>
        <p:spPr>
          <a:xfrm>
            <a:off x="5219700" y="2552700"/>
            <a:ext cx="16764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859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Tool user</a:t>
            </a:r>
          </a:p>
        </p:txBody>
      </p:sp>
      <p:sp>
        <p:nvSpPr>
          <p:cNvPr id="10" name="level-copy-2">
            <a:extLst>
              <a:ext uri="{FF2B5EF4-FFF2-40B4-BE49-F238E27FC236}">
                <a16:creationId xmlns:a16="http://schemas.microsoft.com/office/drawing/2014/main" id="{F9CF53C7-405D-4451-AB7D-4CC5A88EDB4E}"/>
              </a:ext>
            </a:extLst>
          </p:cNvPr>
          <p:cNvSpPr>
            <a:spLocks noGrp="1"/>
          </p:cNvSpPr>
          <p:nvPr/>
        </p:nvSpPr>
        <p:spPr>
          <a:xfrm>
            <a:off x="5238750" y="3676650"/>
            <a:ext cx="1638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查資料、讀檔、跑工具</a:t>
            </a:r>
          </a:p>
        </p:txBody>
      </p:sp>
      <p:sp>
        <p:nvSpPr>
          <p:cNvPr id="11" name="level-3">
            <a:extLst>
              <a:ext uri="{FF2B5EF4-FFF2-40B4-BE49-F238E27FC236}">
                <a16:creationId xmlns:a16="http://schemas.microsoft.com/office/drawing/2014/main" id="{92792FBA-65A0-475C-A22C-5B56864A8DEF}"/>
              </a:ext>
            </a:extLst>
          </p:cNvPr>
          <p:cNvSpPr>
            <a:spLocks noGrp="1"/>
          </p:cNvSpPr>
          <p:nvPr/>
        </p:nvSpPr>
        <p:spPr>
          <a:xfrm>
            <a:off x="7391400" y="2552700"/>
            <a:ext cx="16764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859">
            <a:solidFill>
              <a:srgbClr val="8A5D0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5D08"/>
                </a:solidFill>
                <a:latin typeface="Aptos"/>
                <a:ea typeface="Aptos"/>
                <a:cs typeface="Aptos"/>
              </a:rPr>
              <a:t>Workflow agent</a:t>
            </a:r>
          </a:p>
        </p:txBody>
      </p:sp>
      <p:sp>
        <p:nvSpPr>
          <p:cNvPr id="12" name="level-copy-3">
            <a:extLst>
              <a:ext uri="{FF2B5EF4-FFF2-40B4-BE49-F238E27FC236}">
                <a16:creationId xmlns:a16="http://schemas.microsoft.com/office/drawing/2014/main" id="{C1ACDB47-38D3-4847-8E07-34A2987980C9}"/>
              </a:ext>
            </a:extLst>
          </p:cNvPr>
          <p:cNvSpPr>
            <a:spLocks noGrp="1"/>
          </p:cNvSpPr>
          <p:nvPr/>
        </p:nvSpPr>
        <p:spPr>
          <a:xfrm>
            <a:off x="7410450" y="3676650"/>
            <a:ext cx="1638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多步驟執行與檢查</a:t>
            </a:r>
          </a:p>
        </p:txBody>
      </p:sp>
      <p:sp>
        <p:nvSpPr>
          <p:cNvPr id="13" name="level-4">
            <a:extLst>
              <a:ext uri="{FF2B5EF4-FFF2-40B4-BE49-F238E27FC236}">
                <a16:creationId xmlns:a16="http://schemas.microsoft.com/office/drawing/2014/main" id="{FCD0BBB1-F537-4C31-B0C9-F2BD5A54E736}"/>
              </a:ext>
            </a:extLst>
          </p:cNvPr>
          <p:cNvSpPr>
            <a:spLocks noGrp="1"/>
          </p:cNvSpPr>
          <p:nvPr/>
        </p:nvSpPr>
        <p:spPr>
          <a:xfrm>
            <a:off x="9563100" y="2552700"/>
            <a:ext cx="1676400" cy="552450"/>
          </a:xfrm>
          <a:prstGeom prst="roundRect">
            <a:avLst>
              <a:gd name="adj" fmla="val 13793"/>
            </a:avLst>
          </a:prstGeom>
          <a:solidFill>
            <a:srgbClr val="FDEDEA"/>
          </a:solidFill>
          <a:ln w="12859">
            <a:solidFill>
              <a:srgbClr val="B0432F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B043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0432F"/>
                </a:solidFill>
                <a:latin typeface="Aptos"/>
                <a:ea typeface="Aptos"/>
                <a:cs typeface="Aptos"/>
              </a:rPr>
              <a:t>Autonomous</a:t>
            </a:r>
          </a:p>
        </p:txBody>
      </p:sp>
      <p:sp>
        <p:nvSpPr>
          <p:cNvPr id="14" name="level-copy-4">
            <a:extLst>
              <a:ext uri="{FF2B5EF4-FFF2-40B4-BE49-F238E27FC236}">
                <a16:creationId xmlns:a16="http://schemas.microsoft.com/office/drawing/2014/main" id="{0BA69C2B-E7A1-41F5-A9DE-9FBD20883705}"/>
              </a:ext>
            </a:extLst>
          </p:cNvPr>
          <p:cNvSpPr>
            <a:spLocks noGrp="1"/>
          </p:cNvSpPr>
          <p:nvPr/>
        </p:nvSpPr>
        <p:spPr>
          <a:xfrm>
            <a:off x="9582150" y="3676650"/>
            <a:ext cx="16383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長時間自行操作</a:t>
            </a:r>
          </a:p>
        </p:txBody>
      </p:sp>
      <p:sp>
        <p:nvSpPr>
          <p:cNvPr id="15" name="takeaway">
            <a:extLst>
              <a:ext uri="{FF2B5EF4-FFF2-40B4-BE49-F238E27FC236}">
                <a16:creationId xmlns:a16="http://schemas.microsoft.com/office/drawing/2014/main" id="{1F1BCFC1-901A-4477-946F-08589EB93FD5}"/>
              </a:ext>
            </a:extLst>
          </p:cNvPr>
          <p:cNvSpPr>
            <a:spLocks noGrp="1"/>
          </p:cNvSpPr>
          <p:nvPr/>
        </p:nvSpPr>
        <p:spPr>
          <a:xfrm>
            <a:off x="1466850" y="525780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本課程的重點在 tool-using 與 workflow agent，不鼓勵無監督 autonomous use。</a:t>
            </a:r>
          </a:p>
        </p:txBody>
      </p:sp>
    </p:spTree>
    <p:extLst>
      <p:ext uri="{BB962C8B-B14F-4D97-AF65-F5344CB8AC3E}">
        <p14:creationId xmlns:p14="http://schemas.microsoft.com/office/powerpoint/2010/main" val="2710902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">
            <a:extLst>
              <a:ext uri="{FF2B5EF4-FFF2-40B4-BE49-F238E27FC236}">
                <a16:creationId xmlns:a16="http://schemas.microsoft.com/office/drawing/2014/main" id="{A191D1CC-953B-4B1A-BDC8-1C259425D255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CHATBOT VS AGENT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18FEB6D-D9AD-407E-BD16-9141E093FC72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Chatbot 產生回答；agent 交付可檢查 artifact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189818CA-981F-48F4-8C9E-28246D8A2A06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8/23</a:t>
            </a:r>
          </a:p>
        </p:txBody>
      </p:sp>
      <p:sp>
        <p:nvSpPr>
          <p:cNvPr id="4" name="left">
            <a:extLst>
              <a:ext uri="{FF2B5EF4-FFF2-40B4-BE49-F238E27FC236}">
                <a16:creationId xmlns:a16="http://schemas.microsoft.com/office/drawing/2014/main" id="{7B9F5830-B0C1-48EB-A8A9-5734F047B8CC}"/>
              </a:ext>
            </a:extLst>
          </p:cNvPr>
          <p:cNvSpPr>
            <a:spLocks noGrp="1"/>
          </p:cNvSpPr>
          <p:nvPr/>
        </p:nvSpPr>
        <p:spPr>
          <a:xfrm>
            <a:off x="876300" y="1943100"/>
            <a:ext cx="4572000" cy="29718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right">
            <a:extLst>
              <a:ext uri="{FF2B5EF4-FFF2-40B4-BE49-F238E27FC236}">
                <a16:creationId xmlns:a16="http://schemas.microsoft.com/office/drawing/2014/main" id="{7920A819-5CFF-4C82-A1F4-A516047481AC}"/>
              </a:ext>
            </a:extLst>
          </p:cNvPr>
          <p:cNvSpPr>
            <a:spLocks noGrp="1"/>
          </p:cNvSpPr>
          <p:nvPr/>
        </p:nvSpPr>
        <p:spPr>
          <a:xfrm>
            <a:off x="6743700" y="1943100"/>
            <a:ext cx="4572000" cy="29718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left-title">
            <a:extLst>
              <a:ext uri="{FF2B5EF4-FFF2-40B4-BE49-F238E27FC236}">
                <a16:creationId xmlns:a16="http://schemas.microsoft.com/office/drawing/2014/main" id="{7870AEF0-546A-4C6C-B0D7-4785D9DCC216}"/>
              </a:ext>
            </a:extLst>
          </p:cNvPr>
          <p:cNvSpPr>
            <a:spLocks noGrp="1"/>
          </p:cNvSpPr>
          <p:nvPr/>
        </p:nvSpPr>
        <p:spPr>
          <a:xfrm>
            <a:off x="1219200" y="22098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Chatbot answer</a:t>
            </a:r>
          </a:p>
        </p:txBody>
      </p:sp>
      <p:sp>
        <p:nvSpPr>
          <p:cNvPr id="7" name="right-title">
            <a:extLst>
              <a:ext uri="{FF2B5EF4-FFF2-40B4-BE49-F238E27FC236}">
                <a16:creationId xmlns:a16="http://schemas.microsoft.com/office/drawing/2014/main" id="{B96174F5-8CD2-4B83-B89C-2B69769E99BA}"/>
              </a:ext>
            </a:extLst>
          </p:cNvPr>
          <p:cNvSpPr>
            <a:spLocks noGrp="1"/>
          </p:cNvSpPr>
          <p:nvPr/>
        </p:nvSpPr>
        <p:spPr>
          <a:xfrm>
            <a:off x="7086600" y="220980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Agent workflow</a:t>
            </a:r>
          </a:p>
        </p:txBody>
      </p:sp>
      <p:sp>
        <p:nvSpPr>
          <p:cNvPr id="8" name="prompt">
            <a:extLst>
              <a:ext uri="{FF2B5EF4-FFF2-40B4-BE49-F238E27FC236}">
                <a16:creationId xmlns:a16="http://schemas.microsoft.com/office/drawing/2014/main" id="{9D7A0B14-F2AF-44C2-8959-4CB1C68A69B7}"/>
              </a:ext>
            </a:extLst>
          </p:cNvPr>
          <p:cNvSpPr>
            <a:spLocks noGrp="1"/>
          </p:cNvSpPr>
          <p:nvPr/>
        </p:nvSpPr>
        <p:spPr>
          <a:xfrm>
            <a:off x="1371600" y="3181350"/>
            <a:ext cx="12573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859">
            <a:solidFill>
              <a:srgbClr val="5C6670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9" name="response">
            <a:extLst>
              <a:ext uri="{FF2B5EF4-FFF2-40B4-BE49-F238E27FC236}">
                <a16:creationId xmlns:a16="http://schemas.microsoft.com/office/drawing/2014/main" id="{7C0DDDE7-8751-46A7-8EA9-F991FB709E54}"/>
              </a:ext>
            </a:extLst>
          </p:cNvPr>
          <p:cNvSpPr>
            <a:spLocks noGrp="1"/>
          </p:cNvSpPr>
          <p:nvPr/>
        </p:nvSpPr>
        <p:spPr>
          <a:xfrm>
            <a:off x="3657600" y="3181350"/>
            <a:ext cx="13525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859">
            <a:solidFill>
              <a:srgbClr val="5C6670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10" name="chat-line">
            <a:extLst>
              <a:ext uri="{FF2B5EF4-FFF2-40B4-BE49-F238E27FC236}">
                <a16:creationId xmlns:a16="http://schemas.microsoft.com/office/drawing/2014/main" id="{BC50A614-5760-4A00-AB53-F634F9CC7C24}"/>
              </a:ext>
            </a:extLst>
          </p:cNvPr>
          <p:cNvSpPr>
            <a:spLocks noGrp="1"/>
          </p:cNvSpPr>
          <p:nvPr/>
        </p:nvSpPr>
        <p:spPr>
          <a:xfrm>
            <a:off x="2628900" y="3438525"/>
            <a:ext cx="1028700" cy="0"/>
          </a:xfrm>
          <a:prstGeom prst="line">
            <a:avLst/>
          </a:prstGeom>
          <a:noFill/>
          <a:ln w="15240">
            <a:solidFill>
              <a:srgbClr val="5C667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left-copy">
            <a:extLst>
              <a:ext uri="{FF2B5EF4-FFF2-40B4-BE49-F238E27FC236}">
                <a16:creationId xmlns:a16="http://schemas.microsoft.com/office/drawing/2014/main" id="{B8FECADA-77EF-460B-BE8C-7EF9D0B68B39}"/>
              </a:ext>
            </a:extLst>
          </p:cNvPr>
          <p:cNvSpPr>
            <a:spLocks noGrp="1"/>
          </p:cNvSpPr>
          <p:nvPr/>
        </p:nvSpPr>
        <p:spPr>
          <a:xfrm>
            <a:off x="1333500" y="42100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看起來完整，但來源、欄位與限制常不清楚。</a:t>
            </a:r>
          </a:p>
        </p:txBody>
      </p:sp>
      <p:sp>
        <p:nvSpPr>
          <p:cNvPr id="12" name="a1">
            <a:extLst>
              <a:ext uri="{FF2B5EF4-FFF2-40B4-BE49-F238E27FC236}">
                <a16:creationId xmlns:a16="http://schemas.microsoft.com/office/drawing/2014/main" id="{07ECE232-11C7-4A00-9CB2-C30855801F73}"/>
              </a:ext>
            </a:extLst>
          </p:cNvPr>
          <p:cNvSpPr>
            <a:spLocks noGrp="1"/>
          </p:cNvSpPr>
          <p:nvPr/>
        </p:nvSpPr>
        <p:spPr>
          <a:xfrm>
            <a:off x="7905750" y="3257550"/>
            <a:ext cx="514350" cy="0"/>
          </a:xfrm>
          <a:prstGeom prst="line">
            <a:avLst/>
          </a:prstGeom>
          <a:noFill/>
          <a:ln w="14288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a2">
            <a:extLst>
              <a:ext uri="{FF2B5EF4-FFF2-40B4-BE49-F238E27FC236}">
                <a16:creationId xmlns:a16="http://schemas.microsoft.com/office/drawing/2014/main" id="{31A7113C-E1BD-4DB5-9A12-58ECAA831EE3}"/>
              </a:ext>
            </a:extLst>
          </p:cNvPr>
          <p:cNvSpPr>
            <a:spLocks noGrp="1"/>
          </p:cNvSpPr>
          <p:nvPr/>
        </p:nvSpPr>
        <p:spPr>
          <a:xfrm>
            <a:off x="9220200" y="3257550"/>
            <a:ext cx="514350" cy="0"/>
          </a:xfrm>
          <a:prstGeom prst="line">
            <a:avLst/>
          </a:prstGeom>
          <a:noFill/>
          <a:ln w="14288">
            <a:solidFill>
              <a:srgbClr val="0B6E6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a3">
            <a:extLst>
              <a:ext uri="{FF2B5EF4-FFF2-40B4-BE49-F238E27FC236}">
                <a16:creationId xmlns:a16="http://schemas.microsoft.com/office/drawing/2014/main" id="{F026FD5D-7BEE-415B-8699-ED20C669F30E}"/>
              </a:ext>
            </a:extLst>
          </p:cNvPr>
          <p:cNvSpPr>
            <a:spLocks noGrp="1"/>
          </p:cNvSpPr>
          <p:nvPr/>
        </p:nvSpPr>
        <p:spPr>
          <a:xfrm>
            <a:off x="10191750" y="3543300"/>
            <a:ext cx="0" cy="457200"/>
          </a:xfrm>
          <a:prstGeom prst="line">
            <a:avLst/>
          </a:prstGeom>
          <a:noFill/>
          <a:ln w="14288">
            <a:solidFill>
              <a:srgbClr val="8A5D0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a4">
            <a:extLst>
              <a:ext uri="{FF2B5EF4-FFF2-40B4-BE49-F238E27FC236}">
                <a16:creationId xmlns:a16="http://schemas.microsoft.com/office/drawing/2014/main" id="{A4D0DF03-9997-409A-8BDD-B3E6830F8A76}"/>
              </a:ext>
            </a:extLst>
          </p:cNvPr>
          <p:cNvSpPr>
            <a:spLocks noGrp="1"/>
          </p:cNvSpPr>
          <p:nvPr/>
        </p:nvSpPr>
        <p:spPr>
          <a:xfrm>
            <a:off x="9239250" y="4229100"/>
            <a:ext cx="495300" cy="0"/>
          </a:xfrm>
          <a:prstGeom prst="line">
            <a:avLst/>
          </a:prstGeom>
          <a:noFill/>
          <a:ln w="14288">
            <a:solidFill>
              <a:srgbClr val="8A5D0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agent-Goal">
            <a:extLst>
              <a:ext uri="{FF2B5EF4-FFF2-40B4-BE49-F238E27FC236}">
                <a16:creationId xmlns:a16="http://schemas.microsoft.com/office/drawing/2014/main" id="{0BDBED32-595F-4F70-A4E3-0B44B9E7F9A9}"/>
              </a:ext>
            </a:extLst>
          </p:cNvPr>
          <p:cNvSpPr>
            <a:spLocks noGrp="1"/>
          </p:cNvSpPr>
          <p:nvPr/>
        </p:nvSpPr>
        <p:spPr>
          <a:xfrm>
            <a:off x="7105650" y="3028950"/>
            <a:ext cx="10287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859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17" name="agent-Tools">
            <a:extLst>
              <a:ext uri="{FF2B5EF4-FFF2-40B4-BE49-F238E27FC236}">
                <a16:creationId xmlns:a16="http://schemas.microsoft.com/office/drawing/2014/main" id="{5E2A7169-99C3-47AA-AD5B-E1BAE005327A}"/>
              </a:ext>
            </a:extLst>
          </p:cNvPr>
          <p:cNvSpPr>
            <a:spLocks noGrp="1"/>
          </p:cNvSpPr>
          <p:nvPr/>
        </p:nvSpPr>
        <p:spPr>
          <a:xfrm>
            <a:off x="8420100" y="3028950"/>
            <a:ext cx="10287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859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18" name="agent-Evidence">
            <a:extLst>
              <a:ext uri="{FF2B5EF4-FFF2-40B4-BE49-F238E27FC236}">
                <a16:creationId xmlns:a16="http://schemas.microsoft.com/office/drawing/2014/main" id="{A6ADE59E-4B44-4553-8D2B-86D78FFFD03D}"/>
              </a:ext>
            </a:extLst>
          </p:cNvPr>
          <p:cNvSpPr>
            <a:spLocks noGrp="1"/>
          </p:cNvSpPr>
          <p:nvPr/>
        </p:nvSpPr>
        <p:spPr>
          <a:xfrm>
            <a:off x="9734550" y="3028950"/>
            <a:ext cx="10287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859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9" name="agent-Verify">
            <a:extLst>
              <a:ext uri="{FF2B5EF4-FFF2-40B4-BE49-F238E27FC236}">
                <a16:creationId xmlns:a16="http://schemas.microsoft.com/office/drawing/2014/main" id="{14279080-1C99-4A6B-8E7B-93C9E5A21F50}"/>
              </a:ext>
            </a:extLst>
          </p:cNvPr>
          <p:cNvSpPr>
            <a:spLocks noGrp="1"/>
          </p:cNvSpPr>
          <p:nvPr/>
        </p:nvSpPr>
        <p:spPr>
          <a:xfrm>
            <a:off x="9734550" y="4000500"/>
            <a:ext cx="1028700" cy="514350"/>
          </a:xfrm>
          <a:prstGeom prst="roundRect">
            <a:avLst>
              <a:gd name="adj" fmla="val 14815"/>
            </a:avLst>
          </a:prstGeom>
          <a:solidFill>
            <a:srgbClr val="FFF8E8"/>
          </a:solidFill>
          <a:ln w="12859">
            <a:solidFill>
              <a:srgbClr val="8A5D0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A5D08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20" name="agent-Artifact">
            <a:extLst>
              <a:ext uri="{FF2B5EF4-FFF2-40B4-BE49-F238E27FC236}">
                <a16:creationId xmlns:a16="http://schemas.microsoft.com/office/drawing/2014/main" id="{D0DE434F-1A5C-44FD-B13F-A5FE1E34A9F4}"/>
              </a:ext>
            </a:extLst>
          </p:cNvPr>
          <p:cNvSpPr>
            <a:spLocks noGrp="1"/>
          </p:cNvSpPr>
          <p:nvPr/>
        </p:nvSpPr>
        <p:spPr>
          <a:xfrm>
            <a:off x="8420100" y="4000500"/>
            <a:ext cx="10287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859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Artifact</a:t>
            </a:r>
          </a:p>
        </p:txBody>
      </p:sp>
      <p:sp>
        <p:nvSpPr>
          <p:cNvPr id="21" name="right-copy">
            <a:extLst>
              <a:ext uri="{FF2B5EF4-FFF2-40B4-BE49-F238E27FC236}">
                <a16:creationId xmlns:a16="http://schemas.microsoft.com/office/drawing/2014/main" id="{0FE28DBE-0735-4A0E-A15F-DF0956B41EF0}"/>
              </a:ext>
            </a:extLst>
          </p:cNvPr>
          <p:cNvSpPr>
            <a:spLocks noGrp="1"/>
          </p:cNvSpPr>
          <p:nvPr/>
        </p:nvSpPr>
        <p:spPr>
          <a:xfrm>
            <a:off x="7086600" y="506730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重點不是更像人，而是能留下可審核輸出。</a:t>
            </a:r>
          </a:p>
        </p:txBody>
      </p:sp>
    </p:spTree>
    <p:extLst>
      <p:ext uri="{BB962C8B-B14F-4D97-AF65-F5344CB8AC3E}">
        <p14:creationId xmlns:p14="http://schemas.microsoft.com/office/powerpoint/2010/main" val="23990964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yebrow">
            <a:extLst>
              <a:ext uri="{FF2B5EF4-FFF2-40B4-BE49-F238E27FC236}">
                <a16:creationId xmlns:a16="http://schemas.microsoft.com/office/drawing/2014/main" id="{42096A1C-4E28-4102-8031-FBA6FFA8A264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AGENT COMPONENTS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97B37B2-C6A4-486B-901C-39DDEB694312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可靠 agent 由元件與邊界組成，不只是一個模型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051E02D2-4676-495F-AFCE-153A3F5DDD1D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9/23</a:t>
            </a:r>
          </a:p>
        </p:txBody>
      </p:sp>
      <p:sp>
        <p:nvSpPr>
          <p:cNvPr id="4" name="workflow-boundary">
            <a:extLst>
              <a:ext uri="{FF2B5EF4-FFF2-40B4-BE49-F238E27FC236}">
                <a16:creationId xmlns:a16="http://schemas.microsoft.com/office/drawing/2014/main" id="{5F0F72B0-A3F0-4438-A8EE-24A3C09A8FB1}"/>
              </a:ext>
            </a:extLst>
          </p:cNvPr>
          <p:cNvSpPr>
            <a:spLocks noGrp="1"/>
          </p:cNvSpPr>
          <p:nvPr/>
        </p:nvSpPr>
        <p:spPr>
          <a:xfrm>
            <a:off x="1181100" y="1924050"/>
            <a:ext cx="9829800" cy="4057650"/>
          </a:xfrm>
          <a:prstGeom prst="roundRect">
            <a:avLst>
              <a:gd name="adj" fmla="val 1878"/>
            </a:avLst>
          </a:prstGeom>
          <a:noFill/>
          <a:ln w="11430">
            <a:solidFill>
              <a:srgbClr val="D4DADD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boundary-label">
            <a:extLst>
              <a:ext uri="{FF2B5EF4-FFF2-40B4-BE49-F238E27FC236}">
                <a16:creationId xmlns:a16="http://schemas.microsoft.com/office/drawing/2014/main" id="{A6535056-1B41-477D-A321-C79E93D86E02}"/>
              </a:ext>
            </a:extLst>
          </p:cNvPr>
          <p:cNvSpPr>
            <a:spLocks noGrp="1"/>
          </p:cNvSpPr>
          <p:nvPr/>
        </p:nvSpPr>
        <p:spPr>
          <a:xfrm>
            <a:off x="1466850" y="20193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8C98A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C98A1"/>
                </a:solidFill>
                <a:latin typeface="Aptos"/>
                <a:ea typeface="Aptos"/>
                <a:cs typeface="Aptos"/>
              </a:rPr>
              <a:t>workflow boundary</a:t>
            </a:r>
          </a:p>
        </p:txBody>
      </p:sp>
      <p:sp>
        <p:nvSpPr>
          <p:cNvPr id="6" name="goal-to-model">
            <a:extLst>
              <a:ext uri="{FF2B5EF4-FFF2-40B4-BE49-F238E27FC236}">
                <a16:creationId xmlns:a16="http://schemas.microsoft.com/office/drawing/2014/main" id="{FB39EA45-1BDD-47A8-8F0F-6466CF6B9AC7}"/>
              </a:ext>
            </a:extLst>
          </p:cNvPr>
          <p:cNvSpPr>
            <a:spLocks noGrp="1"/>
          </p:cNvSpPr>
          <p:nvPr/>
        </p:nvSpPr>
        <p:spPr>
          <a:xfrm>
            <a:off x="6096000" y="2667000"/>
            <a:ext cx="0" cy="361950"/>
          </a:xfrm>
          <a:prstGeom prst="line">
            <a:avLst/>
          </a:prstGeom>
          <a:noFill/>
          <a:ln w="14288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context-to-model">
            <a:extLst>
              <a:ext uri="{FF2B5EF4-FFF2-40B4-BE49-F238E27FC236}">
                <a16:creationId xmlns:a16="http://schemas.microsoft.com/office/drawing/2014/main" id="{EA902D6C-6D45-4519-B7A7-2C367DE5AFB9}"/>
              </a:ext>
            </a:extLst>
          </p:cNvPr>
          <p:cNvSpPr>
            <a:spLocks noGrp="1"/>
          </p:cNvSpPr>
          <p:nvPr/>
        </p:nvSpPr>
        <p:spPr>
          <a:xfrm>
            <a:off x="4000500" y="3390900"/>
            <a:ext cx="1104900" cy="0"/>
          </a:xfrm>
          <a:prstGeom prst="line">
            <a:avLst/>
          </a:prstGeom>
          <a:noFill/>
          <a:ln w="14288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model-to-tools">
            <a:extLst>
              <a:ext uri="{FF2B5EF4-FFF2-40B4-BE49-F238E27FC236}">
                <a16:creationId xmlns:a16="http://schemas.microsoft.com/office/drawing/2014/main" id="{7B787ABD-7B26-4C22-ACC8-B2D1D85C1BE4}"/>
              </a:ext>
            </a:extLst>
          </p:cNvPr>
          <p:cNvSpPr>
            <a:spLocks noGrp="1"/>
          </p:cNvSpPr>
          <p:nvPr/>
        </p:nvSpPr>
        <p:spPr>
          <a:xfrm>
            <a:off x="7086600" y="3390900"/>
            <a:ext cx="1104900" cy="0"/>
          </a:xfrm>
          <a:prstGeom prst="line">
            <a:avLst/>
          </a:prstGeom>
          <a:noFill/>
          <a:ln w="14288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model-to-state">
            <a:extLst>
              <a:ext uri="{FF2B5EF4-FFF2-40B4-BE49-F238E27FC236}">
                <a16:creationId xmlns:a16="http://schemas.microsoft.com/office/drawing/2014/main" id="{1D388E09-F52D-4018-8BDC-7F0D06A59295}"/>
              </a:ext>
            </a:extLst>
          </p:cNvPr>
          <p:cNvSpPr>
            <a:spLocks noGrp="1"/>
          </p:cNvSpPr>
          <p:nvPr/>
        </p:nvSpPr>
        <p:spPr>
          <a:xfrm>
            <a:off x="6096000" y="3752850"/>
            <a:ext cx="0" cy="457200"/>
          </a:xfrm>
          <a:prstGeom prst="line">
            <a:avLst/>
          </a:prstGeom>
          <a:noFill/>
          <a:ln w="14288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tate-to-verify">
            <a:extLst>
              <a:ext uri="{FF2B5EF4-FFF2-40B4-BE49-F238E27FC236}">
                <a16:creationId xmlns:a16="http://schemas.microsoft.com/office/drawing/2014/main" id="{D15D0C95-EBFE-4309-B70A-B58C5B3F22AE}"/>
              </a:ext>
            </a:extLst>
          </p:cNvPr>
          <p:cNvSpPr>
            <a:spLocks noGrp="1"/>
          </p:cNvSpPr>
          <p:nvPr/>
        </p:nvSpPr>
        <p:spPr>
          <a:xfrm>
            <a:off x="6096000" y="4800600"/>
            <a:ext cx="0" cy="361950"/>
          </a:xfrm>
          <a:prstGeom prst="line">
            <a:avLst/>
          </a:prstGeom>
          <a:noFill/>
          <a:ln w="14288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node-Goal">
            <a:extLst>
              <a:ext uri="{FF2B5EF4-FFF2-40B4-BE49-F238E27FC236}">
                <a16:creationId xmlns:a16="http://schemas.microsoft.com/office/drawing/2014/main" id="{956BDCFD-94B3-4787-84A5-FE0EA8B84F06}"/>
              </a:ext>
            </a:extLst>
          </p:cNvPr>
          <p:cNvSpPr>
            <a:spLocks noGrp="1"/>
          </p:cNvSpPr>
          <p:nvPr/>
        </p:nvSpPr>
        <p:spPr>
          <a:xfrm>
            <a:off x="5105400" y="2076450"/>
            <a:ext cx="1981200" cy="590550"/>
          </a:xfrm>
          <a:prstGeom prst="roundRect">
            <a:avLst>
              <a:gd name="adj" fmla="val 12903"/>
            </a:avLst>
          </a:prstGeom>
          <a:solidFill>
            <a:srgbClr val="EAF8F6"/>
          </a:solidFill>
          <a:ln w="12859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Goal</a:t>
            </a:r>
          </a:p>
          <a:p>
            <a:pPr algn="ctr">
              <a:lnSpc>
                <a:spcPct val="102000"/>
              </a:lnSpc>
              <a:buNone/>
              <a:defRPr sz="120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成功條件</a:t>
            </a:r>
          </a:p>
        </p:txBody>
      </p:sp>
      <p:sp>
        <p:nvSpPr>
          <p:cNvPr id="12" name="node-Context">
            <a:extLst>
              <a:ext uri="{FF2B5EF4-FFF2-40B4-BE49-F238E27FC236}">
                <a16:creationId xmlns:a16="http://schemas.microsoft.com/office/drawing/2014/main" id="{82FCD569-A326-4030-BF96-AB863DDD3271}"/>
              </a:ext>
            </a:extLst>
          </p:cNvPr>
          <p:cNvSpPr>
            <a:spLocks noGrp="1"/>
          </p:cNvSpPr>
          <p:nvPr/>
        </p:nvSpPr>
        <p:spPr>
          <a:xfrm>
            <a:off x="1790700" y="3086100"/>
            <a:ext cx="22098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859">
            <a:solidFill>
              <a:srgbClr val="5C6670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Context</a:t>
            </a:r>
          </a:p>
          <a:p>
            <a:pPr algn="ctr">
              <a:lnSpc>
                <a:spcPct val="102000"/>
              </a:lnSpc>
              <a:buNone/>
              <a:defRPr sz="12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任務、資料、限制</a:t>
            </a:r>
          </a:p>
        </p:txBody>
      </p:sp>
      <p:sp>
        <p:nvSpPr>
          <p:cNvPr id="13" name="model">
            <a:extLst>
              <a:ext uri="{FF2B5EF4-FFF2-40B4-BE49-F238E27FC236}">
                <a16:creationId xmlns:a16="http://schemas.microsoft.com/office/drawing/2014/main" id="{A22E1552-7F84-4E81-A674-2195EA086473}"/>
              </a:ext>
            </a:extLst>
          </p:cNvPr>
          <p:cNvSpPr>
            <a:spLocks noGrp="1"/>
          </p:cNvSpPr>
          <p:nvPr/>
        </p:nvSpPr>
        <p:spPr>
          <a:xfrm>
            <a:off x="5105400" y="3028950"/>
            <a:ext cx="1981200" cy="723900"/>
          </a:xfrm>
          <a:prstGeom prst="roundRect">
            <a:avLst>
              <a:gd name="adj" fmla="val 10526"/>
            </a:avLst>
          </a:prstGeom>
          <a:solidFill>
            <a:srgbClr val="EEF1FF"/>
          </a:solidFill>
          <a:ln w="12859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Model</a:t>
            </a:r>
          </a:p>
          <a:p>
            <a:pPr algn="ctr">
              <a:lnSpc>
                <a:spcPct val="102000"/>
              </a:lnSpc>
              <a:buNone/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推理與生成</a:t>
            </a:r>
          </a:p>
        </p:txBody>
      </p:sp>
      <p:sp>
        <p:nvSpPr>
          <p:cNvPr id="14" name="node-Tools">
            <a:extLst>
              <a:ext uri="{FF2B5EF4-FFF2-40B4-BE49-F238E27FC236}">
                <a16:creationId xmlns:a16="http://schemas.microsoft.com/office/drawing/2014/main" id="{A3F4F64E-2B93-4936-B521-1CC51C499306}"/>
              </a:ext>
            </a:extLst>
          </p:cNvPr>
          <p:cNvSpPr>
            <a:spLocks noGrp="1"/>
          </p:cNvSpPr>
          <p:nvPr/>
        </p:nvSpPr>
        <p:spPr>
          <a:xfrm>
            <a:off x="8191500" y="3086100"/>
            <a:ext cx="22098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859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Tools</a:t>
            </a:r>
          </a:p>
          <a:p>
            <a:pPr algn="ctr">
              <a:lnSpc>
                <a:spcPct val="102000"/>
              </a:lnSpc>
              <a:buNone/>
              <a:defRPr sz="120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搜尋、讀檔、查 DB</a:t>
            </a:r>
          </a:p>
        </p:txBody>
      </p:sp>
      <p:sp>
        <p:nvSpPr>
          <p:cNvPr id="15" name="node-State">
            <a:extLst>
              <a:ext uri="{FF2B5EF4-FFF2-40B4-BE49-F238E27FC236}">
                <a16:creationId xmlns:a16="http://schemas.microsoft.com/office/drawing/2014/main" id="{4F938596-6A74-4CF8-A062-95115C358265}"/>
              </a:ext>
            </a:extLst>
          </p:cNvPr>
          <p:cNvSpPr>
            <a:spLocks noGrp="1"/>
          </p:cNvSpPr>
          <p:nvPr/>
        </p:nvSpPr>
        <p:spPr>
          <a:xfrm>
            <a:off x="5105400" y="4210050"/>
            <a:ext cx="19812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859">
            <a:solidFill>
              <a:srgbClr val="5C6670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State</a:t>
            </a:r>
          </a:p>
          <a:p>
            <a:pPr algn="ctr">
              <a:lnSpc>
                <a:spcPct val="102000"/>
              </a:lnSpc>
              <a:buNone/>
              <a:defRPr sz="12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進度與中間結果</a:t>
            </a:r>
          </a:p>
        </p:txBody>
      </p:sp>
      <p:sp>
        <p:nvSpPr>
          <p:cNvPr id="16" name="node-Verification">
            <a:extLst>
              <a:ext uri="{FF2B5EF4-FFF2-40B4-BE49-F238E27FC236}">
                <a16:creationId xmlns:a16="http://schemas.microsoft.com/office/drawing/2014/main" id="{CF28AA2D-33B2-44C1-A8F1-154116BFC84E}"/>
              </a:ext>
            </a:extLst>
          </p:cNvPr>
          <p:cNvSpPr>
            <a:spLocks noGrp="1"/>
          </p:cNvSpPr>
          <p:nvPr/>
        </p:nvSpPr>
        <p:spPr>
          <a:xfrm>
            <a:off x="5105400" y="5162550"/>
            <a:ext cx="1981200" cy="590550"/>
          </a:xfrm>
          <a:prstGeom prst="roundRect">
            <a:avLst>
              <a:gd name="adj" fmla="val 12903"/>
            </a:avLst>
          </a:prstGeom>
          <a:solidFill>
            <a:srgbClr val="FFF8E8"/>
          </a:solidFill>
          <a:ln w="12859">
            <a:solidFill>
              <a:srgbClr val="8A5D0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A5D08"/>
                </a:solidFill>
                <a:latin typeface="Aptos"/>
                <a:ea typeface="Aptos"/>
                <a:cs typeface="Aptos"/>
              </a:rPr>
              <a:t>Verification</a:t>
            </a:r>
          </a:p>
          <a:p>
            <a:pPr algn="ctr">
              <a:lnSpc>
                <a:spcPct val="102000"/>
              </a:lnSpc>
              <a:buNone/>
              <a:defRPr sz="1200" b="1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A5D08"/>
                </a:solidFill>
                <a:latin typeface="Aptos"/>
                <a:ea typeface="Aptos"/>
                <a:cs typeface="Aptos"/>
              </a:rPr>
              <a:t>檢查與停止條件</a:t>
            </a:r>
          </a:p>
        </p:txBody>
      </p:sp>
    </p:spTree>
    <p:extLst>
      <p:ext uri="{BB962C8B-B14F-4D97-AF65-F5344CB8AC3E}">
        <p14:creationId xmlns:p14="http://schemas.microsoft.com/office/powerpoint/2010/main" val="25820627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yebrow">
            <a:extLst>
              <a:ext uri="{FF2B5EF4-FFF2-40B4-BE49-F238E27FC236}">
                <a16:creationId xmlns:a16="http://schemas.microsoft.com/office/drawing/2014/main" id="{93BD6D53-2C9D-4E78-B299-0ED30F7C34DB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AGENT LOOP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FADF586-B8F3-45CE-8565-D8F50B9ECDB9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Agent 的核心是一個會觀察、修正與停止的循環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58E3BF2C-4A17-4ED1-AA2D-188E34AA6040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10/23</a:t>
            </a:r>
          </a:p>
        </p:txBody>
      </p:sp>
      <p:sp>
        <p:nvSpPr>
          <p:cNvPr id="4" name="goal-plan-a">
            <a:extLst>
              <a:ext uri="{FF2B5EF4-FFF2-40B4-BE49-F238E27FC236}">
                <a16:creationId xmlns:a16="http://schemas.microsoft.com/office/drawing/2014/main" id="{1BF97EF5-7D7C-4A19-AC5A-077AC4B45D7C}"/>
              </a:ext>
            </a:extLst>
          </p:cNvPr>
          <p:cNvSpPr>
            <a:spLocks noGrp="1"/>
          </p:cNvSpPr>
          <p:nvPr/>
        </p:nvSpPr>
        <p:spPr>
          <a:xfrm>
            <a:off x="2628900" y="3067050"/>
            <a:ext cx="419100" cy="0"/>
          </a:xfrm>
          <a:prstGeom prst="line">
            <a:avLst/>
          </a:prstGeom>
          <a:noFill/>
          <a:ln w="14288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goal-plan-b">
            <a:extLst>
              <a:ext uri="{FF2B5EF4-FFF2-40B4-BE49-F238E27FC236}">
                <a16:creationId xmlns:a16="http://schemas.microsoft.com/office/drawing/2014/main" id="{5A879544-1C41-476D-BA12-E86E0934119E}"/>
              </a:ext>
            </a:extLst>
          </p:cNvPr>
          <p:cNvSpPr>
            <a:spLocks noGrp="1"/>
          </p:cNvSpPr>
          <p:nvPr/>
        </p:nvSpPr>
        <p:spPr>
          <a:xfrm>
            <a:off x="3048000" y="2190750"/>
            <a:ext cx="0" cy="876300"/>
          </a:xfrm>
          <a:prstGeom prst="line">
            <a:avLst/>
          </a:prstGeom>
          <a:noFill/>
          <a:ln w="14288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goal-plan-c">
            <a:extLst>
              <a:ext uri="{FF2B5EF4-FFF2-40B4-BE49-F238E27FC236}">
                <a16:creationId xmlns:a16="http://schemas.microsoft.com/office/drawing/2014/main" id="{0E22579F-54CA-42C1-B278-24A2F3698CCC}"/>
              </a:ext>
            </a:extLst>
          </p:cNvPr>
          <p:cNvSpPr>
            <a:spLocks noGrp="1"/>
          </p:cNvSpPr>
          <p:nvPr/>
        </p:nvSpPr>
        <p:spPr>
          <a:xfrm>
            <a:off x="3048000" y="2190750"/>
            <a:ext cx="228600" cy="0"/>
          </a:xfrm>
          <a:prstGeom prst="line">
            <a:avLst/>
          </a:prstGeom>
          <a:noFill/>
          <a:ln w="14288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plan-act">
            <a:extLst>
              <a:ext uri="{FF2B5EF4-FFF2-40B4-BE49-F238E27FC236}">
                <a16:creationId xmlns:a16="http://schemas.microsoft.com/office/drawing/2014/main" id="{F30875E4-0179-417A-A5AC-6ACAEBB8E8AC}"/>
              </a:ext>
            </a:extLst>
          </p:cNvPr>
          <p:cNvSpPr>
            <a:spLocks noGrp="1"/>
          </p:cNvSpPr>
          <p:nvPr/>
        </p:nvSpPr>
        <p:spPr>
          <a:xfrm>
            <a:off x="4381500" y="2190750"/>
            <a:ext cx="1200150" cy="0"/>
          </a:xfrm>
          <a:prstGeom prst="line">
            <a:avLst/>
          </a:prstGeom>
          <a:noFill/>
          <a:ln w="14288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act-observe-a">
            <a:extLst>
              <a:ext uri="{FF2B5EF4-FFF2-40B4-BE49-F238E27FC236}">
                <a16:creationId xmlns:a16="http://schemas.microsoft.com/office/drawing/2014/main" id="{9D79E121-C505-42CD-9A24-E6B0B1083608}"/>
              </a:ext>
            </a:extLst>
          </p:cNvPr>
          <p:cNvSpPr>
            <a:spLocks noGrp="1"/>
          </p:cNvSpPr>
          <p:nvPr/>
        </p:nvSpPr>
        <p:spPr>
          <a:xfrm>
            <a:off x="6896100" y="2190750"/>
            <a:ext cx="533400" cy="0"/>
          </a:xfrm>
          <a:prstGeom prst="line">
            <a:avLst/>
          </a:prstGeom>
          <a:noFill/>
          <a:ln w="14288">
            <a:solidFill>
              <a:srgbClr val="0B6E6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act-observe-b">
            <a:extLst>
              <a:ext uri="{FF2B5EF4-FFF2-40B4-BE49-F238E27FC236}">
                <a16:creationId xmlns:a16="http://schemas.microsoft.com/office/drawing/2014/main" id="{138F4062-87AA-49F4-9E0F-C4890424EADA}"/>
              </a:ext>
            </a:extLst>
          </p:cNvPr>
          <p:cNvSpPr>
            <a:spLocks noGrp="1"/>
          </p:cNvSpPr>
          <p:nvPr/>
        </p:nvSpPr>
        <p:spPr>
          <a:xfrm>
            <a:off x="7429500" y="2190750"/>
            <a:ext cx="0" cy="876300"/>
          </a:xfrm>
          <a:prstGeom prst="line">
            <a:avLst/>
          </a:prstGeom>
          <a:noFill/>
          <a:ln w="14288">
            <a:solidFill>
              <a:srgbClr val="0B6E6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act-observe-c">
            <a:extLst>
              <a:ext uri="{FF2B5EF4-FFF2-40B4-BE49-F238E27FC236}">
                <a16:creationId xmlns:a16="http://schemas.microsoft.com/office/drawing/2014/main" id="{524ABF5A-04E6-4413-9101-B537D07BBCCD}"/>
              </a:ext>
            </a:extLst>
          </p:cNvPr>
          <p:cNvSpPr>
            <a:spLocks noGrp="1"/>
          </p:cNvSpPr>
          <p:nvPr/>
        </p:nvSpPr>
        <p:spPr>
          <a:xfrm>
            <a:off x="7429500" y="3067050"/>
            <a:ext cx="419100" cy="0"/>
          </a:xfrm>
          <a:prstGeom prst="line">
            <a:avLst/>
          </a:prstGeom>
          <a:noFill/>
          <a:ln w="14288">
            <a:solidFill>
              <a:srgbClr val="0B6E6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observe-verify-a">
            <a:extLst>
              <a:ext uri="{FF2B5EF4-FFF2-40B4-BE49-F238E27FC236}">
                <a16:creationId xmlns:a16="http://schemas.microsoft.com/office/drawing/2014/main" id="{8575DD30-C9E6-4A3B-9EB8-07DAB07CBEBD}"/>
              </a:ext>
            </a:extLst>
          </p:cNvPr>
          <p:cNvSpPr>
            <a:spLocks noGrp="1"/>
          </p:cNvSpPr>
          <p:nvPr/>
        </p:nvSpPr>
        <p:spPr>
          <a:xfrm>
            <a:off x="8458200" y="3333750"/>
            <a:ext cx="0" cy="666750"/>
          </a:xfrm>
          <a:prstGeom prst="line">
            <a:avLst/>
          </a:prstGeom>
          <a:noFill/>
          <a:ln w="14288">
            <a:solidFill>
              <a:srgbClr val="8A5D0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observe-verify-b">
            <a:extLst>
              <a:ext uri="{FF2B5EF4-FFF2-40B4-BE49-F238E27FC236}">
                <a16:creationId xmlns:a16="http://schemas.microsoft.com/office/drawing/2014/main" id="{04234507-349A-4425-B1A0-4A44E3DB5A36}"/>
              </a:ext>
            </a:extLst>
          </p:cNvPr>
          <p:cNvSpPr>
            <a:spLocks noGrp="1"/>
          </p:cNvSpPr>
          <p:nvPr/>
        </p:nvSpPr>
        <p:spPr>
          <a:xfrm>
            <a:off x="6219825" y="4000500"/>
            <a:ext cx="2238375" cy="0"/>
          </a:xfrm>
          <a:prstGeom prst="line">
            <a:avLst/>
          </a:prstGeom>
          <a:noFill/>
          <a:ln w="14288">
            <a:solidFill>
              <a:srgbClr val="8A5D0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observe-verify-c">
            <a:extLst>
              <a:ext uri="{FF2B5EF4-FFF2-40B4-BE49-F238E27FC236}">
                <a16:creationId xmlns:a16="http://schemas.microsoft.com/office/drawing/2014/main" id="{8D97ACE8-FEE1-4AE8-BD1D-0E4310F0B639}"/>
              </a:ext>
            </a:extLst>
          </p:cNvPr>
          <p:cNvSpPr>
            <a:spLocks noGrp="1"/>
          </p:cNvSpPr>
          <p:nvPr/>
        </p:nvSpPr>
        <p:spPr>
          <a:xfrm>
            <a:off x="6219825" y="4000500"/>
            <a:ext cx="0" cy="438150"/>
          </a:xfrm>
          <a:prstGeom prst="line">
            <a:avLst/>
          </a:prstGeom>
          <a:noFill/>
          <a:ln w="14288">
            <a:solidFill>
              <a:srgbClr val="8A5D0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verify-state">
            <a:extLst>
              <a:ext uri="{FF2B5EF4-FFF2-40B4-BE49-F238E27FC236}">
                <a16:creationId xmlns:a16="http://schemas.microsoft.com/office/drawing/2014/main" id="{349B2DD8-2511-4169-B93E-A782DA5938FA}"/>
              </a:ext>
            </a:extLst>
          </p:cNvPr>
          <p:cNvSpPr>
            <a:spLocks noGrp="1"/>
          </p:cNvSpPr>
          <p:nvPr/>
        </p:nvSpPr>
        <p:spPr>
          <a:xfrm>
            <a:off x="4419600" y="4743450"/>
            <a:ext cx="1143000" cy="0"/>
          </a:xfrm>
          <a:prstGeom prst="line">
            <a:avLst/>
          </a:prstGeom>
          <a:noFill/>
          <a:ln w="14288">
            <a:solidFill>
              <a:srgbClr val="8A5D0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tate-goal-a">
            <a:extLst>
              <a:ext uri="{FF2B5EF4-FFF2-40B4-BE49-F238E27FC236}">
                <a16:creationId xmlns:a16="http://schemas.microsoft.com/office/drawing/2014/main" id="{C80BC86F-F718-4D1F-ABD1-42CB3CB6C6D4}"/>
              </a:ext>
            </a:extLst>
          </p:cNvPr>
          <p:cNvSpPr>
            <a:spLocks noGrp="1"/>
          </p:cNvSpPr>
          <p:nvPr/>
        </p:nvSpPr>
        <p:spPr>
          <a:xfrm>
            <a:off x="1143000" y="4743450"/>
            <a:ext cx="2095500" cy="0"/>
          </a:xfrm>
          <a:prstGeom prst="line">
            <a:avLst/>
          </a:prstGeom>
          <a:noFill/>
          <a:ln w="14288">
            <a:solidFill>
              <a:srgbClr val="5C6670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tate-goal-b">
            <a:extLst>
              <a:ext uri="{FF2B5EF4-FFF2-40B4-BE49-F238E27FC236}">
                <a16:creationId xmlns:a16="http://schemas.microsoft.com/office/drawing/2014/main" id="{8F7C1E79-F4E8-481E-B391-89076C1123CD}"/>
              </a:ext>
            </a:extLst>
          </p:cNvPr>
          <p:cNvSpPr>
            <a:spLocks noGrp="1"/>
          </p:cNvSpPr>
          <p:nvPr/>
        </p:nvSpPr>
        <p:spPr>
          <a:xfrm>
            <a:off x="1143000" y="3067050"/>
            <a:ext cx="0" cy="1676400"/>
          </a:xfrm>
          <a:prstGeom prst="line">
            <a:avLst/>
          </a:prstGeom>
          <a:noFill/>
          <a:ln w="14288">
            <a:solidFill>
              <a:srgbClr val="5C6670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tate-goal-c">
            <a:extLst>
              <a:ext uri="{FF2B5EF4-FFF2-40B4-BE49-F238E27FC236}">
                <a16:creationId xmlns:a16="http://schemas.microsoft.com/office/drawing/2014/main" id="{4DFC1C11-19A5-4826-9439-06A88464D080}"/>
              </a:ext>
            </a:extLst>
          </p:cNvPr>
          <p:cNvSpPr>
            <a:spLocks noGrp="1"/>
          </p:cNvSpPr>
          <p:nvPr/>
        </p:nvSpPr>
        <p:spPr>
          <a:xfrm>
            <a:off x="1143000" y="3067050"/>
            <a:ext cx="381000" cy="0"/>
          </a:xfrm>
          <a:prstGeom prst="line">
            <a:avLst/>
          </a:prstGeom>
          <a:noFill/>
          <a:ln w="14288">
            <a:solidFill>
              <a:srgbClr val="5C6670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goal">
            <a:extLst>
              <a:ext uri="{FF2B5EF4-FFF2-40B4-BE49-F238E27FC236}">
                <a16:creationId xmlns:a16="http://schemas.microsoft.com/office/drawing/2014/main" id="{D44C3BED-F8BE-4036-9153-7F304F083E7F}"/>
              </a:ext>
            </a:extLst>
          </p:cNvPr>
          <p:cNvSpPr>
            <a:spLocks noGrp="1"/>
          </p:cNvSpPr>
          <p:nvPr/>
        </p:nvSpPr>
        <p:spPr>
          <a:xfrm>
            <a:off x="1524000" y="2800350"/>
            <a:ext cx="1104900" cy="533400"/>
          </a:xfrm>
          <a:prstGeom prst="roundRect">
            <a:avLst>
              <a:gd name="adj" fmla="val 14286"/>
            </a:avLst>
          </a:prstGeom>
          <a:solidFill>
            <a:srgbClr val="EAF8F6"/>
          </a:solidFill>
          <a:ln w="12859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425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19" name="plan">
            <a:extLst>
              <a:ext uri="{FF2B5EF4-FFF2-40B4-BE49-F238E27FC236}">
                <a16:creationId xmlns:a16="http://schemas.microsoft.com/office/drawing/2014/main" id="{C1CB0401-8586-404E-8415-59610E552145}"/>
              </a:ext>
            </a:extLst>
          </p:cNvPr>
          <p:cNvSpPr>
            <a:spLocks noGrp="1"/>
          </p:cNvSpPr>
          <p:nvPr/>
        </p:nvSpPr>
        <p:spPr>
          <a:xfrm>
            <a:off x="3276600" y="1924050"/>
            <a:ext cx="11049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859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4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20" name="act">
            <a:extLst>
              <a:ext uri="{FF2B5EF4-FFF2-40B4-BE49-F238E27FC236}">
                <a16:creationId xmlns:a16="http://schemas.microsoft.com/office/drawing/2014/main" id="{BE2228C3-402B-49D9-A84E-701A2907917B}"/>
              </a:ext>
            </a:extLst>
          </p:cNvPr>
          <p:cNvSpPr>
            <a:spLocks noGrp="1"/>
          </p:cNvSpPr>
          <p:nvPr/>
        </p:nvSpPr>
        <p:spPr>
          <a:xfrm>
            <a:off x="5581650" y="1885950"/>
            <a:ext cx="13144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859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Act</a:t>
            </a:r>
          </a:p>
          <a:p>
            <a:pPr algn="ctr">
              <a:lnSpc>
                <a:spcPct val="102000"/>
              </a:lnSpc>
              <a:buNone/>
              <a:defRPr sz="135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with tools</a:t>
            </a:r>
          </a:p>
        </p:txBody>
      </p:sp>
      <p:sp>
        <p:nvSpPr>
          <p:cNvPr id="21" name="observe">
            <a:extLst>
              <a:ext uri="{FF2B5EF4-FFF2-40B4-BE49-F238E27FC236}">
                <a16:creationId xmlns:a16="http://schemas.microsoft.com/office/drawing/2014/main" id="{E6EF6B90-9744-4B8C-908D-504479DD7542}"/>
              </a:ext>
            </a:extLst>
          </p:cNvPr>
          <p:cNvSpPr>
            <a:spLocks noGrp="1"/>
          </p:cNvSpPr>
          <p:nvPr/>
        </p:nvSpPr>
        <p:spPr>
          <a:xfrm>
            <a:off x="7848600" y="2800350"/>
            <a:ext cx="12192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859">
            <a:solidFill>
              <a:srgbClr val="5C6670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22" name="verify">
            <a:extLst>
              <a:ext uri="{FF2B5EF4-FFF2-40B4-BE49-F238E27FC236}">
                <a16:creationId xmlns:a16="http://schemas.microsoft.com/office/drawing/2014/main" id="{CD55A96A-769F-4857-B915-919B9FE8A2E8}"/>
              </a:ext>
            </a:extLst>
          </p:cNvPr>
          <p:cNvSpPr>
            <a:spLocks noGrp="1"/>
          </p:cNvSpPr>
          <p:nvPr/>
        </p:nvSpPr>
        <p:spPr>
          <a:xfrm>
            <a:off x="5562600" y="4438650"/>
            <a:ext cx="1314450" cy="609600"/>
          </a:xfrm>
          <a:prstGeom prst="roundRect">
            <a:avLst>
              <a:gd name="adj" fmla="val 12500"/>
            </a:avLst>
          </a:prstGeom>
          <a:solidFill>
            <a:srgbClr val="FFF8E8"/>
          </a:solidFill>
          <a:ln w="12859">
            <a:solidFill>
              <a:srgbClr val="8A5D0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500" b="1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A5D08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23" name="state">
            <a:extLst>
              <a:ext uri="{FF2B5EF4-FFF2-40B4-BE49-F238E27FC236}">
                <a16:creationId xmlns:a16="http://schemas.microsoft.com/office/drawing/2014/main" id="{EF67CEC7-160F-467A-A295-5A5084C435BF}"/>
              </a:ext>
            </a:extLst>
          </p:cNvPr>
          <p:cNvSpPr>
            <a:spLocks noGrp="1"/>
          </p:cNvSpPr>
          <p:nvPr/>
        </p:nvSpPr>
        <p:spPr>
          <a:xfrm>
            <a:off x="3238500" y="4438650"/>
            <a:ext cx="118110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859">
            <a:solidFill>
              <a:srgbClr val="5C6670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Update</a:t>
            </a:r>
          </a:p>
          <a:p>
            <a:pPr algn="ctr">
              <a:lnSpc>
                <a:spcPct val="102000"/>
              </a:lnSpc>
              <a:buNone/>
              <a:defRPr sz="135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state</a:t>
            </a:r>
          </a:p>
        </p:txBody>
      </p:sp>
      <p:sp>
        <p:nvSpPr>
          <p:cNvPr id="24" name="human">
            <a:extLst>
              <a:ext uri="{FF2B5EF4-FFF2-40B4-BE49-F238E27FC236}">
                <a16:creationId xmlns:a16="http://schemas.microsoft.com/office/drawing/2014/main" id="{B36423D8-285F-4581-9A61-87920A4CEC33}"/>
              </a:ext>
            </a:extLst>
          </p:cNvPr>
          <p:cNvSpPr>
            <a:spLocks noGrp="1"/>
          </p:cNvSpPr>
          <p:nvPr/>
        </p:nvSpPr>
        <p:spPr>
          <a:xfrm>
            <a:off x="8686800" y="4438650"/>
            <a:ext cx="1600200" cy="609600"/>
          </a:xfrm>
          <a:prstGeom prst="roundRect">
            <a:avLst>
              <a:gd name="adj" fmla="val 12500"/>
            </a:avLst>
          </a:prstGeom>
          <a:solidFill>
            <a:srgbClr val="FFF8E8"/>
          </a:solidFill>
          <a:ln w="12859">
            <a:solidFill>
              <a:srgbClr val="8A5D0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275" b="1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8A5D08"/>
                </a:solidFill>
                <a:latin typeface="Aptos"/>
                <a:ea typeface="Aptos"/>
                <a:cs typeface="Aptos"/>
              </a:rPr>
              <a:t>Human review</a:t>
            </a:r>
          </a:p>
          <a:p>
            <a:pPr algn="ctr">
              <a:lnSpc>
                <a:spcPct val="102000"/>
              </a:lnSpc>
              <a:buNone/>
              <a:defRPr sz="1275" b="1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8A5D08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25" name="human-link">
            <a:extLst>
              <a:ext uri="{FF2B5EF4-FFF2-40B4-BE49-F238E27FC236}">
                <a16:creationId xmlns:a16="http://schemas.microsoft.com/office/drawing/2014/main" id="{99CC272E-DA34-48BB-A303-CB000AD5A245}"/>
              </a:ext>
            </a:extLst>
          </p:cNvPr>
          <p:cNvSpPr>
            <a:spLocks noGrp="1"/>
          </p:cNvSpPr>
          <p:nvPr/>
        </p:nvSpPr>
        <p:spPr>
          <a:xfrm>
            <a:off x="6877050" y="4743450"/>
            <a:ext cx="1809750" cy="0"/>
          </a:xfrm>
          <a:prstGeom prst="line">
            <a:avLst/>
          </a:prstGeom>
          <a:noFill/>
          <a:ln w="14288">
            <a:solidFill>
              <a:srgbClr val="8A5D08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loop-note">
            <a:extLst>
              <a:ext uri="{FF2B5EF4-FFF2-40B4-BE49-F238E27FC236}">
                <a16:creationId xmlns:a16="http://schemas.microsoft.com/office/drawing/2014/main" id="{5D1C3BED-454F-430A-8A2B-C2CB761714B2}"/>
              </a:ext>
            </a:extLst>
          </p:cNvPr>
          <p:cNvSpPr>
            <a:spLocks noGrp="1"/>
          </p:cNvSpPr>
          <p:nvPr/>
        </p:nvSpPr>
        <p:spPr>
          <a:xfrm>
            <a:off x="1524000" y="565785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不是一次輸入、一次輸出；可靠性來自檢查點與停止條件。</a:t>
            </a:r>
          </a:p>
        </p:txBody>
      </p:sp>
    </p:spTree>
    <p:extLst>
      <p:ext uri="{BB962C8B-B14F-4D97-AF65-F5344CB8AC3E}">
        <p14:creationId xmlns:p14="http://schemas.microsoft.com/office/powerpoint/2010/main" val="2544325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2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yebrow">
            <a:extLst>
              <a:ext uri="{FF2B5EF4-FFF2-40B4-BE49-F238E27FC236}">
                <a16:creationId xmlns:a16="http://schemas.microsoft.com/office/drawing/2014/main" id="{60226A23-2769-4FBE-A95D-B3BC4DA13F3E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A5D08"/>
                </a:solidFill>
                <a:latin typeface="Aptos"/>
                <a:ea typeface="Aptos"/>
                <a:cs typeface="Aptos"/>
              </a:rPr>
              <a:t>WORKFLOW ARTIFACTS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40A4A28-E6F9-40D0-B5A9-912F37FDD6A0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每一步都應留下之後能檢查的東西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39EB234C-2AD3-430F-B110-847374F005A2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11/23</a:t>
            </a:r>
          </a:p>
        </p:txBody>
      </p:sp>
      <p:sp>
        <p:nvSpPr>
          <p:cNvPr id="4" name="table-bg">
            <a:extLst>
              <a:ext uri="{FF2B5EF4-FFF2-40B4-BE49-F238E27FC236}">
                <a16:creationId xmlns:a16="http://schemas.microsoft.com/office/drawing/2014/main" id="{1D61AD4A-A691-48F6-82B2-735207BC0F79}"/>
              </a:ext>
            </a:extLst>
          </p:cNvPr>
          <p:cNvSpPr>
            <a:spLocks noGrp="1"/>
          </p:cNvSpPr>
          <p:nvPr/>
        </p:nvSpPr>
        <p:spPr>
          <a:xfrm>
            <a:off x="914400" y="1752600"/>
            <a:ext cx="10363200" cy="367665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h-0">
            <a:extLst>
              <a:ext uri="{FF2B5EF4-FFF2-40B4-BE49-F238E27FC236}">
                <a16:creationId xmlns:a16="http://schemas.microsoft.com/office/drawing/2014/main" id="{440D9F8D-23E8-4C06-84D4-ABAA363C573F}"/>
              </a:ext>
            </a:extLst>
          </p:cNvPr>
          <p:cNvSpPr>
            <a:spLocks noGrp="1"/>
          </p:cNvSpPr>
          <p:nvPr/>
        </p:nvSpPr>
        <p:spPr>
          <a:xfrm>
            <a:off x="1238250" y="20574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Step</a:t>
            </a:r>
          </a:p>
        </p:txBody>
      </p:sp>
      <p:sp>
        <p:nvSpPr>
          <p:cNvPr id="6" name="h-1">
            <a:extLst>
              <a:ext uri="{FF2B5EF4-FFF2-40B4-BE49-F238E27FC236}">
                <a16:creationId xmlns:a16="http://schemas.microsoft.com/office/drawing/2014/main" id="{D5AE20F2-EA67-43CE-9449-627183C72AF8}"/>
              </a:ext>
            </a:extLst>
          </p:cNvPr>
          <p:cNvSpPr>
            <a:spLocks noGrp="1"/>
          </p:cNvSpPr>
          <p:nvPr/>
        </p:nvSpPr>
        <p:spPr>
          <a:xfrm>
            <a:off x="3619500" y="20574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Artifact</a:t>
            </a:r>
          </a:p>
        </p:txBody>
      </p:sp>
      <p:sp>
        <p:nvSpPr>
          <p:cNvPr id="7" name="h-2">
            <a:extLst>
              <a:ext uri="{FF2B5EF4-FFF2-40B4-BE49-F238E27FC236}">
                <a16:creationId xmlns:a16="http://schemas.microsoft.com/office/drawing/2014/main" id="{00CCF7A8-E793-4FA9-A279-7B26A03568C9}"/>
              </a:ext>
            </a:extLst>
          </p:cNvPr>
          <p:cNvSpPr>
            <a:spLocks noGrp="1"/>
          </p:cNvSpPr>
          <p:nvPr/>
        </p:nvSpPr>
        <p:spPr>
          <a:xfrm>
            <a:off x="6400800" y="20574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8" name="step-0">
            <a:extLst>
              <a:ext uri="{FF2B5EF4-FFF2-40B4-BE49-F238E27FC236}">
                <a16:creationId xmlns:a16="http://schemas.microsoft.com/office/drawing/2014/main" id="{0CF62D4C-6F45-4AD1-B8D3-30F42A20DF3E}"/>
              </a:ext>
            </a:extLst>
          </p:cNvPr>
          <p:cNvSpPr>
            <a:spLocks noGrp="1"/>
          </p:cNvSpPr>
          <p:nvPr/>
        </p:nvSpPr>
        <p:spPr>
          <a:xfrm>
            <a:off x="1238250" y="24955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9" name="artifact-0">
            <a:extLst>
              <a:ext uri="{FF2B5EF4-FFF2-40B4-BE49-F238E27FC236}">
                <a16:creationId xmlns:a16="http://schemas.microsoft.com/office/drawing/2014/main" id="{5613E354-BFD4-4AC9-8D1E-265E66F7E33E}"/>
              </a:ext>
            </a:extLst>
          </p:cNvPr>
          <p:cNvSpPr>
            <a:spLocks noGrp="1"/>
          </p:cNvSpPr>
          <p:nvPr/>
        </p:nvSpPr>
        <p:spPr>
          <a:xfrm>
            <a:off x="3619500" y="24955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A5D08"/>
                </a:solidFill>
                <a:latin typeface="Aptos"/>
                <a:ea typeface="Aptos"/>
                <a:cs typeface="Aptos"/>
              </a:rPr>
              <a:t>task_spec.md</a:t>
            </a:r>
          </a:p>
        </p:txBody>
      </p:sp>
      <p:sp>
        <p:nvSpPr>
          <p:cNvPr id="10" name="why-0">
            <a:extLst>
              <a:ext uri="{FF2B5EF4-FFF2-40B4-BE49-F238E27FC236}">
                <a16:creationId xmlns:a16="http://schemas.microsoft.com/office/drawing/2014/main" id="{D44401D5-C818-438B-BD3D-BF9447163667}"/>
              </a:ext>
            </a:extLst>
          </p:cNvPr>
          <p:cNvSpPr>
            <a:spLocks noGrp="1"/>
          </p:cNvSpPr>
          <p:nvPr/>
        </p:nvSpPr>
        <p:spPr>
          <a:xfrm>
            <a:off x="6400800" y="2495550"/>
            <a:ext cx="381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任務、輸入、輸出與限制</a:t>
            </a:r>
          </a:p>
        </p:txBody>
      </p:sp>
      <p:sp>
        <p:nvSpPr>
          <p:cNvPr id="11" name="row-0">
            <a:extLst>
              <a:ext uri="{FF2B5EF4-FFF2-40B4-BE49-F238E27FC236}">
                <a16:creationId xmlns:a16="http://schemas.microsoft.com/office/drawing/2014/main" id="{EDCED6F2-E37B-4B82-B34A-2227F406894F}"/>
              </a:ext>
            </a:extLst>
          </p:cNvPr>
          <p:cNvSpPr>
            <a:spLocks noGrp="1"/>
          </p:cNvSpPr>
          <p:nvPr/>
        </p:nvSpPr>
        <p:spPr>
          <a:xfrm>
            <a:off x="1123950" y="2857500"/>
            <a:ext cx="9791700" cy="0"/>
          </a:xfrm>
          <a:prstGeom prst="line">
            <a:avLst/>
          </a:prstGeom>
          <a:noFill/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tep-1">
            <a:extLst>
              <a:ext uri="{FF2B5EF4-FFF2-40B4-BE49-F238E27FC236}">
                <a16:creationId xmlns:a16="http://schemas.microsoft.com/office/drawing/2014/main" id="{C0D1284A-EE9D-4BB8-8A2D-5C3D8E38D25D}"/>
              </a:ext>
            </a:extLst>
          </p:cNvPr>
          <p:cNvSpPr>
            <a:spLocks noGrp="1"/>
          </p:cNvSpPr>
          <p:nvPr/>
        </p:nvSpPr>
        <p:spPr>
          <a:xfrm>
            <a:off x="1238250" y="30480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13" name="artifact-1">
            <a:extLst>
              <a:ext uri="{FF2B5EF4-FFF2-40B4-BE49-F238E27FC236}">
                <a16:creationId xmlns:a16="http://schemas.microsoft.com/office/drawing/2014/main" id="{C3169DA8-40A9-4EA6-93C0-6C72E09DAEB8}"/>
              </a:ext>
            </a:extLst>
          </p:cNvPr>
          <p:cNvSpPr>
            <a:spLocks noGrp="1"/>
          </p:cNvSpPr>
          <p:nvPr/>
        </p:nvSpPr>
        <p:spPr>
          <a:xfrm>
            <a:off x="3619500" y="30480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A5D08"/>
                </a:solidFill>
                <a:latin typeface="Aptos"/>
                <a:ea typeface="Aptos"/>
                <a:cs typeface="Aptos"/>
              </a:rPr>
              <a:t>query log</a:t>
            </a:r>
          </a:p>
        </p:txBody>
      </p:sp>
      <p:sp>
        <p:nvSpPr>
          <p:cNvPr id="14" name="why-1">
            <a:extLst>
              <a:ext uri="{FF2B5EF4-FFF2-40B4-BE49-F238E27FC236}">
                <a16:creationId xmlns:a16="http://schemas.microsoft.com/office/drawing/2014/main" id="{E463E0B9-3836-44F5-B4E9-0E9454802D29}"/>
              </a:ext>
            </a:extLst>
          </p:cNvPr>
          <p:cNvSpPr>
            <a:spLocks noGrp="1"/>
          </p:cNvSpPr>
          <p:nvPr/>
        </p:nvSpPr>
        <p:spPr>
          <a:xfrm>
            <a:off x="6400800" y="3048000"/>
            <a:ext cx="381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關鍵字、日期、來源清單</a:t>
            </a:r>
          </a:p>
        </p:txBody>
      </p:sp>
      <p:sp>
        <p:nvSpPr>
          <p:cNvPr id="15" name="row-1">
            <a:extLst>
              <a:ext uri="{FF2B5EF4-FFF2-40B4-BE49-F238E27FC236}">
                <a16:creationId xmlns:a16="http://schemas.microsoft.com/office/drawing/2014/main" id="{2D64366B-A939-4915-A8A1-33244F6216B1}"/>
              </a:ext>
            </a:extLst>
          </p:cNvPr>
          <p:cNvSpPr>
            <a:spLocks noGrp="1"/>
          </p:cNvSpPr>
          <p:nvPr/>
        </p:nvSpPr>
        <p:spPr>
          <a:xfrm>
            <a:off x="1123950" y="3409950"/>
            <a:ext cx="9791700" cy="0"/>
          </a:xfrm>
          <a:prstGeom prst="line">
            <a:avLst/>
          </a:prstGeom>
          <a:noFill/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tep-2">
            <a:extLst>
              <a:ext uri="{FF2B5EF4-FFF2-40B4-BE49-F238E27FC236}">
                <a16:creationId xmlns:a16="http://schemas.microsoft.com/office/drawing/2014/main" id="{56C96994-8890-4657-A0E9-E8F679F5F690}"/>
              </a:ext>
            </a:extLst>
          </p:cNvPr>
          <p:cNvSpPr>
            <a:spLocks noGrp="1"/>
          </p:cNvSpPr>
          <p:nvPr/>
        </p:nvSpPr>
        <p:spPr>
          <a:xfrm>
            <a:off x="1238250" y="36004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Extract</a:t>
            </a:r>
          </a:p>
        </p:txBody>
      </p:sp>
      <p:sp>
        <p:nvSpPr>
          <p:cNvPr id="17" name="artifact-2">
            <a:extLst>
              <a:ext uri="{FF2B5EF4-FFF2-40B4-BE49-F238E27FC236}">
                <a16:creationId xmlns:a16="http://schemas.microsoft.com/office/drawing/2014/main" id="{BEFB5863-56B7-45FF-AF7C-D64CE2672831}"/>
              </a:ext>
            </a:extLst>
          </p:cNvPr>
          <p:cNvSpPr>
            <a:spLocks noGrp="1"/>
          </p:cNvSpPr>
          <p:nvPr/>
        </p:nvSpPr>
        <p:spPr>
          <a:xfrm>
            <a:off x="3619500" y="36004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A5D08"/>
                </a:solidFill>
                <a:latin typeface="Aptos"/>
                <a:ea typeface="Aptos"/>
                <a:cs typeface="Aptos"/>
              </a:rPr>
              <a:t>evidence table</a:t>
            </a:r>
          </a:p>
        </p:txBody>
      </p:sp>
      <p:sp>
        <p:nvSpPr>
          <p:cNvPr id="18" name="why-2">
            <a:extLst>
              <a:ext uri="{FF2B5EF4-FFF2-40B4-BE49-F238E27FC236}">
                <a16:creationId xmlns:a16="http://schemas.microsoft.com/office/drawing/2014/main" id="{E55D5DD0-71AE-4790-950A-64BF78ED600A}"/>
              </a:ext>
            </a:extLst>
          </p:cNvPr>
          <p:cNvSpPr>
            <a:spLocks noGrp="1"/>
          </p:cNvSpPr>
          <p:nvPr/>
        </p:nvSpPr>
        <p:spPr>
          <a:xfrm>
            <a:off x="6400800" y="3600450"/>
            <a:ext cx="381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claim、source、status</a:t>
            </a:r>
          </a:p>
        </p:txBody>
      </p:sp>
      <p:sp>
        <p:nvSpPr>
          <p:cNvPr id="19" name="row-2">
            <a:extLst>
              <a:ext uri="{FF2B5EF4-FFF2-40B4-BE49-F238E27FC236}">
                <a16:creationId xmlns:a16="http://schemas.microsoft.com/office/drawing/2014/main" id="{7A62648E-DA75-4A1E-81D1-F7AAFA79EEF4}"/>
              </a:ext>
            </a:extLst>
          </p:cNvPr>
          <p:cNvSpPr>
            <a:spLocks noGrp="1"/>
          </p:cNvSpPr>
          <p:nvPr/>
        </p:nvSpPr>
        <p:spPr>
          <a:xfrm>
            <a:off x="1123950" y="3962400"/>
            <a:ext cx="9791700" cy="0"/>
          </a:xfrm>
          <a:prstGeom prst="line">
            <a:avLst/>
          </a:prstGeom>
          <a:noFill/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tep-3">
            <a:extLst>
              <a:ext uri="{FF2B5EF4-FFF2-40B4-BE49-F238E27FC236}">
                <a16:creationId xmlns:a16="http://schemas.microsoft.com/office/drawing/2014/main" id="{41F3ECD7-C330-40F3-897E-4D4B67D0BB05}"/>
              </a:ext>
            </a:extLst>
          </p:cNvPr>
          <p:cNvSpPr>
            <a:spLocks noGrp="1"/>
          </p:cNvSpPr>
          <p:nvPr/>
        </p:nvSpPr>
        <p:spPr>
          <a:xfrm>
            <a:off x="1238250" y="41529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Tool use</a:t>
            </a:r>
          </a:p>
        </p:txBody>
      </p:sp>
      <p:sp>
        <p:nvSpPr>
          <p:cNvPr id="21" name="artifact-3">
            <a:extLst>
              <a:ext uri="{FF2B5EF4-FFF2-40B4-BE49-F238E27FC236}">
                <a16:creationId xmlns:a16="http://schemas.microsoft.com/office/drawing/2014/main" id="{6886FA3C-2366-4BD9-9C8A-CA7B600E86FC}"/>
              </a:ext>
            </a:extLst>
          </p:cNvPr>
          <p:cNvSpPr>
            <a:spLocks noGrp="1"/>
          </p:cNvSpPr>
          <p:nvPr/>
        </p:nvSpPr>
        <p:spPr>
          <a:xfrm>
            <a:off x="3619500" y="41529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A5D08"/>
                </a:solidFill>
                <a:latin typeface="Aptos"/>
                <a:ea typeface="Aptos"/>
                <a:cs typeface="Aptos"/>
              </a:rPr>
              <a:t>tool log</a:t>
            </a:r>
          </a:p>
        </p:txBody>
      </p:sp>
      <p:sp>
        <p:nvSpPr>
          <p:cNvPr id="22" name="why-3">
            <a:extLst>
              <a:ext uri="{FF2B5EF4-FFF2-40B4-BE49-F238E27FC236}">
                <a16:creationId xmlns:a16="http://schemas.microsoft.com/office/drawing/2014/main" id="{7BA35F0D-C87C-4B93-A31C-6F2C77FFAAB9}"/>
              </a:ext>
            </a:extLst>
          </p:cNvPr>
          <p:cNvSpPr>
            <a:spLocks noGrp="1"/>
          </p:cNvSpPr>
          <p:nvPr/>
        </p:nvSpPr>
        <p:spPr>
          <a:xfrm>
            <a:off x="6400800" y="4152900"/>
            <a:ext cx="381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input、output、error</a:t>
            </a:r>
          </a:p>
        </p:txBody>
      </p:sp>
      <p:sp>
        <p:nvSpPr>
          <p:cNvPr id="23" name="row-3">
            <a:extLst>
              <a:ext uri="{FF2B5EF4-FFF2-40B4-BE49-F238E27FC236}">
                <a16:creationId xmlns:a16="http://schemas.microsoft.com/office/drawing/2014/main" id="{CE9F4B86-A0B4-46E4-92FA-8D8FF8632DB1}"/>
              </a:ext>
            </a:extLst>
          </p:cNvPr>
          <p:cNvSpPr>
            <a:spLocks noGrp="1"/>
          </p:cNvSpPr>
          <p:nvPr/>
        </p:nvSpPr>
        <p:spPr>
          <a:xfrm>
            <a:off x="1123950" y="4514850"/>
            <a:ext cx="9791700" cy="0"/>
          </a:xfrm>
          <a:prstGeom prst="line">
            <a:avLst/>
          </a:prstGeom>
          <a:noFill/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tep-4">
            <a:extLst>
              <a:ext uri="{FF2B5EF4-FFF2-40B4-BE49-F238E27FC236}">
                <a16:creationId xmlns:a16="http://schemas.microsoft.com/office/drawing/2014/main" id="{2C5361BC-3142-4EB0-8858-25ED8A0FCA1E}"/>
              </a:ext>
            </a:extLst>
          </p:cNvPr>
          <p:cNvSpPr>
            <a:spLocks noGrp="1"/>
          </p:cNvSpPr>
          <p:nvPr/>
        </p:nvSpPr>
        <p:spPr>
          <a:xfrm>
            <a:off x="1238250" y="47053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25" name="artifact-4">
            <a:extLst>
              <a:ext uri="{FF2B5EF4-FFF2-40B4-BE49-F238E27FC236}">
                <a16:creationId xmlns:a16="http://schemas.microsoft.com/office/drawing/2014/main" id="{B30A0666-01E5-400A-AE25-FA90FC5DD9B3}"/>
              </a:ext>
            </a:extLst>
          </p:cNvPr>
          <p:cNvSpPr>
            <a:spLocks noGrp="1"/>
          </p:cNvSpPr>
          <p:nvPr/>
        </p:nvSpPr>
        <p:spPr>
          <a:xfrm>
            <a:off x="3619500" y="47053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8A5D08"/>
                </a:solidFill>
                <a:latin typeface="Aptos"/>
                <a:ea typeface="Aptos"/>
                <a:cs typeface="Aptos"/>
              </a:rPr>
              <a:t>check report</a:t>
            </a:r>
          </a:p>
        </p:txBody>
      </p:sp>
      <p:sp>
        <p:nvSpPr>
          <p:cNvPr id="26" name="why-4">
            <a:extLst>
              <a:ext uri="{FF2B5EF4-FFF2-40B4-BE49-F238E27FC236}">
                <a16:creationId xmlns:a16="http://schemas.microsoft.com/office/drawing/2014/main" id="{DD63117B-8779-4D03-B198-3D0E4D060613}"/>
              </a:ext>
            </a:extLst>
          </p:cNvPr>
          <p:cNvSpPr>
            <a:spLocks noGrp="1"/>
          </p:cNvSpPr>
          <p:nvPr/>
        </p:nvSpPr>
        <p:spPr>
          <a:xfrm>
            <a:off x="6400800" y="4705350"/>
            <a:ext cx="381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通過、失敗、needs review</a:t>
            </a:r>
          </a:p>
        </p:txBody>
      </p:sp>
      <p:sp>
        <p:nvSpPr>
          <p:cNvPr id="27" name="row-4">
            <a:extLst>
              <a:ext uri="{FF2B5EF4-FFF2-40B4-BE49-F238E27FC236}">
                <a16:creationId xmlns:a16="http://schemas.microsoft.com/office/drawing/2014/main" id="{2FEBDF47-4043-408F-9EBB-4B6B03DF96F7}"/>
              </a:ext>
            </a:extLst>
          </p:cNvPr>
          <p:cNvSpPr>
            <a:spLocks noGrp="1"/>
          </p:cNvSpPr>
          <p:nvPr/>
        </p:nvSpPr>
        <p:spPr>
          <a:xfrm>
            <a:off x="1123950" y="5067300"/>
            <a:ext cx="9791700" cy="0"/>
          </a:xfrm>
          <a:prstGeom prst="line">
            <a:avLst/>
          </a:prstGeom>
          <a:noFill/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bottom">
            <a:extLst>
              <a:ext uri="{FF2B5EF4-FFF2-40B4-BE49-F238E27FC236}">
                <a16:creationId xmlns:a16="http://schemas.microsoft.com/office/drawing/2014/main" id="{420A6EF0-263F-4A52-8A26-C1CCCD25A00A}"/>
              </a:ext>
            </a:extLst>
          </p:cNvPr>
          <p:cNvSpPr>
            <a:spLocks noGrp="1"/>
          </p:cNvSpPr>
          <p:nvPr/>
        </p:nvSpPr>
        <p:spPr>
          <a:xfrm>
            <a:off x="2381250" y="573405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B0432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B0432F"/>
                </a:solidFill>
                <a:latin typeface="PingFang TC"/>
                <a:ea typeface="PingFang TC"/>
                <a:cs typeface="PingFang TC"/>
              </a:rPr>
              <a:t>沒有 artifact，就很難 debug、重跑或交接。</a:t>
            </a:r>
          </a:p>
        </p:txBody>
      </p:sp>
    </p:spTree>
    <p:extLst>
      <p:ext uri="{BB962C8B-B14F-4D97-AF65-F5344CB8AC3E}">
        <p14:creationId xmlns:p14="http://schemas.microsoft.com/office/powerpoint/2010/main" val="2195635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">
            <a:extLst>
              <a:ext uri="{FF2B5EF4-FFF2-40B4-BE49-F238E27FC236}">
                <a16:creationId xmlns:a16="http://schemas.microsoft.com/office/drawing/2014/main" id="{CCE7923D-CADE-41F2-B064-06046839C8DA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TASK SUITABILITY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8BF1B8E-4243-43B1-A844-F668063B921F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適合 agent 的任務通常能被清楚驗證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8F46CC74-552D-4382-97CC-C48DD2AD1C6D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13/23</a:t>
            </a:r>
          </a:p>
        </p:txBody>
      </p:sp>
      <p:sp>
        <p:nvSpPr>
          <p:cNvPr id="4" name="good">
            <a:extLst>
              <a:ext uri="{FF2B5EF4-FFF2-40B4-BE49-F238E27FC236}">
                <a16:creationId xmlns:a16="http://schemas.microsoft.com/office/drawing/2014/main" id="{B5950092-C0C3-4C71-B6DE-96379397C0CF}"/>
              </a:ext>
            </a:extLst>
          </p:cNvPr>
          <p:cNvSpPr>
            <a:spLocks noGrp="1"/>
          </p:cNvSpPr>
          <p:nvPr/>
        </p:nvSpPr>
        <p:spPr>
          <a:xfrm>
            <a:off x="1104900" y="2057400"/>
            <a:ext cx="4324350" cy="3067050"/>
          </a:xfrm>
          <a:prstGeom prst="roundRect">
            <a:avLst>
              <a:gd name="adj" fmla="val 2484"/>
            </a:avLst>
          </a:prstGeom>
          <a:solidFill>
            <a:srgbClr val="EAF8F6"/>
          </a:solidFill>
          <a:ln w="9525">
            <a:solidFill>
              <a:srgbClr val="0B6E6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bad">
            <a:extLst>
              <a:ext uri="{FF2B5EF4-FFF2-40B4-BE49-F238E27FC236}">
                <a16:creationId xmlns:a16="http://schemas.microsoft.com/office/drawing/2014/main" id="{41151322-DF83-441A-A474-B8814473B707}"/>
              </a:ext>
            </a:extLst>
          </p:cNvPr>
          <p:cNvSpPr>
            <a:spLocks noGrp="1"/>
          </p:cNvSpPr>
          <p:nvPr/>
        </p:nvSpPr>
        <p:spPr>
          <a:xfrm>
            <a:off x="6762750" y="2057400"/>
            <a:ext cx="4324350" cy="3067050"/>
          </a:xfrm>
          <a:prstGeom prst="roundRect">
            <a:avLst>
              <a:gd name="adj" fmla="val 2484"/>
            </a:avLst>
          </a:prstGeom>
          <a:solidFill>
            <a:srgbClr val="FDEDEA"/>
          </a:solidFill>
          <a:ln w="9525">
            <a:solidFill>
              <a:srgbClr val="B0432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good-title">
            <a:extLst>
              <a:ext uri="{FF2B5EF4-FFF2-40B4-BE49-F238E27FC236}">
                <a16:creationId xmlns:a16="http://schemas.microsoft.com/office/drawing/2014/main" id="{9420F1EB-B52E-4D02-8A2E-908D05491A81}"/>
              </a:ext>
            </a:extLst>
          </p:cNvPr>
          <p:cNvSpPr>
            <a:spLocks noGrp="1"/>
          </p:cNvSpPr>
          <p:nvPr/>
        </p:nvSpPr>
        <p:spPr>
          <a:xfrm>
            <a:off x="1524000" y="24003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Good fit</a:t>
            </a:r>
          </a:p>
        </p:txBody>
      </p:sp>
      <p:sp>
        <p:nvSpPr>
          <p:cNvPr id="7" name="bad-title">
            <a:extLst>
              <a:ext uri="{FF2B5EF4-FFF2-40B4-BE49-F238E27FC236}">
                <a16:creationId xmlns:a16="http://schemas.microsoft.com/office/drawing/2014/main" id="{0AA19BE9-AA9A-4F6C-B1D4-F72639643D2C}"/>
              </a:ext>
            </a:extLst>
          </p:cNvPr>
          <p:cNvSpPr>
            <a:spLocks noGrp="1"/>
          </p:cNvSpPr>
          <p:nvPr/>
        </p:nvSpPr>
        <p:spPr>
          <a:xfrm>
            <a:off x="7181850" y="24003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B0432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0432F"/>
                </a:solidFill>
                <a:latin typeface="Aptos"/>
                <a:ea typeface="Aptos"/>
                <a:cs typeface="Aptos"/>
              </a:rPr>
              <a:t>Bad fit</a:t>
            </a:r>
          </a:p>
        </p:txBody>
      </p:sp>
      <p:sp>
        <p:nvSpPr>
          <p:cNvPr id="8" name="good-list">
            <a:extLst>
              <a:ext uri="{FF2B5EF4-FFF2-40B4-BE49-F238E27FC236}">
                <a16:creationId xmlns:a16="http://schemas.microsoft.com/office/drawing/2014/main" id="{D4BA5181-410D-44CC-B645-6F980F822405}"/>
              </a:ext>
            </a:extLst>
          </p:cNvPr>
          <p:cNvSpPr>
            <a:spLocks noGrp="1"/>
          </p:cNvSpPr>
          <p:nvPr/>
        </p:nvSpPr>
        <p:spPr>
          <a:xfrm>
            <a:off x="1581150" y="3086100"/>
            <a:ext cx="314325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2" indent="-10">
              <a:lnSpc>
                <a:spcPct val="108000"/>
              </a:lnSpc>
              <a:spcAft>
                <a:spcPts val="7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輸入資料明確</a:t>
            </a:r>
          </a:p>
          <a:p>
            <a:pPr marL="22" indent="-10">
              <a:lnSpc>
                <a:spcPct val="108000"/>
              </a:lnSpc>
              <a:spcAft>
                <a:spcPts val="7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輸出格式固定</a:t>
            </a:r>
          </a:p>
          <a:p>
            <a:pPr marL="22" indent="-10">
              <a:lnSpc>
                <a:spcPct val="108000"/>
              </a:lnSpc>
              <a:spcAft>
                <a:spcPts val="7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可用外部來源檢查</a:t>
            </a:r>
          </a:p>
          <a:p>
            <a:pPr marL="22" indent="-10">
              <a:lnSpc>
                <a:spcPct val="108000"/>
              </a:lnSpc>
              <a:spcAft>
                <a:spcPts val="7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錯誤能早期發現</a:t>
            </a:r>
          </a:p>
          <a:p>
            <a:pPr marL="22" indent="-10">
              <a:lnSpc>
                <a:spcPct val="108000"/>
              </a:lnSpc>
              <a:spcAft>
                <a:spcPts val="7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不直接造成臨床行動</a:t>
            </a:r>
          </a:p>
        </p:txBody>
      </p:sp>
      <p:sp>
        <p:nvSpPr>
          <p:cNvPr id="9" name="bad-list">
            <a:extLst>
              <a:ext uri="{FF2B5EF4-FFF2-40B4-BE49-F238E27FC236}">
                <a16:creationId xmlns:a16="http://schemas.microsoft.com/office/drawing/2014/main" id="{D5503CD0-097A-463A-8AC8-6E9043143856}"/>
              </a:ext>
            </a:extLst>
          </p:cNvPr>
          <p:cNvSpPr>
            <a:spLocks noGrp="1"/>
          </p:cNvSpPr>
          <p:nvPr/>
        </p:nvSpPr>
        <p:spPr>
          <a:xfrm>
            <a:off x="7239000" y="3086100"/>
            <a:ext cx="314325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/>
          <a:p>
            <a:pPr marL="22" indent="-10">
              <a:lnSpc>
                <a:spcPct val="108000"/>
              </a:lnSpc>
              <a:spcAft>
                <a:spcPts val="7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目標模糊</a:t>
            </a:r>
          </a:p>
          <a:p>
            <a:pPr marL="22" indent="-10">
              <a:lnSpc>
                <a:spcPct val="108000"/>
              </a:lnSpc>
              <a:spcAft>
                <a:spcPts val="7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只有主觀判斷</a:t>
            </a:r>
          </a:p>
          <a:p>
            <a:pPr marL="22" indent="-10">
              <a:lnSpc>
                <a:spcPct val="108000"/>
              </a:lnSpc>
              <a:spcAft>
                <a:spcPts val="7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缺少可查來源</a:t>
            </a:r>
          </a:p>
          <a:p>
            <a:pPr marL="22" indent="-10">
              <a:lnSpc>
                <a:spcPct val="108000"/>
              </a:lnSpc>
              <a:spcAft>
                <a:spcPts val="7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錯了不容易發現</a:t>
            </a:r>
          </a:p>
          <a:p>
            <a:pPr marL="22" indent="-10">
              <a:lnSpc>
                <a:spcPct val="108000"/>
              </a:lnSpc>
              <a:spcAft>
                <a:spcPts val="7"/>
              </a:spcAft>
              <a:buNone/>
              <a:def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7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涉及治療或診斷決策</a:t>
            </a:r>
          </a:p>
        </p:txBody>
      </p:sp>
      <p:sp>
        <p:nvSpPr>
          <p:cNvPr id="10" name="bottom">
            <a:extLst>
              <a:ext uri="{FF2B5EF4-FFF2-40B4-BE49-F238E27FC236}">
                <a16:creationId xmlns:a16="http://schemas.microsoft.com/office/drawing/2014/main" id="{DEB04261-5480-456F-9FEE-D6FFEDA7E74B}"/>
              </a:ext>
            </a:extLst>
          </p:cNvPr>
          <p:cNvSpPr>
            <a:spLocks noGrp="1"/>
          </p:cNvSpPr>
          <p:nvPr/>
        </p:nvSpPr>
        <p:spPr>
          <a:xfrm>
            <a:off x="2152650" y="5619750"/>
            <a:ext cx="790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先判斷任務能否驗證，再決定要不要讓 agent 參與。</a:t>
            </a:r>
          </a:p>
        </p:txBody>
      </p:sp>
    </p:spTree>
    <p:extLst>
      <p:ext uri="{BB962C8B-B14F-4D97-AF65-F5344CB8AC3E}">
        <p14:creationId xmlns:p14="http://schemas.microsoft.com/office/powerpoint/2010/main" val="29932691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yebrow">
            <a:extLst>
              <a:ext uri="{FF2B5EF4-FFF2-40B4-BE49-F238E27FC236}">
                <a16:creationId xmlns:a16="http://schemas.microsoft.com/office/drawing/2014/main" id="{DBC6B939-1580-4D8D-9981-CF189E1E1CFA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B043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0432F"/>
                </a:solidFill>
                <a:latin typeface="Aptos"/>
                <a:ea typeface="Aptos"/>
                <a:cs typeface="Aptos"/>
              </a:rPr>
              <a:t>BIOMEDICAL RED LINES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98EAA8D-1D95-405A-AFB5-118F80569D9F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有些 biomedical 輸出只能協助整理，不能直接定案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0826F39A-5F8E-4D5A-897F-47DA4CE8295B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14/23</a:t>
            </a:r>
          </a:p>
        </p:txBody>
      </p:sp>
      <p:sp>
        <p:nvSpPr>
          <p:cNvPr id="4" name="risk-0">
            <a:extLst>
              <a:ext uri="{FF2B5EF4-FFF2-40B4-BE49-F238E27FC236}">
                <a16:creationId xmlns:a16="http://schemas.microsoft.com/office/drawing/2014/main" id="{F3D19413-8E30-4A51-9E45-80FF3849BE2C}"/>
              </a:ext>
            </a:extLst>
          </p:cNvPr>
          <p:cNvSpPr>
            <a:spLocks noGrp="1"/>
          </p:cNvSpPr>
          <p:nvPr/>
        </p:nvSpPr>
        <p:spPr>
          <a:xfrm>
            <a:off x="1200150" y="2095500"/>
            <a:ext cx="3886200" cy="914400"/>
          </a:xfrm>
          <a:prstGeom prst="roundRect">
            <a:avLst>
              <a:gd name="adj" fmla="val 8333"/>
            </a:avLst>
          </a:prstGeom>
          <a:solidFill>
            <a:srgbClr val="FDEDEA"/>
          </a:solidFill>
          <a:ln w="9525">
            <a:solidFill>
              <a:srgbClr val="B0432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risk-title-0">
            <a:extLst>
              <a:ext uri="{FF2B5EF4-FFF2-40B4-BE49-F238E27FC236}">
                <a16:creationId xmlns:a16="http://schemas.microsoft.com/office/drawing/2014/main" id="{CBD1EE1C-87DE-46E5-8D6F-52813E27149D}"/>
              </a:ext>
            </a:extLst>
          </p:cNvPr>
          <p:cNvSpPr>
            <a:spLocks noGrp="1"/>
          </p:cNvSpPr>
          <p:nvPr/>
        </p:nvSpPr>
        <p:spPr>
          <a:xfrm>
            <a:off x="1466850" y="23050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B043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0432F"/>
                </a:solidFill>
                <a:latin typeface="Aptos"/>
                <a:ea typeface="Aptos"/>
                <a:cs typeface="Aptos"/>
              </a:rPr>
              <a:t>Diagnosis</a:t>
            </a:r>
          </a:p>
        </p:txBody>
      </p:sp>
      <p:sp>
        <p:nvSpPr>
          <p:cNvPr id="6" name="risk-copy-0">
            <a:extLst>
              <a:ext uri="{FF2B5EF4-FFF2-40B4-BE49-F238E27FC236}">
                <a16:creationId xmlns:a16="http://schemas.microsoft.com/office/drawing/2014/main" id="{8BC07C7C-063A-4CB7-94DF-56A7F7C740B9}"/>
              </a:ext>
            </a:extLst>
          </p:cNvPr>
          <p:cNvSpPr>
            <a:spLocks noGrp="1"/>
          </p:cNvSpPr>
          <p:nvPr/>
        </p:nvSpPr>
        <p:spPr>
          <a:xfrm>
            <a:off x="3295650" y="2324100"/>
            <a:ext cx="142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診斷或治療建議</a:t>
            </a:r>
          </a:p>
        </p:txBody>
      </p:sp>
      <p:sp>
        <p:nvSpPr>
          <p:cNvPr id="7" name="risk-1">
            <a:extLst>
              <a:ext uri="{FF2B5EF4-FFF2-40B4-BE49-F238E27FC236}">
                <a16:creationId xmlns:a16="http://schemas.microsoft.com/office/drawing/2014/main" id="{621EC4F0-45E8-465E-86B3-85A08CD069BC}"/>
              </a:ext>
            </a:extLst>
          </p:cNvPr>
          <p:cNvSpPr>
            <a:spLocks noGrp="1"/>
          </p:cNvSpPr>
          <p:nvPr/>
        </p:nvSpPr>
        <p:spPr>
          <a:xfrm>
            <a:off x="6153150" y="2095500"/>
            <a:ext cx="3886200" cy="914400"/>
          </a:xfrm>
          <a:prstGeom prst="roundRect">
            <a:avLst>
              <a:gd name="adj" fmla="val 8333"/>
            </a:avLst>
          </a:prstGeom>
          <a:solidFill>
            <a:srgbClr val="FDEDEA"/>
          </a:solidFill>
          <a:ln w="9525">
            <a:solidFill>
              <a:srgbClr val="B0432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risk-title-1">
            <a:extLst>
              <a:ext uri="{FF2B5EF4-FFF2-40B4-BE49-F238E27FC236}">
                <a16:creationId xmlns:a16="http://schemas.microsoft.com/office/drawing/2014/main" id="{2C6B111A-5113-4901-AA7D-537017983D41}"/>
              </a:ext>
            </a:extLst>
          </p:cNvPr>
          <p:cNvSpPr>
            <a:spLocks noGrp="1"/>
          </p:cNvSpPr>
          <p:nvPr/>
        </p:nvSpPr>
        <p:spPr>
          <a:xfrm>
            <a:off x="6419850" y="23050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B043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0432F"/>
                </a:solidFill>
                <a:latin typeface="Aptos"/>
                <a:ea typeface="Aptos"/>
                <a:cs typeface="Aptos"/>
              </a:rPr>
              <a:t>Dosage</a:t>
            </a:r>
          </a:p>
        </p:txBody>
      </p:sp>
      <p:sp>
        <p:nvSpPr>
          <p:cNvPr id="9" name="risk-copy-1">
            <a:extLst>
              <a:ext uri="{FF2B5EF4-FFF2-40B4-BE49-F238E27FC236}">
                <a16:creationId xmlns:a16="http://schemas.microsoft.com/office/drawing/2014/main" id="{8D9CD6EE-2900-4AF4-8A7A-7851F07111E4}"/>
              </a:ext>
            </a:extLst>
          </p:cNvPr>
          <p:cNvSpPr>
            <a:spLocks noGrp="1"/>
          </p:cNvSpPr>
          <p:nvPr/>
        </p:nvSpPr>
        <p:spPr>
          <a:xfrm>
            <a:off x="8248650" y="2324100"/>
            <a:ext cx="142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藥物劑量</a:t>
            </a:r>
          </a:p>
        </p:txBody>
      </p:sp>
      <p:sp>
        <p:nvSpPr>
          <p:cNvPr id="10" name="risk-2">
            <a:extLst>
              <a:ext uri="{FF2B5EF4-FFF2-40B4-BE49-F238E27FC236}">
                <a16:creationId xmlns:a16="http://schemas.microsoft.com/office/drawing/2014/main" id="{1FD850EA-14D9-42F7-A26E-B99DF2F30DA0}"/>
              </a:ext>
            </a:extLst>
          </p:cNvPr>
          <p:cNvSpPr>
            <a:spLocks noGrp="1"/>
          </p:cNvSpPr>
          <p:nvPr/>
        </p:nvSpPr>
        <p:spPr>
          <a:xfrm>
            <a:off x="1200150" y="3448050"/>
            <a:ext cx="3886200" cy="914400"/>
          </a:xfrm>
          <a:prstGeom prst="roundRect">
            <a:avLst>
              <a:gd name="adj" fmla="val 8333"/>
            </a:avLst>
          </a:prstGeom>
          <a:solidFill>
            <a:srgbClr val="FDEDEA"/>
          </a:solidFill>
          <a:ln w="9525">
            <a:solidFill>
              <a:srgbClr val="B0432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risk-title-2">
            <a:extLst>
              <a:ext uri="{FF2B5EF4-FFF2-40B4-BE49-F238E27FC236}">
                <a16:creationId xmlns:a16="http://schemas.microsoft.com/office/drawing/2014/main" id="{AD235032-3A0A-4E2A-951D-D3096EEFB9DA}"/>
              </a:ext>
            </a:extLst>
          </p:cNvPr>
          <p:cNvSpPr>
            <a:spLocks noGrp="1"/>
          </p:cNvSpPr>
          <p:nvPr/>
        </p:nvSpPr>
        <p:spPr>
          <a:xfrm>
            <a:off x="1466850" y="36576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B043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0432F"/>
                </a:solidFill>
                <a:latin typeface="Aptos"/>
                <a:ea typeface="Aptos"/>
                <a:cs typeface="Aptos"/>
              </a:rPr>
              <a:t>Variant</a:t>
            </a:r>
          </a:p>
        </p:txBody>
      </p:sp>
      <p:sp>
        <p:nvSpPr>
          <p:cNvPr id="12" name="risk-copy-2">
            <a:extLst>
              <a:ext uri="{FF2B5EF4-FFF2-40B4-BE49-F238E27FC236}">
                <a16:creationId xmlns:a16="http://schemas.microsoft.com/office/drawing/2014/main" id="{48C7AF0B-9FBB-407D-AA30-A74828D0A736}"/>
              </a:ext>
            </a:extLst>
          </p:cNvPr>
          <p:cNvSpPr>
            <a:spLocks noGrp="1"/>
          </p:cNvSpPr>
          <p:nvPr/>
        </p:nvSpPr>
        <p:spPr>
          <a:xfrm>
            <a:off x="3295650" y="3676650"/>
            <a:ext cx="142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pathogenicity final call</a:t>
            </a:r>
          </a:p>
        </p:txBody>
      </p:sp>
      <p:sp>
        <p:nvSpPr>
          <p:cNvPr id="13" name="risk-3">
            <a:extLst>
              <a:ext uri="{FF2B5EF4-FFF2-40B4-BE49-F238E27FC236}">
                <a16:creationId xmlns:a16="http://schemas.microsoft.com/office/drawing/2014/main" id="{AED87FFC-A708-4B5B-BEA0-6BE6DA4E95DF}"/>
              </a:ext>
            </a:extLst>
          </p:cNvPr>
          <p:cNvSpPr>
            <a:spLocks noGrp="1"/>
          </p:cNvSpPr>
          <p:nvPr/>
        </p:nvSpPr>
        <p:spPr>
          <a:xfrm>
            <a:off x="6153150" y="3448050"/>
            <a:ext cx="3886200" cy="914400"/>
          </a:xfrm>
          <a:prstGeom prst="roundRect">
            <a:avLst>
              <a:gd name="adj" fmla="val 8333"/>
            </a:avLst>
          </a:prstGeom>
          <a:solidFill>
            <a:srgbClr val="FDEDEA"/>
          </a:solidFill>
          <a:ln w="9525">
            <a:solidFill>
              <a:srgbClr val="B0432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risk-title-3">
            <a:extLst>
              <a:ext uri="{FF2B5EF4-FFF2-40B4-BE49-F238E27FC236}">
                <a16:creationId xmlns:a16="http://schemas.microsoft.com/office/drawing/2014/main" id="{BFC8C746-C385-4D0F-B350-739280EFC79F}"/>
              </a:ext>
            </a:extLst>
          </p:cNvPr>
          <p:cNvSpPr>
            <a:spLocks noGrp="1"/>
          </p:cNvSpPr>
          <p:nvPr/>
        </p:nvSpPr>
        <p:spPr>
          <a:xfrm>
            <a:off x="6419850" y="36576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B0432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0432F"/>
                </a:solidFill>
                <a:latin typeface="Aptos"/>
                <a:ea typeface="Aptos"/>
                <a:cs typeface="Aptos"/>
              </a:rPr>
              <a:t>Clinical action</a:t>
            </a:r>
          </a:p>
        </p:txBody>
      </p:sp>
      <p:sp>
        <p:nvSpPr>
          <p:cNvPr id="15" name="risk-copy-3">
            <a:extLst>
              <a:ext uri="{FF2B5EF4-FFF2-40B4-BE49-F238E27FC236}">
                <a16:creationId xmlns:a16="http://schemas.microsoft.com/office/drawing/2014/main" id="{E2B77DAD-7FC5-4A40-8188-C50F347EAAB2}"/>
              </a:ext>
            </a:extLst>
          </p:cNvPr>
          <p:cNvSpPr>
            <a:spLocks noGrp="1"/>
          </p:cNvSpPr>
          <p:nvPr/>
        </p:nvSpPr>
        <p:spPr>
          <a:xfrm>
            <a:off x="8248650" y="3676650"/>
            <a:ext cx="1428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臨床處置建議</a:t>
            </a:r>
          </a:p>
        </p:txBody>
      </p:sp>
      <p:sp>
        <p:nvSpPr>
          <p:cNvPr id="16" name="gate">
            <a:extLst>
              <a:ext uri="{FF2B5EF4-FFF2-40B4-BE49-F238E27FC236}">
                <a16:creationId xmlns:a16="http://schemas.microsoft.com/office/drawing/2014/main" id="{7D57DD9C-0146-4AAD-964F-7AF8B1AD6DDA}"/>
              </a:ext>
            </a:extLst>
          </p:cNvPr>
          <p:cNvSpPr>
            <a:spLocks noGrp="1"/>
          </p:cNvSpPr>
          <p:nvPr/>
        </p:nvSpPr>
        <p:spPr>
          <a:xfrm>
            <a:off x="4267200" y="5143500"/>
            <a:ext cx="3657600" cy="552450"/>
          </a:xfrm>
          <a:prstGeom prst="roundRect">
            <a:avLst>
              <a:gd name="adj" fmla="val 13793"/>
            </a:avLst>
          </a:prstGeom>
          <a:solidFill>
            <a:srgbClr val="FFF8E8"/>
          </a:solidFill>
          <a:ln w="12859">
            <a:solidFill>
              <a:srgbClr val="8A5D0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800" b="1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8A5D08"/>
                </a:solidFill>
                <a:latin typeface="Aptos"/>
                <a:ea typeface="Aptos"/>
                <a:cs typeface="Aptos"/>
              </a:rPr>
              <a:t>Human review required</a:t>
            </a:r>
          </a:p>
        </p:txBody>
      </p:sp>
    </p:spTree>
    <p:extLst>
      <p:ext uri="{BB962C8B-B14F-4D97-AF65-F5344CB8AC3E}">
        <p14:creationId xmlns:p14="http://schemas.microsoft.com/office/powerpoint/2010/main" val="33258839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yebrow">
            <a:extLst>
              <a:ext uri="{FF2B5EF4-FFF2-40B4-BE49-F238E27FC236}">
                <a16:creationId xmlns:a16="http://schemas.microsoft.com/office/drawing/2014/main" id="{F6BFFE67-D4EF-4FF4-ACFD-81731C24D9DE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VIBE CODING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0C7EA92-316E-47FB-AF62-9D3FAEDCA0D4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Vibe coding 是快速探索，不是把責任交給模型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2B906D6E-013F-4B7C-B4F3-5944BA859888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15/23</a:t>
            </a:r>
          </a:p>
        </p:txBody>
      </p:sp>
      <p:sp>
        <p:nvSpPr>
          <p:cNvPr id="4" name="stage-line">
            <a:extLst>
              <a:ext uri="{FF2B5EF4-FFF2-40B4-BE49-F238E27FC236}">
                <a16:creationId xmlns:a16="http://schemas.microsoft.com/office/drawing/2014/main" id="{83507BFA-22DC-4CCB-ACE8-75DA7DB3A534}"/>
              </a:ext>
            </a:extLst>
          </p:cNvPr>
          <p:cNvSpPr>
            <a:spLocks noGrp="1"/>
          </p:cNvSpPr>
          <p:nvPr/>
        </p:nvSpPr>
        <p:spPr>
          <a:xfrm>
            <a:off x="1752600" y="3124200"/>
            <a:ext cx="8515350" cy="0"/>
          </a:xfrm>
          <a:prstGeom prst="line">
            <a:avLst/>
          </a:prstGeom>
          <a:noFill/>
          <a:ln w="1524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tage-0">
            <a:extLst>
              <a:ext uri="{FF2B5EF4-FFF2-40B4-BE49-F238E27FC236}">
                <a16:creationId xmlns:a16="http://schemas.microsoft.com/office/drawing/2014/main" id="{FC40FCEA-F2E2-419E-886C-A09DEAE91C95}"/>
              </a:ext>
            </a:extLst>
          </p:cNvPr>
          <p:cNvSpPr>
            <a:spLocks noGrp="1"/>
          </p:cNvSpPr>
          <p:nvPr/>
        </p:nvSpPr>
        <p:spPr>
          <a:xfrm>
            <a:off x="1066800" y="262890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859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5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Idea</a:t>
            </a:r>
          </a:p>
        </p:txBody>
      </p:sp>
      <p:sp>
        <p:nvSpPr>
          <p:cNvPr id="6" name="stage-copy-0">
            <a:extLst>
              <a:ext uri="{FF2B5EF4-FFF2-40B4-BE49-F238E27FC236}">
                <a16:creationId xmlns:a16="http://schemas.microsoft.com/office/drawing/2014/main" id="{FF813E09-2708-4586-AF2A-1D68FE6C7AC8}"/>
              </a:ext>
            </a:extLst>
          </p:cNvPr>
          <p:cNvSpPr>
            <a:spLocks noGrp="1"/>
          </p:cNvSpPr>
          <p:nvPr/>
        </p:nvSpPr>
        <p:spPr>
          <a:xfrm>
            <a:off x="1066800" y="352425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想法與資料</a:t>
            </a:r>
          </a:p>
        </p:txBody>
      </p:sp>
      <p:sp>
        <p:nvSpPr>
          <p:cNvPr id="7" name="stage-1">
            <a:extLst>
              <a:ext uri="{FF2B5EF4-FFF2-40B4-BE49-F238E27FC236}">
                <a16:creationId xmlns:a16="http://schemas.microsoft.com/office/drawing/2014/main" id="{179B5DC6-1673-4038-9494-E3E789C8E0E6}"/>
              </a:ext>
            </a:extLst>
          </p:cNvPr>
          <p:cNvSpPr>
            <a:spLocks noGrp="1"/>
          </p:cNvSpPr>
          <p:nvPr/>
        </p:nvSpPr>
        <p:spPr>
          <a:xfrm>
            <a:off x="3238500" y="262890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859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5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Prototype</a:t>
            </a:r>
          </a:p>
        </p:txBody>
      </p:sp>
      <p:sp>
        <p:nvSpPr>
          <p:cNvPr id="8" name="stage-copy-1">
            <a:extLst>
              <a:ext uri="{FF2B5EF4-FFF2-40B4-BE49-F238E27FC236}">
                <a16:creationId xmlns:a16="http://schemas.microsoft.com/office/drawing/2014/main" id="{0D271C6F-C45B-400E-B062-E9983B749641}"/>
              </a:ext>
            </a:extLst>
          </p:cNvPr>
          <p:cNvSpPr>
            <a:spLocks noGrp="1"/>
          </p:cNvSpPr>
          <p:nvPr/>
        </p:nvSpPr>
        <p:spPr>
          <a:xfrm>
            <a:off x="3238500" y="352425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快速草擬</a:t>
            </a:r>
          </a:p>
        </p:txBody>
      </p:sp>
      <p:sp>
        <p:nvSpPr>
          <p:cNvPr id="9" name="stage-2">
            <a:extLst>
              <a:ext uri="{FF2B5EF4-FFF2-40B4-BE49-F238E27FC236}">
                <a16:creationId xmlns:a16="http://schemas.microsoft.com/office/drawing/2014/main" id="{61DA507A-2BCD-4802-B9BB-F8B0E04D89CB}"/>
              </a:ext>
            </a:extLst>
          </p:cNvPr>
          <p:cNvSpPr>
            <a:spLocks noGrp="1"/>
          </p:cNvSpPr>
          <p:nvPr/>
        </p:nvSpPr>
        <p:spPr>
          <a:xfrm>
            <a:off x="5410200" y="262890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859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50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10" name="stage-copy-2">
            <a:extLst>
              <a:ext uri="{FF2B5EF4-FFF2-40B4-BE49-F238E27FC236}">
                <a16:creationId xmlns:a16="http://schemas.microsoft.com/office/drawing/2014/main" id="{7804EB12-B48B-4F5E-A057-69DA26168427}"/>
              </a:ext>
            </a:extLst>
          </p:cNvPr>
          <p:cNvSpPr>
            <a:spLocks noGrp="1"/>
          </p:cNvSpPr>
          <p:nvPr/>
        </p:nvSpPr>
        <p:spPr>
          <a:xfrm>
            <a:off x="5410200" y="352425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真的執行</a:t>
            </a:r>
          </a:p>
        </p:txBody>
      </p:sp>
      <p:sp>
        <p:nvSpPr>
          <p:cNvPr id="11" name="stage-3">
            <a:extLst>
              <a:ext uri="{FF2B5EF4-FFF2-40B4-BE49-F238E27FC236}">
                <a16:creationId xmlns:a16="http://schemas.microsoft.com/office/drawing/2014/main" id="{27397E13-39EA-4BC1-9127-866B11E5804A}"/>
              </a:ext>
            </a:extLst>
          </p:cNvPr>
          <p:cNvSpPr>
            <a:spLocks noGrp="1"/>
          </p:cNvSpPr>
          <p:nvPr/>
        </p:nvSpPr>
        <p:spPr>
          <a:xfrm>
            <a:off x="7581900" y="262890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859">
            <a:solidFill>
              <a:srgbClr val="8A5D0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500" b="1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8A5D08"/>
                </a:solidFill>
                <a:latin typeface="Aptos"/>
                <a:ea typeface="Aptos"/>
                <a:cs typeface="Aptos"/>
              </a:rPr>
              <a:t>Inspect</a:t>
            </a:r>
          </a:p>
        </p:txBody>
      </p:sp>
      <p:sp>
        <p:nvSpPr>
          <p:cNvPr id="12" name="stage-copy-3">
            <a:extLst>
              <a:ext uri="{FF2B5EF4-FFF2-40B4-BE49-F238E27FC236}">
                <a16:creationId xmlns:a16="http://schemas.microsoft.com/office/drawing/2014/main" id="{903073B5-2D4F-4522-8CC7-44255FD35A27}"/>
              </a:ext>
            </a:extLst>
          </p:cNvPr>
          <p:cNvSpPr>
            <a:spLocks noGrp="1"/>
          </p:cNvSpPr>
          <p:nvPr/>
        </p:nvSpPr>
        <p:spPr>
          <a:xfrm>
            <a:off x="7581900" y="352425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看 diff 與輸出</a:t>
            </a:r>
          </a:p>
        </p:txBody>
      </p:sp>
      <p:sp>
        <p:nvSpPr>
          <p:cNvPr id="13" name="stage-4">
            <a:extLst>
              <a:ext uri="{FF2B5EF4-FFF2-40B4-BE49-F238E27FC236}">
                <a16:creationId xmlns:a16="http://schemas.microsoft.com/office/drawing/2014/main" id="{58C1852D-55FF-4637-B591-E810D836A23D}"/>
              </a:ext>
            </a:extLst>
          </p:cNvPr>
          <p:cNvSpPr>
            <a:spLocks noGrp="1"/>
          </p:cNvSpPr>
          <p:nvPr/>
        </p:nvSpPr>
        <p:spPr>
          <a:xfrm>
            <a:off x="9753600" y="2628900"/>
            <a:ext cx="14668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859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50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Decide</a:t>
            </a:r>
          </a:p>
        </p:txBody>
      </p:sp>
      <p:sp>
        <p:nvSpPr>
          <p:cNvPr id="14" name="stage-copy-4">
            <a:extLst>
              <a:ext uri="{FF2B5EF4-FFF2-40B4-BE49-F238E27FC236}">
                <a16:creationId xmlns:a16="http://schemas.microsoft.com/office/drawing/2014/main" id="{74AC7C56-B84F-4919-BA9F-58D6636B74D6}"/>
              </a:ext>
            </a:extLst>
          </p:cNvPr>
          <p:cNvSpPr>
            <a:spLocks noGrp="1"/>
          </p:cNvSpPr>
          <p:nvPr/>
        </p:nvSpPr>
        <p:spPr>
          <a:xfrm>
            <a:off x="9753600" y="352425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保留或重做</a:t>
            </a:r>
          </a:p>
        </p:txBody>
      </p:sp>
      <p:sp>
        <p:nvSpPr>
          <p:cNvPr id="15" name="bottom">
            <a:extLst>
              <a:ext uri="{FF2B5EF4-FFF2-40B4-BE49-F238E27FC236}">
                <a16:creationId xmlns:a16="http://schemas.microsoft.com/office/drawing/2014/main" id="{CB4623F1-BE72-44ED-9045-7A1619F239F3}"/>
              </a:ext>
            </a:extLst>
          </p:cNvPr>
          <p:cNvSpPr>
            <a:spLocks noGrp="1"/>
          </p:cNvSpPr>
          <p:nvPr/>
        </p:nvSpPr>
        <p:spPr>
          <a:xfrm>
            <a:off x="3048000" y="5219700"/>
            <a:ext cx="609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2175" b="1">
                <a:solidFill>
                  <a:srgbClr val="8A5D08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8A5D08"/>
                </a:solidFill>
                <a:latin typeface="PingFang TC"/>
                <a:ea typeface="PingFang TC"/>
                <a:cs typeface="PingFang TC"/>
              </a:rPr>
              <a:t>速度來自短迭代；安全來自明確檢查。</a:t>
            </a:r>
          </a:p>
        </p:txBody>
      </p:sp>
    </p:spTree>
    <p:extLst>
      <p:ext uri="{BB962C8B-B14F-4D97-AF65-F5344CB8AC3E}">
        <p14:creationId xmlns:p14="http://schemas.microsoft.com/office/powerpoint/2010/main" val="27125789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yebrow">
            <a:extLst>
              <a:ext uri="{FF2B5EF4-FFF2-40B4-BE49-F238E27FC236}">
                <a16:creationId xmlns:a16="http://schemas.microsoft.com/office/drawing/2014/main" id="{7E40BF12-4F8C-44F2-BC14-A11E1F58CB84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A5D08"/>
                </a:solidFill>
                <a:latin typeface="Aptos"/>
                <a:ea typeface="Aptos"/>
                <a:cs typeface="Aptos"/>
              </a:rPr>
              <a:t>SAFE VIBE LOOP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FDCC513-A38E-4CD6-9422-A386846B4A00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安全的 vibe coding 一次只推進一個小步驟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4212E18D-F4F4-4CE6-AAC7-9240B0F90452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16/23</a:t>
            </a:r>
          </a:p>
        </p:txBody>
      </p:sp>
      <p:sp>
        <p:nvSpPr>
          <p:cNvPr id="4" name="line-0">
            <a:extLst>
              <a:ext uri="{FF2B5EF4-FFF2-40B4-BE49-F238E27FC236}">
                <a16:creationId xmlns:a16="http://schemas.microsoft.com/office/drawing/2014/main" id="{7AD00BF6-7345-49DC-BD8A-6969711611D5}"/>
              </a:ext>
            </a:extLst>
          </p:cNvPr>
          <p:cNvSpPr>
            <a:spLocks noGrp="1"/>
          </p:cNvSpPr>
          <p:nvPr/>
        </p:nvSpPr>
        <p:spPr>
          <a:xfrm>
            <a:off x="1733550" y="3162300"/>
            <a:ext cx="552450" cy="0"/>
          </a:xfrm>
          <a:prstGeom prst="line">
            <a:avLst/>
          </a:prstGeom>
          <a:noFill/>
          <a:ln w="1333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line-1">
            <a:extLst>
              <a:ext uri="{FF2B5EF4-FFF2-40B4-BE49-F238E27FC236}">
                <a16:creationId xmlns:a16="http://schemas.microsoft.com/office/drawing/2014/main" id="{743482A2-82C4-40AF-BE81-DB79C75F5856}"/>
              </a:ext>
            </a:extLst>
          </p:cNvPr>
          <p:cNvSpPr>
            <a:spLocks noGrp="1"/>
          </p:cNvSpPr>
          <p:nvPr/>
        </p:nvSpPr>
        <p:spPr>
          <a:xfrm>
            <a:off x="3486150" y="3162300"/>
            <a:ext cx="552450" cy="0"/>
          </a:xfrm>
          <a:prstGeom prst="line">
            <a:avLst/>
          </a:prstGeom>
          <a:noFill/>
          <a:ln w="1333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line-2">
            <a:extLst>
              <a:ext uri="{FF2B5EF4-FFF2-40B4-BE49-F238E27FC236}">
                <a16:creationId xmlns:a16="http://schemas.microsoft.com/office/drawing/2014/main" id="{6E5E5420-6883-46BE-8D2D-2BA34E665B1D}"/>
              </a:ext>
            </a:extLst>
          </p:cNvPr>
          <p:cNvSpPr>
            <a:spLocks noGrp="1"/>
          </p:cNvSpPr>
          <p:nvPr/>
        </p:nvSpPr>
        <p:spPr>
          <a:xfrm>
            <a:off x="5238750" y="3162300"/>
            <a:ext cx="552450" cy="0"/>
          </a:xfrm>
          <a:prstGeom prst="line">
            <a:avLst/>
          </a:prstGeom>
          <a:noFill/>
          <a:ln w="1333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line-3">
            <a:extLst>
              <a:ext uri="{FF2B5EF4-FFF2-40B4-BE49-F238E27FC236}">
                <a16:creationId xmlns:a16="http://schemas.microsoft.com/office/drawing/2014/main" id="{45C61B17-072B-4AF9-885A-63B360B3C18E}"/>
              </a:ext>
            </a:extLst>
          </p:cNvPr>
          <p:cNvSpPr>
            <a:spLocks noGrp="1"/>
          </p:cNvSpPr>
          <p:nvPr/>
        </p:nvSpPr>
        <p:spPr>
          <a:xfrm>
            <a:off x="6991350" y="3162300"/>
            <a:ext cx="552450" cy="0"/>
          </a:xfrm>
          <a:prstGeom prst="line">
            <a:avLst/>
          </a:prstGeom>
          <a:noFill/>
          <a:ln w="1333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line-4">
            <a:extLst>
              <a:ext uri="{FF2B5EF4-FFF2-40B4-BE49-F238E27FC236}">
                <a16:creationId xmlns:a16="http://schemas.microsoft.com/office/drawing/2014/main" id="{9E792A9E-1692-4188-B487-4FE0FD377634}"/>
              </a:ext>
            </a:extLst>
          </p:cNvPr>
          <p:cNvSpPr>
            <a:spLocks noGrp="1"/>
          </p:cNvSpPr>
          <p:nvPr/>
        </p:nvSpPr>
        <p:spPr>
          <a:xfrm>
            <a:off x="8743950" y="3162300"/>
            <a:ext cx="552450" cy="0"/>
          </a:xfrm>
          <a:prstGeom prst="line">
            <a:avLst/>
          </a:prstGeom>
          <a:noFill/>
          <a:ln w="1333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num-0">
            <a:extLst>
              <a:ext uri="{FF2B5EF4-FFF2-40B4-BE49-F238E27FC236}">
                <a16:creationId xmlns:a16="http://schemas.microsoft.com/office/drawing/2014/main" id="{F0955D09-90C3-4854-91F3-7D16A6961A06}"/>
              </a:ext>
            </a:extLst>
          </p:cNvPr>
          <p:cNvSpPr>
            <a:spLocks noGrp="1"/>
          </p:cNvSpPr>
          <p:nvPr/>
        </p:nvSpPr>
        <p:spPr>
          <a:xfrm>
            <a:off x="857250" y="27813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FF8E8"/>
          </a:solidFill>
          <a:ln w="12859">
            <a:solidFill>
              <a:srgbClr val="8A5D0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5D0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step-0">
            <a:extLst>
              <a:ext uri="{FF2B5EF4-FFF2-40B4-BE49-F238E27FC236}">
                <a16:creationId xmlns:a16="http://schemas.microsoft.com/office/drawing/2014/main" id="{2FEA6A9D-7761-43B4-BEF1-F4F390ADAB8D}"/>
              </a:ext>
            </a:extLst>
          </p:cNvPr>
          <p:cNvSpPr>
            <a:spLocks noGrp="1"/>
          </p:cNvSpPr>
          <p:nvPr/>
        </p:nvSpPr>
        <p:spPr>
          <a:xfrm>
            <a:off x="1371600" y="2590800"/>
            <a:ext cx="112395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859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Specify</a:t>
            </a:r>
          </a:p>
          <a:p>
            <a:pPr algn="ctr">
              <a:lnSpc>
                <a:spcPct val="102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small task</a:t>
            </a:r>
          </a:p>
        </p:txBody>
      </p:sp>
      <p:sp>
        <p:nvSpPr>
          <p:cNvPr id="11" name="num-1">
            <a:extLst>
              <a:ext uri="{FF2B5EF4-FFF2-40B4-BE49-F238E27FC236}">
                <a16:creationId xmlns:a16="http://schemas.microsoft.com/office/drawing/2014/main" id="{7EF67042-59D0-4F82-B8DB-DDC15D279681}"/>
              </a:ext>
            </a:extLst>
          </p:cNvPr>
          <p:cNvSpPr>
            <a:spLocks noGrp="1"/>
          </p:cNvSpPr>
          <p:nvPr/>
        </p:nvSpPr>
        <p:spPr>
          <a:xfrm>
            <a:off x="2609850" y="27813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FF8E8"/>
          </a:solidFill>
          <a:ln w="12859">
            <a:solidFill>
              <a:srgbClr val="8A5D0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5D0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step-1">
            <a:extLst>
              <a:ext uri="{FF2B5EF4-FFF2-40B4-BE49-F238E27FC236}">
                <a16:creationId xmlns:a16="http://schemas.microsoft.com/office/drawing/2014/main" id="{C94B1284-ACF0-4203-8EAD-FACBA5621BEC}"/>
              </a:ext>
            </a:extLst>
          </p:cNvPr>
          <p:cNvSpPr>
            <a:spLocks noGrp="1"/>
          </p:cNvSpPr>
          <p:nvPr/>
        </p:nvSpPr>
        <p:spPr>
          <a:xfrm>
            <a:off x="3124200" y="2590800"/>
            <a:ext cx="112395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859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Read</a:t>
            </a:r>
          </a:p>
          <a:p>
            <a:pPr algn="ctr">
              <a:lnSpc>
                <a:spcPct val="102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real files</a:t>
            </a:r>
          </a:p>
        </p:txBody>
      </p:sp>
      <p:sp>
        <p:nvSpPr>
          <p:cNvPr id="13" name="num-2">
            <a:extLst>
              <a:ext uri="{FF2B5EF4-FFF2-40B4-BE49-F238E27FC236}">
                <a16:creationId xmlns:a16="http://schemas.microsoft.com/office/drawing/2014/main" id="{D10BDF6C-541C-4725-9913-7E92428C8EB6}"/>
              </a:ext>
            </a:extLst>
          </p:cNvPr>
          <p:cNvSpPr>
            <a:spLocks noGrp="1"/>
          </p:cNvSpPr>
          <p:nvPr/>
        </p:nvSpPr>
        <p:spPr>
          <a:xfrm>
            <a:off x="4362450" y="27813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FF8E8"/>
          </a:solidFill>
          <a:ln w="12859">
            <a:solidFill>
              <a:srgbClr val="8A5D0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5D0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step-2">
            <a:extLst>
              <a:ext uri="{FF2B5EF4-FFF2-40B4-BE49-F238E27FC236}">
                <a16:creationId xmlns:a16="http://schemas.microsoft.com/office/drawing/2014/main" id="{9FA53290-CE46-4FFC-8CB3-5011BC59FFDA}"/>
              </a:ext>
            </a:extLst>
          </p:cNvPr>
          <p:cNvSpPr>
            <a:spLocks noGrp="1"/>
          </p:cNvSpPr>
          <p:nvPr/>
        </p:nvSpPr>
        <p:spPr>
          <a:xfrm>
            <a:off x="4876800" y="2590800"/>
            <a:ext cx="112395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859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Plan</a:t>
            </a:r>
          </a:p>
          <a:p>
            <a:pPr algn="ctr">
              <a:lnSpc>
                <a:spcPct val="102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before edit</a:t>
            </a:r>
          </a:p>
        </p:txBody>
      </p:sp>
      <p:sp>
        <p:nvSpPr>
          <p:cNvPr id="15" name="num-3">
            <a:extLst>
              <a:ext uri="{FF2B5EF4-FFF2-40B4-BE49-F238E27FC236}">
                <a16:creationId xmlns:a16="http://schemas.microsoft.com/office/drawing/2014/main" id="{9AB08299-EC6D-4D1D-8593-42B961D3A8E8}"/>
              </a:ext>
            </a:extLst>
          </p:cNvPr>
          <p:cNvSpPr>
            <a:spLocks noGrp="1"/>
          </p:cNvSpPr>
          <p:nvPr/>
        </p:nvSpPr>
        <p:spPr>
          <a:xfrm>
            <a:off x="6115050" y="27813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FF8E8"/>
          </a:solidFill>
          <a:ln w="12859">
            <a:solidFill>
              <a:srgbClr val="8A5D0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5D0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step-3">
            <a:extLst>
              <a:ext uri="{FF2B5EF4-FFF2-40B4-BE49-F238E27FC236}">
                <a16:creationId xmlns:a16="http://schemas.microsoft.com/office/drawing/2014/main" id="{3EA6C3B7-8129-41FC-BF62-DD6D145B1A51}"/>
              </a:ext>
            </a:extLst>
          </p:cNvPr>
          <p:cNvSpPr>
            <a:spLocks noGrp="1"/>
          </p:cNvSpPr>
          <p:nvPr/>
        </p:nvSpPr>
        <p:spPr>
          <a:xfrm>
            <a:off x="6629400" y="2590800"/>
            <a:ext cx="112395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859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Change</a:t>
            </a:r>
          </a:p>
          <a:p>
            <a:pPr algn="ctr">
              <a:lnSpc>
                <a:spcPct val="102000"/>
              </a:lnSpc>
              <a:buNone/>
              <a:defRPr sz="120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small scope</a:t>
            </a:r>
          </a:p>
        </p:txBody>
      </p:sp>
      <p:sp>
        <p:nvSpPr>
          <p:cNvPr id="17" name="num-4">
            <a:extLst>
              <a:ext uri="{FF2B5EF4-FFF2-40B4-BE49-F238E27FC236}">
                <a16:creationId xmlns:a16="http://schemas.microsoft.com/office/drawing/2014/main" id="{3E7E7BDA-6981-4FA5-966E-3C6824759E38}"/>
              </a:ext>
            </a:extLst>
          </p:cNvPr>
          <p:cNvSpPr>
            <a:spLocks noGrp="1"/>
          </p:cNvSpPr>
          <p:nvPr/>
        </p:nvSpPr>
        <p:spPr>
          <a:xfrm>
            <a:off x="7867650" y="27813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FF8E8"/>
          </a:solidFill>
          <a:ln w="12859">
            <a:solidFill>
              <a:srgbClr val="8A5D0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5D0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8" name="step-4">
            <a:extLst>
              <a:ext uri="{FF2B5EF4-FFF2-40B4-BE49-F238E27FC236}">
                <a16:creationId xmlns:a16="http://schemas.microsoft.com/office/drawing/2014/main" id="{F4BDE75D-6F7A-4C3C-A987-E7931259D124}"/>
              </a:ext>
            </a:extLst>
          </p:cNvPr>
          <p:cNvSpPr>
            <a:spLocks noGrp="1"/>
          </p:cNvSpPr>
          <p:nvPr/>
        </p:nvSpPr>
        <p:spPr>
          <a:xfrm>
            <a:off x="8382000" y="2590800"/>
            <a:ext cx="112395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859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Run</a:t>
            </a:r>
          </a:p>
          <a:p>
            <a:pPr algn="ctr">
              <a:lnSpc>
                <a:spcPct val="102000"/>
              </a:lnSpc>
              <a:buNone/>
              <a:defRPr sz="120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checks</a:t>
            </a:r>
          </a:p>
        </p:txBody>
      </p:sp>
      <p:sp>
        <p:nvSpPr>
          <p:cNvPr id="19" name="num-5">
            <a:extLst>
              <a:ext uri="{FF2B5EF4-FFF2-40B4-BE49-F238E27FC236}">
                <a16:creationId xmlns:a16="http://schemas.microsoft.com/office/drawing/2014/main" id="{897CBB02-26F3-4C11-AD68-5A2D50F8116B}"/>
              </a:ext>
            </a:extLst>
          </p:cNvPr>
          <p:cNvSpPr>
            <a:spLocks noGrp="1"/>
          </p:cNvSpPr>
          <p:nvPr/>
        </p:nvSpPr>
        <p:spPr>
          <a:xfrm>
            <a:off x="9620250" y="278130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FF8E8"/>
          </a:solidFill>
          <a:ln w="12859">
            <a:solidFill>
              <a:srgbClr val="8A5D0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A5D0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0" name="step-5">
            <a:extLst>
              <a:ext uri="{FF2B5EF4-FFF2-40B4-BE49-F238E27FC236}">
                <a16:creationId xmlns:a16="http://schemas.microsoft.com/office/drawing/2014/main" id="{5F1A3219-5E00-4D58-9478-CEB886212EFA}"/>
              </a:ext>
            </a:extLst>
          </p:cNvPr>
          <p:cNvSpPr>
            <a:spLocks noGrp="1"/>
          </p:cNvSpPr>
          <p:nvPr/>
        </p:nvSpPr>
        <p:spPr>
          <a:xfrm>
            <a:off x="10134600" y="2590800"/>
            <a:ext cx="112395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859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Inspect</a:t>
            </a:r>
          </a:p>
          <a:p>
            <a:pPr algn="ctr">
              <a:lnSpc>
                <a:spcPct val="102000"/>
              </a:lnSpc>
              <a:buNone/>
              <a:defRPr sz="120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diff</a:t>
            </a:r>
          </a:p>
        </p:txBody>
      </p:sp>
      <p:sp>
        <p:nvSpPr>
          <p:cNvPr id="21" name="rule">
            <a:extLst>
              <a:ext uri="{FF2B5EF4-FFF2-40B4-BE49-F238E27FC236}">
                <a16:creationId xmlns:a16="http://schemas.microsoft.com/office/drawing/2014/main" id="{585EF382-9165-4472-A554-7458CDA8F1B8}"/>
              </a:ext>
            </a:extLst>
          </p:cNvPr>
          <p:cNvSpPr>
            <a:spLocks noGrp="1"/>
          </p:cNvSpPr>
          <p:nvPr/>
        </p:nvSpPr>
        <p:spPr>
          <a:xfrm>
            <a:off x="2171700" y="4686300"/>
            <a:ext cx="78486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rule-text">
            <a:extLst>
              <a:ext uri="{FF2B5EF4-FFF2-40B4-BE49-F238E27FC236}">
                <a16:creationId xmlns:a16="http://schemas.microsoft.com/office/drawing/2014/main" id="{0C004801-86D1-4525-A838-D30258C17819}"/>
              </a:ext>
            </a:extLst>
          </p:cNvPr>
          <p:cNvSpPr>
            <a:spLocks noGrp="1"/>
          </p:cNvSpPr>
          <p:nvPr/>
        </p:nvSpPr>
        <p:spPr>
          <a:xfrm>
            <a:off x="2476500" y="493395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B043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0432F"/>
                </a:solidFill>
                <a:latin typeface="Aptos"/>
                <a:ea typeface="Aptos"/>
                <a:cs typeface="Aptos"/>
              </a:rPr>
              <a:t>Rule: no broad rewrite, no hidden file changes, no unverified final claim.</a:t>
            </a:r>
          </a:p>
        </p:txBody>
      </p:sp>
    </p:spTree>
    <p:extLst>
      <p:ext uri="{BB962C8B-B14F-4D97-AF65-F5344CB8AC3E}">
        <p14:creationId xmlns:p14="http://schemas.microsoft.com/office/powerpoint/2010/main" val="1791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yebrow">
            <a:extLst>
              <a:ext uri="{FF2B5EF4-FFF2-40B4-BE49-F238E27FC236}">
                <a16:creationId xmlns:a16="http://schemas.microsoft.com/office/drawing/2014/main" id="{61DE57AA-EF88-4A43-863A-C67CFCE4DBDE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B043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0432F"/>
                </a:solidFill>
                <a:latin typeface="Aptos"/>
                <a:ea typeface="Aptos"/>
                <a:cs typeface="Aptos"/>
              </a:rPr>
              <a:t>RISK MATRIX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34E1564-67CA-4585-A7DA-3C96C4627CBD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Vibe coding 適合低模糊、低風險且可驗證的任務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324F5434-1AA6-4211-B6C0-5CC6DEC69E19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17/23</a:t>
            </a:r>
          </a:p>
        </p:txBody>
      </p:sp>
      <p:sp>
        <p:nvSpPr>
          <p:cNvPr id="4" name="matrix">
            <a:extLst>
              <a:ext uri="{FF2B5EF4-FFF2-40B4-BE49-F238E27FC236}">
                <a16:creationId xmlns:a16="http://schemas.microsoft.com/office/drawing/2014/main" id="{02CD296E-DA79-461E-8A70-3CCD09B78BD9}"/>
              </a:ext>
            </a:extLst>
          </p:cNvPr>
          <p:cNvSpPr>
            <a:spLocks noGrp="1"/>
          </p:cNvSpPr>
          <p:nvPr/>
        </p:nvSpPr>
        <p:spPr>
          <a:xfrm>
            <a:off x="2171700" y="1981200"/>
            <a:ext cx="74295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vline">
            <a:extLst>
              <a:ext uri="{FF2B5EF4-FFF2-40B4-BE49-F238E27FC236}">
                <a16:creationId xmlns:a16="http://schemas.microsoft.com/office/drawing/2014/main" id="{AAB50B6A-DC3A-4AA7-9F12-4ABD26C30EE7}"/>
              </a:ext>
            </a:extLst>
          </p:cNvPr>
          <p:cNvSpPr>
            <a:spLocks noGrp="1"/>
          </p:cNvSpPr>
          <p:nvPr/>
        </p:nvSpPr>
        <p:spPr>
          <a:xfrm>
            <a:off x="5886450" y="1981200"/>
            <a:ext cx="0" cy="3429000"/>
          </a:xfrm>
          <a:prstGeom prst="line">
            <a:avLst/>
          </a:prstGeom>
          <a:noFill/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hline">
            <a:extLst>
              <a:ext uri="{FF2B5EF4-FFF2-40B4-BE49-F238E27FC236}">
                <a16:creationId xmlns:a16="http://schemas.microsoft.com/office/drawing/2014/main" id="{7AF939D8-C61D-4D07-B860-E4CABDA6337B}"/>
              </a:ext>
            </a:extLst>
          </p:cNvPr>
          <p:cNvSpPr>
            <a:spLocks noGrp="1"/>
          </p:cNvSpPr>
          <p:nvPr/>
        </p:nvSpPr>
        <p:spPr>
          <a:xfrm>
            <a:off x="2171700" y="3695700"/>
            <a:ext cx="7429500" cy="0"/>
          </a:xfrm>
          <a:prstGeom prst="line">
            <a:avLst/>
          </a:prstGeom>
          <a:noFill/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axis-x">
            <a:extLst>
              <a:ext uri="{FF2B5EF4-FFF2-40B4-BE49-F238E27FC236}">
                <a16:creationId xmlns:a16="http://schemas.microsoft.com/office/drawing/2014/main" id="{E08AC1C8-A84A-4BB5-BB2F-697FBE1B2246}"/>
              </a:ext>
            </a:extLst>
          </p:cNvPr>
          <p:cNvSpPr>
            <a:spLocks noGrp="1"/>
          </p:cNvSpPr>
          <p:nvPr/>
        </p:nvSpPr>
        <p:spPr>
          <a:xfrm>
            <a:off x="4648200" y="55245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Task ambiguity</a:t>
            </a:r>
          </a:p>
        </p:txBody>
      </p:sp>
      <p:sp>
        <p:nvSpPr>
          <p:cNvPr id="8" name="axis-y">
            <a:extLst>
              <a:ext uri="{FF2B5EF4-FFF2-40B4-BE49-F238E27FC236}">
                <a16:creationId xmlns:a16="http://schemas.microsoft.com/office/drawing/2014/main" id="{92A1FF2A-457F-453F-A0B3-FE9AEDE023AE}"/>
              </a:ext>
            </a:extLst>
          </p:cNvPr>
          <p:cNvSpPr>
            <a:spLocks noGrp="1"/>
          </p:cNvSpPr>
          <p:nvPr/>
        </p:nvSpPr>
        <p:spPr>
          <a:xfrm>
            <a:off x="1181100" y="3390900"/>
            <a:ext cx="87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Impact / risk</a:t>
            </a:r>
          </a:p>
        </p:txBody>
      </p:sp>
      <p:sp>
        <p:nvSpPr>
          <p:cNvPr id="9" name="q1">
            <a:extLst>
              <a:ext uri="{FF2B5EF4-FFF2-40B4-BE49-F238E27FC236}">
                <a16:creationId xmlns:a16="http://schemas.microsoft.com/office/drawing/2014/main" id="{295C8FF6-F555-4309-B613-27B8543BCA3B}"/>
              </a:ext>
            </a:extLst>
          </p:cNvPr>
          <p:cNvSpPr>
            <a:spLocks noGrp="1"/>
          </p:cNvSpPr>
          <p:nvPr/>
        </p:nvSpPr>
        <p:spPr>
          <a:xfrm>
            <a:off x="2571750" y="4171950"/>
            <a:ext cx="257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B6E6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B6E68"/>
                </a:solidFill>
                <a:latin typeface="PingFang TC"/>
                <a:ea typeface="PingFang TC"/>
                <a:cs typeface="PingFang TC"/>
              </a:rPr>
              <a:t>Parsing script</a:t>
            </a:r>
          </a:p>
          <a:p>
            <a:pPr algn="ctr">
              <a:lnSpc>
                <a:spcPct val="108000"/>
              </a:lnSpc>
              <a:buNone/>
              <a:defRPr sz="1650" b="1">
                <a:solidFill>
                  <a:srgbClr val="0B6E6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B6E68"/>
                </a:solidFill>
                <a:latin typeface="PingFang TC"/>
                <a:ea typeface="PingFang TC"/>
                <a:cs typeface="PingFang TC"/>
              </a:rPr>
              <a:t>Report draft</a:t>
            </a:r>
          </a:p>
        </p:txBody>
      </p:sp>
      <p:sp>
        <p:nvSpPr>
          <p:cNvPr id="10" name="q2">
            <a:extLst>
              <a:ext uri="{FF2B5EF4-FFF2-40B4-BE49-F238E27FC236}">
                <a16:creationId xmlns:a16="http://schemas.microsoft.com/office/drawing/2014/main" id="{71CA55C8-C744-456D-9529-E4A06AF0155D}"/>
              </a:ext>
            </a:extLst>
          </p:cNvPr>
          <p:cNvSpPr>
            <a:spLocks noGrp="1"/>
          </p:cNvSpPr>
          <p:nvPr/>
        </p:nvSpPr>
        <p:spPr>
          <a:xfrm>
            <a:off x="6648450" y="4171950"/>
            <a:ext cx="219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Exploratory</a:t>
            </a:r>
          </a:p>
          <a:p>
            <a:pPr algn="ctr">
              <a:lnSpc>
                <a:spcPct val="108000"/>
              </a:lnSpc>
              <a:buNone/>
              <a:def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prototype</a:t>
            </a:r>
          </a:p>
        </p:txBody>
      </p:sp>
      <p:sp>
        <p:nvSpPr>
          <p:cNvPr id="11" name="q3">
            <a:extLst>
              <a:ext uri="{FF2B5EF4-FFF2-40B4-BE49-F238E27FC236}">
                <a16:creationId xmlns:a16="http://schemas.microsoft.com/office/drawing/2014/main" id="{983DB9DC-09D8-4ECC-A605-3DE7CEE58E81}"/>
              </a:ext>
            </a:extLst>
          </p:cNvPr>
          <p:cNvSpPr>
            <a:spLocks noGrp="1"/>
          </p:cNvSpPr>
          <p:nvPr/>
        </p:nvSpPr>
        <p:spPr>
          <a:xfrm>
            <a:off x="2571750" y="2495550"/>
            <a:ext cx="257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8A5D0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8A5D08"/>
                </a:solidFill>
                <a:latin typeface="PingFang TC"/>
                <a:ea typeface="PingFang TC"/>
                <a:cs typeface="PingFang TC"/>
              </a:rPr>
              <a:t>Validated</a:t>
            </a:r>
          </a:p>
          <a:p>
            <a:pPr algn="ctr">
              <a:lnSpc>
                <a:spcPct val="108000"/>
              </a:lnSpc>
              <a:buNone/>
              <a:defRPr sz="1650" b="1">
                <a:solidFill>
                  <a:srgbClr val="8A5D0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8A5D08"/>
                </a:solidFill>
                <a:latin typeface="PingFang TC"/>
                <a:ea typeface="PingFang TC"/>
                <a:cs typeface="PingFang TC"/>
              </a:rPr>
              <a:t>analysis tool</a:t>
            </a:r>
          </a:p>
        </p:txBody>
      </p:sp>
      <p:sp>
        <p:nvSpPr>
          <p:cNvPr id="12" name="q4">
            <a:extLst>
              <a:ext uri="{FF2B5EF4-FFF2-40B4-BE49-F238E27FC236}">
                <a16:creationId xmlns:a16="http://schemas.microsoft.com/office/drawing/2014/main" id="{C6E02CE8-A779-4CB7-9C05-8961DB4B9832}"/>
              </a:ext>
            </a:extLst>
          </p:cNvPr>
          <p:cNvSpPr>
            <a:spLocks noGrp="1"/>
          </p:cNvSpPr>
          <p:nvPr/>
        </p:nvSpPr>
        <p:spPr>
          <a:xfrm>
            <a:off x="6362700" y="2343150"/>
            <a:ext cx="2857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B0432F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B0432F"/>
                </a:solidFill>
                <a:latin typeface="PingFang TC"/>
                <a:ea typeface="PingFang TC"/>
                <a:cs typeface="PingFang TC"/>
              </a:rPr>
              <a:t>Clinical claim</a:t>
            </a:r>
          </a:p>
          <a:p>
            <a:pPr algn="ctr">
              <a:lnSpc>
                <a:spcPct val="108000"/>
              </a:lnSpc>
              <a:buNone/>
              <a:defRPr sz="1500" b="1">
                <a:solidFill>
                  <a:srgbClr val="B0432F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B0432F"/>
                </a:solidFill>
                <a:latin typeface="PingFang TC"/>
                <a:ea typeface="PingFang TC"/>
                <a:cs typeface="PingFang TC"/>
              </a:rPr>
              <a:t>Unverified statistic</a:t>
            </a:r>
          </a:p>
          <a:p>
            <a:pPr algn="ctr">
              <a:lnSpc>
                <a:spcPct val="108000"/>
              </a:lnSpc>
              <a:buNone/>
              <a:defRPr sz="1500" b="1">
                <a:solidFill>
                  <a:srgbClr val="B0432F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B0432F"/>
                </a:solidFill>
                <a:latin typeface="PingFang TC"/>
                <a:ea typeface="PingFang TC"/>
                <a:cs typeface="PingFang TC"/>
              </a:rPr>
              <a:t>Citation-sensitive summary</a:t>
            </a:r>
          </a:p>
        </p:txBody>
      </p:sp>
      <p:sp>
        <p:nvSpPr>
          <p:cNvPr id="13" name="matrix-note">
            <a:extLst>
              <a:ext uri="{FF2B5EF4-FFF2-40B4-BE49-F238E27FC236}">
                <a16:creationId xmlns:a16="http://schemas.microsoft.com/office/drawing/2014/main" id="{E551EE05-A13F-4982-B7C4-CB0F59593EAC}"/>
              </a:ext>
            </a:extLst>
          </p:cNvPr>
          <p:cNvSpPr>
            <a:spLocks noGrp="1"/>
          </p:cNvSpPr>
          <p:nvPr/>
        </p:nvSpPr>
        <p:spPr>
          <a:xfrm>
            <a:off x="2228850" y="5905500"/>
            <a:ext cx="744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能跑不是標準；可追溯、可測試、可解釋才是標準。</a:t>
            </a:r>
          </a:p>
        </p:txBody>
      </p:sp>
    </p:spTree>
    <p:extLst>
      <p:ext uri="{BB962C8B-B14F-4D97-AF65-F5344CB8AC3E}">
        <p14:creationId xmlns:p14="http://schemas.microsoft.com/office/powerpoint/2010/main" val="33385073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yebrow">
            <a:extLst>
              <a:ext uri="{FF2B5EF4-FFF2-40B4-BE49-F238E27FC236}">
                <a16:creationId xmlns:a16="http://schemas.microsoft.com/office/drawing/2014/main" id="{A03F4253-DBBC-4819-99D6-C7B8ED462E4E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DESKTOP UTILITIES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A40FCB6-2594-4798-A4D4-940370819993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Desktop utilities 把研究者的日常材料接進 workflow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4DD7BA62-4AE2-4FB8-93E5-31D25DC5893A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18/23</a:t>
            </a:r>
          </a:p>
        </p:txBody>
      </p:sp>
      <p:sp>
        <p:nvSpPr>
          <p:cNvPr id="4" name="tool-0">
            <a:extLst>
              <a:ext uri="{FF2B5EF4-FFF2-40B4-BE49-F238E27FC236}">
                <a16:creationId xmlns:a16="http://schemas.microsoft.com/office/drawing/2014/main" id="{9BA44E01-EB3D-48B9-AF17-336AB1C2A97B}"/>
              </a:ext>
            </a:extLst>
          </p:cNvPr>
          <p:cNvSpPr>
            <a:spLocks noGrp="1"/>
          </p:cNvSpPr>
          <p:nvPr/>
        </p:nvSpPr>
        <p:spPr>
          <a:xfrm>
            <a:off x="1428750" y="1962150"/>
            <a:ext cx="16954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859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Browser</a:t>
            </a:r>
          </a:p>
        </p:txBody>
      </p:sp>
      <p:sp>
        <p:nvSpPr>
          <p:cNvPr id="5" name="use-0">
            <a:extLst>
              <a:ext uri="{FF2B5EF4-FFF2-40B4-BE49-F238E27FC236}">
                <a16:creationId xmlns:a16="http://schemas.microsoft.com/office/drawing/2014/main" id="{2A5EDDA1-4E6D-48BB-840E-07B727420091}"/>
              </a:ext>
            </a:extLst>
          </p:cNvPr>
          <p:cNvSpPr>
            <a:spLocks noGrp="1"/>
          </p:cNvSpPr>
          <p:nvPr/>
        </p:nvSpPr>
        <p:spPr>
          <a:xfrm>
            <a:off x="3771900" y="2057400"/>
            <a:ext cx="552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PubMed / guideline / database</a:t>
            </a:r>
          </a:p>
        </p:txBody>
      </p:sp>
      <p:sp>
        <p:nvSpPr>
          <p:cNvPr id="6" name="link-0">
            <a:extLst>
              <a:ext uri="{FF2B5EF4-FFF2-40B4-BE49-F238E27FC236}">
                <a16:creationId xmlns:a16="http://schemas.microsoft.com/office/drawing/2014/main" id="{09828189-8BA2-4332-962B-420EE3E2F41C}"/>
              </a:ext>
            </a:extLst>
          </p:cNvPr>
          <p:cNvSpPr>
            <a:spLocks noGrp="1"/>
          </p:cNvSpPr>
          <p:nvPr/>
        </p:nvSpPr>
        <p:spPr>
          <a:xfrm>
            <a:off x="3219450" y="2190750"/>
            <a:ext cx="361950" cy="0"/>
          </a:xfrm>
          <a:prstGeom prst="line">
            <a:avLst/>
          </a:prstGeom>
          <a:noFill/>
          <a:ln w="1143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ool-1">
            <a:extLst>
              <a:ext uri="{FF2B5EF4-FFF2-40B4-BE49-F238E27FC236}">
                <a16:creationId xmlns:a16="http://schemas.microsoft.com/office/drawing/2014/main" id="{812CDE63-9ABF-498C-894D-E41D20989D93}"/>
              </a:ext>
            </a:extLst>
          </p:cNvPr>
          <p:cNvSpPr>
            <a:spLocks noGrp="1"/>
          </p:cNvSpPr>
          <p:nvPr/>
        </p:nvSpPr>
        <p:spPr>
          <a:xfrm>
            <a:off x="1428750" y="2609850"/>
            <a:ext cx="16954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859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Files</a:t>
            </a:r>
          </a:p>
        </p:txBody>
      </p:sp>
      <p:sp>
        <p:nvSpPr>
          <p:cNvPr id="8" name="use-1">
            <a:extLst>
              <a:ext uri="{FF2B5EF4-FFF2-40B4-BE49-F238E27FC236}">
                <a16:creationId xmlns:a16="http://schemas.microsoft.com/office/drawing/2014/main" id="{7C86C5EB-0730-48EC-A867-847302215971}"/>
              </a:ext>
            </a:extLst>
          </p:cNvPr>
          <p:cNvSpPr>
            <a:spLocks noGrp="1"/>
          </p:cNvSpPr>
          <p:nvPr/>
        </p:nvSpPr>
        <p:spPr>
          <a:xfrm>
            <a:off x="3771900" y="2705100"/>
            <a:ext cx="552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PDF / CSV / Excel / notes</a:t>
            </a:r>
          </a:p>
        </p:txBody>
      </p:sp>
      <p:sp>
        <p:nvSpPr>
          <p:cNvPr id="9" name="link-1">
            <a:extLst>
              <a:ext uri="{FF2B5EF4-FFF2-40B4-BE49-F238E27FC236}">
                <a16:creationId xmlns:a16="http://schemas.microsoft.com/office/drawing/2014/main" id="{9E4541DE-9E60-4660-ACF8-6BAFD745B888}"/>
              </a:ext>
            </a:extLst>
          </p:cNvPr>
          <p:cNvSpPr>
            <a:spLocks noGrp="1"/>
          </p:cNvSpPr>
          <p:nvPr/>
        </p:nvSpPr>
        <p:spPr>
          <a:xfrm>
            <a:off x="3219450" y="2838450"/>
            <a:ext cx="361950" cy="0"/>
          </a:xfrm>
          <a:prstGeom prst="line">
            <a:avLst/>
          </a:prstGeom>
          <a:noFill/>
          <a:ln w="1143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ool-2">
            <a:extLst>
              <a:ext uri="{FF2B5EF4-FFF2-40B4-BE49-F238E27FC236}">
                <a16:creationId xmlns:a16="http://schemas.microsoft.com/office/drawing/2014/main" id="{3AD65C68-B4A1-47EB-91EA-E7C5BE1B2D41}"/>
              </a:ext>
            </a:extLst>
          </p:cNvPr>
          <p:cNvSpPr>
            <a:spLocks noGrp="1"/>
          </p:cNvSpPr>
          <p:nvPr/>
        </p:nvSpPr>
        <p:spPr>
          <a:xfrm>
            <a:off x="1428750" y="3257550"/>
            <a:ext cx="16954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859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Terminal</a:t>
            </a:r>
          </a:p>
        </p:txBody>
      </p:sp>
      <p:sp>
        <p:nvSpPr>
          <p:cNvPr id="11" name="use-2">
            <a:extLst>
              <a:ext uri="{FF2B5EF4-FFF2-40B4-BE49-F238E27FC236}">
                <a16:creationId xmlns:a16="http://schemas.microsoft.com/office/drawing/2014/main" id="{16E2F569-EE36-498C-90ED-9022CC222B5A}"/>
              </a:ext>
            </a:extLst>
          </p:cNvPr>
          <p:cNvSpPr>
            <a:spLocks noGrp="1"/>
          </p:cNvSpPr>
          <p:nvPr/>
        </p:nvSpPr>
        <p:spPr>
          <a:xfrm>
            <a:off x="3771900" y="3352800"/>
            <a:ext cx="552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轉檔、檢查欄位、跑 script</a:t>
            </a:r>
          </a:p>
        </p:txBody>
      </p:sp>
      <p:sp>
        <p:nvSpPr>
          <p:cNvPr id="12" name="link-2">
            <a:extLst>
              <a:ext uri="{FF2B5EF4-FFF2-40B4-BE49-F238E27FC236}">
                <a16:creationId xmlns:a16="http://schemas.microsoft.com/office/drawing/2014/main" id="{560E375A-7EE2-4BEC-80D6-4400651088E8}"/>
              </a:ext>
            </a:extLst>
          </p:cNvPr>
          <p:cNvSpPr>
            <a:spLocks noGrp="1"/>
          </p:cNvSpPr>
          <p:nvPr/>
        </p:nvSpPr>
        <p:spPr>
          <a:xfrm>
            <a:off x="3219450" y="3486150"/>
            <a:ext cx="361950" cy="0"/>
          </a:xfrm>
          <a:prstGeom prst="line">
            <a:avLst/>
          </a:prstGeom>
          <a:noFill/>
          <a:ln w="1143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ool-3">
            <a:extLst>
              <a:ext uri="{FF2B5EF4-FFF2-40B4-BE49-F238E27FC236}">
                <a16:creationId xmlns:a16="http://schemas.microsoft.com/office/drawing/2014/main" id="{E12271F6-391E-40F4-A9E6-DB77244E1C53}"/>
              </a:ext>
            </a:extLst>
          </p:cNvPr>
          <p:cNvSpPr>
            <a:spLocks noGrp="1"/>
          </p:cNvSpPr>
          <p:nvPr/>
        </p:nvSpPr>
        <p:spPr>
          <a:xfrm>
            <a:off x="1428750" y="3905250"/>
            <a:ext cx="1695450" cy="457200"/>
          </a:xfrm>
          <a:prstGeom prst="roundRect">
            <a:avLst>
              <a:gd name="adj" fmla="val 16667"/>
            </a:avLst>
          </a:prstGeom>
          <a:solidFill>
            <a:srgbClr val="FFF8E8"/>
          </a:solidFill>
          <a:ln w="12859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Spreadsheet</a:t>
            </a:r>
          </a:p>
        </p:txBody>
      </p:sp>
      <p:sp>
        <p:nvSpPr>
          <p:cNvPr id="14" name="use-3">
            <a:extLst>
              <a:ext uri="{FF2B5EF4-FFF2-40B4-BE49-F238E27FC236}">
                <a16:creationId xmlns:a16="http://schemas.microsoft.com/office/drawing/2014/main" id="{EDDF754B-323E-4A66-9753-361B7AE9B72B}"/>
              </a:ext>
            </a:extLst>
          </p:cNvPr>
          <p:cNvSpPr>
            <a:spLocks noGrp="1"/>
          </p:cNvSpPr>
          <p:nvPr/>
        </p:nvSpPr>
        <p:spPr>
          <a:xfrm>
            <a:off x="3771900" y="4000500"/>
            <a:ext cx="552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evidence table 與人工 review</a:t>
            </a:r>
          </a:p>
        </p:txBody>
      </p:sp>
      <p:sp>
        <p:nvSpPr>
          <p:cNvPr id="15" name="link-3">
            <a:extLst>
              <a:ext uri="{FF2B5EF4-FFF2-40B4-BE49-F238E27FC236}">
                <a16:creationId xmlns:a16="http://schemas.microsoft.com/office/drawing/2014/main" id="{E9BC7A59-C898-4156-89A7-F57C713B1A1C}"/>
              </a:ext>
            </a:extLst>
          </p:cNvPr>
          <p:cNvSpPr>
            <a:spLocks noGrp="1"/>
          </p:cNvSpPr>
          <p:nvPr/>
        </p:nvSpPr>
        <p:spPr>
          <a:xfrm>
            <a:off x="3219450" y="4133850"/>
            <a:ext cx="361950" cy="0"/>
          </a:xfrm>
          <a:prstGeom prst="line">
            <a:avLst/>
          </a:prstGeom>
          <a:noFill/>
          <a:ln w="1143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ool-4">
            <a:extLst>
              <a:ext uri="{FF2B5EF4-FFF2-40B4-BE49-F238E27FC236}">
                <a16:creationId xmlns:a16="http://schemas.microsoft.com/office/drawing/2014/main" id="{07064649-E3D4-4781-8EAD-852DF155138B}"/>
              </a:ext>
            </a:extLst>
          </p:cNvPr>
          <p:cNvSpPr>
            <a:spLocks noGrp="1"/>
          </p:cNvSpPr>
          <p:nvPr/>
        </p:nvSpPr>
        <p:spPr>
          <a:xfrm>
            <a:off x="1428750" y="4552950"/>
            <a:ext cx="16954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859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Notes</a:t>
            </a:r>
          </a:p>
        </p:txBody>
      </p:sp>
      <p:sp>
        <p:nvSpPr>
          <p:cNvPr id="17" name="use-4">
            <a:extLst>
              <a:ext uri="{FF2B5EF4-FFF2-40B4-BE49-F238E27FC236}">
                <a16:creationId xmlns:a16="http://schemas.microsoft.com/office/drawing/2014/main" id="{34881723-581C-4799-BC77-A0D14AA15C15}"/>
              </a:ext>
            </a:extLst>
          </p:cNvPr>
          <p:cNvSpPr>
            <a:spLocks noGrp="1"/>
          </p:cNvSpPr>
          <p:nvPr/>
        </p:nvSpPr>
        <p:spPr>
          <a:xfrm>
            <a:off x="3771900" y="4648200"/>
            <a:ext cx="552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research log 與 limitations</a:t>
            </a:r>
          </a:p>
        </p:txBody>
      </p:sp>
      <p:sp>
        <p:nvSpPr>
          <p:cNvPr id="18" name="link-4">
            <a:extLst>
              <a:ext uri="{FF2B5EF4-FFF2-40B4-BE49-F238E27FC236}">
                <a16:creationId xmlns:a16="http://schemas.microsoft.com/office/drawing/2014/main" id="{2BBDC26B-8BE4-499D-BDCD-445F5FF5C472}"/>
              </a:ext>
            </a:extLst>
          </p:cNvPr>
          <p:cNvSpPr>
            <a:spLocks noGrp="1"/>
          </p:cNvSpPr>
          <p:nvPr/>
        </p:nvSpPr>
        <p:spPr>
          <a:xfrm>
            <a:off x="3219450" y="4781550"/>
            <a:ext cx="361950" cy="0"/>
          </a:xfrm>
          <a:prstGeom prst="line">
            <a:avLst/>
          </a:prstGeom>
          <a:noFill/>
          <a:ln w="1143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bottom">
            <a:extLst>
              <a:ext uri="{FF2B5EF4-FFF2-40B4-BE49-F238E27FC236}">
                <a16:creationId xmlns:a16="http://schemas.microsoft.com/office/drawing/2014/main" id="{3CBE8FB0-1877-468F-ABB3-C3A33CCF37FA}"/>
              </a:ext>
            </a:extLst>
          </p:cNvPr>
          <p:cNvSpPr>
            <a:spLocks noGrp="1"/>
          </p:cNvSpPr>
          <p:nvPr/>
        </p:nvSpPr>
        <p:spPr>
          <a:xfrm>
            <a:off x="1714500" y="55816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價值不是神奇自動化，而是減少手動搬運、遺漏與不可追溯。</a:t>
            </a:r>
          </a:p>
        </p:txBody>
      </p:sp>
    </p:spTree>
    <p:extLst>
      <p:ext uri="{BB962C8B-B14F-4D97-AF65-F5344CB8AC3E}">
        <p14:creationId xmlns:p14="http://schemas.microsoft.com/office/powerpoint/2010/main" val="24322939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yebrow">
            <a:extLst>
              <a:ext uri="{FF2B5EF4-FFF2-40B4-BE49-F238E27FC236}">
                <a16:creationId xmlns:a16="http://schemas.microsoft.com/office/drawing/2014/main" id="{96DB951D-A670-4149-8B31-6D3FFEE77A6B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TOOL-USE LIFECYCLE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2392868-9993-4642-B42D-85545CA39DA8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 dirty="0" err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每次工具呼叫都要能被觀察與記錄</a:t>
            </a:r>
            <a:endParaRPr sz="2700" b="1" dirty="0">
              <a:solidFill>
                <a:srgbClr val="17202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143FC0CB-E604-4FCC-B629-AAF441AE4A59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19/23</a:t>
            </a:r>
          </a:p>
        </p:txBody>
      </p:sp>
      <p:sp>
        <p:nvSpPr>
          <p:cNvPr id="4" name="flow">
            <a:extLst>
              <a:ext uri="{FF2B5EF4-FFF2-40B4-BE49-F238E27FC236}">
                <a16:creationId xmlns:a16="http://schemas.microsoft.com/office/drawing/2014/main" id="{2A2A1035-247C-428F-AC20-E30783BF24B2}"/>
              </a:ext>
            </a:extLst>
          </p:cNvPr>
          <p:cNvSpPr>
            <a:spLocks noGrp="1"/>
          </p:cNvSpPr>
          <p:nvPr/>
        </p:nvSpPr>
        <p:spPr>
          <a:xfrm>
            <a:off x="2095500" y="3219450"/>
            <a:ext cx="8001000" cy="0"/>
          </a:xfrm>
          <a:prstGeom prst="line">
            <a:avLst/>
          </a:prstGeom>
          <a:noFill/>
          <a:ln w="15240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tep-0">
            <a:extLst>
              <a:ext uri="{FF2B5EF4-FFF2-40B4-BE49-F238E27FC236}">
                <a16:creationId xmlns:a16="http://schemas.microsoft.com/office/drawing/2014/main" id="{B1A865F7-1375-4552-950B-C2B12FFDC03B}"/>
              </a:ext>
            </a:extLst>
          </p:cNvPr>
          <p:cNvSpPr>
            <a:spLocks noGrp="1"/>
          </p:cNvSpPr>
          <p:nvPr/>
        </p:nvSpPr>
        <p:spPr>
          <a:xfrm>
            <a:off x="1238250" y="2724150"/>
            <a:ext cx="161925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859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65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Call</a:t>
            </a:r>
          </a:p>
        </p:txBody>
      </p:sp>
      <p:sp>
        <p:nvSpPr>
          <p:cNvPr id="6" name="copy-0">
            <a:extLst>
              <a:ext uri="{FF2B5EF4-FFF2-40B4-BE49-F238E27FC236}">
                <a16:creationId xmlns:a16="http://schemas.microsoft.com/office/drawing/2014/main" id="{30CA63D2-B609-4090-92AE-64D47205485B}"/>
              </a:ext>
            </a:extLst>
          </p:cNvPr>
          <p:cNvSpPr>
            <a:spLocks noGrp="1"/>
          </p:cNvSpPr>
          <p:nvPr/>
        </p:nvSpPr>
        <p:spPr>
          <a:xfrm>
            <a:off x="1238250" y="36195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structured input</a:t>
            </a:r>
          </a:p>
        </p:txBody>
      </p:sp>
      <p:sp>
        <p:nvSpPr>
          <p:cNvPr id="7" name="step-1">
            <a:extLst>
              <a:ext uri="{FF2B5EF4-FFF2-40B4-BE49-F238E27FC236}">
                <a16:creationId xmlns:a16="http://schemas.microsoft.com/office/drawing/2014/main" id="{D3BFEC97-A064-4EF0-987E-D8A258BB456F}"/>
              </a:ext>
            </a:extLst>
          </p:cNvPr>
          <p:cNvSpPr>
            <a:spLocks noGrp="1"/>
          </p:cNvSpPr>
          <p:nvPr/>
        </p:nvSpPr>
        <p:spPr>
          <a:xfrm>
            <a:off x="3905250" y="2724150"/>
            <a:ext cx="161925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859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65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8" name="copy-1">
            <a:extLst>
              <a:ext uri="{FF2B5EF4-FFF2-40B4-BE49-F238E27FC236}">
                <a16:creationId xmlns:a16="http://schemas.microsoft.com/office/drawing/2014/main" id="{F2E1263F-D142-4AF1-A3EA-FFF8131CFFE6}"/>
              </a:ext>
            </a:extLst>
          </p:cNvPr>
          <p:cNvSpPr>
            <a:spLocks noGrp="1"/>
          </p:cNvSpPr>
          <p:nvPr/>
        </p:nvSpPr>
        <p:spPr>
          <a:xfrm>
            <a:off x="3905250" y="36195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tool output</a:t>
            </a:r>
          </a:p>
        </p:txBody>
      </p:sp>
      <p:sp>
        <p:nvSpPr>
          <p:cNvPr id="9" name="step-2">
            <a:extLst>
              <a:ext uri="{FF2B5EF4-FFF2-40B4-BE49-F238E27FC236}">
                <a16:creationId xmlns:a16="http://schemas.microsoft.com/office/drawing/2014/main" id="{6E13410E-E7C7-4F3A-84E8-EBD76108EEED}"/>
              </a:ext>
            </a:extLst>
          </p:cNvPr>
          <p:cNvSpPr>
            <a:spLocks noGrp="1"/>
          </p:cNvSpPr>
          <p:nvPr/>
        </p:nvSpPr>
        <p:spPr>
          <a:xfrm>
            <a:off x="6572250" y="2724150"/>
            <a:ext cx="1619250" cy="571500"/>
          </a:xfrm>
          <a:prstGeom prst="roundRect">
            <a:avLst>
              <a:gd name="adj" fmla="val 13333"/>
            </a:avLst>
          </a:prstGeom>
          <a:solidFill>
            <a:srgbClr val="FFF8E8"/>
          </a:solidFill>
          <a:ln w="12859">
            <a:solidFill>
              <a:srgbClr val="8A5D0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650" b="1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8A5D08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10" name="copy-2">
            <a:extLst>
              <a:ext uri="{FF2B5EF4-FFF2-40B4-BE49-F238E27FC236}">
                <a16:creationId xmlns:a16="http://schemas.microsoft.com/office/drawing/2014/main" id="{1E54273A-C21A-49CD-B9F9-B11A1B9E3B8A}"/>
              </a:ext>
            </a:extLst>
          </p:cNvPr>
          <p:cNvSpPr>
            <a:spLocks noGrp="1"/>
          </p:cNvSpPr>
          <p:nvPr/>
        </p:nvSpPr>
        <p:spPr>
          <a:xfrm>
            <a:off x="6572250" y="36195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schema + source</a:t>
            </a:r>
          </a:p>
        </p:txBody>
      </p:sp>
      <p:sp>
        <p:nvSpPr>
          <p:cNvPr id="11" name="step-3">
            <a:extLst>
              <a:ext uri="{FF2B5EF4-FFF2-40B4-BE49-F238E27FC236}">
                <a16:creationId xmlns:a16="http://schemas.microsoft.com/office/drawing/2014/main" id="{D206A0CF-B632-44B2-89FF-734C652B6832}"/>
              </a:ext>
            </a:extLst>
          </p:cNvPr>
          <p:cNvSpPr>
            <a:spLocks noGrp="1"/>
          </p:cNvSpPr>
          <p:nvPr/>
        </p:nvSpPr>
        <p:spPr>
          <a:xfrm>
            <a:off x="9239250" y="2724150"/>
            <a:ext cx="161925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859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65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Record</a:t>
            </a:r>
          </a:p>
        </p:txBody>
      </p:sp>
      <p:sp>
        <p:nvSpPr>
          <p:cNvPr id="12" name="copy-3">
            <a:extLst>
              <a:ext uri="{FF2B5EF4-FFF2-40B4-BE49-F238E27FC236}">
                <a16:creationId xmlns:a16="http://schemas.microsoft.com/office/drawing/2014/main" id="{A6E2D3EF-D203-4830-9D5A-B58231401085}"/>
              </a:ext>
            </a:extLst>
          </p:cNvPr>
          <p:cNvSpPr>
            <a:spLocks noGrp="1"/>
          </p:cNvSpPr>
          <p:nvPr/>
        </p:nvSpPr>
        <p:spPr>
          <a:xfrm>
            <a:off x="9239250" y="36195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log + artifact</a:t>
            </a:r>
          </a:p>
        </p:txBody>
      </p:sp>
      <p:sp>
        <p:nvSpPr>
          <p:cNvPr id="13" name="example">
            <a:extLst>
              <a:ext uri="{FF2B5EF4-FFF2-40B4-BE49-F238E27FC236}">
                <a16:creationId xmlns:a16="http://schemas.microsoft.com/office/drawing/2014/main" id="{A9F388AD-86DD-44EA-9657-5FAB9D7EB719}"/>
              </a:ext>
            </a:extLst>
          </p:cNvPr>
          <p:cNvSpPr>
            <a:spLocks noGrp="1"/>
          </p:cNvSpPr>
          <p:nvPr/>
        </p:nvSpPr>
        <p:spPr>
          <a:xfrm>
            <a:off x="2000250" y="4762500"/>
            <a:ext cx="81915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example-text">
            <a:extLst>
              <a:ext uri="{FF2B5EF4-FFF2-40B4-BE49-F238E27FC236}">
                <a16:creationId xmlns:a16="http://schemas.microsoft.com/office/drawing/2014/main" id="{BC292FA4-0826-4ED0-AED6-C45FC55EE8E1}"/>
              </a:ext>
            </a:extLst>
          </p:cNvPr>
          <p:cNvSpPr>
            <a:spLocks noGrp="1"/>
          </p:cNvSpPr>
          <p:nvPr/>
        </p:nvSpPr>
        <p:spPr>
          <a:xfrm>
            <a:off x="2400300" y="4991100"/>
            <a:ext cx="742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Example: PubMed query -&gt; PMID list -&gt; DOI check -&gt; evidence_table row</a:t>
            </a:r>
          </a:p>
        </p:txBody>
      </p:sp>
    </p:spTree>
    <p:extLst>
      <p:ext uri="{BB962C8B-B14F-4D97-AF65-F5344CB8AC3E}">
        <p14:creationId xmlns:p14="http://schemas.microsoft.com/office/powerpoint/2010/main" val="15995847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年輕人終究還是年輕人太衝動了- Meme 梗圖倉庫">
            <a:extLst>
              <a:ext uri="{FF2B5EF4-FFF2-40B4-BE49-F238E27FC236}">
                <a16:creationId xmlns:a16="http://schemas.microsoft.com/office/drawing/2014/main" id="{4D077187-2B37-471F-47AF-C8C4CA166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509" y="1038456"/>
            <a:ext cx="7600486" cy="5117661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3CC7D89C-4C49-F9C2-77D4-C4C35282D1A9}"/>
              </a:ext>
            </a:extLst>
          </p:cNvPr>
          <p:cNvSpPr>
            <a:spLocks noGrp="1"/>
          </p:cNvSpPr>
          <p:nvPr/>
        </p:nvSpPr>
        <p:spPr>
          <a:xfrm>
            <a:off x="1169949" y="327102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lang="zh-TW" altLang="en-US" sz="270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照前面規劃是否就可以輕輕鬆鬆高枕無憂地產生一篇研究論文了？</a:t>
            </a:r>
            <a:endParaRPr sz="2700" b="1" dirty="0">
              <a:solidFill>
                <a:srgbClr val="17202A"/>
              </a:solidFill>
              <a:latin typeface="PingFang TC"/>
              <a:ea typeface="PingFang TC"/>
              <a:cs typeface="PingFang TC"/>
            </a:endParaRPr>
          </a:p>
        </p:txBody>
      </p:sp>
    </p:spTree>
    <p:extLst>
      <p:ext uri="{BB962C8B-B14F-4D97-AF65-F5344CB8AC3E}">
        <p14:creationId xmlns:p14="http://schemas.microsoft.com/office/powerpoint/2010/main" val="34275639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yebrow">
            <a:extLst>
              <a:ext uri="{FF2B5EF4-FFF2-40B4-BE49-F238E27FC236}">
                <a16:creationId xmlns:a16="http://schemas.microsoft.com/office/drawing/2014/main" id="{6710E182-034C-4AFA-8714-87B7C020EE8C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B043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0432F"/>
                </a:solidFill>
                <a:latin typeface="Aptos"/>
                <a:ea typeface="Aptos"/>
                <a:cs typeface="Aptos"/>
              </a:rPr>
              <a:t>FAILURE MODES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FEDFD4E-B647-4D0F-B161-360B7E00733C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Agent workflow 常見錯誤多半不是語法錯，而是流程錯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C292CB5A-147F-46CD-8F4E-DCE8C5A5DBF6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20/23</a:t>
            </a:r>
          </a:p>
        </p:txBody>
      </p:sp>
      <p:sp>
        <p:nvSpPr>
          <p:cNvPr id="4" name="f-0">
            <a:extLst>
              <a:ext uri="{FF2B5EF4-FFF2-40B4-BE49-F238E27FC236}">
                <a16:creationId xmlns:a16="http://schemas.microsoft.com/office/drawing/2014/main" id="{34C34D20-5920-4D64-B484-896180520DD6}"/>
              </a:ext>
            </a:extLst>
          </p:cNvPr>
          <p:cNvSpPr>
            <a:spLocks noGrp="1"/>
          </p:cNvSpPr>
          <p:nvPr/>
        </p:nvSpPr>
        <p:spPr>
          <a:xfrm>
            <a:off x="990600" y="2019300"/>
            <a:ext cx="29337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f-title-0">
            <a:extLst>
              <a:ext uri="{FF2B5EF4-FFF2-40B4-BE49-F238E27FC236}">
                <a16:creationId xmlns:a16="http://schemas.microsoft.com/office/drawing/2014/main" id="{98E193ED-31DC-4444-B49D-2832F4ADD904}"/>
              </a:ext>
            </a:extLst>
          </p:cNvPr>
          <p:cNvSpPr>
            <a:spLocks noGrp="1"/>
          </p:cNvSpPr>
          <p:nvPr/>
        </p:nvSpPr>
        <p:spPr>
          <a:xfrm>
            <a:off x="1181100" y="22288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Wrong tool</a:t>
            </a:r>
          </a:p>
        </p:txBody>
      </p:sp>
      <p:sp>
        <p:nvSpPr>
          <p:cNvPr id="6" name="f-copy-0">
            <a:extLst>
              <a:ext uri="{FF2B5EF4-FFF2-40B4-BE49-F238E27FC236}">
                <a16:creationId xmlns:a16="http://schemas.microsoft.com/office/drawing/2014/main" id="{2E6711EC-4B23-494E-9DCB-73D010CD40A8}"/>
              </a:ext>
            </a:extLst>
          </p:cNvPr>
          <p:cNvSpPr>
            <a:spLocks noGrp="1"/>
          </p:cNvSpPr>
          <p:nvPr/>
        </p:nvSpPr>
        <p:spPr>
          <a:xfrm>
            <a:off x="1181100" y="26098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查錯資料庫或讀錯檔</a:t>
            </a:r>
          </a:p>
        </p:txBody>
      </p:sp>
      <p:sp>
        <p:nvSpPr>
          <p:cNvPr id="7" name="f-1">
            <a:extLst>
              <a:ext uri="{FF2B5EF4-FFF2-40B4-BE49-F238E27FC236}">
                <a16:creationId xmlns:a16="http://schemas.microsoft.com/office/drawing/2014/main" id="{2B051600-4B39-41D5-99A9-B3245D87CC46}"/>
              </a:ext>
            </a:extLst>
          </p:cNvPr>
          <p:cNvSpPr>
            <a:spLocks noGrp="1"/>
          </p:cNvSpPr>
          <p:nvPr/>
        </p:nvSpPr>
        <p:spPr>
          <a:xfrm>
            <a:off x="4514850" y="2019300"/>
            <a:ext cx="29337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f-title-1">
            <a:extLst>
              <a:ext uri="{FF2B5EF4-FFF2-40B4-BE49-F238E27FC236}">
                <a16:creationId xmlns:a16="http://schemas.microsoft.com/office/drawing/2014/main" id="{E896EEA8-0B02-42AB-A6FD-A6BCD5C22E62}"/>
              </a:ext>
            </a:extLst>
          </p:cNvPr>
          <p:cNvSpPr>
            <a:spLocks noGrp="1"/>
          </p:cNvSpPr>
          <p:nvPr/>
        </p:nvSpPr>
        <p:spPr>
          <a:xfrm>
            <a:off x="4705350" y="22288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Context drift</a:t>
            </a:r>
          </a:p>
        </p:txBody>
      </p:sp>
      <p:sp>
        <p:nvSpPr>
          <p:cNvPr id="9" name="f-copy-1">
            <a:extLst>
              <a:ext uri="{FF2B5EF4-FFF2-40B4-BE49-F238E27FC236}">
                <a16:creationId xmlns:a16="http://schemas.microsoft.com/office/drawing/2014/main" id="{F8702597-8029-4359-AB62-49E042F61EE3}"/>
              </a:ext>
            </a:extLst>
          </p:cNvPr>
          <p:cNvSpPr>
            <a:spLocks noGrp="1"/>
          </p:cNvSpPr>
          <p:nvPr/>
        </p:nvSpPr>
        <p:spPr>
          <a:xfrm>
            <a:off x="4705350" y="26098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任務做一做偏掉</a:t>
            </a:r>
          </a:p>
        </p:txBody>
      </p:sp>
      <p:sp>
        <p:nvSpPr>
          <p:cNvPr id="10" name="f-2">
            <a:extLst>
              <a:ext uri="{FF2B5EF4-FFF2-40B4-BE49-F238E27FC236}">
                <a16:creationId xmlns:a16="http://schemas.microsoft.com/office/drawing/2014/main" id="{F57D18AE-80DC-4005-BE05-18884D1A3F4D}"/>
              </a:ext>
            </a:extLst>
          </p:cNvPr>
          <p:cNvSpPr>
            <a:spLocks noGrp="1"/>
          </p:cNvSpPr>
          <p:nvPr/>
        </p:nvSpPr>
        <p:spPr>
          <a:xfrm>
            <a:off x="8039100" y="2019300"/>
            <a:ext cx="29337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f-title-2">
            <a:extLst>
              <a:ext uri="{FF2B5EF4-FFF2-40B4-BE49-F238E27FC236}">
                <a16:creationId xmlns:a16="http://schemas.microsoft.com/office/drawing/2014/main" id="{8B6B5B0C-EDB5-4EF5-B099-923F62D7FCE7}"/>
              </a:ext>
            </a:extLst>
          </p:cNvPr>
          <p:cNvSpPr>
            <a:spLocks noGrp="1"/>
          </p:cNvSpPr>
          <p:nvPr/>
        </p:nvSpPr>
        <p:spPr>
          <a:xfrm>
            <a:off x="8229600" y="22288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Citation laundering</a:t>
            </a:r>
          </a:p>
        </p:txBody>
      </p:sp>
      <p:sp>
        <p:nvSpPr>
          <p:cNvPr id="12" name="f-copy-2">
            <a:extLst>
              <a:ext uri="{FF2B5EF4-FFF2-40B4-BE49-F238E27FC236}">
                <a16:creationId xmlns:a16="http://schemas.microsoft.com/office/drawing/2014/main" id="{4F7B288E-7472-40DC-ACC9-08729F6A3866}"/>
              </a:ext>
            </a:extLst>
          </p:cNvPr>
          <p:cNvSpPr>
            <a:spLocks noGrp="1"/>
          </p:cNvSpPr>
          <p:nvPr/>
        </p:nvSpPr>
        <p:spPr>
          <a:xfrm>
            <a:off x="8229600" y="26098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citation 支撐錯 claim</a:t>
            </a:r>
          </a:p>
        </p:txBody>
      </p:sp>
      <p:sp>
        <p:nvSpPr>
          <p:cNvPr id="13" name="f-3">
            <a:extLst>
              <a:ext uri="{FF2B5EF4-FFF2-40B4-BE49-F238E27FC236}">
                <a16:creationId xmlns:a16="http://schemas.microsoft.com/office/drawing/2014/main" id="{911B79C9-9ACD-449F-8783-6C9247A4D756}"/>
              </a:ext>
            </a:extLst>
          </p:cNvPr>
          <p:cNvSpPr>
            <a:spLocks noGrp="1"/>
          </p:cNvSpPr>
          <p:nvPr/>
        </p:nvSpPr>
        <p:spPr>
          <a:xfrm>
            <a:off x="990600" y="3429000"/>
            <a:ext cx="29337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f-title-3">
            <a:extLst>
              <a:ext uri="{FF2B5EF4-FFF2-40B4-BE49-F238E27FC236}">
                <a16:creationId xmlns:a16="http://schemas.microsoft.com/office/drawing/2014/main" id="{972D2701-ECA5-41B9-8AE1-F336D2939485}"/>
              </a:ext>
            </a:extLst>
          </p:cNvPr>
          <p:cNvSpPr>
            <a:spLocks noGrp="1"/>
          </p:cNvSpPr>
          <p:nvPr/>
        </p:nvSpPr>
        <p:spPr>
          <a:xfrm>
            <a:off x="1181100" y="36385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Silent data mutation</a:t>
            </a:r>
          </a:p>
        </p:txBody>
      </p:sp>
      <p:sp>
        <p:nvSpPr>
          <p:cNvPr id="15" name="f-copy-3">
            <a:extLst>
              <a:ext uri="{FF2B5EF4-FFF2-40B4-BE49-F238E27FC236}">
                <a16:creationId xmlns:a16="http://schemas.microsoft.com/office/drawing/2014/main" id="{4D338281-03E4-4EBD-8C86-6B00BE28EF69}"/>
              </a:ext>
            </a:extLst>
          </p:cNvPr>
          <p:cNvSpPr>
            <a:spLocks noGrp="1"/>
          </p:cNvSpPr>
          <p:nvPr/>
        </p:nvSpPr>
        <p:spPr>
          <a:xfrm>
            <a:off x="1181100" y="40195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欄位或樣本被改壞</a:t>
            </a:r>
          </a:p>
        </p:txBody>
      </p:sp>
      <p:sp>
        <p:nvSpPr>
          <p:cNvPr id="16" name="f-4">
            <a:extLst>
              <a:ext uri="{FF2B5EF4-FFF2-40B4-BE49-F238E27FC236}">
                <a16:creationId xmlns:a16="http://schemas.microsoft.com/office/drawing/2014/main" id="{B6352CB1-9D48-4DD9-BFD7-2BD8AF8496E3}"/>
              </a:ext>
            </a:extLst>
          </p:cNvPr>
          <p:cNvSpPr>
            <a:spLocks noGrp="1"/>
          </p:cNvSpPr>
          <p:nvPr/>
        </p:nvSpPr>
        <p:spPr>
          <a:xfrm>
            <a:off x="4514850" y="3429000"/>
            <a:ext cx="29337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f-title-4">
            <a:extLst>
              <a:ext uri="{FF2B5EF4-FFF2-40B4-BE49-F238E27FC236}">
                <a16:creationId xmlns:a16="http://schemas.microsoft.com/office/drawing/2014/main" id="{4797AB44-32D9-4935-ACC8-106729A3FFC4}"/>
              </a:ext>
            </a:extLst>
          </p:cNvPr>
          <p:cNvSpPr>
            <a:spLocks noGrp="1"/>
          </p:cNvSpPr>
          <p:nvPr/>
        </p:nvSpPr>
        <p:spPr>
          <a:xfrm>
            <a:off x="4705350" y="36385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No stop condition</a:t>
            </a:r>
          </a:p>
        </p:txBody>
      </p:sp>
      <p:sp>
        <p:nvSpPr>
          <p:cNvPr id="18" name="f-copy-4">
            <a:extLst>
              <a:ext uri="{FF2B5EF4-FFF2-40B4-BE49-F238E27FC236}">
                <a16:creationId xmlns:a16="http://schemas.microsoft.com/office/drawing/2014/main" id="{8D83BF03-E3B0-4207-926E-4A03B0441A3A}"/>
              </a:ext>
            </a:extLst>
          </p:cNvPr>
          <p:cNvSpPr>
            <a:spLocks noGrp="1"/>
          </p:cNvSpPr>
          <p:nvPr/>
        </p:nvSpPr>
        <p:spPr>
          <a:xfrm>
            <a:off x="4705350" y="40195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一直重試或太早交付</a:t>
            </a:r>
          </a:p>
        </p:txBody>
      </p:sp>
      <p:sp>
        <p:nvSpPr>
          <p:cNvPr id="19" name="f-5">
            <a:extLst>
              <a:ext uri="{FF2B5EF4-FFF2-40B4-BE49-F238E27FC236}">
                <a16:creationId xmlns:a16="http://schemas.microsoft.com/office/drawing/2014/main" id="{065DECC3-3018-4087-9BF1-AB030A29C9BD}"/>
              </a:ext>
            </a:extLst>
          </p:cNvPr>
          <p:cNvSpPr>
            <a:spLocks noGrp="1"/>
          </p:cNvSpPr>
          <p:nvPr/>
        </p:nvSpPr>
        <p:spPr>
          <a:xfrm>
            <a:off x="8039100" y="3429000"/>
            <a:ext cx="2933700" cy="990600"/>
          </a:xfrm>
          <a:prstGeom prst="roundRect">
            <a:avLst>
              <a:gd name="adj" fmla="val 7692"/>
            </a:avLst>
          </a:prstGeom>
          <a:solidFill>
            <a:srgbClr val="FDEDEA"/>
          </a:solidFill>
          <a:ln w="9525">
            <a:solidFill>
              <a:srgbClr val="B0432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f-title-5">
            <a:extLst>
              <a:ext uri="{FF2B5EF4-FFF2-40B4-BE49-F238E27FC236}">
                <a16:creationId xmlns:a16="http://schemas.microsoft.com/office/drawing/2014/main" id="{C8C5A1CC-0242-430F-9ABA-3B17D0010DE4}"/>
              </a:ext>
            </a:extLst>
          </p:cNvPr>
          <p:cNvSpPr>
            <a:spLocks noGrp="1"/>
          </p:cNvSpPr>
          <p:nvPr/>
        </p:nvSpPr>
        <p:spPr>
          <a:xfrm>
            <a:off x="8229600" y="36385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B043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0432F"/>
                </a:solidFill>
                <a:latin typeface="Aptos"/>
                <a:ea typeface="Aptos"/>
                <a:cs typeface="Aptos"/>
              </a:rPr>
              <a:t>Prompt injection</a:t>
            </a:r>
          </a:p>
        </p:txBody>
      </p:sp>
      <p:sp>
        <p:nvSpPr>
          <p:cNvPr id="21" name="f-copy-5">
            <a:extLst>
              <a:ext uri="{FF2B5EF4-FFF2-40B4-BE49-F238E27FC236}">
                <a16:creationId xmlns:a16="http://schemas.microsoft.com/office/drawing/2014/main" id="{D08200F3-1D5A-4CD2-8410-DD07A90B26FB}"/>
              </a:ext>
            </a:extLst>
          </p:cNvPr>
          <p:cNvSpPr>
            <a:spLocks noGrp="1"/>
          </p:cNvSpPr>
          <p:nvPr/>
        </p:nvSpPr>
        <p:spPr>
          <a:xfrm>
            <a:off x="8229600" y="40195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來源文字誘導 agent</a:t>
            </a:r>
          </a:p>
        </p:txBody>
      </p:sp>
      <p:sp>
        <p:nvSpPr>
          <p:cNvPr id="22" name="bottom">
            <a:extLst>
              <a:ext uri="{FF2B5EF4-FFF2-40B4-BE49-F238E27FC236}">
                <a16:creationId xmlns:a16="http://schemas.microsoft.com/office/drawing/2014/main" id="{1C8E59E2-A8E9-4BE4-9409-65E6B1C6CE50}"/>
              </a:ext>
            </a:extLst>
          </p:cNvPr>
          <p:cNvSpPr>
            <a:spLocks noGrp="1"/>
          </p:cNvSpPr>
          <p:nvPr/>
        </p:nvSpPr>
        <p:spPr>
          <a:xfrm>
            <a:off x="2095500" y="556260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B0432F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B0432F"/>
                </a:solidFill>
                <a:latin typeface="PingFang TC"/>
                <a:ea typeface="PingFang TC"/>
                <a:cs typeface="PingFang TC"/>
              </a:rPr>
              <a:t>失敗模式要寫進 task spec、checks 與 human review rule。</a:t>
            </a:r>
          </a:p>
        </p:txBody>
      </p:sp>
    </p:spTree>
    <p:extLst>
      <p:ext uri="{BB962C8B-B14F-4D97-AF65-F5344CB8AC3E}">
        <p14:creationId xmlns:p14="http://schemas.microsoft.com/office/powerpoint/2010/main" val="29192785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9CE3338-7576-2D45-9B78-38A6B92E4E50}"/>
              </a:ext>
            </a:extLst>
          </p:cNvPr>
          <p:cNvSpPr txBox="1"/>
          <p:nvPr/>
        </p:nvSpPr>
        <p:spPr>
          <a:xfrm>
            <a:off x="723900" y="508000"/>
            <a:ext cx="66675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3446A8"/>
                </a:solidFill>
                <a:latin typeface="Aptos"/>
                <a:ea typeface="Aptos"/>
                <a:cs typeface="Aptos"/>
              </a:rPr>
              <a:t>SPOTLIGHT: CLAUDE SCIENCE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9C98F82-FB79-324E-8126-4BD95F470171}"/>
              </a:ext>
            </a:extLst>
          </p:cNvPr>
          <p:cNvSpPr txBox="1"/>
          <p:nvPr/>
        </p:nvSpPr>
        <p:spPr>
          <a:xfrm>
            <a:off x="723900" y="889000"/>
            <a:ext cx="10414000" cy="5078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270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科研版的 Claude Code：給科學家的 AI workbench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94931A6-AFBB-9247-9702-668DAC902004}"/>
              </a:ext>
            </a:extLst>
          </p:cNvPr>
          <p:cNvSpPr txBox="1"/>
          <p:nvPr/>
        </p:nvSpPr>
        <p:spPr>
          <a:xfrm>
            <a:off x="723900" y="1879600"/>
            <a:ext cx="10160000" cy="3347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575" b="1" dirty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Anthropic 於 2026 年 6 月推出的科研工作台，把文獻、程式碼與運算資源整合進同一個可審核的環境。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264A6C0-3B6A-3A43-B563-4AAC5FF8A898}"/>
              </a:ext>
            </a:extLst>
          </p:cNvPr>
          <p:cNvSpPr/>
          <p:nvPr/>
        </p:nvSpPr>
        <p:spPr>
          <a:xfrm>
            <a:off x="914400" y="2730500"/>
            <a:ext cx="2159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PubMed</a:t>
            </a:r>
          </a:p>
          <a:p>
            <a:pPr algn="ctr">
              <a:buNone/>
            </a:pPr>
            <a:r>
              <a:rPr lang="en-US" sz="1400" dirty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文獻資料庫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0F9907-36F7-9646-97AD-22374553A131}"/>
              </a:ext>
            </a:extLst>
          </p:cNvPr>
          <p:cNvSpPr/>
          <p:nvPr/>
        </p:nvSpPr>
        <p:spPr>
          <a:xfrm>
            <a:off x="3327400" y="2730500"/>
            <a:ext cx="2159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Jupyter / R</a:t>
            </a:r>
          </a:p>
          <a:p>
            <a:pPr algn="ctr">
              <a:buNone/>
            </a:pPr>
            <a:r>
              <a:rPr lang="en-US" sz="1400" dirty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分析筆記本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BF31A8-2ED6-B04B-82FD-D81AF47D4370}"/>
              </a:ext>
            </a:extLst>
          </p:cNvPr>
          <p:cNvSpPr/>
          <p:nvPr/>
        </p:nvSpPr>
        <p:spPr>
          <a:xfrm>
            <a:off x="5740400" y="2730500"/>
            <a:ext cx="2159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叢集終端機</a:t>
            </a:r>
          </a:p>
          <a:p>
            <a:pPr algn="ctr">
              <a:buNone/>
            </a:pPr>
            <a:r>
              <a:rPr lang="en-US" sz="1400" dirty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運算資源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07AD91-1774-FD4D-9860-2821EACF6F53}"/>
              </a:ext>
            </a:extLst>
          </p:cNvPr>
          <p:cNvSpPr/>
          <p:nvPr/>
        </p:nvSpPr>
        <p:spPr>
          <a:xfrm>
            <a:off x="8153400" y="2730500"/>
            <a:ext cx="2159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專屬檔案格式</a:t>
            </a:r>
          </a:p>
          <a:p>
            <a:pPr algn="ctr">
              <a:buNone/>
            </a:pPr>
            <a:r>
              <a:rPr lang="en-US" sz="1400" dirty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各自為政</a:t>
            </a:r>
          </a:p>
        </p:txBody>
      </p:sp>
      <p:sp>
        <p:nvSpPr>
          <p:cNvPr id="9" name="向下箭號 8">
            <a:extLst>
              <a:ext uri="{FF2B5EF4-FFF2-40B4-BE49-F238E27FC236}">
                <a16:creationId xmlns:a16="http://schemas.microsoft.com/office/drawing/2014/main" id="{375CB8AA-8D4C-404F-8882-8F03C001A110}"/>
              </a:ext>
            </a:extLst>
          </p:cNvPr>
          <p:cNvSpPr/>
          <p:nvPr/>
        </p:nvSpPr>
        <p:spPr>
          <a:xfrm>
            <a:off x="5105400" y="3670300"/>
            <a:ext cx="1016000" cy="457200"/>
          </a:xfrm>
          <a:prstGeom prst="downArrow">
            <a:avLst/>
          </a:prstGeom>
          <a:solidFill>
            <a:srgbClr val="C7D3F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E63295B9-B7BB-B849-98F4-42DB8364CE68}"/>
              </a:ext>
            </a:extLst>
          </p:cNvPr>
          <p:cNvSpPr/>
          <p:nvPr/>
        </p:nvSpPr>
        <p:spPr>
          <a:xfrm>
            <a:off x="2819400" y="4254500"/>
            <a:ext cx="6540500" cy="1143000"/>
          </a:xfrm>
          <a:prstGeom prst="roundRect">
            <a:avLst/>
          </a:prstGeom>
          <a:solidFill>
            <a:srgbClr val="EEF1FF"/>
          </a:solidFill>
          <a:ln w="15875">
            <a:solidFill>
              <a:srgbClr val="3446A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Claude Science workbench</a:t>
            </a:r>
          </a:p>
          <a:p>
            <a:pPr algn="ctr">
              <a:buNone/>
            </a:pPr>
            <a:r>
              <a:rPr lang="en-US" sz="1400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整合 60+ 資料庫與技能、產生可追溯 artifact、按需求管理運算資源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F1F07A6-62C6-0648-8DD7-72CD9A847055}"/>
              </a:ext>
            </a:extLst>
          </p:cNvPr>
          <p:cNvSpPr txBox="1"/>
          <p:nvPr/>
        </p:nvSpPr>
        <p:spPr>
          <a:xfrm>
            <a:off x="1435100" y="5638800"/>
            <a:ext cx="9334500" cy="34624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165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把分散的工具串成一個環境，不代表可以跳過人工檢查。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F905869-1483-1A45-B6BF-0020A34C057B}"/>
              </a:ext>
            </a:extLst>
          </p:cNvPr>
          <p:cNvSpPr txBox="1"/>
          <p:nvPr/>
        </p:nvSpPr>
        <p:spPr>
          <a:xfrm>
            <a:off x="723900" y="6299200"/>
            <a:ext cx="5715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21/26</a:t>
            </a:r>
          </a:p>
        </p:txBody>
      </p:sp>
    </p:spTree>
    <p:extLst>
      <p:ext uri="{BB962C8B-B14F-4D97-AF65-F5344CB8AC3E}">
        <p14:creationId xmlns:p14="http://schemas.microsoft.com/office/powerpoint/2010/main" val="11828373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8F38A38-8443-404D-AA3F-3F217BE2D5D0}"/>
              </a:ext>
            </a:extLst>
          </p:cNvPr>
          <p:cNvSpPr txBox="1"/>
          <p:nvPr/>
        </p:nvSpPr>
        <p:spPr>
          <a:xfrm>
            <a:off x="723900" y="508000"/>
            <a:ext cx="6667500" cy="400110"/>
          </a:xfrm>
          <a:prstGeom prst="rect">
            <a:avLst/>
          </a:prstGeom>
          <a:noFill/>
        </p:spPr>
        <p:txBody>
          <a:bodyPr vertOverflow="overflow" vert="horz" wrap="square" lIns="137160" tIns="91440" rIns="137160" bIns="91440" rtlCol="0" anchor="t">
            <a:sp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3446A8"/>
                </a:solidFill>
                <a:latin typeface="Aptos"/>
                <a:ea typeface="Aptos"/>
                <a:cs typeface="Aptos"/>
              </a:rPr>
              <a:t>SPOTLIGHT: CLAUDE SCIENCE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2FFBCCD-05B7-1842-AE2E-1E1A669D223F}"/>
              </a:ext>
            </a:extLst>
          </p:cNvPr>
          <p:cNvSpPr txBox="1"/>
          <p:nvPr/>
        </p:nvSpPr>
        <p:spPr>
          <a:xfrm>
            <a:off x="723900" y="939800"/>
            <a:ext cx="10414000" cy="600164"/>
          </a:xfrm>
          <a:prstGeom prst="rect">
            <a:avLst/>
          </a:prstGeom>
          <a:noFill/>
        </p:spPr>
        <p:txBody>
          <a:bodyPr vertOverflow="overflow" vert="horz" wrap="square" lIns="137160" tIns="91440" rIns="137160" bIns="91440" rtlCol="0" anchor="t">
            <a:spAutoFit/>
          </a:bodyPr>
          <a:lstStyle/>
          <a:p>
            <a:pPr algn="l">
              <a:buNone/>
            </a:pPr>
            <a:r>
              <a:rPr lang="en-US" sz="270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四項核心能力，讓 workflow 變得可信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B8E6011-E871-984B-B4FF-118E98F52F31}"/>
              </a:ext>
            </a:extLst>
          </p:cNvPr>
          <p:cNvSpPr txBox="1"/>
          <p:nvPr/>
        </p:nvSpPr>
        <p:spPr>
          <a:xfrm>
            <a:off x="723900" y="1600200"/>
            <a:ext cx="10160000" cy="427040"/>
          </a:xfrm>
          <a:prstGeom prst="rect">
            <a:avLst/>
          </a:prstGeom>
          <a:noFill/>
        </p:spPr>
        <p:txBody>
          <a:bodyPr vertOverflow="overflow" vert="horz" wrap="square" lIns="137160" tIns="91440" rIns="137160" bIns="91440" rtlCol="0" anchor="t">
            <a:spAutoFit/>
          </a:bodyPr>
          <a:lstStyle/>
          <a:p>
            <a:pPr algn="l">
              <a:buNone/>
            </a:pPr>
            <a:r>
              <a:rPr lang="en-US" sz="1575" b="1" dirty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以下能力呼應本課程一直強調的 verify、record、reproducible。</a:t>
            </a:r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2D94C4AC-0559-9D44-B0D1-E62F5AE69FC8}"/>
              </a:ext>
            </a:extLst>
          </p:cNvPr>
          <p:cNvSpPr/>
          <p:nvPr/>
        </p:nvSpPr>
        <p:spPr>
          <a:xfrm>
            <a:off x="723900" y="2159000"/>
            <a:ext cx="49022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37160" tIns="91440" rIns="137160" bIns="91440" rtlCol="0" anchor="t"/>
          <a:lstStyle/>
          <a:p>
            <a:pPr algn="l">
              <a:buNone/>
            </a:pPr>
            <a:r>
              <a:rPr lang="en-US" sz="1600" b="1" dirty="0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協調 Agent ＋ 專家子代理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60+ 技能與資料庫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涵蓋基因體、單細胞、蛋白質結構、化學資訊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可呼叫使用者自建的專屬 agent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FBA7BBB6-ACEF-A54D-A655-F9BB12008B39}"/>
              </a:ext>
            </a:extLst>
          </p:cNvPr>
          <p:cNvSpPr/>
          <p:nvPr/>
        </p:nvSpPr>
        <p:spPr>
          <a:xfrm>
            <a:off x="6007100" y="2159000"/>
            <a:ext cx="49022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37160" tIns="91440" rIns="137160" bIns="91440" rtlCol="0" anchor="t"/>
          <a:lstStyle/>
          <a:p>
            <a:pPr algn="l">
              <a:buNone/>
            </a:pPr>
            <a:r>
              <a:rPr lang="en-US" sz="1600" b="1" dirty="0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可重現的研究成果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程式碼＋環境＋對話紀錄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每張圖表都附上產生它的程式碼與環境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數月後仍可由任何人重新驗證</a:t>
            </a: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00CF3A7F-59A6-BF4F-9CAF-34B1DDCD2019}"/>
              </a:ext>
            </a:extLst>
          </p:cNvPr>
          <p:cNvSpPr/>
          <p:nvPr/>
        </p:nvSpPr>
        <p:spPr>
          <a:xfrm>
            <a:off x="723900" y="3937000"/>
            <a:ext cx="49022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37160" tIns="91440" rIns="137160" bIns="91440" rtlCol="0" anchor="t"/>
          <a:lstStyle/>
          <a:p>
            <a:pPr algn="l">
              <a:buNone/>
            </a:pPr>
            <a:r>
              <a:rPr lang="en-US" sz="1600" b="1" dirty="0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背景審查 Agent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自動核對引用與數字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揪出抓不到來源的宣稱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確認圖表是否對得上程式碼</a:t>
            </a: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5281D4EC-8C76-3245-91D4-F82A5D622F75}"/>
              </a:ext>
            </a:extLst>
          </p:cNvPr>
          <p:cNvSpPr/>
          <p:nvPr/>
        </p:nvSpPr>
        <p:spPr>
          <a:xfrm>
            <a:off x="6007100" y="3937000"/>
            <a:ext cx="49022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lIns="137160" tIns="91440" rIns="137160" bIns="91440" rtlCol="0" anchor="t"/>
          <a:lstStyle/>
          <a:p>
            <a:pPr algn="l">
              <a:buNone/>
            </a:pPr>
            <a:r>
              <a:rPr lang="en-US" sz="1600" b="1" dirty="0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彈性運算資源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本地／HPC／雲端皆可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先擬定計畫、徵求同意才送出工作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由單一 GPU 擴展到大型叢集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E0CEC89-9135-AD41-BB21-2E8EFFDEE8E0}"/>
              </a:ext>
            </a:extLst>
          </p:cNvPr>
          <p:cNvSpPr txBox="1"/>
          <p:nvPr/>
        </p:nvSpPr>
        <p:spPr>
          <a:xfrm>
            <a:off x="1435100" y="5689600"/>
            <a:ext cx="9334500" cy="431800"/>
          </a:xfrm>
          <a:prstGeom prst="rect">
            <a:avLst/>
          </a:prstGeom>
          <a:noFill/>
        </p:spPr>
        <p:txBody>
          <a:bodyPr vertOverflow="overflow" vert="horz" wrap="square" lIns="137160" tIns="91440" rIns="137160" bIns="91440" rtlCol="0" anchor="t">
            <a:spAutoFit/>
          </a:bodyPr>
          <a:lstStyle/>
          <a:p>
            <a:pPr algn="ctr">
              <a:buNone/>
            </a:pPr>
            <a:r>
              <a:rPr lang="en-US" sz="165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重點不是模型更強，而是把整個研究環境變成可追溯、可覆核的系統。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FEF2A133-8506-274E-A0FE-91D8A1CDA850}"/>
              </a:ext>
            </a:extLst>
          </p:cNvPr>
          <p:cNvSpPr txBox="1"/>
          <p:nvPr/>
        </p:nvSpPr>
        <p:spPr>
          <a:xfrm>
            <a:off x="723900" y="6324600"/>
            <a:ext cx="5715000" cy="400110"/>
          </a:xfrm>
          <a:prstGeom prst="rect">
            <a:avLst/>
          </a:prstGeom>
          <a:noFill/>
        </p:spPr>
        <p:txBody>
          <a:bodyPr vertOverflow="overflow" vert="horz" wrap="square" lIns="137160" tIns="91440" rIns="137160" bIns="91440" rtlCol="0" anchor="t">
            <a:sp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22/26</a:t>
            </a:r>
          </a:p>
        </p:txBody>
      </p:sp>
    </p:spTree>
    <p:extLst>
      <p:ext uri="{BB962C8B-B14F-4D97-AF65-F5344CB8AC3E}">
        <p14:creationId xmlns:p14="http://schemas.microsoft.com/office/powerpoint/2010/main" val="15486019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0AF022B-8F72-EC41-8C4F-D149F342C897}"/>
              </a:ext>
            </a:extLst>
          </p:cNvPr>
          <p:cNvSpPr txBox="1"/>
          <p:nvPr/>
        </p:nvSpPr>
        <p:spPr>
          <a:xfrm>
            <a:off x="723900" y="508000"/>
            <a:ext cx="66675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3446A8"/>
                </a:solidFill>
                <a:latin typeface="Aptos"/>
                <a:ea typeface="Aptos"/>
                <a:cs typeface="Aptos"/>
              </a:rPr>
              <a:t>SPOTLIGHT: CLAUDE SCIENCE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A00BE02-175F-D147-A51A-6F4EF4EFA79E}"/>
              </a:ext>
            </a:extLst>
          </p:cNvPr>
          <p:cNvSpPr txBox="1"/>
          <p:nvPr/>
        </p:nvSpPr>
        <p:spPr>
          <a:xfrm>
            <a:off x="723900" y="889000"/>
            <a:ext cx="10668000" cy="5078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270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呼應課程的 workflow 原則，但紅線依然存在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D97B2AB-EBC7-B14E-A195-6B29F3305474}"/>
              </a:ext>
            </a:extLst>
          </p:cNvPr>
          <p:cNvSpPr txBox="1"/>
          <p:nvPr/>
        </p:nvSpPr>
        <p:spPr>
          <a:xfrm>
            <a:off x="723900" y="1600200"/>
            <a:ext cx="10668000" cy="33470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575" b="1" dirty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Claude Science 把本課程強調的檢查點，做成產品內建的機制。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34C168E-55EA-AF43-B5A8-03BF67ED19AF}"/>
              </a:ext>
            </a:extLst>
          </p:cNvPr>
          <p:cNvGraphicFramePr>
            <a:graphicFrameLocks noGrp="1"/>
          </p:cNvGraphicFramePr>
          <p:nvPr/>
        </p:nvGraphicFramePr>
        <p:xfrm>
          <a:off x="723900" y="2133600"/>
          <a:ext cx="107442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2603133206"/>
                    </a:ext>
                  </a:extLst>
                </a:gridCol>
                <a:gridCol w="7442200">
                  <a:extLst>
                    <a:ext uri="{9D8B030D-6E8A-4147-A177-3AD203B41FA5}">
                      <a16:colId xmlns:a16="http://schemas.microsoft.com/office/drawing/2014/main" val="165800469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FFFFFF"/>
                          </a:solidFill>
                        </a:rPr>
                        <a:t>課程概念</a:t>
                      </a:r>
                    </a:p>
                  </a:txBody>
                  <a:tcPr anchor="ctr">
                    <a:solidFill>
                      <a:srgbClr val="3446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FFFFFF"/>
                          </a:solidFill>
                        </a:rPr>
                        <a:t>Claude Science 的對應做法</a:t>
                      </a:r>
                    </a:p>
                  </a:txBody>
                  <a:tcPr anchor="ctr">
                    <a:solidFill>
                      <a:srgbClr val="3446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62939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7202A"/>
                          </a:solidFill>
                        </a:rPr>
                        <a:t>Verification checkpoints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0">
                          <a:solidFill>
                            <a:srgbClr val="5C6670"/>
                          </a:solidFill>
                        </a:rPr>
                        <a:t>背景審查 agent 自動核對引用與數字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78297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7202A"/>
                          </a:solidFill>
                        </a:rPr>
                        <a:t>Tool log / evidence table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0">
                          <a:solidFill>
                            <a:srgbClr val="5C6670"/>
                          </a:solidFill>
                        </a:rPr>
                        <a:t>每個 artifact 都附上程式碼、環境與訊息紀錄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53651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7202A"/>
                          </a:solidFill>
                        </a:rPr>
                        <a:t>Human review gate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0">
                          <a:solidFill>
                            <a:srgbClr val="5C6670"/>
                          </a:solidFill>
                        </a:rPr>
                        <a:t>送出運算前先徵求同意；圖表與結論仍需人工確認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912448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1">
                          <a:solidFill>
                            <a:srgbClr val="17202A"/>
                          </a:solidFill>
                        </a:rPr>
                        <a:t>Biomedical red lines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1400" b="0">
                          <a:solidFill>
                            <a:srgbClr val="5C6670"/>
                          </a:solidFill>
                        </a:rPr>
                        <a:t>官方強調「不是新模型」；診斷、劑量、臨床決策仍須人工判斷</a:t>
                      </a:r>
                    </a:p>
                  </a:txBody>
                  <a:tcPr anchor="ctr"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8558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68EFDB24-62D0-A748-9F8A-EA6B07A97EEF}"/>
              </a:ext>
            </a:extLst>
          </p:cNvPr>
          <p:cNvSpPr txBox="1"/>
          <p:nvPr/>
        </p:nvSpPr>
        <p:spPr>
          <a:xfrm>
            <a:off x="1435100" y="5740400"/>
            <a:ext cx="9334500" cy="34624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>
              <a:buNone/>
            </a:pPr>
            <a:r>
              <a:rPr lang="en-US" sz="1650" b="1" dirty="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2026 年 6 月以 beta 上線，仍是同一套 Claude 模型，不是新模型。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6FFC678-2FD0-2540-B7BB-BBEE73C1F0BE}"/>
              </a:ext>
            </a:extLst>
          </p:cNvPr>
          <p:cNvSpPr txBox="1"/>
          <p:nvPr/>
        </p:nvSpPr>
        <p:spPr>
          <a:xfrm>
            <a:off x="723900" y="6375400"/>
            <a:ext cx="5715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23/26</a:t>
            </a:r>
          </a:p>
        </p:txBody>
      </p:sp>
    </p:spTree>
    <p:extLst>
      <p:ext uri="{BB962C8B-B14F-4D97-AF65-F5344CB8AC3E}">
        <p14:creationId xmlns:p14="http://schemas.microsoft.com/office/powerpoint/2010/main" val="13143765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yebrow">
            <a:extLst>
              <a:ext uri="{FF2B5EF4-FFF2-40B4-BE49-F238E27FC236}">
                <a16:creationId xmlns:a16="http://schemas.microsoft.com/office/drawing/2014/main" id="{5F03329C-DDC6-4EC8-8285-EBBC098C2975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A5D08"/>
                </a:solidFill>
                <a:latin typeface="Aptos"/>
                <a:ea typeface="Aptos"/>
                <a:cs typeface="Aptos"/>
              </a:rPr>
              <a:t>CLASS EXERCISE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BD2D15D-4D3E-4AA4-8AF6-34BEF18DE6DD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三個任務先判斷，再決定 agent 能做多少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D5E3921F-1A5D-4054-A7AC-76DF797A3801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24/26</a:t>
            </a:r>
          </a:p>
        </p:txBody>
      </p:sp>
      <p:sp>
        <p:nvSpPr>
          <p:cNvPr id="4" name="case-0">
            <a:extLst>
              <a:ext uri="{FF2B5EF4-FFF2-40B4-BE49-F238E27FC236}">
                <a16:creationId xmlns:a16="http://schemas.microsoft.com/office/drawing/2014/main" id="{0656FF6B-CF80-416A-AFF4-BA54F48B0686}"/>
              </a:ext>
            </a:extLst>
          </p:cNvPr>
          <p:cNvSpPr>
            <a:spLocks noGrp="1"/>
          </p:cNvSpPr>
          <p:nvPr/>
        </p:nvSpPr>
        <p:spPr>
          <a:xfrm>
            <a:off x="990600" y="2095500"/>
            <a:ext cx="299085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0B6E6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case-label-0">
            <a:extLst>
              <a:ext uri="{FF2B5EF4-FFF2-40B4-BE49-F238E27FC236}">
                <a16:creationId xmlns:a16="http://schemas.microsoft.com/office/drawing/2014/main" id="{790DACDA-4381-4942-BCCB-C6564B266AEA}"/>
              </a:ext>
            </a:extLst>
          </p:cNvPr>
          <p:cNvSpPr>
            <a:spLocks noGrp="1"/>
          </p:cNvSpPr>
          <p:nvPr/>
        </p:nvSpPr>
        <p:spPr>
          <a:xfrm>
            <a:off x="1257300" y="2400300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859">
            <a:solidFill>
              <a:srgbClr val="0B6E6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800" b="1">
                <a:solidFill>
                  <a:srgbClr val="0B6E6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6E68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6" name="case-copy-0">
            <a:extLst>
              <a:ext uri="{FF2B5EF4-FFF2-40B4-BE49-F238E27FC236}">
                <a16:creationId xmlns:a16="http://schemas.microsoft.com/office/drawing/2014/main" id="{99A848F9-6389-490D-9284-E0393320F1E6}"/>
              </a:ext>
            </a:extLst>
          </p:cNvPr>
          <p:cNvSpPr>
            <a:spLocks noGrp="1"/>
          </p:cNvSpPr>
          <p:nvPr/>
        </p:nvSpPr>
        <p:spPr>
          <a:xfrm>
            <a:off x="1524000" y="3105150"/>
            <a:ext cx="2000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PubMed 搜尋結果</a:t>
            </a:r>
          </a:p>
          <a:p>
            <a:pPr algn="ctr">
              <a:lnSpc>
                <a:spcPct val="108000"/>
              </a:lnSpc>
              <a:buNone/>
              <a:def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整理成 evidence table</a:t>
            </a:r>
          </a:p>
        </p:txBody>
      </p:sp>
      <p:sp>
        <p:nvSpPr>
          <p:cNvPr id="7" name="case-1">
            <a:extLst>
              <a:ext uri="{FF2B5EF4-FFF2-40B4-BE49-F238E27FC236}">
                <a16:creationId xmlns:a16="http://schemas.microsoft.com/office/drawing/2014/main" id="{03ABA9AB-E28B-4CD9-AF7E-2FD7DC4F222F}"/>
              </a:ext>
            </a:extLst>
          </p:cNvPr>
          <p:cNvSpPr>
            <a:spLocks noGrp="1"/>
          </p:cNvSpPr>
          <p:nvPr/>
        </p:nvSpPr>
        <p:spPr>
          <a:xfrm>
            <a:off x="4591050" y="2095500"/>
            <a:ext cx="2990850" cy="2190750"/>
          </a:xfrm>
          <a:prstGeom prst="roundRect">
            <a:avLst>
              <a:gd name="adj" fmla="val 3478"/>
            </a:avLst>
          </a:prstGeom>
          <a:solidFill>
            <a:srgbClr val="FDEDEA"/>
          </a:solidFill>
          <a:ln w="9525">
            <a:solidFill>
              <a:srgbClr val="B0432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case-label-1">
            <a:extLst>
              <a:ext uri="{FF2B5EF4-FFF2-40B4-BE49-F238E27FC236}">
                <a16:creationId xmlns:a16="http://schemas.microsoft.com/office/drawing/2014/main" id="{21DEA8C0-9138-497C-8F37-F38812E29809}"/>
              </a:ext>
            </a:extLst>
          </p:cNvPr>
          <p:cNvSpPr>
            <a:spLocks noGrp="1"/>
          </p:cNvSpPr>
          <p:nvPr/>
        </p:nvSpPr>
        <p:spPr>
          <a:xfrm>
            <a:off x="4857750" y="2400300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859">
            <a:solidFill>
              <a:srgbClr val="B0432F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800" b="1">
                <a:solidFill>
                  <a:srgbClr val="B0432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0432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9" name="case-copy-1">
            <a:extLst>
              <a:ext uri="{FF2B5EF4-FFF2-40B4-BE49-F238E27FC236}">
                <a16:creationId xmlns:a16="http://schemas.microsoft.com/office/drawing/2014/main" id="{0FB4B2CC-B14D-4AB5-BA1C-295A3C1A0B9E}"/>
              </a:ext>
            </a:extLst>
          </p:cNvPr>
          <p:cNvSpPr>
            <a:spLocks noGrp="1"/>
          </p:cNvSpPr>
          <p:nvPr/>
        </p:nvSpPr>
        <p:spPr>
          <a:xfrm>
            <a:off x="5124450" y="3105150"/>
            <a:ext cx="2000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判斷某 variant</a:t>
            </a:r>
          </a:p>
          <a:p>
            <a:pPr algn="ctr">
              <a:lnSpc>
                <a:spcPct val="108000"/>
              </a:lnSpc>
              <a:buNone/>
              <a:def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是否 pathogenic</a:t>
            </a:r>
          </a:p>
        </p:txBody>
      </p:sp>
      <p:sp>
        <p:nvSpPr>
          <p:cNvPr id="10" name="case-2">
            <a:extLst>
              <a:ext uri="{FF2B5EF4-FFF2-40B4-BE49-F238E27FC236}">
                <a16:creationId xmlns:a16="http://schemas.microsoft.com/office/drawing/2014/main" id="{972FBCFF-816E-45E5-85A0-38B9A4CD7986}"/>
              </a:ext>
            </a:extLst>
          </p:cNvPr>
          <p:cNvSpPr>
            <a:spLocks noGrp="1"/>
          </p:cNvSpPr>
          <p:nvPr/>
        </p:nvSpPr>
        <p:spPr>
          <a:xfrm>
            <a:off x="8191500" y="2095500"/>
            <a:ext cx="299085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3446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case-label-2">
            <a:extLst>
              <a:ext uri="{FF2B5EF4-FFF2-40B4-BE49-F238E27FC236}">
                <a16:creationId xmlns:a16="http://schemas.microsoft.com/office/drawing/2014/main" id="{BCACD9FE-B586-4445-BFAA-280388112DB9}"/>
              </a:ext>
            </a:extLst>
          </p:cNvPr>
          <p:cNvSpPr>
            <a:spLocks noGrp="1"/>
          </p:cNvSpPr>
          <p:nvPr/>
        </p:nvSpPr>
        <p:spPr>
          <a:xfrm>
            <a:off x="8458200" y="2400300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859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8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12" name="case-copy-2">
            <a:extLst>
              <a:ext uri="{FF2B5EF4-FFF2-40B4-BE49-F238E27FC236}">
                <a16:creationId xmlns:a16="http://schemas.microsoft.com/office/drawing/2014/main" id="{06785230-C2E9-430B-B3CF-8654AD02150E}"/>
              </a:ext>
            </a:extLst>
          </p:cNvPr>
          <p:cNvSpPr>
            <a:spLocks noGrp="1"/>
          </p:cNvSpPr>
          <p:nvPr/>
        </p:nvSpPr>
        <p:spPr>
          <a:xfrm>
            <a:off x="8724900" y="3105150"/>
            <a:ext cx="2000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幫一份 CSV 產生</a:t>
            </a:r>
          </a:p>
          <a:p>
            <a:pPr algn="ctr">
              <a:lnSpc>
                <a:spcPct val="108000"/>
              </a:lnSpc>
              <a:buNone/>
              <a:def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QC summary 與圖表</a:t>
            </a:r>
          </a:p>
        </p:txBody>
      </p:sp>
      <p:sp>
        <p:nvSpPr>
          <p:cNvPr id="13" name="prompt">
            <a:extLst>
              <a:ext uri="{FF2B5EF4-FFF2-40B4-BE49-F238E27FC236}">
                <a16:creationId xmlns:a16="http://schemas.microsoft.com/office/drawing/2014/main" id="{3AFFB7D7-281F-4113-8C58-FE2F57819485}"/>
              </a:ext>
            </a:extLst>
          </p:cNvPr>
          <p:cNvSpPr>
            <a:spLocks noGrp="1"/>
          </p:cNvSpPr>
          <p:nvPr/>
        </p:nvSpPr>
        <p:spPr>
          <a:xfrm>
            <a:off x="1314450" y="5867400"/>
            <a:ext cx="9410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 dirty="0" err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每組標出：agent</a:t>
            </a:r>
            <a:r>
              <a:rPr sz="1800" b="1" dirty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800" b="1" dirty="0" err="1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可以做什麼、需要哪些工具、怎麼驗證、何時</a:t>
            </a:r>
            <a:r>
              <a:rPr sz="1800" b="1" dirty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 human review。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C560198-2463-7FB0-6C23-8C56C33D720D}"/>
              </a:ext>
            </a:extLst>
          </p:cNvPr>
          <p:cNvSpPr txBox="1"/>
          <p:nvPr/>
        </p:nvSpPr>
        <p:spPr>
          <a:xfrm>
            <a:off x="7391400" y="4495800"/>
            <a:ext cx="480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https://</a:t>
            </a:r>
            <a:r>
              <a:rPr kumimoji="1" lang="en" altLang="zh-TW" dirty="0" err="1"/>
              <a:t>github.com</a:t>
            </a:r>
            <a:r>
              <a:rPr kumimoji="1" lang="en" altLang="zh-TW" dirty="0"/>
              <a:t>/</a:t>
            </a:r>
            <a:r>
              <a:rPr kumimoji="1" lang="en" altLang="zh-TW" dirty="0" err="1"/>
              <a:t>Molmed</a:t>
            </a:r>
            <a:r>
              <a:rPr kumimoji="1" lang="en" altLang="zh-TW" dirty="0"/>
              <a:t>/</a:t>
            </a:r>
            <a:r>
              <a:rPr kumimoji="1" lang="en" altLang="zh-TW" dirty="0" err="1"/>
              <a:t>checkQC</a:t>
            </a:r>
            <a:r>
              <a:rPr kumimoji="1" lang="en" altLang="zh-TW" dirty="0"/>
              <a:t>/blob/master/tests/resources/</a:t>
            </a:r>
            <a:r>
              <a:rPr kumimoji="1" lang="en" altLang="zh-TW" dirty="0" err="1"/>
              <a:t>bclconvert</a:t>
            </a:r>
            <a:r>
              <a:rPr kumimoji="1" lang="en" altLang="zh-TW" dirty="0"/>
              <a:t>/200624_A00834_0183_BHMTFYTINY/Reports/</a:t>
            </a:r>
            <a:r>
              <a:rPr kumimoji="1" lang="en" altLang="zh-TW" dirty="0" err="1"/>
              <a:t>Quality_Metrics.csv</a:t>
            </a:r>
            <a:endParaRPr kumimoji="1"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D16AD5D-41A5-A477-38FA-011A530ED8CE}"/>
              </a:ext>
            </a:extLst>
          </p:cNvPr>
          <p:cNvSpPr txBox="1"/>
          <p:nvPr/>
        </p:nvSpPr>
        <p:spPr>
          <a:xfrm>
            <a:off x="5402806" y="4431268"/>
            <a:ext cx="1443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HRAS </a:t>
            </a:r>
            <a:r>
              <a:rPr lang="en-US" altLang="zh-TW" dirty="0"/>
              <a:t>p.G12D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580596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yebrow">
            <a:extLst>
              <a:ext uri="{FF2B5EF4-FFF2-40B4-BE49-F238E27FC236}">
                <a16:creationId xmlns:a16="http://schemas.microsoft.com/office/drawing/2014/main" id="{429384B9-3E7F-4E69-B006-62095ABD9916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A5D08"/>
                </a:solidFill>
                <a:latin typeface="Aptos"/>
                <a:ea typeface="Aptos"/>
                <a:cs typeface="Aptos"/>
              </a:rPr>
              <a:t>WORKSHEET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8636B0E-EF6A-4AF0-AA2F-6EE2557D5645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1000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96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把研究任務改寫成 agent-ready workflow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ECD6E65C-453B-4C96-B667-01DFEC4146C4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AI agents, vibe coding, desktop utilities  |  25/26</a:t>
            </a:r>
          </a:p>
        </p:txBody>
      </p:sp>
      <p:sp>
        <p:nvSpPr>
          <p:cNvPr id="4" name="worksheet-0">
            <a:extLst>
              <a:ext uri="{FF2B5EF4-FFF2-40B4-BE49-F238E27FC236}">
                <a16:creationId xmlns:a16="http://schemas.microsoft.com/office/drawing/2014/main" id="{AC2262E0-DE6D-4645-9EFF-1DCB6FF44B1E}"/>
              </a:ext>
            </a:extLst>
          </p:cNvPr>
          <p:cNvSpPr>
            <a:spLocks noGrp="1"/>
          </p:cNvSpPr>
          <p:nvPr/>
        </p:nvSpPr>
        <p:spPr>
          <a:xfrm>
            <a:off x="990600" y="2305050"/>
            <a:ext cx="1752600" cy="18859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worksheet-head-0">
            <a:extLst>
              <a:ext uri="{FF2B5EF4-FFF2-40B4-BE49-F238E27FC236}">
                <a16:creationId xmlns:a16="http://schemas.microsoft.com/office/drawing/2014/main" id="{691142AF-DC2C-48E8-AC78-BE4D16526044}"/>
              </a:ext>
            </a:extLst>
          </p:cNvPr>
          <p:cNvSpPr>
            <a:spLocks noGrp="1"/>
          </p:cNvSpPr>
          <p:nvPr/>
        </p:nvSpPr>
        <p:spPr>
          <a:xfrm>
            <a:off x="1143000" y="255270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6" name="worksheet-sub-0">
            <a:extLst>
              <a:ext uri="{FF2B5EF4-FFF2-40B4-BE49-F238E27FC236}">
                <a16:creationId xmlns:a16="http://schemas.microsoft.com/office/drawing/2014/main" id="{31C2BB5E-DFA8-42F6-8BE5-DA8B5585C834}"/>
              </a:ext>
            </a:extLst>
          </p:cNvPr>
          <p:cNvSpPr>
            <a:spLocks noGrp="1"/>
          </p:cNvSpPr>
          <p:nvPr/>
        </p:nvSpPr>
        <p:spPr>
          <a:xfrm>
            <a:off x="1123950" y="3143250"/>
            <a:ext cx="1485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要回答什麼</a:t>
            </a:r>
          </a:p>
        </p:txBody>
      </p:sp>
      <p:sp>
        <p:nvSpPr>
          <p:cNvPr id="7" name="worksheet-1">
            <a:extLst>
              <a:ext uri="{FF2B5EF4-FFF2-40B4-BE49-F238E27FC236}">
                <a16:creationId xmlns:a16="http://schemas.microsoft.com/office/drawing/2014/main" id="{2C5EFED3-1EFC-4935-9595-882C4E2F7CAE}"/>
              </a:ext>
            </a:extLst>
          </p:cNvPr>
          <p:cNvSpPr>
            <a:spLocks noGrp="1"/>
          </p:cNvSpPr>
          <p:nvPr/>
        </p:nvSpPr>
        <p:spPr>
          <a:xfrm>
            <a:off x="3067050" y="2305050"/>
            <a:ext cx="1752600" cy="18859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worksheet-head-1">
            <a:extLst>
              <a:ext uri="{FF2B5EF4-FFF2-40B4-BE49-F238E27FC236}">
                <a16:creationId xmlns:a16="http://schemas.microsoft.com/office/drawing/2014/main" id="{064025B4-E6B5-4F3A-9D4C-C665AF720FFF}"/>
              </a:ext>
            </a:extLst>
          </p:cNvPr>
          <p:cNvSpPr>
            <a:spLocks noGrp="1"/>
          </p:cNvSpPr>
          <p:nvPr/>
        </p:nvSpPr>
        <p:spPr>
          <a:xfrm>
            <a:off x="3219450" y="255270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Inputs</a:t>
            </a:r>
          </a:p>
        </p:txBody>
      </p:sp>
      <p:sp>
        <p:nvSpPr>
          <p:cNvPr id="9" name="worksheet-sub-1">
            <a:extLst>
              <a:ext uri="{FF2B5EF4-FFF2-40B4-BE49-F238E27FC236}">
                <a16:creationId xmlns:a16="http://schemas.microsoft.com/office/drawing/2014/main" id="{A41DF58D-68F6-4A59-B295-68A4DA2D3347}"/>
              </a:ext>
            </a:extLst>
          </p:cNvPr>
          <p:cNvSpPr>
            <a:spLocks noGrp="1"/>
          </p:cNvSpPr>
          <p:nvPr/>
        </p:nvSpPr>
        <p:spPr>
          <a:xfrm>
            <a:off x="3200400" y="3143250"/>
            <a:ext cx="1485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資料與版本</a:t>
            </a:r>
          </a:p>
        </p:txBody>
      </p:sp>
      <p:sp>
        <p:nvSpPr>
          <p:cNvPr id="10" name="worksheet-2">
            <a:extLst>
              <a:ext uri="{FF2B5EF4-FFF2-40B4-BE49-F238E27FC236}">
                <a16:creationId xmlns:a16="http://schemas.microsoft.com/office/drawing/2014/main" id="{002ADAA0-294F-424C-8D8B-02A6EBD42C5A}"/>
              </a:ext>
            </a:extLst>
          </p:cNvPr>
          <p:cNvSpPr>
            <a:spLocks noGrp="1"/>
          </p:cNvSpPr>
          <p:nvPr/>
        </p:nvSpPr>
        <p:spPr>
          <a:xfrm>
            <a:off x="5143500" y="2305050"/>
            <a:ext cx="1752600" cy="18859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worksheet-head-2">
            <a:extLst>
              <a:ext uri="{FF2B5EF4-FFF2-40B4-BE49-F238E27FC236}">
                <a16:creationId xmlns:a16="http://schemas.microsoft.com/office/drawing/2014/main" id="{ADDCADBD-E6C0-41EB-B1BE-310962FDA456}"/>
              </a:ext>
            </a:extLst>
          </p:cNvPr>
          <p:cNvSpPr>
            <a:spLocks noGrp="1"/>
          </p:cNvSpPr>
          <p:nvPr/>
        </p:nvSpPr>
        <p:spPr>
          <a:xfrm>
            <a:off x="5295900" y="255270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12" name="worksheet-sub-2">
            <a:extLst>
              <a:ext uri="{FF2B5EF4-FFF2-40B4-BE49-F238E27FC236}">
                <a16:creationId xmlns:a16="http://schemas.microsoft.com/office/drawing/2014/main" id="{967C3AD0-86B9-4339-AFE1-4FC9F9B40CE5}"/>
              </a:ext>
            </a:extLst>
          </p:cNvPr>
          <p:cNvSpPr>
            <a:spLocks noGrp="1"/>
          </p:cNvSpPr>
          <p:nvPr/>
        </p:nvSpPr>
        <p:spPr>
          <a:xfrm>
            <a:off x="5276850" y="3143250"/>
            <a:ext cx="1485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搜尋、讀檔、腳本</a:t>
            </a:r>
          </a:p>
        </p:txBody>
      </p:sp>
      <p:sp>
        <p:nvSpPr>
          <p:cNvPr id="13" name="worksheet-3">
            <a:extLst>
              <a:ext uri="{FF2B5EF4-FFF2-40B4-BE49-F238E27FC236}">
                <a16:creationId xmlns:a16="http://schemas.microsoft.com/office/drawing/2014/main" id="{98F2BE24-38E8-4191-9265-5DF35D6D879B}"/>
              </a:ext>
            </a:extLst>
          </p:cNvPr>
          <p:cNvSpPr>
            <a:spLocks noGrp="1"/>
          </p:cNvSpPr>
          <p:nvPr/>
        </p:nvSpPr>
        <p:spPr>
          <a:xfrm>
            <a:off x="7219950" y="2305050"/>
            <a:ext cx="1752600" cy="18859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4DA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worksheet-head-3">
            <a:extLst>
              <a:ext uri="{FF2B5EF4-FFF2-40B4-BE49-F238E27FC236}">
                <a16:creationId xmlns:a16="http://schemas.microsoft.com/office/drawing/2014/main" id="{2B9D99BC-66B0-4CD5-B946-121EDF1230C8}"/>
              </a:ext>
            </a:extLst>
          </p:cNvPr>
          <p:cNvSpPr>
            <a:spLocks noGrp="1"/>
          </p:cNvSpPr>
          <p:nvPr/>
        </p:nvSpPr>
        <p:spPr>
          <a:xfrm>
            <a:off x="7372350" y="255270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15" name="worksheet-sub-3">
            <a:extLst>
              <a:ext uri="{FF2B5EF4-FFF2-40B4-BE49-F238E27FC236}">
                <a16:creationId xmlns:a16="http://schemas.microsoft.com/office/drawing/2014/main" id="{FE73ABBE-4C49-47AF-9924-A9987A911B49}"/>
              </a:ext>
            </a:extLst>
          </p:cNvPr>
          <p:cNvSpPr>
            <a:spLocks noGrp="1"/>
          </p:cNvSpPr>
          <p:nvPr/>
        </p:nvSpPr>
        <p:spPr>
          <a:xfrm>
            <a:off x="7353300" y="3143250"/>
            <a:ext cx="1485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表格、log、note</a:t>
            </a:r>
          </a:p>
        </p:txBody>
      </p:sp>
      <p:sp>
        <p:nvSpPr>
          <p:cNvPr id="16" name="worksheet-4">
            <a:extLst>
              <a:ext uri="{FF2B5EF4-FFF2-40B4-BE49-F238E27FC236}">
                <a16:creationId xmlns:a16="http://schemas.microsoft.com/office/drawing/2014/main" id="{0879CFA7-F918-41D0-A1A3-1FE97DE6F8E2}"/>
              </a:ext>
            </a:extLst>
          </p:cNvPr>
          <p:cNvSpPr>
            <a:spLocks noGrp="1"/>
          </p:cNvSpPr>
          <p:nvPr/>
        </p:nvSpPr>
        <p:spPr>
          <a:xfrm>
            <a:off x="9296400" y="2305050"/>
            <a:ext cx="1752600" cy="18859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8A5D0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worksheet-head-4">
            <a:extLst>
              <a:ext uri="{FF2B5EF4-FFF2-40B4-BE49-F238E27FC236}">
                <a16:creationId xmlns:a16="http://schemas.microsoft.com/office/drawing/2014/main" id="{A6BF8A1D-1DB8-45E1-A2BF-44CE2551C495}"/>
              </a:ext>
            </a:extLst>
          </p:cNvPr>
          <p:cNvSpPr>
            <a:spLocks noGrp="1"/>
          </p:cNvSpPr>
          <p:nvPr/>
        </p:nvSpPr>
        <p:spPr>
          <a:xfrm>
            <a:off x="9448800" y="2552700"/>
            <a:ext cx="1447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8A5D08"/>
                </a:solidFill>
                <a:latin typeface="Aptos"/>
                <a:ea typeface="Aptos"/>
                <a:cs typeface="Aptos"/>
              </a:rPr>
              <a:t>Checks</a:t>
            </a:r>
          </a:p>
        </p:txBody>
      </p:sp>
      <p:sp>
        <p:nvSpPr>
          <p:cNvPr id="18" name="worksheet-sub-4">
            <a:extLst>
              <a:ext uri="{FF2B5EF4-FFF2-40B4-BE49-F238E27FC236}">
                <a16:creationId xmlns:a16="http://schemas.microsoft.com/office/drawing/2014/main" id="{E71E9612-1288-45C3-B0AE-A21EC75BE79F}"/>
              </a:ext>
            </a:extLst>
          </p:cNvPr>
          <p:cNvSpPr>
            <a:spLocks noGrp="1"/>
          </p:cNvSpPr>
          <p:nvPr/>
        </p:nvSpPr>
        <p:spPr>
          <a:xfrm>
            <a:off x="9429750" y="3143250"/>
            <a:ext cx="1485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來源與停止條件</a:t>
            </a:r>
          </a:p>
        </p:txBody>
      </p:sp>
      <p:sp>
        <p:nvSpPr>
          <p:cNvPr id="19" name="deliverable">
            <a:extLst>
              <a:ext uri="{FF2B5EF4-FFF2-40B4-BE49-F238E27FC236}">
                <a16:creationId xmlns:a16="http://schemas.microsoft.com/office/drawing/2014/main" id="{4824A7E5-DE13-4165-9FA0-061750B89BF8}"/>
              </a:ext>
            </a:extLst>
          </p:cNvPr>
          <p:cNvSpPr>
            <a:spLocks noGrp="1"/>
          </p:cNvSpPr>
          <p:nvPr/>
        </p:nvSpPr>
        <p:spPr>
          <a:xfrm>
            <a:off x="1962150" y="4895850"/>
            <a:ext cx="8267700" cy="552450"/>
          </a:xfrm>
          <a:prstGeom prst="roundRect">
            <a:avLst>
              <a:gd name="adj" fmla="val 13793"/>
            </a:avLst>
          </a:prstGeom>
          <a:solidFill>
            <a:srgbClr val="FFF8E8"/>
          </a:solidFill>
          <a:ln w="9525">
            <a:solidFill>
              <a:srgbClr val="8A5D0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deliverable-text">
            <a:extLst>
              <a:ext uri="{FF2B5EF4-FFF2-40B4-BE49-F238E27FC236}">
                <a16:creationId xmlns:a16="http://schemas.microsoft.com/office/drawing/2014/main" id="{9D0B2D31-C0BB-4CD8-AC4B-A22FB386743F}"/>
              </a:ext>
            </a:extLst>
          </p:cNvPr>
          <p:cNvSpPr>
            <a:spLocks noGrp="1"/>
          </p:cNvSpPr>
          <p:nvPr/>
        </p:nvSpPr>
        <p:spPr>
          <a:xfrm>
            <a:off x="2286000" y="50673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8A5D0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8A5D08"/>
                </a:solidFill>
                <a:latin typeface="Aptos"/>
                <a:ea typeface="Aptos"/>
                <a:cs typeface="Aptos"/>
              </a:rPr>
              <a:t>Deliverable: 一張 workflow 草圖 + 3 個 failure modes + 2 個 human review gates</a:t>
            </a:r>
          </a:p>
        </p:txBody>
      </p:sp>
    </p:spTree>
    <p:extLst>
      <p:ext uri="{BB962C8B-B14F-4D97-AF65-F5344CB8AC3E}">
        <p14:creationId xmlns:p14="http://schemas.microsoft.com/office/powerpoint/2010/main" val="33372324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nsition-title">
            <a:extLst>
              <a:ext uri="{FF2B5EF4-FFF2-40B4-BE49-F238E27FC236}">
                <a16:creationId xmlns:a16="http://schemas.microsoft.com/office/drawing/2014/main" id="{6363A4F9-238C-42DC-B3AE-0DF2F84138E4}"/>
              </a:ext>
            </a:extLst>
          </p:cNvPr>
          <p:cNvSpPr>
            <a:spLocks noGrp="1"/>
          </p:cNvSpPr>
          <p:nvPr/>
        </p:nvSpPr>
        <p:spPr>
          <a:xfrm>
            <a:off x="1200150" y="1143000"/>
            <a:ext cx="5334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Next: LLM basics</a:t>
            </a:r>
          </a:p>
        </p:txBody>
      </p:sp>
      <p:sp>
        <p:nvSpPr>
          <p:cNvPr id="2" name="transition-subtitle">
            <a:extLst>
              <a:ext uri="{FF2B5EF4-FFF2-40B4-BE49-F238E27FC236}">
                <a16:creationId xmlns:a16="http://schemas.microsoft.com/office/drawing/2014/main" id="{E76508AC-0423-4E37-949C-7F2878FC7262}"/>
              </a:ext>
            </a:extLst>
          </p:cNvPr>
          <p:cNvSpPr>
            <a:spLocks noGrp="1"/>
          </p:cNvSpPr>
          <p:nvPr/>
        </p:nvSpPr>
        <p:spPr>
          <a:xfrm>
            <a:off x="1238250" y="2000250"/>
            <a:ext cx="685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1950" b="0">
                <a:solidFill>
                  <a:srgbClr val="DDE4E8"/>
                </a:solidFill>
                <a:latin typeface="PingFang TC"/>
                <a:ea typeface="PingFang TC"/>
                <a:cs typeface="PingFang TC"/>
              </a:defRPr>
            </a:pPr>
            <a:r>
              <a:rPr sz="1950" b="0">
                <a:solidFill>
                  <a:srgbClr val="DDE4E8"/>
                </a:solidFill>
                <a:latin typeface="PingFang TC"/>
                <a:ea typeface="PingFang TC"/>
                <a:cs typeface="PingFang TC"/>
              </a:rPr>
              <a:t>了解 model，才能設計好的 agent workflow</a:t>
            </a:r>
          </a:p>
        </p:txBody>
      </p:sp>
      <p:sp>
        <p:nvSpPr>
          <p:cNvPr id="3" name="model-to-bus">
            <a:extLst>
              <a:ext uri="{FF2B5EF4-FFF2-40B4-BE49-F238E27FC236}">
                <a16:creationId xmlns:a16="http://schemas.microsoft.com/office/drawing/2014/main" id="{A4C0C9D0-B424-49B3-A8F0-324F7BFBE45E}"/>
              </a:ext>
            </a:extLst>
          </p:cNvPr>
          <p:cNvSpPr>
            <a:spLocks noGrp="1"/>
          </p:cNvSpPr>
          <p:nvPr/>
        </p:nvSpPr>
        <p:spPr>
          <a:xfrm>
            <a:off x="7924800" y="2952750"/>
            <a:ext cx="0" cy="1828800"/>
          </a:xfrm>
          <a:prstGeom prst="line">
            <a:avLst/>
          </a:prstGeom>
          <a:noFill/>
          <a:ln w="11430">
            <a:solidFill>
              <a:srgbClr val="52616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context-to-bus">
            <a:extLst>
              <a:ext uri="{FF2B5EF4-FFF2-40B4-BE49-F238E27FC236}">
                <a16:creationId xmlns:a16="http://schemas.microsoft.com/office/drawing/2014/main" id="{743C3474-3803-4012-A68B-36F3A0D47672}"/>
              </a:ext>
            </a:extLst>
          </p:cNvPr>
          <p:cNvSpPr>
            <a:spLocks noGrp="1"/>
          </p:cNvSpPr>
          <p:nvPr/>
        </p:nvSpPr>
        <p:spPr>
          <a:xfrm>
            <a:off x="6724650" y="3876675"/>
            <a:ext cx="1200150" cy="0"/>
          </a:xfrm>
          <a:prstGeom prst="line">
            <a:avLst/>
          </a:prstGeom>
          <a:noFill/>
          <a:ln w="11430">
            <a:solidFill>
              <a:srgbClr val="52616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bus-to-tools">
            <a:extLst>
              <a:ext uri="{FF2B5EF4-FFF2-40B4-BE49-F238E27FC236}">
                <a16:creationId xmlns:a16="http://schemas.microsoft.com/office/drawing/2014/main" id="{59AA3757-4C5B-4292-BF64-C95F56466154}"/>
              </a:ext>
            </a:extLst>
          </p:cNvPr>
          <p:cNvSpPr>
            <a:spLocks noGrp="1"/>
          </p:cNvSpPr>
          <p:nvPr/>
        </p:nvSpPr>
        <p:spPr>
          <a:xfrm>
            <a:off x="7924800" y="3876675"/>
            <a:ext cx="1123950" cy="0"/>
          </a:xfrm>
          <a:prstGeom prst="line">
            <a:avLst/>
          </a:prstGeom>
          <a:noFill/>
          <a:ln w="11430">
            <a:solidFill>
              <a:srgbClr val="52616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model">
            <a:extLst>
              <a:ext uri="{FF2B5EF4-FFF2-40B4-BE49-F238E27FC236}">
                <a16:creationId xmlns:a16="http://schemas.microsoft.com/office/drawing/2014/main" id="{0AFE8160-C240-4905-867D-852DAA83667C}"/>
              </a:ext>
            </a:extLst>
          </p:cNvPr>
          <p:cNvSpPr>
            <a:spLocks noGrp="1"/>
          </p:cNvSpPr>
          <p:nvPr/>
        </p:nvSpPr>
        <p:spPr>
          <a:xfrm>
            <a:off x="7124700" y="2286000"/>
            <a:ext cx="1600200" cy="666750"/>
          </a:xfrm>
          <a:prstGeom prst="roundRect">
            <a:avLst>
              <a:gd name="adj" fmla="val 11429"/>
            </a:avLst>
          </a:prstGeom>
          <a:solidFill>
            <a:srgbClr val="EEF1FF"/>
          </a:solidFill>
          <a:ln w="12859">
            <a:solidFill>
              <a:srgbClr val="3446A8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9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7" name="context">
            <a:extLst>
              <a:ext uri="{FF2B5EF4-FFF2-40B4-BE49-F238E27FC236}">
                <a16:creationId xmlns:a16="http://schemas.microsoft.com/office/drawing/2014/main" id="{0EED2579-9581-4171-A26A-DFDF73A76EAF}"/>
              </a:ext>
            </a:extLst>
          </p:cNvPr>
          <p:cNvSpPr>
            <a:spLocks noGrp="1"/>
          </p:cNvSpPr>
          <p:nvPr/>
        </p:nvSpPr>
        <p:spPr>
          <a:xfrm>
            <a:off x="5334000" y="3638550"/>
            <a:ext cx="1390650" cy="476250"/>
          </a:xfrm>
          <a:prstGeom prst="roundRect">
            <a:avLst>
              <a:gd name="adj" fmla="val 16000"/>
            </a:avLst>
          </a:prstGeom>
          <a:solidFill>
            <a:srgbClr val="26313A"/>
          </a:solidFill>
          <a:ln w="12859">
            <a:solidFill>
              <a:srgbClr val="A5AFB6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A5AFB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5AFB6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8" name="tools">
            <a:extLst>
              <a:ext uri="{FF2B5EF4-FFF2-40B4-BE49-F238E27FC236}">
                <a16:creationId xmlns:a16="http://schemas.microsoft.com/office/drawing/2014/main" id="{341A6687-4DF1-4387-9209-28A5135ACDBE}"/>
              </a:ext>
            </a:extLst>
          </p:cNvPr>
          <p:cNvSpPr>
            <a:spLocks noGrp="1"/>
          </p:cNvSpPr>
          <p:nvPr/>
        </p:nvSpPr>
        <p:spPr>
          <a:xfrm>
            <a:off x="9048750" y="3638550"/>
            <a:ext cx="1181100" cy="476250"/>
          </a:xfrm>
          <a:prstGeom prst="roundRect">
            <a:avLst>
              <a:gd name="adj" fmla="val 16000"/>
            </a:avLst>
          </a:prstGeom>
          <a:solidFill>
            <a:srgbClr val="26313A"/>
          </a:solidFill>
          <a:ln w="12859">
            <a:solidFill>
              <a:srgbClr val="A5AFB6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A5AFB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5AFB6"/>
                </a:solidFill>
                <a:latin typeface="Aptos"/>
                <a:ea typeface="Aptos"/>
                <a:cs typeface="Aptos"/>
              </a:rPr>
              <a:t>Tools</a:t>
            </a:r>
          </a:p>
        </p:txBody>
      </p:sp>
      <p:sp>
        <p:nvSpPr>
          <p:cNvPr id="9" name="verify">
            <a:extLst>
              <a:ext uri="{FF2B5EF4-FFF2-40B4-BE49-F238E27FC236}">
                <a16:creationId xmlns:a16="http://schemas.microsoft.com/office/drawing/2014/main" id="{BFB329BD-BAF9-401B-A7EF-9ABF362C217F}"/>
              </a:ext>
            </a:extLst>
          </p:cNvPr>
          <p:cNvSpPr>
            <a:spLocks noGrp="1"/>
          </p:cNvSpPr>
          <p:nvPr/>
        </p:nvSpPr>
        <p:spPr>
          <a:xfrm>
            <a:off x="7296150" y="4781550"/>
            <a:ext cx="1257300" cy="476250"/>
          </a:xfrm>
          <a:prstGeom prst="roundRect">
            <a:avLst>
              <a:gd name="adj" fmla="val 16000"/>
            </a:avLst>
          </a:prstGeom>
          <a:solidFill>
            <a:srgbClr val="26313A"/>
          </a:solidFill>
          <a:ln w="12859">
            <a:solidFill>
              <a:srgbClr val="A5AFB6"/>
            </a:solidFill>
            <a:prstDash val="solid"/>
          </a:ln>
        </p:spPr>
        <p:txBody>
          <a:bodyPr lIns="76200" tIns="57150" rIns="76200" bIns="57150" anchor="ctr"/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A5AFB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5AFB6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10" name="wrap">
            <a:extLst>
              <a:ext uri="{FF2B5EF4-FFF2-40B4-BE49-F238E27FC236}">
                <a16:creationId xmlns:a16="http://schemas.microsoft.com/office/drawing/2014/main" id="{C2E61698-1713-4F68-9A50-7C3B0C71BB44}"/>
              </a:ext>
            </a:extLst>
          </p:cNvPr>
          <p:cNvSpPr>
            <a:spLocks noGrp="1"/>
          </p:cNvSpPr>
          <p:nvPr/>
        </p:nvSpPr>
        <p:spPr>
          <a:xfrm>
            <a:off x="1238250" y="4895850"/>
            <a:ext cx="4953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buNone/>
              <a:defRPr sz="1650" b="0">
                <a:solidFill>
                  <a:srgbClr val="DDE4E8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DDE4E8"/>
                </a:solidFill>
                <a:latin typeface="PingFang TC"/>
                <a:ea typeface="PingFang TC"/>
                <a:cs typeface="PingFang TC"/>
              </a:rPr>
              <a:t>這堂建立 workflow 外框；下一堂打開 model 層，理解 token、context、hallucination 與 tool use。</a:t>
            </a:r>
          </a:p>
        </p:txBody>
      </p:sp>
      <p:sp>
        <p:nvSpPr>
          <p:cNvPr id="11" name="footer-dark">
            <a:extLst>
              <a:ext uri="{FF2B5EF4-FFF2-40B4-BE49-F238E27FC236}">
                <a16:creationId xmlns:a16="http://schemas.microsoft.com/office/drawing/2014/main" id="{8139C38A-BB0D-4598-9056-09623FFD6502}"/>
              </a:ext>
            </a:extLst>
          </p:cNvPr>
          <p:cNvSpPr>
            <a:spLocks noGrp="1"/>
          </p:cNvSpPr>
          <p:nvPr/>
        </p:nvSpPr>
        <p:spPr>
          <a:xfrm>
            <a:off x="723900" y="636270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B7C0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0C7"/>
                </a:solidFill>
                <a:latin typeface="Aptos"/>
                <a:ea typeface="Aptos"/>
                <a:cs typeface="Aptos"/>
              </a:rPr>
              <a:t>AI agents, vibe coding, desktop utilities  |  26/26</a:t>
            </a:r>
          </a:p>
        </p:txBody>
      </p:sp>
    </p:spTree>
    <p:extLst>
      <p:ext uri="{BB962C8B-B14F-4D97-AF65-F5344CB8AC3E}">
        <p14:creationId xmlns:p14="http://schemas.microsoft.com/office/powerpoint/2010/main" val="28450599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47f4ddb0-cc54-4d99-8605-7cf227356892"/>
  <p:tag name="SLIDO_EVENT_UUID" val="e2d9f7ff-f85e-4ab0-8890-6578286c9a55"/>
  <p:tag name="SLIDO_EVENT_SECTION_UUID" val="e8fdda0e-adda-4622-ba61-bbebd386af9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b5c2c580-ec25-4264-82f2-77636f992476"/>
  <p:tag name="SLIDO_TIMELINE" val="W3sicG9sbFF1ZXN0aW9uVXVpZCI6Ijk4MWU2MGE0LTJjNWEtNDUyYS1hMThhLThjZDdhNTFlNDU4ZiIsInNob3dSZXN1bHRzIjp0cnVlfV0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Q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Q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ChatGPT [1783646465060]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21CC919-F2D4-0D4B-BB3A-84F0A15F7FD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a3541059-9eae-4350-b6ea-98b2c7c9802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2760</Words>
  <Application>Microsoft Macintosh PowerPoint</Application>
  <DocSecurity>0</DocSecurity>
  <PresentationFormat>寬螢幕</PresentationFormat>
  <Paragraphs>649</Paragraphs>
  <Slides>42</Slides>
  <Notes>33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42</vt:i4>
      </vt:variant>
    </vt:vector>
  </HeadingPairs>
  <TitlesOfParts>
    <vt:vector size="47" baseType="lpstr">
      <vt:lpstr>PingFang TC</vt:lpstr>
      <vt:lpstr>Aptos</vt:lpstr>
      <vt:lpstr>Arial</vt:lpstr>
      <vt:lpstr>Calibri</vt:lpstr>
      <vt:lpstr>ChatGPT [1783646465060]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Michael Nostalgie Chiu</cp:lastModifiedBy>
  <cp:revision>10</cp:revision>
  <dcterms:created xsi:type="dcterms:W3CDTF">2026-07-05T13:58:03Z</dcterms:created>
  <dcterms:modified xsi:type="dcterms:W3CDTF">2026-07-10T15:03:52Z</dcterms:modified>
</cp:coreProperties>
</file>