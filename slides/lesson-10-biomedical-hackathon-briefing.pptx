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efa48f80914d7f" /><Relationship Type="http://schemas.openxmlformats.org/officeDocument/2006/relationships/extended-properties" Target="/docProps/app.xml" Id="Re5c4975fbd89435c" /><Relationship Type="http://schemas.openxmlformats.org/officeDocument/2006/relationships/officeDocument" Target="/ppt/presentation.xml" Id="R2fa970fcf4c847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d665495c354b83"/>
  </p:sldMasterIdLst>
  <p:notesMasterIdLst>
    <p:notesMasterId xmlns:r="http://schemas.openxmlformats.org/officeDocument/2006/relationships" r:id="R0d5c5bc5a2024d1d"/>
  </p:notesMasterIdLst>
  <p:sldIdLst>
    <p:sldId xmlns:r="http://schemas.openxmlformats.org/officeDocument/2006/relationships" id="256" r:id="R5d316310162b4de1"/>
    <p:sldId xmlns:r="http://schemas.openxmlformats.org/officeDocument/2006/relationships" id="257" r:id="R16b1dc2cf3894c23"/>
    <p:sldId xmlns:r="http://schemas.openxmlformats.org/officeDocument/2006/relationships" id="258" r:id="Rd0511ebf2274406a"/>
    <p:sldId xmlns:r="http://schemas.openxmlformats.org/officeDocument/2006/relationships" id="259" r:id="R6ef6a8bcc43d4089"/>
    <p:sldId xmlns:r="http://schemas.openxmlformats.org/officeDocument/2006/relationships" id="260" r:id="R00f1eb7908bd4038"/>
    <p:sldId xmlns:r="http://schemas.openxmlformats.org/officeDocument/2006/relationships" id="261" r:id="Rfa9950a4b38e4986"/>
    <p:sldId xmlns:r="http://schemas.openxmlformats.org/officeDocument/2006/relationships" id="262" r:id="Rf7ab63aa3fda4068"/>
    <p:sldId xmlns:r="http://schemas.openxmlformats.org/officeDocument/2006/relationships" id="263" r:id="Rcc1c5daa76a44a6e"/>
    <p:sldId xmlns:r="http://schemas.openxmlformats.org/officeDocument/2006/relationships" id="264" r:id="R29e8407a38004c8c"/>
    <p:sldId xmlns:r="http://schemas.openxmlformats.org/officeDocument/2006/relationships" id="265" r:id="Rec7c47fdde7a4f54"/>
    <p:sldId xmlns:r="http://schemas.openxmlformats.org/officeDocument/2006/relationships" id="266" r:id="R820347b8aa8f4664"/>
    <p:sldId xmlns:r="http://schemas.openxmlformats.org/officeDocument/2006/relationships" id="267" r:id="R50fc063c37224e20"/>
    <p:sldId xmlns:r="http://schemas.openxmlformats.org/officeDocument/2006/relationships" id="268" r:id="Rd1aa5ae304924a01"/>
    <p:sldId xmlns:r="http://schemas.openxmlformats.org/officeDocument/2006/relationships" id="269" r:id="R6719ea058dad4d6e"/>
    <p:sldId xmlns:r="http://schemas.openxmlformats.org/officeDocument/2006/relationships" id="270" r:id="R4b37778a8a42486f"/>
    <p:sldId xmlns:r="http://schemas.openxmlformats.org/officeDocument/2006/relationships" id="271" r:id="R0b62bfbd064444f1"/>
    <p:sldId xmlns:r="http://schemas.openxmlformats.org/officeDocument/2006/relationships" id="272" r:id="R1bf98a77356a41ec"/>
    <p:sldId xmlns:r="http://schemas.openxmlformats.org/officeDocument/2006/relationships" id="273" r:id="Rb203ea57a8b141ff"/>
    <p:sldId xmlns:r="http://schemas.openxmlformats.org/officeDocument/2006/relationships" id="274" r:id="Rce75fc50636640b0"/>
    <p:sldId xmlns:r="http://schemas.openxmlformats.org/officeDocument/2006/relationships" id="275" r:id="Rbf775435a5464be1"/>
    <p:sldId xmlns:r="http://schemas.openxmlformats.org/officeDocument/2006/relationships" id="276" r:id="R8bb60398cafe477a"/>
    <p:sldId xmlns:r="http://schemas.openxmlformats.org/officeDocument/2006/relationships" id="277" r:id="Re2eb5a40f2f64e18"/>
    <p:sldId xmlns:r="http://schemas.openxmlformats.org/officeDocument/2006/relationships" id="278" r:id="Rfbd56b6158554376"/>
    <p:sldId xmlns:r="http://schemas.openxmlformats.org/officeDocument/2006/relationships" id="279" r:id="R6a57737048b44c4c"/>
    <p:sldId xmlns:r="http://schemas.openxmlformats.org/officeDocument/2006/relationships" id="280" r:id="R5fbcfa7292e245b5"/>
    <p:sldId xmlns:r="http://schemas.openxmlformats.org/officeDocument/2006/relationships" id="281" r:id="R90c58f4b9fb4472f"/>
    <p:sldId xmlns:r="http://schemas.openxmlformats.org/officeDocument/2006/relationships" id="282" r:id="R37500dda1f194cd6"/>
    <p:sldId xmlns:r="http://schemas.openxmlformats.org/officeDocument/2006/relationships" id="283" r:id="R530f6462812a458c"/>
    <p:sldId xmlns:r="http://schemas.openxmlformats.org/officeDocument/2006/relationships" id="284" r:id="R4c73ca6cf3e348b2"/>
    <p:sldId xmlns:r="http://schemas.openxmlformats.org/officeDocument/2006/relationships" id="285" r:id="Rcd7df5e541ff41cc"/>
    <p:sldId xmlns:r="http://schemas.openxmlformats.org/officeDocument/2006/relationships" id="286" r:id="Rda5ec4edf6a742f9"/>
    <p:sldId xmlns:r="http://schemas.openxmlformats.org/officeDocument/2006/relationships" id="287" r:id="R97bac02e36364bbf"/>
    <p:sldId xmlns:r="http://schemas.openxmlformats.org/officeDocument/2006/relationships" id="288" r:id="R44bedc5977984c62"/>
    <p:sldId xmlns:r="http://schemas.openxmlformats.org/officeDocument/2006/relationships" id="289" r:id="R3d2f380b3b9d43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d9796646574bf9" /><Relationship Type="http://schemas.openxmlformats.org/officeDocument/2006/relationships/slideMaster" Target="/ppt/slideMasters/slideMaster1.xml" Id="R91d665495c354b83" /><Relationship Type="http://schemas.openxmlformats.org/officeDocument/2006/relationships/notesMaster" Target="/ppt/notesMasters/notesMaster1.xml" Id="R0d5c5bc5a2024d1d" /><Relationship Type="http://schemas.openxmlformats.org/officeDocument/2006/relationships/presProps" Target="/ppt/presProps.xml" Id="R276940017e46434d" /><Relationship Type="http://schemas.openxmlformats.org/officeDocument/2006/relationships/tableStyles" Target="/ppt/tableStyles.xml" Id="Ra176764bdb114f93" /><Relationship Type="http://schemas.openxmlformats.org/officeDocument/2006/relationships/slide" Target="/ppt/slides/slide1.xml" Id="R5d316310162b4de1" /><Relationship Type="http://schemas.openxmlformats.org/officeDocument/2006/relationships/slide" Target="/ppt/slides/slide2.xml" Id="R16b1dc2cf3894c23" /><Relationship Type="http://schemas.openxmlformats.org/officeDocument/2006/relationships/slide" Target="/ppt/slides/slide3.xml" Id="Rd0511ebf2274406a" /><Relationship Type="http://schemas.openxmlformats.org/officeDocument/2006/relationships/slide" Target="/ppt/slides/slide4.xml" Id="R6ef6a8bcc43d4089" /><Relationship Type="http://schemas.openxmlformats.org/officeDocument/2006/relationships/slide" Target="/ppt/slides/slide5.xml" Id="R00f1eb7908bd4038" /><Relationship Type="http://schemas.openxmlformats.org/officeDocument/2006/relationships/slide" Target="/ppt/slides/slide6.xml" Id="Rfa9950a4b38e4986" /><Relationship Type="http://schemas.openxmlformats.org/officeDocument/2006/relationships/slide" Target="/ppt/slides/slide7.xml" Id="Rf7ab63aa3fda4068" /><Relationship Type="http://schemas.openxmlformats.org/officeDocument/2006/relationships/slide" Target="/ppt/slides/slide8.xml" Id="Rcc1c5daa76a44a6e" /><Relationship Type="http://schemas.openxmlformats.org/officeDocument/2006/relationships/slide" Target="/ppt/slides/slide9.xml" Id="R29e8407a38004c8c" /><Relationship Type="http://schemas.openxmlformats.org/officeDocument/2006/relationships/slide" Target="/ppt/slides/slide10.xml" Id="Rec7c47fdde7a4f54" /><Relationship Type="http://schemas.openxmlformats.org/officeDocument/2006/relationships/slide" Target="/ppt/slides/slide11.xml" Id="R820347b8aa8f4664" /><Relationship Type="http://schemas.openxmlformats.org/officeDocument/2006/relationships/slide" Target="/ppt/slides/slide12.xml" Id="R50fc063c37224e20" /><Relationship Type="http://schemas.openxmlformats.org/officeDocument/2006/relationships/slide" Target="/ppt/slides/slide13.xml" Id="Rd1aa5ae304924a01" /><Relationship Type="http://schemas.openxmlformats.org/officeDocument/2006/relationships/slide" Target="/ppt/slides/slide14.xml" Id="R6719ea058dad4d6e" /><Relationship Type="http://schemas.openxmlformats.org/officeDocument/2006/relationships/slide" Target="/ppt/slides/slide15.xml" Id="R4b37778a8a42486f" /><Relationship Type="http://schemas.openxmlformats.org/officeDocument/2006/relationships/slide" Target="/ppt/slides/slide16.xml" Id="R0b62bfbd064444f1" /><Relationship Type="http://schemas.openxmlformats.org/officeDocument/2006/relationships/slide" Target="/ppt/slides/slide17.xml" Id="R1bf98a77356a41ec" /><Relationship Type="http://schemas.openxmlformats.org/officeDocument/2006/relationships/slide" Target="/ppt/slides/slide18.xml" Id="Rb203ea57a8b141ff" /><Relationship Type="http://schemas.openxmlformats.org/officeDocument/2006/relationships/slide" Target="/ppt/slides/slide19.xml" Id="Rce75fc50636640b0" /><Relationship Type="http://schemas.openxmlformats.org/officeDocument/2006/relationships/slide" Target="/ppt/slides/slide20.xml" Id="Rbf775435a5464be1" /><Relationship Type="http://schemas.openxmlformats.org/officeDocument/2006/relationships/slide" Target="/ppt/slides/slide21.xml" Id="R8bb60398cafe477a" /><Relationship Type="http://schemas.openxmlformats.org/officeDocument/2006/relationships/slide" Target="/ppt/slides/slide22.xml" Id="Re2eb5a40f2f64e18" /><Relationship Type="http://schemas.openxmlformats.org/officeDocument/2006/relationships/slide" Target="/ppt/slides/slide23.xml" Id="Rfbd56b6158554376" /><Relationship Type="http://schemas.openxmlformats.org/officeDocument/2006/relationships/slide" Target="/ppt/slides/slide24.xml" Id="R6a57737048b44c4c" /><Relationship Type="http://schemas.openxmlformats.org/officeDocument/2006/relationships/slide" Target="/ppt/slides/slide25.xml" Id="R5fbcfa7292e245b5" /><Relationship Type="http://schemas.openxmlformats.org/officeDocument/2006/relationships/slide" Target="/ppt/slides/slide26.xml" Id="R90c58f4b9fb4472f" /><Relationship Type="http://schemas.openxmlformats.org/officeDocument/2006/relationships/slide" Target="/ppt/slides/slide27.xml" Id="R37500dda1f194cd6" /><Relationship Type="http://schemas.openxmlformats.org/officeDocument/2006/relationships/slide" Target="/ppt/slides/slide28.xml" Id="R530f6462812a458c" /><Relationship Type="http://schemas.openxmlformats.org/officeDocument/2006/relationships/slide" Target="/ppt/slides/slide29.xml" Id="R4c73ca6cf3e348b2" /><Relationship Type="http://schemas.openxmlformats.org/officeDocument/2006/relationships/slide" Target="/ppt/slides/slide30.xml" Id="Rcd7df5e541ff41cc" /><Relationship Type="http://schemas.openxmlformats.org/officeDocument/2006/relationships/slide" Target="/ppt/slides/slide31.xml" Id="Rda5ec4edf6a742f9" /><Relationship Type="http://schemas.openxmlformats.org/officeDocument/2006/relationships/slide" Target="/ppt/slides/slide32.xml" Id="R97bac02e36364bbf" /><Relationship Type="http://schemas.openxmlformats.org/officeDocument/2006/relationships/slide" Target="/ppt/slides/slide33.xml" Id="R44bedc5977984c62" /><Relationship Type="http://schemas.openxmlformats.org/officeDocument/2006/relationships/slide" Target="/ppt/slides/slide34.xml" Id="R3d2f380b3b9d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e20324473a44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c10ed1782f4e40" /><Relationship Type="http://schemas.openxmlformats.org/officeDocument/2006/relationships/notesMaster" Target="/ppt/notesMasters/notesMaster1.xml" Id="R3f96568276284b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3165db99b546c6" /><Relationship Type="http://schemas.openxmlformats.org/officeDocument/2006/relationships/notesMaster" Target="/ppt/notesMasters/notesMaster1.xml" Id="Rcfd907d22ba74a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d24ee096234bcb" /><Relationship Type="http://schemas.openxmlformats.org/officeDocument/2006/relationships/notesMaster" Target="/ppt/notesMasters/notesMaster1.xml" Id="R4b42ca44aac849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56861b125e4a0d" /><Relationship Type="http://schemas.openxmlformats.org/officeDocument/2006/relationships/notesMaster" Target="/ppt/notesMasters/notesMaster1.xml" Id="R5e8b844da1774e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8400805b8d4f4d" /><Relationship Type="http://schemas.openxmlformats.org/officeDocument/2006/relationships/notesMaster" Target="/ppt/notesMasters/notesMaster1.xml" Id="R0e2570c8a4ee44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f35a898d7a4308" /><Relationship Type="http://schemas.openxmlformats.org/officeDocument/2006/relationships/notesMaster" Target="/ppt/notesMasters/notesMaster1.xml" Id="Rd573ff88677f4e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003698dd4c4c93" /><Relationship Type="http://schemas.openxmlformats.org/officeDocument/2006/relationships/notesMaster" Target="/ppt/notesMasters/notesMaster1.xml" Id="R93ce62595b3d47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5bb33f76a84b47" /><Relationship Type="http://schemas.openxmlformats.org/officeDocument/2006/relationships/notesMaster" Target="/ppt/notesMasters/notesMaster1.xml" Id="R47bddbe98d6e4f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959cc147cd45e3" /><Relationship Type="http://schemas.openxmlformats.org/officeDocument/2006/relationships/notesMaster" Target="/ppt/notesMasters/notesMaster1.xml" Id="Rdf4323a5975d4d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a8db8926db4cf5" /><Relationship Type="http://schemas.openxmlformats.org/officeDocument/2006/relationships/notesMaster" Target="/ppt/notesMasters/notesMaster1.xml" Id="R0bc8f2f185434c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4c2aef32ed469f" /><Relationship Type="http://schemas.openxmlformats.org/officeDocument/2006/relationships/notesMaster" Target="/ppt/notesMasters/notesMaster1.xml" Id="Re2cc7269c64c40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bca93537824810" /><Relationship Type="http://schemas.openxmlformats.org/officeDocument/2006/relationships/notesMaster" Target="/ppt/notesMasters/notesMaster1.xml" Id="Rfd32359194fe4b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3f30f36e2b4889" /><Relationship Type="http://schemas.openxmlformats.org/officeDocument/2006/relationships/notesMaster" Target="/ppt/notesMasters/notesMaster1.xml" Id="R6ddfc2f6869c4e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c633afacdf47e7" /><Relationship Type="http://schemas.openxmlformats.org/officeDocument/2006/relationships/notesMaster" Target="/ppt/notesMasters/notesMaster1.xml" Id="Ra140cf23a29c4f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9a5f21cb6b4d9e" /><Relationship Type="http://schemas.openxmlformats.org/officeDocument/2006/relationships/notesMaster" Target="/ppt/notesMasters/notesMaster1.xml" Id="Raa2a6ad275d94e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908d2a8dd34957" /><Relationship Type="http://schemas.openxmlformats.org/officeDocument/2006/relationships/notesMaster" Target="/ppt/notesMasters/notesMaster1.xml" Id="R0351ad61cbde47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b63f653c9e444d" /><Relationship Type="http://schemas.openxmlformats.org/officeDocument/2006/relationships/notesMaster" Target="/ppt/notesMasters/notesMaster1.xml" Id="Rd2d4735d854e4f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480c2940e34663" /><Relationship Type="http://schemas.openxmlformats.org/officeDocument/2006/relationships/notesMaster" Target="/ppt/notesMasters/notesMaster1.xml" Id="R36acb043115449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2dc68dc76a46f2" /><Relationship Type="http://schemas.openxmlformats.org/officeDocument/2006/relationships/notesMaster" Target="/ppt/notesMasters/notesMaster1.xml" Id="R7a28bd2fc0d84c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e344c2d87fe4597" /><Relationship Type="http://schemas.openxmlformats.org/officeDocument/2006/relationships/notesMaster" Target="/ppt/notesMasters/notesMaster1.xml" Id="Rf8cbecdc19e148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7a4fe9d4874633" /><Relationship Type="http://schemas.openxmlformats.org/officeDocument/2006/relationships/notesMaster" Target="/ppt/notesMasters/notesMaster1.xml" Id="R691748b6e59d45e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687786abb94ae9" /><Relationship Type="http://schemas.openxmlformats.org/officeDocument/2006/relationships/notesMaster" Target="/ppt/notesMasters/notesMaster1.xml" Id="R3610192f444d4b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2e7235600a407e" /><Relationship Type="http://schemas.openxmlformats.org/officeDocument/2006/relationships/notesMaster" Target="/ppt/notesMasters/notesMaster1.xml" Id="R520bb162340241c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86adf7758c049ae" /><Relationship Type="http://schemas.openxmlformats.org/officeDocument/2006/relationships/notesMaster" Target="/ppt/notesMasters/notesMaster1.xml" Id="R50d04e36af9647d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fbe57b2da244ca0" /><Relationship Type="http://schemas.openxmlformats.org/officeDocument/2006/relationships/notesMaster" Target="/ppt/notesMasters/notesMaster1.xml" Id="R9036763cae25486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402ab40f9d482b" /><Relationship Type="http://schemas.openxmlformats.org/officeDocument/2006/relationships/notesMaster" Target="/ppt/notesMasters/notesMaster1.xml" Id="Rbdf659f902e041e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b47b50780854dea" /><Relationship Type="http://schemas.openxmlformats.org/officeDocument/2006/relationships/notesMaster" Target="/ppt/notesMasters/notesMaster1.xml" Id="R1364eea2eaaa4c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3db7fbf7700446f" /><Relationship Type="http://schemas.openxmlformats.org/officeDocument/2006/relationships/notesMaster" Target="/ppt/notesMasters/notesMaster1.xml" Id="Rb162eda9e95a43d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8023c339fa04d66" /><Relationship Type="http://schemas.openxmlformats.org/officeDocument/2006/relationships/notesMaster" Target="/ppt/notesMasters/notesMaster1.xml" Id="Ref01e56a94a9414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ad39c66cf864bc5" /><Relationship Type="http://schemas.openxmlformats.org/officeDocument/2006/relationships/notesMaster" Target="/ppt/notesMasters/notesMaster1.xml" Id="R522bf8284f074cd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53370985a3244d1" /><Relationship Type="http://schemas.openxmlformats.org/officeDocument/2006/relationships/notesMaster" Target="/ppt/notesMasters/notesMaster1.xml" Id="Rb6a9edf66f734fe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798bd2c96814391" /><Relationship Type="http://schemas.openxmlformats.org/officeDocument/2006/relationships/notesMaster" Target="/ppt/notesMasters/notesMaster1.xml" Id="Rfbf924a1ff50453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2f01dfc985d4f09" /><Relationship Type="http://schemas.openxmlformats.org/officeDocument/2006/relationships/notesMaster" Target="/ppt/notesMasters/notesMaster1.xml" Id="Rd74ab2e93b28420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b4bd4d14b4349f9" /><Relationship Type="http://schemas.openxmlformats.org/officeDocument/2006/relationships/notesMaster" Target="/ppt/notesMasters/notesMaster1.xml" Id="Rc633ab71363e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開場先定義這不是比誰的 AI 回答最華麗，而是比誰能把一個小型 biomedical workflow 做得可驗證、可重跑、可說明限制。今天上午建立 scaffold，下午實作與驗證，最後展示。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 briefing 的終點定義。學生最後不必做成產品，不必訓練新模型，也不必使用所有工具；但每組都必須留下可查看的 workflow artifact。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提醒學生 Day 3 的時間節點。上午 hackathon briefing 結束時必須有題目、scope、task spec 和 demo plan。下午才開始 build。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這是之後評分與問答的共同框架。五個問題可以當成學生在 demo 前自我檢查的最低門檻。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四條原則會一直出現在後面的規範與評分中。請特別強調 Honest：找不到證據或工具失敗都不是扣分本身，沒有誠實標記才是問題。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讓學生先看全貌。題目不是封閉的，只要符合公開資料、可驗證、範圍可在下午完成的原則，也可以提出自己的變體。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最推薦的預設題目。學生可以重用 Lesson 04 和 Lesson 05 的 evidence table workflow。MVP 只需要 3 到 6 個可回查 rows，不必追求完整文獻回顧。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學生應選 3 到 5 筆 study records，而不是試圖抓取整個資料庫。每一列需要保留 NCT ID、原文 criteria、結構化欄位與不確定狀態。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這個題目適合不想碰臨床 evidence 的同學。關鍵是把 dataset 的 sample type、disease、assay、metadata fields、access limits 正確整理，而不是做資料分析。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Variant track 的難點是不要過度解讀。MVP 可用 3 至 5 個變異；保留 raw variant text、normalized field、database record、status 和 review note。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這題延續 Coding Agents 與 Seqera AI 課程。最重要的是 repo-grounded work：先讀檔、說明假設、提出小 patch、跑 validation、回報 diff。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這張是學生選題時的停損規則。資料不可得、輸出無法驗證或下午完成不了，都不是硬撐的理由。請要求每組在這張規則下確認題目。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不強制四人一組，但要明確責任。兩人組可由一人同時負責 problem 與 demo，另一人負責 agent operation 與 validation；重點是不讓 validation 成為沒有人做的最後一步。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這是最重要的 scope 控制工具。要求學生先寫出 input、transform、check、output 這四個節點；若說不清楚，專題還不能開始。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這裡用具體對比阻止 scope creep。若學生有宏大方向，請他們把它放在 future work，而不是當天 MVP。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提醒學生 task spec 不需要很長，但必須涵蓋 Problem、Input、Output、Rules、Check、Stop。這也是下午請助教檢查 scope 時的共同語言。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左邊是常見的自然語言需求，右邊是可在下午完成的 task spec。請老師示範如何從模糊題目問回 Input、Output、Source、Rule、Check。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資料規範要在 hackathon 開始前講清楚。這堂課只使用公開資料、教學用資料或已去識別的資料，不接受實際病人資料或未公開研究資料。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這張要將 agent 的操作權限說清楚。學生可以使用工具，但必須理解工具輸入、輸出與 side effect；尤其不要把網頁文字當成比 system 或 project rule 更高的指令。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要求每組使用相同的 folder contract。這不是形式主義；它讓助教能快速定位 spec、logs、outputs，並可讓學生在 demo 時不需要到處找檔案。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輸出 schema 不必和這張完全相同，但所有題目都必須保留 input identifier、source、output claim/field、status 和 human review note。這是 workflow traceability 的底線。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這張回收 Lesson 04 的 evidence/inference distinction。學生必須把 not_found 視為有用的結果，並能在 demo 中說明搜尋策略與範圍。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harness 具體化成三個 cases。學生不必寫測試框架，但必須準備可實際執行或人工檢查的正常、not found、conflicting case。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這張要連回前一堂 loop engineering。每組的 demo 都必須有至少一個 stop condition，不能讓 agent 無限 retry 或把未知結果變成假確定答案。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這張可讓老師和助教照時間巡組。若學生在 11:35 還沒有 scaffold 和 demo plan，下午很可能做不完，應要求縮小 scope。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下午最常見的錯誤是一直加功能，卻沒有足夠時間驗證。設定 14:15 freeze，讓學生有時間整理 demo、補上 evidence trail 和 limitations。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示範好問題的格式。這能讓助教在短時間內判斷是 scope、source、prompt、schema、tool 或 runtime 的問題，也能訓練學生用工程語言描述失敗。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先給學生總覽：Evidence + traceability 最高分，但其他項目也重要。這告訴學生不要只做漂亮 demo，要留下可檢查的 engineering evidence。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解釋前兩項分數。Problem framing 的高分關鍵是具體、可做；Evidence 的高分關鍵是 traceability、not_found honesty 和 human review。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這張要讓學生知道 Harness、Loop、安全不是額外加分，而是總分四成。Demo clarity 不是講得漂亮而已，而是能在短時間讓人看懂 workflow 和 limitation。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這張避免學生誤以為只有成功結果才可展示。請明講：誠實的 failure log 和限制說明可以得分；編造來源或誇大 output 才會失分。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這是展示格式。學生必須先展示 runnable or inspectable workflow，再展示 output；不能花四分鐘講背景，最後三十秒才提 validation。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讓學生在登台前做最後清點。助教可以用這張當作 pass/fail checklist，確保每組至少有 demo folder、source trail、test case 和 limitation。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最後收束。請學生在下一個 10 分鐘內選 track、寫下最小 task spec，並向助教申請 scope check。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eb3c4e64e4a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80591413b45f7" /><Relationship Type="http://schemas.openxmlformats.org/officeDocument/2006/relationships/slideLayout" Target="/ppt/slideLayouts/slideLayout1.xml" Id="R68cf49e14fe344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cf49e14fe344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a6cbbd5b949cd" /><Relationship Type="http://schemas.openxmlformats.org/officeDocument/2006/relationships/notesSlide" Target="/ppt/notesSlides/notesSlide1.xml" Id="R2e943e04a77a4d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aacfe73b6456b" /><Relationship Type="http://schemas.openxmlformats.org/officeDocument/2006/relationships/notesSlide" Target="/ppt/notesSlides/notesSlide2.xml" Id="Re32b43b58ee242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4488aef914934" /><Relationship Type="http://schemas.openxmlformats.org/officeDocument/2006/relationships/notesSlide" Target="/ppt/notesSlides/notesSlide3.xml" Id="R64a9cdc623e74d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56f2d2bbf4243" /><Relationship Type="http://schemas.openxmlformats.org/officeDocument/2006/relationships/notesSlide" Target="/ppt/notesSlides/notesSlide4.xml" Id="Re60810f6c84841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e707e36b44373" /><Relationship Type="http://schemas.openxmlformats.org/officeDocument/2006/relationships/notesSlide" Target="/ppt/notesSlides/notesSlide5.xml" Id="R669c57d08d4e4a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270ba742d4bdd" /><Relationship Type="http://schemas.openxmlformats.org/officeDocument/2006/relationships/notesSlide" Target="/ppt/notesSlides/notesSlide6.xml" Id="R96b8bb0840c842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cee188a6a48ca" /><Relationship Type="http://schemas.openxmlformats.org/officeDocument/2006/relationships/notesSlide" Target="/ppt/notesSlides/notesSlide7.xml" Id="R99213b308e1148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124e30a3d4952" /><Relationship Type="http://schemas.openxmlformats.org/officeDocument/2006/relationships/notesSlide" Target="/ppt/notesSlides/notesSlide8.xml" Id="R1db7ae27929046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a0569a7904dab" /><Relationship Type="http://schemas.openxmlformats.org/officeDocument/2006/relationships/notesSlide" Target="/ppt/notesSlides/notesSlide9.xml" Id="R93e0fa8d89f54c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1a6128d5a4b7e" /><Relationship Type="http://schemas.openxmlformats.org/officeDocument/2006/relationships/notesSlide" Target="/ppt/notesSlides/notesSlide10.xml" Id="R03589e3432864c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0dfe8d57f4fb5" /><Relationship Type="http://schemas.openxmlformats.org/officeDocument/2006/relationships/notesSlide" Target="/ppt/notesSlides/notesSlide11.xml" Id="Rcbc4d4274b4648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807e122dc4ea3" /><Relationship Type="http://schemas.openxmlformats.org/officeDocument/2006/relationships/notesSlide" Target="/ppt/notesSlides/notesSlide12.xml" Id="R6ffbcabda91041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b974c4fef489b" /><Relationship Type="http://schemas.openxmlformats.org/officeDocument/2006/relationships/notesSlide" Target="/ppt/notesSlides/notesSlide13.xml" Id="Rb9c0e3baef8843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2e98e1b354ed7" /><Relationship Type="http://schemas.openxmlformats.org/officeDocument/2006/relationships/notesSlide" Target="/ppt/notesSlides/notesSlide14.xml" Id="R2233796deb464c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202e708254cca" /><Relationship Type="http://schemas.openxmlformats.org/officeDocument/2006/relationships/notesSlide" Target="/ppt/notesSlides/notesSlide15.xml" Id="R3e821466a24f41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0bcffb8cd4b73" /><Relationship Type="http://schemas.openxmlformats.org/officeDocument/2006/relationships/notesSlide" Target="/ppt/notesSlides/notesSlide16.xml" Id="Rcc935472790d46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8c201e34d4d3d" /><Relationship Type="http://schemas.openxmlformats.org/officeDocument/2006/relationships/notesSlide" Target="/ppt/notesSlides/notesSlide17.xml" Id="R56e984f7565d41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76a5955674608" /><Relationship Type="http://schemas.openxmlformats.org/officeDocument/2006/relationships/notesSlide" Target="/ppt/notesSlides/notesSlide18.xml" Id="Rf13b3bb9cd4840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acc4ae68e498e" /><Relationship Type="http://schemas.openxmlformats.org/officeDocument/2006/relationships/notesSlide" Target="/ppt/notesSlides/notesSlide19.xml" Id="R1c7e5fef294847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298ba8cdf4bd5" /><Relationship Type="http://schemas.openxmlformats.org/officeDocument/2006/relationships/notesSlide" Target="/ppt/notesSlides/notesSlide20.xml" Id="Rf2b46755762d49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d77d448b94d45" /><Relationship Type="http://schemas.openxmlformats.org/officeDocument/2006/relationships/notesSlide" Target="/ppt/notesSlides/notesSlide21.xml" Id="Rbecfd3c1a24749d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2d7db874541ae" /><Relationship Type="http://schemas.openxmlformats.org/officeDocument/2006/relationships/notesSlide" Target="/ppt/notesSlides/notesSlide22.xml" Id="R03cbb0b1b7a74a1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c2b8c592e4986" /><Relationship Type="http://schemas.openxmlformats.org/officeDocument/2006/relationships/notesSlide" Target="/ppt/notesSlides/notesSlide23.xml" Id="R2743a0d1d57d498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75473b0174574" /><Relationship Type="http://schemas.openxmlformats.org/officeDocument/2006/relationships/notesSlide" Target="/ppt/notesSlides/notesSlide24.xml" Id="Rb35ffe6a010c4b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6835ca643461b" /><Relationship Type="http://schemas.openxmlformats.org/officeDocument/2006/relationships/notesSlide" Target="/ppt/notesSlides/notesSlide25.xml" Id="Rb93b8cbd9b244b4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26bcf83de45c3" /><Relationship Type="http://schemas.openxmlformats.org/officeDocument/2006/relationships/notesSlide" Target="/ppt/notesSlides/notesSlide26.xml" Id="R12541776ad11482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d0ebe4a0f45fe" /><Relationship Type="http://schemas.openxmlformats.org/officeDocument/2006/relationships/notesSlide" Target="/ppt/notesSlides/notesSlide27.xml" Id="R84af9f1b031a427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8fa1ddf184c41" /><Relationship Type="http://schemas.openxmlformats.org/officeDocument/2006/relationships/notesSlide" Target="/ppt/notesSlides/notesSlide28.xml" Id="R88c28048096746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d41e9685741d2" /><Relationship Type="http://schemas.openxmlformats.org/officeDocument/2006/relationships/notesSlide" Target="/ppt/notesSlides/notesSlide29.xml" Id="Rcab24eb050ba42c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3b3dd4d964659" /><Relationship Type="http://schemas.openxmlformats.org/officeDocument/2006/relationships/notesSlide" Target="/ppt/notesSlides/notesSlide30.xml" Id="R2cf4553cbbad436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a242462644300" /><Relationship Type="http://schemas.openxmlformats.org/officeDocument/2006/relationships/notesSlide" Target="/ppt/notesSlides/notesSlide31.xml" Id="Rdac1d4d5a2c240e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df8fe7afb4a50" /><Relationship Type="http://schemas.openxmlformats.org/officeDocument/2006/relationships/notesSlide" Target="/ppt/notesSlides/notesSlide32.xml" Id="R16ac2623d6c5400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42adfee5d4244" /><Relationship Type="http://schemas.openxmlformats.org/officeDocument/2006/relationships/notesSlide" Target="/ppt/notesSlides/notesSlide33.xml" Id="R83377fca3ff348c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7f96d36cb4fe3" /><Relationship Type="http://schemas.openxmlformats.org/officeDocument/2006/relationships/notesSlide" Target="/ppt/notesSlides/notesSlide34.xml" Id="R844747ff055c45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">
            <a:extLst xmlns:a="http://schemas.openxmlformats.org/drawingml/2006/main">
              <a:ext uri="{FF2B5EF4-FFF2-40B4-BE49-F238E27FC236}">
                <a16:creationId xmlns:a16="http://schemas.microsoft.com/office/drawing/2014/main" id="{C7749C81-B08B-416D-BBEF-6426D0D3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699ED5ED-C328-4E2C-BB72-511BCB9F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3CD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3CDD4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1">
            <a:extLst xmlns:a="http://schemas.openxmlformats.org/drawingml/2006/main">
              <a:ext uri="{FF2B5EF4-FFF2-40B4-BE49-F238E27FC236}">
                <a16:creationId xmlns:a16="http://schemas.microsoft.com/office/drawing/2014/main" id="{63CBDDF0-89D9-4919-9AD1-D754E0F9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650"/>
            </a:solidFill>
            <a:prstDash val="solid"/>
          </a:ln>
        </p:spPr>
      </p:sp>
      <p:sp>
        <p:nvSpPr>
          <p:cNvPr id="4" name="progress-fill-1">
            <a:extLst xmlns:a="http://schemas.openxmlformats.org/drawingml/2006/main">
              <a:ext uri="{FF2B5EF4-FFF2-40B4-BE49-F238E27FC236}">
                <a16:creationId xmlns:a16="http://schemas.microsoft.com/office/drawing/2014/main" id="{095CC3EA-FEDD-4089-B163-06994B4A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76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E8C4468-EDA0-4E79-8EFA-BC2A5C72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4D8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D8D0"/>
                </a:solidFill>
                <a:latin typeface="Aptos"/>
                <a:ea typeface="Aptos"/>
                <a:cs typeface="Aptos"/>
              </a:rPr>
              <a:t>DAY 3  |  BIOMEDICAL HACKATHON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CB07C3D-8800-411A-B88F-341048D3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Biomedical Hackathon Briefing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1FBAD95E-A50E-4C70-A0AC-1E993C56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把一個生醫問題縮成可執行、可驗證、可解釋的 agent workflow</a:t>
            </a:r>
          </a:p>
        </p:txBody>
      </p:sp>
      <p:sp>
        <p:nvSpPr>
          <p:cNvPr id="8" name="title-node-0">
            <a:extLst xmlns:a="http://schemas.openxmlformats.org/drawingml/2006/main">
              <a:ext uri="{FF2B5EF4-FFF2-40B4-BE49-F238E27FC236}">
                <a16:creationId xmlns:a16="http://schemas.microsoft.com/office/drawing/2014/main" id="{126E1197-9F27-448A-B747-888D8B6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00500"/>
            <a:ext cx="1257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9" name="title-flow-1">
            <a:extLst xmlns:a="http://schemas.openxmlformats.org/drawingml/2006/main">
              <a:ext uri="{FF2B5EF4-FFF2-40B4-BE49-F238E27FC236}">
                <a16:creationId xmlns:a16="http://schemas.microsoft.com/office/drawing/2014/main" id="{46CDE378-AF38-4EFD-881D-7AC35EB9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A7984"/>
            </a:solidFill>
            <a:prstDash val="solid"/>
          </a:ln>
        </p:spPr>
      </p:sp>
      <p:sp>
        <p:nvSpPr>
          <p:cNvPr id="10" name="title-node-1">
            <a:extLst xmlns:a="http://schemas.openxmlformats.org/drawingml/2006/main">
              <a:ext uri="{FF2B5EF4-FFF2-40B4-BE49-F238E27FC236}">
                <a16:creationId xmlns:a16="http://schemas.microsoft.com/office/drawing/2014/main" id="{BD51FA5A-BCDD-41B2-851C-67DA1C96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1257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1" name="title-flow-2">
            <a:extLst xmlns:a="http://schemas.openxmlformats.org/drawingml/2006/main">
              <a:ext uri="{FF2B5EF4-FFF2-40B4-BE49-F238E27FC236}">
                <a16:creationId xmlns:a16="http://schemas.microsoft.com/office/drawing/2014/main" id="{D6579798-C9EF-43F9-B195-BB495E24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053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A7984"/>
            </a:solidFill>
            <a:prstDash val="solid"/>
          </a:ln>
        </p:spPr>
      </p:sp>
      <p:sp>
        <p:nvSpPr>
          <p:cNvPr id="12" name="title-node-2">
            <a:extLst xmlns:a="http://schemas.openxmlformats.org/drawingml/2006/main">
              <a:ext uri="{FF2B5EF4-FFF2-40B4-BE49-F238E27FC236}">
                <a16:creationId xmlns:a16="http://schemas.microsoft.com/office/drawing/2014/main" id="{D324B9ED-A46B-46CB-9080-F5C0F1B0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1257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13" name="title-flow-3">
            <a:extLst xmlns:a="http://schemas.openxmlformats.org/drawingml/2006/main">
              <a:ext uri="{FF2B5EF4-FFF2-40B4-BE49-F238E27FC236}">
                <a16:creationId xmlns:a16="http://schemas.microsoft.com/office/drawing/2014/main" id="{835B65BD-4965-4116-BE5A-75FB2B6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A7984"/>
            </a:solidFill>
            <a:prstDash val="solid"/>
          </a:ln>
        </p:spPr>
      </p:sp>
      <p:sp>
        <p:nvSpPr>
          <p:cNvPr id="14" name="title-node-3">
            <a:extLst xmlns:a="http://schemas.openxmlformats.org/drawingml/2006/main">
              <a:ext uri="{FF2B5EF4-FFF2-40B4-BE49-F238E27FC236}">
                <a16:creationId xmlns:a16="http://schemas.microsoft.com/office/drawing/2014/main" id="{2392774B-5D54-4D10-AB59-A9779662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00500"/>
            <a:ext cx="1257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5" name="title-flow-4">
            <a:extLst xmlns:a="http://schemas.openxmlformats.org/drawingml/2006/main">
              <a:ext uri="{FF2B5EF4-FFF2-40B4-BE49-F238E27FC236}">
                <a16:creationId xmlns:a16="http://schemas.microsoft.com/office/drawing/2014/main" id="{22869961-6D7E-484C-8546-C7B6C142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053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A7984"/>
            </a:solidFill>
            <a:prstDash val="solid"/>
          </a:ln>
        </p:spPr>
      </p:sp>
      <p:sp>
        <p:nvSpPr>
          <p:cNvPr id="16" name="title-node-4">
            <a:extLst xmlns:a="http://schemas.openxmlformats.org/drawingml/2006/main">
              <a:ext uri="{FF2B5EF4-FFF2-40B4-BE49-F238E27FC236}">
                <a16:creationId xmlns:a16="http://schemas.microsoft.com/office/drawing/2014/main" id="{80034642-6798-4ED8-B190-8CF73068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1257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Reflect</a:t>
            </a:r>
          </a:p>
        </p:txBody>
      </p:sp>
      <p:sp>
        <p:nvSpPr>
          <p:cNvPr id="17" name="callout">
            <a:extLst xmlns:a="http://schemas.openxmlformats.org/drawingml/2006/main">
              <a:ext uri="{FF2B5EF4-FFF2-40B4-BE49-F238E27FC236}">
                <a16:creationId xmlns:a16="http://schemas.microsoft.com/office/drawing/2014/main" id="{386CECE8-EEE6-4E16-8A06-0CBFF93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C7D2D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7D2D8"/>
                </a:solidFill>
                <a:latin typeface="Aptos"/>
                <a:ea typeface="Aptos"/>
                <a:cs typeface="Aptos"/>
              </a:rPr>
              <a:t>Success = a small workflow another person can inspect and run again.</a:t>
            </a:r>
          </a:p>
        </p:txBody>
      </p:sp>
      <p:sp>
        <p:nvSpPr>
          <p:cNvPr id="18" name="footer-dark">
            <a:extLst xmlns:a="http://schemas.openxmlformats.org/drawingml/2006/main">
              <a:ext uri="{FF2B5EF4-FFF2-40B4-BE49-F238E27FC236}">
                <a16:creationId xmlns:a16="http://schemas.microsoft.com/office/drawing/2014/main" id="{87B96A84-69CE-4413-A0A6-638A9419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3CDD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3CDD4"/>
                </a:solidFill>
                <a:latin typeface="Aptos"/>
                <a:ea typeface="Aptos"/>
                <a:cs typeface="Aptos"/>
              </a:rPr>
              <a:t>Biomedical hackathon briefing  |  1/34</a:t>
            </a:r>
          </a:p>
        </p:txBody>
      </p:sp>
    </p:spTree>
    <p:extLst>
      <p:ext uri="{BB962C8B-B14F-4D97-AF65-F5344CB8AC3E}">
        <p14:creationId xmlns:p14="http://schemas.microsoft.com/office/powerpoint/2010/main" val="492703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">
            <a:extLst xmlns:a="http://schemas.openxmlformats.org/drawingml/2006/main">
              <a:ext uri="{FF2B5EF4-FFF2-40B4-BE49-F238E27FC236}">
                <a16:creationId xmlns:a16="http://schemas.microsoft.com/office/drawing/2014/main" id="{17BD12D2-4667-449F-B1CC-6662830B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2D94A94B-F2FE-43F6-8432-894A8A80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2">
            <a:extLst xmlns:a="http://schemas.openxmlformats.org/drawingml/2006/main">
              <a:ext uri="{FF2B5EF4-FFF2-40B4-BE49-F238E27FC236}">
                <a16:creationId xmlns:a16="http://schemas.microsoft.com/office/drawing/2014/main" id="{6934D6F5-EAEB-4C65-B292-DE8CC7F0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">
            <a:extLst xmlns:a="http://schemas.openxmlformats.org/drawingml/2006/main">
              <a:ext uri="{FF2B5EF4-FFF2-40B4-BE49-F238E27FC236}">
                <a16:creationId xmlns:a16="http://schemas.microsoft.com/office/drawing/2014/main" id="{ECD5CD74-D5ED-458D-AA1F-E15C2DA9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535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13C7D5C-983F-4BD6-89C8-BA39A3A8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WHAT YOU WILL LEAVE WITH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4DAAC94-E9A2-48A9-BBDA-81351A48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今天結束時，每一組都要帶走四件事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60827A6-270E-46AD-85A7-42B3D94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2/34</a:t>
            </a:r>
          </a:p>
        </p:txBody>
      </p:sp>
      <p:sp>
        <p:nvSpPr>
          <p:cNvPr id="8" name="outcome-card-0">
            <a:extLst xmlns:a="http://schemas.openxmlformats.org/drawingml/2006/main">
              <a:ext uri="{FF2B5EF4-FFF2-40B4-BE49-F238E27FC236}">
                <a16:creationId xmlns:a16="http://schemas.microsoft.com/office/drawing/2014/main" id="{4C0F6FFD-FE89-4A7C-A883-473189E5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381250" cy="24574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outcome-num-0">
            <a:extLst xmlns:a="http://schemas.openxmlformats.org/drawingml/2006/main">
              <a:ext uri="{FF2B5EF4-FFF2-40B4-BE49-F238E27FC236}">
                <a16:creationId xmlns:a16="http://schemas.microsoft.com/office/drawing/2014/main" id="{F7EF2A34-6598-48A3-AF35-83A8A7D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0CD4EE84-43D9-4496-A681-1364DD12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一個小而完整的問題</a:t>
            </a:r>
          </a:p>
        </p:txBody>
      </p:sp>
      <p:sp>
        <p:nvSpPr>
          <p:cNvPr id="11" name="outcome-copy-0">
            <a:extLst xmlns:a="http://schemas.openxmlformats.org/drawingml/2006/main">
              <a:ext uri="{FF2B5EF4-FFF2-40B4-BE49-F238E27FC236}">
                <a16:creationId xmlns:a16="http://schemas.microsoft.com/office/drawing/2014/main" id="{2F12EBC8-D76C-4B3A-A996-B7F82950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scope、input、output 都寫清楚</a:t>
            </a:r>
          </a:p>
        </p:txBody>
      </p:sp>
      <p:sp>
        <p:nvSpPr>
          <p:cNvPr id="12" name="outcome-card-1">
            <a:extLst xmlns:a="http://schemas.openxmlformats.org/drawingml/2006/main">
              <a:ext uri="{FF2B5EF4-FFF2-40B4-BE49-F238E27FC236}">
                <a16:creationId xmlns:a16="http://schemas.microsoft.com/office/drawing/2014/main" id="{BBC3550E-59BA-4C8D-A391-A6AAE28D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381250" cy="24574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3" name="outcome-num-1">
            <a:extLst xmlns:a="http://schemas.openxmlformats.org/drawingml/2006/main">
              <a:ext uri="{FF2B5EF4-FFF2-40B4-BE49-F238E27FC236}">
                <a16:creationId xmlns:a16="http://schemas.microsoft.com/office/drawing/2014/main" id="{0C0D87CE-9F2D-4ED6-91B4-E45A392E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6220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6FFB0EFB-A03F-4E08-BC9A-3A290003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861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一條可展示的 workflow</a:t>
            </a:r>
          </a:p>
        </p:txBody>
      </p:sp>
      <p:sp>
        <p:nvSpPr>
          <p:cNvPr id="15" name="outcome-copy-1">
            <a:extLst xmlns:a="http://schemas.openxmlformats.org/drawingml/2006/main">
              <a:ext uri="{FF2B5EF4-FFF2-40B4-BE49-F238E27FC236}">
                <a16:creationId xmlns:a16="http://schemas.microsoft.com/office/drawing/2014/main" id="{538889EA-2CB1-40DF-9C27-18628654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agent + tool + human review gate</a:t>
            </a:r>
          </a:p>
        </p:txBody>
      </p:sp>
      <p:sp>
        <p:nvSpPr>
          <p:cNvPr id="16" name="outcome-card-2">
            <a:extLst xmlns:a="http://schemas.openxmlformats.org/drawingml/2006/main">
              <a:ext uri="{FF2B5EF4-FFF2-40B4-BE49-F238E27FC236}">
                <a16:creationId xmlns:a16="http://schemas.microsoft.com/office/drawing/2014/main" id="{11B62696-CF6B-4A34-B39C-C5109F8D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381250" cy="24574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outcome-num-2">
            <a:extLst xmlns:a="http://schemas.openxmlformats.org/drawingml/2006/main">
              <a:ext uri="{FF2B5EF4-FFF2-40B4-BE49-F238E27FC236}">
                <a16:creationId xmlns:a16="http://schemas.microsoft.com/office/drawing/2014/main" id="{0038CD47-8484-4280-BD71-20B49810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424E481C-FE40-4EB6-9CE5-2D035EA9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一組可檢查的 artifacts</a:t>
            </a:r>
          </a:p>
        </p:txBody>
      </p:sp>
      <p:sp>
        <p:nvSpPr>
          <p:cNvPr id="19" name="outcome-copy-2">
            <a:extLst xmlns:a="http://schemas.openxmlformats.org/drawingml/2006/main">
              <a:ext uri="{FF2B5EF4-FFF2-40B4-BE49-F238E27FC236}">
                <a16:creationId xmlns:a16="http://schemas.microsoft.com/office/drawing/2014/main" id="{D6DCC613-443D-4B4D-80C8-E4D09E54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spec、logs、output、tests</a:t>
            </a:r>
          </a:p>
        </p:txBody>
      </p:sp>
      <p:sp>
        <p:nvSpPr>
          <p:cNvPr id="20" name="outcome-card-3">
            <a:extLst xmlns:a="http://schemas.openxmlformats.org/drawingml/2006/main">
              <a:ext uri="{FF2B5EF4-FFF2-40B4-BE49-F238E27FC236}">
                <a16:creationId xmlns:a16="http://schemas.microsoft.com/office/drawing/2014/main" id="{06AE0C67-8770-4C3B-B2A9-13914B4B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95500"/>
            <a:ext cx="2381250" cy="24574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1" name="outcome-num-3">
            <a:extLst xmlns:a="http://schemas.openxmlformats.org/drawingml/2006/main">
              <a:ext uri="{FF2B5EF4-FFF2-40B4-BE49-F238E27FC236}">
                <a16:creationId xmlns:a16="http://schemas.microsoft.com/office/drawing/2014/main" id="{626A018A-EF84-49F5-B11F-93F40A8D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62200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10F507BB-737C-4E8B-B948-5C8CC88D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一段誠實的 demo</a:t>
            </a:r>
          </a:p>
        </p:txBody>
      </p:sp>
      <p:sp>
        <p:nvSpPr>
          <p:cNvPr id="23" name="outcome-copy-3">
            <a:extLst xmlns:a="http://schemas.openxmlformats.org/drawingml/2006/main">
              <a:ext uri="{FF2B5EF4-FFF2-40B4-BE49-F238E27FC236}">
                <a16:creationId xmlns:a16="http://schemas.microsoft.com/office/drawing/2014/main" id="{C50F4CBF-D41C-446C-BAD8-5321106E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86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知道什麼可相信、什麼要停止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9F6024DD-8C43-49CA-BBEB-D36BAAE5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530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不是完成最多功能；是完成最可信的最小版本。</a:t>
            </a:r>
          </a:p>
        </p:txBody>
      </p:sp>
    </p:spTree>
    <p:extLst>
      <p:ext uri="{BB962C8B-B14F-4D97-AF65-F5344CB8AC3E}">
        <p14:creationId xmlns:p14="http://schemas.microsoft.com/office/powerpoint/2010/main" val="1774062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3">
            <a:extLst xmlns:a="http://schemas.openxmlformats.org/drawingml/2006/main">
              <a:ext uri="{FF2B5EF4-FFF2-40B4-BE49-F238E27FC236}">
                <a16:creationId xmlns:a16="http://schemas.microsoft.com/office/drawing/2014/main" id="{857A915C-75F5-4CD9-928D-1BA73B4C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A8"/>
          </a:solidFill>
          <a:ln xmlns:a="http://schemas.openxmlformats.org/drawingml/2006/main" w="0">
            <a:solidFill>
              <a:srgbClr val="3446A8"/>
            </a:solidFill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00B7D940-95CF-4575-8A40-98AF5456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3">
            <a:extLst xmlns:a="http://schemas.openxmlformats.org/drawingml/2006/main">
              <a:ext uri="{FF2B5EF4-FFF2-40B4-BE49-F238E27FC236}">
                <a16:creationId xmlns:a16="http://schemas.microsoft.com/office/drawing/2014/main" id="{94DB7A24-579E-44F7-8B3E-BA6D9D43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3">
            <a:extLst xmlns:a="http://schemas.openxmlformats.org/drawingml/2006/main">
              <a:ext uri="{FF2B5EF4-FFF2-40B4-BE49-F238E27FC236}">
                <a16:creationId xmlns:a16="http://schemas.microsoft.com/office/drawing/2014/main" id="{93829CC5-3D3B-4B4B-A9CA-6799A5D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302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46A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4E969301-4916-4F04-9071-D51947BA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DAY 3 MAP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FA34AEB-3B60-422D-9D4C-3BB489C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第三天不是一段長時間 coding，而是四個明確階段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4572FA1-9339-4B07-8E2D-CF676A6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3/34</a:t>
            </a:r>
          </a:p>
        </p:txBody>
      </p:sp>
      <p:sp>
        <p:nvSpPr>
          <p:cNvPr id="8" name="day3-card-0">
            <a:extLst xmlns:a="http://schemas.openxmlformats.org/drawingml/2006/main">
              <a:ext uri="{FF2B5EF4-FFF2-40B4-BE49-F238E27FC236}">
                <a16:creationId xmlns:a16="http://schemas.microsoft.com/office/drawing/2014/main" id="{540116FF-2B9E-4125-8B11-B8DD563D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4003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day3-time-0">
            <a:extLst xmlns:a="http://schemas.openxmlformats.org/drawingml/2006/main">
              <a:ext uri="{FF2B5EF4-FFF2-40B4-BE49-F238E27FC236}">
                <a16:creationId xmlns:a16="http://schemas.microsoft.com/office/drawing/2014/main" id="{7A636685-4125-4C84-AA86-4C3E6D71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08:30–10:00</a:t>
            </a:r>
          </a:p>
        </p:txBody>
      </p:sp>
      <p:sp>
        <p:nvSpPr>
          <p:cNvPr id="10" name="day3-head-0">
            <a:extLst xmlns:a="http://schemas.openxmlformats.org/drawingml/2006/main">
              <a:ext uri="{FF2B5EF4-FFF2-40B4-BE49-F238E27FC236}">
                <a16:creationId xmlns:a16="http://schemas.microsoft.com/office/drawing/2014/main" id="{E8FA926D-9DCD-4AE2-8C0C-2EFE7BC0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Loop engineering</a:t>
            </a:r>
          </a:p>
        </p:txBody>
      </p:sp>
      <p:sp>
        <p:nvSpPr>
          <p:cNvPr id="11" name="day3-copy-0">
            <a:extLst xmlns:a="http://schemas.openxmlformats.org/drawingml/2006/main">
              <a:ext uri="{FF2B5EF4-FFF2-40B4-BE49-F238E27FC236}">
                <a16:creationId xmlns:a16="http://schemas.microsoft.com/office/drawing/2014/main" id="{AB94385C-1B9B-4F42-AEE5-9A988F83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設計檢查、修正與停止</a:t>
            </a:r>
          </a:p>
        </p:txBody>
      </p:sp>
      <p:sp>
        <p:nvSpPr>
          <p:cNvPr id="12" name="day3-line-1">
            <a:extLst xmlns:a="http://schemas.openxmlformats.org/drawingml/2006/main">
              <a:ext uri="{FF2B5EF4-FFF2-40B4-BE49-F238E27FC236}">
                <a16:creationId xmlns:a16="http://schemas.microsoft.com/office/drawing/2014/main" id="{96ED6FF9-5FDD-4DD7-8A9E-54102715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4DADD"/>
            </a:solidFill>
            <a:prstDash val="solid"/>
          </a:ln>
        </p:spPr>
      </p:sp>
      <p:sp>
        <p:nvSpPr>
          <p:cNvPr id="13" name="day3-card-1">
            <a:extLst xmlns:a="http://schemas.openxmlformats.org/drawingml/2006/main">
              <a:ext uri="{FF2B5EF4-FFF2-40B4-BE49-F238E27FC236}">
                <a16:creationId xmlns:a16="http://schemas.microsoft.com/office/drawing/2014/main" id="{1BE48297-0C4E-4EC9-947C-36F51300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62200"/>
            <a:ext cx="24003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4" name="day3-time-1">
            <a:extLst xmlns:a="http://schemas.openxmlformats.org/drawingml/2006/main">
              <a:ext uri="{FF2B5EF4-FFF2-40B4-BE49-F238E27FC236}">
                <a16:creationId xmlns:a16="http://schemas.microsoft.com/office/drawing/2014/main" id="{B8C7EA1A-F6E9-42B6-A1E1-38712F62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10:20–11:50</a:t>
            </a:r>
          </a:p>
        </p:txBody>
      </p:sp>
      <p:sp>
        <p:nvSpPr>
          <p:cNvPr id="15" name="day3-head-1">
            <a:extLst xmlns:a="http://schemas.openxmlformats.org/drawingml/2006/main">
              <a:ext uri="{FF2B5EF4-FFF2-40B4-BE49-F238E27FC236}">
                <a16:creationId xmlns:a16="http://schemas.microsoft.com/office/drawing/2014/main" id="{1E16E529-0988-4286-9353-EAD56B4C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813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Hackathon briefing</a:t>
            </a:r>
          </a:p>
        </p:txBody>
      </p:sp>
      <p:sp>
        <p:nvSpPr>
          <p:cNvPr id="16" name="day3-copy-1">
            <a:extLst xmlns:a="http://schemas.openxmlformats.org/drawingml/2006/main">
              <a:ext uri="{FF2B5EF4-FFF2-40B4-BE49-F238E27FC236}">
                <a16:creationId xmlns:a16="http://schemas.microsoft.com/office/drawing/2014/main" id="{64B60C52-9299-48AF-9B93-19F3C463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48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選題、縮 scope、建 scaffold</a:t>
            </a:r>
          </a:p>
        </p:txBody>
      </p:sp>
      <p:sp>
        <p:nvSpPr>
          <p:cNvPr id="17" name="day3-line-2">
            <a:extLst xmlns:a="http://schemas.openxmlformats.org/drawingml/2006/main">
              <a:ext uri="{FF2B5EF4-FFF2-40B4-BE49-F238E27FC236}">
                <a16:creationId xmlns:a16="http://schemas.microsoft.com/office/drawing/2014/main" id="{D8630939-7389-4E5A-8C7F-2F7EFBC0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4DADD"/>
            </a:solidFill>
            <a:prstDash val="solid"/>
          </a:ln>
        </p:spPr>
      </p:sp>
      <p:sp>
        <p:nvSpPr>
          <p:cNvPr id="18" name="day3-card-2">
            <a:extLst xmlns:a="http://schemas.openxmlformats.org/drawingml/2006/main">
              <a:ext uri="{FF2B5EF4-FFF2-40B4-BE49-F238E27FC236}">
                <a16:creationId xmlns:a16="http://schemas.microsoft.com/office/drawing/2014/main" id="{C626C6A9-0CB1-4BBA-8985-77E3E080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4003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9" name="day3-time-2">
            <a:extLst xmlns:a="http://schemas.openxmlformats.org/drawingml/2006/main">
              <a:ext uri="{FF2B5EF4-FFF2-40B4-BE49-F238E27FC236}">
                <a16:creationId xmlns:a16="http://schemas.microsoft.com/office/drawing/2014/main" id="{1D3DE7FD-60C5-4979-8D2C-D07443EF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9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13:00–14:30</a:t>
            </a:r>
          </a:p>
        </p:txBody>
      </p:sp>
      <p:sp>
        <p:nvSpPr>
          <p:cNvPr id="20" name="day3-head-2">
            <a:extLst xmlns:a="http://schemas.openxmlformats.org/drawingml/2006/main">
              <a:ext uri="{FF2B5EF4-FFF2-40B4-BE49-F238E27FC236}">
                <a16:creationId xmlns:a16="http://schemas.microsoft.com/office/drawing/2014/main" id="{BE5DD306-FB8F-4F3D-B6AF-56ACDAA0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Build + evidence check</a:t>
            </a:r>
          </a:p>
        </p:txBody>
      </p:sp>
      <p:sp>
        <p:nvSpPr>
          <p:cNvPr id="21" name="day3-copy-2">
            <a:extLst xmlns:a="http://schemas.openxmlformats.org/drawingml/2006/main">
              <a:ext uri="{FF2B5EF4-FFF2-40B4-BE49-F238E27FC236}">
                <a16:creationId xmlns:a16="http://schemas.microsoft.com/office/drawing/2014/main" id="{8008EFC0-D71B-4814-BD5B-7F04E08F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做 MVP、跑 test、補 evidence trail</a:t>
            </a:r>
          </a:p>
        </p:txBody>
      </p:sp>
      <p:sp>
        <p:nvSpPr>
          <p:cNvPr id="22" name="day3-line-3">
            <a:extLst xmlns:a="http://schemas.openxmlformats.org/drawingml/2006/main">
              <a:ext uri="{FF2B5EF4-FFF2-40B4-BE49-F238E27FC236}">
                <a16:creationId xmlns:a16="http://schemas.microsoft.com/office/drawing/2014/main" id="{2EF3F7A3-8E36-4EE0-A9A9-70E004D3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337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4DADD"/>
            </a:solidFill>
            <a:prstDash val="solid"/>
          </a:ln>
        </p:spPr>
      </p:sp>
      <p:sp>
        <p:nvSpPr>
          <p:cNvPr id="23" name="day3-card-3">
            <a:extLst xmlns:a="http://schemas.openxmlformats.org/drawingml/2006/main">
              <a:ext uri="{FF2B5EF4-FFF2-40B4-BE49-F238E27FC236}">
                <a16:creationId xmlns:a16="http://schemas.microsoft.com/office/drawing/2014/main" id="{B1BF23D1-489B-4997-8559-3EBF904D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62200"/>
            <a:ext cx="24003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4" name="day3-time-3">
            <a:extLst xmlns:a="http://schemas.openxmlformats.org/drawingml/2006/main">
              <a:ext uri="{FF2B5EF4-FFF2-40B4-BE49-F238E27FC236}">
                <a16:creationId xmlns:a16="http://schemas.microsoft.com/office/drawing/2014/main" id="{E35ECA34-A413-4366-8458-8271B04F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14:50–16:20</a:t>
            </a:r>
          </a:p>
        </p:txBody>
      </p:sp>
      <p:sp>
        <p:nvSpPr>
          <p:cNvPr id="25" name="day3-head-3">
            <a:extLst xmlns:a="http://schemas.openxmlformats.org/drawingml/2006/main">
              <a:ext uri="{FF2B5EF4-FFF2-40B4-BE49-F238E27FC236}">
                <a16:creationId xmlns:a16="http://schemas.microsoft.com/office/drawing/2014/main" id="{903E4EF2-631C-4B49-B671-F15E829D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Demo + QA</a:t>
            </a:r>
          </a:p>
        </p:txBody>
      </p:sp>
      <p:sp>
        <p:nvSpPr>
          <p:cNvPr id="26" name="day3-copy-3">
            <a:extLst xmlns:a="http://schemas.openxmlformats.org/drawingml/2006/main">
              <a:ext uri="{FF2B5EF4-FFF2-40B4-BE49-F238E27FC236}">
                <a16:creationId xmlns:a16="http://schemas.microsoft.com/office/drawing/2014/main" id="{968B5AEB-843D-4DD7-B9DC-4F23C5F3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48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5 分鐘展示、3 分鐘問答</a:t>
            </a:r>
          </a:p>
        </p:txBody>
      </p:sp>
      <p:sp>
        <p:nvSpPr>
          <p:cNvPr id="27" name="bottom">
            <a:extLst xmlns:a="http://schemas.openxmlformats.org/drawingml/2006/main">
              <a:ext uri="{FF2B5EF4-FFF2-40B4-BE49-F238E27FC236}">
                <a16:creationId xmlns:a16="http://schemas.microsoft.com/office/drawing/2014/main" id="{0151EF8E-7C60-4CDC-B1A5-5526FFC5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上午的成果不是 code，而是下午能完成的 plan。</a:t>
            </a:r>
          </a:p>
        </p:txBody>
      </p:sp>
    </p:spTree>
    <p:extLst>
      <p:ext uri="{BB962C8B-B14F-4D97-AF65-F5344CB8AC3E}">
        <p14:creationId xmlns:p14="http://schemas.microsoft.com/office/powerpoint/2010/main" val="919646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4">
            <a:extLst xmlns:a="http://schemas.openxmlformats.org/drawingml/2006/main">
              <a:ext uri="{FF2B5EF4-FFF2-40B4-BE49-F238E27FC236}">
                <a16:creationId xmlns:a16="http://schemas.microsoft.com/office/drawing/2014/main" id="{9860B596-46FC-44A1-9A57-D4CC7946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E9970C9F-0BD7-406A-93F0-742963CA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4">
            <a:extLst xmlns:a="http://schemas.openxmlformats.org/drawingml/2006/main">
              <a:ext uri="{FF2B5EF4-FFF2-40B4-BE49-F238E27FC236}">
                <a16:creationId xmlns:a16="http://schemas.microsoft.com/office/drawing/2014/main" id="{2C405E8B-D92B-4112-BFF2-EDBF4D49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4">
            <a:extLst xmlns:a="http://schemas.openxmlformats.org/drawingml/2006/main">
              <a:ext uri="{FF2B5EF4-FFF2-40B4-BE49-F238E27FC236}">
                <a16:creationId xmlns:a16="http://schemas.microsoft.com/office/drawing/2014/main" id="{8E3B91B3-00C0-4966-9788-EBC0A3D5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3070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18CE0DF2-A0B9-414E-A428-EF4BF27C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SUCCESS DEFINITION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03DFFBE-5A6C-4301-BF2A-648AD10C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一個成功作品要能回答五個問題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218AB59-3B27-486F-814D-BFF960CA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4/34</a:t>
            </a:r>
          </a:p>
        </p:txBody>
      </p:sp>
      <p:sp>
        <p:nvSpPr>
          <p:cNvPr id="8" name="success-node-0">
            <a:extLst xmlns:a="http://schemas.openxmlformats.org/drawingml/2006/main">
              <a:ext uri="{FF2B5EF4-FFF2-40B4-BE49-F238E27FC236}">
                <a16:creationId xmlns:a16="http://schemas.microsoft.com/office/drawing/2014/main" id="{01891992-40A5-405F-84CB-74CEE051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9" name="success-copy-0">
            <a:extLst xmlns:a="http://schemas.openxmlformats.org/drawingml/2006/main">
              <a:ext uri="{FF2B5EF4-FFF2-40B4-BE49-F238E27FC236}">
                <a16:creationId xmlns:a16="http://schemas.microsoft.com/office/drawing/2014/main" id="{61DCD060-EDB8-4F9C-9ABE-11A49FC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要解決什麼？</a:t>
            </a:r>
          </a:p>
        </p:txBody>
      </p:sp>
      <p:sp>
        <p:nvSpPr>
          <p:cNvPr id="10" name="success-line-1">
            <a:extLst xmlns:a="http://schemas.openxmlformats.org/drawingml/2006/main">
              <a:ext uri="{FF2B5EF4-FFF2-40B4-BE49-F238E27FC236}">
                <a16:creationId xmlns:a16="http://schemas.microsoft.com/office/drawing/2014/main" id="{1AE0AD0F-6C65-499A-A529-3174E4DB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909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1" name="success-node-1">
            <a:extLst xmlns:a="http://schemas.openxmlformats.org/drawingml/2006/main">
              <a:ext uri="{FF2B5EF4-FFF2-40B4-BE49-F238E27FC236}">
                <a16:creationId xmlns:a16="http://schemas.microsoft.com/office/drawing/2014/main" id="{EFC10F4C-0B5C-4000-8CDF-7B84868C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1465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2" name="success-copy-1">
            <a:extLst xmlns:a="http://schemas.openxmlformats.org/drawingml/2006/main">
              <a:ext uri="{FF2B5EF4-FFF2-40B4-BE49-F238E27FC236}">
                <a16:creationId xmlns:a16="http://schemas.microsoft.com/office/drawing/2014/main" id="{2731E736-931A-4E93-9BC3-BC0745EA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資料從哪裡來？</a:t>
            </a:r>
          </a:p>
        </p:txBody>
      </p:sp>
      <p:sp>
        <p:nvSpPr>
          <p:cNvPr id="13" name="success-line-2">
            <a:extLst xmlns:a="http://schemas.openxmlformats.org/drawingml/2006/main">
              <a:ext uri="{FF2B5EF4-FFF2-40B4-BE49-F238E27FC236}">
                <a16:creationId xmlns:a16="http://schemas.microsoft.com/office/drawing/2014/main" id="{47003C88-A99F-4A86-B125-F025DAE9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909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4" name="success-node-2">
            <a:extLst xmlns:a="http://schemas.openxmlformats.org/drawingml/2006/main">
              <a:ext uri="{FF2B5EF4-FFF2-40B4-BE49-F238E27FC236}">
                <a16:creationId xmlns:a16="http://schemas.microsoft.com/office/drawing/2014/main" id="{65114953-0211-4B2A-A5ED-DFE3850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1465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5" name="success-copy-2">
            <a:extLst xmlns:a="http://schemas.openxmlformats.org/drawingml/2006/main">
              <a:ext uri="{FF2B5EF4-FFF2-40B4-BE49-F238E27FC236}">
                <a16:creationId xmlns:a16="http://schemas.microsoft.com/office/drawing/2014/main" id="{FD726CBA-E257-4E61-B607-B8AEC47E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910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agent + tools 做什麼？</a:t>
            </a:r>
          </a:p>
        </p:txBody>
      </p:sp>
      <p:sp>
        <p:nvSpPr>
          <p:cNvPr id="16" name="success-line-3">
            <a:extLst xmlns:a="http://schemas.openxmlformats.org/drawingml/2006/main">
              <a:ext uri="{FF2B5EF4-FFF2-40B4-BE49-F238E27FC236}">
                <a16:creationId xmlns:a16="http://schemas.microsoft.com/office/drawing/2014/main" id="{C5BDE7DA-1B31-4B5B-8B49-13F6170B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909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7" name="success-node-3">
            <a:extLst xmlns:a="http://schemas.openxmlformats.org/drawingml/2006/main">
              <a:ext uri="{FF2B5EF4-FFF2-40B4-BE49-F238E27FC236}">
                <a16:creationId xmlns:a16="http://schemas.microsoft.com/office/drawing/2014/main" id="{5F790B10-D42C-4FFA-8853-8B7E6233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18" name="success-copy-3">
            <a:extLst xmlns:a="http://schemas.openxmlformats.org/drawingml/2006/main">
              <a:ext uri="{FF2B5EF4-FFF2-40B4-BE49-F238E27FC236}">
                <a16:creationId xmlns:a16="http://schemas.microsoft.com/office/drawing/2014/main" id="{9FBD7941-C4E9-41E6-ABD0-0E32FAEE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910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如何驗證、何時停止？</a:t>
            </a:r>
          </a:p>
        </p:txBody>
      </p:sp>
      <p:sp>
        <p:nvSpPr>
          <p:cNvPr id="19" name="success-line-4">
            <a:extLst xmlns:a="http://schemas.openxmlformats.org/drawingml/2006/main">
              <a:ext uri="{FF2B5EF4-FFF2-40B4-BE49-F238E27FC236}">
                <a16:creationId xmlns:a16="http://schemas.microsoft.com/office/drawing/2014/main" id="{F3AD8929-08FB-4E99-82BD-892B4CE6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20" name="success-node-4">
            <a:extLst xmlns:a="http://schemas.openxmlformats.org/drawingml/2006/main">
              <a:ext uri="{FF2B5EF4-FFF2-40B4-BE49-F238E27FC236}">
                <a16:creationId xmlns:a16="http://schemas.microsoft.com/office/drawing/2014/main" id="{1BF9B112-BEDF-4967-883B-32B415DB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1465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21" name="success-copy-4">
            <a:extLst xmlns:a="http://schemas.openxmlformats.org/drawingml/2006/main">
              <a:ext uri="{FF2B5EF4-FFF2-40B4-BE49-F238E27FC236}">
                <a16:creationId xmlns:a16="http://schemas.microsoft.com/office/drawing/2014/main" id="{84AA9FF5-3F6D-45E6-B0AB-CF0D1CE2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910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哪些結果不能信？</a:t>
            </a:r>
          </a:p>
        </p:txBody>
      </p:sp>
      <p:sp>
        <p:nvSpPr>
          <p:cNvPr id="22" name="bottom">
            <a:extLst xmlns:a="http://schemas.openxmlformats.org/drawingml/2006/main">
              <a:ext uri="{FF2B5EF4-FFF2-40B4-BE49-F238E27FC236}">
                <a16:creationId xmlns:a16="http://schemas.microsoft.com/office/drawing/2014/main" id="{F79BC099-02AD-4CCC-9FD1-9F5E1665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少任何一項，demo 就會變成只展示答案，而非展示 workflow。</a:t>
            </a:r>
          </a:p>
        </p:txBody>
      </p:sp>
    </p:spTree>
    <p:extLst>
      <p:ext uri="{BB962C8B-B14F-4D97-AF65-F5344CB8AC3E}">
        <p14:creationId xmlns:p14="http://schemas.microsoft.com/office/powerpoint/2010/main" val="132059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5">
            <a:extLst xmlns:a="http://schemas.openxmlformats.org/drawingml/2006/main">
              <a:ext uri="{FF2B5EF4-FFF2-40B4-BE49-F238E27FC236}">
                <a16:creationId xmlns:a16="http://schemas.microsoft.com/office/drawing/2014/main" id="{C1639706-711D-4A61-8437-4AB6EEB3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26C2AC0D-A5A4-4F83-AC29-6E9F5A36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5">
            <a:extLst xmlns:a="http://schemas.openxmlformats.org/drawingml/2006/main">
              <a:ext uri="{FF2B5EF4-FFF2-40B4-BE49-F238E27FC236}">
                <a16:creationId xmlns:a16="http://schemas.microsoft.com/office/drawing/2014/main" id="{C4CDFE36-4BB7-4988-9871-98FEDFA1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5">
            <a:extLst xmlns:a="http://schemas.openxmlformats.org/drawingml/2006/main">
              <a:ext uri="{FF2B5EF4-FFF2-40B4-BE49-F238E27FC236}">
                <a16:creationId xmlns:a16="http://schemas.microsoft.com/office/drawing/2014/main" id="{7C468620-4D3E-4A5D-9958-2661C6C4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3838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5A4A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407DF9E-4C5A-4763-BEFE-F4CCDB47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HACKATHON PRINCIPLES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5E90509-2A4B-4FCF-B234-2A62AC1E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四條規則，決定作品會不會被信任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959D79F-F08A-443F-92F7-57EA6FB2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5/34</a:t>
            </a:r>
          </a:p>
        </p:txBody>
      </p:sp>
      <p:sp>
        <p:nvSpPr>
          <p:cNvPr id="8" name="principle-0">
            <a:extLst xmlns:a="http://schemas.openxmlformats.org/drawingml/2006/main">
              <a:ext uri="{FF2B5EF4-FFF2-40B4-BE49-F238E27FC236}">
                <a16:creationId xmlns:a16="http://schemas.microsoft.com/office/drawing/2014/main" id="{4D98893C-2F90-42EF-AEFD-2EC8C24A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857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9" name="principle-head-0">
            <a:extLst xmlns:a="http://schemas.openxmlformats.org/drawingml/2006/main">
              <a:ext uri="{FF2B5EF4-FFF2-40B4-BE49-F238E27FC236}">
                <a16:creationId xmlns:a16="http://schemas.microsoft.com/office/drawing/2014/main" id="{691C9591-E059-4965-AF9D-982C59E8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Small</a:t>
            </a:r>
          </a:p>
        </p:txBody>
      </p:sp>
      <p:sp>
        <p:nvSpPr>
          <p:cNvPr id="10" name="principle-lead-0">
            <a:extLst xmlns:a="http://schemas.openxmlformats.org/drawingml/2006/main">
              <a:ext uri="{FF2B5EF4-FFF2-40B4-BE49-F238E27FC236}">
                <a16:creationId xmlns:a16="http://schemas.microsoft.com/office/drawing/2014/main" id="{CE14EACE-E40A-4698-B91D-5C73D85A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52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把題目縮到一個下午能完成</a:t>
            </a:r>
          </a:p>
        </p:txBody>
      </p:sp>
      <p:sp>
        <p:nvSpPr>
          <p:cNvPr id="11" name="principle-example-0">
            <a:extLst xmlns:a="http://schemas.openxmlformats.org/drawingml/2006/main">
              <a:ext uri="{FF2B5EF4-FFF2-40B4-BE49-F238E27FC236}">
                <a16:creationId xmlns:a16="http://schemas.microsoft.com/office/drawing/2014/main" id="{AE368453-69AD-4142-831D-F7A4D39C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09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避免做全自動研究平台</a:t>
            </a:r>
          </a:p>
        </p:txBody>
      </p:sp>
      <p:sp>
        <p:nvSpPr>
          <p:cNvPr id="12" name="principle-1">
            <a:extLst xmlns:a="http://schemas.openxmlformats.org/drawingml/2006/main">
              <a:ext uri="{FF2B5EF4-FFF2-40B4-BE49-F238E27FC236}">
                <a16:creationId xmlns:a16="http://schemas.microsoft.com/office/drawing/2014/main" id="{1E5579F1-749C-4BB5-A41E-E76313D4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4857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3" name="principle-head-1">
            <a:extLst xmlns:a="http://schemas.openxmlformats.org/drawingml/2006/main">
              <a:ext uri="{FF2B5EF4-FFF2-40B4-BE49-F238E27FC236}">
                <a16:creationId xmlns:a16="http://schemas.microsoft.com/office/drawing/2014/main" id="{2A295175-1C3C-4D31-9A79-02547E1E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Traceable</a:t>
            </a:r>
          </a:p>
        </p:txBody>
      </p:sp>
      <p:sp>
        <p:nvSpPr>
          <p:cNvPr id="14" name="principle-lead-1">
            <a:extLst xmlns:a="http://schemas.openxmlformats.org/drawingml/2006/main">
              <a:ext uri="{FF2B5EF4-FFF2-40B4-BE49-F238E27FC236}">
                <a16:creationId xmlns:a16="http://schemas.microsoft.com/office/drawing/2014/main" id="{317CE77D-DBED-4F4A-97E8-6C9763F5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每個 claim 或欄位可回查</a:t>
            </a:r>
          </a:p>
        </p:txBody>
      </p:sp>
      <p:sp>
        <p:nvSpPr>
          <p:cNvPr id="15" name="principle-example-1">
            <a:extLst xmlns:a="http://schemas.openxmlformats.org/drawingml/2006/main">
              <a:ext uri="{FF2B5EF4-FFF2-40B4-BE49-F238E27FC236}">
                <a16:creationId xmlns:a16="http://schemas.microsoft.com/office/drawing/2014/main" id="{04965501-945B-4849-AAC4-10DDD1F7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保留 source、log、version</a:t>
            </a:r>
          </a:p>
        </p:txBody>
      </p:sp>
      <p:sp>
        <p:nvSpPr>
          <p:cNvPr id="16" name="principle-2">
            <a:extLst xmlns:a="http://schemas.openxmlformats.org/drawingml/2006/main">
              <a:ext uri="{FF2B5EF4-FFF2-40B4-BE49-F238E27FC236}">
                <a16:creationId xmlns:a16="http://schemas.microsoft.com/office/drawing/2014/main" id="{08ABCC7C-7644-4321-8661-3EE86013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4857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principle-head-2">
            <a:extLst xmlns:a="http://schemas.openxmlformats.org/drawingml/2006/main">
              <a:ext uri="{FF2B5EF4-FFF2-40B4-BE49-F238E27FC236}">
                <a16:creationId xmlns:a16="http://schemas.microsoft.com/office/drawing/2014/main" id="{EFB28128-1303-4503-832C-752432CC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Testable</a:t>
            </a:r>
          </a:p>
        </p:txBody>
      </p:sp>
      <p:sp>
        <p:nvSpPr>
          <p:cNvPr id="18" name="principle-lead-2">
            <a:extLst xmlns:a="http://schemas.openxmlformats.org/drawingml/2006/main">
              <a:ext uri="{FF2B5EF4-FFF2-40B4-BE49-F238E27FC236}">
                <a16:creationId xmlns:a16="http://schemas.microsoft.com/office/drawing/2014/main" id="{32324D66-B3C5-4687-9421-FB069C27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有正常與失敗案例</a:t>
            </a:r>
          </a:p>
        </p:txBody>
      </p:sp>
      <p:sp>
        <p:nvSpPr>
          <p:cNvPr id="19" name="principle-example-2">
            <a:extLst xmlns:a="http://schemas.openxmlformats.org/drawingml/2006/main">
              <a:ext uri="{FF2B5EF4-FFF2-40B4-BE49-F238E27FC236}">
                <a16:creationId xmlns:a16="http://schemas.microsoft.com/office/drawing/2014/main" id="{C0E4BA80-7266-474F-B71C-DDA39543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9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schema、not_found、conflict</a:t>
            </a:r>
          </a:p>
        </p:txBody>
      </p:sp>
      <p:sp>
        <p:nvSpPr>
          <p:cNvPr id="20" name="principle-3">
            <a:extLst xmlns:a="http://schemas.openxmlformats.org/drawingml/2006/main">
              <a:ext uri="{FF2B5EF4-FFF2-40B4-BE49-F238E27FC236}">
                <a16:creationId xmlns:a16="http://schemas.microsoft.com/office/drawing/2014/main" id="{356B02E1-50F2-4B8B-97EF-7A48D81E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4857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1" name="principle-head-3">
            <a:extLst xmlns:a="http://schemas.openxmlformats.org/drawingml/2006/main">
              <a:ext uri="{FF2B5EF4-FFF2-40B4-BE49-F238E27FC236}">
                <a16:creationId xmlns:a16="http://schemas.microsoft.com/office/drawing/2014/main" id="{11DD3824-91A6-43A2-AA2A-3169F4BA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Honest</a:t>
            </a:r>
          </a:p>
        </p:txBody>
      </p:sp>
      <p:sp>
        <p:nvSpPr>
          <p:cNvPr id="22" name="principle-lead-3">
            <a:extLst xmlns:a="http://schemas.openxmlformats.org/drawingml/2006/main">
              <a:ext uri="{FF2B5EF4-FFF2-40B4-BE49-F238E27FC236}">
                <a16:creationId xmlns:a16="http://schemas.microsoft.com/office/drawing/2014/main" id="{61C64BD4-56E0-4227-A7AC-9B8494F1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明確標記限制與人工關卡</a:t>
            </a:r>
          </a:p>
        </p:txBody>
      </p:sp>
      <p:sp>
        <p:nvSpPr>
          <p:cNvPr id="23" name="principle-example-3">
            <a:extLst xmlns:a="http://schemas.openxmlformats.org/drawingml/2006/main">
              <a:ext uri="{FF2B5EF4-FFF2-40B4-BE49-F238E27FC236}">
                <a16:creationId xmlns:a16="http://schemas.microsoft.com/office/drawing/2014/main" id="{41BC812F-31A7-4F10-9622-692B675F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不把推測包裝成證據</a:t>
            </a:r>
          </a:p>
        </p:txBody>
      </p:sp>
    </p:spTree>
    <p:extLst>
      <p:ext uri="{BB962C8B-B14F-4D97-AF65-F5344CB8AC3E}">
        <p14:creationId xmlns:p14="http://schemas.microsoft.com/office/powerpoint/2010/main" val="2126455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6">
            <a:extLst xmlns:a="http://schemas.openxmlformats.org/drawingml/2006/main">
              <a:ext uri="{FF2B5EF4-FFF2-40B4-BE49-F238E27FC236}">
                <a16:creationId xmlns:a16="http://schemas.microsoft.com/office/drawing/2014/main" id="{6A9C98DB-EFF3-44E5-9D6A-22BFF9F4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55FB39B9-429A-49E9-B15A-C98D1321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TRACKS</a:t>
            </a:r>
          </a:p>
        </p:txBody>
      </p:sp>
      <p:sp>
        <p:nvSpPr>
          <p:cNvPr id="3" name="progress-track-6">
            <a:extLst xmlns:a="http://schemas.openxmlformats.org/drawingml/2006/main">
              <a:ext uri="{FF2B5EF4-FFF2-40B4-BE49-F238E27FC236}">
                <a16:creationId xmlns:a16="http://schemas.microsoft.com/office/drawing/2014/main" id="{165A7779-9A90-486A-96FF-96534B06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6">
            <a:extLst xmlns:a="http://schemas.openxmlformats.org/drawingml/2006/main">
              <a:ext uri="{FF2B5EF4-FFF2-40B4-BE49-F238E27FC236}">
                <a16:creationId xmlns:a16="http://schemas.microsoft.com/office/drawing/2014/main" id="{79FBA855-B006-4B6C-A647-57D34E97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46056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69536D3-EC7E-402C-916F-0AF9754C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CHALLENGE TRACKS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E027701-B6EA-4C0D-BC80-993878E0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五個題目方向，先選資料與驗證方式，再選 agent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B840E71-4B8B-4C06-9163-A63CA61C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6/34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FDE13F29-10F4-4607-AB7A-8D57BC91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943100" cy="2571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track-num-0">
            <a:extLst xmlns:a="http://schemas.openxmlformats.org/drawingml/2006/main">
              <a:ext uri="{FF2B5EF4-FFF2-40B4-BE49-F238E27FC236}">
                <a16:creationId xmlns:a16="http://schemas.microsoft.com/office/drawing/2014/main" id="{FD5514EC-4D86-4BCB-8DAC-9F60EEC1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track-head-0">
            <a:extLst xmlns:a="http://schemas.openxmlformats.org/drawingml/2006/main">
              <a:ext uri="{FF2B5EF4-FFF2-40B4-BE49-F238E27FC236}">
                <a16:creationId xmlns:a16="http://schemas.microsoft.com/office/drawing/2014/main" id="{654E376C-A2E6-4A82-B3AF-2CF1CA79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Atlas</a:t>
            </a:r>
          </a:p>
        </p:txBody>
      </p:sp>
      <p:sp>
        <p:nvSpPr>
          <p:cNvPr id="11" name="track-copy-0">
            <a:extLst xmlns:a="http://schemas.openxmlformats.org/drawingml/2006/main">
              <a:ext uri="{FF2B5EF4-FFF2-40B4-BE49-F238E27FC236}">
                <a16:creationId xmlns:a16="http://schemas.microsoft.com/office/drawing/2014/main" id="{3D89D247-9B05-443E-B31A-DFE84384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gene–drug–disease evidence table</a:t>
            </a:r>
          </a:p>
        </p:txBody>
      </p:sp>
      <p:sp>
        <p:nvSpPr>
          <p:cNvPr id="12" name="track-1">
            <a:extLst xmlns:a="http://schemas.openxmlformats.org/drawingml/2006/main">
              <a:ext uri="{FF2B5EF4-FFF2-40B4-BE49-F238E27FC236}">
                <a16:creationId xmlns:a16="http://schemas.microsoft.com/office/drawing/2014/main" id="{0D8E36B7-102F-4563-AFC8-8C98E5FA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1943100" cy="2571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3" name="track-num-1">
            <a:extLst xmlns:a="http://schemas.openxmlformats.org/drawingml/2006/main">
              <a:ext uri="{FF2B5EF4-FFF2-40B4-BE49-F238E27FC236}">
                <a16:creationId xmlns:a16="http://schemas.microsoft.com/office/drawing/2014/main" id="{27E53CC2-C082-4ABF-A0B9-CE4D869A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86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track-head-1">
            <a:extLst xmlns:a="http://schemas.openxmlformats.org/drawingml/2006/main">
              <a:ext uri="{FF2B5EF4-FFF2-40B4-BE49-F238E27FC236}">
                <a16:creationId xmlns:a16="http://schemas.microsoft.com/office/drawing/2014/main" id="{DCF239A7-2D6B-4CE5-B832-98ED307B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Trial Extractor</a:t>
            </a:r>
          </a:p>
        </p:txBody>
      </p:sp>
      <p:sp>
        <p:nvSpPr>
          <p:cNvPr id="15" name="track-copy-1">
            <a:extLst xmlns:a="http://schemas.openxmlformats.org/drawingml/2006/main">
              <a:ext uri="{FF2B5EF4-FFF2-40B4-BE49-F238E27FC236}">
                <a16:creationId xmlns:a16="http://schemas.microsoft.com/office/drawing/2014/main" id="{E43A99E6-8B3A-47A2-8D7A-133760FF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100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clinical trial eligibility criteria</a:t>
            </a:r>
          </a:p>
        </p:txBody>
      </p:sp>
      <p:sp>
        <p:nvSpPr>
          <p:cNvPr id="16" name="track-2">
            <a:extLst xmlns:a="http://schemas.openxmlformats.org/drawingml/2006/main">
              <a:ext uri="{FF2B5EF4-FFF2-40B4-BE49-F238E27FC236}">
                <a16:creationId xmlns:a16="http://schemas.microsoft.com/office/drawing/2014/main" id="{D47D1720-3A7F-4E78-8700-114117EE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38350"/>
            <a:ext cx="1943100" cy="2571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track-num-2">
            <a:extLst xmlns:a="http://schemas.openxmlformats.org/drawingml/2006/main">
              <a:ext uri="{FF2B5EF4-FFF2-40B4-BE49-F238E27FC236}">
                <a16:creationId xmlns:a16="http://schemas.microsoft.com/office/drawing/2014/main" id="{D2200D0F-5EDA-4532-A961-7AA06D69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86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track-head-2">
            <a:extLst xmlns:a="http://schemas.openxmlformats.org/drawingml/2006/main">
              <a:ext uri="{FF2B5EF4-FFF2-40B4-BE49-F238E27FC236}">
                <a16:creationId xmlns:a16="http://schemas.microsoft.com/office/drawing/2014/main" id="{675E8B04-FD6B-4F01-A660-E3F1E611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Dataset Scout</a:t>
            </a:r>
          </a:p>
        </p:txBody>
      </p:sp>
      <p:sp>
        <p:nvSpPr>
          <p:cNvPr id="19" name="track-copy-2">
            <a:extLst xmlns:a="http://schemas.openxmlformats.org/drawingml/2006/main">
              <a:ext uri="{FF2B5EF4-FFF2-40B4-BE49-F238E27FC236}">
                <a16:creationId xmlns:a16="http://schemas.microsoft.com/office/drawing/2014/main" id="{D6D5F764-1F1B-4A2C-B346-1D694B38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metadata + data dictionary assistant</a:t>
            </a:r>
          </a:p>
        </p:txBody>
      </p:sp>
      <p:sp>
        <p:nvSpPr>
          <p:cNvPr id="20" name="track-3">
            <a:extLst xmlns:a="http://schemas.openxmlformats.org/drawingml/2006/main">
              <a:ext uri="{FF2B5EF4-FFF2-40B4-BE49-F238E27FC236}">
                <a16:creationId xmlns:a16="http://schemas.microsoft.com/office/drawing/2014/main" id="{535134B3-37EC-4990-BDD6-6263589E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1943100" cy="2571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1" name="track-num-3">
            <a:extLst xmlns:a="http://schemas.openxmlformats.org/drawingml/2006/main">
              <a:ext uri="{FF2B5EF4-FFF2-40B4-BE49-F238E27FC236}">
                <a16:creationId xmlns:a16="http://schemas.microsoft.com/office/drawing/2014/main" id="{619AFA25-DA24-4885-85DC-8D791544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86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track-head-3">
            <a:extLst xmlns:a="http://schemas.openxmlformats.org/drawingml/2006/main">
              <a:ext uri="{FF2B5EF4-FFF2-40B4-BE49-F238E27FC236}">
                <a16:creationId xmlns:a16="http://schemas.microsoft.com/office/drawing/2014/main" id="{A6142670-3177-4930-AF9F-A9B52C6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52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Variant Triage</a:t>
            </a:r>
          </a:p>
        </p:txBody>
      </p:sp>
      <p:sp>
        <p:nvSpPr>
          <p:cNvPr id="23" name="track-copy-3">
            <a:extLst xmlns:a="http://schemas.openxmlformats.org/drawingml/2006/main">
              <a:ext uri="{FF2B5EF4-FFF2-40B4-BE49-F238E27FC236}">
                <a16:creationId xmlns:a16="http://schemas.microsoft.com/office/drawing/2014/main" id="{F74E6180-FED0-40B5-9AAB-8C75C0E8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00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variant evidence collection</a:t>
            </a:r>
          </a:p>
        </p:txBody>
      </p:sp>
      <p:sp>
        <p:nvSpPr>
          <p:cNvPr id="24" name="track-4">
            <a:extLst xmlns:a="http://schemas.openxmlformats.org/drawingml/2006/main">
              <a:ext uri="{FF2B5EF4-FFF2-40B4-BE49-F238E27FC236}">
                <a16:creationId xmlns:a16="http://schemas.microsoft.com/office/drawing/2014/main" id="{025460E3-AC55-4123-8C4C-8F6047BA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38350"/>
            <a:ext cx="1943100" cy="2571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25" name="track-num-4">
            <a:extLst xmlns:a="http://schemas.openxmlformats.org/drawingml/2006/main">
              <a:ext uri="{FF2B5EF4-FFF2-40B4-BE49-F238E27FC236}">
                <a16:creationId xmlns:a16="http://schemas.microsoft.com/office/drawing/2014/main" id="{BBF12711-7BD1-4FF5-8F4F-FB0E2A83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86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track-head-4">
            <a:extLst xmlns:a="http://schemas.openxmlformats.org/drawingml/2006/main">
              <a:ext uri="{FF2B5EF4-FFF2-40B4-BE49-F238E27FC236}">
                <a16:creationId xmlns:a16="http://schemas.microsoft.com/office/drawing/2014/main" id="{143656C4-4B3C-4621-A21A-72D04692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Workflow QA</a:t>
            </a:r>
          </a:p>
        </p:txBody>
      </p:sp>
      <p:sp>
        <p:nvSpPr>
          <p:cNvPr id="27" name="track-copy-4">
            <a:extLst xmlns:a="http://schemas.openxmlformats.org/drawingml/2006/main">
              <a:ext uri="{FF2B5EF4-FFF2-40B4-BE49-F238E27FC236}">
                <a16:creationId xmlns:a16="http://schemas.microsoft.com/office/drawing/2014/main" id="{1801D555-7A4A-423B-9161-499EABA3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100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bioinformatics pipeline helper</a:t>
            </a:r>
          </a:p>
        </p:txBody>
      </p:sp>
      <p:sp>
        <p:nvSpPr>
          <p:cNvPr id="28" name="bottom">
            <a:extLst xmlns:a="http://schemas.openxmlformats.org/drawingml/2006/main">
              <a:ext uri="{FF2B5EF4-FFF2-40B4-BE49-F238E27FC236}">
                <a16:creationId xmlns:a16="http://schemas.microsoft.com/office/drawing/2014/main" id="{C04A16B7-AF64-493B-B6B6-A38BBA2C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所有 track 都必須產生 structured output、evidence trail 與 human review boundary。</a:t>
            </a:r>
          </a:p>
        </p:txBody>
      </p:sp>
    </p:spTree>
    <p:extLst>
      <p:ext uri="{BB962C8B-B14F-4D97-AF65-F5344CB8AC3E}">
        <p14:creationId xmlns:p14="http://schemas.microsoft.com/office/powerpoint/2010/main" val="540584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7">
            <a:extLst xmlns:a="http://schemas.openxmlformats.org/drawingml/2006/main">
              <a:ext uri="{FF2B5EF4-FFF2-40B4-BE49-F238E27FC236}">
                <a16:creationId xmlns:a16="http://schemas.microsoft.com/office/drawing/2014/main" id="{11FAD414-5494-4226-AE45-333C209F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A8"/>
          </a:solidFill>
          <a:ln xmlns:a="http://schemas.openxmlformats.org/drawingml/2006/main" w="0">
            <a:solidFill>
              <a:srgbClr val="3446A8"/>
            </a:solidFill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C08C44F8-713F-4A06-B953-2542BF4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TRACKS</a:t>
            </a:r>
          </a:p>
        </p:txBody>
      </p:sp>
      <p:sp>
        <p:nvSpPr>
          <p:cNvPr id="3" name="progress-track-7">
            <a:extLst xmlns:a="http://schemas.openxmlformats.org/drawingml/2006/main">
              <a:ext uri="{FF2B5EF4-FFF2-40B4-BE49-F238E27FC236}">
                <a16:creationId xmlns:a16="http://schemas.microsoft.com/office/drawing/2014/main" id="{43750159-9458-4DB0-9388-6DA2CF8A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7">
            <a:extLst xmlns:a="http://schemas.openxmlformats.org/drawingml/2006/main">
              <a:ext uri="{FF2B5EF4-FFF2-40B4-BE49-F238E27FC236}">
                <a16:creationId xmlns:a16="http://schemas.microsoft.com/office/drawing/2014/main" id="{2F9D114F-8224-4FB2-938C-73B52701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5373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46A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F25434B-869F-4BBB-8938-2F45CDF6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TRACK 01  |  EVIDENCE ATLAS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E8AB091-4907-4912-AB97-130AA5EB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Gene–Drug–Disease Evidence Atlas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49365E3-578A-4CBE-BD12-C1400F96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7/34</a:t>
            </a:r>
          </a:p>
        </p:txBody>
      </p:sp>
      <p:sp>
        <p:nvSpPr>
          <p:cNvPr id="8" name="track-block-7-0">
            <a:extLst xmlns:a="http://schemas.openxmlformats.org/drawingml/2006/main">
              <a:ext uri="{FF2B5EF4-FFF2-40B4-BE49-F238E27FC236}">
                <a16:creationId xmlns:a16="http://schemas.microsoft.com/office/drawing/2014/main" id="{C8369CAE-FAC7-46E7-8C55-AA4A8764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track-block-head-7-0">
            <a:extLst xmlns:a="http://schemas.openxmlformats.org/drawingml/2006/main">
              <a:ext uri="{FF2B5EF4-FFF2-40B4-BE49-F238E27FC236}">
                <a16:creationId xmlns:a16="http://schemas.microsoft.com/office/drawing/2014/main" id="{093AEF2F-8431-472C-B5DF-70D10301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INPUT / SOURCE</a:t>
            </a:r>
          </a:p>
        </p:txBody>
      </p:sp>
      <p:sp>
        <p:nvSpPr>
          <p:cNvPr id="10" name="track-block-copy-7-0">
            <a:extLst xmlns:a="http://schemas.openxmlformats.org/drawingml/2006/main">
              <a:ext uri="{FF2B5EF4-FFF2-40B4-BE49-F238E27FC236}">
                <a16:creationId xmlns:a16="http://schemas.microsoft.com/office/drawing/2014/main" id="{0F5B6E87-1067-4624-A7A2-9DDD8CD7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PubMed + Open Targets；一個小型 gene / drug / disease 問題</a:t>
            </a:r>
          </a:p>
        </p:txBody>
      </p:sp>
      <p:sp>
        <p:nvSpPr>
          <p:cNvPr id="11" name="track-flow-7-1">
            <a:extLst xmlns:a="http://schemas.openxmlformats.org/drawingml/2006/main">
              <a:ext uri="{FF2B5EF4-FFF2-40B4-BE49-F238E27FC236}">
                <a16:creationId xmlns:a16="http://schemas.microsoft.com/office/drawing/2014/main" id="{1A9C3758-63CE-4FCA-A5DE-B3FCCD61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2" name="track-block-7-1">
            <a:extLst xmlns:a="http://schemas.openxmlformats.org/drawingml/2006/main">
              <a:ext uri="{FF2B5EF4-FFF2-40B4-BE49-F238E27FC236}">
                <a16:creationId xmlns:a16="http://schemas.microsoft.com/office/drawing/2014/main" id="{3D51B003-48C3-4807-88DC-DC86320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3" name="track-block-head-7-1">
            <a:extLst xmlns:a="http://schemas.openxmlformats.org/drawingml/2006/main">
              <a:ext uri="{FF2B5EF4-FFF2-40B4-BE49-F238E27FC236}">
                <a16:creationId xmlns:a16="http://schemas.microsoft.com/office/drawing/2014/main" id="{8450C46B-B143-4A9F-AB5F-61F0EC08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JOB</a:t>
            </a:r>
          </a:p>
        </p:txBody>
      </p:sp>
      <p:sp>
        <p:nvSpPr>
          <p:cNvPr id="14" name="track-block-copy-7-1">
            <a:extLst xmlns:a="http://schemas.openxmlformats.org/drawingml/2006/main">
              <a:ext uri="{FF2B5EF4-FFF2-40B4-BE49-F238E27FC236}">
                <a16:creationId xmlns:a16="http://schemas.microsoft.com/office/drawing/2014/main" id="{D1CAF5D5-45A5-40F2-8C5B-15D71BAC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找候選來源，萃取有限 claim，分開標記文獻證據與模型推論</a:t>
            </a:r>
          </a:p>
        </p:txBody>
      </p:sp>
      <p:sp>
        <p:nvSpPr>
          <p:cNvPr id="15" name="track-flow-7-2">
            <a:extLst xmlns:a="http://schemas.openxmlformats.org/drawingml/2006/main">
              <a:ext uri="{FF2B5EF4-FFF2-40B4-BE49-F238E27FC236}">
                <a16:creationId xmlns:a16="http://schemas.microsoft.com/office/drawing/2014/main" id="{161A6ADE-DEB5-408F-914F-D46D8B3A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6" name="track-block-7-2">
            <a:extLst xmlns:a="http://schemas.openxmlformats.org/drawingml/2006/main">
              <a:ext uri="{FF2B5EF4-FFF2-40B4-BE49-F238E27FC236}">
                <a16:creationId xmlns:a16="http://schemas.microsoft.com/office/drawing/2014/main" id="{BC09EC35-BB7C-4C19-9E63-E043BA14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track-block-head-7-2">
            <a:extLst xmlns:a="http://schemas.openxmlformats.org/drawingml/2006/main">
              <a:ext uri="{FF2B5EF4-FFF2-40B4-BE49-F238E27FC236}">
                <a16:creationId xmlns:a16="http://schemas.microsoft.com/office/drawing/2014/main" id="{2856145F-D088-424F-87B3-D1D3753D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MVP OUTPUT</a:t>
            </a:r>
          </a:p>
        </p:txBody>
      </p:sp>
      <p:sp>
        <p:nvSpPr>
          <p:cNvPr id="18" name="track-block-copy-7-2">
            <a:extLst xmlns:a="http://schemas.openxmlformats.org/drawingml/2006/main">
              <a:ext uri="{FF2B5EF4-FFF2-40B4-BE49-F238E27FC236}">
                <a16:creationId xmlns:a16="http://schemas.microsoft.com/office/drawing/2014/main" id="{B956F9F5-814C-4E26-AA5C-C3986ECC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evidence_table.csv + source_inventory.csv + review note</a:t>
            </a:r>
          </a:p>
        </p:txBody>
      </p:sp>
      <p:sp>
        <p:nvSpPr>
          <p:cNvPr id="19" name="track-guard-7">
            <a:extLst xmlns:a="http://schemas.openxmlformats.org/drawingml/2006/main">
              <a:ext uri="{FF2B5EF4-FFF2-40B4-BE49-F238E27FC236}">
                <a16:creationId xmlns:a16="http://schemas.microsoft.com/office/drawing/2014/main" id="{E64D9A1A-1FD2-4062-9CCA-D94DEFF4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258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0" name="track-guard-copy-7">
            <a:extLst xmlns:a="http://schemas.openxmlformats.org/drawingml/2006/main">
              <a:ext uri="{FF2B5EF4-FFF2-40B4-BE49-F238E27FC236}">
                <a16:creationId xmlns:a16="http://schemas.microsoft.com/office/drawing/2014/main" id="{D68FA548-5D48-49C6-8AC7-468CAD1F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868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安全界線：不得把文獻整理直接轉成治療建議。</a:t>
            </a:r>
          </a:p>
        </p:txBody>
      </p:sp>
    </p:spTree>
    <p:extLst>
      <p:ext uri="{BB962C8B-B14F-4D97-AF65-F5344CB8AC3E}">
        <p14:creationId xmlns:p14="http://schemas.microsoft.com/office/powerpoint/2010/main" val="414144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8">
            <a:extLst xmlns:a="http://schemas.openxmlformats.org/drawingml/2006/main">
              <a:ext uri="{FF2B5EF4-FFF2-40B4-BE49-F238E27FC236}">
                <a16:creationId xmlns:a16="http://schemas.microsoft.com/office/drawing/2014/main" id="{3F3E4A74-207F-4F79-8F35-50ADB0B7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FA37CD21-C1FF-41BB-88BD-19508239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TRACKS</a:t>
            </a:r>
          </a:p>
        </p:txBody>
      </p:sp>
      <p:sp>
        <p:nvSpPr>
          <p:cNvPr id="3" name="progress-track-8">
            <a:extLst xmlns:a="http://schemas.openxmlformats.org/drawingml/2006/main">
              <a:ext uri="{FF2B5EF4-FFF2-40B4-BE49-F238E27FC236}">
                <a16:creationId xmlns:a16="http://schemas.microsoft.com/office/drawing/2014/main" id="{A2A65FC4-C9C8-4A04-966C-82366338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8">
            <a:extLst xmlns:a="http://schemas.openxmlformats.org/drawingml/2006/main">
              <a:ext uri="{FF2B5EF4-FFF2-40B4-BE49-F238E27FC236}">
                <a16:creationId xmlns:a16="http://schemas.microsoft.com/office/drawing/2014/main" id="{E7799E8D-C611-4C6E-9130-77C7DE86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61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19FD4CE0-C4A1-497F-9D09-4B605DA6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TRACK 02  |  TRIAL EXTRACTOR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9170D03-BD9B-4B56-889B-8618351E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Clinical Trial Eligibility Extractor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3246665-5A1A-4984-B4FA-4900AB11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8/34</a:t>
            </a:r>
          </a:p>
        </p:txBody>
      </p:sp>
      <p:sp>
        <p:nvSpPr>
          <p:cNvPr id="8" name="track-block-8-0">
            <a:extLst xmlns:a="http://schemas.openxmlformats.org/drawingml/2006/main">
              <a:ext uri="{FF2B5EF4-FFF2-40B4-BE49-F238E27FC236}">
                <a16:creationId xmlns:a16="http://schemas.microsoft.com/office/drawing/2014/main" id="{22C7CA2D-0FBC-4152-93A3-9F9D6281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9" name="track-block-head-8-0">
            <a:extLst xmlns:a="http://schemas.openxmlformats.org/drawingml/2006/main">
              <a:ext uri="{FF2B5EF4-FFF2-40B4-BE49-F238E27FC236}">
                <a16:creationId xmlns:a16="http://schemas.microsoft.com/office/drawing/2014/main" id="{5D0F5862-DDDF-4BE0-A1E4-CF7EF29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INPUT / SOURCE</a:t>
            </a:r>
          </a:p>
        </p:txBody>
      </p:sp>
      <p:sp>
        <p:nvSpPr>
          <p:cNvPr id="10" name="track-block-copy-8-0">
            <a:extLst xmlns:a="http://schemas.openxmlformats.org/drawingml/2006/main">
              <a:ext uri="{FF2B5EF4-FFF2-40B4-BE49-F238E27FC236}">
                <a16:creationId xmlns:a16="http://schemas.microsoft.com/office/drawing/2014/main" id="{75EB78BC-B537-46E4-AB04-66306571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ClinicalTrials.gov study records；一個 disease 或 biomarker cohort</a:t>
            </a:r>
          </a:p>
        </p:txBody>
      </p:sp>
      <p:sp>
        <p:nvSpPr>
          <p:cNvPr id="11" name="track-flow-8-1">
            <a:extLst xmlns:a="http://schemas.openxmlformats.org/drawingml/2006/main">
              <a:ext uri="{FF2B5EF4-FFF2-40B4-BE49-F238E27FC236}">
                <a16:creationId xmlns:a16="http://schemas.microsoft.com/office/drawing/2014/main" id="{22BD0CCF-67E2-4985-A97A-66A02A67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2" name="track-block-8-1">
            <a:extLst xmlns:a="http://schemas.openxmlformats.org/drawingml/2006/main">
              <a:ext uri="{FF2B5EF4-FFF2-40B4-BE49-F238E27FC236}">
                <a16:creationId xmlns:a16="http://schemas.microsoft.com/office/drawing/2014/main" id="{4E4D0242-2CD5-45F8-98A7-394CF491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3" name="track-block-head-8-1">
            <a:extLst xmlns:a="http://schemas.openxmlformats.org/drawingml/2006/main">
              <a:ext uri="{FF2B5EF4-FFF2-40B4-BE49-F238E27FC236}">
                <a16:creationId xmlns:a16="http://schemas.microsoft.com/office/drawing/2014/main" id="{0C36BC75-A910-4558-B3D0-60107CB5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JOB</a:t>
            </a:r>
          </a:p>
        </p:txBody>
      </p:sp>
      <p:sp>
        <p:nvSpPr>
          <p:cNvPr id="14" name="track-block-copy-8-1">
            <a:extLst xmlns:a="http://schemas.openxmlformats.org/drawingml/2006/main">
              <a:ext uri="{FF2B5EF4-FFF2-40B4-BE49-F238E27FC236}">
                <a16:creationId xmlns:a16="http://schemas.microsoft.com/office/drawing/2014/main" id="{14C724C1-12F0-44B9-9BEC-1F3F31EA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inclusion / exclusion criteria 轉成結構化欄位，同時保留 raw text</a:t>
            </a:r>
          </a:p>
        </p:txBody>
      </p:sp>
      <p:sp>
        <p:nvSpPr>
          <p:cNvPr id="15" name="track-flow-8-2">
            <a:extLst xmlns:a="http://schemas.openxmlformats.org/drawingml/2006/main">
              <a:ext uri="{FF2B5EF4-FFF2-40B4-BE49-F238E27FC236}">
                <a16:creationId xmlns:a16="http://schemas.microsoft.com/office/drawing/2014/main" id="{4F3DB1BB-60BF-4634-899A-8183ABC2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6" name="track-block-8-2">
            <a:extLst xmlns:a="http://schemas.openxmlformats.org/drawingml/2006/main">
              <a:ext uri="{FF2B5EF4-FFF2-40B4-BE49-F238E27FC236}">
                <a16:creationId xmlns:a16="http://schemas.microsoft.com/office/drawing/2014/main" id="{DA1DC6C5-9BB2-4A75-934F-D0B5F3BE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track-block-head-8-2">
            <a:extLst xmlns:a="http://schemas.openxmlformats.org/drawingml/2006/main">
              <a:ext uri="{FF2B5EF4-FFF2-40B4-BE49-F238E27FC236}">
                <a16:creationId xmlns:a16="http://schemas.microsoft.com/office/drawing/2014/main" id="{99EF7218-6A2B-4586-B864-747DD00C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MVP OUTPUT</a:t>
            </a:r>
          </a:p>
        </p:txBody>
      </p:sp>
      <p:sp>
        <p:nvSpPr>
          <p:cNvPr id="18" name="track-block-copy-8-2">
            <a:extLst xmlns:a="http://schemas.openxmlformats.org/drawingml/2006/main">
              <a:ext uri="{FF2B5EF4-FFF2-40B4-BE49-F238E27FC236}">
                <a16:creationId xmlns:a16="http://schemas.microsoft.com/office/drawing/2014/main" id="{BDCF57DD-4E48-4942-B4C6-363B172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eligibility_table.csv + raw_source_note.md + validation checklist</a:t>
            </a:r>
          </a:p>
        </p:txBody>
      </p:sp>
      <p:sp>
        <p:nvSpPr>
          <p:cNvPr id="19" name="track-guard-8">
            <a:extLst xmlns:a="http://schemas.openxmlformats.org/drawingml/2006/main">
              <a:ext uri="{FF2B5EF4-FFF2-40B4-BE49-F238E27FC236}">
                <a16:creationId xmlns:a16="http://schemas.microsoft.com/office/drawing/2014/main" id="{C6028DA8-F6B3-49FB-8C20-331290B5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258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0" name="track-guard-copy-8">
            <a:extLst xmlns:a="http://schemas.openxmlformats.org/drawingml/2006/main">
              <a:ext uri="{FF2B5EF4-FFF2-40B4-BE49-F238E27FC236}">
                <a16:creationId xmlns:a16="http://schemas.microsoft.com/office/drawing/2014/main" id="{FA5BDFE3-E11D-4293-9B68-A68CF3BF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868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安全界線：限於 study discovery 與整理，不做病人個別 trial matching。</a:t>
            </a:r>
          </a:p>
        </p:txBody>
      </p:sp>
    </p:spTree>
    <p:extLst>
      <p:ext uri="{BB962C8B-B14F-4D97-AF65-F5344CB8AC3E}">
        <p14:creationId xmlns:p14="http://schemas.microsoft.com/office/powerpoint/2010/main" val="19128887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9">
            <a:extLst xmlns:a="http://schemas.openxmlformats.org/drawingml/2006/main">
              <a:ext uri="{FF2B5EF4-FFF2-40B4-BE49-F238E27FC236}">
                <a16:creationId xmlns:a16="http://schemas.microsoft.com/office/drawing/2014/main" id="{513C0F67-DA9D-46AA-AF44-7CD82C16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16"/>
          </a:solidFill>
          <a:ln xmlns:a="http://schemas.openxmlformats.org/drawingml/2006/main" w="0">
            <a:solidFill>
              <a:srgbClr val="D89A16"/>
            </a:solidFill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F1094C4B-2EFE-4C3B-95E3-652986F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TRACKS</a:t>
            </a:r>
          </a:p>
        </p:txBody>
      </p:sp>
      <p:sp>
        <p:nvSpPr>
          <p:cNvPr id="3" name="progress-track-9">
            <a:extLst xmlns:a="http://schemas.openxmlformats.org/drawingml/2006/main">
              <a:ext uri="{FF2B5EF4-FFF2-40B4-BE49-F238E27FC236}">
                <a16:creationId xmlns:a16="http://schemas.microsoft.com/office/drawing/2014/main" id="{202DD399-2BEE-43CE-9558-C981497F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9">
            <a:extLst xmlns:a="http://schemas.openxmlformats.org/drawingml/2006/main">
              <a:ext uri="{FF2B5EF4-FFF2-40B4-BE49-F238E27FC236}">
                <a16:creationId xmlns:a16="http://schemas.microsoft.com/office/drawing/2014/main" id="{0F38B4F1-1C8F-4BF9-A811-FE1B036A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6908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9A16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52B6EFD-881D-4D9F-9C71-E8861D06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TRACK 03  |  DATASET SCOUT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A96204F-3CB3-424C-B92B-64F4DCEF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Public Dataset Metadata Assistant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77A69F2-C62F-4379-BD87-11E930D2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9/34</a:t>
            </a:r>
          </a:p>
        </p:txBody>
      </p:sp>
      <p:sp>
        <p:nvSpPr>
          <p:cNvPr id="8" name="track-block-9-0">
            <a:extLst xmlns:a="http://schemas.openxmlformats.org/drawingml/2006/main">
              <a:ext uri="{FF2B5EF4-FFF2-40B4-BE49-F238E27FC236}">
                <a16:creationId xmlns:a16="http://schemas.microsoft.com/office/drawing/2014/main" id="{556A3460-324C-40EA-B9B9-62470791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9" name="track-block-head-9-0">
            <a:extLst xmlns:a="http://schemas.openxmlformats.org/drawingml/2006/main">
              <a:ext uri="{FF2B5EF4-FFF2-40B4-BE49-F238E27FC236}">
                <a16:creationId xmlns:a16="http://schemas.microsoft.com/office/drawing/2014/main" id="{8172277D-926A-4000-95DD-2604B56D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INPUT / SOURCE</a:t>
            </a:r>
          </a:p>
        </p:txBody>
      </p:sp>
      <p:sp>
        <p:nvSpPr>
          <p:cNvPr id="10" name="track-block-copy-9-0">
            <a:extLst xmlns:a="http://schemas.openxmlformats.org/drawingml/2006/main">
              <a:ext uri="{FF2B5EF4-FFF2-40B4-BE49-F238E27FC236}">
                <a16:creationId xmlns:a16="http://schemas.microsoft.com/office/drawing/2014/main" id="{E933CEA6-877D-47FD-ADA3-8EE111F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GEO / GDC / cBioPortal 的公開 metadata 與 data dictionary</a:t>
            </a:r>
          </a:p>
        </p:txBody>
      </p:sp>
      <p:sp>
        <p:nvSpPr>
          <p:cNvPr id="11" name="track-flow-9-1">
            <a:extLst xmlns:a="http://schemas.openxmlformats.org/drawingml/2006/main">
              <a:ext uri="{FF2B5EF4-FFF2-40B4-BE49-F238E27FC236}">
                <a16:creationId xmlns:a16="http://schemas.microsoft.com/office/drawing/2014/main" id="{331D219F-AFD6-4F45-A319-BFAA5ABB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2" name="track-block-9-1">
            <a:extLst xmlns:a="http://schemas.openxmlformats.org/drawingml/2006/main">
              <a:ext uri="{FF2B5EF4-FFF2-40B4-BE49-F238E27FC236}">
                <a16:creationId xmlns:a16="http://schemas.microsoft.com/office/drawing/2014/main" id="{A11BAE94-4256-488E-BFB5-60F2D3B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3" name="track-block-head-9-1">
            <a:extLst xmlns:a="http://schemas.openxmlformats.org/drawingml/2006/main">
              <a:ext uri="{FF2B5EF4-FFF2-40B4-BE49-F238E27FC236}">
                <a16:creationId xmlns:a16="http://schemas.microsoft.com/office/drawing/2014/main" id="{D217B0A2-4C3D-4D35-915E-450FDE3E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JOB</a:t>
            </a:r>
          </a:p>
        </p:txBody>
      </p:sp>
      <p:sp>
        <p:nvSpPr>
          <p:cNvPr id="14" name="track-block-copy-9-1">
            <a:extLst xmlns:a="http://schemas.openxmlformats.org/drawingml/2006/main">
              <a:ext uri="{FF2B5EF4-FFF2-40B4-BE49-F238E27FC236}">
                <a16:creationId xmlns:a16="http://schemas.microsoft.com/office/drawing/2014/main" id="{5AF6E5F7-097D-4541-AD26-C4308162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依研究問題比較資料集，整理範圍、欄位、存取條件與限制</a:t>
            </a:r>
          </a:p>
        </p:txBody>
      </p:sp>
      <p:sp>
        <p:nvSpPr>
          <p:cNvPr id="15" name="track-flow-9-2">
            <a:extLst xmlns:a="http://schemas.openxmlformats.org/drawingml/2006/main">
              <a:ext uri="{FF2B5EF4-FFF2-40B4-BE49-F238E27FC236}">
                <a16:creationId xmlns:a16="http://schemas.microsoft.com/office/drawing/2014/main" id="{10D46333-295E-4075-8EE1-11AD601B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6" name="track-block-9-2">
            <a:extLst xmlns:a="http://schemas.openxmlformats.org/drawingml/2006/main">
              <a:ext uri="{FF2B5EF4-FFF2-40B4-BE49-F238E27FC236}">
                <a16:creationId xmlns:a16="http://schemas.microsoft.com/office/drawing/2014/main" id="{CD7562E5-B4AA-40EA-B8DF-EB24C1EE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track-block-head-9-2">
            <a:extLst xmlns:a="http://schemas.openxmlformats.org/drawingml/2006/main">
              <a:ext uri="{FF2B5EF4-FFF2-40B4-BE49-F238E27FC236}">
                <a16:creationId xmlns:a16="http://schemas.microsoft.com/office/drawing/2014/main" id="{D1CF4267-B9D8-4D1A-BC61-CE65E31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MVP OUTPUT</a:t>
            </a:r>
          </a:p>
        </p:txBody>
      </p:sp>
      <p:sp>
        <p:nvSpPr>
          <p:cNvPr id="18" name="track-block-copy-9-2">
            <a:extLst xmlns:a="http://schemas.openxmlformats.org/drawingml/2006/main">
              <a:ext uri="{FF2B5EF4-FFF2-40B4-BE49-F238E27FC236}">
                <a16:creationId xmlns:a16="http://schemas.microsoft.com/office/drawing/2014/main" id="{8D3B2269-1269-4FB1-A59F-9FDA30BB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dataset_cards.csv + fit_for_question.md + data_dictionary.md</a:t>
            </a:r>
          </a:p>
        </p:txBody>
      </p:sp>
      <p:sp>
        <p:nvSpPr>
          <p:cNvPr id="19" name="track-guard-9">
            <a:extLst xmlns:a="http://schemas.openxmlformats.org/drawingml/2006/main">
              <a:ext uri="{FF2B5EF4-FFF2-40B4-BE49-F238E27FC236}">
                <a16:creationId xmlns:a16="http://schemas.microsoft.com/office/drawing/2014/main" id="{32E120EA-DE6F-4967-B73B-AEAF290E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258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0" name="track-guard-copy-9">
            <a:extLst xmlns:a="http://schemas.openxmlformats.org/drawingml/2006/main">
              <a:ext uri="{FF2B5EF4-FFF2-40B4-BE49-F238E27FC236}">
                <a16:creationId xmlns:a16="http://schemas.microsoft.com/office/drawing/2014/main" id="{A63B94A8-B565-447D-A750-C175A5EE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868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安全界線：沒有 metadata 或 data dictionary 支持，不得宣稱資料集包含某欄位。</a:t>
            </a:r>
          </a:p>
        </p:txBody>
      </p:sp>
    </p:spTree>
    <p:extLst>
      <p:ext uri="{BB962C8B-B14F-4D97-AF65-F5344CB8AC3E}">
        <p14:creationId xmlns:p14="http://schemas.microsoft.com/office/powerpoint/2010/main" val="283766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0">
            <a:extLst xmlns:a="http://schemas.openxmlformats.org/drawingml/2006/main">
              <a:ext uri="{FF2B5EF4-FFF2-40B4-BE49-F238E27FC236}">
                <a16:creationId xmlns:a16="http://schemas.microsoft.com/office/drawing/2014/main" id="{3EB48385-FEF6-41F2-AA36-432E9B70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8736C236-D391-4A59-ABBE-99EEAD31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TRACKS</a:t>
            </a:r>
          </a:p>
        </p:txBody>
      </p:sp>
      <p:sp>
        <p:nvSpPr>
          <p:cNvPr id="3" name="progress-track-10">
            <a:extLst xmlns:a="http://schemas.openxmlformats.org/drawingml/2006/main">
              <a:ext uri="{FF2B5EF4-FFF2-40B4-BE49-F238E27FC236}">
                <a16:creationId xmlns:a16="http://schemas.microsoft.com/office/drawing/2014/main" id="{865A711E-C82E-4BDA-9CDE-B82AA4E1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10">
            <a:extLst xmlns:a="http://schemas.openxmlformats.org/drawingml/2006/main">
              <a:ext uri="{FF2B5EF4-FFF2-40B4-BE49-F238E27FC236}">
                <a16:creationId xmlns:a16="http://schemas.microsoft.com/office/drawing/2014/main" id="{7841A40B-4F53-4499-9605-E812CB52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7676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5A4A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7109C15-EB2D-4CF3-AADB-34A9A05E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TRACK 04  |  VARIANT TRIAGE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D9CA8A9-D1E4-41CE-8232-AC692765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Variant Evidence Triage Assistant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D990C59-9E2F-4AEA-9806-69CB30B1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10/34</a:t>
            </a:r>
          </a:p>
        </p:txBody>
      </p:sp>
      <p:sp>
        <p:nvSpPr>
          <p:cNvPr id="8" name="track-block-10-0">
            <a:extLst xmlns:a="http://schemas.openxmlformats.org/drawingml/2006/main">
              <a:ext uri="{FF2B5EF4-FFF2-40B4-BE49-F238E27FC236}">
                <a16:creationId xmlns:a16="http://schemas.microsoft.com/office/drawing/2014/main" id="{4BD47577-9B86-4093-8762-65F8A079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9" name="track-block-head-10-0">
            <a:extLst xmlns:a="http://schemas.openxmlformats.org/drawingml/2006/main">
              <a:ext uri="{FF2B5EF4-FFF2-40B4-BE49-F238E27FC236}">
                <a16:creationId xmlns:a16="http://schemas.microsoft.com/office/drawing/2014/main" id="{D5BF816A-F4DC-4B2F-B04A-488C9042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INPUT / SOURCE</a:t>
            </a:r>
          </a:p>
        </p:txBody>
      </p:sp>
      <p:sp>
        <p:nvSpPr>
          <p:cNvPr id="10" name="track-block-copy-10-0">
            <a:extLst xmlns:a="http://schemas.openxmlformats.org/drawingml/2006/main">
              <a:ext uri="{FF2B5EF4-FFF2-40B4-BE49-F238E27FC236}">
                <a16:creationId xmlns:a16="http://schemas.microsoft.com/office/drawing/2014/main" id="{AF9EE613-76F8-4BEE-8ACB-FCA3F13F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小型 variant list；ClinVar / gnomAD / Ensembl records</a:t>
            </a:r>
          </a:p>
        </p:txBody>
      </p:sp>
      <p:sp>
        <p:nvSpPr>
          <p:cNvPr id="11" name="track-flow-10-1">
            <a:extLst xmlns:a="http://schemas.openxmlformats.org/drawingml/2006/main">
              <a:ext uri="{FF2B5EF4-FFF2-40B4-BE49-F238E27FC236}">
                <a16:creationId xmlns:a16="http://schemas.microsoft.com/office/drawing/2014/main" id="{C011F877-C9C0-4719-AE19-722EFACC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2" name="track-block-10-1">
            <a:extLst xmlns:a="http://schemas.openxmlformats.org/drawingml/2006/main">
              <a:ext uri="{FF2B5EF4-FFF2-40B4-BE49-F238E27FC236}">
                <a16:creationId xmlns:a16="http://schemas.microsoft.com/office/drawing/2014/main" id="{68B6200C-7029-44CB-9C43-F582DC13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3" name="track-block-head-10-1">
            <a:extLst xmlns:a="http://schemas.openxmlformats.org/drawingml/2006/main">
              <a:ext uri="{FF2B5EF4-FFF2-40B4-BE49-F238E27FC236}">
                <a16:creationId xmlns:a16="http://schemas.microsoft.com/office/drawing/2014/main" id="{F85CE802-9EDB-4A96-8B6B-9F750754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JOB</a:t>
            </a:r>
          </a:p>
        </p:txBody>
      </p:sp>
      <p:sp>
        <p:nvSpPr>
          <p:cNvPr id="14" name="track-block-copy-10-1">
            <a:extLst xmlns:a="http://schemas.openxmlformats.org/drawingml/2006/main">
              <a:ext uri="{FF2B5EF4-FFF2-40B4-BE49-F238E27FC236}">
                <a16:creationId xmlns:a16="http://schemas.microsoft.com/office/drawing/2014/main" id="{C2F2BCDA-A5A1-453E-B54F-8E45130B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標準化 identifier，蒐集資料庫 evidence fields，區分事實與解讀</a:t>
            </a:r>
          </a:p>
        </p:txBody>
      </p:sp>
      <p:sp>
        <p:nvSpPr>
          <p:cNvPr id="15" name="track-flow-10-2">
            <a:extLst xmlns:a="http://schemas.openxmlformats.org/drawingml/2006/main">
              <a:ext uri="{FF2B5EF4-FFF2-40B4-BE49-F238E27FC236}">
                <a16:creationId xmlns:a16="http://schemas.microsoft.com/office/drawing/2014/main" id="{B3BA915A-BF67-4594-AE90-EA5B6175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6" name="track-block-10-2">
            <a:extLst xmlns:a="http://schemas.openxmlformats.org/drawingml/2006/main">
              <a:ext uri="{FF2B5EF4-FFF2-40B4-BE49-F238E27FC236}">
                <a16:creationId xmlns:a16="http://schemas.microsoft.com/office/drawing/2014/main" id="{D325DB66-1371-48CB-A62A-5D302A04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track-block-head-10-2">
            <a:extLst xmlns:a="http://schemas.openxmlformats.org/drawingml/2006/main">
              <a:ext uri="{FF2B5EF4-FFF2-40B4-BE49-F238E27FC236}">
                <a16:creationId xmlns:a16="http://schemas.microsoft.com/office/drawing/2014/main" id="{5CE75DAD-E6DB-4303-ABCC-BB78271C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MVP OUTPUT</a:t>
            </a:r>
          </a:p>
        </p:txBody>
      </p:sp>
      <p:sp>
        <p:nvSpPr>
          <p:cNvPr id="18" name="track-block-copy-10-2">
            <a:extLst xmlns:a="http://schemas.openxmlformats.org/drawingml/2006/main">
              <a:ext uri="{FF2B5EF4-FFF2-40B4-BE49-F238E27FC236}">
                <a16:creationId xmlns:a16="http://schemas.microsoft.com/office/drawing/2014/main" id="{2CAACB02-BF7A-45B3-B4AC-E09010F1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variant_review.csv + source_links.md + unresolved_cases.md</a:t>
            </a:r>
          </a:p>
        </p:txBody>
      </p:sp>
      <p:sp>
        <p:nvSpPr>
          <p:cNvPr id="19" name="track-guard-10">
            <a:extLst xmlns:a="http://schemas.openxmlformats.org/drawingml/2006/main">
              <a:ext uri="{FF2B5EF4-FFF2-40B4-BE49-F238E27FC236}">
                <a16:creationId xmlns:a16="http://schemas.microsoft.com/office/drawing/2014/main" id="{D5496FA5-760C-404E-861B-57A91559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258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0" name="track-guard-copy-10">
            <a:extLst xmlns:a="http://schemas.openxmlformats.org/drawingml/2006/main">
              <a:ext uri="{FF2B5EF4-FFF2-40B4-BE49-F238E27FC236}">
                <a16:creationId xmlns:a16="http://schemas.microsoft.com/office/drawing/2014/main" id="{49D945EC-CE19-4CB5-BDAE-CC078582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868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安全界線：不可做臨床解讀、致病性判定，或對個別病人的建議。</a:t>
            </a:r>
          </a:p>
        </p:txBody>
      </p:sp>
    </p:spTree>
    <p:extLst>
      <p:ext uri="{BB962C8B-B14F-4D97-AF65-F5344CB8AC3E}">
        <p14:creationId xmlns:p14="http://schemas.microsoft.com/office/powerpoint/2010/main" val="1852086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1">
            <a:extLst xmlns:a="http://schemas.openxmlformats.org/drawingml/2006/main">
              <a:ext uri="{FF2B5EF4-FFF2-40B4-BE49-F238E27FC236}">
                <a16:creationId xmlns:a16="http://schemas.microsoft.com/office/drawing/2014/main" id="{85356878-A17D-4031-8F44-95DE95C6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A0"/>
          </a:solidFill>
          <a:ln xmlns:a="http://schemas.openxmlformats.org/drawingml/2006/main" w="0">
            <a:solidFill>
              <a:srgbClr val="6B4AA0"/>
            </a:solidFill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7303ADAD-D965-4EC5-8F36-996B159C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TRACKS</a:t>
            </a:r>
          </a:p>
        </p:txBody>
      </p:sp>
      <p:sp>
        <p:nvSpPr>
          <p:cNvPr id="3" name="progress-track-11">
            <a:extLst xmlns:a="http://schemas.openxmlformats.org/drawingml/2006/main">
              <a:ext uri="{FF2B5EF4-FFF2-40B4-BE49-F238E27FC236}">
                <a16:creationId xmlns:a16="http://schemas.microsoft.com/office/drawing/2014/main" id="{325FE51D-6247-4B36-B8A2-E8424612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11">
            <a:extLst xmlns:a="http://schemas.openxmlformats.org/drawingml/2006/main">
              <a:ext uri="{FF2B5EF4-FFF2-40B4-BE49-F238E27FC236}">
                <a16:creationId xmlns:a16="http://schemas.microsoft.com/office/drawing/2014/main" id="{65F5046D-27CF-4DEB-9BBE-46730086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8443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B4AA0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B6DB80D-D7E5-4408-AD00-885276F6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TRACK 05  |  WORKFLOW QA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B66F59D-A2FE-4364-9A96-6DFE8BF2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Bioinformatics Workflow QA Copilot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BE8C3B5-8545-4D5E-8625-0CBCA9F0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11/34</a:t>
            </a:r>
          </a:p>
        </p:txBody>
      </p:sp>
      <p:sp>
        <p:nvSpPr>
          <p:cNvPr id="8" name="track-block-11-0">
            <a:extLst xmlns:a="http://schemas.openxmlformats.org/drawingml/2006/main">
              <a:ext uri="{FF2B5EF4-FFF2-40B4-BE49-F238E27FC236}">
                <a16:creationId xmlns:a16="http://schemas.microsoft.com/office/drawing/2014/main" id="{BE417EB0-1C86-4C8F-B717-4F813245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9" name="track-block-head-11-0">
            <a:extLst xmlns:a="http://schemas.openxmlformats.org/drawingml/2006/main">
              <a:ext uri="{FF2B5EF4-FFF2-40B4-BE49-F238E27FC236}">
                <a16:creationId xmlns:a16="http://schemas.microsoft.com/office/drawing/2014/main" id="{841BD5BD-CC59-4F54-9672-B5050283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INPUT / SOURCE</a:t>
            </a:r>
          </a:p>
        </p:txBody>
      </p:sp>
      <p:sp>
        <p:nvSpPr>
          <p:cNvPr id="10" name="track-block-copy-11-0">
            <a:extLst xmlns:a="http://schemas.openxmlformats.org/drawingml/2006/main">
              <a:ext uri="{FF2B5EF4-FFF2-40B4-BE49-F238E27FC236}">
                <a16:creationId xmlns:a16="http://schemas.microsoft.com/office/drawing/2014/main" id="{61C8FD04-2429-4D6D-9491-85759AFB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小型 Nextflow / nf-core scaffold、manifest 或 synthetic run log</a:t>
            </a:r>
          </a:p>
        </p:txBody>
      </p:sp>
      <p:sp>
        <p:nvSpPr>
          <p:cNvPr id="11" name="track-flow-11-1">
            <a:extLst xmlns:a="http://schemas.openxmlformats.org/drawingml/2006/main">
              <a:ext uri="{FF2B5EF4-FFF2-40B4-BE49-F238E27FC236}">
                <a16:creationId xmlns:a16="http://schemas.microsoft.com/office/drawing/2014/main" id="{62D33241-C429-4953-A524-590A85C4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2" name="track-block-11-1">
            <a:extLst xmlns:a="http://schemas.openxmlformats.org/drawingml/2006/main">
              <a:ext uri="{FF2B5EF4-FFF2-40B4-BE49-F238E27FC236}">
                <a16:creationId xmlns:a16="http://schemas.microsoft.com/office/drawing/2014/main" id="{3F1758B5-1E87-4BBC-93F6-75E6941A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3" name="track-block-head-11-1">
            <a:extLst xmlns:a="http://schemas.openxmlformats.org/drawingml/2006/main">
              <a:ext uri="{FF2B5EF4-FFF2-40B4-BE49-F238E27FC236}">
                <a16:creationId xmlns:a16="http://schemas.microsoft.com/office/drawing/2014/main" id="{5EEA29C7-22A0-497D-AAB9-EEE5EFC8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JOB</a:t>
            </a:r>
          </a:p>
        </p:txBody>
      </p:sp>
      <p:sp>
        <p:nvSpPr>
          <p:cNvPr id="14" name="track-block-copy-11-1">
            <a:extLst xmlns:a="http://schemas.openxmlformats.org/drawingml/2006/main">
              <a:ext uri="{FF2B5EF4-FFF2-40B4-BE49-F238E27FC236}">
                <a16:creationId xmlns:a16="http://schemas.microsoft.com/office/drawing/2014/main" id="{C982CADB-501C-40DE-9550-2BCE012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讀取檔案，找出 contract violation，提出最小 patch 並跑 validation</a:t>
            </a:r>
          </a:p>
        </p:txBody>
      </p:sp>
      <p:sp>
        <p:nvSpPr>
          <p:cNvPr id="15" name="track-flow-11-2">
            <a:extLst xmlns:a="http://schemas.openxmlformats.org/drawingml/2006/main">
              <a:ext uri="{FF2B5EF4-FFF2-40B4-BE49-F238E27FC236}">
                <a16:creationId xmlns:a16="http://schemas.microsoft.com/office/drawing/2014/main" id="{47B31B02-48F8-4CBA-A75D-0AE4C95B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6" name="track-block-11-2">
            <a:extLst xmlns:a="http://schemas.openxmlformats.org/drawingml/2006/main">
              <a:ext uri="{FF2B5EF4-FFF2-40B4-BE49-F238E27FC236}">
                <a16:creationId xmlns:a16="http://schemas.microsoft.com/office/drawing/2014/main" id="{3BEEDF72-1467-44F4-9D48-18FA3D4A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162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track-block-head-11-2">
            <a:extLst xmlns:a="http://schemas.openxmlformats.org/drawingml/2006/main">
              <a:ext uri="{FF2B5EF4-FFF2-40B4-BE49-F238E27FC236}">
                <a16:creationId xmlns:a16="http://schemas.microsoft.com/office/drawing/2014/main" id="{744DA851-7203-4E4A-B220-5858437F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38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MVP OUTPUT</a:t>
            </a:r>
          </a:p>
        </p:txBody>
      </p:sp>
      <p:sp>
        <p:nvSpPr>
          <p:cNvPr id="18" name="track-block-copy-11-2">
            <a:extLst xmlns:a="http://schemas.openxmlformats.org/drawingml/2006/main">
              <a:ext uri="{FF2B5EF4-FFF2-40B4-BE49-F238E27FC236}">
                <a16:creationId xmlns:a16="http://schemas.microsoft.com/office/drawing/2014/main" id="{54160816-4BA3-4AFF-882B-CF784496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28950"/>
            <a:ext cx="26098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issue_report.md + validation output + small diff or corrected config</a:t>
            </a:r>
          </a:p>
        </p:txBody>
      </p:sp>
      <p:sp>
        <p:nvSpPr>
          <p:cNvPr id="19" name="track-guard-11">
            <a:extLst xmlns:a="http://schemas.openxmlformats.org/drawingml/2006/main">
              <a:ext uri="{FF2B5EF4-FFF2-40B4-BE49-F238E27FC236}">
                <a16:creationId xmlns:a16="http://schemas.microsoft.com/office/drawing/2014/main" id="{695870DE-8C4B-4352-827C-061BA116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258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0" name="track-guard-copy-11">
            <a:extLst xmlns:a="http://schemas.openxmlformats.org/drawingml/2006/main">
              <a:ext uri="{FF2B5EF4-FFF2-40B4-BE49-F238E27FC236}">
                <a16:creationId xmlns:a16="http://schemas.microsoft.com/office/drawing/2014/main" id="{48431F47-9CA8-4042-8F9D-62E238B9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868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安全界線：不得啟動 cloud run、使用敏感資料或重寫整條 pipeline。</a:t>
            </a:r>
          </a:p>
        </p:txBody>
      </p:sp>
    </p:spTree>
    <p:extLst>
      <p:ext uri="{BB962C8B-B14F-4D97-AF65-F5344CB8AC3E}">
        <p14:creationId xmlns:p14="http://schemas.microsoft.com/office/powerpoint/2010/main" val="3611767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2">
            <a:extLst xmlns:a="http://schemas.openxmlformats.org/drawingml/2006/main">
              <a:ext uri="{FF2B5EF4-FFF2-40B4-BE49-F238E27FC236}">
                <a16:creationId xmlns:a16="http://schemas.microsoft.com/office/drawing/2014/main" id="{07A48F38-6112-4B95-9896-E25249E5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AA1FC54D-5E2C-4678-AA0B-DD7B614E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TRACKS</a:t>
            </a:r>
          </a:p>
        </p:txBody>
      </p:sp>
      <p:sp>
        <p:nvSpPr>
          <p:cNvPr id="3" name="progress-track-12">
            <a:extLst xmlns:a="http://schemas.openxmlformats.org/drawingml/2006/main">
              <a:ext uri="{FF2B5EF4-FFF2-40B4-BE49-F238E27FC236}">
                <a16:creationId xmlns:a16="http://schemas.microsoft.com/office/drawing/2014/main" id="{30E65C92-65A9-41B2-BC01-456118C5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12">
            <a:extLst xmlns:a="http://schemas.openxmlformats.org/drawingml/2006/main">
              <a:ext uri="{FF2B5EF4-FFF2-40B4-BE49-F238E27FC236}">
                <a16:creationId xmlns:a16="http://schemas.microsoft.com/office/drawing/2014/main" id="{025911FC-68A2-465A-A458-0D5C862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9211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B88AFD2-1060-4DA5-8D69-FDC5797A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CHOOSING A TRACK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FDE857A-A00D-4C4A-9A51-5609EAF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用三個問題選題，不要先選看起來最酷的工具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06DE008-EDCF-480D-B0CD-B5B7D842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12/34</a:t>
            </a:r>
          </a:p>
        </p:txBody>
      </p:sp>
      <p:sp>
        <p:nvSpPr>
          <p:cNvPr id="8" name="choose-0">
            <a:extLst xmlns:a="http://schemas.openxmlformats.org/drawingml/2006/main">
              <a:ext uri="{FF2B5EF4-FFF2-40B4-BE49-F238E27FC236}">
                <a16:creationId xmlns:a16="http://schemas.microsoft.com/office/drawing/2014/main" id="{A1718237-0150-41BC-8C7F-E16F2F0A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29908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choose-num-0">
            <a:extLst xmlns:a="http://schemas.openxmlformats.org/drawingml/2006/main">
              <a:ext uri="{FF2B5EF4-FFF2-40B4-BE49-F238E27FC236}">
                <a16:creationId xmlns:a16="http://schemas.microsoft.com/office/drawing/2014/main" id="{E24EA7E1-C024-4AE2-B1A6-45871639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03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choose-head-0">
            <a:extLst xmlns:a="http://schemas.openxmlformats.org/drawingml/2006/main">
              <a:ext uri="{FF2B5EF4-FFF2-40B4-BE49-F238E27FC236}">
                <a16:creationId xmlns:a16="http://schemas.microsoft.com/office/drawing/2014/main" id="{3D12D84C-E2D4-478F-8C88-60A03A5C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資料能取得嗎？</a:t>
            </a:r>
          </a:p>
        </p:txBody>
      </p:sp>
      <p:sp>
        <p:nvSpPr>
          <p:cNvPr id="11" name="choose-copy-0">
            <a:extLst xmlns:a="http://schemas.openxmlformats.org/drawingml/2006/main">
              <a:ext uri="{FF2B5EF4-FFF2-40B4-BE49-F238E27FC236}">
                <a16:creationId xmlns:a16="http://schemas.microsoft.com/office/drawing/2014/main" id="{01F71484-A5A4-4E3D-9A2F-8780EF0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766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今天可使用公開或去識別資料嗎？</a:t>
            </a:r>
          </a:p>
        </p:txBody>
      </p:sp>
      <p:sp>
        <p:nvSpPr>
          <p:cNvPr id="12" name="choose-1">
            <a:extLst xmlns:a="http://schemas.openxmlformats.org/drawingml/2006/main">
              <a:ext uri="{FF2B5EF4-FFF2-40B4-BE49-F238E27FC236}">
                <a16:creationId xmlns:a16="http://schemas.microsoft.com/office/drawing/2014/main" id="{D6E72C75-2FAD-4FB6-8221-92EC0BD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29908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3" name="choose-num-1">
            <a:extLst xmlns:a="http://schemas.openxmlformats.org/drawingml/2006/main">
              <a:ext uri="{FF2B5EF4-FFF2-40B4-BE49-F238E27FC236}">
                <a16:creationId xmlns:a16="http://schemas.microsoft.com/office/drawing/2014/main" id="{545A830B-1204-4EB8-A761-C42B00E1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03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choose-head-1">
            <a:extLst xmlns:a="http://schemas.openxmlformats.org/drawingml/2006/main">
              <a:ext uri="{FF2B5EF4-FFF2-40B4-BE49-F238E27FC236}">
                <a16:creationId xmlns:a16="http://schemas.microsoft.com/office/drawing/2014/main" id="{927A257A-759C-4AAE-8C6D-9AF9C133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861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輸出可驗證嗎？</a:t>
            </a:r>
          </a:p>
        </p:txBody>
      </p:sp>
      <p:sp>
        <p:nvSpPr>
          <p:cNvPr id="15" name="choose-copy-1">
            <a:extLst xmlns:a="http://schemas.openxmlformats.org/drawingml/2006/main">
              <a:ext uri="{FF2B5EF4-FFF2-40B4-BE49-F238E27FC236}">
                <a16:creationId xmlns:a16="http://schemas.microsoft.com/office/drawing/2014/main" id="{43533F7B-6875-4E9A-AEA0-4BAD26C0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766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能否定義 schema、source 與 test？</a:t>
            </a:r>
          </a:p>
        </p:txBody>
      </p:sp>
      <p:sp>
        <p:nvSpPr>
          <p:cNvPr id="16" name="choose-2">
            <a:extLst xmlns:a="http://schemas.openxmlformats.org/drawingml/2006/main">
              <a:ext uri="{FF2B5EF4-FFF2-40B4-BE49-F238E27FC236}">
                <a16:creationId xmlns:a16="http://schemas.microsoft.com/office/drawing/2014/main" id="{77B57107-1785-4914-B4F9-46C6BC8C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52650"/>
            <a:ext cx="29908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choose-num-2">
            <a:extLst xmlns:a="http://schemas.openxmlformats.org/drawingml/2006/main">
              <a:ext uri="{FF2B5EF4-FFF2-40B4-BE49-F238E27FC236}">
                <a16:creationId xmlns:a16="http://schemas.microsoft.com/office/drawing/2014/main" id="{A18C691D-665D-4205-B2BC-D99358B4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choose-head-2">
            <a:extLst xmlns:a="http://schemas.openxmlformats.org/drawingml/2006/main">
              <a:ext uri="{FF2B5EF4-FFF2-40B4-BE49-F238E27FC236}">
                <a16:creationId xmlns:a16="http://schemas.microsoft.com/office/drawing/2014/main" id="{04A0C995-479B-4E15-826A-B8111E72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下午做得完嗎？</a:t>
            </a:r>
          </a:p>
        </p:txBody>
      </p:sp>
      <p:sp>
        <p:nvSpPr>
          <p:cNvPr id="19" name="choose-copy-2">
            <a:extLst xmlns:a="http://schemas.openxmlformats.org/drawingml/2006/main">
              <a:ext uri="{FF2B5EF4-FFF2-40B4-BE49-F238E27FC236}">
                <a16:creationId xmlns:a16="http://schemas.microsoft.com/office/drawing/2014/main" id="{8985F1A2-85C5-4BA8-86BE-75BABD31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最小版本能在 90 分鐘 build + check 嗎？</a:t>
            </a:r>
          </a:p>
        </p:txBody>
      </p:sp>
      <p:sp>
        <p:nvSpPr>
          <p:cNvPr id="20" name="bottom">
            <a:extLst xmlns:a="http://schemas.openxmlformats.org/drawingml/2006/main">
              <a:ext uri="{FF2B5EF4-FFF2-40B4-BE49-F238E27FC236}">
                <a16:creationId xmlns:a16="http://schemas.microsoft.com/office/drawing/2014/main" id="{EC48D857-A036-402B-BE86-69C0B84C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387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三題中任何一題回答「否」，就縮小 scope 或換題。</a:t>
            </a:r>
          </a:p>
        </p:txBody>
      </p:sp>
    </p:spTree>
    <p:extLst>
      <p:ext uri="{BB962C8B-B14F-4D97-AF65-F5344CB8AC3E}">
        <p14:creationId xmlns:p14="http://schemas.microsoft.com/office/powerpoint/2010/main" val="12507679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3">
            <a:extLst xmlns:a="http://schemas.openxmlformats.org/drawingml/2006/main">
              <a:ext uri="{FF2B5EF4-FFF2-40B4-BE49-F238E27FC236}">
                <a16:creationId xmlns:a16="http://schemas.microsoft.com/office/drawing/2014/main" id="{2A32EFA5-1E50-4B26-B95F-81476987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A8"/>
          </a:solidFill>
          <a:ln xmlns:a="http://schemas.openxmlformats.org/drawingml/2006/main" w="0">
            <a:solidFill>
              <a:srgbClr val="3446A8"/>
            </a:solidFill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19C3F719-E933-421D-8A80-5172520C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3" name="progress-track-13">
            <a:extLst xmlns:a="http://schemas.openxmlformats.org/drawingml/2006/main">
              <a:ext uri="{FF2B5EF4-FFF2-40B4-BE49-F238E27FC236}">
                <a16:creationId xmlns:a16="http://schemas.microsoft.com/office/drawing/2014/main" id="{B5787833-9723-48EA-853E-0153CC9A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13">
            <a:extLst xmlns:a="http://schemas.openxmlformats.org/drawingml/2006/main">
              <a:ext uri="{FF2B5EF4-FFF2-40B4-BE49-F238E27FC236}">
                <a16:creationId xmlns:a16="http://schemas.microsoft.com/office/drawing/2014/main" id="{116BF206-68E9-44D2-A030-D3C0F614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9978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46A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D2C903E-A314-462F-9AEF-1AE2A23F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TEAM OPERATING MODEL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3ACD54C-E2B3-41FB-8104-9E44A3AF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四個角色可以由 2–4 人兼任，但責任不能消失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7CB85E1-D575-4B16-A972-39EE53A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13/34</a:t>
            </a:r>
          </a:p>
        </p:txBody>
      </p:sp>
      <p:sp>
        <p:nvSpPr>
          <p:cNvPr id="8" name="role-card-0">
            <a:extLst xmlns:a="http://schemas.openxmlformats.org/drawingml/2006/main">
              <a:ext uri="{FF2B5EF4-FFF2-40B4-BE49-F238E27FC236}">
                <a16:creationId xmlns:a16="http://schemas.microsoft.com/office/drawing/2014/main" id="{12342D62-11C1-433B-BFDA-63C5E274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8958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role-head-0">
            <a:extLst xmlns:a="http://schemas.openxmlformats.org/drawingml/2006/main">
              <a:ext uri="{FF2B5EF4-FFF2-40B4-BE49-F238E27FC236}">
                <a16:creationId xmlns:a16="http://schemas.microsoft.com/office/drawing/2014/main" id="{563F654E-F77C-4E6B-BE47-DE31D77F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Problem owner</a:t>
            </a:r>
          </a:p>
        </p:txBody>
      </p:sp>
      <p:sp>
        <p:nvSpPr>
          <p:cNvPr id="10" name="role-copy-0">
            <a:extLst xmlns:a="http://schemas.openxmlformats.org/drawingml/2006/main">
              <a:ext uri="{FF2B5EF4-FFF2-40B4-BE49-F238E27FC236}">
                <a16:creationId xmlns:a16="http://schemas.microsoft.com/office/drawing/2014/main" id="{D89D8427-09EF-4816-A362-291CF621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479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定義問題、範圍、完成條件</a:t>
            </a:r>
          </a:p>
        </p:txBody>
      </p:sp>
      <p:sp>
        <p:nvSpPr>
          <p:cNvPr id="11" name="role-card-1">
            <a:extLst xmlns:a="http://schemas.openxmlformats.org/drawingml/2006/main">
              <a:ext uri="{FF2B5EF4-FFF2-40B4-BE49-F238E27FC236}">
                <a16:creationId xmlns:a16="http://schemas.microsoft.com/office/drawing/2014/main" id="{9B0A8B3E-1106-4959-9602-A14702D0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48958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2" name="role-head-1">
            <a:extLst xmlns:a="http://schemas.openxmlformats.org/drawingml/2006/main">
              <a:ext uri="{FF2B5EF4-FFF2-40B4-BE49-F238E27FC236}">
                <a16:creationId xmlns:a16="http://schemas.microsoft.com/office/drawing/2014/main" id="{922C4C16-AD64-4CD1-857D-07B88C5D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28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Agent / tool operator</a:t>
            </a:r>
          </a:p>
        </p:txBody>
      </p:sp>
      <p:sp>
        <p:nvSpPr>
          <p:cNvPr id="13" name="role-copy-1">
            <a:extLst xmlns:a="http://schemas.openxmlformats.org/drawingml/2006/main">
              <a:ext uri="{FF2B5EF4-FFF2-40B4-BE49-F238E27FC236}">
                <a16:creationId xmlns:a16="http://schemas.microsoft.com/office/drawing/2014/main" id="{E4E41CEA-C9F0-46D3-BA81-212330C2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執行 prompt、工具、檔案與 log</a:t>
            </a:r>
          </a:p>
        </p:txBody>
      </p:sp>
      <p:sp>
        <p:nvSpPr>
          <p:cNvPr id="14" name="role-card-2">
            <a:extLst xmlns:a="http://schemas.openxmlformats.org/drawingml/2006/main">
              <a:ext uri="{FF2B5EF4-FFF2-40B4-BE49-F238E27FC236}">
                <a16:creationId xmlns:a16="http://schemas.microsoft.com/office/drawing/2014/main" id="{9BBD518D-F550-4075-966A-5B80B81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48958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5" name="role-head-2">
            <a:extLst xmlns:a="http://schemas.openxmlformats.org/drawingml/2006/main">
              <a:ext uri="{FF2B5EF4-FFF2-40B4-BE49-F238E27FC236}">
                <a16:creationId xmlns:a16="http://schemas.microsoft.com/office/drawing/2014/main" id="{C0677DDA-64CA-48DA-86B5-6FF75323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Validation owner</a:t>
            </a:r>
          </a:p>
        </p:txBody>
      </p:sp>
      <p:sp>
        <p:nvSpPr>
          <p:cNvPr id="16" name="role-copy-2">
            <a:extLst xmlns:a="http://schemas.openxmlformats.org/drawingml/2006/main">
              <a:ext uri="{FF2B5EF4-FFF2-40B4-BE49-F238E27FC236}">
                <a16:creationId xmlns:a16="http://schemas.microsoft.com/office/drawing/2014/main" id="{17ECF2DA-AFBC-4FFC-8629-E27FDE59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檢查 source、schema、failure case</a:t>
            </a:r>
          </a:p>
        </p:txBody>
      </p:sp>
      <p:sp>
        <p:nvSpPr>
          <p:cNvPr id="17" name="role-card-3">
            <a:extLst xmlns:a="http://schemas.openxmlformats.org/drawingml/2006/main">
              <a:ext uri="{FF2B5EF4-FFF2-40B4-BE49-F238E27FC236}">
                <a16:creationId xmlns:a16="http://schemas.microsoft.com/office/drawing/2014/main" id="{6AA90213-FAB5-4BAF-BD96-730BA642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48958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8" name="role-head-3">
            <a:extLst xmlns:a="http://schemas.openxmlformats.org/drawingml/2006/main">
              <a:ext uri="{FF2B5EF4-FFF2-40B4-BE49-F238E27FC236}">
                <a16:creationId xmlns:a16="http://schemas.microsoft.com/office/drawing/2014/main" id="{25FCA22D-A421-4165-8D6B-2E734A9A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71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Demo narrator</a:t>
            </a:r>
          </a:p>
        </p:txBody>
      </p:sp>
      <p:sp>
        <p:nvSpPr>
          <p:cNvPr id="19" name="role-copy-3">
            <a:extLst xmlns:a="http://schemas.openxmlformats.org/drawingml/2006/main">
              <a:ext uri="{FF2B5EF4-FFF2-40B4-BE49-F238E27FC236}">
                <a16:creationId xmlns:a16="http://schemas.microsoft.com/office/drawing/2014/main" id="{CD9F8B46-90BD-482C-9891-B1A2F9F3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909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整理故事、限制、5 分鐘展示</a:t>
            </a:r>
          </a:p>
        </p:txBody>
      </p:sp>
      <p:sp>
        <p:nvSpPr>
          <p:cNvPr id="20" name="bottom">
            <a:extLst xmlns:a="http://schemas.openxmlformats.org/drawingml/2006/main">
              <a:ext uri="{FF2B5EF4-FFF2-40B4-BE49-F238E27FC236}">
                <a16:creationId xmlns:a16="http://schemas.microsoft.com/office/drawing/2014/main" id="{A2A56D4F-4089-4C2D-A8FB-090D65FE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911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每個人都能 prompt；但每個 artifact 都要有明確 owner。</a:t>
            </a:r>
          </a:p>
        </p:txBody>
      </p:sp>
    </p:spTree>
    <p:extLst>
      <p:ext uri="{BB962C8B-B14F-4D97-AF65-F5344CB8AC3E}">
        <p14:creationId xmlns:p14="http://schemas.microsoft.com/office/powerpoint/2010/main" val="20543532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4">
            <a:extLst xmlns:a="http://schemas.openxmlformats.org/drawingml/2006/main">
              <a:ext uri="{FF2B5EF4-FFF2-40B4-BE49-F238E27FC236}">
                <a16:creationId xmlns:a16="http://schemas.microsoft.com/office/drawing/2014/main" id="{6118073A-DADC-4015-9985-B4A7ADA9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16"/>
          </a:solidFill>
          <a:ln xmlns:a="http://schemas.openxmlformats.org/drawingml/2006/main" w="0">
            <a:solidFill>
              <a:srgbClr val="D89A16"/>
            </a:solidFill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55350818-3475-43D0-BA8A-1A47818D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3" name="progress-track-14">
            <a:extLst xmlns:a="http://schemas.openxmlformats.org/drawingml/2006/main">
              <a:ext uri="{FF2B5EF4-FFF2-40B4-BE49-F238E27FC236}">
                <a16:creationId xmlns:a16="http://schemas.microsoft.com/office/drawing/2014/main" id="{D2375578-AC46-4AF8-B5FA-006E79A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14">
            <a:extLst xmlns:a="http://schemas.openxmlformats.org/drawingml/2006/main">
              <a:ext uri="{FF2B5EF4-FFF2-40B4-BE49-F238E27FC236}">
                <a16:creationId xmlns:a16="http://schemas.microsoft.com/office/drawing/2014/main" id="{6645B278-C108-4A53-ABFF-44240820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0746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9A16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65C033A-6567-4216-8759-FB487558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MVP SCOPE CONTRACT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BDFC5AD-6720-4585-A958-4B5D7B57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最小可行專題必須有一條完整、可檢查的路徑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20CD732-5A85-4AC1-8F2C-D0267764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14/34</a:t>
            </a:r>
          </a:p>
        </p:txBody>
      </p:sp>
      <p:sp>
        <p:nvSpPr>
          <p:cNvPr id="8" name="scope-node-0">
            <a:extLst xmlns:a="http://schemas.openxmlformats.org/drawingml/2006/main">
              <a:ext uri="{FF2B5EF4-FFF2-40B4-BE49-F238E27FC236}">
                <a16:creationId xmlns:a16="http://schemas.microsoft.com/office/drawing/2014/main" id="{A779A69C-F8C1-4171-9C92-8A84C366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209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One input</a:t>
            </a:r>
          </a:p>
        </p:txBody>
      </p:sp>
      <p:sp>
        <p:nvSpPr>
          <p:cNvPr id="9" name="scope-copy-0">
            <a:extLst xmlns:a="http://schemas.openxmlformats.org/drawingml/2006/main">
              <a:ext uri="{FF2B5EF4-FFF2-40B4-BE49-F238E27FC236}">
                <a16:creationId xmlns:a16="http://schemas.microsoft.com/office/drawing/2014/main" id="{D8788CCE-8DE8-4468-8FDC-B3E56C30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一個小型資料集、問題或 manifest</a:t>
            </a:r>
          </a:p>
        </p:txBody>
      </p:sp>
      <p:sp>
        <p:nvSpPr>
          <p:cNvPr id="10" name="scope-line-1">
            <a:extLst xmlns:a="http://schemas.openxmlformats.org/drawingml/2006/main">
              <a:ext uri="{FF2B5EF4-FFF2-40B4-BE49-F238E27FC236}">
                <a16:creationId xmlns:a16="http://schemas.microsoft.com/office/drawing/2014/main" id="{637BF112-7396-4CBA-AB8C-FD39D69C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11" name="scope-node-1">
            <a:extLst xmlns:a="http://schemas.openxmlformats.org/drawingml/2006/main">
              <a:ext uri="{FF2B5EF4-FFF2-40B4-BE49-F238E27FC236}">
                <a16:creationId xmlns:a16="http://schemas.microsoft.com/office/drawing/2014/main" id="{688DFA80-E3D8-4A48-976F-12FC22D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2209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One transform</a:t>
            </a:r>
          </a:p>
        </p:txBody>
      </p:sp>
      <p:sp>
        <p:nvSpPr>
          <p:cNvPr id="12" name="scope-copy-1">
            <a:extLst xmlns:a="http://schemas.openxmlformats.org/drawingml/2006/main">
              <a:ext uri="{FF2B5EF4-FFF2-40B4-BE49-F238E27FC236}">
                <a16:creationId xmlns:a16="http://schemas.microsoft.com/office/drawing/2014/main" id="{1A411219-07CC-49FC-A5E8-54F33E39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一個 agent-assisted step</a:t>
            </a:r>
          </a:p>
        </p:txBody>
      </p:sp>
      <p:sp>
        <p:nvSpPr>
          <p:cNvPr id="13" name="scope-line-2">
            <a:extLst xmlns:a="http://schemas.openxmlformats.org/drawingml/2006/main">
              <a:ext uri="{FF2B5EF4-FFF2-40B4-BE49-F238E27FC236}">
                <a16:creationId xmlns:a16="http://schemas.microsoft.com/office/drawing/2014/main" id="{A2506118-FB62-4C84-84F4-EDF27DD9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766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14" name="scope-node-2">
            <a:extLst xmlns:a="http://schemas.openxmlformats.org/drawingml/2006/main">
              <a:ext uri="{FF2B5EF4-FFF2-40B4-BE49-F238E27FC236}">
                <a16:creationId xmlns:a16="http://schemas.microsoft.com/office/drawing/2014/main" id="{3286FF5E-3001-4343-A1B3-7250E4BB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2209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One check</a:t>
            </a:r>
          </a:p>
        </p:txBody>
      </p:sp>
      <p:sp>
        <p:nvSpPr>
          <p:cNvPr id="15" name="scope-copy-2">
            <a:extLst xmlns:a="http://schemas.openxmlformats.org/drawingml/2006/main">
              <a:ext uri="{FF2B5EF4-FFF2-40B4-BE49-F238E27FC236}">
                <a16:creationId xmlns:a16="http://schemas.microsoft.com/office/drawing/2014/main" id="{F08A2120-EE6A-4169-A91E-6E73A419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一個外部來源或 validation</a:t>
            </a:r>
          </a:p>
        </p:txBody>
      </p:sp>
      <p:sp>
        <p:nvSpPr>
          <p:cNvPr id="16" name="scope-line-3">
            <a:extLst xmlns:a="http://schemas.openxmlformats.org/drawingml/2006/main">
              <a:ext uri="{FF2B5EF4-FFF2-40B4-BE49-F238E27FC236}">
                <a16:creationId xmlns:a16="http://schemas.microsoft.com/office/drawing/2014/main" id="{41C19F49-8316-4CD6-B5C0-6A0353D9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766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17" name="scope-node-3">
            <a:extLst xmlns:a="http://schemas.openxmlformats.org/drawingml/2006/main">
              <a:ext uri="{FF2B5EF4-FFF2-40B4-BE49-F238E27FC236}">
                <a16:creationId xmlns:a16="http://schemas.microsoft.com/office/drawing/2014/main" id="{B525B539-782E-410D-A63D-3944A795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2209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One output</a:t>
            </a:r>
          </a:p>
        </p:txBody>
      </p:sp>
      <p:sp>
        <p:nvSpPr>
          <p:cNvPr id="18" name="scope-copy-3">
            <a:extLst xmlns:a="http://schemas.openxmlformats.org/drawingml/2006/main">
              <a:ext uri="{FF2B5EF4-FFF2-40B4-BE49-F238E27FC236}">
                <a16:creationId xmlns:a16="http://schemas.microsoft.com/office/drawing/2014/main" id="{CC019E52-9DAE-4F1F-B698-13A55E5B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719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一個可讀、可驗證的 artifact</a:t>
            </a:r>
          </a:p>
        </p:txBody>
      </p:sp>
      <p:sp>
        <p:nvSpPr>
          <p:cNvPr id="19" name="scope-callout">
            <a:extLst xmlns:a="http://schemas.openxmlformats.org/drawingml/2006/main">
              <a:ext uri="{FF2B5EF4-FFF2-40B4-BE49-F238E27FC236}">
                <a16:creationId xmlns:a16="http://schemas.microsoft.com/office/drawing/2014/main" id="{01274B2F-B573-4F24-AAB0-F9B6644F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95900"/>
            <a:ext cx="861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20" name="scope-callout-copy">
            <a:extLst xmlns:a="http://schemas.openxmlformats.org/drawingml/2006/main">
              <a:ext uri="{FF2B5EF4-FFF2-40B4-BE49-F238E27FC236}">
                <a16:creationId xmlns:a16="http://schemas.microsoft.com/office/drawing/2014/main" id="{9119A51A-56E7-4622-B699-6947CC0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9725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任何額外功能，都必須在這條主路徑成功後才開始。</a:t>
            </a:r>
          </a:p>
        </p:txBody>
      </p:sp>
    </p:spTree>
    <p:extLst>
      <p:ext uri="{BB962C8B-B14F-4D97-AF65-F5344CB8AC3E}">
        <p14:creationId xmlns:p14="http://schemas.microsoft.com/office/powerpoint/2010/main" val="8617505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5">
            <a:extLst xmlns:a="http://schemas.openxmlformats.org/drawingml/2006/main">
              <a:ext uri="{FF2B5EF4-FFF2-40B4-BE49-F238E27FC236}">
                <a16:creationId xmlns:a16="http://schemas.microsoft.com/office/drawing/2014/main" id="{80FCF480-1862-48AA-A919-00340F3E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D00E887B-EDC5-4AEC-8514-FB391BC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3" name="progress-track-15">
            <a:extLst xmlns:a="http://schemas.openxmlformats.org/drawingml/2006/main">
              <a:ext uri="{FF2B5EF4-FFF2-40B4-BE49-F238E27FC236}">
                <a16:creationId xmlns:a16="http://schemas.microsoft.com/office/drawing/2014/main" id="{8AE97B5C-7499-4913-8F0B-B6322475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15">
            <a:extLst xmlns:a="http://schemas.openxmlformats.org/drawingml/2006/main">
              <a:ext uri="{FF2B5EF4-FFF2-40B4-BE49-F238E27FC236}">
                <a16:creationId xmlns:a16="http://schemas.microsoft.com/office/drawing/2014/main" id="{7DC19A40-58D1-4933-970E-627936B9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1514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5A4A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2373A7F-0C77-4EAC-A63D-1B226E46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SCOPE EXAMPLES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65F78CB-F847-4B0A-9857-0BC4D487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好題目不是大題目，而是能在下午證明的題目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5A85DFC-47EC-44AC-8F59-99DF8903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15/34</a:t>
            </a:r>
          </a:p>
        </p:txBody>
      </p:sp>
      <p:sp>
        <p:nvSpPr>
          <p:cNvPr id="8" name="scope-example-0">
            <a:extLst xmlns:a="http://schemas.openxmlformats.org/drawingml/2006/main">
              <a:ext uri="{FF2B5EF4-FFF2-40B4-BE49-F238E27FC236}">
                <a16:creationId xmlns:a16="http://schemas.microsoft.com/office/drawing/2014/main" id="{F481175A-9994-4BF7-BD31-FAC76A94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44577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9" name="scope-example-head-0">
            <a:extLst xmlns:a="http://schemas.openxmlformats.org/drawingml/2006/main">
              <a:ext uri="{FF2B5EF4-FFF2-40B4-BE49-F238E27FC236}">
                <a16:creationId xmlns:a16="http://schemas.microsoft.com/office/drawing/2014/main" id="{15D175DF-BB88-459A-B6B8-D4261697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Too broad</a:t>
            </a:r>
          </a:p>
        </p:txBody>
      </p:sp>
      <p:sp>
        <p:nvSpPr>
          <p:cNvPr id="10" name="scope-example-list-0">
            <a:extLst xmlns:a="http://schemas.openxmlformats.org/drawingml/2006/main">
              <a:ext uri="{FF2B5EF4-FFF2-40B4-BE49-F238E27FC236}">
                <a16:creationId xmlns:a16="http://schemas.microsoft.com/office/drawing/2014/main" id="{BB7911CB-DEE8-464C-B9AF-82CA8461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86100"/>
            <a:ext cx="3371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建立所有癌別的藥物推薦 agent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自動判讀病人所有 variant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把整個 GEO 資料庫變成聊天機器人</a:t>
            </a:r>
          </a:p>
        </p:txBody>
      </p:sp>
      <p:sp>
        <p:nvSpPr>
          <p:cNvPr id="11" name="scope-example-1">
            <a:extLst xmlns:a="http://schemas.openxmlformats.org/drawingml/2006/main">
              <a:ext uri="{FF2B5EF4-FFF2-40B4-BE49-F238E27FC236}">
                <a16:creationId xmlns:a16="http://schemas.microsoft.com/office/drawing/2014/main" id="{A8382B04-F5CD-421C-964E-7EBD22C7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24050"/>
            <a:ext cx="44577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2" name="scope-example-head-1">
            <a:extLst xmlns:a="http://schemas.openxmlformats.org/drawingml/2006/main">
              <a:ext uri="{FF2B5EF4-FFF2-40B4-BE49-F238E27FC236}">
                <a16:creationId xmlns:a16="http://schemas.microsoft.com/office/drawing/2014/main" id="{3EE71285-8BC4-4075-904A-168F9E78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Good MVP</a:t>
            </a:r>
          </a:p>
        </p:txBody>
      </p:sp>
      <p:sp>
        <p:nvSpPr>
          <p:cNvPr id="13" name="scope-example-list-1">
            <a:extLst xmlns:a="http://schemas.openxmlformats.org/drawingml/2006/main">
              <a:ext uri="{FF2B5EF4-FFF2-40B4-BE49-F238E27FC236}">
                <a16:creationId xmlns:a16="http://schemas.microsoft.com/office/drawing/2014/main" id="{DFD23B01-08BF-482F-8DC5-F8022A2F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371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整理 EGFR / ALK 的 4 筆 evidence rows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對 5 個 public variants 做資料庫 evidence triage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比較 3 個 GEO datasets 是否符合一個問題</a:t>
            </a:r>
          </a:p>
        </p:txBody>
      </p:sp>
      <p:sp>
        <p:nvSpPr>
          <p:cNvPr id="14" name="bottom">
            <a:extLst xmlns:a="http://schemas.openxmlformats.org/drawingml/2006/main">
              <a:ext uri="{FF2B5EF4-FFF2-40B4-BE49-F238E27FC236}">
                <a16:creationId xmlns:a16="http://schemas.microsoft.com/office/drawing/2014/main" id="{FC69BB42-B370-4DD1-800B-11DEA8FE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你的 demo 必須能跑完；你的野心可以寫在 next actions。</a:t>
            </a:r>
          </a:p>
        </p:txBody>
      </p:sp>
    </p:spTree>
    <p:extLst>
      <p:ext uri="{BB962C8B-B14F-4D97-AF65-F5344CB8AC3E}">
        <p14:creationId xmlns:p14="http://schemas.microsoft.com/office/powerpoint/2010/main" val="8841630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6">
            <a:extLst xmlns:a="http://schemas.openxmlformats.org/drawingml/2006/main">
              <a:ext uri="{FF2B5EF4-FFF2-40B4-BE49-F238E27FC236}">
                <a16:creationId xmlns:a16="http://schemas.microsoft.com/office/drawing/2014/main" id="{AEF43994-9B26-4874-A460-66A689F6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A8"/>
          </a:solidFill>
          <a:ln xmlns:a="http://schemas.openxmlformats.org/drawingml/2006/main" w="0">
            <a:solidFill>
              <a:srgbClr val="3446A8"/>
            </a:solidFill>
            <a:prstDash val="solid"/>
          </a:ln>
        </p:spPr>
      </p:sp>
      <p:sp>
        <p:nvSpPr>
          <p:cNvPr id="2" name="section-16">
            <a:extLst xmlns:a="http://schemas.openxmlformats.org/drawingml/2006/main">
              <a:ext uri="{FF2B5EF4-FFF2-40B4-BE49-F238E27FC236}">
                <a16:creationId xmlns:a16="http://schemas.microsoft.com/office/drawing/2014/main" id="{0225783A-3C6D-4512-B82F-F8B91C18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3" name="progress-track-16">
            <a:extLst xmlns:a="http://schemas.openxmlformats.org/drawingml/2006/main">
              <a:ext uri="{FF2B5EF4-FFF2-40B4-BE49-F238E27FC236}">
                <a16:creationId xmlns:a16="http://schemas.microsoft.com/office/drawing/2014/main" id="{E79C5D29-69EE-4F75-AF7B-85BD7E16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16">
            <a:extLst xmlns:a="http://schemas.openxmlformats.org/drawingml/2006/main">
              <a:ext uri="{FF2B5EF4-FFF2-40B4-BE49-F238E27FC236}">
                <a16:creationId xmlns:a16="http://schemas.microsoft.com/office/drawing/2014/main" id="{AC5084AC-9557-4752-A233-BE3D6E7C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228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46A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BE291D4-785A-460C-80E2-A708F807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REQUIRED TASK SPEC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36B2BFA-86C2-4003-AD29-F575123D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在呼叫 agent 前，先寫一份兩分鐘能讀懂的 task spec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ECFE43B-CEE3-403F-B43B-33BBBBF2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16/34</a:t>
            </a:r>
          </a:p>
        </p:txBody>
      </p:sp>
      <p:sp>
        <p:nvSpPr>
          <p:cNvPr id="8" name="spec-field-0">
            <a:extLst xmlns:a="http://schemas.openxmlformats.org/drawingml/2006/main">
              <a:ext uri="{FF2B5EF4-FFF2-40B4-BE49-F238E27FC236}">
                <a16:creationId xmlns:a16="http://schemas.microsoft.com/office/drawing/2014/main" id="{B87AAEFA-33AE-4B9F-99FA-131CF57E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3086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spec-field-head-0">
            <a:extLst xmlns:a="http://schemas.openxmlformats.org/drawingml/2006/main">
              <a:ext uri="{FF2B5EF4-FFF2-40B4-BE49-F238E27FC236}">
                <a16:creationId xmlns:a16="http://schemas.microsoft.com/office/drawing/2014/main" id="{3B8D7CDE-DBD6-4297-94F1-8AF23E24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52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0" name="spec-field-copy-0">
            <a:extLst xmlns:a="http://schemas.openxmlformats.org/drawingml/2006/main">
              <a:ext uri="{FF2B5EF4-FFF2-40B4-BE49-F238E27FC236}">
                <a16:creationId xmlns:a16="http://schemas.microsoft.com/office/drawing/2014/main" id="{59A3F0FA-8213-4869-9FAC-40023EEF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問題與不做什麼</a:t>
            </a:r>
          </a:p>
        </p:txBody>
      </p:sp>
      <p:sp>
        <p:nvSpPr>
          <p:cNvPr id="11" name="spec-field-1">
            <a:extLst xmlns:a="http://schemas.openxmlformats.org/drawingml/2006/main">
              <a:ext uri="{FF2B5EF4-FFF2-40B4-BE49-F238E27FC236}">
                <a16:creationId xmlns:a16="http://schemas.microsoft.com/office/drawing/2014/main" id="{EED2737E-CACF-489B-9196-0C5ABA5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4050"/>
            <a:ext cx="3086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2" name="spec-field-head-1">
            <a:extLst xmlns:a="http://schemas.openxmlformats.org/drawingml/2006/main">
              <a:ext uri="{FF2B5EF4-FFF2-40B4-BE49-F238E27FC236}">
                <a16:creationId xmlns:a16="http://schemas.microsoft.com/office/drawing/2014/main" id="{CAFB7FB3-6EAF-4E76-80CD-A35497F2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2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pec-field-copy-1">
            <a:extLst xmlns:a="http://schemas.openxmlformats.org/drawingml/2006/main">
              <a:ext uri="{FF2B5EF4-FFF2-40B4-BE49-F238E27FC236}">
                <a16:creationId xmlns:a16="http://schemas.microsoft.com/office/drawing/2014/main" id="{36ADC44C-B991-43B4-B625-6C158CD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8122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檔案、欄位、允許來源</a:t>
            </a:r>
          </a:p>
        </p:txBody>
      </p:sp>
      <p:sp>
        <p:nvSpPr>
          <p:cNvPr id="14" name="spec-field-2">
            <a:extLst xmlns:a="http://schemas.openxmlformats.org/drawingml/2006/main">
              <a:ext uri="{FF2B5EF4-FFF2-40B4-BE49-F238E27FC236}">
                <a16:creationId xmlns:a16="http://schemas.microsoft.com/office/drawing/2014/main" id="{E2545EC4-C41A-4BD2-9B43-F0794914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086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5" name="spec-field-head-2">
            <a:extLst xmlns:a="http://schemas.openxmlformats.org/drawingml/2006/main">
              <a:ext uri="{FF2B5EF4-FFF2-40B4-BE49-F238E27FC236}">
                <a16:creationId xmlns:a16="http://schemas.microsoft.com/office/drawing/2014/main" id="{6EDC76D8-78E4-4361-8377-704A1F07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6" name="spec-field-copy-2">
            <a:extLst xmlns:a="http://schemas.openxmlformats.org/drawingml/2006/main">
              <a:ext uri="{FF2B5EF4-FFF2-40B4-BE49-F238E27FC236}">
                <a16:creationId xmlns:a16="http://schemas.microsoft.com/office/drawing/2014/main" id="{3A7B495A-76FD-4409-A660-95A33A01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8122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schema、格式、sample row</a:t>
            </a:r>
          </a:p>
        </p:txBody>
      </p:sp>
      <p:sp>
        <p:nvSpPr>
          <p:cNvPr id="17" name="spec-field-3">
            <a:extLst xmlns:a="http://schemas.openxmlformats.org/drawingml/2006/main">
              <a:ext uri="{FF2B5EF4-FFF2-40B4-BE49-F238E27FC236}">
                <a16:creationId xmlns:a16="http://schemas.microsoft.com/office/drawing/2014/main" id="{85E902CA-0889-4DCC-8B1F-1205C118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86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8" name="spec-field-head-3">
            <a:extLst xmlns:a="http://schemas.openxmlformats.org/drawingml/2006/main">
              <a:ext uri="{FF2B5EF4-FFF2-40B4-BE49-F238E27FC236}">
                <a16:creationId xmlns:a16="http://schemas.microsoft.com/office/drawing/2014/main" id="{9BDA2116-0D09-4546-A912-D68210AD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19" name="spec-field-copy-3">
            <a:extLst xmlns:a="http://schemas.openxmlformats.org/drawingml/2006/main">
              <a:ext uri="{FF2B5EF4-FFF2-40B4-BE49-F238E27FC236}">
                <a16:creationId xmlns:a16="http://schemas.microsoft.com/office/drawing/2014/main" id="{1688E708-2FA3-4893-BD72-B344DEFF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4332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引用、找不到、人工審查</a:t>
            </a:r>
          </a:p>
        </p:txBody>
      </p:sp>
      <p:sp>
        <p:nvSpPr>
          <p:cNvPr id="20" name="spec-field-4">
            <a:extLst xmlns:a="http://schemas.openxmlformats.org/drawingml/2006/main">
              <a:ext uri="{FF2B5EF4-FFF2-40B4-BE49-F238E27FC236}">
                <a16:creationId xmlns:a16="http://schemas.microsoft.com/office/drawing/2014/main" id="{4048E12F-B427-4B80-B1EA-20658099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3086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21" name="spec-field-head-4">
            <a:extLst xmlns:a="http://schemas.openxmlformats.org/drawingml/2006/main">
              <a:ext uri="{FF2B5EF4-FFF2-40B4-BE49-F238E27FC236}">
                <a16:creationId xmlns:a16="http://schemas.microsoft.com/office/drawing/2014/main" id="{1FCA6211-402A-4290-BC5D-F33C83E4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14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2" name="spec-field-copy-4">
            <a:extLst xmlns:a="http://schemas.openxmlformats.org/drawingml/2006/main">
              <a:ext uri="{FF2B5EF4-FFF2-40B4-BE49-F238E27FC236}">
                <a16:creationId xmlns:a16="http://schemas.microsoft.com/office/drawing/2014/main" id="{2BE3D90E-12F9-4D98-AD14-DA19B077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4332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驗收標準與 eval cases</a:t>
            </a:r>
          </a:p>
        </p:txBody>
      </p:sp>
      <p:sp>
        <p:nvSpPr>
          <p:cNvPr id="23" name="spec-field-5">
            <a:extLst xmlns:a="http://schemas.openxmlformats.org/drawingml/2006/main">
              <a:ext uri="{FF2B5EF4-FFF2-40B4-BE49-F238E27FC236}">
                <a16:creationId xmlns:a16="http://schemas.microsoft.com/office/drawing/2014/main" id="{62BDE861-A1E6-4EA9-BBBF-74EF5E90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086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8EE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</p:sp>
      <p:sp>
        <p:nvSpPr>
          <p:cNvPr id="24" name="spec-field-head-5">
            <a:extLst xmlns:a="http://schemas.openxmlformats.org/drawingml/2006/main">
              <a:ext uri="{FF2B5EF4-FFF2-40B4-BE49-F238E27FC236}">
                <a16:creationId xmlns:a16="http://schemas.microsoft.com/office/drawing/2014/main" id="{AEF16834-8D1B-442D-883A-E1B8A41E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14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25" name="spec-field-copy-5">
            <a:extLst xmlns:a="http://schemas.openxmlformats.org/drawingml/2006/main">
              <a:ext uri="{FF2B5EF4-FFF2-40B4-BE49-F238E27FC236}">
                <a16:creationId xmlns:a16="http://schemas.microsoft.com/office/drawing/2014/main" id="{75E8DB45-0796-44B6-B46E-E8986863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43325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何時停止、何時升級處理</a:t>
            </a:r>
          </a:p>
        </p:txBody>
      </p:sp>
      <p:sp>
        <p:nvSpPr>
          <p:cNvPr id="26" name="bottom">
            <a:extLst xmlns:a="http://schemas.openxmlformats.org/drawingml/2006/main">
              <a:ext uri="{FF2B5EF4-FFF2-40B4-BE49-F238E27FC236}">
                <a16:creationId xmlns:a16="http://schemas.microsoft.com/office/drawing/2014/main" id="{E6D56330-1729-49A9-B7D3-89A38631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721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Spec 的功能不是限制創意，而是讓錯誤可以被看見。</a:t>
            </a:r>
          </a:p>
        </p:txBody>
      </p:sp>
    </p:spTree>
    <p:extLst>
      <p:ext uri="{BB962C8B-B14F-4D97-AF65-F5344CB8AC3E}">
        <p14:creationId xmlns:p14="http://schemas.microsoft.com/office/powerpoint/2010/main" val="9752145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7">
            <a:extLst xmlns:a="http://schemas.openxmlformats.org/drawingml/2006/main">
              <a:ext uri="{FF2B5EF4-FFF2-40B4-BE49-F238E27FC236}">
                <a16:creationId xmlns:a16="http://schemas.microsoft.com/office/drawing/2014/main" id="{8BF4B7F9-AF9D-4373-97BD-6F13B158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17">
            <a:extLst xmlns:a="http://schemas.openxmlformats.org/drawingml/2006/main">
              <a:ext uri="{FF2B5EF4-FFF2-40B4-BE49-F238E27FC236}">
                <a16:creationId xmlns:a16="http://schemas.microsoft.com/office/drawing/2014/main" id="{FFDAF25E-64CB-46DC-BF98-AA7E36D9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3" name="progress-track-17">
            <a:extLst xmlns:a="http://schemas.openxmlformats.org/drawingml/2006/main">
              <a:ext uri="{FF2B5EF4-FFF2-40B4-BE49-F238E27FC236}">
                <a16:creationId xmlns:a16="http://schemas.microsoft.com/office/drawing/2014/main" id="{4928C1C4-8685-46D8-A8BA-91C4FE3A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17">
            <a:extLst xmlns:a="http://schemas.openxmlformats.org/drawingml/2006/main">
              <a:ext uri="{FF2B5EF4-FFF2-40B4-BE49-F238E27FC236}">
                <a16:creationId xmlns:a16="http://schemas.microsoft.com/office/drawing/2014/main" id="{5F54088F-E5C4-4E97-AFB9-8E9ECAD6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151C466-B975-408C-A382-142998A2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TASK SPEC EXAMPLE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15E7CC5-E724-49D4-B5CC-9D14ED22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把模糊需求改成可接受或拒絕的規格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7E17F55-C015-4707-87DA-A84A969B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17/34</a:t>
            </a:r>
          </a:p>
        </p:txBody>
      </p:sp>
      <p:sp>
        <p:nvSpPr>
          <p:cNvPr id="8" name="weak-spec">
            <a:extLst xmlns:a="http://schemas.openxmlformats.org/drawingml/2006/main">
              <a:ext uri="{FF2B5EF4-FFF2-40B4-BE49-F238E27FC236}">
                <a16:creationId xmlns:a16="http://schemas.microsoft.com/office/drawing/2014/main" id="{AF311E4C-6674-4D42-BB09-1D5EFBB5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47675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9" name="weak-spec-head">
            <a:extLst xmlns:a="http://schemas.openxmlformats.org/drawingml/2006/main">
              <a:ext uri="{FF2B5EF4-FFF2-40B4-BE49-F238E27FC236}">
                <a16:creationId xmlns:a16="http://schemas.microsoft.com/office/drawing/2014/main" id="{1BE891D7-F4EE-4B2E-A4D2-EB387C1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Too vague</a:t>
            </a:r>
          </a:p>
        </p:txBody>
      </p:sp>
      <p:sp>
        <p:nvSpPr>
          <p:cNvPr id="10" name="weak-spec-copy">
            <a:extLst xmlns:a="http://schemas.openxmlformats.org/drawingml/2006/main">
              <a:ext uri="{FF2B5EF4-FFF2-40B4-BE49-F238E27FC236}">
                <a16:creationId xmlns:a16="http://schemas.microsoft.com/office/drawing/2014/main" id="{A9DCE057-64A7-44FE-A3F5-E97E750C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676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「分析這些基因和肺癌的關係，整理成表格。」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沒有來源、欄位、not_found rule、review boundary。</a:t>
            </a:r>
          </a:p>
        </p:txBody>
      </p:sp>
      <p:sp>
        <p:nvSpPr>
          <p:cNvPr id="11" name="strong-spec">
            <a:extLst xmlns:a="http://schemas.openxmlformats.org/drawingml/2006/main">
              <a:ext uri="{FF2B5EF4-FFF2-40B4-BE49-F238E27FC236}">
                <a16:creationId xmlns:a16="http://schemas.microsoft.com/office/drawing/2014/main" id="{479E7D42-8130-46F0-B236-18341CD8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53721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2" name="strong-spec-head">
            <a:extLst xmlns:a="http://schemas.openxmlformats.org/drawingml/2006/main">
              <a:ext uri="{FF2B5EF4-FFF2-40B4-BE49-F238E27FC236}">
                <a16:creationId xmlns:a16="http://schemas.microsoft.com/office/drawing/2014/main" id="{E4DF6BD8-2A96-4556-AB0A-28F8259D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Reviewable MVP</a:t>
            </a:r>
          </a:p>
        </p:txBody>
      </p:sp>
      <p:sp>
        <p:nvSpPr>
          <p:cNvPr id="13" name="strong-spec-copy">
            <a:extLst xmlns:a="http://schemas.openxmlformats.org/drawingml/2006/main">
              <a:ext uri="{FF2B5EF4-FFF2-40B4-BE49-F238E27FC236}">
                <a16:creationId xmlns:a16="http://schemas.microsoft.com/office/drawing/2014/main" id="{B60B7E71-47C5-4FB4-A524-8868BBE9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457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Input: EGFR, ALK, TP53 + NSCLC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Sources: PubMed records opened by the team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Output: CSV with PMID, study_type, sample_n, claim, status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Rules: one narrow claim per row; missing evidence = not_found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Check: verify 3 rows; all accepted rows need human review</a:t>
            </a:r>
          </a:p>
        </p:txBody>
      </p:sp>
    </p:spTree>
    <p:extLst>
      <p:ext uri="{BB962C8B-B14F-4D97-AF65-F5344CB8AC3E}">
        <p14:creationId xmlns:p14="http://schemas.microsoft.com/office/powerpoint/2010/main" val="3170489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8">
            <a:extLst xmlns:a="http://schemas.openxmlformats.org/drawingml/2006/main">
              <a:ext uri="{FF2B5EF4-FFF2-40B4-BE49-F238E27FC236}">
                <a16:creationId xmlns:a16="http://schemas.microsoft.com/office/drawing/2014/main" id="{5C3EACF7-E5A7-49F5-807F-48A27964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" name="section-18">
            <a:extLst xmlns:a="http://schemas.openxmlformats.org/drawingml/2006/main">
              <a:ext uri="{FF2B5EF4-FFF2-40B4-BE49-F238E27FC236}">
                <a16:creationId xmlns:a16="http://schemas.microsoft.com/office/drawing/2014/main" id="{6D7AF242-D930-4C8A-870A-F207DDD8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" name="progress-track-18">
            <a:extLst xmlns:a="http://schemas.openxmlformats.org/drawingml/2006/main">
              <a:ext uri="{FF2B5EF4-FFF2-40B4-BE49-F238E27FC236}">
                <a16:creationId xmlns:a16="http://schemas.microsoft.com/office/drawing/2014/main" id="{08AAA688-2AFD-4E65-B508-16DE6787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18">
            <a:extLst xmlns:a="http://schemas.openxmlformats.org/drawingml/2006/main">
              <a:ext uri="{FF2B5EF4-FFF2-40B4-BE49-F238E27FC236}">
                <a16:creationId xmlns:a16="http://schemas.microsoft.com/office/drawing/2014/main" id="{454BB7FE-E48F-48C1-89E3-F4E21529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3816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5A4A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6E7B1A74-B6DE-4B07-AF74-F5FC97DB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DATA AND SOURCE POLICY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E53A1C8-B132-4C57-A8B8-FD93D1E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資料越敏感，agent 的權限與你的責任就越高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D3DF23C-F4AE-47B9-8F14-7FC22AE8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18/34</a:t>
            </a:r>
          </a:p>
        </p:txBody>
      </p:sp>
      <p:sp>
        <p:nvSpPr>
          <p:cNvPr id="8" name="data-policy-0">
            <a:extLst xmlns:a="http://schemas.openxmlformats.org/drawingml/2006/main">
              <a:ext uri="{FF2B5EF4-FFF2-40B4-BE49-F238E27FC236}">
                <a16:creationId xmlns:a16="http://schemas.microsoft.com/office/drawing/2014/main" id="{32CC3676-22A4-4114-A3F8-54E1D187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9" name="data-policy-head-0">
            <a:extLst xmlns:a="http://schemas.openxmlformats.org/drawingml/2006/main">
              <a:ext uri="{FF2B5EF4-FFF2-40B4-BE49-F238E27FC236}">
                <a16:creationId xmlns:a16="http://schemas.microsoft.com/office/drawing/2014/main" id="{E8F94040-2860-453F-9C80-D211A302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622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10" name="data-policy-copy-0">
            <a:extLst xmlns:a="http://schemas.openxmlformats.org/drawingml/2006/main">
              <a:ext uri="{FF2B5EF4-FFF2-40B4-BE49-F238E27FC236}">
                <a16:creationId xmlns:a16="http://schemas.microsoft.com/office/drawing/2014/main" id="{C0CF0DBB-52BF-435C-B785-13F82562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公開、合法存取或去識別資料</a:t>
            </a:r>
          </a:p>
        </p:txBody>
      </p:sp>
      <p:sp>
        <p:nvSpPr>
          <p:cNvPr id="11" name="data-policy-action-0">
            <a:extLst xmlns:a="http://schemas.openxmlformats.org/drawingml/2006/main">
              <a:ext uri="{FF2B5EF4-FFF2-40B4-BE49-F238E27FC236}">
                <a16:creationId xmlns:a16="http://schemas.microsoft.com/office/drawing/2014/main" id="{0A2DFA80-C460-4766-8EC4-A36F5531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記錄來源與使用日期</a:t>
            </a:r>
          </a:p>
        </p:txBody>
      </p:sp>
      <p:sp>
        <p:nvSpPr>
          <p:cNvPr id="12" name="data-policy-1">
            <a:extLst xmlns:a="http://schemas.openxmlformats.org/drawingml/2006/main">
              <a:ext uri="{FF2B5EF4-FFF2-40B4-BE49-F238E27FC236}">
                <a16:creationId xmlns:a16="http://schemas.microsoft.com/office/drawing/2014/main" id="{8AC59079-F3E4-4E16-AE69-4D1CDB7B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3" name="data-policy-head-1">
            <a:extLst xmlns:a="http://schemas.openxmlformats.org/drawingml/2006/main">
              <a:ext uri="{FF2B5EF4-FFF2-40B4-BE49-F238E27FC236}">
                <a16:creationId xmlns:a16="http://schemas.microsoft.com/office/drawing/2014/main" id="{1144315D-D685-4FE8-8A55-9EC461C3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622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Do not use</a:t>
            </a:r>
          </a:p>
        </p:txBody>
      </p:sp>
      <p:sp>
        <p:nvSpPr>
          <p:cNvPr id="14" name="data-policy-copy-1">
            <a:extLst xmlns:a="http://schemas.openxmlformats.org/drawingml/2006/main">
              <a:ext uri="{FF2B5EF4-FFF2-40B4-BE49-F238E27FC236}">
                <a16:creationId xmlns:a16="http://schemas.microsoft.com/office/drawing/2014/main" id="{64C223D6-8701-4C62-A00D-1E9AE9F1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真實病歷、可識別資料、未授權資料</a:t>
            </a:r>
          </a:p>
        </p:txBody>
      </p:sp>
      <p:sp>
        <p:nvSpPr>
          <p:cNvPr id="15" name="data-policy-action-1">
            <a:extLst xmlns:a="http://schemas.openxmlformats.org/drawingml/2006/main">
              <a:ext uri="{FF2B5EF4-FFF2-40B4-BE49-F238E27FC236}">
                <a16:creationId xmlns:a16="http://schemas.microsoft.com/office/drawing/2014/main" id="{940B51AC-6802-45D6-991F-97959674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433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不要把敏感內容貼進 prompt</a:t>
            </a:r>
          </a:p>
        </p:txBody>
      </p:sp>
      <p:sp>
        <p:nvSpPr>
          <p:cNvPr id="16" name="data-policy-2">
            <a:extLst xmlns:a="http://schemas.openxmlformats.org/drawingml/2006/main">
              <a:ext uri="{FF2B5EF4-FFF2-40B4-BE49-F238E27FC236}">
                <a16:creationId xmlns:a16="http://schemas.microsoft.com/office/drawing/2014/main" id="{8CFA3A7F-C4A3-4D49-8D6F-EEC14D2E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32194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data-policy-head-2">
            <a:extLst xmlns:a="http://schemas.openxmlformats.org/drawingml/2006/main">
              <a:ext uri="{FF2B5EF4-FFF2-40B4-BE49-F238E27FC236}">
                <a16:creationId xmlns:a16="http://schemas.microsoft.com/office/drawing/2014/main" id="{8637D0AC-197B-4092-AC09-0D6A084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18" name="data-policy-copy-2">
            <a:extLst xmlns:a="http://schemas.openxmlformats.org/drawingml/2006/main">
              <a:ext uri="{FF2B5EF4-FFF2-40B4-BE49-F238E27FC236}">
                <a16:creationId xmlns:a16="http://schemas.microsoft.com/office/drawing/2014/main" id="{7EABC9AB-9112-450B-80EF-58C72DAB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來源 URL / ID、license、retrieval date</a:t>
            </a:r>
          </a:p>
        </p:txBody>
      </p:sp>
      <p:sp>
        <p:nvSpPr>
          <p:cNvPr id="19" name="data-policy-action-2">
            <a:extLst xmlns:a="http://schemas.openxmlformats.org/drawingml/2006/main">
              <a:ext uri="{FF2B5EF4-FFF2-40B4-BE49-F238E27FC236}">
                <a16:creationId xmlns:a16="http://schemas.microsoft.com/office/drawing/2014/main" id="{09D8E2BF-20EC-4032-B54E-505B9D58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433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不確定權限時先問助教</a:t>
            </a:r>
          </a:p>
        </p:txBody>
      </p:sp>
      <p:sp>
        <p:nvSpPr>
          <p:cNvPr id="20" name="bottom">
            <a:extLst xmlns:a="http://schemas.openxmlformats.org/drawingml/2006/main">
              <a:ext uri="{FF2B5EF4-FFF2-40B4-BE49-F238E27FC236}">
                <a16:creationId xmlns:a16="http://schemas.microsoft.com/office/drawing/2014/main" id="{A0C6A9E4-9644-4EAB-8CBE-AC8F0481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721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本課的 output 是研究與工程示範，不是個人化 clinical decision support。</a:t>
            </a:r>
          </a:p>
        </p:txBody>
      </p:sp>
    </p:spTree>
    <p:extLst>
      <p:ext uri="{BB962C8B-B14F-4D97-AF65-F5344CB8AC3E}">
        <p14:creationId xmlns:p14="http://schemas.microsoft.com/office/powerpoint/2010/main" val="8097615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19">
            <a:extLst xmlns:a="http://schemas.openxmlformats.org/drawingml/2006/main">
              <a:ext uri="{FF2B5EF4-FFF2-40B4-BE49-F238E27FC236}">
                <a16:creationId xmlns:a16="http://schemas.microsoft.com/office/drawing/2014/main" id="{AB3ECF05-2BF3-4D18-B237-D67BD372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A8"/>
          </a:solidFill>
          <a:ln xmlns:a="http://schemas.openxmlformats.org/drawingml/2006/main" w="0">
            <a:solidFill>
              <a:srgbClr val="3446A8"/>
            </a:solidFill>
            <a:prstDash val="solid"/>
          </a:ln>
        </p:spPr>
      </p:sp>
      <p:sp>
        <p:nvSpPr>
          <p:cNvPr id="2" name="section-19">
            <a:extLst xmlns:a="http://schemas.openxmlformats.org/drawingml/2006/main">
              <a:ext uri="{FF2B5EF4-FFF2-40B4-BE49-F238E27FC236}">
                <a16:creationId xmlns:a16="http://schemas.microsoft.com/office/drawing/2014/main" id="{1117804D-D048-48B5-8993-F1C91E19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" name="progress-track-19">
            <a:extLst xmlns:a="http://schemas.openxmlformats.org/drawingml/2006/main">
              <a:ext uri="{FF2B5EF4-FFF2-40B4-BE49-F238E27FC236}">
                <a16:creationId xmlns:a16="http://schemas.microsoft.com/office/drawing/2014/main" id="{F578F08C-5018-45AA-BD36-726E1978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19">
            <a:extLst xmlns:a="http://schemas.openxmlformats.org/drawingml/2006/main">
              <a:ext uri="{FF2B5EF4-FFF2-40B4-BE49-F238E27FC236}">
                <a16:creationId xmlns:a16="http://schemas.microsoft.com/office/drawing/2014/main" id="{6B85CBA0-91C2-4674-BDCF-46938FA0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4584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46A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98469B21-B33A-41EA-B529-ECCA69C3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ACTION POLICY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1873692-A5D2-4933-9337-81C02DE5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Read 與 summarize 可以自動；write 與 execute 必須有人負責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6BF5615-D777-4672-96FB-FDB468C1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19/34</a:t>
            </a:r>
          </a:p>
        </p:txBody>
      </p:sp>
      <p:sp>
        <p:nvSpPr>
          <p:cNvPr id="8" name="action-policy-0">
            <a:extLst xmlns:a="http://schemas.openxmlformats.org/drawingml/2006/main">
              <a:ext uri="{FF2B5EF4-FFF2-40B4-BE49-F238E27FC236}">
                <a16:creationId xmlns:a16="http://schemas.microsoft.com/office/drawing/2014/main" id="{E487F303-A48B-4375-8ECB-4CA88CAE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9" name="action-scope-0">
            <a:extLst xmlns:a="http://schemas.openxmlformats.org/drawingml/2006/main">
              <a:ext uri="{FF2B5EF4-FFF2-40B4-BE49-F238E27FC236}">
                <a16:creationId xmlns:a16="http://schemas.microsoft.com/office/drawing/2014/main" id="{C35D3B8B-A9D4-4758-A372-601884AA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讀取公開 record、檔案、schema</a:t>
            </a:r>
          </a:p>
        </p:txBody>
      </p:sp>
      <p:sp>
        <p:nvSpPr>
          <p:cNvPr id="10" name="action-rule-0">
            <a:extLst xmlns:a="http://schemas.openxmlformats.org/drawingml/2006/main">
              <a:ext uri="{FF2B5EF4-FFF2-40B4-BE49-F238E27FC236}">
                <a16:creationId xmlns:a16="http://schemas.microsoft.com/office/drawing/2014/main" id="{685E0C1A-4912-4B0A-B5D0-95C92197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85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可由 agent 協助；來源視為不可信 data</a:t>
            </a:r>
          </a:p>
        </p:txBody>
      </p:sp>
      <p:sp>
        <p:nvSpPr>
          <p:cNvPr id="11" name="action-policy-1">
            <a:extLst xmlns:a="http://schemas.openxmlformats.org/drawingml/2006/main">
              <a:ext uri="{FF2B5EF4-FFF2-40B4-BE49-F238E27FC236}">
                <a16:creationId xmlns:a16="http://schemas.microsoft.com/office/drawing/2014/main" id="{F2ECCCBE-1F65-4733-BE08-9765B959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Transform</a:t>
            </a:r>
          </a:p>
        </p:txBody>
      </p:sp>
      <p:sp>
        <p:nvSpPr>
          <p:cNvPr id="12" name="action-scope-1">
            <a:extLst xmlns:a="http://schemas.openxmlformats.org/drawingml/2006/main">
              <a:ext uri="{FF2B5EF4-FFF2-40B4-BE49-F238E27FC236}">
                <a16:creationId xmlns:a16="http://schemas.microsoft.com/office/drawing/2014/main" id="{871DBFC1-42A0-46CA-8426-33AC013C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摘要、正規化、產生 structured output</a:t>
            </a:r>
          </a:p>
        </p:txBody>
      </p:sp>
      <p:sp>
        <p:nvSpPr>
          <p:cNvPr id="13" name="action-rule-1">
            <a:extLst xmlns:a="http://schemas.openxmlformats.org/drawingml/2006/main">
              <a:ext uri="{FF2B5EF4-FFF2-40B4-BE49-F238E27FC236}">
                <a16:creationId xmlns:a16="http://schemas.microsoft.com/office/drawing/2014/main" id="{7BC73070-03AE-4F4E-B75F-3551DFC1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可由 agent 協助；輸出要標 review status</a:t>
            </a:r>
          </a:p>
        </p:txBody>
      </p:sp>
      <p:sp>
        <p:nvSpPr>
          <p:cNvPr id="14" name="action-policy-2">
            <a:extLst xmlns:a="http://schemas.openxmlformats.org/drawingml/2006/main">
              <a:ext uri="{FF2B5EF4-FFF2-40B4-BE49-F238E27FC236}">
                <a16:creationId xmlns:a16="http://schemas.microsoft.com/office/drawing/2014/main" id="{2DB3668E-13C0-4F30-A5C1-294DFA57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Write</a:t>
            </a:r>
          </a:p>
        </p:txBody>
      </p:sp>
      <p:sp>
        <p:nvSpPr>
          <p:cNvPr id="15" name="action-scope-2">
            <a:extLst xmlns:a="http://schemas.openxmlformats.org/drawingml/2006/main">
              <a:ext uri="{FF2B5EF4-FFF2-40B4-BE49-F238E27FC236}">
                <a16:creationId xmlns:a16="http://schemas.microsoft.com/office/drawing/2014/main" id="{61C95409-30C7-4C51-9C40-8C71E43C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62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修改 repo、建立檔案、覆寫內容</a:t>
            </a:r>
          </a:p>
        </p:txBody>
      </p:sp>
      <p:sp>
        <p:nvSpPr>
          <p:cNvPr id="16" name="action-rule-2">
            <a:extLst xmlns:a="http://schemas.openxmlformats.org/drawingml/2006/main">
              <a:ext uri="{FF2B5EF4-FFF2-40B4-BE49-F238E27FC236}">
                <a16:creationId xmlns:a16="http://schemas.microsoft.com/office/drawing/2014/main" id="{0F94476F-996F-40DB-93B7-0AD81683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先看 diff；不要覆蓋他人或未備份輸出</a:t>
            </a:r>
          </a:p>
        </p:txBody>
      </p:sp>
      <p:sp>
        <p:nvSpPr>
          <p:cNvPr id="17" name="action-policy-3">
            <a:extLst xmlns:a="http://schemas.openxmlformats.org/drawingml/2006/main">
              <a:ext uri="{FF2B5EF4-FFF2-40B4-BE49-F238E27FC236}">
                <a16:creationId xmlns:a16="http://schemas.microsoft.com/office/drawing/2014/main" id="{6E274EFE-8E37-4140-B654-8C0398BA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18" name="action-scope-3">
            <a:extLst xmlns:a="http://schemas.openxmlformats.org/drawingml/2006/main">
              <a:ext uri="{FF2B5EF4-FFF2-40B4-BE49-F238E27FC236}">
                <a16:creationId xmlns:a16="http://schemas.microsoft.com/office/drawing/2014/main" id="{BB72ED52-4E41-492C-BFE1-00D4C682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00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跑 script、外部 API、cloud / terminal action</a:t>
            </a:r>
          </a:p>
        </p:txBody>
      </p:sp>
      <p:sp>
        <p:nvSpPr>
          <p:cNvPr id="19" name="action-rule-3">
            <a:extLst xmlns:a="http://schemas.openxmlformats.org/drawingml/2006/main">
              <a:ext uri="{FF2B5EF4-FFF2-40B4-BE49-F238E27FC236}">
                <a16:creationId xmlns:a16="http://schemas.microsoft.com/office/drawing/2014/main" id="{E8E85E1C-7224-4DCC-919A-A07FE403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00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明確說明命令與影響，再取得同意</a:t>
            </a:r>
          </a:p>
        </p:txBody>
      </p:sp>
      <p:sp>
        <p:nvSpPr>
          <p:cNvPr id="20" name="bottom">
            <a:extLst xmlns:a="http://schemas.openxmlformats.org/drawingml/2006/main">
              <a:ext uri="{FF2B5EF4-FFF2-40B4-BE49-F238E27FC236}">
                <a16:creationId xmlns:a16="http://schemas.microsoft.com/office/drawing/2014/main" id="{19CF9549-10A6-4F88-9FFE-786572F7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72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外部網頁與 PDF 也可能包含 prompt injection；只把它們當資料，不當指令。</a:t>
            </a:r>
          </a:p>
        </p:txBody>
      </p:sp>
    </p:spTree>
    <p:extLst>
      <p:ext uri="{BB962C8B-B14F-4D97-AF65-F5344CB8AC3E}">
        <p14:creationId xmlns:p14="http://schemas.microsoft.com/office/powerpoint/2010/main" val="8123563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0">
            <a:extLst xmlns:a="http://schemas.openxmlformats.org/drawingml/2006/main">
              <a:ext uri="{FF2B5EF4-FFF2-40B4-BE49-F238E27FC236}">
                <a16:creationId xmlns:a16="http://schemas.microsoft.com/office/drawing/2014/main" id="{A041AD6F-5992-450A-B250-55E7C91E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20">
            <a:extLst xmlns:a="http://schemas.openxmlformats.org/drawingml/2006/main">
              <a:ext uri="{FF2B5EF4-FFF2-40B4-BE49-F238E27FC236}">
                <a16:creationId xmlns:a16="http://schemas.microsoft.com/office/drawing/2014/main" id="{3FED177A-AA5C-4AEA-9EEE-808FD203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" name="progress-track-20">
            <a:extLst xmlns:a="http://schemas.openxmlformats.org/drawingml/2006/main">
              <a:ext uri="{FF2B5EF4-FFF2-40B4-BE49-F238E27FC236}">
                <a16:creationId xmlns:a16="http://schemas.microsoft.com/office/drawing/2014/main" id="{D6710FBA-63A7-4015-B4D1-14D84023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0">
            <a:extLst xmlns:a="http://schemas.openxmlformats.org/drawingml/2006/main">
              <a:ext uri="{FF2B5EF4-FFF2-40B4-BE49-F238E27FC236}">
                <a16:creationId xmlns:a16="http://schemas.microsoft.com/office/drawing/2014/main" id="{EF785A70-84FB-4101-A009-7ECF16BD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5352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CC8BD2B5-1C1B-44A8-AC9C-8F21D98B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REQUIRED PROJECT FOLDER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DE28807-8FF5-49E4-A452-A15D54DE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讓老師與助教可以在兩分鐘內看懂你的專題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94EB542-6FC1-4C8A-9881-DC34990E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20/34</a:t>
            </a:r>
          </a:p>
        </p:txBody>
      </p:sp>
      <p:sp>
        <p:nvSpPr>
          <p:cNvPr id="8" name="folder-tree-bg">
            <a:extLst xmlns:a="http://schemas.openxmlformats.org/drawingml/2006/main">
              <a:ext uri="{FF2B5EF4-FFF2-40B4-BE49-F238E27FC236}">
                <a16:creationId xmlns:a16="http://schemas.microsoft.com/office/drawing/2014/main" id="{184D70E4-7CE9-4D1C-9803-291D697A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52006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3A4650"/>
            </a:solidFill>
            <a:prstDash val="solid"/>
          </a:ln>
        </p:spPr>
      </p:sp>
      <p:sp>
        <p:nvSpPr>
          <p:cNvPr id="9" name="folder-tree">
            <a:extLst xmlns:a="http://schemas.openxmlformats.org/drawingml/2006/main">
              <a:ext uri="{FF2B5EF4-FFF2-40B4-BE49-F238E27FC236}">
                <a16:creationId xmlns:a16="http://schemas.microsoft.com/office/drawing/2014/main" id="{71E56E90-662B-4010-B03B-18DA00AC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43100"/>
            <a:ext cx="485775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project/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project_spec.md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tool_inventory.md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task_spec.md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loop_design.md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harness_checklist.md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data/               # public inputs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logs/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run_log.md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agent_notes.md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outputs/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result.csv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  validation_report.md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3F7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3F7FA"/>
                </a:solidFill>
                <a:latin typeface="Menlo"/>
                <a:ea typeface="Menlo"/>
                <a:cs typeface="Menlo"/>
              </a:rPr>
              <a:t>  demo_notes.md</a:t>
            </a:r>
          </a:p>
        </p:txBody>
      </p:sp>
      <p:sp>
        <p:nvSpPr>
          <p:cNvPr id="10" name="folder-card-0">
            <a:extLst xmlns:a="http://schemas.openxmlformats.org/drawingml/2006/main">
              <a:ext uri="{FF2B5EF4-FFF2-40B4-BE49-F238E27FC236}">
                <a16:creationId xmlns:a16="http://schemas.microsoft.com/office/drawing/2014/main" id="{557E8F4F-2FA5-4366-84F2-F852181E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1943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1" name="folder-card-head-0">
            <a:extLst xmlns:a="http://schemas.openxmlformats.org/drawingml/2006/main">
              <a:ext uri="{FF2B5EF4-FFF2-40B4-BE49-F238E27FC236}">
                <a16:creationId xmlns:a16="http://schemas.microsoft.com/office/drawing/2014/main" id="{CA652CC5-23BE-4A5D-841A-E9C47EB2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Spec</a:t>
            </a:r>
          </a:p>
        </p:txBody>
      </p:sp>
      <p:sp>
        <p:nvSpPr>
          <p:cNvPr id="12" name="folder-card-copy-0">
            <a:extLst xmlns:a="http://schemas.openxmlformats.org/drawingml/2006/main">
              <a:ext uri="{FF2B5EF4-FFF2-40B4-BE49-F238E27FC236}">
                <a16:creationId xmlns:a16="http://schemas.microsoft.com/office/drawing/2014/main" id="{B4148608-056B-4824-BF98-684839C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問題、範圍與 input / output</a:t>
            </a:r>
          </a:p>
        </p:txBody>
      </p:sp>
      <p:sp>
        <p:nvSpPr>
          <p:cNvPr id="13" name="folder-card-1">
            <a:extLst xmlns:a="http://schemas.openxmlformats.org/drawingml/2006/main">
              <a:ext uri="{FF2B5EF4-FFF2-40B4-BE49-F238E27FC236}">
                <a16:creationId xmlns:a16="http://schemas.microsoft.com/office/drawing/2014/main" id="{4D541B96-C775-4292-B646-5E46324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66900"/>
            <a:ext cx="1943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4" name="folder-card-head-1">
            <a:extLst xmlns:a="http://schemas.openxmlformats.org/drawingml/2006/main">
              <a:ext uri="{FF2B5EF4-FFF2-40B4-BE49-F238E27FC236}">
                <a16:creationId xmlns:a16="http://schemas.microsoft.com/office/drawing/2014/main" id="{8DC7E33F-6F2C-4637-AA70-C0AAFA5B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76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5" name="folder-card-copy-1">
            <a:extLst xmlns:a="http://schemas.openxmlformats.org/drawingml/2006/main">
              <a:ext uri="{FF2B5EF4-FFF2-40B4-BE49-F238E27FC236}">
                <a16:creationId xmlns:a16="http://schemas.microsoft.com/office/drawing/2014/main" id="{878980AD-448C-41B5-8215-4220A1F4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工具、來源、log、版本</a:t>
            </a:r>
          </a:p>
        </p:txBody>
      </p:sp>
      <p:sp>
        <p:nvSpPr>
          <p:cNvPr id="16" name="folder-card-2">
            <a:extLst xmlns:a="http://schemas.openxmlformats.org/drawingml/2006/main">
              <a:ext uri="{FF2B5EF4-FFF2-40B4-BE49-F238E27FC236}">
                <a16:creationId xmlns:a16="http://schemas.microsoft.com/office/drawing/2014/main" id="{089085F8-24E5-476F-BD06-26A18357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1943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7" name="folder-card-head-2">
            <a:extLst xmlns:a="http://schemas.openxmlformats.org/drawingml/2006/main">
              <a:ext uri="{FF2B5EF4-FFF2-40B4-BE49-F238E27FC236}">
                <a16:creationId xmlns:a16="http://schemas.microsoft.com/office/drawing/2014/main" id="{F1D0AA2F-0D93-4FC8-BC21-49D23215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18" name="folder-card-copy-2">
            <a:extLst xmlns:a="http://schemas.openxmlformats.org/drawingml/2006/main">
              <a:ext uri="{FF2B5EF4-FFF2-40B4-BE49-F238E27FC236}">
                <a16:creationId xmlns:a16="http://schemas.microsoft.com/office/drawing/2014/main" id="{1CA66669-9B39-4CAA-A105-DFE29ECC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576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eval cases + schema + review</a:t>
            </a:r>
          </a:p>
        </p:txBody>
      </p:sp>
      <p:sp>
        <p:nvSpPr>
          <p:cNvPr id="19" name="folder-card-3">
            <a:extLst xmlns:a="http://schemas.openxmlformats.org/drawingml/2006/main">
              <a:ext uri="{FF2B5EF4-FFF2-40B4-BE49-F238E27FC236}">
                <a16:creationId xmlns:a16="http://schemas.microsoft.com/office/drawing/2014/main" id="{E017F4B7-DBA4-44FB-BD52-9918C731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1943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0" name="folder-card-head-3">
            <a:extLst xmlns:a="http://schemas.openxmlformats.org/drawingml/2006/main">
              <a:ext uri="{FF2B5EF4-FFF2-40B4-BE49-F238E27FC236}">
                <a16:creationId xmlns:a16="http://schemas.microsoft.com/office/drawing/2014/main" id="{8887FE54-2353-4253-9E18-9A22159F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21" name="folder-card-copy-3">
            <a:extLst xmlns:a="http://schemas.openxmlformats.org/drawingml/2006/main">
              <a:ext uri="{FF2B5EF4-FFF2-40B4-BE49-F238E27FC236}">
                <a16:creationId xmlns:a16="http://schemas.microsoft.com/office/drawing/2014/main" id="{DE39CF3F-E65B-4224-87BD-DEE1CBC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576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5 分鐘故事 + 限制</a:t>
            </a:r>
          </a:p>
        </p:txBody>
      </p:sp>
    </p:spTree>
    <p:extLst>
      <p:ext uri="{BB962C8B-B14F-4D97-AF65-F5344CB8AC3E}">
        <p14:creationId xmlns:p14="http://schemas.microsoft.com/office/powerpoint/2010/main" val="12273071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1">
            <a:extLst xmlns:a="http://schemas.openxmlformats.org/drawingml/2006/main">
              <a:ext uri="{FF2B5EF4-FFF2-40B4-BE49-F238E27FC236}">
                <a16:creationId xmlns:a16="http://schemas.microsoft.com/office/drawing/2014/main" id="{B88E0F75-C808-4502-914E-C88C5832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16"/>
          </a:solidFill>
          <a:ln xmlns:a="http://schemas.openxmlformats.org/drawingml/2006/main" w="0">
            <a:solidFill>
              <a:srgbClr val="D89A16"/>
            </a:solidFill>
            <a:prstDash val="solid"/>
          </a:ln>
        </p:spPr>
      </p:sp>
      <p:sp>
        <p:nvSpPr>
          <p:cNvPr id="2" name="section-21">
            <a:extLst xmlns:a="http://schemas.openxmlformats.org/drawingml/2006/main">
              <a:ext uri="{FF2B5EF4-FFF2-40B4-BE49-F238E27FC236}">
                <a16:creationId xmlns:a16="http://schemas.microsoft.com/office/drawing/2014/main" id="{D4825DC7-9E65-4074-840A-94C02F4D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" name="progress-track-21">
            <a:extLst xmlns:a="http://schemas.openxmlformats.org/drawingml/2006/main">
              <a:ext uri="{FF2B5EF4-FFF2-40B4-BE49-F238E27FC236}">
                <a16:creationId xmlns:a16="http://schemas.microsoft.com/office/drawing/2014/main" id="{795D5D44-AB20-48BC-BD1E-EFB1E263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1">
            <a:extLst xmlns:a="http://schemas.openxmlformats.org/drawingml/2006/main">
              <a:ext uri="{FF2B5EF4-FFF2-40B4-BE49-F238E27FC236}">
                <a16:creationId xmlns:a16="http://schemas.microsoft.com/office/drawing/2014/main" id="{22FE5B21-593F-4D8C-960B-DC49B17E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6119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9A16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06D2651-623E-4660-AA5D-50A336DB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OUTPUT SCHEMA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FC4DB09-E02F-4BE8-8E47-66F2BE81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任何題目都至少要回答：這筆輸出從哪裡來、現在可信嗎？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04B42B8-1CCE-408B-AC5B-696FF21D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21/34</a:t>
            </a:r>
          </a:p>
        </p:txBody>
      </p:sp>
      <p:sp>
        <p:nvSpPr>
          <p:cNvPr id="8" name="schema-head-0">
            <a:extLst xmlns:a="http://schemas.openxmlformats.org/drawingml/2006/main">
              <a:ext uri="{FF2B5EF4-FFF2-40B4-BE49-F238E27FC236}">
                <a16:creationId xmlns:a16="http://schemas.microsoft.com/office/drawing/2014/main" id="{113BC69B-9BD6-4E4F-88C4-B775631D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D89A16"/>
                </a:solidFill>
                <a:latin typeface="Menlo"/>
                <a:ea typeface="Menlo"/>
                <a:cs typeface="Menlo"/>
              </a:rPr>
              <a:t>input_id</a:t>
            </a:r>
          </a:p>
        </p:txBody>
      </p:sp>
      <p:sp>
        <p:nvSpPr>
          <p:cNvPr id="9" name="schema-head-1">
            <a:extLst xmlns:a="http://schemas.openxmlformats.org/drawingml/2006/main">
              <a:ext uri="{FF2B5EF4-FFF2-40B4-BE49-F238E27FC236}">
                <a16:creationId xmlns:a16="http://schemas.microsoft.com/office/drawing/2014/main" id="{6270E120-DED1-4C5A-8629-E71DE2AE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85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D89A16"/>
                </a:solidFill>
                <a:latin typeface="Menlo"/>
                <a:ea typeface="Menlo"/>
                <a:cs typeface="Menlo"/>
              </a:rPr>
              <a:t>source_id / URL</a:t>
            </a:r>
          </a:p>
        </p:txBody>
      </p:sp>
      <p:sp>
        <p:nvSpPr>
          <p:cNvPr id="10" name="schema-head-2">
            <a:extLst xmlns:a="http://schemas.openxmlformats.org/drawingml/2006/main">
              <a:ext uri="{FF2B5EF4-FFF2-40B4-BE49-F238E27FC236}">
                <a16:creationId xmlns:a16="http://schemas.microsoft.com/office/drawing/2014/main" id="{AE8C31A4-C1B5-4893-B3F2-74BC7711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859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D89A16"/>
                </a:solidFill>
                <a:latin typeface="Menlo"/>
                <a:ea typeface="Menlo"/>
                <a:cs typeface="Menlo"/>
              </a:rPr>
              <a:t>claim or field</a:t>
            </a:r>
          </a:p>
        </p:txBody>
      </p:sp>
      <p:sp>
        <p:nvSpPr>
          <p:cNvPr id="11" name="schema-head-3">
            <a:extLst xmlns:a="http://schemas.openxmlformats.org/drawingml/2006/main">
              <a:ext uri="{FF2B5EF4-FFF2-40B4-BE49-F238E27FC236}">
                <a16:creationId xmlns:a16="http://schemas.microsoft.com/office/drawing/2014/main" id="{D1FF9B73-454C-4285-A67A-D7643EEF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85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D89A16"/>
                </a:solidFill>
                <a:latin typeface="Menlo"/>
                <a:ea typeface="Menlo"/>
                <a:cs typeface="Menlo"/>
              </a:rPr>
              <a:t>status</a:t>
            </a:r>
          </a:p>
        </p:txBody>
      </p:sp>
      <p:sp>
        <p:nvSpPr>
          <p:cNvPr id="12" name="schema-head-4">
            <a:extLst xmlns:a="http://schemas.openxmlformats.org/drawingml/2006/main">
              <a:ext uri="{FF2B5EF4-FFF2-40B4-BE49-F238E27FC236}">
                <a16:creationId xmlns:a16="http://schemas.microsoft.com/office/drawing/2014/main" id="{345849E3-7127-41CA-B7B0-83862007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D89A16"/>
                </a:solidFill>
                <a:latin typeface="Menlo"/>
                <a:ea typeface="Menlo"/>
                <a:cs typeface="Menlo"/>
              </a:rPr>
              <a:t>review_note</a:t>
            </a:r>
          </a:p>
        </p:txBody>
      </p:sp>
      <p:sp>
        <p:nvSpPr>
          <p:cNvPr id="13" name="schema-row-0">
            <a:extLst xmlns:a="http://schemas.openxmlformats.org/drawingml/2006/main">
              <a:ext uri="{FF2B5EF4-FFF2-40B4-BE49-F238E27FC236}">
                <a16:creationId xmlns:a16="http://schemas.microsoft.com/office/drawing/2014/main" id="{89941613-C23F-4DDD-B80D-1FB4645F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0706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4" name="schema-cell-0-0">
            <a:extLst xmlns:a="http://schemas.openxmlformats.org/drawingml/2006/main">
              <a:ext uri="{FF2B5EF4-FFF2-40B4-BE49-F238E27FC236}">
                <a16:creationId xmlns:a16="http://schemas.microsoft.com/office/drawing/2014/main" id="{38AA20B8-0C3C-4E27-9925-4BC40CF5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</a:t>
            </a:r>
          </a:p>
        </p:txBody>
      </p:sp>
      <p:sp>
        <p:nvSpPr>
          <p:cNvPr id="15" name="schema-cell-0-1">
            <a:extLst xmlns:a="http://schemas.openxmlformats.org/drawingml/2006/main">
              <a:ext uri="{FF2B5EF4-FFF2-40B4-BE49-F238E27FC236}">
                <a16:creationId xmlns:a16="http://schemas.microsoft.com/office/drawing/2014/main" id="{4D030214-3AA9-4341-AC49-D77728B5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00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PMID: 29151359</a:t>
            </a:r>
          </a:p>
        </p:txBody>
      </p:sp>
      <p:sp>
        <p:nvSpPr>
          <p:cNvPr id="16" name="schema-cell-0-2">
            <a:extLst xmlns:a="http://schemas.openxmlformats.org/drawingml/2006/main">
              <a:ext uri="{FF2B5EF4-FFF2-40B4-BE49-F238E27FC236}">
                <a16:creationId xmlns:a16="http://schemas.microsoft.com/office/drawing/2014/main" id="{65049FBC-E4DC-47CD-BA17-7C93893F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osimertinib PFS claim</a:t>
            </a:r>
          </a:p>
        </p:txBody>
      </p:sp>
      <p:sp>
        <p:nvSpPr>
          <p:cNvPr id="17" name="schema-cell-0-3">
            <a:extLst xmlns:a="http://schemas.openxmlformats.org/drawingml/2006/main">
              <a:ext uri="{FF2B5EF4-FFF2-40B4-BE49-F238E27FC236}">
                <a16:creationId xmlns:a16="http://schemas.microsoft.com/office/drawing/2014/main" id="{036E7D3E-AF8A-485B-B1C4-3438F273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supported</a:t>
            </a:r>
          </a:p>
        </p:txBody>
      </p:sp>
      <p:sp>
        <p:nvSpPr>
          <p:cNvPr id="18" name="schema-cell-0-4">
            <a:extLst xmlns:a="http://schemas.openxmlformats.org/drawingml/2006/main">
              <a:ext uri="{FF2B5EF4-FFF2-40B4-BE49-F238E27FC236}">
                <a16:creationId xmlns:a16="http://schemas.microsoft.com/office/drawing/2014/main" id="{AD1689C1-997C-4B52-ACBE-9303E5E1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human review pending</a:t>
            </a:r>
          </a:p>
        </p:txBody>
      </p:sp>
      <p:sp>
        <p:nvSpPr>
          <p:cNvPr id="19" name="schema-row-1">
            <a:extLst xmlns:a="http://schemas.openxmlformats.org/drawingml/2006/main">
              <a:ext uri="{FF2B5EF4-FFF2-40B4-BE49-F238E27FC236}">
                <a16:creationId xmlns:a16="http://schemas.microsoft.com/office/drawing/2014/main" id="{9D601D76-3DC6-42F7-A29E-7B07AFB4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0706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0" name="schema-cell-1-0">
            <a:extLst xmlns:a="http://schemas.openxmlformats.org/drawingml/2006/main">
              <a:ext uri="{FF2B5EF4-FFF2-40B4-BE49-F238E27FC236}">
                <a16:creationId xmlns:a16="http://schemas.microsoft.com/office/drawing/2014/main" id="{D3A846BD-2877-4E94-A33D-BB3BA7A6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NCT01234567</a:t>
            </a:r>
          </a:p>
        </p:txBody>
      </p:sp>
      <p:sp>
        <p:nvSpPr>
          <p:cNvPr id="21" name="schema-cell-1-1">
            <a:extLst xmlns:a="http://schemas.openxmlformats.org/drawingml/2006/main">
              <a:ext uri="{FF2B5EF4-FFF2-40B4-BE49-F238E27FC236}">
                <a16:creationId xmlns:a16="http://schemas.microsoft.com/office/drawing/2014/main" id="{5CC224FE-4293-479F-BF91-35DDC658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67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ClinicalTrials.gov</a:t>
            </a:r>
          </a:p>
        </p:txBody>
      </p:sp>
      <p:sp>
        <p:nvSpPr>
          <p:cNvPr id="22" name="schema-cell-1-2">
            <a:extLst xmlns:a="http://schemas.openxmlformats.org/drawingml/2006/main">
              <a:ext uri="{FF2B5EF4-FFF2-40B4-BE49-F238E27FC236}">
                <a16:creationId xmlns:a16="http://schemas.microsoft.com/office/drawing/2014/main" id="{331CE5C2-DE66-40CE-B0F6-7F4F678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670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EGFR mutation criterion</a:t>
            </a:r>
          </a:p>
        </p:txBody>
      </p:sp>
      <p:sp>
        <p:nvSpPr>
          <p:cNvPr id="23" name="schema-cell-1-3">
            <a:extLst xmlns:a="http://schemas.openxmlformats.org/drawingml/2006/main">
              <a:ext uri="{FF2B5EF4-FFF2-40B4-BE49-F238E27FC236}">
                <a16:creationId xmlns:a16="http://schemas.microsoft.com/office/drawing/2014/main" id="{8094ADA7-CBCD-462D-8557-BCEA5F6E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needs_review</a:t>
            </a:r>
          </a:p>
        </p:txBody>
      </p:sp>
      <p:sp>
        <p:nvSpPr>
          <p:cNvPr id="24" name="schema-cell-1-4">
            <a:extLst xmlns:a="http://schemas.openxmlformats.org/drawingml/2006/main">
              <a:ext uri="{FF2B5EF4-FFF2-40B4-BE49-F238E27FC236}">
                <a16:creationId xmlns:a16="http://schemas.microsoft.com/office/drawing/2014/main" id="{07D0BBFB-FD5F-4B5F-9360-6EC88695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raw text retained</a:t>
            </a:r>
          </a:p>
        </p:txBody>
      </p:sp>
      <p:sp>
        <p:nvSpPr>
          <p:cNvPr id="25" name="schema-row-2">
            <a:extLst xmlns:a="http://schemas.openxmlformats.org/drawingml/2006/main">
              <a:ext uri="{FF2B5EF4-FFF2-40B4-BE49-F238E27FC236}">
                <a16:creationId xmlns:a16="http://schemas.microsoft.com/office/drawing/2014/main" id="{B99C2BF6-B2A3-4C1F-9B86-5DFC5F8C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706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6" name="schema-cell-2-0">
            <a:extLst xmlns:a="http://schemas.openxmlformats.org/drawingml/2006/main">
              <a:ext uri="{FF2B5EF4-FFF2-40B4-BE49-F238E27FC236}">
                <a16:creationId xmlns:a16="http://schemas.microsoft.com/office/drawing/2014/main" id="{64AB9ED8-8985-45EB-8668-9870EB4A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GSEXXXXX</a:t>
            </a:r>
          </a:p>
        </p:txBody>
      </p:sp>
      <p:sp>
        <p:nvSpPr>
          <p:cNvPr id="27" name="schema-cell-2-1">
            <a:extLst xmlns:a="http://schemas.openxmlformats.org/drawingml/2006/main">
              <a:ext uri="{FF2B5EF4-FFF2-40B4-BE49-F238E27FC236}">
                <a16:creationId xmlns:a16="http://schemas.microsoft.com/office/drawing/2014/main" id="{6F863215-37A6-45BD-97E8-25866EC6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33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GEO series record</a:t>
            </a:r>
          </a:p>
        </p:txBody>
      </p:sp>
      <p:sp>
        <p:nvSpPr>
          <p:cNvPr id="28" name="schema-cell-2-2">
            <a:extLst xmlns:a="http://schemas.openxmlformats.org/drawingml/2006/main">
              <a:ext uri="{FF2B5EF4-FFF2-40B4-BE49-F238E27FC236}">
                <a16:creationId xmlns:a16="http://schemas.microsoft.com/office/drawing/2014/main" id="{972F602C-E38E-46FE-B364-62ACCDFE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338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bulk RNA-seq metadata</a:t>
            </a:r>
          </a:p>
        </p:txBody>
      </p:sp>
      <p:sp>
        <p:nvSpPr>
          <p:cNvPr id="29" name="schema-cell-2-3">
            <a:extLst xmlns:a="http://schemas.openxmlformats.org/drawingml/2006/main">
              <a:ext uri="{FF2B5EF4-FFF2-40B4-BE49-F238E27FC236}">
                <a16:creationId xmlns:a16="http://schemas.microsoft.com/office/drawing/2014/main" id="{FF6AB9CA-4219-4902-BF56-454B86C7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supported</a:t>
            </a:r>
          </a:p>
        </p:txBody>
      </p:sp>
      <p:sp>
        <p:nvSpPr>
          <p:cNvPr id="30" name="schema-cell-2-4">
            <a:extLst xmlns:a="http://schemas.openxmlformats.org/drawingml/2006/main">
              <a:ext uri="{FF2B5EF4-FFF2-40B4-BE49-F238E27FC236}">
                <a16:creationId xmlns:a16="http://schemas.microsoft.com/office/drawing/2014/main" id="{EEDC22C0-F345-4AB5-BDD7-8BEBF330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assay field checked</a:t>
            </a:r>
          </a:p>
        </p:txBody>
      </p:sp>
      <p:sp>
        <p:nvSpPr>
          <p:cNvPr id="31" name="schema-row-3">
            <a:extLst xmlns:a="http://schemas.openxmlformats.org/drawingml/2006/main">
              <a:ext uri="{FF2B5EF4-FFF2-40B4-BE49-F238E27FC236}">
                <a16:creationId xmlns:a16="http://schemas.microsoft.com/office/drawing/2014/main" id="{4B2F2FA5-8500-47E3-AF54-A71C1A9F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0706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32" name="schema-cell-3-0">
            <a:extLst xmlns:a="http://schemas.openxmlformats.org/drawingml/2006/main">
              <a:ext uri="{FF2B5EF4-FFF2-40B4-BE49-F238E27FC236}">
                <a16:creationId xmlns:a16="http://schemas.microsoft.com/office/drawing/2014/main" id="{E514B7CC-BAFC-4A75-8BE8-3E8DB044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TP53</a:t>
            </a:r>
          </a:p>
        </p:txBody>
      </p:sp>
      <p:sp>
        <p:nvSpPr>
          <p:cNvPr id="33" name="schema-cell-3-1">
            <a:extLst xmlns:a="http://schemas.openxmlformats.org/drawingml/2006/main">
              <a:ext uri="{FF2B5EF4-FFF2-40B4-BE49-F238E27FC236}">
                <a16:creationId xmlns:a16="http://schemas.microsoft.com/office/drawing/2014/main" id="{80C5884C-F179-4CD4-A118-F5E4D936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00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search log run 04</a:t>
            </a:r>
          </a:p>
        </p:txBody>
      </p:sp>
      <p:sp>
        <p:nvSpPr>
          <p:cNvPr id="34" name="schema-cell-3-2">
            <a:extLst xmlns:a="http://schemas.openxmlformats.org/drawingml/2006/main">
              <a:ext uri="{FF2B5EF4-FFF2-40B4-BE49-F238E27FC236}">
                <a16:creationId xmlns:a16="http://schemas.microsoft.com/office/drawing/2014/main" id="{AA37800A-AD68-4153-9726-FCE634B5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005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targeted outcome claim</a:t>
            </a:r>
          </a:p>
        </p:txBody>
      </p:sp>
      <p:sp>
        <p:nvSpPr>
          <p:cNvPr id="35" name="schema-cell-3-3">
            <a:extLst xmlns:a="http://schemas.openxmlformats.org/drawingml/2006/main">
              <a:ext uri="{FF2B5EF4-FFF2-40B4-BE49-F238E27FC236}">
                <a16:creationId xmlns:a16="http://schemas.microsoft.com/office/drawing/2014/main" id="{C64DFD20-201D-475D-9C76-D7B8B1EB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005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not_found</a:t>
            </a:r>
          </a:p>
        </p:txBody>
      </p:sp>
      <p:sp>
        <p:nvSpPr>
          <p:cNvPr id="36" name="schema-cell-3-4">
            <a:extLst xmlns:a="http://schemas.openxmlformats.org/drawingml/2006/main">
              <a:ext uri="{FF2B5EF4-FFF2-40B4-BE49-F238E27FC236}">
                <a16:creationId xmlns:a16="http://schemas.microsoft.com/office/drawing/2014/main" id="{3CCC3B82-2480-4E7D-93C9-2E12D88C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0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no exact source found</a:t>
            </a:r>
          </a:p>
        </p:txBody>
      </p:sp>
      <p:sp>
        <p:nvSpPr>
          <p:cNvPr id="37" name="bottom">
            <a:extLst xmlns:a="http://schemas.openxmlformats.org/drawingml/2006/main">
              <a:ext uri="{FF2B5EF4-FFF2-40B4-BE49-F238E27FC236}">
                <a16:creationId xmlns:a16="http://schemas.microsoft.com/office/drawing/2014/main" id="{F0B432DA-54E1-42F9-BA2A-AD514514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721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欄位可以因 track 調整；trace、status、review note 不能缺。</a:t>
            </a:r>
          </a:p>
        </p:txBody>
      </p:sp>
    </p:spTree>
    <p:extLst>
      <p:ext uri="{BB962C8B-B14F-4D97-AF65-F5344CB8AC3E}">
        <p14:creationId xmlns:p14="http://schemas.microsoft.com/office/powerpoint/2010/main" val="14073982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2">
            <a:extLst xmlns:a="http://schemas.openxmlformats.org/drawingml/2006/main">
              <a:ext uri="{FF2B5EF4-FFF2-40B4-BE49-F238E27FC236}">
                <a16:creationId xmlns:a16="http://schemas.microsoft.com/office/drawing/2014/main" id="{13A14AA7-3AC9-4263-8FE5-2BD8BDEE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" name="section-22">
            <a:extLst xmlns:a="http://schemas.openxmlformats.org/drawingml/2006/main">
              <a:ext uri="{FF2B5EF4-FFF2-40B4-BE49-F238E27FC236}">
                <a16:creationId xmlns:a16="http://schemas.microsoft.com/office/drawing/2014/main" id="{A68136F8-6C85-49DB-B1D9-A440F787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" name="progress-track-22">
            <a:extLst xmlns:a="http://schemas.openxmlformats.org/drawingml/2006/main">
              <a:ext uri="{FF2B5EF4-FFF2-40B4-BE49-F238E27FC236}">
                <a16:creationId xmlns:a16="http://schemas.microsoft.com/office/drawing/2014/main" id="{C22114B1-9897-42DA-A28C-0ADB7377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2">
            <a:extLst xmlns:a="http://schemas.openxmlformats.org/drawingml/2006/main">
              <a:ext uri="{FF2B5EF4-FFF2-40B4-BE49-F238E27FC236}">
                <a16:creationId xmlns:a16="http://schemas.microsoft.com/office/drawing/2014/main" id="{BC15FE4A-F036-4633-BC9C-F0707E39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6887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5A4A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B46D3454-63C1-47F6-9A38-6AC6E1C2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EVIDENCE AND NOT-FOUND RULE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3402F53-7575-40E9-9F0D-B13455E8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找不到是有效輸出；編造來源才是失敗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1130270-75DE-4906-A412-D7668BB7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22/34</a:t>
            </a:r>
          </a:p>
        </p:txBody>
      </p:sp>
      <p:sp>
        <p:nvSpPr>
          <p:cNvPr id="8" name="status-card-0">
            <a:extLst xmlns:a="http://schemas.openxmlformats.org/drawingml/2006/main">
              <a:ext uri="{FF2B5EF4-FFF2-40B4-BE49-F238E27FC236}">
                <a16:creationId xmlns:a16="http://schemas.microsoft.com/office/drawing/2014/main" id="{AFA9B1F6-F0FF-4440-B5CD-8A78E952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32194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9" name="status-name-0">
            <a:extLst xmlns:a="http://schemas.openxmlformats.org/drawingml/2006/main">
              <a:ext uri="{FF2B5EF4-FFF2-40B4-BE49-F238E27FC236}">
                <a16:creationId xmlns:a16="http://schemas.microsoft.com/office/drawing/2014/main" id="{1CC28BBB-3027-4AC1-9AEB-4DD9369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193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E8F88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0E8F88"/>
                </a:solidFill>
                <a:latin typeface="Menlo"/>
                <a:ea typeface="Menlo"/>
                <a:cs typeface="Menlo"/>
              </a:rPr>
              <a:t>supported</a:t>
            </a:r>
          </a:p>
        </p:txBody>
      </p:sp>
      <p:sp>
        <p:nvSpPr>
          <p:cNvPr id="10" name="status-meaning-0">
            <a:extLst xmlns:a="http://schemas.openxmlformats.org/drawingml/2006/main">
              <a:ext uri="{FF2B5EF4-FFF2-40B4-BE49-F238E27FC236}">
                <a16:creationId xmlns:a16="http://schemas.microsoft.com/office/drawing/2014/main" id="{4031A606-59A8-4421-89CA-BB5524A6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已開啟來源，來源支持 exact claim</a:t>
            </a:r>
          </a:p>
        </p:txBody>
      </p:sp>
      <p:sp>
        <p:nvSpPr>
          <p:cNvPr id="11" name="status-action-0">
            <a:extLst xmlns:a="http://schemas.openxmlformats.org/drawingml/2006/main">
              <a:ext uri="{FF2B5EF4-FFF2-40B4-BE49-F238E27FC236}">
                <a16:creationId xmlns:a16="http://schemas.microsoft.com/office/drawing/2014/main" id="{559E9B0B-DFE7-4B1F-91BC-DC86A23A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可進入 demo summary</a:t>
            </a:r>
          </a:p>
        </p:txBody>
      </p:sp>
      <p:sp>
        <p:nvSpPr>
          <p:cNvPr id="12" name="status-card-1">
            <a:extLst xmlns:a="http://schemas.openxmlformats.org/drawingml/2006/main">
              <a:ext uri="{FF2B5EF4-FFF2-40B4-BE49-F238E27FC236}">
                <a16:creationId xmlns:a16="http://schemas.microsoft.com/office/drawing/2014/main" id="{5E365A2D-42F4-4D21-86FC-E41E0D1B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32194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3" name="status-name-1">
            <a:extLst xmlns:a="http://schemas.openxmlformats.org/drawingml/2006/main">
              <a:ext uri="{FF2B5EF4-FFF2-40B4-BE49-F238E27FC236}">
                <a16:creationId xmlns:a16="http://schemas.microsoft.com/office/drawing/2014/main" id="{2ABBA922-CEBB-4162-8F20-804D9285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193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D89A16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D89A16"/>
                </a:solidFill>
                <a:latin typeface="Menlo"/>
                <a:ea typeface="Menlo"/>
                <a:cs typeface="Menlo"/>
              </a:rPr>
              <a:t>needs_review</a:t>
            </a:r>
          </a:p>
        </p:txBody>
      </p:sp>
      <p:sp>
        <p:nvSpPr>
          <p:cNvPr id="14" name="status-meaning-1">
            <a:extLst xmlns:a="http://schemas.openxmlformats.org/drawingml/2006/main">
              <a:ext uri="{FF2B5EF4-FFF2-40B4-BE49-F238E27FC236}">
                <a16:creationId xmlns:a16="http://schemas.microsoft.com/office/drawing/2014/main" id="{B29DB006-FA7E-4D8F-88F3-113CDD9D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813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來源存在，但 claim / denominator 尚未確認</a:t>
            </a:r>
          </a:p>
        </p:txBody>
      </p:sp>
      <p:sp>
        <p:nvSpPr>
          <p:cNvPr id="15" name="status-action-1">
            <a:extLst xmlns:a="http://schemas.openxmlformats.org/drawingml/2006/main">
              <a:ext uri="{FF2B5EF4-FFF2-40B4-BE49-F238E27FC236}">
                <a16:creationId xmlns:a16="http://schemas.microsoft.com/office/drawing/2014/main" id="{F3933D4F-68AF-457B-9401-879D8DDF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保留 row + 指定 reviewer</a:t>
            </a:r>
          </a:p>
        </p:txBody>
      </p:sp>
      <p:sp>
        <p:nvSpPr>
          <p:cNvPr id="16" name="status-card-2">
            <a:extLst xmlns:a="http://schemas.openxmlformats.org/drawingml/2006/main">
              <a:ext uri="{FF2B5EF4-FFF2-40B4-BE49-F238E27FC236}">
                <a16:creationId xmlns:a16="http://schemas.microsoft.com/office/drawing/2014/main" id="{AC366604-C60F-4768-A261-EBB5104B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32194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7" name="status-name-2">
            <a:extLst xmlns:a="http://schemas.openxmlformats.org/drawingml/2006/main">
              <a:ext uri="{FF2B5EF4-FFF2-40B4-BE49-F238E27FC236}">
                <a16:creationId xmlns:a16="http://schemas.microsoft.com/office/drawing/2014/main" id="{BF757840-280D-46E0-AF91-F82F50FD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193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C85A4A"/>
                </a:solidFill>
                <a:latin typeface="Menlo"/>
                <a:ea typeface="Menlo"/>
                <a:cs typeface="Menlo"/>
              </a:rPr>
              <a:t>not_found</a:t>
            </a:r>
          </a:p>
        </p:txBody>
      </p:sp>
      <p:sp>
        <p:nvSpPr>
          <p:cNvPr id="18" name="status-meaning-2">
            <a:extLst xmlns:a="http://schemas.openxmlformats.org/drawingml/2006/main">
              <a:ext uri="{FF2B5EF4-FFF2-40B4-BE49-F238E27FC236}">
                <a16:creationId xmlns:a16="http://schemas.microsoft.com/office/drawing/2014/main" id="{1C356CF1-F397-40B7-A698-86F2C670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813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已執行合理搜尋，仍沒有 exact source</a:t>
            </a:r>
          </a:p>
        </p:txBody>
      </p:sp>
      <p:sp>
        <p:nvSpPr>
          <p:cNvPr id="19" name="status-action-2">
            <a:extLst xmlns:a="http://schemas.openxmlformats.org/drawingml/2006/main">
              <a:ext uri="{FF2B5EF4-FFF2-40B4-BE49-F238E27FC236}">
                <a16:creationId xmlns:a16="http://schemas.microsoft.com/office/drawing/2014/main" id="{9884DABD-A41D-49A9-9E97-DDDD0D63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保留 query、日期、scope</a:t>
            </a:r>
          </a:p>
        </p:txBody>
      </p:sp>
      <p:sp>
        <p:nvSpPr>
          <p:cNvPr id="20" name="bottom">
            <a:extLst xmlns:a="http://schemas.openxmlformats.org/drawingml/2006/main">
              <a:ext uri="{FF2B5EF4-FFF2-40B4-BE49-F238E27FC236}">
                <a16:creationId xmlns:a16="http://schemas.microsoft.com/office/drawing/2014/main" id="{AD93736C-5605-4F84-B0FE-D30843E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721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任何 biological plausibility 都不能自動升級成 literature evidence。</a:t>
            </a:r>
          </a:p>
        </p:txBody>
      </p:sp>
    </p:spTree>
    <p:extLst>
      <p:ext uri="{BB962C8B-B14F-4D97-AF65-F5344CB8AC3E}">
        <p14:creationId xmlns:p14="http://schemas.microsoft.com/office/powerpoint/2010/main" val="689582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3">
            <a:extLst xmlns:a="http://schemas.openxmlformats.org/drawingml/2006/main">
              <a:ext uri="{FF2B5EF4-FFF2-40B4-BE49-F238E27FC236}">
                <a16:creationId xmlns:a16="http://schemas.microsoft.com/office/drawing/2014/main" id="{3FF0647E-56E1-4306-8CE2-09E29FF3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A0"/>
          </a:solidFill>
          <a:ln xmlns:a="http://schemas.openxmlformats.org/drawingml/2006/main" w="0">
            <a:solidFill>
              <a:srgbClr val="6B4AA0"/>
            </a:solidFill>
            <a:prstDash val="solid"/>
          </a:ln>
        </p:spPr>
      </p:sp>
      <p:sp>
        <p:nvSpPr>
          <p:cNvPr id="2" name="section-23">
            <a:extLst xmlns:a="http://schemas.openxmlformats.org/drawingml/2006/main">
              <a:ext uri="{FF2B5EF4-FFF2-40B4-BE49-F238E27FC236}">
                <a16:creationId xmlns:a16="http://schemas.microsoft.com/office/drawing/2014/main" id="{D8C79278-57BF-484D-A502-4D912A1C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" name="progress-track-23">
            <a:extLst xmlns:a="http://schemas.openxmlformats.org/drawingml/2006/main">
              <a:ext uri="{FF2B5EF4-FFF2-40B4-BE49-F238E27FC236}">
                <a16:creationId xmlns:a16="http://schemas.microsoft.com/office/drawing/2014/main" id="{D9A2ED48-9DDE-4DFA-A17F-A11C6398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3">
            <a:extLst xmlns:a="http://schemas.openxmlformats.org/drawingml/2006/main">
              <a:ext uri="{FF2B5EF4-FFF2-40B4-BE49-F238E27FC236}">
                <a16:creationId xmlns:a16="http://schemas.microsoft.com/office/drawing/2014/main" id="{34041196-45D9-4DC6-98C1-2815B643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7654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B4AA0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427D10B-43A0-4087-A6A4-7D3267B3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HARNESS AND EVAL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C8510B2-EFFF-4AC1-87C7-6D416E64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每組至少要準備三個 case，證明 workflow 不只會在順利時運作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97EB76C-96FB-499A-9014-8F3459CB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23/34</a:t>
            </a:r>
          </a:p>
        </p:txBody>
      </p:sp>
      <p:sp>
        <p:nvSpPr>
          <p:cNvPr id="8" name="eval-case-0">
            <a:extLst xmlns:a="http://schemas.openxmlformats.org/drawingml/2006/main">
              <a:ext uri="{FF2B5EF4-FFF2-40B4-BE49-F238E27FC236}">
                <a16:creationId xmlns:a16="http://schemas.microsoft.com/office/drawing/2014/main" id="{FFB72489-CA2A-4410-B278-D46575BD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32194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9" name="eval-head-0">
            <a:extLst xmlns:a="http://schemas.openxmlformats.org/drawingml/2006/main">
              <a:ext uri="{FF2B5EF4-FFF2-40B4-BE49-F238E27FC236}">
                <a16:creationId xmlns:a16="http://schemas.microsoft.com/office/drawing/2014/main" id="{4BB320DD-D7F5-497B-AEA6-7A216224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Normal</a:t>
            </a:r>
          </a:p>
        </p:txBody>
      </p:sp>
      <p:sp>
        <p:nvSpPr>
          <p:cNvPr id="10" name="eval-scenario-0">
            <a:extLst xmlns:a="http://schemas.openxmlformats.org/drawingml/2006/main">
              <a:ext uri="{FF2B5EF4-FFF2-40B4-BE49-F238E27FC236}">
                <a16:creationId xmlns:a16="http://schemas.microsoft.com/office/drawing/2014/main" id="{9BB6B00B-AFB9-41E4-9917-E334D9E6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輸入符合預期，產出 schema-valid 結果</a:t>
            </a:r>
          </a:p>
        </p:txBody>
      </p:sp>
      <p:sp>
        <p:nvSpPr>
          <p:cNvPr id="11" name="eval-check-0">
            <a:extLst xmlns:a="http://schemas.openxmlformats.org/drawingml/2006/main">
              <a:ext uri="{FF2B5EF4-FFF2-40B4-BE49-F238E27FC236}">
                <a16:creationId xmlns:a16="http://schemas.microsoft.com/office/drawing/2014/main" id="{3760DC23-221C-483D-8D6E-E0C896DB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check: required fields + source trace</a:t>
            </a:r>
          </a:p>
        </p:txBody>
      </p:sp>
      <p:sp>
        <p:nvSpPr>
          <p:cNvPr id="12" name="eval-case-1">
            <a:extLst xmlns:a="http://schemas.openxmlformats.org/drawingml/2006/main">
              <a:ext uri="{FF2B5EF4-FFF2-40B4-BE49-F238E27FC236}">
                <a16:creationId xmlns:a16="http://schemas.microsoft.com/office/drawing/2014/main" id="{D7D7C3B8-6C28-4B13-8C98-E1E1E62C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00250"/>
            <a:ext cx="32194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3" name="eval-head-1">
            <a:extLst xmlns:a="http://schemas.openxmlformats.org/drawingml/2006/main">
              <a:ext uri="{FF2B5EF4-FFF2-40B4-BE49-F238E27FC236}">
                <a16:creationId xmlns:a16="http://schemas.microsoft.com/office/drawing/2014/main" id="{D176F29F-18DE-4B28-AEA7-370683FC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050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Not found</a:t>
            </a:r>
          </a:p>
        </p:txBody>
      </p:sp>
      <p:sp>
        <p:nvSpPr>
          <p:cNvPr id="14" name="eval-scenario-1">
            <a:extLst xmlns:a="http://schemas.openxmlformats.org/drawingml/2006/main">
              <a:ext uri="{FF2B5EF4-FFF2-40B4-BE49-F238E27FC236}">
                <a16:creationId xmlns:a16="http://schemas.microsoft.com/office/drawing/2014/main" id="{FBEF6EE8-B3C5-4953-80B7-E03FE4A9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來源或必要欄位找不到</a:t>
            </a:r>
          </a:p>
        </p:txBody>
      </p:sp>
      <p:sp>
        <p:nvSpPr>
          <p:cNvPr id="15" name="eval-check-1">
            <a:extLst xmlns:a="http://schemas.openxmlformats.org/drawingml/2006/main">
              <a:ext uri="{FF2B5EF4-FFF2-40B4-BE49-F238E27FC236}">
                <a16:creationId xmlns:a16="http://schemas.microsoft.com/office/drawing/2014/main" id="{3802DF66-616D-45EA-85F2-3B1A506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38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check: status=not_found + reason preserved</a:t>
            </a:r>
          </a:p>
        </p:txBody>
      </p:sp>
      <p:sp>
        <p:nvSpPr>
          <p:cNvPr id="16" name="eval-case-2">
            <a:extLst xmlns:a="http://schemas.openxmlformats.org/drawingml/2006/main">
              <a:ext uri="{FF2B5EF4-FFF2-40B4-BE49-F238E27FC236}">
                <a16:creationId xmlns:a16="http://schemas.microsoft.com/office/drawing/2014/main" id="{F5F167B8-5B10-4005-8397-302CD7DA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32194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7" name="eval-head-2">
            <a:extLst xmlns:a="http://schemas.openxmlformats.org/drawingml/2006/main">
              <a:ext uri="{FF2B5EF4-FFF2-40B4-BE49-F238E27FC236}">
                <a16:creationId xmlns:a16="http://schemas.microsoft.com/office/drawing/2014/main" id="{68109F13-4158-40DB-903A-E26CAC83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Conflicting</a:t>
            </a:r>
          </a:p>
        </p:txBody>
      </p:sp>
      <p:sp>
        <p:nvSpPr>
          <p:cNvPr id="18" name="eval-scenario-2">
            <a:extLst xmlns:a="http://schemas.openxmlformats.org/drawingml/2006/main">
              <a:ext uri="{FF2B5EF4-FFF2-40B4-BE49-F238E27FC236}">
                <a16:creationId xmlns:a16="http://schemas.microsoft.com/office/drawing/2014/main" id="{774DAFF4-2728-4A73-8F1A-137043E5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兩個來源或輸入不一致</a:t>
            </a:r>
          </a:p>
        </p:txBody>
      </p:sp>
      <p:sp>
        <p:nvSpPr>
          <p:cNvPr id="19" name="eval-check-2">
            <a:extLst xmlns:a="http://schemas.openxmlformats.org/drawingml/2006/main">
              <a:ext uri="{FF2B5EF4-FFF2-40B4-BE49-F238E27FC236}">
                <a16:creationId xmlns:a16="http://schemas.microsoft.com/office/drawing/2014/main" id="{5D692288-A61F-492B-A8DC-A3356493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38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check: do not merge; escalate review</a:t>
            </a:r>
          </a:p>
        </p:txBody>
      </p:sp>
      <p:sp>
        <p:nvSpPr>
          <p:cNvPr id="20" name="bottom">
            <a:extLst xmlns:a="http://schemas.openxmlformats.org/drawingml/2006/main">
              <a:ext uri="{FF2B5EF4-FFF2-40B4-BE49-F238E27FC236}">
                <a16:creationId xmlns:a16="http://schemas.microsoft.com/office/drawing/2014/main" id="{C6805B09-B5B6-44DB-8FA6-B8641353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72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至少一個 case 必須告訴 agent 或人類：現在不該繼續。</a:t>
            </a:r>
          </a:p>
        </p:txBody>
      </p:sp>
    </p:spTree>
    <p:extLst>
      <p:ext uri="{BB962C8B-B14F-4D97-AF65-F5344CB8AC3E}">
        <p14:creationId xmlns:p14="http://schemas.microsoft.com/office/powerpoint/2010/main" val="10296675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4">
            <a:extLst xmlns:a="http://schemas.openxmlformats.org/drawingml/2006/main">
              <a:ext uri="{FF2B5EF4-FFF2-40B4-BE49-F238E27FC236}">
                <a16:creationId xmlns:a16="http://schemas.microsoft.com/office/drawing/2014/main" id="{3B007DB9-6186-4722-8410-999A8737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24">
            <a:extLst xmlns:a="http://schemas.openxmlformats.org/drawingml/2006/main">
              <a:ext uri="{FF2B5EF4-FFF2-40B4-BE49-F238E27FC236}">
                <a16:creationId xmlns:a16="http://schemas.microsoft.com/office/drawing/2014/main" id="{59B1A450-835A-4FB1-BEA5-409DC0A4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" name="progress-track-24">
            <a:extLst xmlns:a="http://schemas.openxmlformats.org/drawingml/2006/main">
              <a:ext uri="{FF2B5EF4-FFF2-40B4-BE49-F238E27FC236}">
                <a16:creationId xmlns:a16="http://schemas.microsoft.com/office/drawing/2014/main" id="{84851DCD-510A-46FF-BB4D-FC09F156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4">
            <a:extLst xmlns:a="http://schemas.openxmlformats.org/drawingml/2006/main">
              <a:ext uri="{FF2B5EF4-FFF2-40B4-BE49-F238E27FC236}">
                <a16:creationId xmlns:a16="http://schemas.microsoft.com/office/drawing/2014/main" id="{99C2AFF2-2C1D-47C1-B24E-260D42A2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8422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83957EA-C6E0-47BD-937B-408D8265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LOOP AND STOP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F444050-59B4-4AE4-AF1B-62BDC418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好的 agent workflow 要知道何時 revise，也要知道何時 stop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F497152-5DBD-4895-979F-E8B07A87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24/34</a:t>
            </a:r>
          </a:p>
        </p:txBody>
      </p:sp>
      <p:sp>
        <p:nvSpPr>
          <p:cNvPr id="8" name="loop-node-0">
            <a:extLst xmlns:a="http://schemas.openxmlformats.org/drawingml/2006/main">
              <a:ext uri="{FF2B5EF4-FFF2-40B4-BE49-F238E27FC236}">
                <a16:creationId xmlns:a16="http://schemas.microsoft.com/office/drawing/2014/main" id="{04E105F9-2036-427C-81DC-DA31E1C2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9" name="loop-copy-0">
            <a:extLst xmlns:a="http://schemas.openxmlformats.org/drawingml/2006/main">
              <a:ext uri="{FF2B5EF4-FFF2-40B4-BE49-F238E27FC236}">
                <a16:creationId xmlns:a16="http://schemas.microsoft.com/office/drawing/2014/main" id="{F0F9734C-9DF3-498B-89CC-0030D075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success criteria</a:t>
            </a:r>
          </a:p>
        </p:txBody>
      </p:sp>
      <p:sp>
        <p:nvSpPr>
          <p:cNvPr id="10" name="loop-line-1">
            <a:extLst xmlns:a="http://schemas.openxmlformats.org/drawingml/2006/main">
              <a:ext uri="{FF2B5EF4-FFF2-40B4-BE49-F238E27FC236}">
                <a16:creationId xmlns:a16="http://schemas.microsoft.com/office/drawing/2014/main" id="{94F077CB-431E-4AF2-B66E-0980F204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337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1" name="loop-node-1">
            <a:extLst xmlns:a="http://schemas.openxmlformats.org/drawingml/2006/main">
              <a:ext uri="{FF2B5EF4-FFF2-40B4-BE49-F238E27FC236}">
                <a16:creationId xmlns:a16="http://schemas.microsoft.com/office/drawing/2014/main" id="{B6AD1EEC-9D09-4DD2-98E4-79FFE70D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12" name="loop-copy-1">
            <a:extLst xmlns:a="http://schemas.openxmlformats.org/drawingml/2006/main">
              <a:ext uri="{FF2B5EF4-FFF2-40B4-BE49-F238E27FC236}">
                <a16:creationId xmlns:a16="http://schemas.microsoft.com/office/drawing/2014/main" id="{3191E365-241E-4E26-A4CF-F6D7A283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71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agent / tool</a:t>
            </a:r>
          </a:p>
        </p:txBody>
      </p:sp>
      <p:sp>
        <p:nvSpPr>
          <p:cNvPr id="13" name="loop-line-2">
            <a:extLst xmlns:a="http://schemas.openxmlformats.org/drawingml/2006/main">
              <a:ext uri="{FF2B5EF4-FFF2-40B4-BE49-F238E27FC236}">
                <a16:creationId xmlns:a16="http://schemas.microsoft.com/office/drawing/2014/main" id="{978CE7F2-4DB8-4AB6-B20E-9DFA918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4" name="loop-node-2">
            <a:extLst xmlns:a="http://schemas.openxmlformats.org/drawingml/2006/main">
              <a:ext uri="{FF2B5EF4-FFF2-40B4-BE49-F238E27FC236}">
                <a16:creationId xmlns:a16="http://schemas.microsoft.com/office/drawing/2014/main" id="{769750C0-C65C-4BA6-8B6E-36D2BE1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5" name="loop-copy-2">
            <a:extLst xmlns:a="http://schemas.openxmlformats.org/drawingml/2006/main">
              <a:ext uri="{FF2B5EF4-FFF2-40B4-BE49-F238E27FC236}">
                <a16:creationId xmlns:a16="http://schemas.microsoft.com/office/drawing/2014/main" id="{DDB6684B-9245-45E9-9E7D-01876293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file / source / log</a:t>
            </a:r>
          </a:p>
        </p:txBody>
      </p:sp>
      <p:sp>
        <p:nvSpPr>
          <p:cNvPr id="16" name="loop-line-3">
            <a:extLst xmlns:a="http://schemas.openxmlformats.org/drawingml/2006/main">
              <a:ext uri="{FF2B5EF4-FFF2-40B4-BE49-F238E27FC236}">
                <a16:creationId xmlns:a16="http://schemas.microsoft.com/office/drawing/2014/main" id="{501298EA-0E80-4C45-B5DF-9877B78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337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17" name="loop-node-3">
            <a:extLst xmlns:a="http://schemas.openxmlformats.org/drawingml/2006/main">
              <a:ext uri="{FF2B5EF4-FFF2-40B4-BE49-F238E27FC236}">
                <a16:creationId xmlns:a16="http://schemas.microsoft.com/office/drawing/2014/main" id="{67AA9556-F534-4B2D-A25F-10602C34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8" name="loop-copy-3">
            <a:extLst xmlns:a="http://schemas.openxmlformats.org/drawingml/2006/main">
              <a:ext uri="{FF2B5EF4-FFF2-40B4-BE49-F238E27FC236}">
                <a16:creationId xmlns:a16="http://schemas.microsoft.com/office/drawing/2014/main" id="{F812196C-AC22-4820-96A9-3B21E55C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schema / evidence</a:t>
            </a:r>
          </a:p>
        </p:txBody>
      </p:sp>
      <p:sp>
        <p:nvSpPr>
          <p:cNvPr id="19" name="loop-line-4">
            <a:extLst xmlns:a="http://schemas.openxmlformats.org/drawingml/2006/main">
              <a:ext uri="{FF2B5EF4-FFF2-40B4-BE49-F238E27FC236}">
                <a16:creationId xmlns:a16="http://schemas.microsoft.com/office/drawing/2014/main" id="{16292B6F-C07A-44A3-A15D-E27C1E85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337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20" name="loop-node-4">
            <a:extLst xmlns:a="http://schemas.openxmlformats.org/drawingml/2006/main">
              <a:ext uri="{FF2B5EF4-FFF2-40B4-BE49-F238E27FC236}">
                <a16:creationId xmlns:a16="http://schemas.microsoft.com/office/drawing/2014/main" id="{8DA1C100-52F2-431F-A7B3-A3476EBF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Revise</a:t>
            </a:r>
          </a:p>
        </p:txBody>
      </p:sp>
      <p:sp>
        <p:nvSpPr>
          <p:cNvPr id="21" name="loop-copy-4">
            <a:extLst xmlns:a="http://schemas.openxmlformats.org/drawingml/2006/main">
              <a:ext uri="{FF2B5EF4-FFF2-40B4-BE49-F238E27FC236}">
                <a16:creationId xmlns:a16="http://schemas.microsoft.com/office/drawing/2014/main" id="{B2067AA9-708C-488E-8E42-7B1BCF0D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query / prompt / patch</a:t>
            </a:r>
          </a:p>
        </p:txBody>
      </p:sp>
      <p:sp>
        <p:nvSpPr>
          <p:cNvPr id="22" name="loop-line-5">
            <a:extLst xmlns:a="http://schemas.openxmlformats.org/drawingml/2006/main">
              <a:ext uri="{FF2B5EF4-FFF2-40B4-BE49-F238E27FC236}">
                <a16:creationId xmlns:a16="http://schemas.microsoft.com/office/drawing/2014/main" id="{008DC4AB-93C7-4538-A25F-8812B7C2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DADD"/>
            </a:solidFill>
            <a:prstDash val="solid"/>
          </a:ln>
        </p:spPr>
      </p:sp>
      <p:sp>
        <p:nvSpPr>
          <p:cNvPr id="23" name="loop-node-5">
            <a:extLst xmlns:a="http://schemas.openxmlformats.org/drawingml/2006/main">
              <a:ext uri="{FF2B5EF4-FFF2-40B4-BE49-F238E27FC236}">
                <a16:creationId xmlns:a16="http://schemas.microsoft.com/office/drawing/2014/main" id="{156DA2CA-3DE2-4259-8CFA-F7715D3F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24" name="loop-copy-5">
            <a:extLst xmlns:a="http://schemas.openxmlformats.org/drawingml/2006/main">
              <a:ext uri="{FF2B5EF4-FFF2-40B4-BE49-F238E27FC236}">
                <a16:creationId xmlns:a16="http://schemas.microsoft.com/office/drawing/2014/main" id="{D5E3382A-D0CC-4EDA-8DB0-8C4C662B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71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accept / escalate</a:t>
            </a:r>
          </a:p>
        </p:txBody>
      </p:sp>
      <p:sp>
        <p:nvSpPr>
          <p:cNvPr id="25" name="stop-box">
            <a:extLst xmlns:a="http://schemas.openxmlformats.org/drawingml/2006/main">
              <a:ext uri="{FF2B5EF4-FFF2-40B4-BE49-F238E27FC236}">
                <a16:creationId xmlns:a16="http://schemas.microsoft.com/office/drawing/2014/main" id="{536EA1BC-06F1-426E-B0C3-659742B2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9700"/>
            <a:ext cx="8343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26" name="stop-copy">
            <a:extLst xmlns:a="http://schemas.openxmlformats.org/drawingml/2006/main">
              <a:ext uri="{FF2B5EF4-FFF2-40B4-BE49-F238E27FC236}">
                <a16:creationId xmlns:a16="http://schemas.microsoft.com/office/drawing/2014/main" id="{39E37026-336B-4779-BF0E-77509F3B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62575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Stop when acceptance criteria pass, evidence is insufficient, a tool fails repeatedly, or human review is required.</a:t>
            </a:r>
          </a:p>
        </p:txBody>
      </p:sp>
    </p:spTree>
    <p:extLst>
      <p:ext uri="{BB962C8B-B14F-4D97-AF65-F5344CB8AC3E}">
        <p14:creationId xmlns:p14="http://schemas.microsoft.com/office/powerpoint/2010/main" val="2944297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5">
            <a:extLst xmlns:a="http://schemas.openxmlformats.org/drawingml/2006/main">
              <a:ext uri="{FF2B5EF4-FFF2-40B4-BE49-F238E27FC236}">
                <a16:creationId xmlns:a16="http://schemas.microsoft.com/office/drawing/2014/main" id="{89DB6766-9EB6-4DFC-9731-791CA3EA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16"/>
          </a:solidFill>
          <a:ln xmlns:a="http://schemas.openxmlformats.org/drawingml/2006/main" w="0">
            <a:solidFill>
              <a:srgbClr val="D89A16"/>
            </a:solidFill>
            <a:prstDash val="solid"/>
          </a:ln>
        </p:spPr>
      </p:sp>
      <p:sp>
        <p:nvSpPr>
          <p:cNvPr id="2" name="section-25">
            <a:extLst xmlns:a="http://schemas.openxmlformats.org/drawingml/2006/main">
              <a:ext uri="{FF2B5EF4-FFF2-40B4-BE49-F238E27FC236}">
                <a16:creationId xmlns:a16="http://schemas.microsoft.com/office/drawing/2014/main" id="{5B324FFA-3A8C-4A53-A6C5-05D9FCCE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" name="progress-track-25">
            <a:extLst xmlns:a="http://schemas.openxmlformats.org/drawingml/2006/main">
              <a:ext uri="{FF2B5EF4-FFF2-40B4-BE49-F238E27FC236}">
                <a16:creationId xmlns:a16="http://schemas.microsoft.com/office/drawing/2014/main" id="{0CD4C664-650D-447D-AB86-59860788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5">
            <a:extLst xmlns:a="http://schemas.openxmlformats.org/drawingml/2006/main">
              <a:ext uri="{FF2B5EF4-FFF2-40B4-BE49-F238E27FC236}">
                <a16:creationId xmlns:a16="http://schemas.microsoft.com/office/drawing/2014/main" id="{7DE1608D-218C-4763-8190-4F6D8CFF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9190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9A16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CBA45793-2452-45D7-84B0-86E923E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MORNING CHECKPOINTS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624BF7B-FF29-45B4-A7B6-2A053EC3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上午 90 分鐘的目標：把下午風險先排掉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1CAB48C-DDE2-44CC-AD9C-756C34C5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25/34</a:t>
            </a:r>
          </a:p>
        </p:txBody>
      </p:sp>
      <p:sp>
        <p:nvSpPr>
          <p:cNvPr id="8" name="checkpoint-0">
            <a:extLst xmlns:a="http://schemas.openxmlformats.org/drawingml/2006/main">
              <a:ext uri="{FF2B5EF4-FFF2-40B4-BE49-F238E27FC236}">
                <a16:creationId xmlns:a16="http://schemas.microsoft.com/office/drawing/2014/main" id="{141FDC6B-4750-46EC-ADA5-00170988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32004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checkpoint-time-0">
            <a:extLst xmlns:a="http://schemas.openxmlformats.org/drawingml/2006/main">
              <a:ext uri="{FF2B5EF4-FFF2-40B4-BE49-F238E27FC236}">
                <a16:creationId xmlns:a16="http://schemas.microsoft.com/office/drawing/2014/main" id="{CED97F3A-167E-4EAF-856B-5D763EE6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10:35</a:t>
            </a:r>
          </a:p>
        </p:txBody>
      </p:sp>
      <p:sp>
        <p:nvSpPr>
          <p:cNvPr id="10" name="checkpoint-head-0">
            <a:extLst xmlns:a="http://schemas.openxmlformats.org/drawingml/2006/main">
              <a:ext uri="{FF2B5EF4-FFF2-40B4-BE49-F238E27FC236}">
                <a16:creationId xmlns:a16="http://schemas.microsoft.com/office/drawing/2014/main" id="{E7C96078-2493-4D73-ADC0-E2B2D0DB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Scope check</a:t>
            </a:r>
          </a:p>
        </p:txBody>
      </p:sp>
      <p:sp>
        <p:nvSpPr>
          <p:cNvPr id="11" name="checkpoint-question-0">
            <a:extLst xmlns:a="http://schemas.openxmlformats.org/drawingml/2006/main">
              <a:ext uri="{FF2B5EF4-FFF2-40B4-BE49-F238E27FC236}">
                <a16:creationId xmlns:a16="http://schemas.microsoft.com/office/drawing/2014/main" id="{B5296439-D436-414F-909C-6B4CFCC4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題目、資料、output 是否可在下午完成？</a:t>
            </a:r>
          </a:p>
        </p:txBody>
      </p:sp>
      <p:sp>
        <p:nvSpPr>
          <p:cNvPr id="12" name="checkpoint-deliverable-0">
            <a:extLst xmlns:a="http://schemas.openxmlformats.org/drawingml/2006/main">
              <a:ext uri="{FF2B5EF4-FFF2-40B4-BE49-F238E27FC236}">
                <a16:creationId xmlns:a16="http://schemas.microsoft.com/office/drawing/2014/main" id="{0A8E3BDC-8137-47AF-BE8A-77DBB1F2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提交：track + one-sentence MVP</a:t>
            </a:r>
          </a:p>
        </p:txBody>
      </p:sp>
      <p:sp>
        <p:nvSpPr>
          <p:cNvPr id="13" name="checkpoint-1">
            <a:extLst xmlns:a="http://schemas.openxmlformats.org/drawingml/2006/main">
              <a:ext uri="{FF2B5EF4-FFF2-40B4-BE49-F238E27FC236}">
                <a16:creationId xmlns:a16="http://schemas.microsoft.com/office/drawing/2014/main" id="{D925C225-57A6-4D61-8F2A-B7291F97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32004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4" name="checkpoint-time-1">
            <a:extLst xmlns:a="http://schemas.openxmlformats.org/drawingml/2006/main">
              <a:ext uri="{FF2B5EF4-FFF2-40B4-BE49-F238E27FC236}">
                <a16:creationId xmlns:a16="http://schemas.microsoft.com/office/drawing/2014/main" id="{61A17BB1-BBC5-4B2D-85F2-9B55FBB8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47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11:05</a:t>
            </a:r>
          </a:p>
        </p:txBody>
      </p:sp>
      <p:sp>
        <p:nvSpPr>
          <p:cNvPr id="15" name="checkpoint-head-1">
            <a:extLst xmlns:a="http://schemas.openxmlformats.org/drawingml/2006/main">
              <a:ext uri="{FF2B5EF4-FFF2-40B4-BE49-F238E27FC236}">
                <a16:creationId xmlns:a16="http://schemas.microsoft.com/office/drawing/2014/main" id="{822E88AA-30FC-4DCD-8C3F-E7487A3C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Spec check</a:t>
            </a:r>
          </a:p>
        </p:txBody>
      </p:sp>
      <p:sp>
        <p:nvSpPr>
          <p:cNvPr id="16" name="checkpoint-question-1">
            <a:extLst xmlns:a="http://schemas.openxmlformats.org/drawingml/2006/main">
              <a:ext uri="{FF2B5EF4-FFF2-40B4-BE49-F238E27FC236}">
                <a16:creationId xmlns:a16="http://schemas.microsoft.com/office/drawing/2014/main" id="{4B07E22D-00FA-4957-B11B-D5F62FE5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909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input、output、rules、驗收標準是否具體？</a:t>
            </a:r>
          </a:p>
        </p:txBody>
      </p:sp>
      <p:sp>
        <p:nvSpPr>
          <p:cNvPr id="17" name="checkpoint-deliverable-1">
            <a:extLst xmlns:a="http://schemas.openxmlformats.org/drawingml/2006/main">
              <a:ext uri="{FF2B5EF4-FFF2-40B4-BE49-F238E27FC236}">
                <a16:creationId xmlns:a16="http://schemas.microsoft.com/office/drawing/2014/main" id="{C9D68FF3-159A-4E94-B09C-360A662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481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提交：project_spec.md + task_spec.md</a:t>
            </a:r>
          </a:p>
        </p:txBody>
      </p:sp>
      <p:sp>
        <p:nvSpPr>
          <p:cNvPr id="18" name="checkpoint-2">
            <a:extLst xmlns:a="http://schemas.openxmlformats.org/drawingml/2006/main">
              <a:ext uri="{FF2B5EF4-FFF2-40B4-BE49-F238E27FC236}">
                <a16:creationId xmlns:a16="http://schemas.microsoft.com/office/drawing/2014/main" id="{246BCC0D-E1F8-45CB-9320-CC9FA9CE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62150"/>
            <a:ext cx="32004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9" name="checkpoint-time-2">
            <a:extLst xmlns:a="http://schemas.openxmlformats.org/drawingml/2006/main">
              <a:ext uri="{FF2B5EF4-FFF2-40B4-BE49-F238E27FC236}">
                <a16:creationId xmlns:a16="http://schemas.microsoft.com/office/drawing/2014/main" id="{503FF52B-6CA6-4C97-9740-AAF20DB5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11:35</a:t>
            </a:r>
          </a:p>
        </p:txBody>
      </p:sp>
      <p:sp>
        <p:nvSpPr>
          <p:cNvPr id="20" name="checkpoint-head-2">
            <a:extLst xmlns:a="http://schemas.openxmlformats.org/drawingml/2006/main">
              <a:ext uri="{FF2B5EF4-FFF2-40B4-BE49-F238E27FC236}">
                <a16:creationId xmlns:a16="http://schemas.microsoft.com/office/drawing/2014/main" id="{D124556E-B766-4CCA-8F9D-3283696A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Scaffold check</a:t>
            </a:r>
          </a:p>
        </p:txBody>
      </p:sp>
      <p:sp>
        <p:nvSpPr>
          <p:cNvPr id="21" name="checkpoint-question-2">
            <a:extLst xmlns:a="http://schemas.openxmlformats.org/drawingml/2006/main">
              <a:ext uri="{FF2B5EF4-FFF2-40B4-BE49-F238E27FC236}">
                <a16:creationId xmlns:a16="http://schemas.microsoft.com/office/drawing/2014/main" id="{00114750-AAD1-4EDC-A3F4-8F2B1E0E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folder、tool inventory、demo plan 是否就緒？</a:t>
            </a:r>
          </a:p>
        </p:txBody>
      </p:sp>
      <p:sp>
        <p:nvSpPr>
          <p:cNvPr id="22" name="checkpoint-deliverable-2">
            <a:extLst xmlns:a="http://schemas.openxmlformats.org/drawingml/2006/main">
              <a:ext uri="{FF2B5EF4-FFF2-40B4-BE49-F238E27FC236}">
                <a16:creationId xmlns:a16="http://schemas.microsoft.com/office/drawing/2014/main" id="{C96B27FE-4655-4BBB-AB53-5C49F1F8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提交：folder tree + demo plan</a:t>
            </a:r>
          </a:p>
        </p:txBody>
      </p:sp>
    </p:spTree>
    <p:extLst>
      <p:ext uri="{BB962C8B-B14F-4D97-AF65-F5344CB8AC3E}">
        <p14:creationId xmlns:p14="http://schemas.microsoft.com/office/powerpoint/2010/main" val="47303996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6">
            <a:extLst xmlns:a="http://schemas.openxmlformats.org/drawingml/2006/main">
              <a:ext uri="{FF2B5EF4-FFF2-40B4-BE49-F238E27FC236}">
                <a16:creationId xmlns:a16="http://schemas.microsoft.com/office/drawing/2014/main" id="{520C1C4C-5C88-4BD9-B662-0175E4F6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" name="section-26">
            <a:extLst xmlns:a="http://schemas.openxmlformats.org/drawingml/2006/main">
              <a:ext uri="{FF2B5EF4-FFF2-40B4-BE49-F238E27FC236}">
                <a16:creationId xmlns:a16="http://schemas.microsoft.com/office/drawing/2014/main" id="{0C223391-7420-4C5D-8728-CAE5BC2B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" name="progress-track-26">
            <a:extLst xmlns:a="http://schemas.openxmlformats.org/drawingml/2006/main">
              <a:ext uri="{FF2B5EF4-FFF2-40B4-BE49-F238E27FC236}">
                <a16:creationId xmlns:a16="http://schemas.microsoft.com/office/drawing/2014/main" id="{3BCDCE1B-89F4-4810-8BEF-380A3CC8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6">
            <a:extLst xmlns:a="http://schemas.openxmlformats.org/drawingml/2006/main">
              <a:ext uri="{FF2B5EF4-FFF2-40B4-BE49-F238E27FC236}">
                <a16:creationId xmlns:a16="http://schemas.microsoft.com/office/drawing/2014/main" id="{A9345953-9D44-423F-B81B-32B670C2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19957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5A4A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9D6E4E4-FD7A-4A6B-AB01-041E029B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AFTERNOON RUN OF SHOW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0F7042E-9EF6-4057-A377-33A6C058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下午的節奏：先做主路徑，再做檢查，最後才美化 demo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57A80AB-2963-4CC0-8A86-AD55EB12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26/34</a:t>
            </a:r>
          </a:p>
        </p:txBody>
      </p:sp>
      <p:sp>
        <p:nvSpPr>
          <p:cNvPr id="8" name="afternoon-node-0">
            <a:extLst xmlns:a="http://schemas.openxmlformats.org/drawingml/2006/main">
              <a:ext uri="{FF2B5EF4-FFF2-40B4-BE49-F238E27FC236}">
                <a16:creationId xmlns:a16="http://schemas.microsoft.com/office/drawing/2014/main" id="{2E17AE62-A457-4337-B818-4DAE7B7C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7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13:00</a:t>
            </a:r>
          </a:p>
        </p:txBody>
      </p:sp>
      <p:sp>
        <p:nvSpPr>
          <p:cNvPr id="9" name="afternoon-head-0">
            <a:extLst xmlns:a="http://schemas.openxmlformats.org/drawingml/2006/main">
              <a:ext uri="{FF2B5EF4-FFF2-40B4-BE49-F238E27FC236}">
                <a16:creationId xmlns:a16="http://schemas.microsoft.com/office/drawing/2014/main" id="{DEB76E37-E835-4CF9-ACFD-4AED49BE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Reconfirm MVP</a:t>
            </a:r>
          </a:p>
        </p:txBody>
      </p:sp>
      <p:sp>
        <p:nvSpPr>
          <p:cNvPr id="10" name="afternoon-copy-0">
            <a:extLst xmlns:a="http://schemas.openxmlformats.org/drawingml/2006/main">
              <a:ext uri="{FF2B5EF4-FFF2-40B4-BE49-F238E27FC236}">
                <a16:creationId xmlns:a16="http://schemas.microsoft.com/office/drawing/2014/main" id="{1926979B-F6F3-481C-880F-A7C1D8E3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重讀 spec；只做一條主路徑</a:t>
            </a:r>
          </a:p>
        </p:txBody>
      </p:sp>
      <p:sp>
        <p:nvSpPr>
          <p:cNvPr id="11" name="afternoon-line-1">
            <a:extLst xmlns:a="http://schemas.openxmlformats.org/drawingml/2006/main">
              <a:ext uri="{FF2B5EF4-FFF2-40B4-BE49-F238E27FC236}">
                <a16:creationId xmlns:a16="http://schemas.microsoft.com/office/drawing/2014/main" id="{FB0F64E2-0F6B-497B-BD45-EFF564F9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12" name="afternoon-node-1">
            <a:extLst xmlns:a="http://schemas.openxmlformats.org/drawingml/2006/main">
              <a:ext uri="{FF2B5EF4-FFF2-40B4-BE49-F238E27FC236}">
                <a16:creationId xmlns:a16="http://schemas.microsoft.com/office/drawing/2014/main" id="{AA0F70F9-040A-4A8D-857A-75CF4770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7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13:20</a:t>
            </a:r>
          </a:p>
        </p:txBody>
      </p:sp>
      <p:sp>
        <p:nvSpPr>
          <p:cNvPr id="13" name="afternoon-head-1">
            <a:extLst xmlns:a="http://schemas.openxmlformats.org/drawingml/2006/main">
              <a:ext uri="{FF2B5EF4-FFF2-40B4-BE49-F238E27FC236}">
                <a16:creationId xmlns:a16="http://schemas.microsoft.com/office/drawing/2014/main" id="{A9B75675-9FEB-493F-8DEB-5BE79115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4" name="afternoon-copy-1">
            <a:extLst xmlns:a="http://schemas.openxmlformats.org/drawingml/2006/main">
              <a:ext uri="{FF2B5EF4-FFF2-40B4-BE49-F238E27FC236}">
                <a16:creationId xmlns:a16="http://schemas.microsoft.com/office/drawing/2014/main" id="{B1894540-53A0-46E5-87F7-0A5394C5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62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agent + tool + structured output</a:t>
            </a:r>
          </a:p>
        </p:txBody>
      </p:sp>
      <p:sp>
        <p:nvSpPr>
          <p:cNvPr id="15" name="afternoon-line-2">
            <a:extLst xmlns:a="http://schemas.openxmlformats.org/drawingml/2006/main">
              <a:ext uri="{FF2B5EF4-FFF2-40B4-BE49-F238E27FC236}">
                <a16:creationId xmlns:a16="http://schemas.microsoft.com/office/drawing/2014/main" id="{8FCF86E4-D2FB-4386-A6F4-DFB0807B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909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16" name="afternoon-node-2">
            <a:extLst xmlns:a="http://schemas.openxmlformats.org/drawingml/2006/main">
              <a:ext uri="{FF2B5EF4-FFF2-40B4-BE49-F238E27FC236}">
                <a16:creationId xmlns:a16="http://schemas.microsoft.com/office/drawing/2014/main" id="{ADA8A204-6E23-4715-8658-8591B3A1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7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13:50</a:t>
            </a:r>
          </a:p>
        </p:txBody>
      </p:sp>
      <p:sp>
        <p:nvSpPr>
          <p:cNvPr id="17" name="afternoon-head-2">
            <a:extLst xmlns:a="http://schemas.openxmlformats.org/drawingml/2006/main">
              <a:ext uri="{FF2B5EF4-FFF2-40B4-BE49-F238E27FC236}">
                <a16:creationId xmlns:a16="http://schemas.microsoft.com/office/drawing/2014/main" id="{592F2065-9DC9-47F9-82CF-D831B780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8" name="afternoon-copy-2">
            <a:extLst xmlns:a="http://schemas.openxmlformats.org/drawingml/2006/main">
              <a:ext uri="{FF2B5EF4-FFF2-40B4-BE49-F238E27FC236}">
                <a16:creationId xmlns:a16="http://schemas.microsoft.com/office/drawing/2014/main" id="{55A4EC3F-13D9-41FB-8A33-67379231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62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run eval cases; inspect sources</a:t>
            </a:r>
          </a:p>
        </p:txBody>
      </p:sp>
      <p:sp>
        <p:nvSpPr>
          <p:cNvPr id="19" name="afternoon-line-3">
            <a:extLst xmlns:a="http://schemas.openxmlformats.org/drawingml/2006/main">
              <a:ext uri="{FF2B5EF4-FFF2-40B4-BE49-F238E27FC236}">
                <a16:creationId xmlns:a16="http://schemas.microsoft.com/office/drawing/2014/main" id="{44E0C88C-D51B-4D22-AE3B-8A45FD5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909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20" name="afternoon-node-3">
            <a:extLst xmlns:a="http://schemas.openxmlformats.org/drawingml/2006/main">
              <a:ext uri="{FF2B5EF4-FFF2-40B4-BE49-F238E27FC236}">
                <a16:creationId xmlns:a16="http://schemas.microsoft.com/office/drawing/2014/main" id="{C6E5F84F-BCD7-466C-AC30-A8B04D19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7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14:15–14:50</a:t>
            </a:r>
          </a:p>
        </p:txBody>
      </p:sp>
      <p:sp>
        <p:nvSpPr>
          <p:cNvPr id="21" name="afternoon-head-3">
            <a:extLst xmlns:a="http://schemas.openxmlformats.org/drawingml/2006/main">
              <a:ext uri="{FF2B5EF4-FFF2-40B4-BE49-F238E27FC236}">
                <a16:creationId xmlns:a16="http://schemas.microsoft.com/office/drawing/2014/main" id="{6C2D5E11-FB2E-43B6-8FC3-4C05D9EC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052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Rehearse + handoff</a:t>
            </a:r>
          </a:p>
        </p:txBody>
      </p:sp>
      <p:sp>
        <p:nvSpPr>
          <p:cNvPr id="22" name="afternoon-copy-3">
            <a:extLst xmlns:a="http://schemas.openxmlformats.org/drawingml/2006/main">
              <a:ext uri="{FF2B5EF4-FFF2-40B4-BE49-F238E27FC236}">
                <a16:creationId xmlns:a16="http://schemas.microsoft.com/office/drawing/2014/main" id="{423CE6DD-6B84-4884-B536-E2508E47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62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定稿、整理交付物、確認 demo</a:t>
            </a:r>
          </a:p>
        </p:txBody>
      </p:sp>
      <p:sp>
        <p:nvSpPr>
          <p:cNvPr id="23" name="afternoon-rule">
            <a:extLst xmlns:a="http://schemas.openxmlformats.org/drawingml/2006/main">
              <a:ext uri="{FF2B5EF4-FFF2-40B4-BE49-F238E27FC236}">
                <a16:creationId xmlns:a16="http://schemas.microsoft.com/office/drawing/2014/main" id="{A4EFAB85-706A-4804-A443-E3044758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53050"/>
            <a:ext cx="8801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24" name="afternoon-rule-copy">
            <a:extLst xmlns:a="http://schemas.openxmlformats.org/drawingml/2006/main">
              <a:ext uri="{FF2B5EF4-FFF2-40B4-BE49-F238E27FC236}">
                <a16:creationId xmlns:a16="http://schemas.microsoft.com/office/drawing/2014/main" id="{2DDD0BD8-022F-4E2B-84EC-DF46EBE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67350"/>
            <a:ext cx="830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14:15–14:50：定稿、整理桌面與交付物；14:50 準時 demo。</a:t>
            </a:r>
          </a:p>
        </p:txBody>
      </p:sp>
    </p:spTree>
    <p:extLst>
      <p:ext uri="{BB962C8B-B14F-4D97-AF65-F5344CB8AC3E}">
        <p14:creationId xmlns:p14="http://schemas.microsoft.com/office/powerpoint/2010/main" val="18847116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7">
            <a:extLst xmlns:a="http://schemas.openxmlformats.org/drawingml/2006/main">
              <a:ext uri="{FF2B5EF4-FFF2-40B4-BE49-F238E27FC236}">
                <a16:creationId xmlns:a16="http://schemas.microsoft.com/office/drawing/2014/main" id="{1178AD44-175A-4459-86B2-9F8B4F6B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A8"/>
          </a:solidFill>
          <a:ln xmlns:a="http://schemas.openxmlformats.org/drawingml/2006/main" w="0">
            <a:solidFill>
              <a:srgbClr val="3446A8"/>
            </a:solidFill>
            <a:prstDash val="solid"/>
          </a:ln>
        </p:spPr>
      </p:sp>
      <p:sp>
        <p:nvSpPr>
          <p:cNvPr id="2" name="section-27">
            <a:extLst xmlns:a="http://schemas.openxmlformats.org/drawingml/2006/main">
              <a:ext uri="{FF2B5EF4-FFF2-40B4-BE49-F238E27FC236}">
                <a16:creationId xmlns:a16="http://schemas.microsoft.com/office/drawing/2014/main" id="{E313D948-4F66-479F-B399-CF544628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" name="progress-track-27">
            <a:extLst xmlns:a="http://schemas.openxmlformats.org/drawingml/2006/main">
              <a:ext uri="{FF2B5EF4-FFF2-40B4-BE49-F238E27FC236}">
                <a16:creationId xmlns:a16="http://schemas.microsoft.com/office/drawing/2014/main" id="{7236AF9E-F8F9-4EC8-A42E-7BE690C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7">
            <a:extLst xmlns:a="http://schemas.openxmlformats.org/drawingml/2006/main">
              <a:ext uri="{FF2B5EF4-FFF2-40B4-BE49-F238E27FC236}">
                <a16:creationId xmlns:a16="http://schemas.microsoft.com/office/drawing/2014/main" id="{7995622B-237F-453C-953F-9604B826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0725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46A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9258525-AE97-425F-AC7E-0F3A896E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HOW TO ASK FOR HELP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D540EA7-2F6C-4FD9-8FE1-F80E9CBB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請助教協助時，先提供能讓人判斷的最小資訊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F2D2E31-1D5D-421A-999B-91BC3BF6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27/34</a:t>
            </a:r>
          </a:p>
        </p:txBody>
      </p:sp>
      <p:sp>
        <p:nvSpPr>
          <p:cNvPr id="8" name="help-head-0">
            <a:extLst xmlns:a="http://schemas.openxmlformats.org/drawingml/2006/main">
              <a:ext uri="{FF2B5EF4-FFF2-40B4-BE49-F238E27FC236}">
                <a16:creationId xmlns:a16="http://schemas.microsoft.com/office/drawing/2014/main" id="{6AC64B9A-6F0C-4BA6-81CB-0448554E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1. Goal</a:t>
            </a:r>
          </a:p>
        </p:txBody>
      </p:sp>
      <p:sp>
        <p:nvSpPr>
          <p:cNvPr id="9" name="help-copy-0">
            <a:extLst xmlns:a="http://schemas.openxmlformats.org/drawingml/2006/main">
              <a:ext uri="{FF2B5EF4-FFF2-40B4-BE49-F238E27FC236}">
                <a16:creationId xmlns:a16="http://schemas.microsoft.com/office/drawing/2014/main" id="{E5EC00A2-7DC9-4B50-ADB9-7046EFD3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430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我們正在完成哪一個 acceptance criterion？</a:t>
            </a:r>
          </a:p>
        </p:txBody>
      </p:sp>
      <p:sp>
        <p:nvSpPr>
          <p:cNvPr id="10" name="help-head-1">
            <a:extLst xmlns:a="http://schemas.openxmlformats.org/drawingml/2006/main">
              <a:ext uri="{FF2B5EF4-FFF2-40B4-BE49-F238E27FC236}">
                <a16:creationId xmlns:a16="http://schemas.microsoft.com/office/drawing/2014/main" id="{64955680-2013-48F9-AFF0-1BF34CAC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2. Evidence</a:t>
            </a:r>
          </a:p>
        </p:txBody>
      </p:sp>
      <p:sp>
        <p:nvSpPr>
          <p:cNvPr id="11" name="help-copy-1">
            <a:extLst xmlns:a="http://schemas.openxmlformats.org/drawingml/2006/main">
              <a:ext uri="{FF2B5EF4-FFF2-40B4-BE49-F238E27FC236}">
                <a16:creationId xmlns:a16="http://schemas.microsoft.com/office/drawing/2014/main" id="{61538D64-BE5F-4E38-8C90-F53D19F2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288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目前的 input、command、source 或 screenshot 是什麼？</a:t>
            </a:r>
          </a:p>
        </p:txBody>
      </p:sp>
      <p:sp>
        <p:nvSpPr>
          <p:cNvPr id="12" name="help-head-2">
            <a:extLst xmlns:a="http://schemas.openxmlformats.org/drawingml/2006/main">
              <a:ext uri="{FF2B5EF4-FFF2-40B4-BE49-F238E27FC236}">
                <a16:creationId xmlns:a16="http://schemas.microsoft.com/office/drawing/2014/main" id="{01AD5BAE-DBFD-464F-B2BB-C018BB9C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3. Expected</a:t>
            </a:r>
          </a:p>
        </p:txBody>
      </p:sp>
      <p:sp>
        <p:nvSpPr>
          <p:cNvPr id="13" name="help-copy-2">
            <a:extLst xmlns:a="http://schemas.openxmlformats.org/drawingml/2006/main">
              <a:ext uri="{FF2B5EF4-FFF2-40B4-BE49-F238E27FC236}">
                <a16:creationId xmlns:a16="http://schemas.microsoft.com/office/drawing/2014/main" id="{ED5DBF37-28BF-45BE-B59A-FD0D74BC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146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原本應該發生什麼？</a:t>
            </a:r>
          </a:p>
        </p:txBody>
      </p:sp>
      <p:sp>
        <p:nvSpPr>
          <p:cNvPr id="14" name="help-head-3">
            <a:extLst xmlns:a="http://schemas.openxmlformats.org/drawingml/2006/main">
              <a:ext uri="{FF2B5EF4-FFF2-40B4-BE49-F238E27FC236}">
                <a16:creationId xmlns:a16="http://schemas.microsoft.com/office/drawing/2014/main" id="{6A91C59D-27C6-45D7-9DF2-2CAD22B2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4. Observed</a:t>
            </a:r>
          </a:p>
        </p:txBody>
      </p:sp>
      <p:sp>
        <p:nvSpPr>
          <p:cNvPr id="15" name="help-copy-3">
            <a:extLst xmlns:a="http://schemas.openxmlformats.org/drawingml/2006/main">
              <a:ext uri="{FF2B5EF4-FFF2-40B4-BE49-F238E27FC236}">
                <a16:creationId xmlns:a16="http://schemas.microsoft.com/office/drawing/2014/main" id="{338A0132-EC92-4482-B0C8-A4FB542C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004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實際輸出、error 或不一致在哪裡？</a:t>
            </a:r>
          </a:p>
        </p:txBody>
      </p:sp>
      <p:sp>
        <p:nvSpPr>
          <p:cNvPr id="16" name="help-head-4">
            <a:extLst xmlns:a="http://schemas.openxmlformats.org/drawingml/2006/main">
              <a:ext uri="{FF2B5EF4-FFF2-40B4-BE49-F238E27FC236}">
                <a16:creationId xmlns:a16="http://schemas.microsoft.com/office/drawing/2014/main" id="{F4FC37C1-D554-4789-943D-59C4F7D4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619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7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5. Boundary</a:t>
            </a:r>
          </a:p>
        </p:txBody>
      </p:sp>
      <p:sp>
        <p:nvSpPr>
          <p:cNvPr id="17" name="help-copy-4">
            <a:extLst xmlns:a="http://schemas.openxmlformats.org/drawingml/2006/main">
              <a:ext uri="{FF2B5EF4-FFF2-40B4-BE49-F238E27FC236}">
                <a16:creationId xmlns:a16="http://schemas.microsoft.com/office/drawing/2014/main" id="{D27665FB-B752-4C11-A928-02121FCD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862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我們已經嘗試什麼？哪些 action 不應執行？</a:t>
            </a:r>
          </a:p>
        </p:txBody>
      </p:sp>
      <p:sp>
        <p:nvSpPr>
          <p:cNvPr id="18" name="help-callout">
            <a:extLst xmlns:a="http://schemas.openxmlformats.org/drawingml/2006/main">
              <a:ext uri="{FF2B5EF4-FFF2-40B4-BE49-F238E27FC236}">
                <a16:creationId xmlns:a16="http://schemas.microsoft.com/office/drawing/2014/main" id="{FC6486D6-D987-4F32-85F0-5184EFDC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9" name="help-callout-copy">
            <a:extLst xmlns:a="http://schemas.openxmlformats.org/drawingml/2006/main">
              <a:ext uri="{FF2B5EF4-FFF2-40B4-BE49-F238E27FC236}">
                <a16:creationId xmlns:a16="http://schemas.microsoft.com/office/drawing/2014/main" id="{3AA1E87F-69A2-4914-8BDE-0E028BBB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05450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「agent 壞掉了」不是可處理的 bug report。</a:t>
            </a:r>
          </a:p>
        </p:txBody>
      </p:sp>
    </p:spTree>
    <p:extLst>
      <p:ext uri="{BB962C8B-B14F-4D97-AF65-F5344CB8AC3E}">
        <p14:creationId xmlns:p14="http://schemas.microsoft.com/office/powerpoint/2010/main" val="136002572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8">
            <a:extLst xmlns:a="http://schemas.openxmlformats.org/drawingml/2006/main">
              <a:ext uri="{FF2B5EF4-FFF2-40B4-BE49-F238E27FC236}">
                <a16:creationId xmlns:a16="http://schemas.microsoft.com/office/drawing/2014/main" id="{3583290A-70B9-400B-808F-71958FCF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A0"/>
          </a:solidFill>
          <a:ln xmlns:a="http://schemas.openxmlformats.org/drawingml/2006/main" w="0">
            <a:solidFill>
              <a:srgbClr val="6B4AA0"/>
            </a:solidFill>
            <a:prstDash val="solid"/>
          </a:ln>
        </p:spPr>
      </p:sp>
      <p:sp>
        <p:nvSpPr>
          <p:cNvPr id="2" name="section-28">
            <a:extLst xmlns:a="http://schemas.openxmlformats.org/drawingml/2006/main">
              <a:ext uri="{FF2B5EF4-FFF2-40B4-BE49-F238E27FC236}">
                <a16:creationId xmlns:a16="http://schemas.microsoft.com/office/drawing/2014/main" id="{9C098206-D4B9-401B-AE20-B54AC7A0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" name="progress-track-28">
            <a:extLst xmlns:a="http://schemas.openxmlformats.org/drawingml/2006/main">
              <a:ext uri="{FF2B5EF4-FFF2-40B4-BE49-F238E27FC236}">
                <a16:creationId xmlns:a16="http://schemas.microsoft.com/office/drawing/2014/main" id="{E2605212-1F4E-4977-BC56-D0F06631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8">
            <a:extLst xmlns:a="http://schemas.openxmlformats.org/drawingml/2006/main">
              <a:ext uri="{FF2B5EF4-FFF2-40B4-BE49-F238E27FC236}">
                <a16:creationId xmlns:a16="http://schemas.microsoft.com/office/drawing/2014/main" id="{5D29878B-0A3B-4084-BAD8-4242F114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1492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B4AA0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A2BC57E-2F4F-4F0B-8E23-89F263A0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SCORING OVERVIEW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B42DCA5-D73E-40A7-A3F2-7B6B2091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總分 100 分，獎勵可驗證的 workflow，而不是功能堆疊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09AD243-D091-4ADF-B751-6E55325B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28/34</a:t>
            </a:r>
          </a:p>
        </p:txBody>
      </p:sp>
      <p:sp>
        <p:nvSpPr>
          <p:cNvPr id="8" name="score-bar-0">
            <a:extLst xmlns:a="http://schemas.openxmlformats.org/drawingml/2006/main">
              <a:ext uri="{FF2B5EF4-FFF2-40B4-BE49-F238E27FC236}">
                <a16:creationId xmlns:a16="http://schemas.microsoft.com/office/drawing/2014/main" id="{284CA6AE-FDBC-42A5-9923-BFD5B0E7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1943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A8"/>
          </a:solidFill>
          <a:ln xmlns:a="http://schemas.openxmlformats.org/drawingml/2006/main" w="0">
            <a:solidFill>
              <a:srgbClr val="3446A8"/>
            </a:solidFill>
            <a:prstDash val="solid"/>
          </a:ln>
        </p:spPr>
      </p:sp>
      <p:sp>
        <p:nvSpPr>
          <p:cNvPr id="9" name="score-points-0">
            <a:extLst xmlns:a="http://schemas.openxmlformats.org/drawingml/2006/main">
              <a:ext uri="{FF2B5EF4-FFF2-40B4-BE49-F238E27FC236}">
                <a16:creationId xmlns:a16="http://schemas.microsoft.com/office/drawing/2014/main" id="{B9133D51-7829-42DD-886B-42C012EE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score-label-0">
            <a:extLst xmlns:a="http://schemas.openxmlformats.org/drawingml/2006/main">
              <a:ext uri="{FF2B5EF4-FFF2-40B4-BE49-F238E27FC236}">
                <a16:creationId xmlns:a16="http://schemas.microsoft.com/office/drawing/2014/main" id="{64570519-3995-4975-BB3E-72378AA7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 framing</a:t>
            </a:r>
          </a:p>
        </p:txBody>
      </p:sp>
      <p:sp>
        <p:nvSpPr>
          <p:cNvPr id="11" name="score-bar-1">
            <a:extLst xmlns:a="http://schemas.openxmlformats.org/drawingml/2006/main">
              <a:ext uri="{FF2B5EF4-FFF2-40B4-BE49-F238E27FC236}">
                <a16:creationId xmlns:a16="http://schemas.microsoft.com/office/drawing/2014/main" id="{FDF118F6-BCDD-4E92-BDB8-7F5F151D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33650"/>
            <a:ext cx="2428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12" name="score-points-1">
            <a:extLst xmlns:a="http://schemas.openxmlformats.org/drawingml/2006/main">
              <a:ext uri="{FF2B5EF4-FFF2-40B4-BE49-F238E27FC236}">
                <a16:creationId xmlns:a16="http://schemas.microsoft.com/office/drawing/2014/main" id="{49D135A2-BFA2-4762-95BE-3300089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3" name="score-label-1">
            <a:extLst xmlns:a="http://schemas.openxmlformats.org/drawingml/2006/main">
              <a:ext uri="{FF2B5EF4-FFF2-40B4-BE49-F238E27FC236}">
                <a16:creationId xmlns:a16="http://schemas.microsoft.com/office/drawing/2014/main" id="{BC710F44-9846-41E4-8519-95C457D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+ traceability</a:t>
            </a:r>
          </a:p>
        </p:txBody>
      </p:sp>
      <p:sp>
        <p:nvSpPr>
          <p:cNvPr id="14" name="score-bar-2">
            <a:extLst xmlns:a="http://schemas.openxmlformats.org/drawingml/2006/main">
              <a:ext uri="{FF2B5EF4-FFF2-40B4-BE49-F238E27FC236}">
                <a16:creationId xmlns:a16="http://schemas.microsoft.com/office/drawing/2014/main" id="{5BDBA25C-CC76-42F1-95AF-26CC6466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33650"/>
            <a:ext cx="1943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16"/>
          </a:solidFill>
          <a:ln xmlns:a="http://schemas.openxmlformats.org/drawingml/2006/main" w="0">
            <a:solidFill>
              <a:srgbClr val="D89A16"/>
            </a:solidFill>
            <a:prstDash val="solid"/>
          </a:ln>
        </p:spPr>
      </p:sp>
      <p:sp>
        <p:nvSpPr>
          <p:cNvPr id="15" name="score-points-2">
            <a:extLst xmlns:a="http://schemas.openxmlformats.org/drawingml/2006/main">
              <a:ext uri="{FF2B5EF4-FFF2-40B4-BE49-F238E27FC236}">
                <a16:creationId xmlns:a16="http://schemas.microsoft.com/office/drawing/2014/main" id="{844E6614-EDDD-445B-AD2F-7B78015C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7241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6" name="score-label-2">
            <a:extLst xmlns:a="http://schemas.openxmlformats.org/drawingml/2006/main">
              <a:ext uri="{FF2B5EF4-FFF2-40B4-BE49-F238E27FC236}">
                <a16:creationId xmlns:a16="http://schemas.microsoft.com/office/drawing/2014/main" id="{6363285B-1AD7-49BB-B698-E8EA82C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575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Harness design</a:t>
            </a:r>
          </a:p>
        </p:txBody>
      </p:sp>
      <p:sp>
        <p:nvSpPr>
          <p:cNvPr id="17" name="score-bar-3">
            <a:extLst xmlns:a="http://schemas.openxmlformats.org/drawingml/2006/main">
              <a:ext uri="{FF2B5EF4-FFF2-40B4-BE49-F238E27FC236}">
                <a16:creationId xmlns:a16="http://schemas.microsoft.com/office/drawing/2014/main" id="{0ECC7813-E50C-4A4E-83FB-44C6132F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33650"/>
            <a:ext cx="1943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18" name="score-points-3">
            <a:extLst xmlns:a="http://schemas.openxmlformats.org/drawingml/2006/main">
              <a:ext uri="{FF2B5EF4-FFF2-40B4-BE49-F238E27FC236}">
                <a16:creationId xmlns:a16="http://schemas.microsoft.com/office/drawing/2014/main" id="{F8D5A547-B2FE-4CD3-A0D5-87BAC805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241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9" name="score-label-3">
            <a:extLst xmlns:a="http://schemas.openxmlformats.org/drawingml/2006/main">
              <a:ext uri="{FF2B5EF4-FFF2-40B4-BE49-F238E27FC236}">
                <a16:creationId xmlns:a16="http://schemas.microsoft.com/office/drawing/2014/main" id="{5760925A-FF14-4ECC-9937-55B11E39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575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Loop + safety</a:t>
            </a:r>
          </a:p>
        </p:txBody>
      </p:sp>
      <p:sp>
        <p:nvSpPr>
          <p:cNvPr id="20" name="score-bar-4">
            <a:extLst xmlns:a="http://schemas.openxmlformats.org/drawingml/2006/main">
              <a:ext uri="{FF2B5EF4-FFF2-40B4-BE49-F238E27FC236}">
                <a16:creationId xmlns:a16="http://schemas.microsoft.com/office/drawing/2014/main" id="{4032DD1F-4F22-4AE4-AD0F-9671D428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533650"/>
            <a:ext cx="14573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A0"/>
          </a:solidFill>
          <a:ln xmlns:a="http://schemas.openxmlformats.org/drawingml/2006/main" w="0">
            <a:solidFill>
              <a:srgbClr val="6B4AA0"/>
            </a:solidFill>
            <a:prstDash val="solid"/>
          </a:ln>
        </p:spPr>
      </p:sp>
      <p:sp>
        <p:nvSpPr>
          <p:cNvPr id="21" name="score-points-4">
            <a:extLst xmlns:a="http://schemas.openxmlformats.org/drawingml/2006/main">
              <a:ext uri="{FF2B5EF4-FFF2-40B4-BE49-F238E27FC236}">
                <a16:creationId xmlns:a16="http://schemas.microsoft.com/office/drawing/2014/main" id="{8AB517D0-5A86-4BA9-BD46-8E6A4B51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241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2" name="score-label-4">
            <a:extLst xmlns:a="http://schemas.openxmlformats.org/drawingml/2006/main">
              <a:ext uri="{FF2B5EF4-FFF2-40B4-BE49-F238E27FC236}">
                <a16:creationId xmlns:a16="http://schemas.microsoft.com/office/drawing/2014/main" id="{B164D601-325B-4450-B99C-D18A5DAC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5755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clarity</a:t>
            </a:r>
          </a:p>
        </p:txBody>
      </p:sp>
      <p:sp>
        <p:nvSpPr>
          <p:cNvPr id="23" name="score-detail-label-0">
            <a:extLst xmlns:a="http://schemas.openxmlformats.org/drawingml/2006/main">
              <a:ext uri="{FF2B5EF4-FFF2-40B4-BE49-F238E27FC236}">
                <a16:creationId xmlns:a16="http://schemas.microsoft.com/office/drawing/2014/main" id="{2A6C798B-A4DA-4667-A9AB-6D2E42D6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20  Problem framing</a:t>
            </a:r>
          </a:p>
        </p:txBody>
      </p:sp>
      <p:sp>
        <p:nvSpPr>
          <p:cNvPr id="24" name="score-detail-0">
            <a:extLst xmlns:a="http://schemas.openxmlformats.org/drawingml/2006/main">
              <a:ext uri="{FF2B5EF4-FFF2-40B4-BE49-F238E27FC236}">
                <a16:creationId xmlns:a16="http://schemas.microsoft.com/office/drawing/2014/main" id="{BBD637D9-AE39-4494-84AC-87A93F27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96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題目、scope、input/output 清楚</a:t>
            </a:r>
          </a:p>
        </p:txBody>
      </p:sp>
      <p:sp>
        <p:nvSpPr>
          <p:cNvPr id="25" name="score-detail-label-1">
            <a:extLst xmlns:a="http://schemas.openxmlformats.org/drawingml/2006/main">
              <a:ext uri="{FF2B5EF4-FFF2-40B4-BE49-F238E27FC236}">
                <a16:creationId xmlns:a16="http://schemas.microsoft.com/office/drawing/2014/main" id="{7284FA25-12B8-41D5-AE22-CAF6060E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25  Evidence + traceability</a:t>
            </a:r>
          </a:p>
        </p:txBody>
      </p:sp>
      <p:sp>
        <p:nvSpPr>
          <p:cNvPr id="26" name="score-detail-1">
            <a:extLst xmlns:a="http://schemas.openxmlformats.org/drawingml/2006/main">
              <a:ext uri="{FF2B5EF4-FFF2-40B4-BE49-F238E27FC236}">
                <a16:creationId xmlns:a16="http://schemas.microsoft.com/office/drawing/2014/main" id="{E06AD917-6881-4BCE-81C3-272F169D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來源可回查、not_found 不編造</a:t>
            </a:r>
          </a:p>
        </p:txBody>
      </p:sp>
      <p:sp>
        <p:nvSpPr>
          <p:cNvPr id="27" name="score-detail-label-2">
            <a:extLst xmlns:a="http://schemas.openxmlformats.org/drawingml/2006/main">
              <a:ext uri="{FF2B5EF4-FFF2-40B4-BE49-F238E27FC236}">
                <a16:creationId xmlns:a16="http://schemas.microsoft.com/office/drawing/2014/main" id="{1C3D5A71-92F2-484B-A56A-A65449DB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20  Harness design</a:t>
            </a:r>
          </a:p>
        </p:txBody>
      </p:sp>
      <p:sp>
        <p:nvSpPr>
          <p:cNvPr id="28" name="score-detail-2">
            <a:extLst xmlns:a="http://schemas.openxmlformats.org/drawingml/2006/main">
              <a:ext uri="{FF2B5EF4-FFF2-40B4-BE49-F238E27FC236}">
                <a16:creationId xmlns:a16="http://schemas.microsoft.com/office/drawing/2014/main" id="{39763F92-B16E-45A5-9A5A-477E0DC9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schema、eval cases、logs、failure policy</a:t>
            </a:r>
          </a:p>
        </p:txBody>
      </p:sp>
      <p:sp>
        <p:nvSpPr>
          <p:cNvPr id="29" name="score-detail-label-3">
            <a:extLst xmlns:a="http://schemas.openxmlformats.org/drawingml/2006/main">
              <a:ext uri="{FF2B5EF4-FFF2-40B4-BE49-F238E27FC236}">
                <a16:creationId xmlns:a16="http://schemas.microsoft.com/office/drawing/2014/main" id="{07CD9072-47F2-43D6-8248-EC88D4DF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20  Loop + safety</a:t>
            </a:r>
          </a:p>
        </p:txBody>
      </p:sp>
      <p:sp>
        <p:nvSpPr>
          <p:cNvPr id="30" name="score-detail-3">
            <a:extLst xmlns:a="http://schemas.openxmlformats.org/drawingml/2006/main">
              <a:ext uri="{FF2B5EF4-FFF2-40B4-BE49-F238E27FC236}">
                <a16:creationId xmlns:a16="http://schemas.microsoft.com/office/drawing/2014/main" id="{9F80B5BA-F56C-4EF6-B916-7097FCB9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checkpoints、stop conditions、human gate</a:t>
            </a:r>
          </a:p>
        </p:txBody>
      </p:sp>
      <p:sp>
        <p:nvSpPr>
          <p:cNvPr id="31" name="score-detail-label-4">
            <a:extLst xmlns:a="http://schemas.openxmlformats.org/drawingml/2006/main">
              <a:ext uri="{FF2B5EF4-FFF2-40B4-BE49-F238E27FC236}">
                <a16:creationId xmlns:a16="http://schemas.microsoft.com/office/drawing/2014/main" id="{25EFEE14-B5A1-43DF-A7F7-EFA68833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15  Demo clarity</a:t>
            </a:r>
          </a:p>
        </p:txBody>
      </p:sp>
      <p:sp>
        <p:nvSpPr>
          <p:cNvPr id="32" name="score-detail-4">
            <a:extLst xmlns:a="http://schemas.openxmlformats.org/drawingml/2006/main">
              <a:ext uri="{FF2B5EF4-FFF2-40B4-BE49-F238E27FC236}">
                <a16:creationId xmlns:a16="http://schemas.microsoft.com/office/drawing/2014/main" id="{5EDDF1E3-666E-42AE-B0C6-AE352C8C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864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五分鐘內讓人理解限制與價值</a:t>
            </a:r>
          </a:p>
        </p:txBody>
      </p:sp>
    </p:spTree>
    <p:extLst>
      <p:ext uri="{BB962C8B-B14F-4D97-AF65-F5344CB8AC3E}">
        <p14:creationId xmlns:p14="http://schemas.microsoft.com/office/powerpoint/2010/main" val="5161964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29">
            <a:extLst xmlns:a="http://schemas.openxmlformats.org/drawingml/2006/main">
              <a:ext uri="{FF2B5EF4-FFF2-40B4-BE49-F238E27FC236}">
                <a16:creationId xmlns:a16="http://schemas.microsoft.com/office/drawing/2014/main" id="{50C0EDD1-FB59-4053-AE3E-4FE82E49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29">
            <a:extLst xmlns:a="http://schemas.openxmlformats.org/drawingml/2006/main">
              <a:ext uri="{FF2B5EF4-FFF2-40B4-BE49-F238E27FC236}">
                <a16:creationId xmlns:a16="http://schemas.microsoft.com/office/drawing/2014/main" id="{0202A3AA-9B42-4F56-8A0C-851790D3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" name="progress-track-29">
            <a:extLst xmlns:a="http://schemas.openxmlformats.org/drawingml/2006/main">
              <a:ext uri="{FF2B5EF4-FFF2-40B4-BE49-F238E27FC236}">
                <a16:creationId xmlns:a16="http://schemas.microsoft.com/office/drawing/2014/main" id="{E7F679A2-0FC5-436B-97B2-DF318D13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29">
            <a:extLst xmlns:a="http://schemas.openxmlformats.org/drawingml/2006/main">
              <a:ext uri="{FF2B5EF4-FFF2-40B4-BE49-F238E27FC236}">
                <a16:creationId xmlns:a16="http://schemas.microsoft.com/office/drawing/2014/main" id="{FA692620-9783-42DA-8B08-19C0D5F4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2260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13DC633-A52D-41A2-88DB-A7DEEC61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RUBRIC 01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13AAD55-DD40-4935-B980-C6143AE2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Problem framing 20 分 + Evidence and traceability 25 分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D7A423E-DA3E-4DBA-8D59-50FE1449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29/34</a:t>
            </a:r>
          </a:p>
        </p:txBody>
      </p:sp>
      <p:sp>
        <p:nvSpPr>
          <p:cNvPr id="8" name="rubric1-0">
            <a:extLst xmlns:a="http://schemas.openxmlformats.org/drawingml/2006/main">
              <a:ext uri="{FF2B5EF4-FFF2-40B4-BE49-F238E27FC236}">
                <a16:creationId xmlns:a16="http://schemas.microsoft.com/office/drawing/2014/main" id="{022CA598-74F5-447F-ACBD-AC2D43CA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867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rubric1-points-0">
            <a:extLst xmlns:a="http://schemas.openxmlformats.org/drawingml/2006/main">
              <a:ext uri="{FF2B5EF4-FFF2-40B4-BE49-F238E27FC236}">
                <a16:creationId xmlns:a16="http://schemas.microsoft.com/office/drawing/2014/main" id="{7A735F6D-86AA-4ADF-98B4-F12B31C9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193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rubric1-head-0">
            <a:extLst xmlns:a="http://schemas.openxmlformats.org/drawingml/2006/main">
              <a:ext uri="{FF2B5EF4-FFF2-40B4-BE49-F238E27FC236}">
                <a16:creationId xmlns:a16="http://schemas.microsoft.com/office/drawing/2014/main" id="{B366E722-9C20-4B7F-BEB5-57061A39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62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Problem framing</a:t>
            </a:r>
          </a:p>
        </p:txBody>
      </p:sp>
      <p:sp>
        <p:nvSpPr>
          <p:cNvPr id="11" name="rubric1-desc-0">
            <a:extLst xmlns:a="http://schemas.openxmlformats.org/drawingml/2006/main">
              <a:ext uri="{FF2B5EF4-FFF2-40B4-BE49-F238E27FC236}">
                <a16:creationId xmlns:a16="http://schemas.microsoft.com/office/drawing/2014/main" id="{FCDF26C9-29B3-49E7-B584-7669BE72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題目具體、scope 合理、input/output 明確、MVP 可在下午完成</a:t>
            </a:r>
          </a:p>
        </p:txBody>
      </p:sp>
      <p:sp>
        <p:nvSpPr>
          <p:cNvPr id="12" name="rubric1-1">
            <a:extLst xmlns:a="http://schemas.openxmlformats.org/drawingml/2006/main">
              <a:ext uri="{FF2B5EF4-FFF2-40B4-BE49-F238E27FC236}">
                <a16:creationId xmlns:a16="http://schemas.microsoft.com/office/drawing/2014/main" id="{3B80C131-95DA-4C74-9B8D-30BD4F3C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9867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3" name="rubric1-points-1">
            <a:extLst xmlns:a="http://schemas.openxmlformats.org/drawingml/2006/main">
              <a:ext uri="{FF2B5EF4-FFF2-40B4-BE49-F238E27FC236}">
                <a16:creationId xmlns:a16="http://schemas.microsoft.com/office/drawing/2014/main" id="{CD2190BE-0617-4803-9E78-3D66640A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4" name="rubric1-head-1">
            <a:extLst xmlns:a="http://schemas.openxmlformats.org/drawingml/2006/main">
              <a:ext uri="{FF2B5EF4-FFF2-40B4-BE49-F238E27FC236}">
                <a16:creationId xmlns:a16="http://schemas.microsoft.com/office/drawing/2014/main" id="{7CF0F788-8975-4E51-A5BA-17504376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and traceability</a:t>
            </a:r>
          </a:p>
        </p:txBody>
      </p:sp>
      <p:sp>
        <p:nvSpPr>
          <p:cNvPr id="15" name="rubric1-desc-1">
            <a:extLst xmlns:a="http://schemas.openxmlformats.org/drawingml/2006/main">
              <a:ext uri="{FF2B5EF4-FFF2-40B4-BE49-F238E27FC236}">
                <a16:creationId xmlns:a16="http://schemas.microsoft.com/office/drawing/2014/main" id="{92CB160D-A32D-454F-A408-8B799620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來源可回查、claim 不誇大、log 與 not_found rule 完整</a:t>
            </a:r>
          </a:p>
        </p:txBody>
      </p:sp>
      <p:sp>
        <p:nvSpPr>
          <p:cNvPr id="16" name="bottom">
            <a:extLst xmlns:a="http://schemas.openxmlformats.org/drawingml/2006/main">
              <a:ext uri="{FF2B5EF4-FFF2-40B4-BE49-F238E27FC236}">
                <a16:creationId xmlns:a16="http://schemas.microsoft.com/office/drawing/2014/main" id="{A75EF14B-A07A-4346-8674-9F34C60C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72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高分不是資料最多，而是每一個重要欄位都知道從哪裡來。</a:t>
            </a:r>
          </a:p>
        </p:txBody>
      </p:sp>
    </p:spTree>
    <p:extLst>
      <p:ext uri="{BB962C8B-B14F-4D97-AF65-F5344CB8AC3E}">
        <p14:creationId xmlns:p14="http://schemas.microsoft.com/office/powerpoint/2010/main" val="20647829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30">
            <a:extLst xmlns:a="http://schemas.openxmlformats.org/drawingml/2006/main">
              <a:ext uri="{FF2B5EF4-FFF2-40B4-BE49-F238E27FC236}">
                <a16:creationId xmlns:a16="http://schemas.microsoft.com/office/drawing/2014/main" id="{3EF1AEE6-54FF-4D4C-9196-15DA9ECD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4A"/>
          </a:solidFill>
          <a:ln xmlns:a="http://schemas.openxmlformats.org/drawingml/2006/main" w="0">
            <a:solidFill>
              <a:srgbClr val="C85A4A"/>
            </a:solidFill>
            <a:prstDash val="solid"/>
          </a:ln>
        </p:spPr>
      </p:sp>
      <p:sp>
        <p:nvSpPr>
          <p:cNvPr id="2" name="section-30">
            <a:extLst xmlns:a="http://schemas.openxmlformats.org/drawingml/2006/main">
              <a:ext uri="{FF2B5EF4-FFF2-40B4-BE49-F238E27FC236}">
                <a16:creationId xmlns:a16="http://schemas.microsoft.com/office/drawing/2014/main" id="{66F27865-8A3E-4944-99D2-BB8639AA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" name="progress-track-30">
            <a:extLst xmlns:a="http://schemas.openxmlformats.org/drawingml/2006/main">
              <a:ext uri="{FF2B5EF4-FFF2-40B4-BE49-F238E27FC236}">
                <a16:creationId xmlns:a16="http://schemas.microsoft.com/office/drawing/2014/main" id="{30167DC0-C955-4E5C-95DE-7A4B47C2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30">
            <a:extLst xmlns:a="http://schemas.openxmlformats.org/drawingml/2006/main">
              <a:ext uri="{FF2B5EF4-FFF2-40B4-BE49-F238E27FC236}">
                <a16:creationId xmlns:a16="http://schemas.microsoft.com/office/drawing/2014/main" id="{A241998D-B64E-4F70-AAB4-A808182F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3028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5A4A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86FFEEF-5674-4898-AAD3-33464FBA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RUBRIC 02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0F35EE8-71F1-46F5-A030-0A1A10B8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 20 分 + Loop &amp; safety 20 分 + Demo 15 分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F220A2A-FDB7-472E-A8F7-2ABBDABF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30/34</a:t>
            </a:r>
          </a:p>
        </p:txBody>
      </p:sp>
      <p:sp>
        <p:nvSpPr>
          <p:cNvPr id="8" name="rubric2-0">
            <a:extLst xmlns:a="http://schemas.openxmlformats.org/drawingml/2006/main">
              <a:ext uri="{FF2B5EF4-FFF2-40B4-BE49-F238E27FC236}">
                <a16:creationId xmlns:a16="http://schemas.microsoft.com/office/drawing/2014/main" id="{8C8AF689-8AE9-4D55-8212-BF2C5F7C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009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9" name="rubric2-points-0">
            <a:extLst xmlns:a="http://schemas.openxmlformats.org/drawingml/2006/main">
              <a:ext uri="{FF2B5EF4-FFF2-40B4-BE49-F238E27FC236}">
                <a16:creationId xmlns:a16="http://schemas.microsoft.com/office/drawing/2014/main" id="{810363C5-E6A3-4767-94BB-71C2150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669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rubric2-head-0">
            <a:extLst xmlns:a="http://schemas.openxmlformats.org/drawingml/2006/main">
              <a:ext uri="{FF2B5EF4-FFF2-40B4-BE49-F238E27FC236}">
                <a16:creationId xmlns:a16="http://schemas.microsoft.com/office/drawing/2014/main" id="{0226B0E7-5C3A-40BA-9820-FF2FF2A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Harness design</a:t>
            </a:r>
          </a:p>
        </p:txBody>
      </p:sp>
      <p:sp>
        <p:nvSpPr>
          <p:cNvPr id="11" name="rubric2-desc-0">
            <a:extLst xmlns:a="http://schemas.openxmlformats.org/drawingml/2006/main">
              <a:ext uri="{FF2B5EF4-FFF2-40B4-BE49-F238E27FC236}">
                <a16:creationId xmlns:a16="http://schemas.microsoft.com/office/drawing/2014/main" id="{1EEB9ED2-AEEA-4AAA-9111-B4CA3A08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有 schema、正常/失敗案例、validation output、log</a:t>
            </a:r>
          </a:p>
        </p:txBody>
      </p:sp>
      <p:sp>
        <p:nvSpPr>
          <p:cNvPr id="12" name="rubric2-1">
            <a:extLst xmlns:a="http://schemas.openxmlformats.org/drawingml/2006/main">
              <a:ext uri="{FF2B5EF4-FFF2-40B4-BE49-F238E27FC236}">
                <a16:creationId xmlns:a16="http://schemas.microsoft.com/office/drawing/2014/main" id="{4EEF3435-A6DC-4FE7-A8C5-D364A3CD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1009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3" name="rubric2-points-1">
            <a:extLst xmlns:a="http://schemas.openxmlformats.org/drawingml/2006/main">
              <a:ext uri="{FF2B5EF4-FFF2-40B4-BE49-F238E27FC236}">
                <a16:creationId xmlns:a16="http://schemas.microsoft.com/office/drawing/2014/main" id="{8B3EC7C0-3EB1-49F2-B896-0B8592A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4" name="rubric2-head-1">
            <a:extLst xmlns:a="http://schemas.openxmlformats.org/drawingml/2006/main">
              <a:ext uri="{FF2B5EF4-FFF2-40B4-BE49-F238E27FC236}">
                <a16:creationId xmlns:a16="http://schemas.microsoft.com/office/drawing/2014/main" id="{EEE55235-AFD7-43A8-80B6-98603475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48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Loop and safety</a:t>
            </a:r>
          </a:p>
        </p:txBody>
      </p:sp>
      <p:sp>
        <p:nvSpPr>
          <p:cNvPr id="15" name="rubric2-desc-1">
            <a:extLst xmlns:a="http://schemas.openxmlformats.org/drawingml/2006/main">
              <a:ext uri="{FF2B5EF4-FFF2-40B4-BE49-F238E27FC236}">
                <a16:creationId xmlns:a16="http://schemas.microsoft.com/office/drawing/2014/main" id="{F5F42A0A-B282-48FD-85F1-B699A156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575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有 check/revise/stop，清楚標 human review boundary</a:t>
            </a:r>
          </a:p>
        </p:txBody>
      </p:sp>
      <p:sp>
        <p:nvSpPr>
          <p:cNvPr id="16" name="rubric2-2">
            <a:extLst xmlns:a="http://schemas.openxmlformats.org/drawingml/2006/main">
              <a:ext uri="{FF2B5EF4-FFF2-40B4-BE49-F238E27FC236}">
                <a16:creationId xmlns:a16="http://schemas.microsoft.com/office/drawing/2014/main" id="{AB2A7DDC-C962-4D10-9033-C9C16096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1009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ECFA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</p:sp>
      <p:sp>
        <p:nvSpPr>
          <p:cNvPr id="17" name="rubric2-points-2">
            <a:extLst xmlns:a="http://schemas.openxmlformats.org/drawingml/2006/main">
              <a:ext uri="{FF2B5EF4-FFF2-40B4-BE49-F238E27FC236}">
                <a16:creationId xmlns:a16="http://schemas.microsoft.com/office/drawing/2014/main" id="{01D165A8-6E6D-4C59-9FCA-6E2132CD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8" name="rubric2-head-2">
            <a:extLst xmlns:a="http://schemas.openxmlformats.org/drawingml/2006/main">
              <a:ext uri="{FF2B5EF4-FFF2-40B4-BE49-F238E27FC236}">
                <a16:creationId xmlns:a16="http://schemas.microsoft.com/office/drawing/2014/main" id="{AAE71F07-4C11-47D8-97CD-40E24957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Demo clarity</a:t>
            </a:r>
          </a:p>
        </p:txBody>
      </p:sp>
      <p:sp>
        <p:nvSpPr>
          <p:cNvPr id="19" name="rubric2-desc-2">
            <a:extLst xmlns:a="http://schemas.openxmlformats.org/drawingml/2006/main">
              <a:ext uri="{FF2B5EF4-FFF2-40B4-BE49-F238E27FC236}">
                <a16:creationId xmlns:a16="http://schemas.microsoft.com/office/drawing/2014/main" id="{25C0FE21-DBA9-412D-A4E8-9FCFD0E4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195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五分鐘內說清楚問題、流程、證據、限制與下一步</a:t>
            </a:r>
          </a:p>
        </p:txBody>
      </p:sp>
      <p:sp>
        <p:nvSpPr>
          <p:cNvPr id="20" name="bottom">
            <a:extLst xmlns:a="http://schemas.openxmlformats.org/drawingml/2006/main">
              <a:ext uri="{FF2B5EF4-FFF2-40B4-BE49-F238E27FC236}">
                <a16:creationId xmlns:a16="http://schemas.microsoft.com/office/drawing/2014/main" id="{B088B200-0D6A-49D5-9939-35AF374D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一個正常 output 不夠；你必須示範 workflow 對不確定性做了什麼。</a:t>
            </a:r>
          </a:p>
        </p:txBody>
      </p:sp>
    </p:spTree>
    <p:extLst>
      <p:ext uri="{BB962C8B-B14F-4D97-AF65-F5344CB8AC3E}">
        <p14:creationId xmlns:p14="http://schemas.microsoft.com/office/powerpoint/2010/main" val="19785966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31">
            <a:extLst xmlns:a="http://schemas.openxmlformats.org/drawingml/2006/main">
              <a:ext uri="{FF2B5EF4-FFF2-40B4-BE49-F238E27FC236}">
                <a16:creationId xmlns:a16="http://schemas.microsoft.com/office/drawing/2014/main" id="{EF7627E3-95A4-4AAA-8C6E-C4648FF4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AA0"/>
          </a:solidFill>
          <a:ln xmlns:a="http://schemas.openxmlformats.org/drawingml/2006/main" w="0">
            <a:solidFill>
              <a:srgbClr val="6B4AA0"/>
            </a:solidFill>
            <a:prstDash val="solid"/>
          </a:ln>
        </p:spPr>
      </p:sp>
      <p:sp>
        <p:nvSpPr>
          <p:cNvPr id="2" name="section-31">
            <a:extLst xmlns:a="http://schemas.openxmlformats.org/drawingml/2006/main">
              <a:ext uri="{FF2B5EF4-FFF2-40B4-BE49-F238E27FC236}">
                <a16:creationId xmlns:a16="http://schemas.microsoft.com/office/drawing/2014/main" id="{618B7980-AB33-4A8B-B333-6407CCDF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" name="progress-track-31">
            <a:extLst xmlns:a="http://schemas.openxmlformats.org/drawingml/2006/main">
              <a:ext uri="{FF2B5EF4-FFF2-40B4-BE49-F238E27FC236}">
                <a16:creationId xmlns:a16="http://schemas.microsoft.com/office/drawing/2014/main" id="{599578F4-6C19-4DDF-B8BC-2F70A80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31">
            <a:extLst xmlns:a="http://schemas.openxmlformats.org/drawingml/2006/main">
              <a:ext uri="{FF2B5EF4-FFF2-40B4-BE49-F238E27FC236}">
                <a16:creationId xmlns:a16="http://schemas.microsoft.com/office/drawing/2014/main" id="{786D9CC9-9BC4-4107-AA44-AD960C55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3795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B4AA0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FF1D84E2-00A4-47CA-9C06-0AA00B02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WHAT EARNS OR LOSES POINTS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76CAE43-4262-4236-A95E-AA97D5C3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評分看你的判斷品質，不看你讓 agent 產生多少字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4C9F179-E58E-48CD-93EF-8270D801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31/34</a:t>
            </a:r>
          </a:p>
        </p:txBody>
      </p:sp>
      <p:sp>
        <p:nvSpPr>
          <p:cNvPr id="8" name="points-col-0">
            <a:extLst xmlns:a="http://schemas.openxmlformats.org/drawingml/2006/main">
              <a:ext uri="{FF2B5EF4-FFF2-40B4-BE49-F238E27FC236}">
                <a16:creationId xmlns:a16="http://schemas.microsoft.com/office/drawing/2014/main" id="{43AD2865-1A0E-45ED-A2AB-7903480A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42672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9" name="points-head-0">
            <a:extLst xmlns:a="http://schemas.openxmlformats.org/drawingml/2006/main">
              <a:ext uri="{FF2B5EF4-FFF2-40B4-BE49-F238E27FC236}">
                <a16:creationId xmlns:a16="http://schemas.microsoft.com/office/drawing/2014/main" id="{EDADC439-4954-4464-A895-1311CE8C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Earns points</a:t>
            </a:r>
          </a:p>
        </p:txBody>
      </p:sp>
      <p:sp>
        <p:nvSpPr>
          <p:cNvPr id="10" name="points-list-0">
            <a:extLst xmlns:a="http://schemas.openxmlformats.org/drawingml/2006/main">
              <a:ext uri="{FF2B5EF4-FFF2-40B4-BE49-F238E27FC236}">
                <a16:creationId xmlns:a16="http://schemas.microsoft.com/office/drawing/2014/main" id="{3613FBA7-DFA6-45FF-9466-4BAE68FE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67050"/>
            <a:ext cx="3009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明確拒絕超出來源的 claim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保留 not_found 與 failing case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小 patch + validation + diff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demo 直接展示 limitation</a:t>
            </a:r>
          </a:p>
        </p:txBody>
      </p:sp>
      <p:sp>
        <p:nvSpPr>
          <p:cNvPr id="11" name="points-col-1">
            <a:extLst xmlns:a="http://schemas.openxmlformats.org/drawingml/2006/main">
              <a:ext uri="{FF2B5EF4-FFF2-40B4-BE49-F238E27FC236}">
                <a16:creationId xmlns:a16="http://schemas.microsoft.com/office/drawing/2014/main" id="{EA453958-FF04-434B-829D-C4B58668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05000"/>
            <a:ext cx="42672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2" name="points-head-1">
            <a:extLst xmlns:a="http://schemas.openxmlformats.org/drawingml/2006/main">
              <a:ext uri="{FF2B5EF4-FFF2-40B4-BE49-F238E27FC236}">
                <a16:creationId xmlns:a16="http://schemas.microsoft.com/office/drawing/2014/main" id="{7B46AEB9-F301-4837-8B4F-C52ED804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Loses points</a:t>
            </a:r>
          </a:p>
        </p:txBody>
      </p:sp>
      <p:sp>
        <p:nvSpPr>
          <p:cNvPr id="13" name="points-list-1">
            <a:extLst xmlns:a="http://schemas.openxmlformats.org/drawingml/2006/main">
              <a:ext uri="{FF2B5EF4-FFF2-40B4-BE49-F238E27FC236}">
                <a16:creationId xmlns:a16="http://schemas.microsoft.com/office/drawing/2014/main" id="{E814E383-6792-4589-90F5-B8276C69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3009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用模型猜 PMID / sample_n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只有漂亮答案，沒有 sources / logs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scope 太大，無法跑出完整路徑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clinical inference 當一般摘要</a:t>
            </a:r>
          </a:p>
        </p:txBody>
      </p:sp>
      <p:sp>
        <p:nvSpPr>
          <p:cNvPr id="14" name="bottom">
            <a:extLst xmlns:a="http://schemas.openxmlformats.org/drawingml/2006/main">
              <a:ext uri="{FF2B5EF4-FFF2-40B4-BE49-F238E27FC236}">
                <a16:creationId xmlns:a16="http://schemas.microsoft.com/office/drawing/2014/main" id="{ADB82914-D453-4B41-9C8A-EFF4546B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被發現一個誠實的 failure，比藏起十個 failure 更值得信任。</a:t>
            </a:r>
          </a:p>
        </p:txBody>
      </p:sp>
    </p:spTree>
    <p:extLst>
      <p:ext uri="{BB962C8B-B14F-4D97-AF65-F5344CB8AC3E}">
        <p14:creationId xmlns:p14="http://schemas.microsoft.com/office/powerpoint/2010/main" val="9223888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32">
            <a:extLst xmlns:a="http://schemas.openxmlformats.org/drawingml/2006/main">
              <a:ext uri="{FF2B5EF4-FFF2-40B4-BE49-F238E27FC236}">
                <a16:creationId xmlns:a16="http://schemas.microsoft.com/office/drawing/2014/main" id="{CFD61384-EA26-4CAB-B876-967E64E0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A8"/>
          </a:solidFill>
          <a:ln xmlns:a="http://schemas.openxmlformats.org/drawingml/2006/main" w="0">
            <a:solidFill>
              <a:srgbClr val="3446A8"/>
            </a:solidFill>
            <a:prstDash val="solid"/>
          </a:ln>
        </p:spPr>
      </p:sp>
      <p:sp>
        <p:nvSpPr>
          <p:cNvPr id="2" name="section-32">
            <a:extLst xmlns:a="http://schemas.openxmlformats.org/drawingml/2006/main">
              <a:ext uri="{FF2B5EF4-FFF2-40B4-BE49-F238E27FC236}">
                <a16:creationId xmlns:a16="http://schemas.microsoft.com/office/drawing/2014/main" id="{12B84F67-F96E-47E7-832E-CB228CD9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" name="progress-track-32">
            <a:extLst xmlns:a="http://schemas.openxmlformats.org/drawingml/2006/main">
              <a:ext uri="{FF2B5EF4-FFF2-40B4-BE49-F238E27FC236}">
                <a16:creationId xmlns:a16="http://schemas.microsoft.com/office/drawing/2014/main" id="{C484B080-86C4-41C9-842D-8DC5C92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32">
            <a:extLst xmlns:a="http://schemas.openxmlformats.org/drawingml/2006/main">
              <a:ext uri="{FF2B5EF4-FFF2-40B4-BE49-F238E27FC236}">
                <a16:creationId xmlns:a16="http://schemas.microsoft.com/office/drawing/2014/main" id="{5BD16E9A-4D10-40DC-BD66-4A3E5CFC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4563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46A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BCC50176-7879-4D8F-B8AF-A4883810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DEMO FORMAT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28CA00E-0617-4DB4-8046-BA5DEE29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5 分鐘 demo + 3 分鐘 QA：展示 workflow，不只是給結論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1C7B275-E35E-4690-A80D-2BAB1862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32/34</a:t>
            </a:r>
          </a:p>
        </p:txBody>
      </p:sp>
      <p:sp>
        <p:nvSpPr>
          <p:cNvPr id="8" name="demo-step-0">
            <a:extLst xmlns:a="http://schemas.openxmlformats.org/drawingml/2006/main">
              <a:ext uri="{FF2B5EF4-FFF2-40B4-BE49-F238E27FC236}">
                <a16:creationId xmlns:a16="http://schemas.microsoft.com/office/drawing/2014/main" id="{1AA84BDF-AB3C-41E2-99A4-909CBD5A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524000" cy="1638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9" name="demo-time-0">
            <a:extLst xmlns:a="http://schemas.openxmlformats.org/drawingml/2006/main">
              <a:ext uri="{FF2B5EF4-FFF2-40B4-BE49-F238E27FC236}">
                <a16:creationId xmlns:a16="http://schemas.microsoft.com/office/drawing/2014/main" id="{A96CDC2A-92D4-4EF5-BAB4-031E7BAB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0:00</a:t>
            </a:r>
          </a:p>
        </p:txBody>
      </p:sp>
      <p:sp>
        <p:nvSpPr>
          <p:cNvPr id="10" name="demo-head-0">
            <a:extLst xmlns:a="http://schemas.openxmlformats.org/drawingml/2006/main">
              <a:ext uri="{FF2B5EF4-FFF2-40B4-BE49-F238E27FC236}">
                <a16:creationId xmlns:a16="http://schemas.microsoft.com/office/drawing/2014/main" id="{665AEA35-E4CD-4448-8FEA-B964AAE2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1" name="demo-copy-0">
            <a:extLst xmlns:a="http://schemas.openxmlformats.org/drawingml/2006/main">
              <a:ext uri="{FF2B5EF4-FFF2-40B4-BE49-F238E27FC236}">
                <a16:creationId xmlns:a16="http://schemas.microsoft.com/office/drawing/2014/main" id="{E0DFF32B-FF6B-4DC6-9087-60D5DDDF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題目與 scope</a:t>
            </a:r>
          </a:p>
        </p:txBody>
      </p:sp>
      <p:sp>
        <p:nvSpPr>
          <p:cNvPr id="12" name="demo-line-1">
            <a:extLst xmlns:a="http://schemas.openxmlformats.org/drawingml/2006/main">
              <a:ext uri="{FF2B5EF4-FFF2-40B4-BE49-F238E27FC236}">
                <a16:creationId xmlns:a16="http://schemas.microsoft.com/office/drawing/2014/main" id="{9D4C335A-B56A-4BD0-A138-C124EDD8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671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4DADD"/>
            </a:solidFill>
            <a:prstDash val="solid"/>
          </a:ln>
        </p:spPr>
      </p:sp>
      <p:sp>
        <p:nvSpPr>
          <p:cNvPr id="13" name="demo-step-1">
            <a:extLst xmlns:a="http://schemas.openxmlformats.org/drawingml/2006/main">
              <a:ext uri="{FF2B5EF4-FFF2-40B4-BE49-F238E27FC236}">
                <a16:creationId xmlns:a16="http://schemas.microsoft.com/office/drawing/2014/main" id="{2A90B268-B7A8-4128-AA33-1195B5BB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47950"/>
            <a:ext cx="1524000" cy="1638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4" name="demo-time-1">
            <a:extLst xmlns:a="http://schemas.openxmlformats.org/drawingml/2006/main">
              <a:ext uri="{FF2B5EF4-FFF2-40B4-BE49-F238E27FC236}">
                <a16:creationId xmlns:a16="http://schemas.microsoft.com/office/drawing/2014/main" id="{645F1EE1-3B65-4275-95F8-49D56576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38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0:45</a:t>
            </a:r>
          </a:p>
        </p:txBody>
      </p:sp>
      <p:sp>
        <p:nvSpPr>
          <p:cNvPr id="15" name="demo-head-1">
            <a:extLst xmlns:a="http://schemas.openxmlformats.org/drawingml/2006/main">
              <a:ext uri="{FF2B5EF4-FFF2-40B4-BE49-F238E27FC236}">
                <a16:creationId xmlns:a16="http://schemas.microsoft.com/office/drawing/2014/main" id="{506C92F5-EFDE-4B66-9902-77B8089D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Spec</a:t>
            </a:r>
          </a:p>
        </p:txBody>
      </p:sp>
      <p:sp>
        <p:nvSpPr>
          <p:cNvPr id="16" name="demo-copy-1">
            <a:extLst xmlns:a="http://schemas.openxmlformats.org/drawingml/2006/main">
              <a:ext uri="{FF2B5EF4-FFF2-40B4-BE49-F238E27FC236}">
                <a16:creationId xmlns:a16="http://schemas.microsoft.com/office/drawing/2014/main" id="{92DBFAEC-1849-4D4E-8D0A-DF0343DC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input / output / rules</a:t>
            </a:r>
          </a:p>
        </p:txBody>
      </p:sp>
      <p:sp>
        <p:nvSpPr>
          <p:cNvPr id="17" name="demo-line-2">
            <a:extLst xmlns:a="http://schemas.openxmlformats.org/drawingml/2006/main">
              <a:ext uri="{FF2B5EF4-FFF2-40B4-BE49-F238E27FC236}">
                <a16:creationId xmlns:a16="http://schemas.microsoft.com/office/drawing/2014/main" id="{F1A6E8B9-259F-4AB1-A17D-EF974F8A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71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4DADD"/>
            </a:solidFill>
            <a:prstDash val="solid"/>
          </a:ln>
        </p:spPr>
      </p:sp>
      <p:sp>
        <p:nvSpPr>
          <p:cNvPr id="18" name="demo-step-2">
            <a:extLst xmlns:a="http://schemas.openxmlformats.org/drawingml/2006/main">
              <a:ext uri="{FF2B5EF4-FFF2-40B4-BE49-F238E27FC236}">
                <a16:creationId xmlns:a16="http://schemas.microsoft.com/office/drawing/2014/main" id="{E07FE2DF-8E47-474C-850C-AC93B59B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1524000" cy="1638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9" name="demo-time-2">
            <a:extLst xmlns:a="http://schemas.openxmlformats.org/drawingml/2006/main">
              <a:ext uri="{FF2B5EF4-FFF2-40B4-BE49-F238E27FC236}">
                <a16:creationId xmlns:a16="http://schemas.microsoft.com/office/drawing/2014/main" id="{798F4D26-B729-4A03-8C73-AB723571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1:30</a:t>
            </a:r>
          </a:p>
        </p:txBody>
      </p:sp>
      <p:sp>
        <p:nvSpPr>
          <p:cNvPr id="20" name="demo-head-2">
            <a:extLst xmlns:a="http://schemas.openxmlformats.org/drawingml/2006/main">
              <a:ext uri="{FF2B5EF4-FFF2-40B4-BE49-F238E27FC236}">
                <a16:creationId xmlns:a16="http://schemas.microsoft.com/office/drawing/2014/main" id="{BA841D03-B462-4888-924B-F3B072E7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1" name="demo-copy-2">
            <a:extLst xmlns:a="http://schemas.openxmlformats.org/drawingml/2006/main">
              <a:ext uri="{FF2B5EF4-FFF2-40B4-BE49-F238E27FC236}">
                <a16:creationId xmlns:a16="http://schemas.microsoft.com/office/drawing/2014/main" id="{FCC0666B-3FB4-4366-B8CF-7A849116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385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agent + tool main path</a:t>
            </a:r>
          </a:p>
        </p:txBody>
      </p:sp>
      <p:sp>
        <p:nvSpPr>
          <p:cNvPr id="22" name="demo-line-3">
            <a:extLst xmlns:a="http://schemas.openxmlformats.org/drawingml/2006/main">
              <a:ext uri="{FF2B5EF4-FFF2-40B4-BE49-F238E27FC236}">
                <a16:creationId xmlns:a16="http://schemas.microsoft.com/office/drawing/2014/main" id="{49D9685A-E29A-4BB4-A9AD-D91C84C0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671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4DADD"/>
            </a:solidFill>
            <a:prstDash val="solid"/>
          </a:ln>
        </p:spPr>
      </p:sp>
      <p:sp>
        <p:nvSpPr>
          <p:cNvPr id="23" name="demo-step-3">
            <a:extLst xmlns:a="http://schemas.openxmlformats.org/drawingml/2006/main">
              <a:ext uri="{FF2B5EF4-FFF2-40B4-BE49-F238E27FC236}">
                <a16:creationId xmlns:a16="http://schemas.microsoft.com/office/drawing/2014/main" id="{7C376AD4-B882-4D5C-A1DA-B4B6269B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1524000" cy="1638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24" name="demo-time-3">
            <a:extLst xmlns:a="http://schemas.openxmlformats.org/drawingml/2006/main">
              <a:ext uri="{FF2B5EF4-FFF2-40B4-BE49-F238E27FC236}">
                <a16:creationId xmlns:a16="http://schemas.microsoft.com/office/drawing/2014/main" id="{60D19ED4-2E61-4391-B7EA-7AE5BA04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38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2:45</a:t>
            </a:r>
          </a:p>
        </p:txBody>
      </p:sp>
      <p:sp>
        <p:nvSpPr>
          <p:cNvPr id="25" name="demo-head-3">
            <a:extLst xmlns:a="http://schemas.openxmlformats.org/drawingml/2006/main">
              <a:ext uri="{FF2B5EF4-FFF2-40B4-BE49-F238E27FC236}">
                <a16:creationId xmlns:a16="http://schemas.microsoft.com/office/drawing/2014/main" id="{5F40CAD6-46A6-4846-A490-1F8D01C7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6" name="demo-copy-3">
            <a:extLst xmlns:a="http://schemas.openxmlformats.org/drawingml/2006/main">
              <a:ext uri="{FF2B5EF4-FFF2-40B4-BE49-F238E27FC236}">
                <a16:creationId xmlns:a16="http://schemas.microsoft.com/office/drawing/2014/main" id="{496E9908-E681-4896-83B8-FC2788AE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source / test / validation</a:t>
            </a:r>
          </a:p>
        </p:txBody>
      </p:sp>
      <p:sp>
        <p:nvSpPr>
          <p:cNvPr id="27" name="demo-line-4">
            <a:extLst xmlns:a="http://schemas.openxmlformats.org/drawingml/2006/main">
              <a:ext uri="{FF2B5EF4-FFF2-40B4-BE49-F238E27FC236}">
                <a16:creationId xmlns:a16="http://schemas.microsoft.com/office/drawing/2014/main" id="{B339FAB0-4FDC-4B26-99D7-91EDB43E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671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4DADD"/>
            </a:solidFill>
            <a:prstDash val="solid"/>
          </a:ln>
        </p:spPr>
      </p:sp>
      <p:sp>
        <p:nvSpPr>
          <p:cNvPr id="28" name="demo-step-4">
            <a:extLst xmlns:a="http://schemas.openxmlformats.org/drawingml/2006/main">
              <a:ext uri="{FF2B5EF4-FFF2-40B4-BE49-F238E27FC236}">
                <a16:creationId xmlns:a16="http://schemas.microsoft.com/office/drawing/2014/main" id="{B3C6A10F-10AF-42A9-8B06-496F833B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524000" cy="1638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29" name="demo-time-4">
            <a:extLst xmlns:a="http://schemas.openxmlformats.org/drawingml/2006/main">
              <a:ext uri="{FF2B5EF4-FFF2-40B4-BE49-F238E27FC236}">
                <a16:creationId xmlns:a16="http://schemas.microsoft.com/office/drawing/2014/main" id="{D6E274F7-D74E-40ED-969E-BC0E8B81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3:45</a:t>
            </a:r>
          </a:p>
        </p:txBody>
      </p:sp>
      <p:sp>
        <p:nvSpPr>
          <p:cNvPr id="30" name="demo-head-4">
            <a:extLst xmlns:a="http://schemas.openxmlformats.org/drawingml/2006/main">
              <a:ext uri="{FF2B5EF4-FFF2-40B4-BE49-F238E27FC236}">
                <a16:creationId xmlns:a16="http://schemas.microsoft.com/office/drawing/2014/main" id="{7C1A5D86-48F6-4B68-9678-04CCBF29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31" name="demo-copy-4">
            <a:extLst xmlns:a="http://schemas.openxmlformats.org/drawingml/2006/main">
              <a:ext uri="{FF2B5EF4-FFF2-40B4-BE49-F238E27FC236}">
                <a16:creationId xmlns:a16="http://schemas.microsoft.com/office/drawing/2014/main" id="{3484EAC2-677B-4195-9924-A84E68DB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not_found / safety boundary</a:t>
            </a:r>
          </a:p>
        </p:txBody>
      </p:sp>
      <p:sp>
        <p:nvSpPr>
          <p:cNvPr id="32" name="demo-line-5">
            <a:extLst xmlns:a="http://schemas.openxmlformats.org/drawingml/2006/main">
              <a:ext uri="{FF2B5EF4-FFF2-40B4-BE49-F238E27FC236}">
                <a16:creationId xmlns:a16="http://schemas.microsoft.com/office/drawing/2014/main" id="{BA7E201F-E32C-4546-9D8E-8E1AFBCE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671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4DADD"/>
            </a:solidFill>
            <a:prstDash val="solid"/>
          </a:ln>
        </p:spPr>
      </p:sp>
      <p:sp>
        <p:nvSpPr>
          <p:cNvPr id="33" name="demo-step-5">
            <a:extLst xmlns:a="http://schemas.openxmlformats.org/drawingml/2006/main">
              <a:ext uri="{FF2B5EF4-FFF2-40B4-BE49-F238E27FC236}">
                <a16:creationId xmlns:a16="http://schemas.microsoft.com/office/drawing/2014/main" id="{D66C7AB9-B70B-45D1-AB38-40144D13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47950"/>
            <a:ext cx="1524000" cy="1638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34" name="demo-time-5">
            <a:extLst xmlns:a="http://schemas.openxmlformats.org/drawingml/2006/main">
              <a:ext uri="{FF2B5EF4-FFF2-40B4-BE49-F238E27FC236}">
                <a16:creationId xmlns:a16="http://schemas.microsoft.com/office/drawing/2014/main" id="{3EA7F165-2AA2-4BC1-BB1D-1A0F0950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38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4:30</a:t>
            </a:r>
          </a:p>
        </p:txBody>
      </p:sp>
      <p:sp>
        <p:nvSpPr>
          <p:cNvPr id="35" name="demo-head-5">
            <a:extLst xmlns:a="http://schemas.openxmlformats.org/drawingml/2006/main">
              <a:ext uri="{FF2B5EF4-FFF2-40B4-BE49-F238E27FC236}">
                <a16:creationId xmlns:a16="http://schemas.microsoft.com/office/drawing/2014/main" id="{707F043E-1D16-4AB2-964F-CE4E335E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6" name="demo-copy-5">
            <a:extLst xmlns:a="http://schemas.openxmlformats.org/drawingml/2006/main">
              <a:ext uri="{FF2B5EF4-FFF2-40B4-BE49-F238E27FC236}">
                <a16:creationId xmlns:a16="http://schemas.microsoft.com/office/drawing/2014/main" id="{B15363AE-2679-400E-819D-4F319F8C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385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what you would improve</a:t>
            </a:r>
          </a:p>
        </p:txBody>
      </p:sp>
      <p:sp>
        <p:nvSpPr>
          <p:cNvPr id="37" name="qa-box">
            <a:extLst xmlns:a="http://schemas.openxmlformats.org/drawingml/2006/main">
              <a:ext uri="{FF2B5EF4-FFF2-40B4-BE49-F238E27FC236}">
                <a16:creationId xmlns:a16="http://schemas.microsoft.com/office/drawing/2014/main" id="{E69CAD10-3467-4D2A-89BB-B6C03EDF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38" name="qa-copy">
            <a:extLst xmlns:a="http://schemas.openxmlformats.org/drawingml/2006/main">
              <a:ext uri="{FF2B5EF4-FFF2-40B4-BE49-F238E27FC236}">
                <a16:creationId xmlns:a16="http://schemas.microsoft.com/office/drawing/2014/main" id="{8C614237-B8DA-44C9-BC04-2F1BB9A9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62550"/>
            <a:ext cx="845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3 分鐘 Q&amp;A：會問來源、失敗案例、停止條件與人工審查界線。</a:t>
            </a:r>
          </a:p>
        </p:txBody>
      </p:sp>
    </p:spTree>
    <p:extLst>
      <p:ext uri="{BB962C8B-B14F-4D97-AF65-F5344CB8AC3E}">
        <p14:creationId xmlns:p14="http://schemas.microsoft.com/office/powerpoint/2010/main" val="2380199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33">
            <a:extLst xmlns:a="http://schemas.openxmlformats.org/drawingml/2006/main">
              <a:ext uri="{FF2B5EF4-FFF2-40B4-BE49-F238E27FC236}">
                <a16:creationId xmlns:a16="http://schemas.microsoft.com/office/drawing/2014/main" id="{9C6DC0AA-D2D4-4321-9078-853A9D25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33">
            <a:extLst xmlns:a="http://schemas.openxmlformats.org/drawingml/2006/main">
              <a:ext uri="{FF2B5EF4-FFF2-40B4-BE49-F238E27FC236}">
                <a16:creationId xmlns:a16="http://schemas.microsoft.com/office/drawing/2014/main" id="{BF5E9FAA-EB84-427E-A5CA-B5B8271B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" name="progress-track-33">
            <a:extLst xmlns:a="http://schemas.openxmlformats.org/drawingml/2006/main">
              <a:ext uri="{FF2B5EF4-FFF2-40B4-BE49-F238E27FC236}">
                <a16:creationId xmlns:a16="http://schemas.microsoft.com/office/drawing/2014/main" id="{A8FAA51C-CE2F-43BC-91F4-C947DA10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ADD"/>
            </a:solidFill>
            <a:prstDash val="solid"/>
          </a:ln>
        </p:spPr>
      </p:sp>
      <p:sp>
        <p:nvSpPr>
          <p:cNvPr id="4" name="progress-fill-33">
            <a:extLst xmlns:a="http://schemas.openxmlformats.org/drawingml/2006/main">
              <a:ext uri="{FF2B5EF4-FFF2-40B4-BE49-F238E27FC236}">
                <a16:creationId xmlns:a16="http://schemas.microsoft.com/office/drawing/2014/main" id="{9902F7F0-A7F3-4462-99A6-B4886D4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5330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B80A02F-3A2F-4F72-BE57-15D4CEC1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FINAL HANDOFF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6230FC5-CE79-4000-9733-33D9FD5E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上台前 10 分鐘，請用這張清單逐項確認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79CE8E2-7C22-481C-B848-9E55AF7B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33/34</a:t>
            </a:r>
          </a:p>
        </p:txBody>
      </p:sp>
      <p:sp>
        <p:nvSpPr>
          <p:cNvPr id="8" name="handoff-head-0">
            <a:extLst xmlns:a="http://schemas.openxmlformats.org/drawingml/2006/main">
              <a:ext uri="{FF2B5EF4-FFF2-40B4-BE49-F238E27FC236}">
                <a16:creationId xmlns:a16="http://schemas.microsoft.com/office/drawing/2014/main" id="{F79406F2-46F6-4461-A187-A11A8E98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409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Spec</a:t>
            </a:r>
          </a:p>
        </p:txBody>
      </p:sp>
      <p:sp>
        <p:nvSpPr>
          <p:cNvPr id="9" name="handoff-copy-0">
            <a:extLst xmlns:a="http://schemas.openxmlformats.org/drawingml/2006/main">
              <a:ext uri="{FF2B5EF4-FFF2-40B4-BE49-F238E27FC236}">
                <a16:creationId xmlns:a16="http://schemas.microsoft.com/office/drawing/2014/main" id="{5348BA49-85B3-4DB4-A379-8AA1D70B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題目、輸入、輸出、規則可在 30 秒內說清楚</a:t>
            </a:r>
          </a:p>
        </p:txBody>
      </p:sp>
      <p:sp>
        <p:nvSpPr>
          <p:cNvPr id="10" name="handoff-head-1">
            <a:extLst xmlns:a="http://schemas.openxmlformats.org/drawingml/2006/main">
              <a:ext uri="{FF2B5EF4-FFF2-40B4-BE49-F238E27FC236}">
                <a16:creationId xmlns:a16="http://schemas.microsoft.com/office/drawing/2014/main" id="{696F6A0C-8AA1-4EC9-BE33-2AE03A8E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1409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1" name="handoff-copy-1">
            <a:extLst xmlns:a="http://schemas.openxmlformats.org/drawingml/2006/main">
              <a:ext uri="{FF2B5EF4-FFF2-40B4-BE49-F238E27FC236}">
                <a16:creationId xmlns:a16="http://schemas.microsoft.com/office/drawing/2014/main" id="{442FD7BC-55B5-4B0D-A557-2DB4AB56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主路徑從 input 到 output 可重跑或可檢視</a:t>
            </a:r>
          </a:p>
        </p:txBody>
      </p:sp>
      <p:sp>
        <p:nvSpPr>
          <p:cNvPr id="12" name="handoff-head-2">
            <a:extLst xmlns:a="http://schemas.openxmlformats.org/drawingml/2006/main">
              <a:ext uri="{FF2B5EF4-FFF2-40B4-BE49-F238E27FC236}">
                <a16:creationId xmlns:a16="http://schemas.microsoft.com/office/drawing/2014/main" id="{EEE2D033-EF8E-4684-9245-D9C5A883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409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3" name="handoff-copy-2">
            <a:extLst xmlns:a="http://schemas.openxmlformats.org/drawingml/2006/main">
              <a:ext uri="{FF2B5EF4-FFF2-40B4-BE49-F238E27FC236}">
                <a16:creationId xmlns:a16="http://schemas.microsoft.com/office/drawing/2014/main" id="{AC527A4C-304D-49D3-B12F-195D39D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146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來源、log、status、review note 都在 folder 裡</a:t>
            </a:r>
          </a:p>
        </p:txBody>
      </p:sp>
      <p:sp>
        <p:nvSpPr>
          <p:cNvPr id="14" name="handoff-head-3">
            <a:extLst xmlns:a="http://schemas.openxmlformats.org/drawingml/2006/main">
              <a:ext uri="{FF2B5EF4-FFF2-40B4-BE49-F238E27FC236}">
                <a16:creationId xmlns:a16="http://schemas.microsoft.com/office/drawing/2014/main" id="{EE566471-C29B-4AFC-8526-D85B50C3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1409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handoff-copy-3">
            <a:extLst xmlns:a="http://schemas.openxmlformats.org/drawingml/2006/main">
              <a:ext uri="{FF2B5EF4-FFF2-40B4-BE49-F238E27FC236}">
                <a16:creationId xmlns:a16="http://schemas.microsoft.com/office/drawing/2014/main" id="{3F8A6425-26F9-4126-AAA1-F61B347C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至少 normal / not_found / conflicting 三種 case</a:t>
            </a:r>
          </a:p>
        </p:txBody>
      </p:sp>
      <p:sp>
        <p:nvSpPr>
          <p:cNvPr id="16" name="handoff-head-4">
            <a:extLst xmlns:a="http://schemas.openxmlformats.org/drawingml/2006/main">
              <a:ext uri="{FF2B5EF4-FFF2-40B4-BE49-F238E27FC236}">
                <a16:creationId xmlns:a16="http://schemas.microsoft.com/office/drawing/2014/main" id="{DF7217A8-5BF3-4E3E-8D69-6CB05BB9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409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4AA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17" name="handoff-copy-4">
            <a:extLst xmlns:a="http://schemas.openxmlformats.org/drawingml/2006/main">
              <a:ext uri="{FF2B5EF4-FFF2-40B4-BE49-F238E27FC236}">
                <a16:creationId xmlns:a16="http://schemas.microsoft.com/office/drawing/2014/main" id="{0E7830C3-87B1-41C0-B799-87DE8197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95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準備一句不該相信或不該自動化的結果</a:t>
            </a:r>
          </a:p>
        </p:txBody>
      </p:sp>
      <p:sp>
        <p:nvSpPr>
          <p:cNvPr id="18" name="handoff-head-5">
            <a:extLst xmlns:a="http://schemas.openxmlformats.org/drawingml/2006/main">
              <a:ext uri="{FF2B5EF4-FFF2-40B4-BE49-F238E27FC236}">
                <a16:creationId xmlns:a16="http://schemas.microsoft.com/office/drawing/2014/main" id="{8B654FAF-643B-47A5-BC64-768D3BD1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409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8D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438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8D4A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9" name="handoff-copy-5">
            <a:extLst xmlns:a="http://schemas.openxmlformats.org/drawingml/2006/main">
              <a:ext uri="{FF2B5EF4-FFF2-40B4-BE49-F238E27FC236}">
                <a16:creationId xmlns:a16="http://schemas.microsoft.com/office/drawing/2014/main" id="{5411E4F4-ECC9-4E7C-BD77-56B1D001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檔案、終端、網頁、投影片開在正確位置</a:t>
            </a:r>
          </a:p>
        </p:txBody>
      </p:sp>
      <p:sp>
        <p:nvSpPr>
          <p:cNvPr id="20" name="bottom">
            <a:extLst xmlns:a="http://schemas.openxmlformats.org/drawingml/2006/main">
              <a:ext uri="{FF2B5EF4-FFF2-40B4-BE49-F238E27FC236}">
                <a16:creationId xmlns:a16="http://schemas.microsoft.com/office/drawing/2014/main" id="{21B23045-9C10-4F08-B714-6372D262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一組完整的 demo folder 比一張精美但不可回查的截圖更有價值。</a:t>
            </a:r>
          </a:p>
        </p:txBody>
      </p:sp>
    </p:spTree>
    <p:extLst>
      <p:ext uri="{BB962C8B-B14F-4D97-AF65-F5344CB8AC3E}">
        <p14:creationId xmlns:p14="http://schemas.microsoft.com/office/powerpoint/2010/main" val="11139793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7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-34">
            <a:extLst xmlns:a="http://schemas.openxmlformats.org/drawingml/2006/main">
              <a:ext uri="{FF2B5EF4-FFF2-40B4-BE49-F238E27FC236}">
                <a16:creationId xmlns:a16="http://schemas.microsoft.com/office/drawing/2014/main" id="{39198DF4-0A20-43DD-B3F1-4FCB9B6C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2" name="section-34">
            <a:extLst xmlns:a="http://schemas.openxmlformats.org/drawingml/2006/main">
              <a:ext uri="{FF2B5EF4-FFF2-40B4-BE49-F238E27FC236}">
                <a16:creationId xmlns:a16="http://schemas.microsoft.com/office/drawing/2014/main" id="{86814007-6458-4B80-9E7D-E49A5363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3CD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3CDD4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3" name="progress-track-34">
            <a:extLst xmlns:a="http://schemas.openxmlformats.org/drawingml/2006/main">
              <a:ext uri="{FF2B5EF4-FFF2-40B4-BE49-F238E27FC236}">
                <a16:creationId xmlns:a16="http://schemas.microsoft.com/office/drawing/2014/main" id="{545E6286-D0F6-4A24-93A9-AF2A6B65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650"/>
            </a:solidFill>
            <a:prstDash val="solid"/>
          </a:ln>
        </p:spPr>
      </p:sp>
      <p:sp>
        <p:nvSpPr>
          <p:cNvPr id="4" name="progress-fill-34">
            <a:extLst xmlns:a="http://schemas.openxmlformats.org/drawingml/2006/main">
              <a:ext uri="{FF2B5EF4-FFF2-40B4-BE49-F238E27FC236}">
                <a16:creationId xmlns:a16="http://schemas.microsoft.com/office/drawing/2014/main" id="{E6FAB719-7F18-41CB-817D-CADBBF8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8652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8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5ACCDCF-1745-4106-A72F-65F5FF6E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4D8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D8D0"/>
                </a:solidFill>
                <a:latin typeface="Aptos"/>
                <a:ea typeface="Aptos"/>
                <a:cs typeface="Aptos"/>
              </a:rPr>
              <a:t>BIOMEDICAL HACKATHON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470A4FA-3D9C-4986-9E6D-B15ACB6A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7810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 small.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Preserve evidence.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 honestly.</a:t>
            </a:r>
          </a:p>
        </p:txBody>
      </p:sp>
      <p:sp>
        <p:nvSpPr>
          <p:cNvPr id="7" name="close-card-0">
            <a:extLst xmlns:a="http://schemas.openxmlformats.org/drawingml/2006/main">
              <a:ext uri="{FF2B5EF4-FFF2-40B4-BE49-F238E27FC236}">
                <a16:creationId xmlns:a16="http://schemas.microsoft.com/office/drawing/2014/main" id="{9D3E7D01-E930-4F4B-B9E6-28C7B7E2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2686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8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C56E15CE-EEEA-433B-9323-4F53F6EA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9" name="close-copy-0">
            <a:extLst xmlns:a="http://schemas.openxmlformats.org/drawingml/2006/main">
              <a:ext uri="{FF2B5EF4-FFF2-40B4-BE49-F238E27FC236}">
                <a16:creationId xmlns:a16="http://schemas.microsoft.com/office/drawing/2014/main" id="{E0FE0486-53F6-4456-BB09-C3CBDEC3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one verifiable task</a:t>
            </a:r>
          </a:p>
        </p:txBody>
      </p:sp>
      <p:sp>
        <p:nvSpPr>
          <p:cNvPr id="10" name="close-card-1">
            <a:extLst xmlns:a="http://schemas.openxmlformats.org/drawingml/2006/main">
              <a:ext uri="{FF2B5EF4-FFF2-40B4-BE49-F238E27FC236}">
                <a16:creationId xmlns:a16="http://schemas.microsoft.com/office/drawing/2014/main" id="{BE7C645C-AA9A-4392-9E85-0C6C432A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24350"/>
            <a:ext cx="2686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1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88BE823D-EB57-4216-835B-1DB29390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958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2" name="close-copy-1">
            <a:extLst xmlns:a="http://schemas.openxmlformats.org/drawingml/2006/main">
              <a:ext uri="{FF2B5EF4-FFF2-40B4-BE49-F238E27FC236}">
                <a16:creationId xmlns:a16="http://schemas.microsoft.com/office/drawing/2014/main" id="{1B997C0A-8A8F-4A84-97FF-B431915F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196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one complete path</a:t>
            </a:r>
          </a:p>
        </p:txBody>
      </p:sp>
      <p:sp>
        <p:nvSpPr>
          <p:cNvPr id="13" name="close-card-2">
            <a:extLst xmlns:a="http://schemas.openxmlformats.org/drawingml/2006/main">
              <a:ext uri="{FF2B5EF4-FFF2-40B4-BE49-F238E27FC236}">
                <a16:creationId xmlns:a16="http://schemas.microsoft.com/office/drawing/2014/main" id="{3DFF8B1D-7C18-42C5-90EE-C103F49F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24350"/>
            <a:ext cx="2686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4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98A50D3E-C1C8-47C7-9D2F-1FEEF657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958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15" name="close-copy-2">
            <a:extLst xmlns:a="http://schemas.openxmlformats.org/drawingml/2006/main">
              <a:ext uri="{FF2B5EF4-FFF2-40B4-BE49-F238E27FC236}">
                <a16:creationId xmlns:a16="http://schemas.microsoft.com/office/drawing/2014/main" id="{4B4A4CF0-16A4-4B21-BB1C-265568DA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196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one honest boundary</a:t>
            </a:r>
          </a:p>
        </p:txBody>
      </p:sp>
      <p:sp>
        <p:nvSpPr>
          <p:cNvPr id="16" name="closing">
            <a:extLst xmlns:a="http://schemas.openxmlformats.org/drawingml/2006/main">
              <a:ext uri="{FF2B5EF4-FFF2-40B4-BE49-F238E27FC236}">
                <a16:creationId xmlns:a16="http://schemas.microsoft.com/office/drawing/2014/main" id="{0D1A52C7-1E7B-4CAD-A6EC-896A008B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7D2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D2D8"/>
                </a:solidFill>
                <a:latin typeface="Aptos"/>
                <a:ea typeface="Aptos"/>
                <a:cs typeface="Aptos"/>
              </a:rPr>
              <a:t>Your next action: choose a track, write the smallest task spec, and ask for a scope check.</a:t>
            </a:r>
          </a:p>
        </p:txBody>
      </p:sp>
      <p:sp>
        <p:nvSpPr>
          <p:cNvPr id="17" name="footer-dark">
            <a:extLst xmlns:a="http://schemas.openxmlformats.org/drawingml/2006/main">
              <a:ext uri="{FF2B5EF4-FFF2-40B4-BE49-F238E27FC236}">
                <a16:creationId xmlns:a16="http://schemas.microsoft.com/office/drawing/2014/main" id="{55539757-19AF-40A4-8C51-2AA980B7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3CDD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3CDD4"/>
                </a:solidFill>
                <a:latin typeface="Aptos"/>
                <a:ea typeface="Aptos"/>
                <a:cs typeface="Aptos"/>
              </a:rPr>
              <a:t>Biomedical hackathon briefing  |  34/34</a:t>
            </a:r>
          </a:p>
        </p:txBody>
      </p:sp>
    </p:spTree>
    <p:extLst>
      <p:ext uri="{BB962C8B-B14F-4D97-AF65-F5344CB8AC3E}">
        <p14:creationId xmlns:p14="http://schemas.microsoft.com/office/powerpoint/2010/main" val="835332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2026-07-10T02:07:59.5590000Z</dcterms:created>
  <dcterms:modified xsi:type="dcterms:W3CDTF">2026-07-10T02:07:59.5590000Z</dcterms:modified>
</coreProperties>
</file>