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a48f46a0f24d13" /><Relationship Type="http://schemas.openxmlformats.org/officeDocument/2006/relationships/extended-properties" Target="/docProps/app.xml" Id="Rddd5b93f1d2b4dfd" /><Relationship Type="http://schemas.openxmlformats.org/officeDocument/2006/relationships/officeDocument" Target="/ppt/presentation.xml" Id="R055f3dfbafb84e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022c00283b4c84"/>
  </p:sldMasterIdLst>
  <p:notesMasterIdLst>
    <p:notesMasterId xmlns:r="http://schemas.openxmlformats.org/officeDocument/2006/relationships" r:id="Rbeef48901e554f99"/>
  </p:notesMasterIdLst>
  <p:sldIdLst>
    <p:sldId xmlns:r="http://schemas.openxmlformats.org/officeDocument/2006/relationships" id="256" r:id="R655e78c0299a4e02"/>
    <p:sldId xmlns:r="http://schemas.openxmlformats.org/officeDocument/2006/relationships" id="257" r:id="Rc5d80cc3f27446c2"/>
    <p:sldId xmlns:r="http://schemas.openxmlformats.org/officeDocument/2006/relationships" id="258" r:id="Rc36d8b64eac44303"/>
    <p:sldId xmlns:r="http://schemas.openxmlformats.org/officeDocument/2006/relationships" id="259" r:id="Rbdcd73f5e0e44286"/>
    <p:sldId xmlns:r="http://schemas.openxmlformats.org/officeDocument/2006/relationships" id="260" r:id="Ra3ebc03802b64ee8"/>
    <p:sldId xmlns:r="http://schemas.openxmlformats.org/officeDocument/2006/relationships" id="261" r:id="Rd4cdc43fb96c464a"/>
    <p:sldId xmlns:r="http://schemas.openxmlformats.org/officeDocument/2006/relationships" id="262" r:id="R1c6fa91aa68e43a3"/>
    <p:sldId xmlns:r="http://schemas.openxmlformats.org/officeDocument/2006/relationships" id="263" r:id="R987fde3354834612"/>
    <p:sldId xmlns:r="http://schemas.openxmlformats.org/officeDocument/2006/relationships" id="264" r:id="Ra65ec46b56294d35"/>
    <p:sldId xmlns:r="http://schemas.openxmlformats.org/officeDocument/2006/relationships" id="265" r:id="R92e4d0576bea402d"/>
    <p:sldId xmlns:r="http://schemas.openxmlformats.org/officeDocument/2006/relationships" id="266" r:id="Re7da56cd695e4f1d"/>
    <p:sldId xmlns:r="http://schemas.openxmlformats.org/officeDocument/2006/relationships" id="267" r:id="R65f66816daeb4127"/>
    <p:sldId xmlns:r="http://schemas.openxmlformats.org/officeDocument/2006/relationships" id="268" r:id="R0412332b9e6a4702"/>
    <p:sldId xmlns:r="http://schemas.openxmlformats.org/officeDocument/2006/relationships" id="269" r:id="R1c57a92aed1842c0"/>
    <p:sldId xmlns:r="http://schemas.openxmlformats.org/officeDocument/2006/relationships" id="270" r:id="Re48eb3bddcb74328"/>
    <p:sldId xmlns:r="http://schemas.openxmlformats.org/officeDocument/2006/relationships" id="271" r:id="Ra13c06322b2a4f64"/>
    <p:sldId xmlns:r="http://schemas.openxmlformats.org/officeDocument/2006/relationships" id="272" r:id="Rf6ff7c40a17241ce"/>
    <p:sldId xmlns:r="http://schemas.openxmlformats.org/officeDocument/2006/relationships" id="273" r:id="Ra10a2ab606174eda"/>
    <p:sldId xmlns:r="http://schemas.openxmlformats.org/officeDocument/2006/relationships" id="274" r:id="Rbdbfe80ab8384e9c"/>
    <p:sldId xmlns:r="http://schemas.openxmlformats.org/officeDocument/2006/relationships" id="275" r:id="R7e5a99c1a47d48cc"/>
    <p:sldId xmlns:r="http://schemas.openxmlformats.org/officeDocument/2006/relationships" id="276" r:id="R1c8fe7320f944a1c"/>
    <p:sldId xmlns:r="http://schemas.openxmlformats.org/officeDocument/2006/relationships" id="277" r:id="R501005b6582d4148"/>
    <p:sldId xmlns:r="http://schemas.openxmlformats.org/officeDocument/2006/relationships" id="278" r:id="Rb6757d7020fb497d"/>
    <p:sldId xmlns:r="http://schemas.openxmlformats.org/officeDocument/2006/relationships" id="279" r:id="R138087c047d949d6"/>
    <p:sldId xmlns:r="http://schemas.openxmlformats.org/officeDocument/2006/relationships" id="280" r:id="Rba44e7c54c5a47a9"/>
    <p:sldId xmlns:r="http://schemas.openxmlformats.org/officeDocument/2006/relationships" id="281" r:id="R1a43dc6970ed4bce"/>
    <p:sldId xmlns:r="http://schemas.openxmlformats.org/officeDocument/2006/relationships" id="282" r:id="Ra03eab92d8aa4a36"/>
    <p:sldId xmlns:r="http://schemas.openxmlformats.org/officeDocument/2006/relationships" id="283" r:id="R3f7b05b3b2e04f83"/>
    <p:sldId xmlns:r="http://schemas.openxmlformats.org/officeDocument/2006/relationships" id="284" r:id="R50d1cce7ccb441f6"/>
    <p:sldId xmlns:r="http://schemas.openxmlformats.org/officeDocument/2006/relationships" id="285" r:id="R7bcebc62e7b842b2"/>
    <p:sldId xmlns:r="http://schemas.openxmlformats.org/officeDocument/2006/relationships" id="286" r:id="R41cf007a63264eaf"/>
    <p:sldId xmlns:r="http://schemas.openxmlformats.org/officeDocument/2006/relationships" id="287" r:id="Rd82e1e331acc48c3"/>
    <p:sldId xmlns:r="http://schemas.openxmlformats.org/officeDocument/2006/relationships" id="288" r:id="Rbd0bc07fb5824c2c"/>
    <p:sldId xmlns:r="http://schemas.openxmlformats.org/officeDocument/2006/relationships" id="289" r:id="Ra86b1938265a4358"/>
    <p:sldId xmlns:r="http://schemas.openxmlformats.org/officeDocument/2006/relationships" id="290" r:id="R7f4958980747457e"/>
    <p:sldId xmlns:r="http://schemas.openxmlformats.org/officeDocument/2006/relationships" id="291" r:id="Rc1cbe1cbcd044900"/>
    <p:sldId xmlns:r="http://schemas.openxmlformats.org/officeDocument/2006/relationships" id="292" r:id="R86e4240360324c9a"/>
    <p:sldId xmlns:r="http://schemas.openxmlformats.org/officeDocument/2006/relationships" id="293" r:id="R8fb8f65a61b342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0114f9c2964669" /><Relationship Type="http://schemas.openxmlformats.org/officeDocument/2006/relationships/slideMaster" Target="/ppt/slideMasters/slideMaster1.xml" Id="R05022c00283b4c84" /><Relationship Type="http://schemas.openxmlformats.org/officeDocument/2006/relationships/notesMaster" Target="/ppt/notesMasters/notesMaster1.xml" Id="Rbeef48901e554f99" /><Relationship Type="http://schemas.openxmlformats.org/officeDocument/2006/relationships/presProps" Target="/ppt/presProps.xml" Id="R2c9b267c30c645e8" /><Relationship Type="http://schemas.openxmlformats.org/officeDocument/2006/relationships/tableStyles" Target="/ppt/tableStyles.xml" Id="R75414ebcbbfa4554" /><Relationship Type="http://schemas.openxmlformats.org/officeDocument/2006/relationships/slide" Target="/ppt/slides/slide1.xml" Id="R655e78c0299a4e02" /><Relationship Type="http://schemas.openxmlformats.org/officeDocument/2006/relationships/slide" Target="/ppt/slides/slide2.xml" Id="Rc5d80cc3f27446c2" /><Relationship Type="http://schemas.openxmlformats.org/officeDocument/2006/relationships/slide" Target="/ppt/slides/slide3.xml" Id="Rc36d8b64eac44303" /><Relationship Type="http://schemas.openxmlformats.org/officeDocument/2006/relationships/slide" Target="/ppt/slides/slide4.xml" Id="Rbdcd73f5e0e44286" /><Relationship Type="http://schemas.openxmlformats.org/officeDocument/2006/relationships/slide" Target="/ppt/slides/slide5.xml" Id="Ra3ebc03802b64ee8" /><Relationship Type="http://schemas.openxmlformats.org/officeDocument/2006/relationships/slide" Target="/ppt/slides/slide6.xml" Id="Rd4cdc43fb96c464a" /><Relationship Type="http://schemas.openxmlformats.org/officeDocument/2006/relationships/slide" Target="/ppt/slides/slide7.xml" Id="R1c6fa91aa68e43a3" /><Relationship Type="http://schemas.openxmlformats.org/officeDocument/2006/relationships/slide" Target="/ppt/slides/slide8.xml" Id="R987fde3354834612" /><Relationship Type="http://schemas.openxmlformats.org/officeDocument/2006/relationships/slide" Target="/ppt/slides/slide9.xml" Id="Ra65ec46b56294d35" /><Relationship Type="http://schemas.openxmlformats.org/officeDocument/2006/relationships/slide" Target="/ppt/slides/slide10.xml" Id="R92e4d0576bea402d" /><Relationship Type="http://schemas.openxmlformats.org/officeDocument/2006/relationships/slide" Target="/ppt/slides/slide11.xml" Id="Re7da56cd695e4f1d" /><Relationship Type="http://schemas.openxmlformats.org/officeDocument/2006/relationships/slide" Target="/ppt/slides/slide12.xml" Id="R65f66816daeb4127" /><Relationship Type="http://schemas.openxmlformats.org/officeDocument/2006/relationships/slide" Target="/ppt/slides/slide13.xml" Id="R0412332b9e6a4702" /><Relationship Type="http://schemas.openxmlformats.org/officeDocument/2006/relationships/slide" Target="/ppt/slides/slide14.xml" Id="R1c57a92aed1842c0" /><Relationship Type="http://schemas.openxmlformats.org/officeDocument/2006/relationships/slide" Target="/ppt/slides/slide15.xml" Id="Re48eb3bddcb74328" /><Relationship Type="http://schemas.openxmlformats.org/officeDocument/2006/relationships/slide" Target="/ppt/slides/slide16.xml" Id="Ra13c06322b2a4f64" /><Relationship Type="http://schemas.openxmlformats.org/officeDocument/2006/relationships/slide" Target="/ppt/slides/slide17.xml" Id="Rf6ff7c40a17241ce" /><Relationship Type="http://schemas.openxmlformats.org/officeDocument/2006/relationships/slide" Target="/ppt/slides/slide18.xml" Id="Ra10a2ab606174eda" /><Relationship Type="http://schemas.openxmlformats.org/officeDocument/2006/relationships/slide" Target="/ppt/slides/slide19.xml" Id="Rbdbfe80ab8384e9c" /><Relationship Type="http://schemas.openxmlformats.org/officeDocument/2006/relationships/slide" Target="/ppt/slides/slide20.xml" Id="R7e5a99c1a47d48cc" /><Relationship Type="http://schemas.openxmlformats.org/officeDocument/2006/relationships/slide" Target="/ppt/slides/slide21.xml" Id="R1c8fe7320f944a1c" /><Relationship Type="http://schemas.openxmlformats.org/officeDocument/2006/relationships/slide" Target="/ppt/slides/slide22.xml" Id="R501005b6582d4148" /><Relationship Type="http://schemas.openxmlformats.org/officeDocument/2006/relationships/slide" Target="/ppt/slides/slide23.xml" Id="Rb6757d7020fb497d" /><Relationship Type="http://schemas.openxmlformats.org/officeDocument/2006/relationships/slide" Target="/ppt/slides/slide24.xml" Id="R138087c047d949d6" /><Relationship Type="http://schemas.openxmlformats.org/officeDocument/2006/relationships/slide" Target="/ppt/slides/slide25.xml" Id="Rba44e7c54c5a47a9" /><Relationship Type="http://schemas.openxmlformats.org/officeDocument/2006/relationships/slide" Target="/ppt/slides/slide26.xml" Id="R1a43dc6970ed4bce" /><Relationship Type="http://schemas.openxmlformats.org/officeDocument/2006/relationships/slide" Target="/ppt/slides/slide27.xml" Id="Ra03eab92d8aa4a36" /><Relationship Type="http://schemas.openxmlformats.org/officeDocument/2006/relationships/slide" Target="/ppt/slides/slide28.xml" Id="R3f7b05b3b2e04f83" /><Relationship Type="http://schemas.openxmlformats.org/officeDocument/2006/relationships/slide" Target="/ppt/slides/slide29.xml" Id="R50d1cce7ccb441f6" /><Relationship Type="http://schemas.openxmlformats.org/officeDocument/2006/relationships/slide" Target="/ppt/slides/slide30.xml" Id="R7bcebc62e7b842b2" /><Relationship Type="http://schemas.openxmlformats.org/officeDocument/2006/relationships/slide" Target="/ppt/slides/slide31.xml" Id="R41cf007a63264eaf" /><Relationship Type="http://schemas.openxmlformats.org/officeDocument/2006/relationships/slide" Target="/ppt/slides/slide32.xml" Id="Rd82e1e331acc48c3" /><Relationship Type="http://schemas.openxmlformats.org/officeDocument/2006/relationships/slide" Target="/ppt/slides/slide33.xml" Id="Rbd0bc07fb5824c2c" /><Relationship Type="http://schemas.openxmlformats.org/officeDocument/2006/relationships/slide" Target="/ppt/slides/slide34.xml" Id="Ra86b1938265a4358" /><Relationship Type="http://schemas.openxmlformats.org/officeDocument/2006/relationships/slide" Target="/ppt/slides/slide35.xml" Id="R7f4958980747457e" /><Relationship Type="http://schemas.openxmlformats.org/officeDocument/2006/relationships/slide" Target="/ppt/slides/slide36.xml" Id="Rc1cbe1cbcd044900" /><Relationship Type="http://schemas.openxmlformats.org/officeDocument/2006/relationships/slide" Target="/ppt/slides/slide37.xml" Id="R86e4240360324c9a" /><Relationship Type="http://schemas.openxmlformats.org/officeDocument/2006/relationships/slide" Target="/ppt/slides/slide38.xml" Id="R8fb8f65a61b342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87659d5fd54e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fcaf3297a341d9" /><Relationship Type="http://schemas.openxmlformats.org/officeDocument/2006/relationships/notesMaster" Target="/ppt/notesMasters/notesMaster1.xml" Id="Raa00a721a3064d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5bfc26e8e14bf0" /><Relationship Type="http://schemas.openxmlformats.org/officeDocument/2006/relationships/notesMaster" Target="/ppt/notesMasters/notesMaster1.xml" Id="R34d2c615ab064e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fddda2bb9c4721" /><Relationship Type="http://schemas.openxmlformats.org/officeDocument/2006/relationships/notesMaster" Target="/ppt/notesMasters/notesMaster1.xml" Id="R4d56a8ecc8564b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7a17f2face4427" /><Relationship Type="http://schemas.openxmlformats.org/officeDocument/2006/relationships/notesMaster" Target="/ppt/notesMasters/notesMaster1.xml" Id="R16763e3d358848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7ade581b9a4933" /><Relationship Type="http://schemas.openxmlformats.org/officeDocument/2006/relationships/notesMaster" Target="/ppt/notesMasters/notesMaster1.xml" Id="Rc067da2fa66d4e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99bd12d9cc44f2" /><Relationship Type="http://schemas.openxmlformats.org/officeDocument/2006/relationships/notesMaster" Target="/ppt/notesMasters/notesMaster1.xml" Id="R482e21e508ad46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349785fa874ccb" /><Relationship Type="http://schemas.openxmlformats.org/officeDocument/2006/relationships/notesMaster" Target="/ppt/notesMasters/notesMaster1.xml" Id="Raca685c74ea640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7c45ac6155c4017" /><Relationship Type="http://schemas.openxmlformats.org/officeDocument/2006/relationships/notesMaster" Target="/ppt/notesMasters/notesMaster1.xml" Id="R75235ea7233344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c68ef90ddb42a5" /><Relationship Type="http://schemas.openxmlformats.org/officeDocument/2006/relationships/notesMaster" Target="/ppt/notesMasters/notesMaster1.xml" Id="R75730fcfff754d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7d4ac872a624b5c" /><Relationship Type="http://schemas.openxmlformats.org/officeDocument/2006/relationships/notesMaster" Target="/ppt/notesMasters/notesMaster1.xml" Id="R10da21f3b263430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05884239ad40d8" /><Relationship Type="http://schemas.openxmlformats.org/officeDocument/2006/relationships/notesMaster" Target="/ppt/notesMasters/notesMaster1.xml" Id="R411325e2337b4c1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25a0ba2746436d" /><Relationship Type="http://schemas.openxmlformats.org/officeDocument/2006/relationships/notesMaster" Target="/ppt/notesMasters/notesMaster1.xml" Id="R9ccb9fd780564f0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475080f715a4fe3" /><Relationship Type="http://schemas.openxmlformats.org/officeDocument/2006/relationships/notesMaster" Target="/ppt/notesMasters/notesMaster1.xml" Id="Rb5846e8f8cfe41e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352c2cd91344f9f" /><Relationship Type="http://schemas.openxmlformats.org/officeDocument/2006/relationships/notesMaster" Target="/ppt/notesMasters/notesMaster1.xml" Id="R30be0f9ee4be451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9196c8e536a4628" /><Relationship Type="http://schemas.openxmlformats.org/officeDocument/2006/relationships/notesMaster" Target="/ppt/notesMasters/notesMaster1.xml" Id="R41f27d722feb401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9490450a4d24851" /><Relationship Type="http://schemas.openxmlformats.org/officeDocument/2006/relationships/notesMaster" Target="/ppt/notesMasters/notesMaster1.xml" Id="R8d414e9a32c84a7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d10d6821634552" /><Relationship Type="http://schemas.openxmlformats.org/officeDocument/2006/relationships/notesMaster" Target="/ppt/notesMasters/notesMaster1.xml" Id="Reb8559a529324b3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92c0411c27645c8" /><Relationship Type="http://schemas.openxmlformats.org/officeDocument/2006/relationships/notesMaster" Target="/ppt/notesMasters/notesMaster1.xml" Id="R26ed4560f98b4cf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daaad83f2454610" /><Relationship Type="http://schemas.openxmlformats.org/officeDocument/2006/relationships/notesMaster" Target="/ppt/notesMasters/notesMaster1.xml" Id="R3e8e13549aaf46c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878e4fdae6a4806" /><Relationship Type="http://schemas.openxmlformats.org/officeDocument/2006/relationships/notesMaster" Target="/ppt/notesMasters/notesMaster1.xml" Id="Rc2f1e92209c44ba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8780c91b56748ee" /><Relationship Type="http://schemas.openxmlformats.org/officeDocument/2006/relationships/notesMaster" Target="/ppt/notesMasters/notesMaster1.xml" Id="R8e53e6b6e2924de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7c74c7520694fdd" /><Relationship Type="http://schemas.openxmlformats.org/officeDocument/2006/relationships/notesMaster" Target="/ppt/notesMasters/notesMaster1.xml" Id="R19a41be24f484fb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b3ca56b70dc4d07" /><Relationship Type="http://schemas.openxmlformats.org/officeDocument/2006/relationships/notesMaster" Target="/ppt/notesMasters/notesMaster1.xml" Id="R4a4f9c67a315472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dc87d52974b4eb8" /><Relationship Type="http://schemas.openxmlformats.org/officeDocument/2006/relationships/notesMaster" Target="/ppt/notesMasters/notesMaster1.xml" Id="Rbe5a0d664e8844c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f75061db2a54d7d" /><Relationship Type="http://schemas.openxmlformats.org/officeDocument/2006/relationships/notesMaster" Target="/ppt/notesMasters/notesMaster1.xml" Id="R11af28ce38e1492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6b162fc3ac34061" /><Relationship Type="http://schemas.openxmlformats.org/officeDocument/2006/relationships/notesMaster" Target="/ppt/notesMasters/notesMaster1.xml" Id="R43cead928e3347f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cb12dca7764443d" /><Relationship Type="http://schemas.openxmlformats.org/officeDocument/2006/relationships/notesMaster" Target="/ppt/notesMasters/notesMaster1.xml" Id="R061df21668e8445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f293315490548aa" /><Relationship Type="http://schemas.openxmlformats.org/officeDocument/2006/relationships/notesMaster" Target="/ppt/notesMasters/notesMaster1.xml" Id="R1de7115302f94da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329912536574ee9" /><Relationship Type="http://schemas.openxmlformats.org/officeDocument/2006/relationships/notesMaster" Target="/ppt/notesMasters/notesMaster1.xml" Id="R488069df34304aa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22c2bb52bfd423e" /><Relationship Type="http://schemas.openxmlformats.org/officeDocument/2006/relationships/notesMaster" Target="/ppt/notesMasters/notesMaster1.xml" Id="Rb51cf8b5bbf2449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8b29e41b2f44a6f" /><Relationship Type="http://schemas.openxmlformats.org/officeDocument/2006/relationships/notesMaster" Target="/ppt/notesMasters/notesMaster1.xml" Id="R224772ab179f4ce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09919679a984a09" /><Relationship Type="http://schemas.openxmlformats.org/officeDocument/2006/relationships/notesMaster" Target="/ppt/notesMasters/notesMaster1.xml" Id="Rceb4e19d4bb84ed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127e5c3bcda40e7" /><Relationship Type="http://schemas.openxmlformats.org/officeDocument/2006/relationships/notesMaster" Target="/ppt/notesMasters/notesMaster1.xml" Id="R8cd9b3dd473b4a4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90f0d8bf3c74c8c" /><Relationship Type="http://schemas.openxmlformats.org/officeDocument/2006/relationships/notesMaster" Target="/ppt/notesMasters/notesMaster1.xml" Id="R8053ceab32d44f7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3a238175ae54f97" /><Relationship Type="http://schemas.openxmlformats.org/officeDocument/2006/relationships/notesMaster" Target="/ppt/notesMasters/notesMaster1.xml" Id="R02772e2f8bf045c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154ddafa2a84843" /><Relationship Type="http://schemas.openxmlformats.org/officeDocument/2006/relationships/notesMaster" Target="/ppt/notesMasters/notesMaster1.xml" Id="R7a5da4ec0045414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b9aec779cae4742" /><Relationship Type="http://schemas.openxmlformats.org/officeDocument/2006/relationships/notesMaster" Target="/ppt/notesMasters/notesMaster1.xml" Id="Raaf0f45a6d18464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b6fdf6bf3174e4a" /><Relationship Type="http://schemas.openxmlformats.org/officeDocument/2006/relationships/notesMaster" Target="/ppt/notesMasters/notesMaster1.xml" Id="Ref217899672243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開場定位：前三堂建立 agent 的環境、操作和規格，最後一堂教學生怎麼把這些能力放進可停止、可檢查的 loop。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這張是講師自己的路線圖也給學生看：最後一堂不是新玩具，而是把 Day 2 的能力串成完整工作流。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Loop 把前面三堂課變成一條可執行流程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Harness 決定 agent 能碰什麼、不能碰什麼 Coding agent 讓 agent 能讀檔、改檔、跑檢查 Spec 把模糊需求變成可驗證條件 Loop 讓 agent 按照 spec 反覆修到可交付 今天的核心句: Harness controls the workspace Spec defines done Loop drives iteration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一次性回答: 輸入問題，直接交答案 錯了很難知道哪一步壞掉 很容易流暢但沒有來源 Loop workflow: 先定任務，再取證據 每輪都有 evaluator issues 最後附上 summary 和檢查紀錄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這張建立整堂課核心圖。要提醒：feedback 是帶著結構化問題回去修，不是單純叫模型再想想。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學生要知道每一步的責任不同。把所有事情都丟給一個 prompt，通常只是把錯誤藏得更深。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六個階段各自有不同責任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Plan / 界定問題、輸出格式、不可回答範圍 / 回答 EGFR T790M，但不給病人治療建議</a:t>
            </a:r>
          </a:p>
          <a:p xmlns:a="http://schemas.openxmlformats.org/drawingml/2006/main">
            <a:r>
              <a:t>Retrieve / 取得可引用 evidence / 讀 evidence_table.csv 或查 PubMed</a:t>
            </a:r>
          </a:p>
          <a:p xmlns:a="http://schemas.openxmlformats.org/drawingml/2006/main">
            <a:r>
              <a:t>Analyze / 把 evidence 轉成可用 claim / 區分 resistance、response、mechanism</a:t>
            </a:r>
          </a:p>
          <a:p xmlns:a="http://schemas.openxmlformats.org/drawingml/2006/main">
            <a:r>
              <a:t>Verify / 檢查 claim、source、overreach / 每句是否有 [S1]，有無臨床過度推論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Plan 的目的不是裝忙，是先避免任務失控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Question / 沒有明確問題，後面都會漂移 / T790M 與 NSCLC resistance/response</a:t>
            </a:r>
          </a:p>
          <a:p xmlns:a="http://schemas.openxmlformats.org/drawingml/2006/main">
            <a:r>
              <a:t>Boundary / 先講不能回答什麼 / 不產生 patient-level recommendation</a:t>
            </a:r>
          </a:p>
          <a:p xmlns:a="http://schemas.openxmlformats.org/drawingml/2006/main">
            <a:r>
              <a:t>Output / 沒有格式，無法驗證 / 220 words + source IDs + uncertainty</a:t>
            </a:r>
          </a:p>
          <a:p xmlns:a="http://schemas.openxmlformats.org/drawingml/2006/main">
            <a:r>
              <a:t>Done / 沒有完成定義就會無限修 / no blocking issues or human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Retrieve 不是亂查，是拿到能支撐 claim 的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課堂 demo 建議用老師提供的 evidence table，穩定且可控 真的接 PubMed 時，要限制 query、max sources、資料來源 每個 source 都要有 source_id，後面 verify 才抓得到 新手常犯錯: 每輪都重新查 把摘要當全文 source 沒編號 查到什麼都塞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Analyze 要把 evidence 轉成小心的 claim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 association、mechanism、response、resistance 分開 把 clinical、preclinical、review 的證據等級分開 不要把『有關聯』升級成『可以用來治療』 一句提醒: Biomedical summary 不是醫囑產生器 更不是自信心表演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Verify 的工作是找錯，不是幫 draft 找台階下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每個 biomedical claim 是否有 source_id source_id 是否存在於 evidence table claim 是否超出 evidence 是否出現 clinical recommendation 或過度推論 Evaluator 心態: 不要禮貌性通過 不要只說 looks good 要輸出可修的 issues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 不是重寫一篇，而是根據 issues 修補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只修 evaluator 指出的問題 刪掉 unsupported claim，比硬找理由更安全 修完要保留 source_id 和 uncertainty 危險修法: 改到 citation 不見 把 claim 改更大 為了通過而刪光內容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Report 要交答案，也要交檢查紀錄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final_summary.md 是給人讀的結論 issue_log.json 是給人追查的紀錄 loop_report.json 是這次 loop 是否通過的狀態 最後交付: summary sources used iterations human review flag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同一個模型可以扮演不同角色，但角色、prompt、輸出格式必須分開，否則它很容易自己幫自己蓋章。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Generator: 根據 evidence 產生 summary 把資訊整理得可讀 必須引用 source_id Evaluator: 找 unsupported claim 檢查 missing source_id 標出 overstatement 和 human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Generator prompt 要限制來源和輸出格式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先限制資料來源 明確禁止臨床建議 要求 source_id 限制長度避免發散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Evaluator prompt 要輸出結構化 issue，不要只聊天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列出檢查項目 輸出 JSON issue 要能被 revise 使用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好的 evaluator 會留下可修的錯誤清單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severity 決定是否阻擋 sentence 讓人定位 suggested_fix 讓 revise 可執行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自我檢查可以降低風險，但不能取代外部規則檢查，更不能取代高風險的人工審查。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三層檢查各有工作，不要混在一起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LLM evaluator / 語意、過度推論、uncertainty / citation 是否真的存在</a:t>
            </a:r>
          </a:p>
          <a:p xmlns:a="http://schemas.openxmlformats.org/drawingml/2006/main">
            <a:r>
              <a:t>Rule checker / 格式、source_id、禁止詞、長度 / 醫學語意是否合理</a:t>
            </a:r>
          </a:p>
          <a:p xmlns:a="http://schemas.openxmlformats.org/drawingml/2006/main">
            <a:r>
              <a:t>External tools / PMID、DOI、gene symbol、資料庫版本 / 最後臨床解讀</a:t>
            </a:r>
          </a:p>
          <a:p xmlns:a="http://schemas.openxmlformats.org/drawingml/2006/main">
            <a:r>
              <a:t>Human review / 高風險判斷、領域 nuance / 大量格式檢查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程式檢查很無聊，但 demo 會因此活下來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source_id 是否都存在 summary 是否引用 evidence table 以外的 source 是否超過字數 是否出現 clinical action 禁止語 適合程式抓: 格式 存在性 長度 明確規則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最小 rule checker 就能擋掉很多事故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規則不用聰明 要抓高風險硬條件 LLM 和程式互補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好的 loop 不只是會努力，還要知道什麼時候該停。否則它會從助教變成會刷卡的無限迴圈。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停止條件要先寫，不要等它失控才祈禱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blocking issues / 只剩低風險或沒有問題 / 產生 final report</a:t>
            </a:r>
          </a:p>
          <a:p xmlns:a="http://schemas.openxmlformats.org/drawingml/2006/main">
            <a:r>
              <a:t>Max iterations / 已修 3 輪仍有問題 / 停止並列出剩餘問題</a:t>
            </a:r>
          </a:p>
          <a:p xmlns:a="http://schemas.openxmlformats.org/drawingml/2006/main">
            <a:r>
              <a:t>Human review / 臨床建議、證據不足、衝突資料 / 交給人，不再硬改</a:t>
            </a:r>
          </a:p>
          <a:p xmlns:a="http://schemas.openxmlformats.org/drawingml/2006/main">
            <a:r>
              <a:t>Budget reached / 來源數、token、時間超標 / 停止 retrieve 或縮小任務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Budget 是 loop 的安全帶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限制迭代次數 限制 retrieve 成本 明確定義必跑 checks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Loop 失控通常不是壞掉，而是太努力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無限修正: Evaluator 每輪都找到新問題，agent 就一直改。沒有 max_iterations 就會開始表演耐力賽。</a:t>
            </a:r>
          </a:p>
          <a:p xmlns:a="http://schemas.openxmlformats.org/drawingml/2006/main">
            <a:r>
              <a:t>越改越偏: 第一版有 source，第三版改到 citation 消失。Revise 必須保留 evidence linkage。</a:t>
            </a:r>
          </a:p>
          <a:p xmlns:a="http://schemas.openxmlformats.org/drawingml/2006/main">
            <a:r>
              <a:t>Evaluator 放水: 只回 looks good，等於沒有 evaluator。Issue schema 要逼它講清楚錯在哪。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我們不用現場賭網路。先用 mock mode 跑通 loop，再讓學生理解如果接到真 agent，每個環節要怎麼替換。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學生最後要產出三個可檢查檔案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final_summary.md / 給人看的 biomedical summary / 每個 claim 有 source_id，沒有臨床建議</a:t>
            </a:r>
          </a:p>
          <a:p xmlns:a="http://schemas.openxmlformats.org/drawingml/2006/main">
            <a:r>
              <a:t>issue_log.json / 每輪 evaluator 和 rule checker 問題 / 看得出修了什麼，剩什麼</a:t>
            </a:r>
          </a:p>
          <a:p xmlns:a="http://schemas.openxmlformats.org/drawingml/2006/main">
            <a:r>
              <a:t>loop_report.json / 這次 loop 的狀態 / passed / needs_human_review / max_iterations</a:t>
            </a:r>
          </a:p>
          <a:p xmlns:a="http://schemas.openxmlformats.org/drawingml/2006/main">
            <a:r>
              <a:t>review_notes.md / 學生人工檢查心得 / 哪裡仍需要領域專家判斷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Lab 用小 evidence table，讓 demo 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資料小，容易教 source_id 清楚 包含 clinical 和 preclinical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Question spec 讓 generator 不會自由飛翔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題目要有邊界 要求可驗證引用 禁止高風險輸出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 loop 的骨架其實很短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generate 後立刻 evaluate LLM checks + rule checks stop 條件在 revise 前判斷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Mock mode: 使用預設 draft 和 issues 不需要 API key 保證能跑出完整 loop Agent mode: 把 prompt 交給 Codex / Gemini / Claude 可以真的產生和評估 需要處理成本、延遲和不穩定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最後報告要讓人一眼知道能不能用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status 要明確 iterations 要記錄 outputs 要可追查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學生人工檢查不是重做，是檢查高風險點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coverage / 每個 claim 都有 source_id 嗎？ / 補引用或刪句子</a:t>
            </a:r>
          </a:p>
          <a:p xmlns:a="http://schemas.openxmlformats.org/drawingml/2006/main">
            <a:r>
              <a:t>Overreach / 有沒有從 association 變成 clinical action？ / 降級語氣或 human review</a:t>
            </a:r>
          </a:p>
          <a:p xmlns:a="http://schemas.openxmlformats.org/drawingml/2006/main">
            <a:r>
              <a:t>Uncertainty / preclinical evidence 有標不確定性嗎？ / 補上限制</a:t>
            </a:r>
          </a:p>
          <a:p xmlns:a="http://schemas.openxmlformats.org/drawingml/2006/main">
            <a:r>
              <a:t>Final status / passed 真的合理嗎？ / 改成 needs_human_review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今天的 mock loop 是骨架。真實系統只是把 generator、evaluator、retriever、rule checker 換成更強的實作。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真實 biomedical loop 可以逐步升級，不要一口氣做太大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PubMed retrieval / 自動搜尋與排序來源 / query drift、來源過多</a:t>
            </a:r>
          </a:p>
          <a:p xmlns:a="http://schemas.openxmlformats.org/drawingml/2006/main">
            <a:r>
              <a:t>Citation validation / PMID/DOI 存在性與摘要比對 / 摘要不等於全文</a:t>
            </a:r>
          </a:p>
          <a:p xmlns:a="http://schemas.openxmlformats.org/drawingml/2006/main">
            <a:r>
              <a:t>Gene symbol check / HGNC approved symbol lookup / 舊名、物種混淆</a:t>
            </a:r>
          </a:p>
          <a:p xmlns:a="http://schemas.openxmlformats.org/drawingml/2006/main">
            <a:r>
              <a:t>Human review queue / 高風險 issue 送審 / 責任歸屬與審查紀錄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好的 loop 不是把人拿掉，而是讓人審得更準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低風險格式錯誤交給程式抓 語意和 overstatement 交給 evaluator 先掃 高風險 biomedical 判斷交給 human-in-the-loop 最後把每一輪留下可追查紀錄 Day 2 收束: Harness: 可控 Spec: 可驗證 Loop: 可改進 Human: 可負責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用五句話收尾 Day 2：harness 控制環境，spec 定義完成，loop 推動修正，人負責高風險判斷。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4a9c2ed5b348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8e6fa96cf346b2" /><Relationship Type="http://schemas.openxmlformats.org/officeDocument/2006/relationships/slideLayout" Target="/ppt/slideLayouts/slideLayout1.xml" Id="R0c39d8441b9247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39d8441b9247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77ee620964faf" /><Relationship Type="http://schemas.openxmlformats.org/officeDocument/2006/relationships/notesSlide" Target="/ppt/notesSlides/notesSlide1.xml" Id="Ra3b58af6108d49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09983a92547e6" /><Relationship Type="http://schemas.openxmlformats.org/officeDocument/2006/relationships/notesSlide" Target="/ppt/notesSlides/notesSlide2.xml" Id="R0378086fb8f44d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049192db242b9" /><Relationship Type="http://schemas.openxmlformats.org/officeDocument/2006/relationships/notesSlide" Target="/ppt/notesSlides/notesSlide3.xml" Id="Rb5757119f5e742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7a8210f2304ca7" /><Relationship Type="http://schemas.openxmlformats.org/officeDocument/2006/relationships/notesSlide" Target="/ppt/notesSlides/notesSlide4.xml" Id="Rbbb3dab5ef8b4d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8e148d45f444b" /><Relationship Type="http://schemas.openxmlformats.org/officeDocument/2006/relationships/notesSlide" Target="/ppt/notesSlides/notesSlide5.xml" Id="R5568b253861148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bf4f78125468c" /><Relationship Type="http://schemas.openxmlformats.org/officeDocument/2006/relationships/notesSlide" Target="/ppt/notesSlides/notesSlide6.xml" Id="R4e95c30ef73249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61388c0bb4e43" /><Relationship Type="http://schemas.openxmlformats.org/officeDocument/2006/relationships/notesSlide" Target="/ppt/notesSlides/notesSlide7.xml" Id="R44a14034f5224fd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0bcf1120fa4d98" /><Relationship Type="http://schemas.openxmlformats.org/officeDocument/2006/relationships/notesSlide" Target="/ppt/notesSlides/notesSlide8.xml" Id="R1eeb3571482e40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0e4ba93844681" /><Relationship Type="http://schemas.openxmlformats.org/officeDocument/2006/relationships/notesSlide" Target="/ppt/notesSlides/notesSlide9.xml" Id="Rbeac82ecc7794e8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2eecb8ece4aac" /><Relationship Type="http://schemas.openxmlformats.org/officeDocument/2006/relationships/notesSlide" Target="/ppt/notesSlides/notesSlide10.xml" Id="Rc942abf983b74f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d34ff18c642b7" /><Relationship Type="http://schemas.openxmlformats.org/officeDocument/2006/relationships/notesSlide" Target="/ppt/notesSlides/notesSlide11.xml" Id="Rca954810115549f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45e829a045460f" /><Relationship Type="http://schemas.openxmlformats.org/officeDocument/2006/relationships/notesSlide" Target="/ppt/notesSlides/notesSlide12.xml" Id="R7c2022ffcd82493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f159da47e4bae" /><Relationship Type="http://schemas.openxmlformats.org/officeDocument/2006/relationships/notesSlide" Target="/ppt/notesSlides/notesSlide13.xml" Id="R9f40931f873648c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df3845d0b64a71" /><Relationship Type="http://schemas.openxmlformats.org/officeDocument/2006/relationships/notesSlide" Target="/ppt/notesSlides/notesSlide14.xml" Id="Ra8598a564b4c4a8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a3c2d630749cd" /><Relationship Type="http://schemas.openxmlformats.org/officeDocument/2006/relationships/notesSlide" Target="/ppt/notesSlides/notesSlide15.xml" Id="R15640864f48f41c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065d0308a74832" /><Relationship Type="http://schemas.openxmlformats.org/officeDocument/2006/relationships/notesSlide" Target="/ppt/notesSlides/notesSlide16.xml" Id="R2cf04e7d7a764d6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5a935c0364d43" /><Relationship Type="http://schemas.openxmlformats.org/officeDocument/2006/relationships/notesSlide" Target="/ppt/notesSlides/notesSlide17.xml" Id="Re3700ab98201407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92b86e58b4371" /><Relationship Type="http://schemas.openxmlformats.org/officeDocument/2006/relationships/notesSlide" Target="/ppt/notesSlides/notesSlide18.xml" Id="R5de088acec5a4ff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2132191934370" /><Relationship Type="http://schemas.openxmlformats.org/officeDocument/2006/relationships/notesSlide" Target="/ppt/notesSlides/notesSlide19.xml" Id="R94cfa18b6df54b7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9318e1b46f43ca" /><Relationship Type="http://schemas.openxmlformats.org/officeDocument/2006/relationships/notesSlide" Target="/ppt/notesSlides/notesSlide20.xml" Id="R16ad33a052864e9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bae700a664769" /><Relationship Type="http://schemas.openxmlformats.org/officeDocument/2006/relationships/notesSlide" Target="/ppt/notesSlides/notesSlide21.xml" Id="Rf330c61064d1414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910e4dda84aff" /><Relationship Type="http://schemas.openxmlformats.org/officeDocument/2006/relationships/notesSlide" Target="/ppt/notesSlides/notesSlide22.xml" Id="R508b2b63b7734b4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3f8e1f70643dc" /><Relationship Type="http://schemas.openxmlformats.org/officeDocument/2006/relationships/notesSlide" Target="/ppt/notesSlides/notesSlide23.xml" Id="R80df09096e064fd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fc73de8d3420b" /><Relationship Type="http://schemas.openxmlformats.org/officeDocument/2006/relationships/notesSlide" Target="/ppt/notesSlides/notesSlide24.xml" Id="R688fb07e21534b7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2dfa1b6314791" /><Relationship Type="http://schemas.openxmlformats.org/officeDocument/2006/relationships/notesSlide" Target="/ppt/notesSlides/notesSlide25.xml" Id="Rebd7b814cf1849b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d9a9d5ff004a4f" /><Relationship Type="http://schemas.openxmlformats.org/officeDocument/2006/relationships/notesSlide" Target="/ppt/notesSlides/notesSlide26.xml" Id="R53943c249d854a3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cf604a67dd401a" /><Relationship Type="http://schemas.openxmlformats.org/officeDocument/2006/relationships/notesSlide" Target="/ppt/notesSlides/notesSlide27.xml" Id="R635eac4d512b4e1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27489eb9604933" /><Relationship Type="http://schemas.openxmlformats.org/officeDocument/2006/relationships/notesSlide" Target="/ppt/notesSlides/notesSlide28.xml" Id="R51a9dc24b2a647e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705f54c8a448d" /><Relationship Type="http://schemas.openxmlformats.org/officeDocument/2006/relationships/notesSlide" Target="/ppt/notesSlides/notesSlide29.xml" Id="R3f75192258e0466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e7b8bf8714c3b" /><Relationship Type="http://schemas.openxmlformats.org/officeDocument/2006/relationships/notesSlide" Target="/ppt/notesSlides/notesSlide30.xml" Id="R2253353b0b3445a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71fd189904d4a" /><Relationship Type="http://schemas.openxmlformats.org/officeDocument/2006/relationships/notesSlide" Target="/ppt/notesSlides/notesSlide31.xml" Id="Re330bfa03f61491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305bee86a4842" /><Relationship Type="http://schemas.openxmlformats.org/officeDocument/2006/relationships/notesSlide" Target="/ppt/notesSlides/notesSlide32.xml" Id="R9f924271fd3a482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23e0a00f84efb" /><Relationship Type="http://schemas.openxmlformats.org/officeDocument/2006/relationships/notesSlide" Target="/ppt/notesSlides/notesSlide33.xml" Id="R0c38aa10f901477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af057b65a4179" /><Relationship Type="http://schemas.openxmlformats.org/officeDocument/2006/relationships/notesSlide" Target="/ppt/notesSlides/notesSlide34.xml" Id="Rd46b3972f874451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0aee38c1f4374" /><Relationship Type="http://schemas.openxmlformats.org/officeDocument/2006/relationships/notesSlide" Target="/ppt/notesSlides/notesSlide35.xml" Id="R83f52a306569421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5c038aed2484e" /><Relationship Type="http://schemas.openxmlformats.org/officeDocument/2006/relationships/notesSlide" Target="/ppt/notesSlides/notesSlide36.xml" Id="Rf09fc518e6ca47a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b2458d4c04bfe" /><Relationship Type="http://schemas.openxmlformats.org/officeDocument/2006/relationships/notesSlide" Target="/ppt/notesSlides/notesSlide37.xml" Id="R1b49e4d04a02424c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a6e73c4d34e2f" /><Relationship Type="http://schemas.openxmlformats.org/officeDocument/2006/relationships/notesSlide" Target="/ppt/notesSlides/notesSlide38.xml" Id="R10feda644c7847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AF01613-A362-449B-930C-644C5971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08  |  LOOP ENGINEERING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10091D6-494E-4750-99FA-92727D0C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066800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Loop engineering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5B9A787-4637-4922-BAF9-40E76585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952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讓 agent 反覆 plan、retrieve、analyze、verify、revise，最後產生可驗證 biomedical summary</a:t>
            </a:r>
          </a:p>
        </p:txBody>
      </p:sp>
      <p:sp>
        <p:nvSpPr>
          <p:cNvPr id="4" name="stage-0">
            <a:extLst xmlns:a="http://schemas.openxmlformats.org/drawingml/2006/main">
              <a:ext uri="{FF2B5EF4-FFF2-40B4-BE49-F238E27FC236}">
                <a16:creationId xmlns:a16="http://schemas.microsoft.com/office/drawing/2014/main" id="{F5B4530B-B0F0-4040-931B-48C156C6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19500"/>
            <a:ext cx="1200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5" name="line-0">
            <a:extLst xmlns:a="http://schemas.openxmlformats.org/drawingml/2006/main">
              <a:ext uri="{FF2B5EF4-FFF2-40B4-BE49-F238E27FC236}">
                <a16:creationId xmlns:a16="http://schemas.microsoft.com/office/drawing/2014/main" id="{FE3915DE-4F9D-4278-8D3D-CA7F93BC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0525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5C6670"/>
            </a:solidFill>
            <a:prstDash val="solid"/>
          </a:ln>
        </p:spPr>
      </p:sp>
      <p:sp>
        <p:nvSpPr>
          <p:cNvPr id="6" name="stage-1">
            <a:extLst xmlns:a="http://schemas.openxmlformats.org/drawingml/2006/main">
              <a:ext uri="{FF2B5EF4-FFF2-40B4-BE49-F238E27FC236}">
                <a16:creationId xmlns:a16="http://schemas.microsoft.com/office/drawing/2014/main" id="{42C4E8D7-C90C-4D4D-B0C0-3E03EE91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19500"/>
            <a:ext cx="1200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Retrieve</a:t>
            </a:r>
          </a:p>
        </p:txBody>
      </p:sp>
      <p:sp>
        <p:nvSpPr>
          <p:cNvPr id="7" name="line-1">
            <a:extLst xmlns:a="http://schemas.openxmlformats.org/drawingml/2006/main">
              <a:ext uri="{FF2B5EF4-FFF2-40B4-BE49-F238E27FC236}">
                <a16:creationId xmlns:a16="http://schemas.microsoft.com/office/drawing/2014/main" id="{88B5617B-2A61-446C-A129-86C68D18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90525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5C6670"/>
            </a:solidFill>
            <a:prstDash val="solid"/>
          </a:ln>
        </p:spPr>
      </p:sp>
      <p:sp>
        <p:nvSpPr>
          <p:cNvPr id="8" name="stage-2">
            <a:extLst xmlns:a="http://schemas.openxmlformats.org/drawingml/2006/main">
              <a:ext uri="{FF2B5EF4-FFF2-40B4-BE49-F238E27FC236}">
                <a16:creationId xmlns:a16="http://schemas.microsoft.com/office/drawing/2014/main" id="{79B5A213-9928-45E4-A0D5-3579F224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19500"/>
            <a:ext cx="1200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9" name="line-2">
            <a:extLst xmlns:a="http://schemas.openxmlformats.org/drawingml/2006/main">
              <a:ext uri="{FF2B5EF4-FFF2-40B4-BE49-F238E27FC236}">
                <a16:creationId xmlns:a16="http://schemas.microsoft.com/office/drawing/2014/main" id="{36939134-D35B-4F97-90D1-94FC50AA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90525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5C6670"/>
            </a:solidFill>
            <a:prstDash val="solid"/>
          </a:ln>
        </p:spPr>
      </p:sp>
      <p:sp>
        <p:nvSpPr>
          <p:cNvPr id="10" name="stage-3">
            <a:extLst xmlns:a="http://schemas.openxmlformats.org/drawingml/2006/main">
              <a:ext uri="{FF2B5EF4-FFF2-40B4-BE49-F238E27FC236}">
                <a16:creationId xmlns:a16="http://schemas.microsoft.com/office/drawing/2014/main" id="{4DED7B44-7045-42BA-95E7-EBCB372F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19500"/>
            <a:ext cx="1200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1" name="line-3">
            <a:extLst xmlns:a="http://schemas.openxmlformats.org/drawingml/2006/main">
              <a:ext uri="{FF2B5EF4-FFF2-40B4-BE49-F238E27FC236}">
                <a16:creationId xmlns:a16="http://schemas.microsoft.com/office/drawing/2014/main" id="{5F300B48-5AFA-449A-B0AB-2B9446BC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90525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5C6670"/>
            </a:solidFill>
            <a:prstDash val="solid"/>
          </a:ln>
        </p:spPr>
      </p:sp>
      <p:sp>
        <p:nvSpPr>
          <p:cNvPr id="12" name="stage-4">
            <a:extLst xmlns:a="http://schemas.openxmlformats.org/drawingml/2006/main">
              <a:ext uri="{FF2B5EF4-FFF2-40B4-BE49-F238E27FC236}">
                <a16:creationId xmlns:a16="http://schemas.microsoft.com/office/drawing/2014/main" id="{2FF0BCCE-CA2C-48C2-86F6-4A9DBB5D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19500"/>
            <a:ext cx="1200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Revise</a:t>
            </a:r>
          </a:p>
        </p:txBody>
      </p:sp>
      <p:sp>
        <p:nvSpPr>
          <p:cNvPr id="13" name="line-4">
            <a:extLst xmlns:a="http://schemas.openxmlformats.org/drawingml/2006/main">
              <a:ext uri="{FF2B5EF4-FFF2-40B4-BE49-F238E27FC236}">
                <a16:creationId xmlns:a16="http://schemas.microsoft.com/office/drawing/2014/main" id="{CFB4333B-C10E-4815-AA94-6A15F3EE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0525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5C6670"/>
            </a:solidFill>
            <a:prstDash val="solid"/>
          </a:ln>
        </p:spPr>
      </p:sp>
      <p:sp>
        <p:nvSpPr>
          <p:cNvPr id="14" name="stage-5">
            <a:extLst xmlns:a="http://schemas.openxmlformats.org/drawingml/2006/main">
              <a:ext uri="{FF2B5EF4-FFF2-40B4-BE49-F238E27FC236}">
                <a16:creationId xmlns:a16="http://schemas.microsoft.com/office/drawing/2014/main" id="{16A35BC0-9C2F-42DF-B827-7BC9C435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19500"/>
            <a:ext cx="1200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ABC3E27C-A68C-4E18-8720-BCD4E143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1/38</a:t>
            </a:r>
          </a:p>
        </p:txBody>
      </p:sp>
    </p:spTree>
    <p:extLst>
      <p:ext uri="{BB962C8B-B14F-4D97-AF65-F5344CB8AC3E}">
        <p14:creationId xmlns:p14="http://schemas.microsoft.com/office/powerpoint/2010/main" val="18398879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04A9575-EC09-4949-84BD-17662CC4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90-MINUTE MAP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CF8CC9-9DDA-4D03-808B-389A7187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這堂課是 Day 2 的最後一塊拼圖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6556F4D-0139-4CBD-B76B-2372F0020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2/38</a:t>
            </a:r>
          </a:p>
        </p:txBody>
      </p:sp>
      <p:sp>
        <p:nvSpPr>
          <p:cNvPr id="4" name="tag-0">
            <a:extLst xmlns:a="http://schemas.openxmlformats.org/drawingml/2006/main">
              <a:ext uri="{FF2B5EF4-FFF2-40B4-BE49-F238E27FC236}">
                <a16:creationId xmlns:a16="http://schemas.microsoft.com/office/drawing/2014/main" id="{11E668CE-CCA8-4132-A2B6-F0A4BDA2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466850"/>
            <a:ext cx="1200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回顧</a:t>
            </a:r>
          </a:p>
        </p:txBody>
      </p:sp>
      <p:sp>
        <p:nvSpPr>
          <p:cNvPr id="5" name="role-0">
            <a:extLst xmlns:a="http://schemas.openxmlformats.org/drawingml/2006/main">
              <a:ext uri="{FF2B5EF4-FFF2-40B4-BE49-F238E27FC236}">
                <a16:creationId xmlns:a16="http://schemas.microsoft.com/office/drawing/2014/main" id="{E6120EBA-7808-4D45-8B42-A24591FD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495425"/>
            <a:ext cx="365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Harness、coding agent、spec 不是三個孤島</a:t>
            </a:r>
          </a:p>
        </p:txBody>
      </p:sp>
      <p:sp>
        <p:nvSpPr>
          <p:cNvPr id="6" name="copy-0">
            <a:extLst xmlns:a="http://schemas.openxmlformats.org/drawingml/2006/main">
              <a:ext uri="{FF2B5EF4-FFF2-40B4-BE49-F238E27FC236}">
                <a16:creationId xmlns:a16="http://schemas.microsoft.com/office/drawing/2014/main" id="{F696FDD8-54B4-405C-A0A1-6E6B2738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240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Loop 會把它們組成可執行流程。</a:t>
            </a:r>
          </a:p>
        </p:txBody>
      </p:sp>
      <p:sp>
        <p:nvSpPr>
          <p:cNvPr id="7" name="tag-1">
            <a:extLst xmlns:a="http://schemas.openxmlformats.org/drawingml/2006/main">
              <a:ext uri="{FF2B5EF4-FFF2-40B4-BE49-F238E27FC236}">
                <a16:creationId xmlns:a16="http://schemas.microsoft.com/office/drawing/2014/main" id="{9579C4D0-A37B-4831-B505-14D680B0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52650"/>
            <a:ext cx="1200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概念</a:t>
            </a:r>
          </a:p>
        </p:txBody>
      </p:sp>
      <p:sp>
        <p:nvSpPr>
          <p:cNvPr id="8" name="role-1">
            <a:extLst xmlns:a="http://schemas.openxmlformats.org/drawingml/2006/main">
              <a:ext uri="{FF2B5EF4-FFF2-40B4-BE49-F238E27FC236}">
                <a16:creationId xmlns:a16="http://schemas.microsoft.com/office/drawing/2014/main" id="{22519F21-BFB8-49DB-948C-84A08CF3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181225"/>
            <a:ext cx="365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從一次性回答變成反覆工作</a:t>
            </a:r>
          </a:p>
        </p:txBody>
      </p:sp>
      <p:sp>
        <p:nvSpPr>
          <p:cNvPr id="9" name="copy-1">
            <a:extLst xmlns:a="http://schemas.openxmlformats.org/drawingml/2006/main">
              <a:ext uri="{FF2B5EF4-FFF2-40B4-BE49-F238E27FC236}">
                <a16:creationId xmlns:a16="http://schemas.microsoft.com/office/drawing/2014/main" id="{5D5357ED-6572-4577-B4C8-B1E13048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plan -&gt; retrieve -&gt; analyze -&gt; verify -&gt; revise -&gt; report。</a:t>
            </a:r>
          </a:p>
        </p:txBody>
      </p:sp>
      <p:sp>
        <p:nvSpPr>
          <p:cNvPr id="10" name="tag-2">
            <a:extLst xmlns:a="http://schemas.openxmlformats.org/drawingml/2006/main">
              <a:ext uri="{FF2B5EF4-FFF2-40B4-BE49-F238E27FC236}">
                <a16:creationId xmlns:a16="http://schemas.microsoft.com/office/drawing/2014/main" id="{B73E9D61-B38F-4569-B400-1B3FA0CF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1200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設計</a:t>
            </a:r>
          </a:p>
        </p:txBody>
      </p:sp>
      <p:sp>
        <p:nvSpPr>
          <p:cNvPr id="11" name="role-2">
            <a:extLst xmlns:a="http://schemas.openxmlformats.org/drawingml/2006/main">
              <a:ext uri="{FF2B5EF4-FFF2-40B4-BE49-F238E27FC236}">
                <a16:creationId xmlns:a16="http://schemas.microsoft.com/office/drawing/2014/main" id="{7C2DA47B-B416-429F-AE97-197F1BDC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67025"/>
            <a:ext cx="365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Generator 和 evaluator 要分開</a:t>
            </a:r>
          </a:p>
        </p:txBody>
      </p:sp>
      <p:sp>
        <p:nvSpPr>
          <p:cNvPr id="12" name="copy-2">
            <a:extLst xmlns:a="http://schemas.openxmlformats.org/drawingml/2006/main">
              <a:ext uri="{FF2B5EF4-FFF2-40B4-BE49-F238E27FC236}">
                <a16:creationId xmlns:a16="http://schemas.microsoft.com/office/drawing/2014/main" id="{758E3B80-5F6B-480F-9AA0-776A88E1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一個負責寫，一個負責挑錯。</a:t>
            </a:r>
          </a:p>
        </p:txBody>
      </p:sp>
      <p:sp>
        <p:nvSpPr>
          <p:cNvPr id="13" name="tag-3">
            <a:extLst xmlns:a="http://schemas.openxmlformats.org/drawingml/2006/main">
              <a:ext uri="{FF2B5EF4-FFF2-40B4-BE49-F238E27FC236}">
                <a16:creationId xmlns:a16="http://schemas.microsoft.com/office/drawing/2014/main" id="{68165AD5-8849-45B7-8F6D-FC1D6725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24250"/>
            <a:ext cx="1200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驗證</a:t>
            </a:r>
          </a:p>
        </p:txBody>
      </p:sp>
      <p:sp>
        <p:nvSpPr>
          <p:cNvPr id="14" name="role-3">
            <a:extLst xmlns:a="http://schemas.openxmlformats.org/drawingml/2006/main">
              <a:ext uri="{FF2B5EF4-FFF2-40B4-BE49-F238E27FC236}">
                <a16:creationId xmlns:a16="http://schemas.microsoft.com/office/drawing/2014/main" id="{E7121829-F7DD-40EA-ABD7-D2596A43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552825"/>
            <a:ext cx="365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Self-check、rule-check、human review 分工</a:t>
            </a:r>
          </a:p>
        </p:txBody>
      </p:sp>
      <p:sp>
        <p:nvSpPr>
          <p:cNvPr id="15" name="copy-3">
            <a:extLst xmlns:a="http://schemas.openxmlformats.org/drawingml/2006/main">
              <a:ext uri="{FF2B5EF4-FFF2-40B4-BE49-F238E27FC236}">
                <a16:creationId xmlns:a16="http://schemas.microsoft.com/office/drawing/2014/main" id="{6B826526-66C3-4CC9-98E6-31500BB4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81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不要叫同一個 AI 自己蓋自己的章。</a:t>
            </a:r>
          </a:p>
        </p:txBody>
      </p:sp>
      <p:sp>
        <p:nvSpPr>
          <p:cNvPr id="16" name="tag-4">
            <a:extLst xmlns:a="http://schemas.openxmlformats.org/drawingml/2006/main">
              <a:ext uri="{FF2B5EF4-FFF2-40B4-BE49-F238E27FC236}">
                <a16:creationId xmlns:a16="http://schemas.microsoft.com/office/drawing/2014/main" id="{E516187D-FE33-422A-B059-4FE4440B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10050"/>
            <a:ext cx="1200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風險</a:t>
            </a:r>
          </a:p>
        </p:txBody>
      </p:sp>
      <p:sp>
        <p:nvSpPr>
          <p:cNvPr id="17" name="role-4">
            <a:extLst xmlns:a="http://schemas.openxmlformats.org/drawingml/2006/main">
              <a:ext uri="{FF2B5EF4-FFF2-40B4-BE49-F238E27FC236}">
                <a16:creationId xmlns:a16="http://schemas.microsoft.com/office/drawing/2014/main" id="{57D296A5-4BF9-4704-9834-47A6413D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238625"/>
            <a:ext cx="365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停止條件與成本控制</a:t>
            </a:r>
          </a:p>
        </p:txBody>
      </p:sp>
      <p:sp>
        <p:nvSpPr>
          <p:cNvPr id="18" name="copy-4">
            <a:extLst xmlns:a="http://schemas.openxmlformats.org/drawingml/2006/main">
              <a:ext uri="{FF2B5EF4-FFF2-40B4-BE49-F238E27FC236}">
                <a16:creationId xmlns:a16="http://schemas.microsoft.com/office/drawing/2014/main" id="{1D479F90-F4CE-428D-839F-2D7D6C7B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672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沒有 budget 的 loop 很快變成燒錢儀式。</a:t>
            </a:r>
          </a:p>
        </p:txBody>
      </p:sp>
      <p:sp>
        <p:nvSpPr>
          <p:cNvPr id="19" name="tag-5">
            <a:extLst xmlns:a="http://schemas.openxmlformats.org/drawingml/2006/main">
              <a:ext uri="{FF2B5EF4-FFF2-40B4-BE49-F238E27FC236}">
                <a16:creationId xmlns:a16="http://schemas.microsoft.com/office/drawing/2014/main" id="{13208662-7967-46B8-BD86-EDD2A6B5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95850"/>
            <a:ext cx="1200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實作</a:t>
            </a:r>
          </a:p>
        </p:txBody>
      </p:sp>
      <p:sp>
        <p:nvSpPr>
          <p:cNvPr id="20" name="role-5">
            <a:extLst xmlns:a="http://schemas.openxmlformats.org/drawingml/2006/main">
              <a:ext uri="{FF2B5EF4-FFF2-40B4-BE49-F238E27FC236}">
                <a16:creationId xmlns:a16="http://schemas.microsoft.com/office/drawing/2014/main" id="{349CE129-4F81-4D7F-AD53-59BFF640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24425"/>
            <a:ext cx="365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Mock-mode biomedical summary loop</a:t>
            </a:r>
          </a:p>
        </p:txBody>
      </p:sp>
      <p:sp>
        <p:nvSpPr>
          <p:cNvPr id="21" name="copy-5">
            <a:extLst xmlns:a="http://schemas.openxmlformats.org/drawingml/2006/main">
              <a:ext uri="{FF2B5EF4-FFF2-40B4-BE49-F238E27FC236}">
                <a16:creationId xmlns:a16="http://schemas.microsoft.com/office/drawing/2014/main" id="{16399275-86AC-46BA-AA06-EDD01D7C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530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穩定跑出 draft、issues、final report。</a:t>
            </a:r>
          </a:p>
        </p:txBody>
      </p:sp>
    </p:spTree>
    <p:extLst>
      <p:ext uri="{BB962C8B-B14F-4D97-AF65-F5344CB8AC3E}">
        <p14:creationId xmlns:p14="http://schemas.microsoft.com/office/powerpoint/2010/main" val="18800634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261D228-AD83-4BCB-95D6-BD331666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DAY 2 SYNTHESIS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B07035B-D907-4D6E-AFBB-C4559C65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 把前面三堂課變成一條可執行流程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A81536A-AFDB-4E5B-8741-D5FE62F6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3/38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67D5577F-5700-4813-A5AD-9E4B25F4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5143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Harness 決定 agent 能碰什麼、不能碰什麼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讓 agent 能讀檔、改檔、跑檢查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把模糊需求變成可驗證條件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 讓 agent 按照 spec 反覆修到可交付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2000A1AC-3C16-4BA2-9073-1B081050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389831FE-EC52-48A7-8F4E-F9171E05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今天的核心句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246EE391-40E4-4A98-9C9E-DA34B5A2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Harness controls the workspace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defines done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 drives iteration</a:t>
            </a:r>
          </a:p>
        </p:txBody>
      </p:sp>
    </p:spTree>
    <p:extLst>
      <p:ext uri="{BB962C8B-B14F-4D97-AF65-F5344CB8AC3E}">
        <p14:creationId xmlns:p14="http://schemas.microsoft.com/office/powerpoint/2010/main" val="1723451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CEF8069-C27B-4061-8E83-2C8ECBB2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ONE-SHOT VS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9053796-888B-4E86-871E-35213916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一次回答很快，但 biomedical 任務需要可追查的迭代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0A28EE7-6A42-4F95-A582-A83B7E9F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4/38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34C6B07C-0609-4E74-8F77-10026CD9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47625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left-head">
            <a:extLst xmlns:a="http://schemas.openxmlformats.org/drawingml/2006/main">
              <a:ext uri="{FF2B5EF4-FFF2-40B4-BE49-F238E27FC236}">
                <a16:creationId xmlns:a16="http://schemas.microsoft.com/office/drawing/2014/main" id="{99580ADF-F00C-428F-896A-7DB29B47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717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一次性回答</a:t>
            </a:r>
          </a:p>
        </p:txBody>
      </p:sp>
      <p:sp>
        <p:nvSpPr>
          <p:cNvPr id="6" name="left-list">
            <a:extLst xmlns:a="http://schemas.openxmlformats.org/drawingml/2006/main">
              <a:ext uri="{FF2B5EF4-FFF2-40B4-BE49-F238E27FC236}">
                <a16:creationId xmlns:a16="http://schemas.microsoft.com/office/drawing/2014/main" id="{80B65BD7-B382-4942-BF33-68DF4E22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38450"/>
            <a:ext cx="371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輸入問題，直接交答案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錯了很難知道哪一步壞掉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很容易流暢但沒有來源</a:t>
            </a:r>
          </a:p>
        </p:txBody>
      </p:sp>
      <p:sp>
        <p:nvSpPr>
          <p:cNvPr id="7" name="right">
            <a:extLst xmlns:a="http://schemas.openxmlformats.org/drawingml/2006/main">
              <a:ext uri="{FF2B5EF4-FFF2-40B4-BE49-F238E27FC236}">
                <a16:creationId xmlns:a16="http://schemas.microsoft.com/office/drawing/2014/main" id="{177528F3-693D-41C9-9021-C1DC8091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7625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8" name="right-head">
            <a:extLst xmlns:a="http://schemas.openxmlformats.org/drawingml/2006/main">
              <a:ext uri="{FF2B5EF4-FFF2-40B4-BE49-F238E27FC236}">
                <a16:creationId xmlns:a16="http://schemas.microsoft.com/office/drawing/2014/main" id="{75528DA0-8344-476E-82A1-ADF0E5B3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1717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Loop workflow</a:t>
            </a:r>
          </a:p>
        </p:txBody>
      </p:sp>
      <p:sp>
        <p:nvSpPr>
          <p:cNvPr id="9" name="right-list">
            <a:extLst xmlns:a="http://schemas.openxmlformats.org/drawingml/2006/main">
              <a:ext uri="{FF2B5EF4-FFF2-40B4-BE49-F238E27FC236}">
                <a16:creationId xmlns:a16="http://schemas.microsoft.com/office/drawing/2014/main" id="{012CE0A4-0061-4A89-A53F-92947B87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38450"/>
            <a:ext cx="371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先定任務，再取證據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每輪都有 evaluator issues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最後附上 summary 和檢查紀錄</a:t>
            </a:r>
          </a:p>
        </p:txBody>
      </p:sp>
    </p:spTree>
    <p:extLst>
      <p:ext uri="{BB962C8B-B14F-4D97-AF65-F5344CB8AC3E}">
        <p14:creationId xmlns:p14="http://schemas.microsoft.com/office/powerpoint/2010/main" val="6974145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BD5BA8D-7CC3-46F8-A4F2-6DF0F443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LOOP OVERVIEW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BAA7100-2CAD-4853-BF2B-952AC68D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 不是再問一次，而是帶著檢查結果前進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302214D-07D2-45C1-8F76-AFD9298D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5/38</a:t>
            </a:r>
          </a:p>
        </p:txBody>
      </p:sp>
      <p:sp>
        <p:nvSpPr>
          <p:cNvPr id="4" name="plan">
            <a:extLst xmlns:a="http://schemas.openxmlformats.org/drawingml/2006/main">
              <a:ext uri="{FF2B5EF4-FFF2-40B4-BE49-F238E27FC236}">
                <a16:creationId xmlns:a16="http://schemas.microsoft.com/office/drawing/2014/main" id="{5542B8C4-8AE3-4A4E-8461-7323B968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1200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Plan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定範圍</a:t>
            </a:r>
          </a:p>
        </p:txBody>
      </p:sp>
      <p:sp>
        <p:nvSpPr>
          <p:cNvPr id="5" name="retrieve">
            <a:extLst xmlns:a="http://schemas.openxmlformats.org/drawingml/2006/main">
              <a:ext uri="{FF2B5EF4-FFF2-40B4-BE49-F238E27FC236}">
                <a16:creationId xmlns:a16="http://schemas.microsoft.com/office/drawing/2014/main" id="{6A5418ED-053B-4512-A7D4-325BEA2F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781300"/>
            <a:ext cx="1200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Retrieve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取證據</a:t>
            </a:r>
          </a:p>
        </p:txBody>
      </p:sp>
      <p:sp>
        <p:nvSpPr>
          <p:cNvPr id="6" name="analyze">
            <a:extLst xmlns:a="http://schemas.openxmlformats.org/drawingml/2006/main">
              <a:ext uri="{FF2B5EF4-FFF2-40B4-BE49-F238E27FC236}">
                <a16:creationId xmlns:a16="http://schemas.microsoft.com/office/drawing/2014/main" id="{6210F85F-92F7-4D07-96D4-DDFD2376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1200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Analyze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抽 claim</a:t>
            </a:r>
          </a:p>
        </p:txBody>
      </p:sp>
      <p:sp>
        <p:nvSpPr>
          <p:cNvPr id="7" name="verify">
            <a:extLst xmlns:a="http://schemas.openxmlformats.org/drawingml/2006/main">
              <a:ext uri="{FF2B5EF4-FFF2-40B4-BE49-F238E27FC236}">
                <a16:creationId xmlns:a16="http://schemas.microsoft.com/office/drawing/2014/main" id="{423B637C-A39D-4E59-965B-E63C924A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81300"/>
            <a:ext cx="1200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Verify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找問題</a:t>
            </a:r>
          </a:p>
        </p:txBody>
      </p:sp>
      <p:sp>
        <p:nvSpPr>
          <p:cNvPr id="8" name="revise">
            <a:extLst xmlns:a="http://schemas.openxmlformats.org/drawingml/2006/main">
              <a:ext uri="{FF2B5EF4-FFF2-40B4-BE49-F238E27FC236}">
                <a16:creationId xmlns:a16="http://schemas.microsoft.com/office/drawing/2014/main" id="{79C7B056-4AE2-4C35-9498-1E3104E5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81300"/>
            <a:ext cx="1200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Revise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修正</a:t>
            </a:r>
          </a:p>
        </p:txBody>
      </p:sp>
      <p:sp>
        <p:nvSpPr>
          <p:cNvPr id="9" name="report">
            <a:extLst xmlns:a="http://schemas.openxmlformats.org/drawingml/2006/main">
              <a:ext uri="{FF2B5EF4-FFF2-40B4-BE49-F238E27FC236}">
                <a16:creationId xmlns:a16="http://schemas.microsoft.com/office/drawing/2014/main" id="{691B5DE1-DE1E-4E91-AFE7-BF63A4F3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1200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Report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交付</a:t>
            </a:r>
          </a:p>
        </p:txBody>
      </p:sp>
      <p:sp>
        <p:nvSpPr>
          <p:cNvPr id="10" name="arrow-0">
            <a:extLst xmlns:a="http://schemas.openxmlformats.org/drawingml/2006/main">
              <a:ext uri="{FF2B5EF4-FFF2-40B4-BE49-F238E27FC236}">
                <a16:creationId xmlns:a16="http://schemas.microsoft.com/office/drawing/2014/main" id="{6A199E3F-A26D-4B62-A404-F90F7DF6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1432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670"/>
            </a:solidFill>
            <a:prstDash val="solid"/>
          </a:ln>
        </p:spPr>
      </p:sp>
      <p:sp>
        <p:nvSpPr>
          <p:cNvPr id="11" name="arrow-1">
            <a:extLst xmlns:a="http://schemas.openxmlformats.org/drawingml/2006/main">
              <a:ext uri="{FF2B5EF4-FFF2-40B4-BE49-F238E27FC236}">
                <a16:creationId xmlns:a16="http://schemas.microsoft.com/office/drawing/2014/main" id="{5D2F914F-5FE4-4DB8-95BD-132B8F71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432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670"/>
            </a:solidFill>
            <a:prstDash val="solid"/>
          </a:ln>
        </p:spPr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B20DC71E-6DF8-4DF8-B83F-5E2CA472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432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670"/>
            </a:solidFill>
            <a:prstDash val="solid"/>
          </a:ln>
        </p:spPr>
      </p:sp>
      <p:sp>
        <p:nvSpPr>
          <p:cNvPr id="13" name="arrow-3">
            <a:extLst xmlns:a="http://schemas.openxmlformats.org/drawingml/2006/main">
              <a:ext uri="{FF2B5EF4-FFF2-40B4-BE49-F238E27FC236}">
                <a16:creationId xmlns:a16="http://schemas.microsoft.com/office/drawing/2014/main" id="{1C6C939F-F126-44C7-9269-8BB54412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670"/>
            </a:solidFill>
            <a:prstDash val="solid"/>
          </a:ln>
        </p:spPr>
      </p:sp>
      <p:sp>
        <p:nvSpPr>
          <p:cNvPr id="14" name="arrow-4">
            <a:extLst xmlns:a="http://schemas.openxmlformats.org/drawingml/2006/main">
              <a:ext uri="{FF2B5EF4-FFF2-40B4-BE49-F238E27FC236}">
                <a16:creationId xmlns:a16="http://schemas.microsoft.com/office/drawing/2014/main" id="{64463D48-38DE-4FB1-BB1F-08069B30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432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C6670"/>
            </a:solidFill>
            <a:prstDash val="solid"/>
          </a:ln>
        </p:spPr>
      </p:sp>
      <p:sp>
        <p:nvSpPr>
          <p:cNvPr id="15" name="feedback-1">
            <a:extLst xmlns:a="http://schemas.openxmlformats.org/drawingml/2006/main">
              <a:ext uri="{FF2B5EF4-FFF2-40B4-BE49-F238E27FC236}">
                <a16:creationId xmlns:a16="http://schemas.microsoft.com/office/drawing/2014/main" id="{7F176AD7-6447-412F-AB96-B9FAA19A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81300"/>
            <a:ext cx="0" cy="-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0E8F88"/>
            </a:solidFill>
            <a:prstDash val="dash"/>
          </a:ln>
        </p:spPr>
      </p:sp>
      <p:sp>
        <p:nvSpPr>
          <p:cNvPr id="16" name="feedback-2">
            <a:extLst xmlns:a="http://schemas.openxmlformats.org/drawingml/2006/main">
              <a:ext uri="{FF2B5EF4-FFF2-40B4-BE49-F238E27FC236}">
                <a16:creationId xmlns:a16="http://schemas.microsoft.com/office/drawing/2014/main" id="{C1733604-E8FD-4D66-8180-2AE11015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71700"/>
            <a:ext cx="-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0E8F88"/>
            </a:solidFill>
            <a:prstDash val="dash"/>
          </a:ln>
        </p:spPr>
      </p:sp>
      <p:sp>
        <p:nvSpPr>
          <p:cNvPr id="17" name="feedback-3">
            <a:extLst xmlns:a="http://schemas.openxmlformats.org/drawingml/2006/main">
              <a:ext uri="{FF2B5EF4-FFF2-40B4-BE49-F238E27FC236}">
                <a16:creationId xmlns:a16="http://schemas.microsoft.com/office/drawing/2014/main" id="{915DBBA1-7050-419D-B826-0BFACB02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71700"/>
            <a:ext cx="0" cy="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0E8F88"/>
            </a:solidFill>
            <a:prstDash val="dash"/>
          </a:ln>
        </p:spPr>
      </p:sp>
      <p:sp>
        <p:nvSpPr>
          <p:cNvPr id="18" name="caption">
            <a:extLst xmlns:a="http://schemas.openxmlformats.org/drawingml/2006/main">
              <a:ext uri="{FF2B5EF4-FFF2-40B4-BE49-F238E27FC236}">
                <a16:creationId xmlns:a16="http://schemas.microsoft.com/office/drawing/2014/main" id="{39C4E529-DC9E-42D7-92EF-68038DFA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0530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真正的 loop 會把 evaluator 的 issues 帶回 revise；不是每輪都重新憑感覺作文。</a:t>
            </a:r>
          </a:p>
        </p:txBody>
      </p:sp>
    </p:spTree>
    <p:extLst>
      <p:ext uri="{BB962C8B-B14F-4D97-AF65-F5344CB8AC3E}">
        <p14:creationId xmlns:p14="http://schemas.microsoft.com/office/powerpoint/2010/main" val="30465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EF1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754C6F6-26D6-40CF-87CE-8DEB5EA2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PART 1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19AA82BD-5A33-4797-B61B-DEFBF3A9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先把 loop 的每一步拆開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D0951958-BF6C-4AA9-9ADA-13F90DD8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學生要知道每一步的責任不同。把所有事情都丟給一個 prompt，通常只是把錯誤藏得更深。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A27EB02B-FE37-4328-9BAB-54D86C45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6/38</a:t>
            </a:r>
          </a:p>
        </p:txBody>
      </p:sp>
    </p:spTree>
    <p:extLst>
      <p:ext uri="{BB962C8B-B14F-4D97-AF65-F5344CB8AC3E}">
        <p14:creationId xmlns:p14="http://schemas.microsoft.com/office/powerpoint/2010/main" val="20850108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3266499-B6A0-454F-B887-09B54B83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LOOP STEPS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D29ED99-98F5-49D8-BCE1-7778B8AE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六個階段各自有不同責任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4E47254-2C40-42D5-94A0-DDAEF1B7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7/38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D3A7BE8C-AF19-41FA-B5ED-462273A8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2343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-text-0">
            <a:extLst xmlns:a="http://schemas.openxmlformats.org/drawingml/2006/main">
              <a:ext uri="{FF2B5EF4-FFF2-40B4-BE49-F238E27FC236}">
                <a16:creationId xmlns:a16="http://schemas.microsoft.com/office/drawing/2014/main" id="{B11B987C-A92B-4AF3-A0E6-BF826374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階段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5273900A-8535-4308-8BBD-2F6BE009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-text-1">
            <a:extLst xmlns:a="http://schemas.openxmlformats.org/drawingml/2006/main">
              <a:ext uri="{FF2B5EF4-FFF2-40B4-BE49-F238E27FC236}">
                <a16:creationId xmlns:a16="http://schemas.microsoft.com/office/drawing/2014/main" id="{231D220F-8F30-4AB1-A1C2-DC6F7450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這一步要做什麼</a:t>
            </a:r>
          </a:p>
        </p:txBody>
      </p:sp>
      <p:sp>
        <p:nvSpPr>
          <p:cNvPr id="8" name="head-2">
            <a:extLst xmlns:a="http://schemas.openxmlformats.org/drawingml/2006/main">
              <a:ext uri="{FF2B5EF4-FFF2-40B4-BE49-F238E27FC236}">
                <a16:creationId xmlns:a16="http://schemas.microsoft.com/office/drawing/2014/main" id="{8787B30B-B63D-4D12-A785-CFBF3578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-text-2">
            <a:extLst xmlns:a="http://schemas.openxmlformats.org/drawingml/2006/main">
              <a:ext uri="{FF2B5EF4-FFF2-40B4-BE49-F238E27FC236}">
                <a16:creationId xmlns:a16="http://schemas.microsoft.com/office/drawing/2014/main" id="{2BBB9D47-876C-4B16-AF26-5317F655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生醫 summary 例子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AE06DEA3-B6BA-4AFA-9C7F-1BF8BB55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A6972E35-8CAC-4830-9DCE-5A64830D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Plan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75E2CD3E-7A55-4089-9E23-CBBE2871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EB65C9A6-8521-401E-9A13-51AFD1D0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界定問題、輸出格式、不可回答範圍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6F58DF93-5C0F-44E6-9260-1032A87A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B679BC40-1A5D-4E54-934B-09FBF00B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回答 EGFR T790M，但不給病人治療建議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842DFC64-7CBC-4346-A65A-D37E9304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3ADDCA0F-5751-4EBD-AE0B-0D570D7E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Retrieve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9624350B-876F-4315-9625-C47BDFF6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60EFF9F2-7AB7-4618-9294-F2417DAB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取得可引用 evidence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BC35404D-7178-4200-ACA6-ACF5EBFC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E7FDD47F-2510-4FAE-80C3-24BCFEFF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讀 evidence_table.csv 或查 PubMed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18F36913-B74F-42E2-8CE5-81751BA1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825ABD0F-CCA1-4EE1-9887-CA68692C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Analyze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51B092EF-780B-467F-8E1C-FB76063D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02B4AE83-75E0-468F-B6B4-D669C795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evidence 轉成可用 claim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E9F266AA-936F-4F6D-B444-34DCDDD7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6EC8414F-F6CE-4CC2-93DC-981A8C4E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區分 resistance、response、mechanism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C8792CC2-2DC9-48A8-8EDC-2CE43568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767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0E361BD1-77E2-4385-94E7-8F9854BC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Verify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D3CA1070-7C96-4752-BEC6-1DDE9728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28ECDBD3-9DCA-440E-9B20-7D4080A9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檢查 claim、source、overreach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956BF403-A256-4BB1-BB37-6796AC88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CEB3A746-E258-4585-A955-D93C941C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每句是否有 [S1]，有無臨床過度推論</a:t>
            </a:r>
          </a:p>
        </p:txBody>
      </p:sp>
    </p:spTree>
    <p:extLst>
      <p:ext uri="{BB962C8B-B14F-4D97-AF65-F5344CB8AC3E}">
        <p14:creationId xmlns:p14="http://schemas.microsoft.com/office/powerpoint/2010/main" val="5292673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9A29250-5CAD-46F9-BFE5-8BEEA158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26EDCF6-BD65-4809-BBC1-2ACC35C6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Plan 的目的不是裝忙，是先避免任務失控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540524A-4785-47E3-A638-7D565888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8/38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2D1E920C-E07F-4DD5-8FF4-0A9D4807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2343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-text-0">
            <a:extLst xmlns:a="http://schemas.openxmlformats.org/drawingml/2006/main">
              <a:ext uri="{FF2B5EF4-FFF2-40B4-BE49-F238E27FC236}">
                <a16:creationId xmlns:a16="http://schemas.microsoft.com/office/drawing/2014/main" id="{30A028C6-586D-4EA0-AC45-D563733B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Plan 檢查點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A3CCF9AD-B146-4044-B176-77D002D5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-text-1">
            <a:extLst xmlns:a="http://schemas.openxmlformats.org/drawingml/2006/main">
              <a:ext uri="{FF2B5EF4-FFF2-40B4-BE49-F238E27FC236}">
                <a16:creationId xmlns:a16="http://schemas.microsoft.com/office/drawing/2014/main" id="{891E0534-3DAB-4741-80E8-4BA368B2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為什麼重要</a:t>
            </a:r>
          </a:p>
        </p:txBody>
      </p:sp>
      <p:sp>
        <p:nvSpPr>
          <p:cNvPr id="8" name="head-2">
            <a:extLst xmlns:a="http://schemas.openxmlformats.org/drawingml/2006/main">
              <a:ext uri="{FF2B5EF4-FFF2-40B4-BE49-F238E27FC236}">
                <a16:creationId xmlns:a16="http://schemas.microsoft.com/office/drawing/2014/main" id="{ED7C0857-714F-4D91-B6ED-2D5E0B52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-text-2">
            <a:extLst xmlns:a="http://schemas.openxmlformats.org/drawingml/2006/main">
              <a:ext uri="{FF2B5EF4-FFF2-40B4-BE49-F238E27FC236}">
                <a16:creationId xmlns:a16="http://schemas.microsoft.com/office/drawing/2014/main" id="{269B5A2E-AB7E-4D74-8CAD-00B4C687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範例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12763242-B9F3-436B-B83B-821F72E9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35CB617D-E6D7-4DC8-9E5A-7EF8147D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Question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969DD3B6-17FE-4ADF-8B5F-C774545E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0BE24384-0AC8-484A-927F-2CCB2EFF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沒有明確問題，後面都會漂移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A6B8005D-DD52-4A05-9B54-4055BC86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D26AA5AC-FE31-4F65-A605-FBA1F20E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T790M 與 NSCLC resistance/response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B270CB71-23BE-44AE-9ED9-8B374263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6F623C70-8AAD-493A-B5B9-9454BA18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Boundary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8AD3B2E9-DA97-40A2-9B7C-2F183FD3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7AAA97C8-90B8-4D2E-9A1A-7E47A7CA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先講不能回答什麼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D500C144-02AC-4D7C-82A6-55DF50B2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A150A461-A52A-4D1B-BF53-5CB41CD7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不產生 patient-level recommendation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88C1ED31-DC63-43EA-927F-73AAD725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BCA84917-F401-41EA-B3AB-707C0A2C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ED967A5A-4DA1-4114-B4B2-11590637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A5C6A6CB-E0F7-441C-8ABC-2BD3D808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沒有格式，無法驗證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0CF886C3-CB19-4108-9E66-15B31511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5AE43DCB-B1C1-4568-BC3B-2440686B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220 words + source IDs + uncertainty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B68A3F4A-0EBF-4AEF-A850-5E1F9EF2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767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E76F454A-D48E-4A17-A77C-B0FED3C2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Done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84189D4E-AA3C-4FFB-B192-A5559562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B6371254-5F93-4314-94FA-C96C55F3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沒有完成定義就會無限修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F5F0FB1D-657A-4AFD-BC29-BE9745C6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46266F1C-392C-40C6-A9B2-8B054EA8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 blocking issues or human review</a:t>
            </a:r>
          </a:p>
        </p:txBody>
      </p:sp>
    </p:spTree>
    <p:extLst>
      <p:ext uri="{BB962C8B-B14F-4D97-AF65-F5344CB8AC3E}">
        <p14:creationId xmlns:p14="http://schemas.microsoft.com/office/powerpoint/2010/main" val="18650831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A15F07D-2FAA-46BB-96B9-80441C33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RETRIEVE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634844C-584C-4FB1-9159-144227A0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Retrieve 不是亂查，是拿到能支撐 claim 的 evidence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8C191CC-9D4A-46C8-AACD-90E99972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9/38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47A7C93F-A885-434C-97B3-EB1AEBAD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5143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 demo 建議用老師提供的 evidence table，穩定且可控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真的接 PubMed 時，要限制 query、max sources、資料來源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 source 都要有 source_id，後面 verify 才抓得到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8DB46512-9D69-43A5-9A24-6F4BEFFF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B8330889-2D3D-459E-B745-FA741473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新手常犯錯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8DE4ECAA-F7C1-4AF2-9E23-3D100FC3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每輪都重新查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把摘要當全文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沒編號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查到什麼都塞</a:t>
            </a:r>
          </a:p>
        </p:txBody>
      </p:sp>
    </p:spTree>
    <p:extLst>
      <p:ext uri="{BB962C8B-B14F-4D97-AF65-F5344CB8AC3E}">
        <p14:creationId xmlns:p14="http://schemas.microsoft.com/office/powerpoint/2010/main" val="12640610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A746541-1CE5-460D-8436-60378E9B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7B250B1-8054-46AF-8825-ECCC623D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Analyze 要把 evidence 轉成小心的 claim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7E18F7B-4F3F-41A6-BC7F-36C2961F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10/38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EA5AAD20-D13C-4640-8EB0-1B3C5E7D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5143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association、mechanism、response、resistance 分開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clinical、preclinical、review 的證據等級分開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不要把『有關聯』升級成『可以用來治療』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C3398A79-FE1A-4DCA-B837-EE5223D5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57D37D2D-47D7-48BB-BA8B-F8E5379D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一句提醒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AF410BDA-1257-4F4D-912C-82BEE346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summary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不是醫囑產生器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更不是自信心表演</a:t>
            </a:r>
          </a:p>
        </p:txBody>
      </p:sp>
    </p:spTree>
    <p:extLst>
      <p:ext uri="{BB962C8B-B14F-4D97-AF65-F5344CB8AC3E}">
        <p14:creationId xmlns:p14="http://schemas.microsoft.com/office/powerpoint/2010/main" val="6922073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AA117D5-EF2E-40F3-B0C1-83157122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0C2B70F-DE00-4684-9B4D-ACE8392C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Verify 的工作是找錯，不是幫 draft 找台階下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D0F90BF-AB76-4407-9E43-F7CDDC99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11/38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CDD528CF-94FA-4AF9-A180-5E1B3A48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5143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 biomedical claim 是否有 source_id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source_id 是否存在於 evidence table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claim 是否超出 evidence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是否出現 clinical recommendation 或過度推論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F8B4C5C9-62CA-4376-A226-62A013E8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785F7157-8E0A-4329-A4F4-E9E3576A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Evaluator 心態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48AB0F8C-F527-42F4-BAE4-833FBC0A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不要禮貌性通過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不要只說 looks good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要輸出可修的 issues</a:t>
            </a:r>
          </a:p>
        </p:txBody>
      </p:sp>
    </p:spTree>
    <p:extLst>
      <p:ext uri="{BB962C8B-B14F-4D97-AF65-F5344CB8AC3E}">
        <p14:creationId xmlns:p14="http://schemas.microsoft.com/office/powerpoint/2010/main" val="5645001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E18AF3D-032A-4F24-89D5-C6E481B6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REVISE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ED9E949-CB60-4EC2-9BCD-92928039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Revise 不是重寫一篇，而是根據 issues 修補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1B4C81E-B9C6-4588-9C30-AC6511229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12/38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860372AD-F573-464D-82C1-D507324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5143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只修 evaluator 指出的問題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刪掉 unsupported claim，比硬找理由更安全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修完要保留 source_id 和 uncertainty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2CA41DA8-FDC6-4148-BAB4-D82ECABB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D0B3B9CD-4790-4032-9B44-87D92FDA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危險修法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8E829239-64D6-4FA8-9935-B219015D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改到 citation 不見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claim 改更大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為了通過而刪光內容</a:t>
            </a:r>
          </a:p>
        </p:txBody>
      </p:sp>
    </p:spTree>
    <p:extLst>
      <p:ext uri="{BB962C8B-B14F-4D97-AF65-F5344CB8AC3E}">
        <p14:creationId xmlns:p14="http://schemas.microsoft.com/office/powerpoint/2010/main" val="5161108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CB7B220-31ED-47D9-A0D3-11DC253A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2C325D1-7543-437A-B445-FFB7EF2C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Report 要交答案，也要交檢查紀錄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C656FC2-B11B-49F0-9ED5-ACFDD495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13/38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EC4ECFEF-6A8D-4637-B628-80214F78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5143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final_summary.md 是給人讀的結論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issue_log.json 是給人追查的紀錄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loop_report.json 是這次 loop 是否通過的狀態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78B00049-99D2-41C5-A282-A69DC700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92622547-E0DE-4B3B-AFF7-F816A4AA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最後交付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CC67FEDC-7D1D-4CA3-9714-8F9DB61B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summary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sources used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iterations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human review flag</a:t>
            </a:r>
          </a:p>
        </p:txBody>
      </p:sp>
    </p:spTree>
    <p:extLst>
      <p:ext uri="{BB962C8B-B14F-4D97-AF65-F5344CB8AC3E}">
        <p14:creationId xmlns:p14="http://schemas.microsoft.com/office/powerpoint/2010/main" val="20478583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EF1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454261C-8921-4A6F-9533-2442279C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PART 2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FADECC13-1C27-4223-B1FD-45F369D6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Generator 和 evaluator 要分開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61DACD63-D87C-4610-9848-565B70FA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同一個模型可以扮演不同角色，但角色、prompt、輸出格式必須分開，否則它很容易自己幫自己蓋章。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83B0185-2D7C-492A-8E61-44414476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14/38</a:t>
            </a:r>
          </a:p>
        </p:txBody>
      </p:sp>
    </p:spTree>
    <p:extLst>
      <p:ext uri="{BB962C8B-B14F-4D97-AF65-F5344CB8AC3E}">
        <p14:creationId xmlns:p14="http://schemas.microsoft.com/office/powerpoint/2010/main" val="382243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FD70983-C64D-4C4C-BC0F-9A25F691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GENERATOR VS EVALUATOR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90020A5-1D7A-4FA4-BD77-9802A876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寫的人和挑錯的人，不應該是同一種心態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1DC8BB5-6FEA-4503-94B2-7C64D733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15/38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E72DD383-8292-4A99-9428-1EA28E07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47625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left-head">
            <a:extLst xmlns:a="http://schemas.openxmlformats.org/drawingml/2006/main">
              <a:ext uri="{FF2B5EF4-FFF2-40B4-BE49-F238E27FC236}">
                <a16:creationId xmlns:a16="http://schemas.microsoft.com/office/drawing/2014/main" id="{5254403D-C3C9-4429-8865-794958A93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717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Generator</a:t>
            </a:r>
          </a:p>
        </p:txBody>
      </p:sp>
      <p:sp>
        <p:nvSpPr>
          <p:cNvPr id="6" name="left-list">
            <a:extLst xmlns:a="http://schemas.openxmlformats.org/drawingml/2006/main">
              <a:ext uri="{FF2B5EF4-FFF2-40B4-BE49-F238E27FC236}">
                <a16:creationId xmlns:a16="http://schemas.microsoft.com/office/drawing/2014/main" id="{5288ADAF-43E7-49D9-9831-AB94309F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38450"/>
            <a:ext cx="371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根據 evidence 產生 summary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把資訊整理得可讀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必須引用 source_id</a:t>
            </a:r>
          </a:p>
        </p:txBody>
      </p:sp>
      <p:sp>
        <p:nvSpPr>
          <p:cNvPr id="7" name="right">
            <a:extLst xmlns:a="http://schemas.openxmlformats.org/drawingml/2006/main">
              <a:ext uri="{FF2B5EF4-FFF2-40B4-BE49-F238E27FC236}">
                <a16:creationId xmlns:a16="http://schemas.microsoft.com/office/drawing/2014/main" id="{4CA54046-40DD-4C1B-8042-0D0B3E4A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7625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8" name="right-head">
            <a:extLst xmlns:a="http://schemas.openxmlformats.org/drawingml/2006/main">
              <a:ext uri="{FF2B5EF4-FFF2-40B4-BE49-F238E27FC236}">
                <a16:creationId xmlns:a16="http://schemas.microsoft.com/office/drawing/2014/main" id="{7DF8F53D-9672-4406-8761-A12B4302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1717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Evaluator</a:t>
            </a:r>
          </a:p>
        </p:txBody>
      </p:sp>
      <p:sp>
        <p:nvSpPr>
          <p:cNvPr id="9" name="right-list">
            <a:extLst xmlns:a="http://schemas.openxmlformats.org/drawingml/2006/main">
              <a:ext uri="{FF2B5EF4-FFF2-40B4-BE49-F238E27FC236}">
                <a16:creationId xmlns:a16="http://schemas.microsoft.com/office/drawing/2014/main" id="{E19B2F5A-0FAF-4F66-B995-02F64BF2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38450"/>
            <a:ext cx="371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 unsupported claim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檢查 missing source_id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標出 overstatement 和 human review</a:t>
            </a:r>
          </a:p>
        </p:txBody>
      </p:sp>
    </p:spTree>
    <p:extLst>
      <p:ext uri="{BB962C8B-B14F-4D97-AF65-F5344CB8AC3E}">
        <p14:creationId xmlns:p14="http://schemas.microsoft.com/office/powerpoint/2010/main" val="19816368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B881A84-8D02-4942-A1B6-353DECF0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GENERATOR PROMPT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0DB8683-EFE2-49AA-8A1E-19A96D26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Generator prompt 要限制來源和輸出格式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3732A74-9286-4489-94D6-E61075C9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16/38</a:t>
            </a:r>
          </a:p>
        </p:txBody>
      </p:sp>
      <p:sp>
        <p:nvSpPr>
          <p:cNvPr id="4" name="code-box">
            <a:extLst xmlns:a="http://schemas.openxmlformats.org/drawingml/2006/main">
              <a:ext uri="{FF2B5EF4-FFF2-40B4-BE49-F238E27FC236}">
                <a16:creationId xmlns:a16="http://schemas.microsoft.com/office/drawing/2014/main" id="{8C8241C0-C012-4619-90D2-8F410496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60198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A2DE3F4-7566-4702-BF6D-0BD8637EA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95475"/>
            <a:ext cx="56769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You are generating a biomedical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Use only the provided evidence table.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Every biomedical claim must cite source_id like [S1].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Do not make patient-level treatment recommendations.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Mention uncertainty for preclinical or indirect evidence.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Output &lt;= 220 words.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Question: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{{question}}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{{evidence_table}}</a:t>
            </a:r>
          </a:p>
        </p:txBody>
      </p:sp>
      <p:sp>
        <p:nvSpPr>
          <p:cNvPr id="6" name="explain">
            <a:extLst xmlns:a="http://schemas.openxmlformats.org/drawingml/2006/main">
              <a:ext uri="{FF2B5EF4-FFF2-40B4-BE49-F238E27FC236}">
                <a16:creationId xmlns:a16="http://schemas.microsoft.com/office/drawing/2014/main" id="{1082E612-BBB4-4DF8-8C95-40B4A6D7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43100"/>
            <a:ext cx="32766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7" name="explain-title">
            <a:extLst xmlns:a="http://schemas.openxmlformats.org/drawingml/2006/main">
              <a:ext uri="{FF2B5EF4-FFF2-40B4-BE49-F238E27FC236}">
                <a16:creationId xmlns:a16="http://schemas.microsoft.com/office/drawing/2014/main" id="{96F062A4-95AE-4CEF-8CE2-4CAB54A5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8" name="explain-list">
            <a:extLst xmlns:a="http://schemas.openxmlformats.org/drawingml/2006/main">
              <a:ext uri="{FF2B5EF4-FFF2-40B4-BE49-F238E27FC236}">
                <a16:creationId xmlns:a16="http://schemas.microsoft.com/office/drawing/2014/main" id="{1198A80A-F6F3-4E74-B8BA-63D179A4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先限制資料來源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明確禁止臨床建議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source_id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限制長度避免發散</a:t>
            </a:r>
          </a:p>
        </p:txBody>
      </p:sp>
    </p:spTree>
    <p:extLst>
      <p:ext uri="{BB962C8B-B14F-4D97-AF65-F5344CB8AC3E}">
        <p14:creationId xmlns:p14="http://schemas.microsoft.com/office/powerpoint/2010/main" val="75994723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0737638-129A-493F-A054-FC40C252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EVALUATOR PROMPT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2A14C8B-2494-4498-A531-4C4337DB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Evaluator prompt 要輸出結構化 issue，不要只聊天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D045D6B-0C76-4A1E-93BF-367B6953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17/38</a:t>
            </a:r>
          </a:p>
        </p:txBody>
      </p:sp>
      <p:sp>
        <p:nvSpPr>
          <p:cNvPr id="4" name="code-box">
            <a:extLst xmlns:a="http://schemas.openxmlformats.org/drawingml/2006/main">
              <a:ext uri="{FF2B5EF4-FFF2-40B4-BE49-F238E27FC236}">
                <a16:creationId xmlns:a16="http://schemas.microsoft.com/office/drawing/2014/main" id="{6322E509-7C43-4A1E-9272-A9693D60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60198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EF695E74-6680-468D-91DF-CF83C500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95475"/>
            <a:ext cx="56769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You are evaluating a biomedical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Check: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unsupported biomedical claims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missing or invalid source_id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overstatement beyond evidence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clinical recommendation language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missing uncertainty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Return JSON issues: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{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"issue_type": "...",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"severity": "high|medium|low",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"sentence": "...",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"suggested_fix": "..."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]</a:t>
            </a:r>
          </a:p>
        </p:txBody>
      </p:sp>
      <p:sp>
        <p:nvSpPr>
          <p:cNvPr id="6" name="explain">
            <a:extLst xmlns:a="http://schemas.openxmlformats.org/drawingml/2006/main">
              <a:ext uri="{FF2B5EF4-FFF2-40B4-BE49-F238E27FC236}">
                <a16:creationId xmlns:a16="http://schemas.microsoft.com/office/drawing/2014/main" id="{8140EBA2-90DC-4786-9925-F256DBC1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43100"/>
            <a:ext cx="32766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7" name="explain-title">
            <a:extLst xmlns:a="http://schemas.openxmlformats.org/drawingml/2006/main">
              <a:ext uri="{FF2B5EF4-FFF2-40B4-BE49-F238E27FC236}">
                <a16:creationId xmlns:a16="http://schemas.microsoft.com/office/drawing/2014/main" id="{429DF8F2-3E03-4831-84A9-B13D36A2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8" name="explain-list">
            <a:extLst xmlns:a="http://schemas.openxmlformats.org/drawingml/2006/main">
              <a:ext uri="{FF2B5EF4-FFF2-40B4-BE49-F238E27FC236}">
                <a16:creationId xmlns:a16="http://schemas.microsoft.com/office/drawing/2014/main" id="{F2FCBE66-860E-4DFA-821C-B58A06E6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列出檢查項目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 JSON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issue 要能被 revise 使用</a:t>
            </a:r>
          </a:p>
        </p:txBody>
      </p:sp>
    </p:spTree>
    <p:extLst>
      <p:ext uri="{BB962C8B-B14F-4D97-AF65-F5344CB8AC3E}">
        <p14:creationId xmlns:p14="http://schemas.microsoft.com/office/powerpoint/2010/main" val="17121101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6CAD5DE-868D-4A1B-9CD0-247F2FB5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ISSUE SCHEMA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4CBA332-0DF4-4733-B5E9-161FDAC7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evaluator 會留下可修的錯誤清單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673CB10-928F-401E-A8F4-8D8170EB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18/38</a:t>
            </a:r>
          </a:p>
        </p:txBody>
      </p:sp>
      <p:sp>
        <p:nvSpPr>
          <p:cNvPr id="4" name="code-box">
            <a:extLst xmlns:a="http://schemas.openxmlformats.org/drawingml/2006/main">
              <a:ext uri="{FF2B5EF4-FFF2-40B4-BE49-F238E27FC236}">
                <a16:creationId xmlns:a16="http://schemas.microsoft.com/office/drawing/2014/main" id="{33187652-6718-4BA5-81CF-CA3AFC0D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60198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95767191-09CE-4049-AA24-A5932F86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95475"/>
            <a:ext cx="56769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"issue_type": "unsupported_claim",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"severity": "high",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"sentence": "Osimertinib is effective in all EGFR-mutant lung cancers.",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"explanation": "Evidence only discusses T790M-positive NSCLC.",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"suggested_fix": "Limit the claim to T790M-positive NSCLC and cite [S2].",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"needs_human_review": false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6" name="explain">
            <a:extLst xmlns:a="http://schemas.openxmlformats.org/drawingml/2006/main">
              <a:ext uri="{FF2B5EF4-FFF2-40B4-BE49-F238E27FC236}">
                <a16:creationId xmlns:a16="http://schemas.microsoft.com/office/drawing/2014/main" id="{E5DB021A-99B9-4829-9A47-E7796AA7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43100"/>
            <a:ext cx="32766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explain-title">
            <a:extLst xmlns:a="http://schemas.openxmlformats.org/drawingml/2006/main">
              <a:ext uri="{FF2B5EF4-FFF2-40B4-BE49-F238E27FC236}">
                <a16:creationId xmlns:a16="http://schemas.microsoft.com/office/drawing/2014/main" id="{E56C74BB-59B8-4073-ABD4-F37A76DC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8" name="explain-list">
            <a:extLst xmlns:a="http://schemas.openxmlformats.org/drawingml/2006/main">
              <a:ext uri="{FF2B5EF4-FFF2-40B4-BE49-F238E27FC236}">
                <a16:creationId xmlns:a16="http://schemas.microsoft.com/office/drawing/2014/main" id="{428B0343-4424-41C2-911B-E509911C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severity 決定是否阻擋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sentence 讓人定位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suggested_fix 讓 revise 可執行</a:t>
            </a:r>
          </a:p>
        </p:txBody>
      </p:sp>
    </p:spTree>
    <p:extLst>
      <p:ext uri="{BB962C8B-B14F-4D97-AF65-F5344CB8AC3E}">
        <p14:creationId xmlns:p14="http://schemas.microsoft.com/office/powerpoint/2010/main" val="164744072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DED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E9DF555-23B2-49C0-9835-B96F50DF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PART 3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A95A4306-9D56-4834-B8BF-0A51E7E1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Self-check 不是 verification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CF59E0D8-567B-4783-AD26-CBEC4875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自我檢查可以降低風險，但不能取代外部規則檢查，更不能取代高風險的人工審查。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B3C6E4F2-C4C0-4C5C-8AFB-84B8B70D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19/38</a:t>
            </a:r>
          </a:p>
        </p:txBody>
      </p:sp>
    </p:spTree>
    <p:extLst>
      <p:ext uri="{BB962C8B-B14F-4D97-AF65-F5344CB8AC3E}">
        <p14:creationId xmlns:p14="http://schemas.microsoft.com/office/powerpoint/2010/main" val="121070095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06C8DBF-7D43-44F8-B84A-5189624D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THREE-LAYER CHECK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17C2FFA-5582-45D4-868C-9A711447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三層檢查各有工作，不要混在一起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58DB91E-4B30-42E7-B830-C9E12967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20/38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BAA0D4A9-D5CF-4979-861D-72D69EE3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2343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head-text-0">
            <a:extLst xmlns:a="http://schemas.openxmlformats.org/drawingml/2006/main">
              <a:ext uri="{FF2B5EF4-FFF2-40B4-BE49-F238E27FC236}">
                <a16:creationId xmlns:a16="http://schemas.microsoft.com/office/drawing/2014/main" id="{E59C5B7B-3B8E-4DEB-A908-F15FA9B1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檢查層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2A6D519B-634A-4E6C-9D1F-D894FEF7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7" name="head-text-1">
            <a:extLst xmlns:a="http://schemas.openxmlformats.org/drawingml/2006/main">
              <a:ext uri="{FF2B5EF4-FFF2-40B4-BE49-F238E27FC236}">
                <a16:creationId xmlns:a16="http://schemas.microsoft.com/office/drawing/2014/main" id="{971ED918-8FCA-49C0-8381-B5E377AB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擅長檢查什麼</a:t>
            </a:r>
          </a:p>
        </p:txBody>
      </p:sp>
      <p:sp>
        <p:nvSpPr>
          <p:cNvPr id="8" name="head-2">
            <a:extLst xmlns:a="http://schemas.openxmlformats.org/drawingml/2006/main">
              <a:ext uri="{FF2B5EF4-FFF2-40B4-BE49-F238E27FC236}">
                <a16:creationId xmlns:a16="http://schemas.microsoft.com/office/drawing/2014/main" id="{71FB0437-EEBC-4E6C-BE6A-517F47CB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head-text-2">
            <a:extLst xmlns:a="http://schemas.openxmlformats.org/drawingml/2006/main">
              <a:ext uri="{FF2B5EF4-FFF2-40B4-BE49-F238E27FC236}">
                <a16:creationId xmlns:a16="http://schemas.microsoft.com/office/drawing/2014/main" id="{A3374E3F-E146-45E0-AB47-9C497879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不能完全相信什麼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D91299BA-CF4F-47C0-868B-7F9906A8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883DD4AE-511B-4837-BAF8-D9763BE2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LLM evaluator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EC9BAE40-D3ED-4005-BB5B-DA5892EE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42FCD839-2835-4D52-BAFE-FF300531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語意、過度推論、uncertainty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9752C1DA-39C9-4D55-8EF3-A2FE422B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9190FCD5-F125-4035-80FF-80937159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citation 是否真的存在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D83817D8-7A45-4D45-ACA9-4D61F2A5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57EA0EEF-FB2B-48B1-8D4A-7610B083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Rule checker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1F54BB0E-E54F-4D7D-8402-EAD71C71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7D208439-EA91-446F-A0E1-73B4B6D4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格式、source_id、禁止詞、長度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56036A32-17C5-4674-AD69-650C1B03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036FE9A7-6365-44A8-AA06-C920BC47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醫學語意是否合理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E4CE1C93-1E49-4ED8-B712-A1445060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CEEF767D-3437-406A-B0B8-DB64429C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External tools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A6002923-95C7-40E0-8745-BC21F4B5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CD2BF8AF-FA43-4E56-BF97-7D85D28F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PMID、DOI、gene symbol、資料庫版本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33E37F84-ED55-4F52-AF8C-D4A1540C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7926AD7B-26D4-4B06-8034-52F43EF1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最後臨床解讀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040A4AAA-A0F4-4004-9AF2-CA70E3FF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767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16E1DE69-690F-4DF4-8B14-FC577626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Human review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B05C481F-E23F-425A-A6EE-401C7CFF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30B225BC-BD20-4797-9354-57BA83D7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高風險判斷、領域 nuance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5D756B88-03C1-446C-8C1F-35FDB53A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77652614-BDA3-419A-B4EE-163E11C7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大量格式檢查</a:t>
            </a:r>
          </a:p>
        </p:txBody>
      </p:sp>
    </p:spTree>
    <p:extLst>
      <p:ext uri="{BB962C8B-B14F-4D97-AF65-F5344CB8AC3E}">
        <p14:creationId xmlns:p14="http://schemas.microsoft.com/office/powerpoint/2010/main" val="1849831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7AE7222-6D1C-4D22-A7C6-B233BC33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PROGRAMMATIC CHECKS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6914AAB-E33D-4B7F-A4AB-449A06E8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程式檢查很無聊，但 demo 會因此活下來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7108F4A-37AF-4395-A31B-0F92C635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21/38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E11B4747-558C-4DE8-847F-A21A606B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5143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source_id 是否都存在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summary 是否引用 evidence table 以外的 source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是否超過字數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是否出現 clinical action 禁止語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F4648DEF-4941-405E-9C29-3B499AE2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DC931195-ACE9-4C9D-BFB7-5220D5C4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適合程式抓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F4871700-EF5E-4AB4-8E1B-A3F4A0C2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格式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存在性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長度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明確規則</a:t>
            </a:r>
          </a:p>
        </p:txBody>
      </p:sp>
    </p:spTree>
    <p:extLst>
      <p:ext uri="{BB962C8B-B14F-4D97-AF65-F5344CB8AC3E}">
        <p14:creationId xmlns:p14="http://schemas.microsoft.com/office/powerpoint/2010/main" val="5692710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AF5CD44-8F3D-4AAC-A5BD-D57A0F93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 CHECKER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13E01D9-F192-4842-BEF6-965CCD92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最小 rule checker 就能擋掉很多事故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AA46D8D-1967-44A1-ADE4-0F61F1C0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22/38</a:t>
            </a:r>
          </a:p>
        </p:txBody>
      </p:sp>
      <p:sp>
        <p:nvSpPr>
          <p:cNvPr id="4" name="code-box">
            <a:extLst xmlns:a="http://schemas.openxmlformats.org/drawingml/2006/main">
              <a:ext uri="{FF2B5EF4-FFF2-40B4-BE49-F238E27FC236}">
                <a16:creationId xmlns:a16="http://schemas.microsoft.com/office/drawing/2014/main" id="{15300A93-6FDB-4442-98B8-E736C494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60198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DD8873F7-D9E9-4110-9327-E9AA1722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95475"/>
            <a:ext cx="56769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def check_summary(summary, source_ids):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issues = []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cited = set(re.findall(r"\[(S\d+)\]", summary))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for sid in cited: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if sid not in source_ids: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    issues.append(issue("invalid_source_id", sid))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if not cited: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issues.append(issue("missing_source_id", "No source IDs found"))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banned = ["should treat", "recommended treatment", "patients should"]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if any(term in summary.lower() for term in banned):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issues.append(issue("clinical_recommendation", "Human review required"))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4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4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return issues</a:t>
            </a:r>
          </a:p>
        </p:txBody>
      </p:sp>
      <p:sp>
        <p:nvSpPr>
          <p:cNvPr id="6" name="explain">
            <a:extLst xmlns:a="http://schemas.openxmlformats.org/drawingml/2006/main">
              <a:ext uri="{FF2B5EF4-FFF2-40B4-BE49-F238E27FC236}">
                <a16:creationId xmlns:a16="http://schemas.microsoft.com/office/drawing/2014/main" id="{FF1BFA37-0C30-4F4F-B585-99592C9F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43100"/>
            <a:ext cx="32766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7" name="explain-title">
            <a:extLst xmlns:a="http://schemas.openxmlformats.org/drawingml/2006/main">
              <a:ext uri="{FF2B5EF4-FFF2-40B4-BE49-F238E27FC236}">
                <a16:creationId xmlns:a16="http://schemas.microsoft.com/office/drawing/2014/main" id="{1723B3DE-E5C5-4EC9-BBEE-815A07E2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8" name="explain-list">
            <a:extLst xmlns:a="http://schemas.openxmlformats.org/drawingml/2006/main">
              <a:ext uri="{FF2B5EF4-FFF2-40B4-BE49-F238E27FC236}">
                <a16:creationId xmlns:a16="http://schemas.microsoft.com/office/drawing/2014/main" id="{505C1F1E-0797-4632-A98F-C9A63B6D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規則不用聰明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要抓高風險硬條件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和程式互補</a:t>
            </a:r>
          </a:p>
        </p:txBody>
      </p:sp>
    </p:spTree>
    <p:extLst>
      <p:ext uri="{BB962C8B-B14F-4D97-AF65-F5344CB8AC3E}">
        <p14:creationId xmlns:p14="http://schemas.microsoft.com/office/powerpoint/2010/main" val="152146564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8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9ADE338-5E56-4A97-AA85-B10804A7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PART 4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32E60EED-6549-4F0A-A618-D3155490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Loop 一定要有停止條件和成本邊界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8CB8BCE8-B0BD-410A-812B-D63ED3D7B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loop 不只是會努力，還要知道什麼時候該停。否則它會從助教變成會刷卡的無限迴圈。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A29D129A-6007-48FA-8B31-1227DBF9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23/38</a:t>
            </a:r>
          </a:p>
        </p:txBody>
      </p:sp>
    </p:spTree>
    <p:extLst>
      <p:ext uri="{BB962C8B-B14F-4D97-AF65-F5344CB8AC3E}">
        <p14:creationId xmlns:p14="http://schemas.microsoft.com/office/powerpoint/2010/main" val="180954243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D85A87C-C489-4DFA-A5B2-EEF5AED2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STOPPING RULES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0CFAB5D-A46D-4CDB-A4B0-301708AE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停止條件要先寫，不要等它失控才祈禱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EB9243D-7424-4C07-A694-CF7ADCC3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24/38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2B620DCA-035D-4CF3-B829-E5B97DF6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2343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5" name="head-text-0">
            <a:extLst xmlns:a="http://schemas.openxmlformats.org/drawingml/2006/main">
              <a:ext uri="{FF2B5EF4-FFF2-40B4-BE49-F238E27FC236}">
                <a16:creationId xmlns:a16="http://schemas.microsoft.com/office/drawing/2014/main" id="{2F7553A6-F211-4E3D-87A3-EAA6E607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停止條件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0D626F36-A17C-4FA0-8A10-86D71EA5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7" name="head-text-1">
            <a:extLst xmlns:a="http://schemas.openxmlformats.org/drawingml/2006/main">
              <a:ext uri="{FF2B5EF4-FFF2-40B4-BE49-F238E27FC236}">
                <a16:creationId xmlns:a16="http://schemas.microsoft.com/office/drawing/2014/main" id="{54304F65-7159-40A6-9F21-97EDD89C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何時觸發</a:t>
            </a:r>
          </a:p>
        </p:txBody>
      </p:sp>
      <p:sp>
        <p:nvSpPr>
          <p:cNvPr id="8" name="head-2">
            <a:extLst xmlns:a="http://schemas.openxmlformats.org/drawingml/2006/main">
              <a:ext uri="{FF2B5EF4-FFF2-40B4-BE49-F238E27FC236}">
                <a16:creationId xmlns:a16="http://schemas.microsoft.com/office/drawing/2014/main" id="{3B55431B-D23E-4226-A3A7-0BCD273A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9" name="head-text-2">
            <a:extLst xmlns:a="http://schemas.openxmlformats.org/drawingml/2006/main">
              <a:ext uri="{FF2B5EF4-FFF2-40B4-BE49-F238E27FC236}">
                <a16:creationId xmlns:a16="http://schemas.microsoft.com/office/drawing/2014/main" id="{42823919-6F12-439B-9761-33EF099D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處理方式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C586E4A3-8620-4FB6-8B53-93A5F29C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86BABE7E-B7A7-4FC0-BFAD-BB5965BD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No blocking issues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92704098-2D75-4820-B81B-580F2562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60DFACC0-0664-4723-9EDE-7B0E4671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只剩低風險或沒有問題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B51828B4-D7E4-4816-A2E3-69D48C85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22096ED8-FF1D-49AD-AA2E-F216828A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產生 final report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EDE40732-FEC2-48D2-BB56-316963B0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E27C9606-39C3-45D6-868E-743B0920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Max iterations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DA93BFDA-B515-496C-9988-225FA617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0746D906-22B5-418E-B35E-CF8C580A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已修 3 輪仍有問題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B5124643-475F-43E0-A04C-E8B05F75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AC801662-0A79-4B96-9606-E97087DD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停止並列出剩餘問題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F5BB83F8-5346-44CB-8797-594D8EE5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E582C30C-3307-4D05-AFC7-F424BC41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Human review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3C673A87-7332-4BB3-A03F-3FB0BE08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53DBD670-871E-4008-AC48-CF1CD5CA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臨床建議、證據不足、衝突資料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488CF894-4FE8-4079-8C65-38948AB8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D6F63FC3-F7DD-44DA-9F73-5DAD4089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交給人，不再硬改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24BEC4FE-4EB0-4201-A8B1-663162E3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767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5AECAEEC-976C-4C00-B047-7D0894C7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Budget reached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E02CFBA8-323A-4697-87A1-0C565FB8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8DB5015B-886C-4AEE-A6DF-8E173123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來源數、token、時間超標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4305A089-1D93-4DC9-BBAB-9DB63E80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A8D5335F-00AE-4285-88E9-270CE3F6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停止 retrieve 或縮小任務</a:t>
            </a:r>
          </a:p>
        </p:txBody>
      </p:sp>
    </p:spTree>
    <p:extLst>
      <p:ext uri="{BB962C8B-B14F-4D97-AF65-F5344CB8AC3E}">
        <p14:creationId xmlns:p14="http://schemas.microsoft.com/office/powerpoint/2010/main" val="57428714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C53AA96-D13D-449D-872A-E5D09244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LOOP BUDGET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F7A6669-1EBB-4E2B-B815-A200E6A8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Budget 是 loop 的安全帶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81A4074-AEA8-42FD-99F0-070814A1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25/38</a:t>
            </a:r>
          </a:p>
        </p:txBody>
      </p:sp>
      <p:sp>
        <p:nvSpPr>
          <p:cNvPr id="4" name="code-box">
            <a:extLst xmlns:a="http://schemas.openxmlformats.org/drawingml/2006/main">
              <a:ext uri="{FF2B5EF4-FFF2-40B4-BE49-F238E27FC236}">
                <a16:creationId xmlns:a16="http://schemas.microsoft.com/office/drawing/2014/main" id="{4D8598FB-8E39-45AA-972D-2A28847E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60198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FFF8FBCA-1FCD-46B9-A1B1-50814F71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95475"/>
            <a:ext cx="56769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loop: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max_iterations: 3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max_retrieval_rounds: 1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max_sources: 6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max_summary_words: 220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stop_if_human_review_required: true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require_issue_log: true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checks: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- source_id_coverage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- no_invalid_source_id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- no_clinical_recommendation</a:t>
            </a:r>
          </a:p>
        </p:txBody>
      </p:sp>
      <p:sp>
        <p:nvSpPr>
          <p:cNvPr id="6" name="explain">
            <a:extLst xmlns:a="http://schemas.openxmlformats.org/drawingml/2006/main">
              <a:ext uri="{FF2B5EF4-FFF2-40B4-BE49-F238E27FC236}">
                <a16:creationId xmlns:a16="http://schemas.microsoft.com/office/drawing/2014/main" id="{DE5415C7-0EE7-479E-BFCF-DED849BD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43100"/>
            <a:ext cx="32766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7" name="explain-title">
            <a:extLst xmlns:a="http://schemas.openxmlformats.org/drawingml/2006/main">
              <a:ext uri="{FF2B5EF4-FFF2-40B4-BE49-F238E27FC236}">
                <a16:creationId xmlns:a16="http://schemas.microsoft.com/office/drawing/2014/main" id="{F6D30BA5-220A-4E5B-A217-86666E19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8" name="explain-list">
            <a:extLst xmlns:a="http://schemas.openxmlformats.org/drawingml/2006/main">
              <a:ext uri="{FF2B5EF4-FFF2-40B4-BE49-F238E27FC236}">
                <a16:creationId xmlns:a16="http://schemas.microsoft.com/office/drawing/2014/main" id="{5D80DCB8-F735-45BF-9B90-C5E885F1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限制迭代次數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 retrieve 成本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明確定義必跑 checks</a:t>
            </a:r>
          </a:p>
        </p:txBody>
      </p:sp>
    </p:spTree>
    <p:extLst>
      <p:ext uri="{BB962C8B-B14F-4D97-AF65-F5344CB8AC3E}">
        <p14:creationId xmlns:p14="http://schemas.microsoft.com/office/powerpoint/2010/main" val="9116405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DF54609-8946-4F3F-B79D-ACCCD800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91ADB00-F81E-48EA-992B-0AD1BCA2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 失控通常不是壞掉，而是太努力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CCE00A1-6EF5-4EDD-8D12-32B637BF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26/38</a:t>
            </a:r>
          </a:p>
        </p:txBody>
      </p:sp>
      <p:sp>
        <p:nvSpPr>
          <p:cNvPr id="4" name="card-0">
            <a:extLst xmlns:a="http://schemas.openxmlformats.org/drawingml/2006/main">
              <a:ext uri="{FF2B5EF4-FFF2-40B4-BE49-F238E27FC236}">
                <a16:creationId xmlns:a16="http://schemas.microsoft.com/office/drawing/2014/main" id="{3AC5F442-303F-498F-986C-3A5F8ECB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card-title-0">
            <a:extLst xmlns:a="http://schemas.openxmlformats.org/drawingml/2006/main">
              <a:ext uri="{FF2B5EF4-FFF2-40B4-BE49-F238E27FC236}">
                <a16:creationId xmlns:a16="http://schemas.microsoft.com/office/drawing/2014/main" id="{570FE58D-3DA4-49FD-B3D1-22D0E4C0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無限修正</a:t>
            </a:r>
          </a:p>
        </p:txBody>
      </p:sp>
      <p:sp>
        <p:nvSpPr>
          <p:cNvPr id="6" name="card-copy-0">
            <a:extLst xmlns:a="http://schemas.openxmlformats.org/drawingml/2006/main">
              <a:ext uri="{FF2B5EF4-FFF2-40B4-BE49-F238E27FC236}">
                <a16:creationId xmlns:a16="http://schemas.microsoft.com/office/drawing/2014/main" id="{207F0479-B564-405F-BADC-6ED6FDEF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6100"/>
            <a:ext cx="24574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Evaluator 每輪都找到新問題，agent 就一直改。沒有 max_iterations 就會開始表演耐力賽。</a:t>
            </a:r>
          </a:p>
        </p:txBody>
      </p:sp>
      <p:sp>
        <p:nvSpPr>
          <p:cNvPr id="7" name="card-1">
            <a:extLst xmlns:a="http://schemas.openxmlformats.org/drawingml/2006/main">
              <a:ext uri="{FF2B5EF4-FFF2-40B4-BE49-F238E27FC236}">
                <a16:creationId xmlns:a16="http://schemas.microsoft.com/office/drawing/2014/main" id="{0A11D2BE-16D5-4EE5-85DE-9AD161C3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8" name="card-title-1">
            <a:extLst xmlns:a="http://schemas.openxmlformats.org/drawingml/2006/main">
              <a:ext uri="{FF2B5EF4-FFF2-40B4-BE49-F238E27FC236}">
                <a16:creationId xmlns:a16="http://schemas.microsoft.com/office/drawing/2014/main" id="{E1FE1B6E-C023-419E-A54B-A416617C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越改越偏</a:t>
            </a:r>
          </a:p>
        </p:txBody>
      </p:sp>
      <p:sp>
        <p:nvSpPr>
          <p:cNvPr id="9" name="card-copy-1">
            <a:extLst xmlns:a="http://schemas.openxmlformats.org/drawingml/2006/main">
              <a:ext uri="{FF2B5EF4-FFF2-40B4-BE49-F238E27FC236}">
                <a16:creationId xmlns:a16="http://schemas.microsoft.com/office/drawing/2014/main" id="{9A629141-7E59-4949-8F4D-DFA5C748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86100"/>
            <a:ext cx="24574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第一版有 source，第三版改到 citation 消失。Revise 必須保留 evidence linkage。</a:t>
            </a:r>
          </a:p>
        </p:txBody>
      </p:sp>
      <p:sp>
        <p:nvSpPr>
          <p:cNvPr id="10" name="card-2">
            <a:extLst xmlns:a="http://schemas.openxmlformats.org/drawingml/2006/main">
              <a:ext uri="{FF2B5EF4-FFF2-40B4-BE49-F238E27FC236}">
                <a16:creationId xmlns:a16="http://schemas.microsoft.com/office/drawing/2014/main" id="{73E521A9-2C2D-4870-A554-F01F3880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57400"/>
            <a:ext cx="30670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card-title-2">
            <a:extLst xmlns:a="http://schemas.openxmlformats.org/drawingml/2006/main">
              <a:ext uri="{FF2B5EF4-FFF2-40B4-BE49-F238E27FC236}">
                <a16:creationId xmlns:a16="http://schemas.microsoft.com/office/drawing/2014/main" id="{225FD036-2538-4A70-A30D-CE9C3682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6220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Evaluator 放水</a:t>
            </a:r>
          </a:p>
        </p:txBody>
      </p:sp>
      <p:sp>
        <p:nvSpPr>
          <p:cNvPr id="12" name="card-copy-2">
            <a:extLst xmlns:a="http://schemas.openxmlformats.org/drawingml/2006/main">
              <a:ext uri="{FF2B5EF4-FFF2-40B4-BE49-F238E27FC236}">
                <a16:creationId xmlns:a16="http://schemas.microsoft.com/office/drawing/2014/main" id="{6F365B43-0727-4D40-AA10-0E36C558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86100"/>
            <a:ext cx="24574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只回 looks good，等於沒有 evaluator。Issue schema 要逼它講清楚錯在哪。</a:t>
            </a:r>
          </a:p>
        </p:txBody>
      </p:sp>
    </p:spTree>
    <p:extLst>
      <p:ext uri="{BB962C8B-B14F-4D97-AF65-F5344CB8AC3E}">
        <p14:creationId xmlns:p14="http://schemas.microsoft.com/office/powerpoint/2010/main" val="8951379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EDF8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02B3E73-8058-4423-95C3-9AF7FB65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PART 5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A727639F-AD95-46E7-BA51-839A44BF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Mini lab：做一個 biomedical summary loop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B719A514-DDFB-4E86-B016-9B512031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我們不用現場賭網路。先用 mock mode 跑通 loop，再讓學生理解如果接到真 agent，每個環節要怎麼替換。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9E4E60A-D974-433E-B3DF-1D735823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27/38</a:t>
            </a:r>
          </a:p>
        </p:txBody>
      </p:sp>
    </p:spTree>
    <p:extLst>
      <p:ext uri="{BB962C8B-B14F-4D97-AF65-F5344CB8AC3E}">
        <p14:creationId xmlns:p14="http://schemas.microsoft.com/office/powerpoint/2010/main" val="73269973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EF68812-0C69-4CA3-B157-9268CF36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GOAL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2457FC9-EC63-45FF-B99D-F339DA8A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學生最後要產出三個可檢查檔案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9AF51C5-E04F-466F-8B57-743FF94F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28/38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825F3766-B881-4FA1-8F57-8F2CFDCC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2343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5" name="head-text-0">
            <a:extLst xmlns:a="http://schemas.openxmlformats.org/drawingml/2006/main">
              <a:ext uri="{FF2B5EF4-FFF2-40B4-BE49-F238E27FC236}">
                <a16:creationId xmlns:a16="http://schemas.microsoft.com/office/drawing/2014/main" id="{D387C0A5-6F71-4BA9-8046-00904F2D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產物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9C63B17B-35CA-4A0E-B61A-EB8BBC5D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7" name="head-text-1">
            <a:extLst xmlns:a="http://schemas.openxmlformats.org/drawingml/2006/main">
              <a:ext uri="{FF2B5EF4-FFF2-40B4-BE49-F238E27FC236}">
                <a16:creationId xmlns:a16="http://schemas.microsoft.com/office/drawing/2014/main" id="{3628A518-4606-4A4B-9FDE-E8DF33A7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用途</a:t>
            </a:r>
          </a:p>
        </p:txBody>
      </p:sp>
      <p:sp>
        <p:nvSpPr>
          <p:cNvPr id="8" name="head-2">
            <a:extLst xmlns:a="http://schemas.openxmlformats.org/drawingml/2006/main">
              <a:ext uri="{FF2B5EF4-FFF2-40B4-BE49-F238E27FC236}">
                <a16:creationId xmlns:a16="http://schemas.microsoft.com/office/drawing/2014/main" id="{BF626926-7A89-40EB-A1F6-846B4A36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9" name="head-text-2">
            <a:extLst xmlns:a="http://schemas.openxmlformats.org/drawingml/2006/main">
              <a:ext uri="{FF2B5EF4-FFF2-40B4-BE49-F238E27FC236}">
                <a16:creationId xmlns:a16="http://schemas.microsoft.com/office/drawing/2014/main" id="{19F9FA35-0EE6-440F-902A-5244FF62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檢查重點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0C4D2C45-1F6D-4B2E-892F-93EFF9B0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06AB5102-BA11-4D83-96DA-77D3C779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final_summary.md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3A13706E-1D59-432B-9D52-988E299E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B00EE89A-27F6-4CC8-9A0F-52902312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給人看的 biomedical summary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C32B1552-0318-4197-974A-240D737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7E668AF0-C2A9-49B3-8D03-E1728E92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 claim 有 source_id，沒有臨床建議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C0240849-4BC7-4357-94AA-E7293681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A8CFFB39-1413-4CC5-B5EE-38CE9170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issue_log.json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B6FCF8E0-F228-4213-B4CC-B90DC96D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D3B9A729-5BDB-4673-B0DA-7BB4C522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每輪 evaluator 和 rule checker 問題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73591E8C-08E9-482C-B7D7-913EF26F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FDC88FCD-5C4D-49E3-AA69-F20985F9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看得出修了什麼，剩什麼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C990B2C9-9F2F-4E93-BE74-4167FEF2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D69BF9EC-30B1-4B29-9CC1-99E3535E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loop_report.json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D340BE39-DFD6-43A6-81F2-903822FF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CA053717-3484-4898-BE43-CE80F07D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這次 loop 的狀態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61B53DB7-5D3B-42F5-984A-9D26A145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E4038059-3F6A-4288-AA3A-F02F2355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passed / needs_human_review / max_iterations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6CBA2F26-490B-43B3-8EAF-25C08A0C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767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E86C070C-56C9-4CF6-99EA-3978E2CC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review_notes.md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DCD3ADE1-24EB-49D2-84F0-756EA9A2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9ADF5A6A-6177-4191-842A-50174198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學生人工檢查心得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DCF2F887-40DD-4295-97E4-17ADA121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09DD77F0-E5C3-4567-9FC2-C8EACCA0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哪裡仍需要領域專家判斷</a:t>
            </a:r>
          </a:p>
        </p:txBody>
      </p:sp>
    </p:spTree>
    <p:extLst>
      <p:ext uri="{BB962C8B-B14F-4D97-AF65-F5344CB8AC3E}">
        <p14:creationId xmlns:p14="http://schemas.microsoft.com/office/powerpoint/2010/main" val="52983715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D7C1FCA-CADF-45A5-B384-6F0A04BF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8B57718-3330-403B-83ED-2831E435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用小 evidence table，讓 demo 穩定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178C5D2-2BFF-47F6-8E20-C2FF3CF3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29/38</a:t>
            </a:r>
          </a:p>
        </p:txBody>
      </p:sp>
      <p:sp>
        <p:nvSpPr>
          <p:cNvPr id="4" name="code-box">
            <a:extLst xmlns:a="http://schemas.openxmlformats.org/drawingml/2006/main">
              <a:ext uri="{FF2B5EF4-FFF2-40B4-BE49-F238E27FC236}">
                <a16:creationId xmlns:a16="http://schemas.microsoft.com/office/drawing/2014/main" id="{639CA806-69F6-426D-90EB-28394458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60198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BCA2C798-427C-45AE-9AC7-133A5492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95475"/>
            <a:ext cx="56769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source_id,topic,evidence_type,claim,confidence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S1,EGFR T790M,clinical,"T790M is associated with resistance to first-generation EGFR TKIs in NSCLC.",high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S2,Osimertinib,clinical,"Osimertinib has activity in T790M-positive NSCLC.",high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S3,Resistance mechanism,preclinical,"Bypass pathway activation may contribute to resistance in models.",medium</a:t>
            </a:r>
          </a:p>
        </p:txBody>
      </p:sp>
      <p:sp>
        <p:nvSpPr>
          <p:cNvPr id="6" name="explain">
            <a:extLst xmlns:a="http://schemas.openxmlformats.org/drawingml/2006/main">
              <a:ext uri="{FF2B5EF4-FFF2-40B4-BE49-F238E27FC236}">
                <a16:creationId xmlns:a16="http://schemas.microsoft.com/office/drawing/2014/main" id="{C07BA623-4914-43D6-929B-1AC1B227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43100"/>
            <a:ext cx="32766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7" name="explain-title">
            <a:extLst xmlns:a="http://schemas.openxmlformats.org/drawingml/2006/main">
              <a:ext uri="{FF2B5EF4-FFF2-40B4-BE49-F238E27FC236}">
                <a16:creationId xmlns:a16="http://schemas.microsoft.com/office/drawing/2014/main" id="{3F436442-10FC-4EF9-81EC-16EF6DAD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8" name="explain-list">
            <a:extLst xmlns:a="http://schemas.openxmlformats.org/drawingml/2006/main">
              <a:ext uri="{FF2B5EF4-FFF2-40B4-BE49-F238E27FC236}">
                <a16:creationId xmlns:a16="http://schemas.microsoft.com/office/drawing/2014/main" id="{43D1C098-0177-47D4-B606-7335B8D2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資料小，容易教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source_id 清楚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包含 clinical 和 preclinical</a:t>
            </a:r>
          </a:p>
        </p:txBody>
      </p:sp>
    </p:spTree>
    <p:extLst>
      <p:ext uri="{BB962C8B-B14F-4D97-AF65-F5344CB8AC3E}">
        <p14:creationId xmlns:p14="http://schemas.microsoft.com/office/powerpoint/2010/main" val="169671132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E90B37B-04A9-46E3-A432-60CAF029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QUESTION SPEC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0B239F3-1A60-4CB2-9809-9E80AD46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Question spec 讓 generator 不會自由飛翔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7AEC524-AC03-45AB-88C1-5C1D8F4F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30/38</a:t>
            </a:r>
          </a:p>
        </p:txBody>
      </p:sp>
      <p:sp>
        <p:nvSpPr>
          <p:cNvPr id="4" name="code-box">
            <a:extLst xmlns:a="http://schemas.openxmlformats.org/drawingml/2006/main">
              <a:ext uri="{FF2B5EF4-FFF2-40B4-BE49-F238E27FC236}">
                <a16:creationId xmlns:a16="http://schemas.microsoft.com/office/drawing/2014/main" id="{365FD5FC-C369-4898-A96D-05ECABEE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60198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7B64E4A4-EC1A-4F7A-8FDA-79428788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95475"/>
            <a:ext cx="56769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Summarize evidence about EGFR T790M and treatment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resistance or response in non-small cell lung cancer.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Requirements: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Use only the provided evidence table.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Every biomedical claim must include [source_id].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Do not make patient-level treatment recommendations.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Mention uncertainty for preclinical or indirect evidence.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Output no more than 220 words.</a:t>
            </a:r>
          </a:p>
        </p:txBody>
      </p:sp>
      <p:sp>
        <p:nvSpPr>
          <p:cNvPr id="6" name="explain">
            <a:extLst xmlns:a="http://schemas.openxmlformats.org/drawingml/2006/main">
              <a:ext uri="{FF2B5EF4-FFF2-40B4-BE49-F238E27FC236}">
                <a16:creationId xmlns:a16="http://schemas.microsoft.com/office/drawing/2014/main" id="{A624F71B-42C6-456E-9FFD-4DA5F18C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43100"/>
            <a:ext cx="32766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7" name="explain-title">
            <a:extLst xmlns:a="http://schemas.openxmlformats.org/drawingml/2006/main">
              <a:ext uri="{FF2B5EF4-FFF2-40B4-BE49-F238E27FC236}">
                <a16:creationId xmlns:a16="http://schemas.microsoft.com/office/drawing/2014/main" id="{2BBCC34D-A200-4116-924E-83B43152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8" name="explain-list">
            <a:extLst xmlns:a="http://schemas.openxmlformats.org/drawingml/2006/main">
              <a:ext uri="{FF2B5EF4-FFF2-40B4-BE49-F238E27FC236}">
                <a16:creationId xmlns:a16="http://schemas.microsoft.com/office/drawing/2014/main" id="{DE002E90-63D4-4A46-8627-01FFB0A9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題目要有邊界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要求可驗證引用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禁止高風險輸出</a:t>
            </a:r>
          </a:p>
        </p:txBody>
      </p:sp>
    </p:spTree>
    <p:extLst>
      <p:ext uri="{BB962C8B-B14F-4D97-AF65-F5344CB8AC3E}">
        <p14:creationId xmlns:p14="http://schemas.microsoft.com/office/powerpoint/2010/main" val="90396969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17D8AA2-BD86-4ACD-877B-562BC5E5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LOOP PSEUDOCODE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90BD5AC-B611-459D-BD57-53AAB5D7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完整 loop 的骨架其實很短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89CF2CE-9D62-4C99-959D-9B8ED738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31/38</a:t>
            </a:r>
          </a:p>
        </p:txBody>
      </p:sp>
      <p:sp>
        <p:nvSpPr>
          <p:cNvPr id="4" name="code-box">
            <a:extLst xmlns:a="http://schemas.openxmlformats.org/drawingml/2006/main">
              <a:ext uri="{FF2B5EF4-FFF2-40B4-BE49-F238E27FC236}">
                <a16:creationId xmlns:a16="http://schemas.microsoft.com/office/drawing/2014/main" id="{B9B90FBE-5E92-4B44-B0FE-6208E511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60198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389C0AB8-D63B-4343-824C-24F06823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95475"/>
            <a:ext cx="56769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def run_loop(question, evidence, max_iterations=3):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plan = make_plan(question, evidence)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draft = generate_summary(question, evidence, plan)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issue_log = []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for iteration in range(1, max_iterations + 1):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llm_issues = evaluate_with_llm(draft, evidence)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rule_issues = check_summary_rules(draft, evidence)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issues = llm_issues + rule_issues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issue_log.append({"iteration": iteration, "issues": issues})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if has_human_review_issue(issues):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    return report("needs_human_review", draft, issue_log)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if no_blocking_issues(issues):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    return report("passed", draft, issue_log)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    draft = revise_summary(draft, issues, evidence)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728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28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return report("max_iterations_reached", draft, issue_log)</a:t>
            </a:r>
          </a:p>
        </p:txBody>
      </p:sp>
      <p:sp>
        <p:nvSpPr>
          <p:cNvPr id="6" name="explain">
            <a:extLst xmlns:a="http://schemas.openxmlformats.org/drawingml/2006/main">
              <a:ext uri="{FF2B5EF4-FFF2-40B4-BE49-F238E27FC236}">
                <a16:creationId xmlns:a16="http://schemas.microsoft.com/office/drawing/2014/main" id="{338616DB-B9DB-41BE-BE8C-26E5F7C2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43100"/>
            <a:ext cx="32766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7" name="explain-title">
            <a:extLst xmlns:a="http://schemas.openxmlformats.org/drawingml/2006/main">
              <a:ext uri="{FF2B5EF4-FFF2-40B4-BE49-F238E27FC236}">
                <a16:creationId xmlns:a16="http://schemas.microsoft.com/office/drawing/2014/main" id="{04D155B4-6BD2-4FD2-9DE9-327CC252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8" name="explain-list">
            <a:extLst xmlns:a="http://schemas.openxmlformats.org/drawingml/2006/main">
              <a:ext uri="{FF2B5EF4-FFF2-40B4-BE49-F238E27FC236}">
                <a16:creationId xmlns:a16="http://schemas.microsoft.com/office/drawing/2014/main" id="{5B7CBB37-0BE0-4A81-893A-D5D7812F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generate 後立刻 evaluate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checks + rule checks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stop 條件在 revise 前判斷</a:t>
            </a:r>
          </a:p>
        </p:txBody>
      </p:sp>
    </p:spTree>
    <p:extLst>
      <p:ext uri="{BB962C8B-B14F-4D97-AF65-F5344CB8AC3E}">
        <p14:creationId xmlns:p14="http://schemas.microsoft.com/office/powerpoint/2010/main" val="101265685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0CEF8D3-FFE9-441E-944A-DB2DF0CD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MOCK MODE VS AGENT MODE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2934193-740B-418D-B4E2-D3930015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上課 demo 要穩，課後可以換成真 agent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9C5A21A1-61A5-4B13-8CC5-1FC0BCBE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32/38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D97B937E-2C6C-42FB-86A3-63E891D7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47625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left-head">
            <a:extLst xmlns:a="http://schemas.openxmlformats.org/drawingml/2006/main">
              <a:ext uri="{FF2B5EF4-FFF2-40B4-BE49-F238E27FC236}">
                <a16:creationId xmlns:a16="http://schemas.microsoft.com/office/drawing/2014/main" id="{CC036999-53C8-417D-82CF-D6E0A4D9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717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Mock mode</a:t>
            </a:r>
          </a:p>
        </p:txBody>
      </p:sp>
      <p:sp>
        <p:nvSpPr>
          <p:cNvPr id="6" name="left-list">
            <a:extLst xmlns:a="http://schemas.openxmlformats.org/drawingml/2006/main">
              <a:ext uri="{FF2B5EF4-FFF2-40B4-BE49-F238E27FC236}">
                <a16:creationId xmlns:a16="http://schemas.microsoft.com/office/drawing/2014/main" id="{39F98033-9006-49B9-9CE3-810494AF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38450"/>
            <a:ext cx="371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使用預設 draft 和 issues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不需要 API key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保證能跑出完整 loop</a:t>
            </a:r>
          </a:p>
        </p:txBody>
      </p:sp>
      <p:sp>
        <p:nvSpPr>
          <p:cNvPr id="7" name="right">
            <a:extLst xmlns:a="http://schemas.openxmlformats.org/drawingml/2006/main">
              <a:ext uri="{FF2B5EF4-FFF2-40B4-BE49-F238E27FC236}">
                <a16:creationId xmlns:a16="http://schemas.microsoft.com/office/drawing/2014/main" id="{0437213A-49DB-4393-9B3F-09271E6A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7625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8" name="right-head">
            <a:extLst xmlns:a="http://schemas.openxmlformats.org/drawingml/2006/main">
              <a:ext uri="{FF2B5EF4-FFF2-40B4-BE49-F238E27FC236}">
                <a16:creationId xmlns:a16="http://schemas.microsoft.com/office/drawing/2014/main" id="{C198EF80-B21A-4EAE-AF36-416EE9C9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1717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Agent mode</a:t>
            </a:r>
          </a:p>
        </p:txBody>
      </p:sp>
      <p:sp>
        <p:nvSpPr>
          <p:cNvPr id="9" name="right-list">
            <a:extLst xmlns:a="http://schemas.openxmlformats.org/drawingml/2006/main">
              <a:ext uri="{FF2B5EF4-FFF2-40B4-BE49-F238E27FC236}">
                <a16:creationId xmlns:a16="http://schemas.microsoft.com/office/drawing/2014/main" id="{F5528F60-0E56-4E2B-B90A-71C032C8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38450"/>
            <a:ext cx="371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prompt 交給 Codex / Gemini / Claude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可以真的產生和評估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需要處理成本、延遲和不穩定</a:t>
            </a:r>
          </a:p>
        </p:txBody>
      </p:sp>
    </p:spTree>
    <p:extLst>
      <p:ext uri="{BB962C8B-B14F-4D97-AF65-F5344CB8AC3E}">
        <p14:creationId xmlns:p14="http://schemas.microsoft.com/office/powerpoint/2010/main" val="47008925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CCDE56B-98B2-4C5F-BE9A-416F29D0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EXPECTED REPORT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E336AA5-FAB6-4DCB-ADD9-53CF16BC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最後報告要讓人一眼知道能不能用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B1D91A3-755F-43DC-9006-06F9FEF8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33/38</a:t>
            </a:r>
          </a:p>
        </p:txBody>
      </p:sp>
      <p:sp>
        <p:nvSpPr>
          <p:cNvPr id="4" name="code-box">
            <a:extLst xmlns:a="http://schemas.openxmlformats.org/drawingml/2006/main">
              <a:ext uri="{FF2B5EF4-FFF2-40B4-BE49-F238E27FC236}">
                <a16:creationId xmlns:a16="http://schemas.microsoft.com/office/drawing/2014/main" id="{CBAF9DC5-44AC-4AA8-8DBD-1DE50468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52600"/>
            <a:ext cx="6019800" cy="3695700"/>
          </a:xfrm>
          <a:prstGeom xmlns:a="http://schemas.openxmlformats.org/drawingml/2006/main" prst="roundRect">
            <a:avLst>
              <a:gd name="adj" fmla="val 2062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131A21"/>
            </a:solidFill>
            <a:prstDash val="solid"/>
          </a:ln>
        </p:spPr>
      </p:sp>
      <p:sp>
        <p:nvSpPr>
          <p:cNvPr id="5" name="code">
            <a:extLst xmlns:a="http://schemas.openxmlformats.org/drawingml/2006/main">
              <a:ext uri="{FF2B5EF4-FFF2-40B4-BE49-F238E27FC236}">
                <a16:creationId xmlns:a16="http://schemas.microsoft.com/office/drawing/2014/main" id="{CA88B91A-CE47-4E1E-B995-97B93AC3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95475"/>
            <a:ext cx="5676900" cy="3409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"status": "passed",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"iterations": 2,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"blocking_issues_remaining": 0,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"human_review_required": false,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"sources_used": ["S1", "S2", "S3"],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"outputs": {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"summary": "outputs/final_summary.md",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"issue_log": "outputs/issue_log.json"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6" name="explain">
            <a:extLst xmlns:a="http://schemas.openxmlformats.org/drawingml/2006/main">
              <a:ext uri="{FF2B5EF4-FFF2-40B4-BE49-F238E27FC236}">
                <a16:creationId xmlns:a16="http://schemas.microsoft.com/office/drawing/2014/main" id="{B0CED5AE-0D2B-4427-B1B7-D35B065B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43100"/>
            <a:ext cx="32766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7" name="explain-title">
            <a:extLst xmlns:a="http://schemas.openxmlformats.org/drawingml/2006/main">
              <a:ext uri="{FF2B5EF4-FFF2-40B4-BE49-F238E27FC236}">
                <a16:creationId xmlns:a16="http://schemas.microsoft.com/office/drawing/2014/main" id="{58EEE803-6E62-4FA3-9E5E-AA1F2D52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66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8" name="explain-list">
            <a:extLst xmlns:a="http://schemas.openxmlformats.org/drawingml/2006/main">
              <a:ext uri="{FF2B5EF4-FFF2-40B4-BE49-F238E27FC236}">
                <a16:creationId xmlns:a16="http://schemas.microsoft.com/office/drawing/2014/main" id="{A3769A1B-590D-4BD3-A0CD-E339F9CA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2571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status 要明確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iterations 要記錄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outputs 要可追查</a:t>
            </a:r>
          </a:p>
        </p:txBody>
      </p:sp>
    </p:spTree>
    <p:extLst>
      <p:ext uri="{BB962C8B-B14F-4D97-AF65-F5344CB8AC3E}">
        <p14:creationId xmlns:p14="http://schemas.microsoft.com/office/powerpoint/2010/main" val="184047145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94E8080-BF02-4FCB-BF4E-E105BD3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REVIEW CHECKLIST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0D17591-A3C5-464F-BCD7-F1E9EDE1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學生人工檢查不是重做，是檢查高風險點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17D3887-0EA3-4E9C-A1CB-FEF0D5BE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34/38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D4E45963-03B0-4472-BCD5-BC33F751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2343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5" name="head-text-0">
            <a:extLst xmlns:a="http://schemas.openxmlformats.org/drawingml/2006/main">
              <a:ext uri="{FF2B5EF4-FFF2-40B4-BE49-F238E27FC236}">
                <a16:creationId xmlns:a16="http://schemas.microsoft.com/office/drawing/2014/main" id="{B2C9C32F-CE1F-454F-92BF-176A5A62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檢查項目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5590F279-0950-4A43-AB28-0DAD4536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7" name="head-text-1">
            <a:extLst xmlns:a="http://schemas.openxmlformats.org/drawingml/2006/main">
              <a:ext uri="{FF2B5EF4-FFF2-40B4-BE49-F238E27FC236}">
                <a16:creationId xmlns:a16="http://schemas.microsoft.com/office/drawing/2014/main" id="{D514383D-455F-44CD-8B78-5F155449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問題</a:t>
            </a:r>
          </a:p>
        </p:txBody>
      </p:sp>
      <p:sp>
        <p:nvSpPr>
          <p:cNvPr id="8" name="head-2">
            <a:extLst xmlns:a="http://schemas.openxmlformats.org/drawingml/2006/main">
              <a:ext uri="{FF2B5EF4-FFF2-40B4-BE49-F238E27FC236}">
                <a16:creationId xmlns:a16="http://schemas.microsoft.com/office/drawing/2014/main" id="{DD079BEC-3A59-472C-8D23-7687DE2A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9" name="head-text-2">
            <a:extLst xmlns:a="http://schemas.openxmlformats.org/drawingml/2006/main">
              <a:ext uri="{FF2B5EF4-FFF2-40B4-BE49-F238E27FC236}">
                <a16:creationId xmlns:a16="http://schemas.microsoft.com/office/drawing/2014/main" id="{7CD3CE7F-57A4-4D74-9E00-5F6906B2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不通過時怎麼辦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896BDF66-4410-4265-8710-122250D3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5B489E2B-6BA0-4AEB-B674-60817AAC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Evidence coverage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85FBE4F1-5A52-4C66-89B8-636C2B834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DA591B7C-F0CF-41CF-8F54-CDAEF7C2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 claim 都有 source_id 嗎？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330F1438-F5CD-49F8-9001-A868F325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B96B3FDE-2218-4009-889D-290005AA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補引用或刪句子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327E46A7-5883-45CF-B3D5-0E2814F3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48753CFD-0A81-4C5A-A64F-56342E48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Overreach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17C9A988-DAD9-4E72-A562-ADB43F5D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02342217-9171-4F5C-9959-5D54C09B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有沒有從 association 變成 clinical action？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6FEA8309-C0FB-4751-8716-78DC1F06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AF9E92B4-66CB-43E1-8574-8ACA8B0A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降級語氣或 human review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E6D6D752-6AAE-468A-9400-8DC84E25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25C92D31-E741-4FBC-9356-05982860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Uncertainty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3C1B0578-F3B8-4398-B72A-7764AE2B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643BF988-FB2E-4EC6-854A-52A0FCD1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preclinical evidence 有標不確定性嗎？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8F63B047-C295-4827-85F6-C389F60F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18363032-E94D-4026-90E4-C2FDC59B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補上限制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1DE072B3-623E-407C-9477-86D65006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767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BF4D4C84-4186-46E5-9362-35C39038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Final status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460317BE-393C-40A0-B7DC-CF63E856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D6FB34EB-9B8C-4FC8-B6D0-1EE40562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passed 真的合理嗎？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380310D3-6A58-4CF1-A58B-0E141DD5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65A47702-5B53-4521-85D9-54D4CB72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改成 needs_human_review</a:t>
            </a:r>
          </a:p>
        </p:txBody>
      </p:sp>
    </p:spTree>
    <p:extLst>
      <p:ext uri="{BB962C8B-B14F-4D97-AF65-F5344CB8AC3E}">
        <p14:creationId xmlns:p14="http://schemas.microsoft.com/office/powerpoint/2010/main" val="187053625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EEF1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39B514C-5525-4349-93E9-72207C06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PART 6</a:t>
            </a:r>
          </a:p>
        </p:txBody>
      </p:sp>
      <p:sp>
        <p:nvSpPr>
          <p:cNvPr id="2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FA8ECF1D-181A-4618-BBCF-D0F4938C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把 loop 帶回真實 biomedical agent</a:t>
            </a:r>
          </a:p>
        </p:txBody>
      </p:sp>
      <p:sp>
        <p:nvSpPr>
          <p:cNvPr id="3" name="section-subtitle">
            <a:extLst xmlns:a="http://schemas.openxmlformats.org/drawingml/2006/main">
              <a:ext uri="{FF2B5EF4-FFF2-40B4-BE49-F238E27FC236}">
                <a16:creationId xmlns:a16="http://schemas.microsoft.com/office/drawing/2014/main" id="{121846EA-6C60-4E61-9C10-F73A2211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857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今天的 mock loop 是骨架。真實系統只是把 generator、evaluator、retriever、rule checker 換成更強的實作。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3A1EBF63-5A94-4FA8-B7C5-DB347765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35/38</a:t>
            </a:r>
          </a:p>
        </p:txBody>
      </p:sp>
    </p:spTree>
    <p:extLst>
      <p:ext uri="{BB962C8B-B14F-4D97-AF65-F5344CB8AC3E}">
        <p14:creationId xmlns:p14="http://schemas.microsoft.com/office/powerpoint/2010/main" val="181871714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E19C725-4445-4655-B61A-C28B989F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REAL-WORLD EXTENSION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66E462B-DA5E-4EA7-89F7-CCE84901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真實 biomedical loop 可以逐步升級，不要一口氣做太大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0EFACC0-9D2A-4E60-9AB3-AFAAFFF1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36/38</a:t>
            </a:r>
          </a:p>
        </p:txBody>
      </p:sp>
      <p:sp>
        <p:nvSpPr>
          <p:cNvPr id="4" name="head-0">
            <a:extLst xmlns:a="http://schemas.openxmlformats.org/drawingml/2006/main">
              <a:ext uri="{FF2B5EF4-FFF2-40B4-BE49-F238E27FC236}">
                <a16:creationId xmlns:a16="http://schemas.microsoft.com/office/drawing/2014/main" id="{D64F6EE1-785A-49B0-A6A5-5F56B6B6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23431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head-text-0">
            <a:extLst xmlns:a="http://schemas.openxmlformats.org/drawingml/2006/main">
              <a:ext uri="{FF2B5EF4-FFF2-40B4-BE49-F238E27FC236}">
                <a16:creationId xmlns:a16="http://schemas.microsoft.com/office/drawing/2014/main" id="{18AB4FE3-8285-42CC-A1D0-540E888F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05000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升級方向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6F4F0A5D-30BD-4210-A5D1-CEF25716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7" name="head-text-1">
            <a:extLst xmlns:a="http://schemas.openxmlformats.org/drawingml/2006/main">
              <a:ext uri="{FF2B5EF4-FFF2-40B4-BE49-F238E27FC236}">
                <a16:creationId xmlns:a16="http://schemas.microsoft.com/office/drawing/2014/main" id="{1795EEE5-F2E0-4BF3-8618-5A6B8D2E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加入什麼</a:t>
            </a:r>
          </a:p>
        </p:txBody>
      </p:sp>
      <p:sp>
        <p:nvSpPr>
          <p:cNvPr id="8" name="head-2">
            <a:extLst xmlns:a="http://schemas.openxmlformats.org/drawingml/2006/main">
              <a:ext uri="{FF2B5EF4-FFF2-40B4-BE49-F238E27FC236}">
                <a16:creationId xmlns:a16="http://schemas.microsoft.com/office/drawing/2014/main" id="{2ABD3522-7E24-44DE-91D1-5445B30E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90700"/>
            <a:ext cx="3638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head-text-2">
            <a:extLst xmlns:a="http://schemas.openxmlformats.org/drawingml/2006/main">
              <a:ext uri="{FF2B5EF4-FFF2-40B4-BE49-F238E27FC236}">
                <a16:creationId xmlns:a16="http://schemas.microsoft.com/office/drawing/2014/main" id="{A3B6F4CD-BC2D-4DC2-8ABB-7D3363EB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905000"/>
            <a:ext cx="3371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新的風險</a:t>
            </a:r>
          </a:p>
        </p:txBody>
      </p:sp>
      <p:sp>
        <p:nvSpPr>
          <p:cNvPr id="10" name="cell-0-0">
            <a:extLst xmlns:a="http://schemas.openxmlformats.org/drawingml/2006/main">
              <a:ext uri="{FF2B5EF4-FFF2-40B4-BE49-F238E27FC236}">
                <a16:creationId xmlns:a16="http://schemas.microsoft.com/office/drawing/2014/main" id="{18FAB110-56BD-4B31-A4CD-E0426162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cell-text-0-0">
            <a:extLst xmlns:a="http://schemas.openxmlformats.org/drawingml/2006/main">
              <a:ext uri="{FF2B5EF4-FFF2-40B4-BE49-F238E27FC236}">
                <a16:creationId xmlns:a16="http://schemas.microsoft.com/office/drawing/2014/main" id="{457634C2-66CC-4F0E-ADE3-F65E684E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PubMed retrieval</a:t>
            </a:r>
          </a:p>
        </p:txBody>
      </p:sp>
      <p:sp>
        <p:nvSpPr>
          <p:cNvPr id="12" name="cell-0-1">
            <a:extLst xmlns:a="http://schemas.openxmlformats.org/drawingml/2006/main">
              <a:ext uri="{FF2B5EF4-FFF2-40B4-BE49-F238E27FC236}">
                <a16:creationId xmlns:a16="http://schemas.microsoft.com/office/drawing/2014/main" id="{7AAD6DE9-1922-4084-8DDA-463B3F1A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cell-text-0-1">
            <a:extLst xmlns:a="http://schemas.openxmlformats.org/drawingml/2006/main">
              <a:ext uri="{FF2B5EF4-FFF2-40B4-BE49-F238E27FC236}">
                <a16:creationId xmlns:a16="http://schemas.microsoft.com/office/drawing/2014/main" id="{199F7D17-A6CB-453D-8BCA-DF69B44D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自動搜尋與排序來源</a:t>
            </a:r>
          </a:p>
        </p:txBody>
      </p:sp>
      <p:sp>
        <p:nvSpPr>
          <p:cNvPr id="14" name="cell-0-2">
            <a:extLst xmlns:a="http://schemas.openxmlformats.org/drawingml/2006/main">
              <a:ext uri="{FF2B5EF4-FFF2-40B4-BE49-F238E27FC236}">
                <a16:creationId xmlns:a16="http://schemas.microsoft.com/office/drawing/2014/main" id="{1677E241-9068-4417-BF30-F93D1B08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050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cell-text-0-2">
            <a:extLst xmlns:a="http://schemas.openxmlformats.org/drawingml/2006/main">
              <a:ext uri="{FF2B5EF4-FFF2-40B4-BE49-F238E27FC236}">
                <a16:creationId xmlns:a16="http://schemas.microsoft.com/office/drawing/2014/main" id="{4E5690D9-090D-4160-85DD-FDE306F6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193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 drift、來源過多</a:t>
            </a:r>
          </a:p>
        </p:txBody>
      </p:sp>
      <p:sp>
        <p:nvSpPr>
          <p:cNvPr id="16" name="cell-1-0">
            <a:extLst xmlns:a="http://schemas.openxmlformats.org/drawingml/2006/main">
              <a:ext uri="{FF2B5EF4-FFF2-40B4-BE49-F238E27FC236}">
                <a16:creationId xmlns:a16="http://schemas.microsoft.com/office/drawing/2014/main" id="{0BE08441-C25E-4581-AA40-AD2D5CB0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cell-text-1-0">
            <a:extLst xmlns:a="http://schemas.openxmlformats.org/drawingml/2006/main">
              <a:ext uri="{FF2B5EF4-FFF2-40B4-BE49-F238E27FC236}">
                <a16:creationId xmlns:a16="http://schemas.microsoft.com/office/drawing/2014/main" id="{D602739B-AAFA-4EB1-B7F3-A549FFD8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Citation validation</a:t>
            </a:r>
          </a:p>
        </p:txBody>
      </p:sp>
      <p:sp>
        <p:nvSpPr>
          <p:cNvPr id="18" name="cell-1-1">
            <a:extLst xmlns:a="http://schemas.openxmlformats.org/drawingml/2006/main">
              <a:ext uri="{FF2B5EF4-FFF2-40B4-BE49-F238E27FC236}">
                <a16:creationId xmlns:a16="http://schemas.microsoft.com/office/drawing/2014/main" id="{06C13A6C-80F9-463E-85FE-7839B00A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9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4AA7093B-DD8F-4A86-BED3-262E95FD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PMID/DOI 存在性與摘要比對</a:t>
            </a:r>
          </a:p>
        </p:txBody>
      </p:sp>
      <p:sp>
        <p:nvSpPr>
          <p:cNvPr id="20" name="cell-1-2">
            <a:extLst xmlns:a="http://schemas.openxmlformats.org/drawingml/2006/main">
              <a:ext uri="{FF2B5EF4-FFF2-40B4-BE49-F238E27FC236}">
                <a16:creationId xmlns:a16="http://schemas.microsoft.com/office/drawing/2014/main" id="{2E63F1BC-C0D5-4E06-83AF-19432865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289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C36D5294-660C-4648-970F-EF4C5E3C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432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摘要不等於全文</a:t>
            </a:r>
          </a:p>
        </p:txBody>
      </p:sp>
      <p:sp>
        <p:nvSpPr>
          <p:cNvPr id="22" name="cell-2-0">
            <a:extLst xmlns:a="http://schemas.openxmlformats.org/drawingml/2006/main">
              <a:ext uri="{FF2B5EF4-FFF2-40B4-BE49-F238E27FC236}">
                <a16:creationId xmlns:a16="http://schemas.microsoft.com/office/drawing/2014/main" id="{0D1C6665-0201-4BAC-BC34-4F6DC9A2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cell-text-2-0">
            <a:extLst xmlns:a="http://schemas.openxmlformats.org/drawingml/2006/main">
              <a:ext uri="{FF2B5EF4-FFF2-40B4-BE49-F238E27FC236}">
                <a16:creationId xmlns:a16="http://schemas.microsoft.com/office/drawing/2014/main" id="{8CB15C41-838C-41C7-9697-86FB0A87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Gene symbol check</a:t>
            </a:r>
          </a:p>
        </p:txBody>
      </p:sp>
      <p:sp>
        <p:nvSpPr>
          <p:cNvPr id="24" name="cell-2-1">
            <a:extLst xmlns:a="http://schemas.openxmlformats.org/drawingml/2006/main">
              <a:ext uri="{FF2B5EF4-FFF2-40B4-BE49-F238E27FC236}">
                <a16:creationId xmlns:a16="http://schemas.microsoft.com/office/drawing/2014/main" id="{9180F1E5-40A6-49E1-9D6F-7B6E4D63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602F7DF1-228A-40EA-926B-3AF8245D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HGNC approved symbol lookup</a:t>
            </a:r>
          </a:p>
        </p:txBody>
      </p:sp>
      <p:sp>
        <p:nvSpPr>
          <p:cNvPr id="26" name="cell-2-2">
            <a:extLst xmlns:a="http://schemas.openxmlformats.org/drawingml/2006/main">
              <a:ext uri="{FF2B5EF4-FFF2-40B4-BE49-F238E27FC236}">
                <a16:creationId xmlns:a16="http://schemas.microsoft.com/office/drawing/2014/main" id="{F2C52054-F236-4E79-A62C-253F4387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528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32C8A633-8072-4D5D-B2CB-1C2FFB13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671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舊名、物種混淆</a:t>
            </a:r>
          </a:p>
        </p:txBody>
      </p:sp>
      <p:sp>
        <p:nvSpPr>
          <p:cNvPr id="28" name="cell-3-0">
            <a:extLst xmlns:a="http://schemas.openxmlformats.org/drawingml/2006/main">
              <a:ext uri="{FF2B5EF4-FFF2-40B4-BE49-F238E27FC236}">
                <a16:creationId xmlns:a16="http://schemas.microsoft.com/office/drawing/2014/main" id="{E7B11881-86F5-48A3-A26A-C81D9052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76750"/>
            <a:ext cx="23431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cell-text-3-0">
            <a:extLst xmlns:a="http://schemas.openxmlformats.org/drawingml/2006/main">
              <a:ext uri="{FF2B5EF4-FFF2-40B4-BE49-F238E27FC236}">
                <a16:creationId xmlns:a16="http://schemas.microsoft.com/office/drawing/2014/main" id="{F740CB97-BED2-44A6-B51D-1AA04DE6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Human review queue</a:t>
            </a:r>
          </a:p>
        </p:txBody>
      </p:sp>
      <p:sp>
        <p:nvSpPr>
          <p:cNvPr id="30" name="cell-3-1">
            <a:extLst xmlns:a="http://schemas.openxmlformats.org/drawingml/2006/main">
              <a:ext uri="{FF2B5EF4-FFF2-40B4-BE49-F238E27FC236}">
                <a16:creationId xmlns:a16="http://schemas.microsoft.com/office/drawing/2014/main" id="{C5512FE0-A19E-428C-91B4-1C194BA6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1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DDD8EBF0-B8B6-4FD1-922C-F71C64A0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高風險 issue 送審</a:t>
            </a:r>
          </a:p>
        </p:txBody>
      </p:sp>
      <p:sp>
        <p:nvSpPr>
          <p:cNvPr id="32" name="cell-3-2">
            <a:extLst xmlns:a="http://schemas.openxmlformats.org/drawingml/2006/main">
              <a:ext uri="{FF2B5EF4-FFF2-40B4-BE49-F238E27FC236}">
                <a16:creationId xmlns:a16="http://schemas.microsoft.com/office/drawing/2014/main" id="{011B3F2A-72B9-43B2-91AF-074EEF6D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76750"/>
            <a:ext cx="36385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33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1ADF817F-8F4C-4FFA-A274-D7E0A21D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910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8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責任歸屬與審查紀錄</a:t>
            </a:r>
          </a:p>
        </p:txBody>
      </p:sp>
    </p:spTree>
    <p:extLst>
      <p:ext uri="{BB962C8B-B14F-4D97-AF65-F5344CB8AC3E}">
        <p14:creationId xmlns:p14="http://schemas.microsoft.com/office/powerpoint/2010/main" val="127629942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BA84D6AD-0043-49A9-B992-0A9E91BF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DESIGN PRINCIPLE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F07493A-0910-400B-A811-576E97A8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loop 不是把人拿掉，而是讓人審得更準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9D0BA2E-3A58-4540-AC49-43020A17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37/38</a:t>
            </a:r>
          </a:p>
        </p:txBody>
      </p:sp>
      <p:sp>
        <p:nvSpPr>
          <p:cNvPr id="4" name="left-bullets">
            <a:extLst xmlns:a="http://schemas.openxmlformats.org/drawingml/2006/main">
              <a:ext uri="{FF2B5EF4-FFF2-40B4-BE49-F238E27FC236}">
                <a16:creationId xmlns:a16="http://schemas.microsoft.com/office/drawing/2014/main" id="{C8A7406A-B224-4C0F-A9E2-0EF1D571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5143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低風險格式錯誤交給程式抓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語意和 overstatement 交給 evaluator 先掃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高風險 biomedical 判斷交給 human-in-the-loop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3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最後把每一輪留下可追查紀錄</a:t>
            </a:r>
          </a:p>
        </p:txBody>
      </p:sp>
      <p:sp>
        <p:nvSpPr>
          <p:cNvPr id="5" name="right-box">
            <a:extLst xmlns:a="http://schemas.openxmlformats.org/drawingml/2006/main">
              <a:ext uri="{FF2B5EF4-FFF2-40B4-BE49-F238E27FC236}">
                <a16:creationId xmlns:a16="http://schemas.microsoft.com/office/drawing/2014/main" id="{0AA1CF16-6AEA-4A4D-9959-91906B32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39052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right-title">
            <a:extLst xmlns:a="http://schemas.openxmlformats.org/drawingml/2006/main">
              <a:ext uri="{FF2B5EF4-FFF2-40B4-BE49-F238E27FC236}">
                <a16:creationId xmlns:a16="http://schemas.microsoft.com/office/drawing/2014/main" id="{A1D61FF8-ADB1-4B6C-B0B0-D23E4BCD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526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Day 2 收束</a:t>
            </a:r>
          </a:p>
        </p:txBody>
      </p:sp>
      <p:sp>
        <p:nvSpPr>
          <p:cNvPr id="7" name="right-bullets">
            <a:extLst xmlns:a="http://schemas.openxmlformats.org/drawingml/2006/main">
              <a:ext uri="{FF2B5EF4-FFF2-40B4-BE49-F238E27FC236}">
                <a16:creationId xmlns:a16="http://schemas.microsoft.com/office/drawing/2014/main" id="{F4724C78-6F07-4889-966F-8A86861F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8130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Harness: 可控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Spec: 可驗證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Loop: 可改進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Human: 可負責</a:t>
            </a:r>
          </a:p>
        </p:txBody>
      </p:sp>
    </p:spTree>
    <p:extLst>
      <p:ext uri="{BB962C8B-B14F-4D97-AF65-F5344CB8AC3E}">
        <p14:creationId xmlns:p14="http://schemas.microsoft.com/office/powerpoint/2010/main" val="94942955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C0E564F-72E2-4DD1-82B7-0E9E012D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52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34C8797-5FE1-45CC-9A7F-B7110E27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最後帶走五句話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6E0B73E-9806-42FA-A67A-D6B71542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Loop engineering  |  38/38</a:t>
            </a:r>
          </a:p>
        </p:txBody>
      </p:sp>
      <p:sp>
        <p:nvSpPr>
          <p:cNvPr id="4" name="wrap-0">
            <a:extLst xmlns:a="http://schemas.openxmlformats.org/drawingml/2006/main">
              <a:ext uri="{FF2B5EF4-FFF2-40B4-BE49-F238E27FC236}">
                <a16:creationId xmlns:a16="http://schemas.microsoft.com/office/drawing/2014/main" id="{E1F0D18D-A4B1-46E1-9216-CE3E5ED4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8115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wrap-text-0">
            <a:extLst xmlns:a="http://schemas.openxmlformats.org/drawingml/2006/main">
              <a:ext uri="{FF2B5EF4-FFF2-40B4-BE49-F238E27FC236}">
                <a16:creationId xmlns:a16="http://schemas.microsoft.com/office/drawing/2014/main" id="{CB68DDB2-B730-43A4-B0B8-A79ED9F1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3355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1. Loop 不是一直問 AI，而是有階段、有檢查、有停止條件。</a:t>
            </a:r>
          </a:p>
        </p:txBody>
      </p:sp>
      <p:sp>
        <p:nvSpPr>
          <p:cNvPr id="6" name="wrap-1">
            <a:extLst xmlns:a="http://schemas.openxmlformats.org/drawingml/2006/main">
              <a:ext uri="{FF2B5EF4-FFF2-40B4-BE49-F238E27FC236}">
                <a16:creationId xmlns:a16="http://schemas.microsoft.com/office/drawing/2014/main" id="{DC374AAA-9505-42B8-A540-C088CBC4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6220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7" name="wrap-text-1">
            <a:extLst xmlns:a="http://schemas.openxmlformats.org/drawingml/2006/main">
              <a:ext uri="{FF2B5EF4-FFF2-40B4-BE49-F238E27FC236}">
                <a16:creationId xmlns:a16="http://schemas.microsoft.com/office/drawing/2014/main" id="{258F5956-A591-4A70-9423-752DD9EF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1460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2. Generator 負責產生，evaluator 負責挑錯，兩者要分開。</a:t>
            </a:r>
          </a:p>
        </p:txBody>
      </p:sp>
      <p:sp>
        <p:nvSpPr>
          <p:cNvPr id="8" name="wrap-2">
            <a:extLst xmlns:a="http://schemas.openxmlformats.org/drawingml/2006/main">
              <a:ext uri="{FF2B5EF4-FFF2-40B4-BE49-F238E27FC236}">
                <a16:creationId xmlns:a16="http://schemas.microsoft.com/office/drawing/2014/main" id="{B04230D0-2405-4C73-A103-55A13E21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wrap-text-2">
            <a:extLst xmlns:a="http://schemas.openxmlformats.org/drawingml/2006/main">
              <a:ext uri="{FF2B5EF4-FFF2-40B4-BE49-F238E27FC236}">
                <a16:creationId xmlns:a16="http://schemas.microsoft.com/office/drawing/2014/main" id="{CEBB5C3B-9B8D-4DF9-9143-8D4C145E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3. Self-check 只能降低風險，不能取代 rule checker 和 human review。</a:t>
            </a:r>
          </a:p>
        </p:txBody>
      </p:sp>
      <p:sp>
        <p:nvSpPr>
          <p:cNvPr id="10" name="wrap-3">
            <a:extLst xmlns:a="http://schemas.openxmlformats.org/drawingml/2006/main">
              <a:ext uri="{FF2B5EF4-FFF2-40B4-BE49-F238E27FC236}">
                <a16:creationId xmlns:a16="http://schemas.microsoft.com/office/drawing/2014/main" id="{8E9F3FC1-4576-48F7-8577-8CCC3DC3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2430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DF8EE"/>
          </a:solidFill>
          <a:ln xmlns:a="http://schemas.openxmlformats.org/drawingml/2006/main" w="9525">
            <a:solidFill>
              <a:srgbClr val="438D4A"/>
            </a:solidFill>
            <a:prstDash val="solid"/>
          </a:ln>
        </p:spPr>
      </p:sp>
      <p:sp>
        <p:nvSpPr>
          <p:cNvPr id="11" name="wrap-text-3">
            <a:extLst xmlns:a="http://schemas.openxmlformats.org/drawingml/2006/main">
              <a:ext uri="{FF2B5EF4-FFF2-40B4-BE49-F238E27FC236}">
                <a16:creationId xmlns:a16="http://schemas.microsoft.com/office/drawing/2014/main" id="{2936AD66-EA27-46E4-A8F1-98D34485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7670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4. Biomedical summary 必須能追到 evidence，不可以只看起來合理。</a:t>
            </a:r>
          </a:p>
        </p:txBody>
      </p:sp>
      <p:sp>
        <p:nvSpPr>
          <p:cNvPr id="12" name="wrap-4">
            <a:extLst xmlns:a="http://schemas.openxmlformats.org/drawingml/2006/main">
              <a:ext uri="{FF2B5EF4-FFF2-40B4-BE49-F238E27FC236}">
                <a16:creationId xmlns:a16="http://schemas.microsoft.com/office/drawing/2014/main" id="{0E3C64AE-6110-4E33-AE38-AF65D7D5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05350"/>
            <a:ext cx="9620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3" name="wrap-text-4">
            <a:extLst xmlns:a="http://schemas.openxmlformats.org/drawingml/2006/main">
              <a:ext uri="{FF2B5EF4-FFF2-40B4-BE49-F238E27FC236}">
                <a16:creationId xmlns:a16="http://schemas.microsoft.com/office/drawing/2014/main" id="{0CF89E65-FFA6-495B-9BD3-E05FD660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5775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5. 好的 loop 會知道什麼時候停止，什麼時候交給人。</a:t>
            </a:r>
          </a:p>
        </p:txBody>
      </p:sp>
    </p:spTree>
    <p:extLst>
      <p:ext uri="{BB962C8B-B14F-4D97-AF65-F5344CB8AC3E}">
        <p14:creationId xmlns:p14="http://schemas.microsoft.com/office/powerpoint/2010/main" val="18212703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2026-07-06T01:39:04.8910000Z</dcterms:created>
  <dcterms:modified xsi:type="dcterms:W3CDTF">2026-07-06T01:39:04.8910000Z</dcterms:modified>
</coreProperties>
</file>