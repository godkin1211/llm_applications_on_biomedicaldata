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96" r:id="rId3"/>
    <p:sldId id="301" r:id="rId4"/>
    <p:sldId id="294" r:id="rId5"/>
    <p:sldId id="258" r:id="rId6"/>
    <p:sldId id="297" r:id="rId7"/>
    <p:sldId id="298" r:id="rId8"/>
    <p:sldId id="299" r:id="rId9"/>
    <p:sldId id="257" r:id="rId10"/>
    <p:sldId id="295" r:id="rId11"/>
    <p:sldId id="260" r:id="rId12"/>
    <p:sldId id="302" r:id="rId13"/>
    <p:sldId id="30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8"/>
    <p:restoredTop sz="96047"/>
  </p:normalViewPr>
  <p:slideViewPr>
    <p:cSldViewPr snapToGrid="0" snapToObjects="1">
      <p:cViewPr varScale="1">
        <p:scale>
          <a:sx n="110" d="100"/>
          <a:sy n="110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開場定位：前三堂建立 agent 的環境、操作和規格，最後一堂把這些能力放進可停止、可檢查的 loop。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你不是叫 AI 多想幾次，而是讓它照規則工作</a:t>
            </a:r>
          </a:p>
          <a:p>
            <a:endParaRPr/>
          </a:p>
          <a:p>
            <a:r>
              <a:t>Harness 決定 agent 能讀哪些資料、能用哪些工具 Coding agent 讓 agent 能讀檔、改檔、跑檢查 Spec 把模糊需求改成可驗證條件 Loop 讓每一輪修正都有原因、有紀錄、有停止點 先記這三句: Harness controls the workspace Spec defines done Loop drives iteration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1829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你不是叫 AI 多想幾次，而是讓它照規則工作</a:t>
            </a:r>
          </a:p>
          <a:p>
            <a:endParaRPr/>
          </a:p>
          <a:p>
            <a:r>
              <a:t>Harness 決定 agent 能讀哪些資料、能用哪些工具 Coding agent 讓 agent 能讀檔、改檔、跑檢查 Spec 把模糊需求改成可驗證條件 Loop 讓每一輪修正都有原因、有紀錄、有停止點 先記這三句: Harness controls the workspace Spec defines done Loop drives iteration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8082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開場定位：前三堂建立 agent 的環境、操作和規格，最後一堂把這些能力放進可停止、可檢查的 loop。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9694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你不是叫 AI 多想幾次，而是讓它照規則工作</a:t>
            </a:r>
          </a:p>
          <a:p>
            <a:endParaRPr/>
          </a:p>
          <a:p>
            <a:r>
              <a:t>Harness 決定 agent 能讀哪些資料、能用哪些工具 Coding agent 讓 agent 能讀檔、改檔、跑檢查 Spec 把模糊需求改成可驗證條件 Loop 讓每一輪修正都有原因、有紀錄、有停止點 先記這三句: Harness controls the workspace Spec defines done Loop drives iteration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你不是叫 AI 多想幾次，而是讓它照規則工作</a:t>
            </a:r>
          </a:p>
          <a:p>
            <a:endParaRPr/>
          </a:p>
          <a:p>
            <a:r>
              <a:t>Harness 決定 agent 能讀哪些資料、能用哪些工具 Coding agent 讓 agent 能讀檔、改檔、跑檢查 Spec 把模糊需求改成可驗證條件 Loop 讓每一輪修正都有原因、有紀錄、有停止點 先記這三句: Harness controls the workspace Spec defines done Loop drives iteration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0483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你不是叫 AI 多想幾次，而是讓它照規則工作</a:t>
            </a:r>
          </a:p>
          <a:p>
            <a:endParaRPr/>
          </a:p>
          <a:p>
            <a:r>
              <a:t>Harness 決定 agent 能讀哪些資料、能用哪些工具 Coding agent 讓 agent 能讀檔、改檔、跑檢查 Spec 把模糊需求改成可驗證條件 Loop 讓每一輪修正都有原因、有紀錄、有停止點 先記這三句: Harness controls the workspace Spec defines done Loop drives iteration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8005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你不是叫 AI 多想幾次，而是讓它照規則工作</a:t>
            </a:r>
          </a:p>
          <a:p>
            <a:endParaRPr/>
          </a:p>
          <a:p>
            <a:r>
              <a:t>Harness 決定 agent 能讀哪些資料、能用哪些工具 Coding agent 讓 agent 能讀檔、改檔、跑檢查 Spec 把模糊需求改成可驗證條件 Loop 讓每一輪修正都有原因、有紀錄、有停止點 先記這三句: Harness controls the workspace Spec defines done Loop drives iteration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8348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這張是路線圖：最後一堂不是新玩具，而是把 Day 2 的能力串成完整工作流。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你不是叫 AI 多想幾次，而是讓它照規則工作</a:t>
            </a:r>
          </a:p>
          <a:p>
            <a:endParaRPr/>
          </a:p>
          <a:p>
            <a:r>
              <a:t>Harness 決定 agent 能讀哪些資料、能用哪些工具 Coding agent 讓 agent 能讀檔、改檔、跑檢查 Spec 把模糊需求改成可驗證條件 Loop 讓每一輪修正都有原因、有紀錄、有停止點 先記這三句: Harness controls the workspace Spec defines done Loop drives iteration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7626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這張建立整堂課核心圖。要提醒：feedback 是帶著結構化問題回去修，不是單純叫模型再想想。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這張建立整堂課核心圖。要提醒：feedback 是帶著結構化問題回去修，不是單純叫模型再想想。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4095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這張建立整堂課核心圖。要提醒：feedback 是帶著結構化問題回去修，不是單純叫模型再想想。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2452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你要分清楚：今天要寫的是外部 loop specification</a:t>
            </a:r>
          </a:p>
          <a:p>
            <a:endParaRPr/>
          </a:p>
          <a:p>
            <a:r>
              <a:t>程式 loop: for / while 反覆執行程式碼。它負責控制流程，但不懂任務是否完成。</a:t>
            </a:r>
          </a:p>
          <a:p>
            <a:r>
              <a:t>Agent 內部 loop: 模型或 harness 內部的 perceive、act、observe。使用者通常看不到完整細節。</a:t>
            </a:r>
          </a:p>
          <a:p>
            <a:r>
              <a:t>Loop specification: 寫在模型外面的工作契約：何時觸發、要達成什麼、怎麼驗證、何時停止。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你寫 loop spec 時，至少要交代這幾件事</a:t>
            </a:r>
          </a:p>
          <a:p>
            <a:endParaRPr/>
          </a:p>
          <a:p>
            <a:r>
              <a:t>Trigger / 何時啟動 loop / 手動執行，或 evidence table 更新後執行</a:t>
            </a:r>
          </a:p>
          <a:p>
            <a:r>
              <a:t>Goal / 這次 loop 要交付什麼 / 產生 EGFR T790M biomedical summary</a:t>
            </a:r>
          </a:p>
          <a:p>
            <a:r>
              <a:t>Execution / 每輪怎麼做事 / plan -&gt; analyze -&gt; verify -&gt; revise</a:t>
            </a:r>
          </a:p>
          <a:p>
            <a:r>
              <a:t>Verification / 用哪些檢查決定能不能過 / source_id、字數、overstatement、人審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的目的不是裝忙，是先避免任務失控</a:t>
            </a:r>
          </a:p>
          <a:p>
            <a:endParaRPr/>
          </a:p>
          <a:p>
            <a:r>
              <a:t>Question / 沒有明確問題，後面都會漂移 / T790M 與 NSCLC resistance/response</a:t>
            </a:r>
          </a:p>
          <a:p>
            <a:r>
              <a:t>Boundary / 先講不能回答什麼 / 不產生 patient-level recommendation</a:t>
            </a:r>
          </a:p>
          <a:p>
            <a:r>
              <a:t>Output / 沒有格式，無法驗證 / 220 words + source IDs + uncertainty</a:t>
            </a:r>
          </a:p>
          <a:p>
            <a:r>
              <a:t>Done / 沒有完成定義就會無限修 / no blocking issues or human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不是亂查，是拿到能支撐 claim 的 evidence</a:t>
            </a:r>
          </a:p>
          <a:p>
            <a:endParaRPr/>
          </a:p>
          <a:p>
            <a:r>
              <a:t>今天先用固定 evidence table，先練會檢查與引用 未來接 PubMed 時，要限制 query、max sources、資料來源 每個 source 都要有 source_id，後面 verify 才抓得到 新手常犯錯: 每輪都重新查 把摘要當全文 source 沒編號 查到什麼都塞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Analyze 要把 evidence 轉成小心的 claim</a:t>
            </a:r>
          </a:p>
          <a:p>
            <a:endParaRPr/>
          </a:p>
          <a:p>
            <a:r>
              <a:t>把 association、mechanism、response、resistance 分開 把 clinical、preclinical、review 的證據等級分開 不要把『有關聯』升級成『可以用來治療』 一句提醒: Biomedical summary 不是醫囑產生器 更不是自信心表演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Verify 的工作是找錯，不是幫 draft 找台階下</a:t>
            </a:r>
          </a:p>
          <a:p>
            <a:endParaRPr/>
          </a:p>
          <a:p>
            <a:r>
              <a:t>每個 biomedical claim 是否有 source_id source_id 是否存在於 evidence table claim 是否超出 evidence 是否出現 clinical recommendation 或過度推論 Evaluator 心態: 不要禮貌性通過 不要只說 looks good 要輸出可修的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Revise 不是重寫一篇，而是根據 issues 修補</a:t>
            </a:r>
          </a:p>
          <a:p>
            <a:endParaRPr/>
          </a:p>
          <a:p>
            <a:r>
              <a:t>只修 evaluator 指出的問題 刪掉 unsupported claim，比硬找理由更安全 修完要保留 source_id 和 uncertainty 危險修法: 改到 citation 不見 把 claim 改更大 為了通過而刪光內容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Report 要交答案，也要交檢查紀錄</a:t>
            </a:r>
          </a:p>
          <a:p>
            <a:endParaRPr/>
          </a:p>
          <a:p>
            <a:r>
              <a:t>final_summary.md 是給人讀的結論 issue_log.json 是給人追查的紀錄 loop_report.json 是這次 loop 是否通過的狀態 最後交付: summary sources used iterations human review flag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你可以用同一個模型扮演兩個角色，但 prompt、任務和輸出格式要分開，否則它很容易自己幫自己蓋章。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Generator: 根據 evidence 產生 summary 把資訊整理得可讀 必須引用 source_id Evaluator: 找 unsupported claim 檢查 missing source_id 標出 overstatement 和 human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Generator prompt 要限制來源和輸出格式</a:t>
            </a:r>
          </a:p>
          <a:p>
            <a:endParaRPr/>
          </a:p>
          <a:p>
            <a:r>
              <a:t>先限制資料來源 明確禁止臨床建議 要求 source_id 限制長度避免發散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Evaluator prompt 要輸出結構化 issue，不要只聊天</a:t>
            </a:r>
          </a:p>
          <a:p>
            <a:endParaRPr/>
          </a:p>
          <a:p>
            <a:r>
              <a:t>列出檢查項目 輸出 JSON issue 要能被 revise 使用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好的 evaluator 會留下可修的錯誤清單</a:t>
            </a:r>
          </a:p>
          <a:p>
            <a:endParaRPr/>
          </a:p>
          <a:p>
            <a:r>
              <a:t>severity 決定是否阻擋 sentence 讓人定位 suggested_fix 讓 revise 可執行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自我檢查可以降低風險，但不能取代外部規則檢查，更不能取代高風險的人工審查。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不要把每種檢查都叫 AI 自我檢查</a:t>
            </a:r>
          </a:p>
          <a:p>
            <a:endParaRPr/>
          </a:p>
          <a:p>
            <a:r>
              <a:t>L1 deterministic / 不需要模型判斷的硬規則 / source_id 是否存在、字數是否超標</a:t>
            </a:r>
          </a:p>
          <a:p>
            <a:r>
              <a:t>L2 rule / 明確可列出的限制 / 禁止 patient-level treatment recommendation</a:t>
            </a:r>
          </a:p>
          <a:p>
            <a:r>
              <a:t>L3 field truth / 外部資料庫或真實來源 / PMID/DOI、HGNC gene symbol、資料庫版本</a:t>
            </a:r>
          </a:p>
          <a:p>
            <a:r>
              <a:t>L4/L5 / 語意判斷與人工關卡 / overstatement 先由 evaluator 標記，高風險交給人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把無聊但重要的錯誤交給程式抓</a:t>
            </a:r>
          </a:p>
          <a:p>
            <a:endParaRPr/>
          </a:p>
          <a:p>
            <a:r>
              <a:t>source_id 是否都存在 summary 是否引用 evidence table 以外的 source 是否超過字數 是否出現 clinical action 禁止語 適合程式抓: 格式 存在性 長度 明確規則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最小 rule checker 就能擋掉很多事故</a:t>
            </a:r>
          </a:p>
          <a:p>
            <a:endParaRPr/>
          </a:p>
          <a:p>
            <a:r>
              <a:t>規則不用聰明 要抓高風險硬條件 LLM 和程式互補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好的 loop 不只是會努力，還要知道什麼時候該停。否則它會從助教變成會刷卡的無限迴圈。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Loop 要命名結局，不要只剩成功或爆炸</a:t>
            </a:r>
          </a:p>
          <a:p>
            <a:endParaRPr/>
          </a:p>
          <a:p>
            <a:r>
              <a:t>passed / 沒有 blocking issues / 輸出 final_summary 和 report</a:t>
            </a:r>
          </a:p>
          <a:p>
            <a:r>
              <a:t>needs_human_review / 臨床建議、證據不足、衝突資料 / 停止自動修正，交給人</a:t>
            </a:r>
          </a:p>
          <a:p>
            <a:r>
              <a:t>stalled / 連續幾輪問題完全沒變 / 停止，避免假裝有進步</a:t>
            </a:r>
          </a:p>
          <a:p>
            <a:r>
              <a:t>max_iterations_reached / 已修到上限仍有問題 / 列出剩餘問題與下一步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 loop 契約寫成檔案，你才知道每輪在做什麼</a:t>
            </a:r>
          </a:p>
          <a:p>
            <a:endParaRPr/>
          </a:p>
          <a:p>
            <a:r>
              <a:t>規格先於 prompt 停止條件明確 檢查層級可追查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Loop 失控通常不是壞掉，而是太努力</a:t>
            </a:r>
          </a:p>
          <a:p>
            <a:endParaRPr/>
          </a:p>
          <a:p>
            <a:r>
              <a:t>無限修正: Evaluator 每輪都找到新問題，agent 就一直改。沒有 max_iterations 就會開始表演耐力賽。</a:t>
            </a:r>
          </a:p>
          <a:p>
            <a:r>
              <a:t>越改越偏: 第一版有 source，第三版改到 citation 消失。Revise 必須保留 evidence linkage。</a:t>
            </a:r>
          </a:p>
          <a:p>
            <a:r>
              <a:t>Evaluator 放水: 只回 looks good，等於沒有 evaluator。Issue schema 要逼它講清楚錯在哪。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先用 mock mode 跑通整個流程。等你看懂每個環節後，再把 generator、evaluator 或 retriever 換成真的 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跑完 lab 後，你要能解釋這三個檔案</a:t>
            </a:r>
          </a:p>
          <a:p>
            <a:endParaRPr/>
          </a:p>
          <a:p>
            <a:r>
              <a:t>final_summary.md / 給人看的 biomedical summary / 每個 claim 有 source_id，沒有臨床建議</a:t>
            </a:r>
          </a:p>
          <a:p>
            <a:r>
              <a:t>issue_log.json / 每輪 evaluator 和 rule checker 問題 / 看得出修了什麼，剩什麼</a:t>
            </a:r>
          </a:p>
          <a:p>
            <a:r>
              <a:t>loop_report.json / 這次 loop 的狀態 / passed / needs_human_review / max_iterations</a:t>
            </a:r>
          </a:p>
          <a:p>
            <a:r>
              <a:t>review_notes.md / 你的人工檢查心得 / 哪裡仍需要領域專家判斷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先用小 evidence table，專心練 citation 和 verification</a:t>
            </a:r>
          </a:p>
          <a:p>
            <a:endParaRPr/>
          </a:p>
          <a:p>
            <a:r>
              <a:t>資料小，容易讀 source_id 清楚 包含 clinical 和 preclinical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Question spec 讓 generator 不會自由飛翔</a:t>
            </a:r>
          </a:p>
          <a:p>
            <a:endParaRPr/>
          </a:p>
          <a:p>
            <a:r>
              <a:t>題目要有邊界 要求可驗證引用 禁止高風險輸出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 loop 的骨架其實很短，重點是 status 和 memory</a:t>
            </a:r>
          </a:p>
          <a:p>
            <a:endParaRPr/>
          </a:p>
          <a:p>
            <a:r>
              <a:t>generate 後立刻 evaluate LLM checks + rule checks 每輪都寫 issue 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Mock mode: 使用預設 draft 和 issues 不需要 API key 讓你先看懂完整 loop Agent mode: 把 prompt 交給 Codex / Gemini / Claude 可以真的產生和評估 需要處理成本、延遲和不穩定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最後報告要讓人一眼知道能不能用</a:t>
            </a:r>
          </a:p>
          <a:p>
            <a:endParaRPr/>
          </a:p>
          <a:p>
            <a:r>
              <a:t>status 要明確 verification 要可追查 stalled 也要能停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人工檢查不是重做，是盯住高風險點</a:t>
            </a:r>
          </a:p>
          <a:p>
            <a:endParaRPr/>
          </a:p>
          <a:p>
            <a:r>
              <a:t>Evidence coverage / 每個 claim 都有 source_id 嗎？ / 補引用或刪句子</a:t>
            </a:r>
          </a:p>
          <a:p>
            <a:r>
              <a:t>Overreach / 有沒有從 association 變成 clinical action？ / 降級語氣或 human review</a:t>
            </a:r>
          </a:p>
          <a:p>
            <a:r>
              <a:t>Uncertainty / preclinical evidence 有標不確定性嗎？ / 補上限制</a:t>
            </a:r>
          </a:p>
          <a:p>
            <a:r>
              <a:t>Final status / passed 真的合理嗎？ / 改成 needs_human_review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今天的 mock loop 是骨架。真實系統只是把 generator、evaluator、retriever、rule checker 換成更強的實作。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真實 biomedical loop 可以逐步升級，不要一口氣做太大</a:t>
            </a:r>
          </a:p>
          <a:p>
            <a:endParaRPr/>
          </a:p>
          <a:p>
            <a:r>
              <a:t>PubMed retrieval / 自動搜尋與排序來源 / query drift、來源過多</a:t>
            </a:r>
          </a:p>
          <a:p>
            <a:r>
              <a:t>Citation validation / PMID/DOI 存在性與摘要比對 / 摘要不等於全文</a:t>
            </a:r>
          </a:p>
          <a:p>
            <a:r>
              <a:t>Gene symbol check / HGNC approved symbol lookup / 舊名、物種混淆</a:t>
            </a:r>
          </a:p>
          <a:p>
            <a:r>
              <a:t>Human review queue / 高風險 issue 送審 / 責任歸屬與審查紀錄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好的 loop 不是把人拿掉，而是讓人審得更準</a:t>
            </a:r>
          </a:p>
          <a:p>
            <a:endParaRPr/>
          </a:p>
          <a:p>
            <a:r>
              <a:t>低風險格式錯誤交給程式抓 語意和 overstatement 交給 evaluator 先掃 高風險 biomedical 判斷交給 human-in-the-loop 最後把每一輪留下可追查紀錄 Day 2 收束: Harness: 可控 Spec: 可驗證 Loop: 可改進 Human: 可負責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用五句話收尾 Day 2：harness 控制環境，spec 定義完成，loop 推動修正，人負責高風險判斷。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E7F6C99-BA88-6E63-CA8A-9A555F44B3C2}"/>
              </a:ext>
            </a:extLst>
          </p:cNvPr>
          <p:cNvSpPr/>
          <p:nvPr/>
        </p:nvSpPr>
        <p:spPr>
          <a:xfrm>
            <a:off x="1760523" y="1821441"/>
            <a:ext cx="86709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Lesson</a:t>
            </a:r>
            <a:r>
              <a:rPr lang="zh-TW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TW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8:</a:t>
            </a:r>
            <a:r>
              <a:rPr lang="zh-TW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TW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Looping</a:t>
            </a:r>
            <a:r>
              <a:rPr lang="zh-TW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TW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engineering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A17FF8-9C95-F3CA-B58A-786248DB86C6}"/>
              </a:ext>
            </a:extLst>
          </p:cNvPr>
          <p:cNvSpPr/>
          <p:nvPr/>
        </p:nvSpPr>
        <p:spPr>
          <a:xfrm>
            <a:off x="4401065" y="3683643"/>
            <a:ext cx="355578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鄭耀瑋 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Willis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Cheng</a:t>
            </a:r>
          </a:p>
        </p:txBody>
      </p:sp>
    </p:spTree>
    <p:extLst>
      <p:ext uri="{BB962C8B-B14F-4D97-AF65-F5344CB8AC3E}">
        <p14:creationId xmlns:p14="http://schemas.microsoft.com/office/powerpoint/2010/main" val="9214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72B3C84-3C59-C1C4-A524-45A5A739F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20" y="447732"/>
            <a:ext cx="7607300" cy="2070100"/>
          </a:xfrm>
          <a:prstGeom prst="rect">
            <a:avLst/>
          </a:prstGeom>
        </p:spPr>
      </p:pic>
      <p:pic>
        <p:nvPicPr>
          <p:cNvPr id="8" name="圖片 7" descr="一張含有 文字, 螢幕擷取畫面, 字型, 文件 的圖片&#10;&#10;自動產生的描述">
            <a:extLst>
              <a:ext uri="{FF2B5EF4-FFF2-40B4-BE49-F238E27FC236}">
                <a16:creationId xmlns:a16="http://schemas.microsoft.com/office/drawing/2014/main" id="{D3A5F968-6FC5-2A38-4E8E-0174368668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830" y="2725706"/>
            <a:ext cx="8020532" cy="39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82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50B304C3-CE16-006F-48AB-2756239E17AC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</a:t>
            </a:r>
            <a:r>
              <a:rPr lang="zh-TW" altLang="en-US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en-US" altLang="zh-TW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Engineering</a:t>
            </a:r>
            <a:endParaRPr sz="2700" b="1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11" name="Picture 2" descr="Loop Engineering">
            <a:extLst>
              <a:ext uri="{FF2B5EF4-FFF2-40B4-BE49-F238E27FC236}">
                <a16:creationId xmlns:a16="http://schemas.microsoft.com/office/drawing/2014/main" id="{75F8BF19-8F38-DAE9-4803-98DC5D6A10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47"/>
          <a:stretch/>
        </p:blipFill>
        <p:spPr bwMode="auto">
          <a:xfrm>
            <a:off x="1371599" y="1564291"/>
            <a:ext cx="9207661" cy="4761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22B3B042-88C6-375B-A060-EA96044876A6}"/>
              </a:ext>
            </a:extLst>
          </p:cNvPr>
          <p:cNvSpPr txBox="1"/>
          <p:nvPr/>
        </p:nvSpPr>
        <p:spPr>
          <a:xfrm>
            <a:off x="630820" y="6430265"/>
            <a:ext cx="6099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/>
              <a:t>https://www.productcompass.pm/p/loop-engineering-for-pms</a:t>
            </a:r>
          </a:p>
        </p:txBody>
      </p:sp>
    </p:spTree>
    <p:extLst>
      <p:ext uri="{BB962C8B-B14F-4D97-AF65-F5344CB8AC3E}">
        <p14:creationId xmlns:p14="http://schemas.microsoft.com/office/powerpoint/2010/main" val="24786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BBE05ED-EAA9-41F6-B4DB-FD34998393B4}"/>
              </a:ext>
            </a:extLst>
          </p:cNvPr>
          <p:cNvSpPr>
            <a:spLocks noGrp="1"/>
          </p:cNvSpPr>
          <p:nvPr/>
        </p:nvSpPr>
        <p:spPr>
          <a:xfrm>
            <a:off x="742950" y="106680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Loop engineering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66EF7AB-2577-40E3-9F7A-A7D7FCFB6994}"/>
              </a:ext>
            </a:extLst>
          </p:cNvPr>
          <p:cNvSpPr>
            <a:spLocks noGrp="1"/>
          </p:cNvSpPr>
          <p:nvPr/>
        </p:nvSpPr>
        <p:spPr>
          <a:xfrm>
            <a:off x="781049" y="1943100"/>
            <a:ext cx="10411669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b="1" i="0" dirty="0">
                <a:effectLst/>
                <a:latin typeface="Spectral"/>
              </a:rPr>
              <a:t>迴圈工程的用法</a:t>
            </a:r>
            <a:r>
              <a:rPr lang="en-US" altLang="zh-TW" b="1" i="0" dirty="0">
                <a:effectLst/>
                <a:latin typeface="Spectral"/>
              </a:rPr>
              <a:t>,</a:t>
            </a:r>
            <a:r>
              <a:rPr lang="zh-TW" altLang="en-US" b="1" i="0" dirty="0">
                <a:effectLst/>
                <a:latin typeface="Spectral"/>
              </a:rPr>
              <a:t>則是你不再一步步下命令</a:t>
            </a:r>
            <a:r>
              <a:rPr lang="en-US" altLang="zh-TW" b="1" i="0" dirty="0">
                <a:effectLst/>
                <a:latin typeface="Spectral"/>
              </a:rPr>
              <a:t>,</a:t>
            </a:r>
            <a:r>
              <a:rPr lang="zh-TW" altLang="en-US" b="1" i="0" dirty="0">
                <a:effectLst/>
                <a:latin typeface="Spectral"/>
              </a:rPr>
              <a:t>而是直接告訴系統一個「明確的目標」</a:t>
            </a:r>
            <a:r>
              <a:rPr lang="en-US" altLang="zh-TW" b="0" i="0" dirty="0">
                <a:effectLst/>
                <a:latin typeface="Spectral"/>
              </a:rPr>
              <a:t>,</a:t>
            </a:r>
            <a:r>
              <a:rPr lang="zh-TW" altLang="en-US" b="0" i="0" dirty="0">
                <a:effectLst/>
                <a:latin typeface="Spectral"/>
              </a:rPr>
              <a:t>然後讓一套自動運轉的機制</a:t>
            </a:r>
            <a:r>
              <a:rPr lang="en-US" altLang="zh-TW" b="0" i="0" dirty="0">
                <a:effectLst/>
                <a:latin typeface="Spectral"/>
              </a:rPr>
              <a:t>(</a:t>
            </a:r>
            <a:r>
              <a:rPr lang="zh-TW" altLang="en-US" b="0" i="0" dirty="0">
                <a:effectLst/>
                <a:latin typeface="Spectral"/>
              </a:rPr>
              <a:t>也就是「迴圈」</a:t>
            </a:r>
            <a:r>
              <a:rPr lang="en-US" altLang="zh-TW" b="0" i="0" dirty="0">
                <a:effectLst/>
                <a:latin typeface="Spectral"/>
              </a:rPr>
              <a:t>)</a:t>
            </a:r>
            <a:r>
              <a:rPr lang="zh-TW" altLang="en-US" b="0" i="0" dirty="0">
                <a:effectLst/>
                <a:latin typeface="Spectral"/>
              </a:rPr>
              <a:t>去自己完成。</a:t>
            </a:r>
            <a:endParaRPr sz="1875" b="1" dirty="0">
              <a:solidFill>
                <a:srgbClr val="5C6670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4" name="stage-0">
            <a:extLst>
              <a:ext uri="{FF2B5EF4-FFF2-40B4-BE49-F238E27FC236}">
                <a16:creationId xmlns:a16="http://schemas.microsoft.com/office/drawing/2014/main" id="{7409525B-0A8E-41E3-AC34-E730225E57A4}"/>
              </a:ext>
            </a:extLst>
          </p:cNvPr>
          <p:cNvSpPr>
            <a:spLocks noGrp="1"/>
          </p:cNvSpPr>
          <p:nvPr/>
        </p:nvSpPr>
        <p:spPr>
          <a:xfrm>
            <a:off x="1028700" y="3619500"/>
            <a:ext cx="1200150" cy="571500"/>
          </a:xfrm>
          <a:prstGeom prst="roundRect">
            <a:avLst>
              <a:gd name="adj" fmla="val 13333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5" name="line-0">
            <a:extLst>
              <a:ext uri="{FF2B5EF4-FFF2-40B4-BE49-F238E27FC236}">
                <a16:creationId xmlns:a16="http://schemas.microsoft.com/office/drawing/2014/main" id="{DE008F25-2B07-4E4C-97AE-D3D5D20414CF}"/>
              </a:ext>
            </a:extLst>
          </p:cNvPr>
          <p:cNvSpPr>
            <a:spLocks noGrp="1"/>
          </p:cNvSpPr>
          <p:nvPr/>
        </p:nvSpPr>
        <p:spPr>
          <a:xfrm>
            <a:off x="2228850" y="3905250"/>
            <a:ext cx="495300" cy="0"/>
          </a:xfrm>
          <a:prstGeom prst="line">
            <a:avLst/>
          </a:prstGeom>
          <a:noFill/>
          <a:ln w="17145">
            <a:solidFill>
              <a:srgbClr val="5C6670"/>
            </a:solidFill>
            <a:prstDash val="solid"/>
          </a:ln>
        </p:spPr>
      </p:sp>
      <p:sp>
        <p:nvSpPr>
          <p:cNvPr id="6" name="stage-1">
            <a:extLst>
              <a:ext uri="{FF2B5EF4-FFF2-40B4-BE49-F238E27FC236}">
                <a16:creationId xmlns:a16="http://schemas.microsoft.com/office/drawing/2014/main" id="{6FFFEBEE-4F50-4BD3-874E-0BCEDDAEF475}"/>
              </a:ext>
            </a:extLst>
          </p:cNvPr>
          <p:cNvSpPr>
            <a:spLocks noGrp="1"/>
          </p:cNvSpPr>
          <p:nvPr/>
        </p:nvSpPr>
        <p:spPr>
          <a:xfrm>
            <a:off x="2724150" y="3619500"/>
            <a:ext cx="1200150" cy="571500"/>
          </a:xfrm>
          <a:prstGeom prst="roundRect">
            <a:avLst>
              <a:gd name="adj" fmla="val 1333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7" name="line-1">
            <a:extLst>
              <a:ext uri="{FF2B5EF4-FFF2-40B4-BE49-F238E27FC236}">
                <a16:creationId xmlns:a16="http://schemas.microsoft.com/office/drawing/2014/main" id="{D16A5340-A5B0-4B41-933C-DBD9F3A08020}"/>
              </a:ext>
            </a:extLst>
          </p:cNvPr>
          <p:cNvSpPr>
            <a:spLocks noGrp="1"/>
          </p:cNvSpPr>
          <p:nvPr/>
        </p:nvSpPr>
        <p:spPr>
          <a:xfrm>
            <a:off x="3924300" y="3905250"/>
            <a:ext cx="495300" cy="0"/>
          </a:xfrm>
          <a:prstGeom prst="line">
            <a:avLst/>
          </a:prstGeom>
          <a:noFill/>
          <a:ln w="17145">
            <a:solidFill>
              <a:srgbClr val="5C6670"/>
            </a:solidFill>
            <a:prstDash val="solid"/>
          </a:ln>
        </p:spPr>
      </p:sp>
      <p:sp>
        <p:nvSpPr>
          <p:cNvPr id="8" name="stage-2">
            <a:extLst>
              <a:ext uri="{FF2B5EF4-FFF2-40B4-BE49-F238E27FC236}">
                <a16:creationId xmlns:a16="http://schemas.microsoft.com/office/drawing/2014/main" id="{3FF9D162-EE24-41DF-A989-A736C7D5DE2A}"/>
              </a:ext>
            </a:extLst>
          </p:cNvPr>
          <p:cNvSpPr>
            <a:spLocks noGrp="1"/>
          </p:cNvSpPr>
          <p:nvPr/>
        </p:nvSpPr>
        <p:spPr>
          <a:xfrm>
            <a:off x="4419600" y="3619500"/>
            <a:ext cx="1200150" cy="57150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9" name="line-2">
            <a:extLst>
              <a:ext uri="{FF2B5EF4-FFF2-40B4-BE49-F238E27FC236}">
                <a16:creationId xmlns:a16="http://schemas.microsoft.com/office/drawing/2014/main" id="{49D206A9-3D10-4FFB-A077-D5C0440B8EDD}"/>
              </a:ext>
            </a:extLst>
          </p:cNvPr>
          <p:cNvSpPr>
            <a:spLocks noGrp="1"/>
          </p:cNvSpPr>
          <p:nvPr/>
        </p:nvSpPr>
        <p:spPr>
          <a:xfrm>
            <a:off x="5619750" y="3905250"/>
            <a:ext cx="495300" cy="0"/>
          </a:xfrm>
          <a:prstGeom prst="line">
            <a:avLst/>
          </a:prstGeom>
          <a:noFill/>
          <a:ln w="17145">
            <a:solidFill>
              <a:srgbClr val="5C6670"/>
            </a:solidFill>
            <a:prstDash val="solid"/>
          </a:ln>
        </p:spPr>
      </p:sp>
      <p:sp>
        <p:nvSpPr>
          <p:cNvPr id="10" name="stage-3">
            <a:extLst>
              <a:ext uri="{FF2B5EF4-FFF2-40B4-BE49-F238E27FC236}">
                <a16:creationId xmlns:a16="http://schemas.microsoft.com/office/drawing/2014/main" id="{6135DD92-0ACB-4FB2-A356-5F885DF6F575}"/>
              </a:ext>
            </a:extLst>
          </p:cNvPr>
          <p:cNvSpPr>
            <a:spLocks noGrp="1"/>
          </p:cNvSpPr>
          <p:nvPr/>
        </p:nvSpPr>
        <p:spPr>
          <a:xfrm>
            <a:off x="6115050" y="3619500"/>
            <a:ext cx="1200150" cy="571500"/>
          </a:xfrm>
          <a:prstGeom prst="roundRect">
            <a:avLst>
              <a:gd name="adj" fmla="val 13333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1" name="line-3">
            <a:extLst>
              <a:ext uri="{FF2B5EF4-FFF2-40B4-BE49-F238E27FC236}">
                <a16:creationId xmlns:a16="http://schemas.microsoft.com/office/drawing/2014/main" id="{8DDF9E3C-C321-4CF3-BF8B-5EA259F8FAE0}"/>
              </a:ext>
            </a:extLst>
          </p:cNvPr>
          <p:cNvSpPr>
            <a:spLocks noGrp="1"/>
          </p:cNvSpPr>
          <p:nvPr/>
        </p:nvSpPr>
        <p:spPr>
          <a:xfrm>
            <a:off x="7315200" y="3905250"/>
            <a:ext cx="495300" cy="0"/>
          </a:xfrm>
          <a:prstGeom prst="line">
            <a:avLst/>
          </a:prstGeom>
          <a:noFill/>
          <a:ln w="17145">
            <a:solidFill>
              <a:srgbClr val="5C6670"/>
            </a:solidFill>
            <a:prstDash val="solid"/>
          </a:ln>
        </p:spPr>
      </p:sp>
      <p:sp>
        <p:nvSpPr>
          <p:cNvPr id="12" name="stage-4">
            <a:extLst>
              <a:ext uri="{FF2B5EF4-FFF2-40B4-BE49-F238E27FC236}">
                <a16:creationId xmlns:a16="http://schemas.microsoft.com/office/drawing/2014/main" id="{7C0F3ED0-D4B1-4F74-B610-E4AA1F4E8C16}"/>
              </a:ext>
            </a:extLst>
          </p:cNvPr>
          <p:cNvSpPr>
            <a:spLocks noGrp="1"/>
          </p:cNvSpPr>
          <p:nvPr/>
        </p:nvSpPr>
        <p:spPr>
          <a:xfrm>
            <a:off x="7810500" y="3619500"/>
            <a:ext cx="1200150" cy="571500"/>
          </a:xfrm>
          <a:prstGeom prst="roundRect">
            <a:avLst>
              <a:gd name="adj" fmla="val 1333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Revise</a:t>
            </a:r>
          </a:p>
        </p:txBody>
      </p:sp>
      <p:sp>
        <p:nvSpPr>
          <p:cNvPr id="13" name="line-4">
            <a:extLst>
              <a:ext uri="{FF2B5EF4-FFF2-40B4-BE49-F238E27FC236}">
                <a16:creationId xmlns:a16="http://schemas.microsoft.com/office/drawing/2014/main" id="{8EC530AA-D60E-4B0C-96A5-D778282E8AEE}"/>
              </a:ext>
            </a:extLst>
          </p:cNvPr>
          <p:cNvSpPr>
            <a:spLocks noGrp="1"/>
          </p:cNvSpPr>
          <p:nvPr/>
        </p:nvSpPr>
        <p:spPr>
          <a:xfrm>
            <a:off x="9010650" y="3905250"/>
            <a:ext cx="495300" cy="0"/>
          </a:xfrm>
          <a:prstGeom prst="line">
            <a:avLst/>
          </a:prstGeom>
          <a:noFill/>
          <a:ln w="17145">
            <a:solidFill>
              <a:srgbClr val="5C6670"/>
            </a:solidFill>
            <a:prstDash val="solid"/>
          </a:ln>
        </p:spPr>
      </p:sp>
      <p:sp>
        <p:nvSpPr>
          <p:cNvPr id="14" name="stage-5">
            <a:extLst>
              <a:ext uri="{FF2B5EF4-FFF2-40B4-BE49-F238E27FC236}">
                <a16:creationId xmlns:a16="http://schemas.microsoft.com/office/drawing/2014/main" id="{5402C643-EC96-4170-9860-E4C9CE6B0792}"/>
              </a:ext>
            </a:extLst>
          </p:cNvPr>
          <p:cNvSpPr>
            <a:spLocks noGrp="1"/>
          </p:cNvSpPr>
          <p:nvPr/>
        </p:nvSpPr>
        <p:spPr>
          <a:xfrm>
            <a:off x="9505950" y="3619500"/>
            <a:ext cx="1200150" cy="571500"/>
          </a:xfrm>
          <a:prstGeom prst="roundRect">
            <a:avLst>
              <a:gd name="adj" fmla="val 13333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232298C-6DBE-F151-B265-36CEE1764E3A}"/>
              </a:ext>
            </a:extLst>
          </p:cNvPr>
          <p:cNvSpPr txBox="1"/>
          <p:nvPr/>
        </p:nvSpPr>
        <p:spPr>
          <a:xfrm>
            <a:off x="1028700" y="4538186"/>
            <a:ext cx="60998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TW" altLang="en-US" b="1" i="0" dirty="0">
                <a:effectLst/>
                <a:latin typeface="Spectral"/>
              </a:rPr>
              <a:t>觀察</a:t>
            </a:r>
            <a:r>
              <a:rPr lang="zh-TW" altLang="en-US" b="0" i="0" dirty="0">
                <a:effectLst/>
                <a:latin typeface="Spectral"/>
              </a:rPr>
              <a:t>現在的狀況</a:t>
            </a:r>
          </a:p>
          <a:p>
            <a:pPr algn="l">
              <a:buFont typeface="+mj-lt"/>
              <a:buAutoNum type="arabicPeriod"/>
            </a:pPr>
            <a:r>
              <a:rPr lang="zh-TW" altLang="en-US" b="1" i="0" dirty="0">
                <a:effectLst/>
                <a:latin typeface="Spectral"/>
              </a:rPr>
              <a:t>選擇</a:t>
            </a:r>
            <a:r>
              <a:rPr lang="zh-TW" altLang="en-US" b="0" i="0" dirty="0">
                <a:effectLst/>
                <a:latin typeface="Spectral"/>
              </a:rPr>
              <a:t>下一步該做什麼</a:t>
            </a:r>
          </a:p>
          <a:p>
            <a:pPr algn="l">
              <a:buFont typeface="+mj-lt"/>
              <a:buAutoNum type="arabicPeriod"/>
            </a:pPr>
            <a:r>
              <a:rPr lang="zh-TW" altLang="en-US" b="1" i="0" dirty="0">
                <a:effectLst/>
                <a:latin typeface="Spectral"/>
              </a:rPr>
              <a:t>執行</a:t>
            </a:r>
            <a:r>
              <a:rPr lang="zh-TW" altLang="en-US" b="0" i="0" dirty="0">
                <a:effectLst/>
                <a:latin typeface="Spectral"/>
              </a:rPr>
              <a:t>那個動作</a:t>
            </a:r>
          </a:p>
          <a:p>
            <a:pPr algn="l">
              <a:buFont typeface="+mj-lt"/>
              <a:buAutoNum type="arabicPeriod"/>
            </a:pPr>
            <a:r>
              <a:rPr lang="zh-TW" altLang="en-US" b="1" i="0" dirty="0">
                <a:effectLst/>
                <a:latin typeface="Spectral"/>
              </a:rPr>
              <a:t>檢查</a:t>
            </a:r>
            <a:r>
              <a:rPr lang="zh-TW" altLang="en-US" b="0" i="0" dirty="0">
                <a:effectLst/>
                <a:latin typeface="Spectral"/>
              </a:rPr>
              <a:t>結果對不對</a:t>
            </a:r>
          </a:p>
          <a:p>
            <a:pPr algn="l">
              <a:buFont typeface="+mj-lt"/>
              <a:buAutoNum type="arabicPeriod"/>
            </a:pPr>
            <a:r>
              <a:rPr lang="zh-TW" altLang="en-US" b="1" i="0" dirty="0">
                <a:effectLst/>
                <a:latin typeface="Spectral"/>
              </a:rPr>
              <a:t>決定</a:t>
            </a:r>
            <a:r>
              <a:rPr lang="zh-TW" altLang="en-US" b="0" i="0" dirty="0">
                <a:effectLst/>
                <a:latin typeface="Spectral"/>
              </a:rPr>
              <a:t>要繼續、重試、還是停下來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CD94272-4918-2A6C-4DDE-741C3601ECAA}"/>
              </a:ext>
            </a:extLst>
          </p:cNvPr>
          <p:cNvSpPr txBox="1"/>
          <p:nvPr/>
        </p:nvSpPr>
        <p:spPr>
          <a:xfrm>
            <a:off x="843263" y="6446116"/>
            <a:ext cx="6099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/>
              <a:t>https://jasonchuang.substack.com/p/loop-engineering</a:t>
            </a:r>
          </a:p>
        </p:txBody>
      </p:sp>
    </p:spTree>
    <p:extLst>
      <p:ext uri="{BB962C8B-B14F-4D97-AF65-F5344CB8AC3E}">
        <p14:creationId xmlns:p14="http://schemas.microsoft.com/office/powerpoint/2010/main" val="3996214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50B304C3-CE16-006F-48AB-2756239E17AC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</a:t>
            </a:r>
            <a:r>
              <a:rPr lang="zh-TW" altLang="en-US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en-US" altLang="zh-TW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Engineering</a:t>
            </a:r>
            <a:endParaRPr sz="2700" b="1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0372923-8E8E-D741-B441-599BF08A93E0}"/>
              </a:ext>
            </a:extLst>
          </p:cNvPr>
          <p:cNvSpPr txBox="1"/>
          <p:nvPr/>
        </p:nvSpPr>
        <p:spPr>
          <a:xfrm>
            <a:off x="434050" y="6591523"/>
            <a:ext cx="6099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/>
              <a:t>https://jasonchuang.substack.com/p/loop-engineering</a:t>
            </a:r>
          </a:p>
        </p:txBody>
      </p:sp>
      <p:pic>
        <p:nvPicPr>
          <p:cNvPr id="1028" name="Picture 4" descr="查看圖片">
            <a:extLst>
              <a:ext uri="{FF2B5EF4-FFF2-40B4-BE49-F238E27FC236}">
                <a16:creationId xmlns:a16="http://schemas.microsoft.com/office/drawing/2014/main" id="{AF6C44FE-1D18-F84B-0D21-EDC5E00A7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813" y="103207"/>
            <a:ext cx="6787587" cy="678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FD5B127E-F806-FEF6-3987-D3F89C0DD7F4}"/>
              </a:ext>
            </a:extLst>
          </p:cNvPr>
          <p:cNvSpPr txBox="1"/>
          <p:nvPr/>
        </p:nvSpPr>
        <p:spPr>
          <a:xfrm>
            <a:off x="341453" y="4036631"/>
            <a:ext cx="369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b="0" i="0" dirty="0">
                <a:solidFill>
                  <a:srgbClr val="000000"/>
                </a:solidFill>
                <a:effectLst/>
                <a:latin typeface="system-ui"/>
              </a:rPr>
              <a:t>Prompt Engineering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ystem-ui"/>
              </a:rPr>
              <a:t>是跟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system-ui"/>
              </a:rPr>
              <a:t>AI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ystem-ui"/>
              </a:rPr>
              <a:t>對話。</a:t>
            </a:r>
          </a:p>
          <a:p>
            <a:pPr algn="l"/>
            <a:r>
              <a:rPr lang="en-US" altLang="zh-TW" b="0" i="0" dirty="0">
                <a:solidFill>
                  <a:srgbClr val="000000"/>
                </a:solidFill>
                <a:effectLst/>
                <a:latin typeface="system-ui"/>
              </a:rPr>
              <a:t>Loop Engineering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ystem-ui"/>
              </a:rPr>
              <a:t>是讓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system-ui"/>
              </a:rPr>
              <a:t>AI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ystem-ui"/>
              </a:rPr>
              <a:t>進入流程。</a:t>
            </a:r>
          </a:p>
        </p:txBody>
      </p:sp>
    </p:spTree>
    <p:extLst>
      <p:ext uri="{BB962C8B-B14F-4D97-AF65-F5344CB8AC3E}">
        <p14:creationId xmlns:p14="http://schemas.microsoft.com/office/powerpoint/2010/main" val="150624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ADB7147-E986-1A41-5300-89AEEF629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78" y="177800"/>
            <a:ext cx="97536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1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F8B4E64-ABB3-D005-02D1-6CFE836CD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63" y="177800"/>
            <a:ext cx="97536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970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以前：焦慮問下一步，現在：設計自動化系統">
            <a:extLst>
              <a:ext uri="{FF2B5EF4-FFF2-40B4-BE49-F238E27FC236}">
                <a16:creationId xmlns:a16="http://schemas.microsoft.com/office/drawing/2014/main" id="{77E21004-2BE2-A516-FB27-DBE02834D7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ACC231-D2A6-B910-05AC-A597508589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651"/>
          <a:stretch/>
        </p:blipFill>
        <p:spPr>
          <a:xfrm>
            <a:off x="1811278" y="91214"/>
            <a:ext cx="8455466" cy="30686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E0CF42E-C1A4-229A-D33F-591F057CC8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349"/>
          <a:stretch/>
        </p:blipFill>
        <p:spPr>
          <a:xfrm>
            <a:off x="1811278" y="3159888"/>
            <a:ext cx="8455466" cy="36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83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29FF760-4183-40E3-99C3-404EEA5E9C9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你會做出一個會自我修正、也知道何時該停的</a:t>
            </a:r>
            <a:r>
              <a:rPr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 summary loop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B907E70-97C4-4354-9793-25897F43C1C0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2/38</a:t>
            </a:r>
          </a:p>
        </p:txBody>
      </p:sp>
      <p:sp>
        <p:nvSpPr>
          <p:cNvPr id="4" name="tag-0">
            <a:extLst>
              <a:ext uri="{FF2B5EF4-FFF2-40B4-BE49-F238E27FC236}">
                <a16:creationId xmlns:a16="http://schemas.microsoft.com/office/drawing/2014/main" id="{45056349-406A-4742-97CC-4EBE2D61A8DC}"/>
              </a:ext>
            </a:extLst>
          </p:cNvPr>
          <p:cNvSpPr>
            <a:spLocks noGrp="1"/>
          </p:cNvSpPr>
          <p:nvPr/>
        </p:nvSpPr>
        <p:spPr>
          <a:xfrm>
            <a:off x="971550" y="1466850"/>
            <a:ext cx="1200150" cy="419100"/>
          </a:xfrm>
          <a:prstGeom prst="roundRect">
            <a:avLst>
              <a:gd name="adj" fmla="val 18182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5" name="role-0">
            <a:extLst>
              <a:ext uri="{FF2B5EF4-FFF2-40B4-BE49-F238E27FC236}">
                <a16:creationId xmlns:a16="http://schemas.microsoft.com/office/drawing/2014/main" id="{FE785606-13F2-467F-BAD3-7B851AC3F585}"/>
              </a:ext>
            </a:extLst>
          </p:cNvPr>
          <p:cNvSpPr>
            <a:spLocks noGrp="1"/>
          </p:cNvSpPr>
          <p:nvPr/>
        </p:nvSpPr>
        <p:spPr>
          <a:xfrm>
            <a:off x="2590800" y="1495425"/>
            <a:ext cx="3657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先看懂 loop 在解什麼問題</a:t>
            </a:r>
          </a:p>
        </p:txBody>
      </p:sp>
      <p:sp>
        <p:nvSpPr>
          <p:cNvPr id="6" name="copy-0">
            <a:extLst>
              <a:ext uri="{FF2B5EF4-FFF2-40B4-BE49-F238E27FC236}">
                <a16:creationId xmlns:a16="http://schemas.microsoft.com/office/drawing/2014/main" id="{8366B834-3F52-43D5-8E00-F2C50CF4642D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一次回答很快，但 biomedical summary 需要證據與檢查紀錄。</a:t>
            </a:r>
          </a:p>
        </p:txBody>
      </p:sp>
      <p:sp>
        <p:nvSpPr>
          <p:cNvPr id="7" name="tag-1">
            <a:extLst>
              <a:ext uri="{FF2B5EF4-FFF2-40B4-BE49-F238E27FC236}">
                <a16:creationId xmlns:a16="http://schemas.microsoft.com/office/drawing/2014/main" id="{FD39ACC7-C478-4A1B-9435-A503171328D5}"/>
              </a:ext>
            </a:extLst>
          </p:cNvPr>
          <p:cNvSpPr>
            <a:spLocks noGrp="1"/>
          </p:cNvSpPr>
          <p:nvPr/>
        </p:nvSpPr>
        <p:spPr>
          <a:xfrm>
            <a:off x="971550" y="2152650"/>
            <a:ext cx="1200150" cy="419100"/>
          </a:xfrm>
          <a:prstGeom prst="roundRect">
            <a:avLst>
              <a:gd name="adj" fmla="val 18182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8" name="role-1">
            <a:extLst>
              <a:ext uri="{FF2B5EF4-FFF2-40B4-BE49-F238E27FC236}">
                <a16:creationId xmlns:a16="http://schemas.microsoft.com/office/drawing/2014/main" id="{7440D07C-8F53-4A72-958D-3BC715393376}"/>
              </a:ext>
            </a:extLst>
          </p:cNvPr>
          <p:cNvSpPr>
            <a:spLocks noGrp="1"/>
          </p:cNvSpPr>
          <p:nvPr/>
        </p:nvSpPr>
        <p:spPr>
          <a:xfrm>
            <a:off x="2590800" y="2181225"/>
            <a:ext cx="3657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把任務寫成 loop specification</a:t>
            </a:r>
          </a:p>
        </p:txBody>
      </p:sp>
      <p:sp>
        <p:nvSpPr>
          <p:cNvPr id="9" name="copy-1">
            <a:extLst>
              <a:ext uri="{FF2B5EF4-FFF2-40B4-BE49-F238E27FC236}">
                <a16:creationId xmlns:a16="http://schemas.microsoft.com/office/drawing/2014/main" id="{FFCA0D1E-4F5C-45B0-9E93-EC988E53AB61}"/>
              </a:ext>
            </a:extLst>
          </p:cNvPr>
          <p:cNvSpPr>
            <a:spLocks noGrp="1"/>
          </p:cNvSpPr>
          <p:nvPr/>
        </p:nvSpPr>
        <p:spPr>
          <a:xfrm>
            <a:off x="6667500" y="2209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你會寫 trigger、goal、verification、stopping rule、memory。</a:t>
            </a:r>
          </a:p>
        </p:txBody>
      </p:sp>
      <p:sp>
        <p:nvSpPr>
          <p:cNvPr id="10" name="tag-2">
            <a:extLst>
              <a:ext uri="{FF2B5EF4-FFF2-40B4-BE49-F238E27FC236}">
                <a16:creationId xmlns:a16="http://schemas.microsoft.com/office/drawing/2014/main" id="{F0C190E8-E94C-4548-A810-E943B6B263D7}"/>
              </a:ext>
            </a:extLst>
          </p:cNvPr>
          <p:cNvSpPr>
            <a:spLocks noGrp="1"/>
          </p:cNvSpPr>
          <p:nvPr/>
        </p:nvSpPr>
        <p:spPr>
          <a:xfrm>
            <a:off x="971550" y="2838450"/>
            <a:ext cx="1200150" cy="419100"/>
          </a:xfrm>
          <a:prstGeom prst="roundRect">
            <a:avLst>
              <a:gd name="adj" fmla="val 18182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1" name="role-2">
            <a:extLst>
              <a:ext uri="{FF2B5EF4-FFF2-40B4-BE49-F238E27FC236}">
                <a16:creationId xmlns:a16="http://schemas.microsoft.com/office/drawing/2014/main" id="{923CF96F-2A8E-4266-8861-BCD221A8FD81}"/>
              </a:ext>
            </a:extLst>
          </p:cNvPr>
          <p:cNvSpPr>
            <a:spLocks noGrp="1"/>
          </p:cNvSpPr>
          <p:nvPr/>
        </p:nvSpPr>
        <p:spPr>
          <a:xfrm>
            <a:off x="2590800" y="2867025"/>
            <a:ext cx="3657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分開 generator 和 evaluator</a:t>
            </a:r>
          </a:p>
        </p:txBody>
      </p:sp>
      <p:sp>
        <p:nvSpPr>
          <p:cNvPr id="12" name="copy-2">
            <a:extLst>
              <a:ext uri="{FF2B5EF4-FFF2-40B4-BE49-F238E27FC236}">
                <a16:creationId xmlns:a16="http://schemas.microsoft.com/office/drawing/2014/main" id="{B12D4164-1CF4-4132-8F5F-6A1B92BDEDF8}"/>
              </a:ext>
            </a:extLst>
          </p:cNvPr>
          <p:cNvSpPr>
            <a:spLocks noGrp="1"/>
          </p:cNvSpPr>
          <p:nvPr/>
        </p:nvSpPr>
        <p:spPr>
          <a:xfrm>
            <a:off x="6667500" y="28956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一個產生草稿，一個專門挑錯，避免自己幫自己蓋章。</a:t>
            </a:r>
          </a:p>
        </p:txBody>
      </p:sp>
      <p:sp>
        <p:nvSpPr>
          <p:cNvPr id="13" name="tag-3">
            <a:extLst>
              <a:ext uri="{FF2B5EF4-FFF2-40B4-BE49-F238E27FC236}">
                <a16:creationId xmlns:a16="http://schemas.microsoft.com/office/drawing/2014/main" id="{086FDCE3-EAD5-4AC9-ADE3-04BC4CBA031D}"/>
              </a:ext>
            </a:extLst>
          </p:cNvPr>
          <p:cNvSpPr>
            <a:spLocks noGrp="1"/>
          </p:cNvSpPr>
          <p:nvPr/>
        </p:nvSpPr>
        <p:spPr>
          <a:xfrm>
            <a:off x="971550" y="3524250"/>
            <a:ext cx="1200150" cy="419100"/>
          </a:xfrm>
          <a:prstGeom prst="roundRect">
            <a:avLst>
              <a:gd name="adj" fmla="val 18182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4" name="role-3">
            <a:extLst>
              <a:ext uri="{FF2B5EF4-FFF2-40B4-BE49-F238E27FC236}">
                <a16:creationId xmlns:a16="http://schemas.microsoft.com/office/drawing/2014/main" id="{90F8397F-2CC8-4714-9B9C-99D6D94F47C1}"/>
              </a:ext>
            </a:extLst>
          </p:cNvPr>
          <p:cNvSpPr>
            <a:spLocks noGrp="1"/>
          </p:cNvSpPr>
          <p:nvPr/>
        </p:nvSpPr>
        <p:spPr>
          <a:xfrm>
            <a:off x="2590800" y="3552825"/>
            <a:ext cx="3657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用程式規則補上模型看不到的洞</a:t>
            </a:r>
          </a:p>
        </p:txBody>
      </p:sp>
      <p:sp>
        <p:nvSpPr>
          <p:cNvPr id="15" name="copy-3">
            <a:extLst>
              <a:ext uri="{FF2B5EF4-FFF2-40B4-BE49-F238E27FC236}">
                <a16:creationId xmlns:a16="http://schemas.microsoft.com/office/drawing/2014/main" id="{96EF2479-3CAF-4F17-95B0-4C78783766E3}"/>
              </a:ext>
            </a:extLst>
          </p:cNvPr>
          <p:cNvSpPr>
            <a:spLocks noGrp="1"/>
          </p:cNvSpPr>
          <p:nvPr/>
        </p:nvSpPr>
        <p:spPr>
          <a:xfrm>
            <a:off x="6667500" y="35814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source_id、字數、禁止臨床建議，這些交給 checker。</a:t>
            </a:r>
          </a:p>
        </p:txBody>
      </p:sp>
      <p:sp>
        <p:nvSpPr>
          <p:cNvPr id="16" name="tag-4">
            <a:extLst>
              <a:ext uri="{FF2B5EF4-FFF2-40B4-BE49-F238E27FC236}">
                <a16:creationId xmlns:a16="http://schemas.microsoft.com/office/drawing/2014/main" id="{E8930514-399E-46AD-974C-A54CD6AAC188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200150" cy="419100"/>
          </a:xfrm>
          <a:prstGeom prst="roundRect">
            <a:avLst>
              <a:gd name="adj" fmla="val 18182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17" name="role-4">
            <a:extLst>
              <a:ext uri="{FF2B5EF4-FFF2-40B4-BE49-F238E27FC236}">
                <a16:creationId xmlns:a16="http://schemas.microsoft.com/office/drawing/2014/main" id="{8A3CC65F-2D33-40DE-AC90-B97D8F356919}"/>
              </a:ext>
            </a:extLst>
          </p:cNvPr>
          <p:cNvSpPr>
            <a:spLocks noGrp="1"/>
          </p:cNvSpPr>
          <p:nvPr/>
        </p:nvSpPr>
        <p:spPr>
          <a:xfrm>
            <a:off x="2590800" y="4238625"/>
            <a:ext cx="3657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命名每種停止狀態</a:t>
            </a:r>
          </a:p>
        </p:txBody>
      </p:sp>
      <p:sp>
        <p:nvSpPr>
          <p:cNvPr id="18" name="copy-4">
            <a:extLst>
              <a:ext uri="{FF2B5EF4-FFF2-40B4-BE49-F238E27FC236}">
                <a16:creationId xmlns:a16="http://schemas.microsoft.com/office/drawing/2014/main" id="{5DA4CE09-DAB8-466E-9F4F-E3943DD9AEDB}"/>
              </a:ext>
            </a:extLst>
          </p:cNvPr>
          <p:cNvSpPr>
            <a:spLocks noGrp="1"/>
          </p:cNvSpPr>
          <p:nvPr/>
        </p:nvSpPr>
        <p:spPr>
          <a:xfrm>
            <a:off x="6667500" y="42672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passed、stalled、needs_human_review 都是有意義的結局。</a:t>
            </a:r>
          </a:p>
        </p:txBody>
      </p:sp>
      <p:sp>
        <p:nvSpPr>
          <p:cNvPr id="19" name="tag-5">
            <a:extLst>
              <a:ext uri="{FF2B5EF4-FFF2-40B4-BE49-F238E27FC236}">
                <a16:creationId xmlns:a16="http://schemas.microsoft.com/office/drawing/2014/main" id="{DCAB96FF-8CA5-4FF6-95E3-CAD8D3FBDA00}"/>
              </a:ext>
            </a:extLst>
          </p:cNvPr>
          <p:cNvSpPr>
            <a:spLocks noGrp="1"/>
          </p:cNvSpPr>
          <p:nvPr/>
        </p:nvSpPr>
        <p:spPr>
          <a:xfrm>
            <a:off x="971550" y="4895850"/>
            <a:ext cx="1200150" cy="419100"/>
          </a:xfrm>
          <a:prstGeom prst="roundRect">
            <a:avLst>
              <a:gd name="adj" fmla="val 18182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6</a:t>
            </a:r>
          </a:p>
        </p:txBody>
      </p:sp>
      <p:sp>
        <p:nvSpPr>
          <p:cNvPr id="20" name="role-5">
            <a:extLst>
              <a:ext uri="{FF2B5EF4-FFF2-40B4-BE49-F238E27FC236}">
                <a16:creationId xmlns:a16="http://schemas.microsoft.com/office/drawing/2014/main" id="{2E328136-DE24-4400-8DFA-C9464D7876A8}"/>
              </a:ext>
            </a:extLst>
          </p:cNvPr>
          <p:cNvSpPr>
            <a:spLocks noGrp="1"/>
          </p:cNvSpPr>
          <p:nvPr/>
        </p:nvSpPr>
        <p:spPr>
          <a:xfrm>
            <a:off x="2590800" y="4924425"/>
            <a:ext cx="3657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跑完 mini lab 並讀懂報告</a:t>
            </a:r>
          </a:p>
        </p:txBody>
      </p:sp>
      <p:sp>
        <p:nvSpPr>
          <p:cNvPr id="21" name="copy-5">
            <a:extLst>
              <a:ext uri="{FF2B5EF4-FFF2-40B4-BE49-F238E27FC236}">
                <a16:creationId xmlns:a16="http://schemas.microsoft.com/office/drawing/2014/main" id="{5807EDF5-319F-405E-9D97-2D353447B5CF}"/>
              </a:ext>
            </a:extLst>
          </p:cNvPr>
          <p:cNvSpPr>
            <a:spLocks noGrp="1"/>
          </p:cNvSpPr>
          <p:nvPr/>
        </p:nvSpPr>
        <p:spPr>
          <a:xfrm>
            <a:off x="6667500" y="49530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最後你要能解釋 final_summary、issue_log、loop_report。</a:t>
            </a:r>
          </a:p>
        </p:txBody>
      </p:sp>
    </p:spTree>
    <p:extLst>
      <p:ext uri="{BB962C8B-B14F-4D97-AF65-F5344CB8AC3E}">
        <p14:creationId xmlns:p14="http://schemas.microsoft.com/office/powerpoint/2010/main" val="1558627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04C0100-C956-46C5-8256-5AAF89A6B66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27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那我們之前學</a:t>
            </a:r>
            <a:r>
              <a:rPr lang="en-US" altLang="zh-TW" sz="27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</a:t>
            </a:r>
            <a:r>
              <a:rPr lang="zh-TW" altLang="en-US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要幹麻＝＝</a:t>
            </a:r>
            <a:endParaRPr lang="en-US" altLang="zh-TW" sz="2700" b="1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98000"/>
              </a:lnSpc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-</a:t>
            </a:r>
            <a:r>
              <a:rPr lang="zh-TW" altLang="en-US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-apple-system"/>
              </a:rPr>
              <a:t>Loop </a:t>
            </a:r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是 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-apple-system"/>
              </a:rPr>
              <a:t>Harness </a:t>
            </a:r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的自然延伸</a:t>
            </a:r>
          </a:p>
        </p:txBody>
      </p:sp>
      <p:sp>
        <p:nvSpPr>
          <p:cNvPr id="4" name="left-bullets">
            <a:extLst>
              <a:ext uri="{FF2B5EF4-FFF2-40B4-BE49-F238E27FC236}">
                <a16:creationId xmlns:a16="http://schemas.microsoft.com/office/drawing/2014/main" id="{EC99B328-74C1-4DDC-83C4-AB2C189FD312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5143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 </a:t>
            </a:r>
            <a:r>
              <a:rPr sz="1650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決定</a:t>
            </a:r>
            <a:r>
              <a:rPr sz="1650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 agent </a:t>
            </a:r>
            <a:r>
              <a:rPr sz="1650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能讀哪些資料、能用哪些工具</a:t>
            </a:r>
            <a:endParaRPr sz="1650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Coding agent </a:t>
            </a:r>
            <a:r>
              <a:rPr sz="1650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</a:t>
            </a:r>
            <a:r>
              <a:rPr sz="1650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 agent </a:t>
            </a:r>
            <a:r>
              <a:rPr sz="1650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能讀檔、改檔、跑檢查</a:t>
            </a:r>
            <a:endParaRPr sz="1650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 </a:t>
            </a:r>
            <a:r>
              <a:rPr sz="1650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把模糊需求改成可驗證條件</a:t>
            </a:r>
            <a:endParaRPr sz="1650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 </a:t>
            </a:r>
            <a:r>
              <a:rPr sz="1650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讓每一輪修正都有原因、有紀錄、有停止點</a:t>
            </a:r>
            <a:r>
              <a:rPr lang="en-US" sz="1650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，且自動化流程</a:t>
            </a:r>
            <a:endParaRPr sz="1650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EFFB87FA-7E7A-4D72-9A39-78ACDDA735C6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71BF8B5C-20BE-4805-A804-1AB97BA51741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先記這三句</a:t>
            </a:r>
          </a:p>
        </p:txBody>
      </p:sp>
      <p:sp>
        <p:nvSpPr>
          <p:cNvPr id="7" name="right-bullets">
            <a:extLst>
              <a:ext uri="{FF2B5EF4-FFF2-40B4-BE49-F238E27FC236}">
                <a16:creationId xmlns:a16="http://schemas.microsoft.com/office/drawing/2014/main" id="{93CDC08E-FAFC-43FD-B2CE-25FD33030FAB}"/>
              </a:ext>
            </a:extLst>
          </p:cNvPr>
          <p:cNvSpPr>
            <a:spLocks noGrp="1"/>
          </p:cNvSpPr>
          <p:nvPr/>
        </p:nvSpPr>
        <p:spPr>
          <a:xfrm>
            <a:off x="7105650" y="2781300"/>
            <a:ext cx="295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 controls the workspace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 defines done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 drives iteration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4565F61-7564-B1DC-263A-D00DA156FEB7}"/>
              </a:ext>
            </a:extLst>
          </p:cNvPr>
          <p:cNvSpPr txBox="1"/>
          <p:nvPr/>
        </p:nvSpPr>
        <p:spPr>
          <a:xfrm>
            <a:off x="1937794" y="5412343"/>
            <a:ext cx="8316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沒有 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-apple-system"/>
              </a:rPr>
              <a:t>Harness </a:t>
            </a:r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的 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-apple-system"/>
              </a:rPr>
              <a:t>Loop</a:t>
            </a:r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，就是一個自動跑、自動出錯、自動製造垃圾的系統。</a:t>
            </a:r>
            <a:endParaRPr lang="zh-TW" altLang="en-US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F019C2E-A418-3547-992E-8A854F4C18F5}"/>
              </a:ext>
            </a:extLst>
          </p:cNvPr>
          <p:cNvSpPr txBox="1"/>
          <p:nvPr/>
        </p:nvSpPr>
        <p:spPr>
          <a:xfrm>
            <a:off x="457200" y="6436675"/>
            <a:ext cx="6099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/>
              <a:t>https://ai-coding.wiselychen.com/loop-engineering-from-prompt-to-loop-paradigm-shift/</a:t>
            </a:r>
          </a:p>
        </p:txBody>
      </p:sp>
    </p:spTree>
    <p:extLst>
      <p:ext uri="{BB962C8B-B14F-4D97-AF65-F5344CB8AC3E}">
        <p14:creationId xmlns:p14="http://schemas.microsoft.com/office/powerpoint/2010/main" val="2137243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5D95BEA-46BD-4A35-BDB0-403A0818C752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 不是再問一次，而是帶著檢查結果前進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86CCBCD3-A6A8-4C93-A472-6FB891024D4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5/38</a:t>
            </a:r>
          </a:p>
        </p:txBody>
      </p:sp>
      <p:sp>
        <p:nvSpPr>
          <p:cNvPr id="4" name="plan">
            <a:extLst>
              <a:ext uri="{FF2B5EF4-FFF2-40B4-BE49-F238E27FC236}">
                <a16:creationId xmlns:a16="http://schemas.microsoft.com/office/drawing/2014/main" id="{4D468A9B-CC56-4779-83AE-DE57967D0FF8}"/>
              </a:ext>
            </a:extLst>
          </p:cNvPr>
          <p:cNvSpPr>
            <a:spLocks noGrp="1"/>
          </p:cNvSpPr>
          <p:nvPr/>
        </p:nvSpPr>
        <p:spPr>
          <a:xfrm>
            <a:off x="10096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Plan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定範圍</a:t>
            </a:r>
          </a:p>
        </p:txBody>
      </p:sp>
      <p:sp>
        <p:nvSpPr>
          <p:cNvPr id="5" name="retrieve">
            <a:extLst>
              <a:ext uri="{FF2B5EF4-FFF2-40B4-BE49-F238E27FC236}">
                <a16:creationId xmlns:a16="http://schemas.microsoft.com/office/drawing/2014/main" id="{8088291B-C74E-47FA-9F58-08E8779B52A8}"/>
              </a:ext>
            </a:extLst>
          </p:cNvPr>
          <p:cNvSpPr>
            <a:spLocks noGrp="1"/>
          </p:cNvSpPr>
          <p:nvPr/>
        </p:nvSpPr>
        <p:spPr>
          <a:xfrm>
            <a:off x="27241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Retrieve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取證據</a:t>
            </a:r>
          </a:p>
        </p:txBody>
      </p:sp>
      <p:sp>
        <p:nvSpPr>
          <p:cNvPr id="6" name="analyze">
            <a:extLst>
              <a:ext uri="{FF2B5EF4-FFF2-40B4-BE49-F238E27FC236}">
                <a16:creationId xmlns:a16="http://schemas.microsoft.com/office/drawing/2014/main" id="{2572EDF0-67C0-49E3-A835-99EFCD0AF30C}"/>
              </a:ext>
            </a:extLst>
          </p:cNvPr>
          <p:cNvSpPr>
            <a:spLocks noGrp="1"/>
          </p:cNvSpPr>
          <p:nvPr/>
        </p:nvSpPr>
        <p:spPr>
          <a:xfrm>
            <a:off x="44386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Analyze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抽 claim</a:t>
            </a:r>
          </a:p>
        </p:txBody>
      </p:sp>
      <p:sp>
        <p:nvSpPr>
          <p:cNvPr id="7" name="verify">
            <a:extLst>
              <a:ext uri="{FF2B5EF4-FFF2-40B4-BE49-F238E27FC236}">
                <a16:creationId xmlns:a16="http://schemas.microsoft.com/office/drawing/2014/main" id="{A433EDA1-CF31-43E3-A78A-F623FFE5D56B}"/>
              </a:ext>
            </a:extLst>
          </p:cNvPr>
          <p:cNvSpPr>
            <a:spLocks noGrp="1"/>
          </p:cNvSpPr>
          <p:nvPr/>
        </p:nvSpPr>
        <p:spPr>
          <a:xfrm>
            <a:off x="61531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Verify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找問題</a:t>
            </a:r>
          </a:p>
        </p:txBody>
      </p:sp>
      <p:sp>
        <p:nvSpPr>
          <p:cNvPr id="8" name="revise">
            <a:extLst>
              <a:ext uri="{FF2B5EF4-FFF2-40B4-BE49-F238E27FC236}">
                <a16:creationId xmlns:a16="http://schemas.microsoft.com/office/drawing/2014/main" id="{CA3378A9-B6A5-4124-9309-75CAB0D8F2DA}"/>
              </a:ext>
            </a:extLst>
          </p:cNvPr>
          <p:cNvSpPr>
            <a:spLocks noGrp="1"/>
          </p:cNvSpPr>
          <p:nvPr/>
        </p:nvSpPr>
        <p:spPr>
          <a:xfrm>
            <a:off x="78676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Revise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修正</a:t>
            </a:r>
          </a:p>
        </p:txBody>
      </p:sp>
      <p:sp>
        <p:nvSpPr>
          <p:cNvPr id="9" name="report">
            <a:extLst>
              <a:ext uri="{FF2B5EF4-FFF2-40B4-BE49-F238E27FC236}">
                <a16:creationId xmlns:a16="http://schemas.microsoft.com/office/drawing/2014/main" id="{33551DB4-7C0B-456A-BDCE-B2971888B4BF}"/>
              </a:ext>
            </a:extLst>
          </p:cNvPr>
          <p:cNvSpPr>
            <a:spLocks noGrp="1"/>
          </p:cNvSpPr>
          <p:nvPr/>
        </p:nvSpPr>
        <p:spPr>
          <a:xfrm>
            <a:off x="95821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Report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交付</a:t>
            </a:r>
          </a:p>
        </p:txBody>
      </p:sp>
      <p:sp>
        <p:nvSpPr>
          <p:cNvPr id="10" name="arrow-0">
            <a:extLst>
              <a:ext uri="{FF2B5EF4-FFF2-40B4-BE49-F238E27FC236}">
                <a16:creationId xmlns:a16="http://schemas.microsoft.com/office/drawing/2014/main" id="{9FBB5EF7-367D-4D21-B064-EA51CEEA09B2}"/>
              </a:ext>
            </a:extLst>
          </p:cNvPr>
          <p:cNvSpPr>
            <a:spLocks noGrp="1"/>
          </p:cNvSpPr>
          <p:nvPr/>
        </p:nvSpPr>
        <p:spPr>
          <a:xfrm>
            <a:off x="2209800" y="3143250"/>
            <a:ext cx="514350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</a:ln>
        </p:spPr>
      </p:sp>
      <p:sp>
        <p:nvSpPr>
          <p:cNvPr id="11" name="arrow-1">
            <a:extLst>
              <a:ext uri="{FF2B5EF4-FFF2-40B4-BE49-F238E27FC236}">
                <a16:creationId xmlns:a16="http://schemas.microsoft.com/office/drawing/2014/main" id="{1F6CC4DD-C9B5-44C9-9EE5-D8C0C016BA29}"/>
              </a:ext>
            </a:extLst>
          </p:cNvPr>
          <p:cNvSpPr>
            <a:spLocks noGrp="1"/>
          </p:cNvSpPr>
          <p:nvPr/>
        </p:nvSpPr>
        <p:spPr>
          <a:xfrm>
            <a:off x="3924300" y="3143250"/>
            <a:ext cx="514350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</a:ln>
        </p:spPr>
      </p:sp>
      <p:sp>
        <p:nvSpPr>
          <p:cNvPr id="12" name="arrow-2">
            <a:extLst>
              <a:ext uri="{FF2B5EF4-FFF2-40B4-BE49-F238E27FC236}">
                <a16:creationId xmlns:a16="http://schemas.microsoft.com/office/drawing/2014/main" id="{5E71B473-471B-4EA3-9D80-842F410D2E97}"/>
              </a:ext>
            </a:extLst>
          </p:cNvPr>
          <p:cNvSpPr>
            <a:spLocks noGrp="1"/>
          </p:cNvSpPr>
          <p:nvPr/>
        </p:nvSpPr>
        <p:spPr>
          <a:xfrm>
            <a:off x="5638800" y="3143250"/>
            <a:ext cx="514350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</a:ln>
        </p:spPr>
      </p:sp>
      <p:sp>
        <p:nvSpPr>
          <p:cNvPr id="13" name="arrow-3">
            <a:extLst>
              <a:ext uri="{FF2B5EF4-FFF2-40B4-BE49-F238E27FC236}">
                <a16:creationId xmlns:a16="http://schemas.microsoft.com/office/drawing/2014/main" id="{EB64FFD6-2D02-450F-893D-3D74C16E9A94}"/>
              </a:ext>
            </a:extLst>
          </p:cNvPr>
          <p:cNvSpPr>
            <a:spLocks noGrp="1"/>
          </p:cNvSpPr>
          <p:nvPr/>
        </p:nvSpPr>
        <p:spPr>
          <a:xfrm>
            <a:off x="7353300" y="3143250"/>
            <a:ext cx="514350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</a:ln>
        </p:spPr>
      </p:sp>
      <p:sp>
        <p:nvSpPr>
          <p:cNvPr id="14" name="arrow-4">
            <a:extLst>
              <a:ext uri="{FF2B5EF4-FFF2-40B4-BE49-F238E27FC236}">
                <a16:creationId xmlns:a16="http://schemas.microsoft.com/office/drawing/2014/main" id="{C108CFB1-2ABB-493D-999C-0DAFC5D96DA2}"/>
              </a:ext>
            </a:extLst>
          </p:cNvPr>
          <p:cNvSpPr>
            <a:spLocks noGrp="1"/>
          </p:cNvSpPr>
          <p:nvPr/>
        </p:nvSpPr>
        <p:spPr>
          <a:xfrm>
            <a:off x="9067800" y="3143250"/>
            <a:ext cx="514350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</a:ln>
        </p:spPr>
      </p:sp>
      <p:sp>
        <p:nvSpPr>
          <p:cNvPr id="15" name="feedback-1">
            <a:extLst>
              <a:ext uri="{FF2B5EF4-FFF2-40B4-BE49-F238E27FC236}">
                <a16:creationId xmlns:a16="http://schemas.microsoft.com/office/drawing/2014/main" id="{E12D7389-63CE-4E62-B4D7-0DBF5C492EE3}"/>
              </a:ext>
            </a:extLst>
          </p:cNvPr>
          <p:cNvSpPr>
            <a:spLocks noGrp="1"/>
          </p:cNvSpPr>
          <p:nvPr/>
        </p:nvSpPr>
        <p:spPr>
          <a:xfrm>
            <a:off x="8629650" y="2781300"/>
            <a:ext cx="0" cy="0"/>
          </a:xfrm>
          <a:prstGeom prst="line">
            <a:avLst/>
          </a:prstGeom>
          <a:noFill/>
          <a:ln w="17145">
            <a:solidFill>
              <a:srgbClr val="0E8F88"/>
            </a:solidFill>
            <a:prstDash val="dash"/>
          </a:ln>
        </p:spPr>
      </p:sp>
      <p:sp>
        <p:nvSpPr>
          <p:cNvPr id="16" name="feedback-2">
            <a:extLst>
              <a:ext uri="{FF2B5EF4-FFF2-40B4-BE49-F238E27FC236}">
                <a16:creationId xmlns:a16="http://schemas.microsoft.com/office/drawing/2014/main" id="{EA83DE3C-84A6-4128-AD56-90B008DA2FEE}"/>
              </a:ext>
            </a:extLst>
          </p:cNvPr>
          <p:cNvSpPr>
            <a:spLocks noGrp="1"/>
          </p:cNvSpPr>
          <p:nvPr/>
        </p:nvSpPr>
        <p:spPr>
          <a:xfrm>
            <a:off x="8629650" y="2171700"/>
            <a:ext cx="0" cy="0"/>
          </a:xfrm>
          <a:prstGeom prst="line">
            <a:avLst/>
          </a:prstGeom>
          <a:noFill/>
          <a:ln w="17145">
            <a:solidFill>
              <a:srgbClr val="0E8F88"/>
            </a:solidFill>
            <a:prstDash val="dash"/>
          </a:ln>
        </p:spPr>
      </p:sp>
      <p:sp>
        <p:nvSpPr>
          <p:cNvPr id="17" name="feedback-3">
            <a:extLst>
              <a:ext uri="{FF2B5EF4-FFF2-40B4-BE49-F238E27FC236}">
                <a16:creationId xmlns:a16="http://schemas.microsoft.com/office/drawing/2014/main" id="{D6EB1BCD-16DA-432F-B811-607B7CE9B5C8}"/>
              </a:ext>
            </a:extLst>
          </p:cNvPr>
          <p:cNvSpPr>
            <a:spLocks noGrp="1"/>
          </p:cNvSpPr>
          <p:nvPr/>
        </p:nvSpPr>
        <p:spPr>
          <a:xfrm>
            <a:off x="4438650" y="2171700"/>
            <a:ext cx="0" cy="609600"/>
          </a:xfrm>
          <a:prstGeom prst="line">
            <a:avLst/>
          </a:prstGeom>
          <a:noFill/>
          <a:ln w="17145">
            <a:solidFill>
              <a:srgbClr val="0E8F88"/>
            </a:solidFill>
            <a:prstDash val="dash"/>
          </a:ln>
        </p:spPr>
      </p:sp>
      <p:sp>
        <p:nvSpPr>
          <p:cNvPr id="18" name="caption">
            <a:extLst>
              <a:ext uri="{FF2B5EF4-FFF2-40B4-BE49-F238E27FC236}">
                <a16:creationId xmlns:a16="http://schemas.microsoft.com/office/drawing/2014/main" id="{F7C47E07-C664-4771-A1FB-2C0E3782BBE0}"/>
              </a:ext>
            </a:extLst>
          </p:cNvPr>
          <p:cNvSpPr>
            <a:spLocks noGrp="1"/>
          </p:cNvSpPr>
          <p:nvPr/>
        </p:nvSpPr>
        <p:spPr>
          <a:xfrm>
            <a:off x="1428750" y="4305300"/>
            <a:ext cx="914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真正的 loop 會把 evaluator 的 issues 帶回 revise；不是每輪都重新憑感覺作文。</a:t>
            </a:r>
          </a:p>
        </p:txBody>
      </p:sp>
    </p:spTree>
    <p:extLst>
      <p:ext uri="{BB962C8B-B14F-4D97-AF65-F5344CB8AC3E}">
        <p14:creationId xmlns:p14="http://schemas.microsoft.com/office/powerpoint/2010/main" val="1216475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5D95BEA-46BD-4A35-BDB0-403A0818C752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難道是什麼都</a:t>
            </a:r>
            <a:r>
              <a:rPr lang="en-US" altLang="zh-TW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</a:t>
            </a:r>
            <a:r>
              <a:rPr lang="zh-TW" altLang="en-US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一下嗎？</a:t>
            </a:r>
            <a:endParaRPr sz="2700" b="1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feedback-3">
            <a:extLst>
              <a:ext uri="{FF2B5EF4-FFF2-40B4-BE49-F238E27FC236}">
                <a16:creationId xmlns:a16="http://schemas.microsoft.com/office/drawing/2014/main" id="{D6EB1BCD-16DA-432F-B811-607B7CE9B5C8}"/>
              </a:ext>
            </a:extLst>
          </p:cNvPr>
          <p:cNvSpPr>
            <a:spLocks noGrp="1"/>
          </p:cNvSpPr>
          <p:nvPr/>
        </p:nvSpPr>
        <p:spPr>
          <a:xfrm>
            <a:off x="5779986" y="1815195"/>
            <a:ext cx="9887" cy="2844674"/>
          </a:xfrm>
          <a:prstGeom prst="line">
            <a:avLst/>
          </a:prstGeom>
          <a:noFill/>
          <a:ln w="17145">
            <a:solidFill>
              <a:srgbClr val="0E8F88"/>
            </a:solidFill>
            <a:prstDash val="dash"/>
          </a:ln>
        </p:spPr>
      </p:sp>
      <p:sp>
        <p:nvSpPr>
          <p:cNvPr id="18" name="caption">
            <a:extLst>
              <a:ext uri="{FF2B5EF4-FFF2-40B4-BE49-F238E27FC236}">
                <a16:creationId xmlns:a16="http://schemas.microsoft.com/office/drawing/2014/main" id="{F7C47E07-C664-4771-A1FB-2C0E3782BBE0}"/>
              </a:ext>
            </a:extLst>
          </p:cNvPr>
          <p:cNvSpPr>
            <a:spLocks noGrp="1"/>
          </p:cNvSpPr>
          <p:nvPr/>
        </p:nvSpPr>
        <p:spPr>
          <a:xfrm>
            <a:off x="1360508" y="5200088"/>
            <a:ext cx="914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b="0" i="0" dirty="0">
                <a:solidFill>
                  <a:srgbClr val="333333"/>
                </a:solidFill>
                <a:effectLst/>
                <a:latin typeface="-apple-system"/>
              </a:rPr>
              <a:t>Loop Engineering 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的正確用法是「在重複或高風險的環節加上 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-apple-system"/>
              </a:rPr>
              <a:t>memory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、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-apple-system"/>
              </a:rPr>
              <a:t>verification 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和 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-apple-system"/>
              </a:rPr>
              <a:t>guardrails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」，而不是「把整個工作流變成剛性腳本」。</a:t>
            </a:r>
            <a:endParaRPr sz="1725" b="1" dirty="0">
              <a:solidFill>
                <a:srgbClr val="5C6670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816AE78-7C7D-3F32-2440-1D30F34AE4C9}"/>
              </a:ext>
            </a:extLst>
          </p:cNvPr>
          <p:cNvSpPr txBox="1"/>
          <p:nvPr/>
        </p:nvSpPr>
        <p:spPr>
          <a:xfrm>
            <a:off x="777795" y="3000971"/>
            <a:ext cx="4555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收集候選素材、去重、檢查來源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驗證連結有效性、事實查核、圖片校驗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輸出草稿但不發布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7E0F8DB-07F6-DDD1-7F22-0DAC4FEE08C2}"/>
              </a:ext>
            </a:extLst>
          </p:cNvPr>
          <p:cNvSpPr txBox="1"/>
          <p:nvPr/>
        </p:nvSpPr>
        <p:spPr>
          <a:xfrm>
            <a:off x="6662075" y="2862471"/>
            <a:ext cx="16947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選題決策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觀點建構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敘事結構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最終定稿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016F4FB-258B-C8A7-8CED-35CB7647FF52}"/>
              </a:ext>
            </a:extLst>
          </p:cNvPr>
          <p:cNvSpPr txBox="1"/>
          <p:nvPr/>
        </p:nvSpPr>
        <p:spPr>
          <a:xfrm>
            <a:off x="457200" y="1815195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適合 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-apple-system"/>
              </a:rPr>
              <a:t>Loop </a:t>
            </a:r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的部分（重複、可驗證、風險可控）：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554BE6C-F814-7A64-AC5C-F08D39ADEE34}"/>
              </a:ext>
            </a:extLst>
          </p:cNvPr>
          <p:cNvSpPr txBox="1"/>
          <p:nvPr/>
        </p:nvSpPr>
        <p:spPr>
          <a:xfrm>
            <a:off x="6096000" y="1828800"/>
            <a:ext cx="5040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不適合 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-apple-system"/>
              </a:rPr>
              <a:t>Loop </a:t>
            </a:r>
            <a:r>
              <a:rPr lang="zh-TW" altLang="en-US" b="1" i="0" dirty="0">
                <a:solidFill>
                  <a:srgbClr val="333333"/>
                </a:solidFill>
                <a:effectLst/>
                <a:latin typeface="-apple-system"/>
              </a:rPr>
              <a:t>的部分（需要判斷、創意、掌舵）：</a:t>
            </a:r>
            <a:endParaRPr lang="zh-TW" altLang="en-US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7B42829-6DA5-D5EE-DA9A-0A61E83B3F62}"/>
              </a:ext>
            </a:extLst>
          </p:cNvPr>
          <p:cNvSpPr txBox="1"/>
          <p:nvPr/>
        </p:nvSpPr>
        <p:spPr>
          <a:xfrm>
            <a:off x="5932508" y="411661"/>
            <a:ext cx="6099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solidFill>
                  <a:srgbClr val="333333"/>
                </a:solidFill>
                <a:effectLst/>
                <a:latin typeface="-apple-system"/>
              </a:rPr>
              <a:t>Boris </a:t>
            </a:r>
            <a:r>
              <a:rPr lang="en-US" altLang="zh-TW" b="0" i="0" dirty="0" err="1">
                <a:solidFill>
                  <a:srgbClr val="333333"/>
                </a:solidFill>
                <a:effectLst/>
                <a:latin typeface="-apple-system"/>
              </a:rPr>
              <a:t>Cherny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-apple-system"/>
              </a:rPr>
              <a:t> :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endParaRPr lang="en-US" altLang="zh-TW" b="0" i="1" dirty="0">
              <a:solidFill>
                <a:srgbClr val="666666"/>
              </a:solidFill>
              <a:effectLst/>
              <a:latin typeface="-apple-system"/>
            </a:endParaRPr>
          </a:p>
          <a:p>
            <a:r>
              <a:rPr lang="en-US" altLang="zh-TW" b="0" i="1" dirty="0">
                <a:solidFill>
                  <a:srgbClr val="666666"/>
                </a:solidFill>
                <a:effectLst/>
                <a:latin typeface="-apple-system"/>
              </a:rPr>
              <a:t>“Build the loop. But build it like someone who intends to stay the engineer, not just the person who presses go.”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E02F05C-E26F-D9A0-7C11-30E2B4B2723C}"/>
              </a:ext>
            </a:extLst>
          </p:cNvPr>
          <p:cNvSpPr txBox="1"/>
          <p:nvPr/>
        </p:nvSpPr>
        <p:spPr>
          <a:xfrm>
            <a:off x="457200" y="6436675"/>
            <a:ext cx="6099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/>
              <a:t>https://ai-coding.wiselychen.com/loop-engineering-from-prompt-to-loop-paradigm-shift/</a:t>
            </a:r>
          </a:p>
        </p:txBody>
      </p:sp>
    </p:spTree>
    <p:extLst>
      <p:ext uri="{BB962C8B-B14F-4D97-AF65-F5344CB8AC3E}">
        <p14:creationId xmlns:p14="http://schemas.microsoft.com/office/powerpoint/2010/main" val="825838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5D95BEA-46BD-4A35-BDB0-403A0818C752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 不是再問一次，而是帶著檢查結果前進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86CCBCD3-A6A8-4C93-A472-6FB891024D4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5/38</a:t>
            </a:r>
          </a:p>
        </p:txBody>
      </p:sp>
      <p:sp>
        <p:nvSpPr>
          <p:cNvPr id="4" name="plan">
            <a:extLst>
              <a:ext uri="{FF2B5EF4-FFF2-40B4-BE49-F238E27FC236}">
                <a16:creationId xmlns:a16="http://schemas.microsoft.com/office/drawing/2014/main" id="{4D468A9B-CC56-4779-83AE-DE57967D0FF8}"/>
              </a:ext>
            </a:extLst>
          </p:cNvPr>
          <p:cNvSpPr>
            <a:spLocks noGrp="1"/>
          </p:cNvSpPr>
          <p:nvPr/>
        </p:nvSpPr>
        <p:spPr>
          <a:xfrm>
            <a:off x="10096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Plan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定範圍</a:t>
            </a:r>
          </a:p>
        </p:txBody>
      </p:sp>
      <p:sp>
        <p:nvSpPr>
          <p:cNvPr id="5" name="retrieve">
            <a:extLst>
              <a:ext uri="{FF2B5EF4-FFF2-40B4-BE49-F238E27FC236}">
                <a16:creationId xmlns:a16="http://schemas.microsoft.com/office/drawing/2014/main" id="{8088291B-C74E-47FA-9F58-08E8779B52A8}"/>
              </a:ext>
            </a:extLst>
          </p:cNvPr>
          <p:cNvSpPr>
            <a:spLocks noGrp="1"/>
          </p:cNvSpPr>
          <p:nvPr/>
        </p:nvSpPr>
        <p:spPr>
          <a:xfrm>
            <a:off x="27241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Retrieve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取證據</a:t>
            </a:r>
          </a:p>
        </p:txBody>
      </p:sp>
      <p:sp>
        <p:nvSpPr>
          <p:cNvPr id="6" name="analyze">
            <a:extLst>
              <a:ext uri="{FF2B5EF4-FFF2-40B4-BE49-F238E27FC236}">
                <a16:creationId xmlns:a16="http://schemas.microsoft.com/office/drawing/2014/main" id="{2572EDF0-67C0-49E3-A835-99EFCD0AF30C}"/>
              </a:ext>
            </a:extLst>
          </p:cNvPr>
          <p:cNvSpPr>
            <a:spLocks noGrp="1"/>
          </p:cNvSpPr>
          <p:nvPr/>
        </p:nvSpPr>
        <p:spPr>
          <a:xfrm>
            <a:off x="44386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Analyze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抽 claim</a:t>
            </a:r>
          </a:p>
        </p:txBody>
      </p:sp>
      <p:sp>
        <p:nvSpPr>
          <p:cNvPr id="7" name="verify">
            <a:extLst>
              <a:ext uri="{FF2B5EF4-FFF2-40B4-BE49-F238E27FC236}">
                <a16:creationId xmlns:a16="http://schemas.microsoft.com/office/drawing/2014/main" id="{A433EDA1-CF31-43E3-A78A-F623FFE5D56B}"/>
              </a:ext>
            </a:extLst>
          </p:cNvPr>
          <p:cNvSpPr>
            <a:spLocks noGrp="1"/>
          </p:cNvSpPr>
          <p:nvPr/>
        </p:nvSpPr>
        <p:spPr>
          <a:xfrm>
            <a:off x="61531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Verify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找問題</a:t>
            </a:r>
          </a:p>
        </p:txBody>
      </p:sp>
      <p:sp>
        <p:nvSpPr>
          <p:cNvPr id="8" name="revise">
            <a:extLst>
              <a:ext uri="{FF2B5EF4-FFF2-40B4-BE49-F238E27FC236}">
                <a16:creationId xmlns:a16="http://schemas.microsoft.com/office/drawing/2014/main" id="{CA3378A9-B6A5-4124-9309-75CAB0D8F2DA}"/>
              </a:ext>
            </a:extLst>
          </p:cNvPr>
          <p:cNvSpPr>
            <a:spLocks noGrp="1"/>
          </p:cNvSpPr>
          <p:nvPr/>
        </p:nvSpPr>
        <p:spPr>
          <a:xfrm>
            <a:off x="78676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Revise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修正</a:t>
            </a:r>
          </a:p>
        </p:txBody>
      </p:sp>
      <p:sp>
        <p:nvSpPr>
          <p:cNvPr id="9" name="report">
            <a:extLst>
              <a:ext uri="{FF2B5EF4-FFF2-40B4-BE49-F238E27FC236}">
                <a16:creationId xmlns:a16="http://schemas.microsoft.com/office/drawing/2014/main" id="{33551DB4-7C0B-456A-BDCE-B2971888B4BF}"/>
              </a:ext>
            </a:extLst>
          </p:cNvPr>
          <p:cNvSpPr>
            <a:spLocks noGrp="1"/>
          </p:cNvSpPr>
          <p:nvPr/>
        </p:nvSpPr>
        <p:spPr>
          <a:xfrm>
            <a:off x="9582150" y="278130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Report</a:t>
            </a:r>
          </a:p>
          <a:p>
            <a:pPr algn="ctr">
              <a:lnSpc>
                <a:spcPct val="102000"/>
              </a:lnSpc>
              <a:buNone/>
              <a:defRPr sz="15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交付</a:t>
            </a:r>
          </a:p>
        </p:txBody>
      </p:sp>
      <p:sp>
        <p:nvSpPr>
          <p:cNvPr id="10" name="arrow-0">
            <a:extLst>
              <a:ext uri="{FF2B5EF4-FFF2-40B4-BE49-F238E27FC236}">
                <a16:creationId xmlns:a16="http://schemas.microsoft.com/office/drawing/2014/main" id="{9FBB5EF7-367D-4D21-B064-EA51CEEA09B2}"/>
              </a:ext>
            </a:extLst>
          </p:cNvPr>
          <p:cNvSpPr>
            <a:spLocks noGrp="1"/>
          </p:cNvSpPr>
          <p:nvPr/>
        </p:nvSpPr>
        <p:spPr>
          <a:xfrm>
            <a:off x="2209800" y="3143250"/>
            <a:ext cx="514350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</a:ln>
        </p:spPr>
      </p:sp>
      <p:sp>
        <p:nvSpPr>
          <p:cNvPr id="11" name="arrow-1">
            <a:extLst>
              <a:ext uri="{FF2B5EF4-FFF2-40B4-BE49-F238E27FC236}">
                <a16:creationId xmlns:a16="http://schemas.microsoft.com/office/drawing/2014/main" id="{1F6CC4DD-C9B5-44C9-9EE5-D8C0C016BA29}"/>
              </a:ext>
            </a:extLst>
          </p:cNvPr>
          <p:cNvSpPr>
            <a:spLocks noGrp="1"/>
          </p:cNvSpPr>
          <p:nvPr/>
        </p:nvSpPr>
        <p:spPr>
          <a:xfrm>
            <a:off x="3924300" y="3143250"/>
            <a:ext cx="514350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</a:ln>
        </p:spPr>
      </p:sp>
      <p:sp>
        <p:nvSpPr>
          <p:cNvPr id="12" name="arrow-2">
            <a:extLst>
              <a:ext uri="{FF2B5EF4-FFF2-40B4-BE49-F238E27FC236}">
                <a16:creationId xmlns:a16="http://schemas.microsoft.com/office/drawing/2014/main" id="{5E71B473-471B-4EA3-9D80-842F410D2E97}"/>
              </a:ext>
            </a:extLst>
          </p:cNvPr>
          <p:cNvSpPr>
            <a:spLocks noGrp="1"/>
          </p:cNvSpPr>
          <p:nvPr/>
        </p:nvSpPr>
        <p:spPr>
          <a:xfrm>
            <a:off x="5638800" y="3143250"/>
            <a:ext cx="514350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</a:ln>
        </p:spPr>
      </p:sp>
      <p:sp>
        <p:nvSpPr>
          <p:cNvPr id="13" name="arrow-3">
            <a:extLst>
              <a:ext uri="{FF2B5EF4-FFF2-40B4-BE49-F238E27FC236}">
                <a16:creationId xmlns:a16="http://schemas.microsoft.com/office/drawing/2014/main" id="{EB64FFD6-2D02-450F-893D-3D74C16E9A94}"/>
              </a:ext>
            </a:extLst>
          </p:cNvPr>
          <p:cNvSpPr>
            <a:spLocks noGrp="1"/>
          </p:cNvSpPr>
          <p:nvPr/>
        </p:nvSpPr>
        <p:spPr>
          <a:xfrm>
            <a:off x="7353300" y="3143250"/>
            <a:ext cx="514350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</a:ln>
        </p:spPr>
      </p:sp>
      <p:sp>
        <p:nvSpPr>
          <p:cNvPr id="14" name="arrow-4">
            <a:extLst>
              <a:ext uri="{FF2B5EF4-FFF2-40B4-BE49-F238E27FC236}">
                <a16:creationId xmlns:a16="http://schemas.microsoft.com/office/drawing/2014/main" id="{C108CFB1-2ABB-493D-999C-0DAFC5D96DA2}"/>
              </a:ext>
            </a:extLst>
          </p:cNvPr>
          <p:cNvSpPr>
            <a:spLocks noGrp="1"/>
          </p:cNvSpPr>
          <p:nvPr/>
        </p:nvSpPr>
        <p:spPr>
          <a:xfrm>
            <a:off x="9067800" y="3143250"/>
            <a:ext cx="514350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</a:ln>
        </p:spPr>
      </p:sp>
      <p:sp>
        <p:nvSpPr>
          <p:cNvPr id="15" name="feedback-1">
            <a:extLst>
              <a:ext uri="{FF2B5EF4-FFF2-40B4-BE49-F238E27FC236}">
                <a16:creationId xmlns:a16="http://schemas.microsoft.com/office/drawing/2014/main" id="{E12D7389-63CE-4E62-B4D7-0DBF5C492EE3}"/>
              </a:ext>
            </a:extLst>
          </p:cNvPr>
          <p:cNvSpPr>
            <a:spLocks noGrp="1"/>
          </p:cNvSpPr>
          <p:nvPr/>
        </p:nvSpPr>
        <p:spPr>
          <a:xfrm>
            <a:off x="8629650" y="2781300"/>
            <a:ext cx="0" cy="0"/>
          </a:xfrm>
          <a:prstGeom prst="line">
            <a:avLst/>
          </a:prstGeom>
          <a:noFill/>
          <a:ln w="17145">
            <a:solidFill>
              <a:srgbClr val="0E8F88"/>
            </a:solidFill>
            <a:prstDash val="dash"/>
          </a:ln>
        </p:spPr>
      </p:sp>
      <p:sp>
        <p:nvSpPr>
          <p:cNvPr id="16" name="feedback-2">
            <a:extLst>
              <a:ext uri="{FF2B5EF4-FFF2-40B4-BE49-F238E27FC236}">
                <a16:creationId xmlns:a16="http://schemas.microsoft.com/office/drawing/2014/main" id="{EA83DE3C-84A6-4128-AD56-90B008DA2FEE}"/>
              </a:ext>
            </a:extLst>
          </p:cNvPr>
          <p:cNvSpPr>
            <a:spLocks noGrp="1"/>
          </p:cNvSpPr>
          <p:nvPr/>
        </p:nvSpPr>
        <p:spPr>
          <a:xfrm>
            <a:off x="8629650" y="2171700"/>
            <a:ext cx="0" cy="0"/>
          </a:xfrm>
          <a:prstGeom prst="line">
            <a:avLst/>
          </a:prstGeom>
          <a:noFill/>
          <a:ln w="17145">
            <a:solidFill>
              <a:srgbClr val="0E8F88"/>
            </a:solidFill>
            <a:prstDash val="dash"/>
          </a:ln>
        </p:spPr>
      </p:sp>
      <p:sp>
        <p:nvSpPr>
          <p:cNvPr id="17" name="feedback-3">
            <a:extLst>
              <a:ext uri="{FF2B5EF4-FFF2-40B4-BE49-F238E27FC236}">
                <a16:creationId xmlns:a16="http://schemas.microsoft.com/office/drawing/2014/main" id="{D6EB1BCD-16DA-432F-B811-607B7CE9B5C8}"/>
              </a:ext>
            </a:extLst>
          </p:cNvPr>
          <p:cNvSpPr>
            <a:spLocks noGrp="1"/>
          </p:cNvSpPr>
          <p:nvPr/>
        </p:nvSpPr>
        <p:spPr>
          <a:xfrm>
            <a:off x="4438650" y="2171700"/>
            <a:ext cx="0" cy="609600"/>
          </a:xfrm>
          <a:prstGeom prst="line">
            <a:avLst/>
          </a:prstGeom>
          <a:noFill/>
          <a:ln w="17145">
            <a:solidFill>
              <a:srgbClr val="0E8F88"/>
            </a:solidFill>
            <a:prstDash val="dash"/>
          </a:ln>
        </p:spPr>
      </p:sp>
      <p:sp>
        <p:nvSpPr>
          <p:cNvPr id="18" name="caption">
            <a:extLst>
              <a:ext uri="{FF2B5EF4-FFF2-40B4-BE49-F238E27FC236}">
                <a16:creationId xmlns:a16="http://schemas.microsoft.com/office/drawing/2014/main" id="{F7C47E07-C664-4771-A1FB-2C0E3782BBE0}"/>
              </a:ext>
            </a:extLst>
          </p:cNvPr>
          <p:cNvSpPr>
            <a:spLocks noGrp="1"/>
          </p:cNvSpPr>
          <p:nvPr/>
        </p:nvSpPr>
        <p:spPr>
          <a:xfrm>
            <a:off x="1428750" y="4305300"/>
            <a:ext cx="914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真正的 loop 會把 evaluator 的 issues 帶回 revise；不是每輪都重新憑感覺作文。</a:t>
            </a:r>
          </a:p>
        </p:txBody>
      </p:sp>
    </p:spTree>
    <p:extLst>
      <p:ext uri="{BB962C8B-B14F-4D97-AF65-F5344CB8AC3E}">
        <p14:creationId xmlns:p14="http://schemas.microsoft.com/office/powerpoint/2010/main" val="2599873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">
            <a:extLst>
              <a:ext uri="{FF2B5EF4-FFF2-40B4-BE49-F238E27FC236}">
                <a16:creationId xmlns:a16="http://schemas.microsoft.com/office/drawing/2014/main" id="{31D549F6-40DC-4A08-B314-54B7A1A454F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3446A8"/>
                </a:solidFill>
                <a:latin typeface="Aptos"/>
                <a:ea typeface="Aptos"/>
                <a:cs typeface="Aptos"/>
              </a:rPr>
              <a:t>PART 1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11F9685-BF7B-49BA-9F9D-64EF71A01C58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你要分清楚：今天要寫的是外部 loop specification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E44B7F7-0319-4FEF-9EE3-15C693440BF6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6/38</a:t>
            </a:r>
          </a:p>
        </p:txBody>
      </p:sp>
      <p:sp>
        <p:nvSpPr>
          <p:cNvPr id="4" name="card-0">
            <a:extLst>
              <a:ext uri="{FF2B5EF4-FFF2-40B4-BE49-F238E27FC236}">
                <a16:creationId xmlns:a16="http://schemas.microsoft.com/office/drawing/2014/main" id="{29BB6BC2-F393-4B26-88B4-12ACAA0B4F7C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5" name="card-title-0">
            <a:extLst>
              <a:ext uri="{FF2B5EF4-FFF2-40B4-BE49-F238E27FC236}">
                <a16:creationId xmlns:a16="http://schemas.microsoft.com/office/drawing/2014/main" id="{FDA26CD0-9C1A-4D47-88EB-25B7873DE1CD}"/>
              </a:ext>
            </a:extLst>
          </p:cNvPr>
          <p:cNvSpPr>
            <a:spLocks noGrp="1"/>
          </p:cNvSpPr>
          <p:nvPr/>
        </p:nvSpPr>
        <p:spPr>
          <a:xfrm>
            <a:off x="1143000" y="23622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程式 loop</a:t>
            </a:r>
          </a:p>
        </p:txBody>
      </p:sp>
      <p:sp>
        <p:nvSpPr>
          <p:cNvPr id="6" name="card-copy-0">
            <a:extLst>
              <a:ext uri="{FF2B5EF4-FFF2-40B4-BE49-F238E27FC236}">
                <a16:creationId xmlns:a16="http://schemas.microsoft.com/office/drawing/2014/main" id="{6E377F7D-90C7-4625-AA0E-B6C667995626}"/>
              </a:ext>
            </a:extLst>
          </p:cNvPr>
          <p:cNvSpPr>
            <a:spLocks noGrp="1"/>
          </p:cNvSpPr>
          <p:nvPr/>
        </p:nvSpPr>
        <p:spPr>
          <a:xfrm>
            <a:off x="1143000" y="3086100"/>
            <a:ext cx="24574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for / while 反覆執行程式碼。它負責控制流程，但不懂任務是否完成。</a:t>
            </a:r>
          </a:p>
        </p:txBody>
      </p:sp>
      <p:sp>
        <p:nvSpPr>
          <p:cNvPr id="7" name="card-1">
            <a:extLst>
              <a:ext uri="{FF2B5EF4-FFF2-40B4-BE49-F238E27FC236}">
                <a16:creationId xmlns:a16="http://schemas.microsoft.com/office/drawing/2014/main" id="{3BB11A31-7878-4F9F-872D-8FF53E17AD3F}"/>
              </a:ext>
            </a:extLst>
          </p:cNvPr>
          <p:cNvSpPr>
            <a:spLocks noGrp="1"/>
          </p:cNvSpPr>
          <p:nvPr/>
        </p:nvSpPr>
        <p:spPr>
          <a:xfrm>
            <a:off x="443865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</p:sp>
      <p:sp>
        <p:nvSpPr>
          <p:cNvPr id="8" name="card-title-1">
            <a:extLst>
              <a:ext uri="{FF2B5EF4-FFF2-40B4-BE49-F238E27FC236}">
                <a16:creationId xmlns:a16="http://schemas.microsoft.com/office/drawing/2014/main" id="{A3FC8841-8D91-4EC0-B8EB-05D9634971CA}"/>
              </a:ext>
            </a:extLst>
          </p:cNvPr>
          <p:cNvSpPr>
            <a:spLocks noGrp="1"/>
          </p:cNvSpPr>
          <p:nvPr/>
        </p:nvSpPr>
        <p:spPr>
          <a:xfrm>
            <a:off x="4705350" y="23622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Agent 內部 loop</a:t>
            </a:r>
          </a:p>
        </p:txBody>
      </p:sp>
      <p:sp>
        <p:nvSpPr>
          <p:cNvPr id="9" name="card-copy-1">
            <a:extLst>
              <a:ext uri="{FF2B5EF4-FFF2-40B4-BE49-F238E27FC236}">
                <a16:creationId xmlns:a16="http://schemas.microsoft.com/office/drawing/2014/main" id="{9FB13C24-C322-4EE9-9C99-7ADB50C0A2A7}"/>
              </a:ext>
            </a:extLst>
          </p:cNvPr>
          <p:cNvSpPr>
            <a:spLocks noGrp="1"/>
          </p:cNvSpPr>
          <p:nvPr/>
        </p:nvSpPr>
        <p:spPr>
          <a:xfrm>
            <a:off x="4705350" y="3086100"/>
            <a:ext cx="24574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模型或 harness 內部的 perceive、act、observe。使用者通常看不到完整細節。</a:t>
            </a:r>
          </a:p>
        </p:txBody>
      </p:sp>
      <p:sp>
        <p:nvSpPr>
          <p:cNvPr id="10" name="card-2">
            <a:extLst>
              <a:ext uri="{FF2B5EF4-FFF2-40B4-BE49-F238E27FC236}">
                <a16:creationId xmlns:a16="http://schemas.microsoft.com/office/drawing/2014/main" id="{635B8BAA-7203-4B1A-B81D-937C3AFC3AEC}"/>
              </a:ext>
            </a:extLst>
          </p:cNvPr>
          <p:cNvSpPr>
            <a:spLocks noGrp="1"/>
          </p:cNvSpPr>
          <p:nvPr/>
        </p:nvSpPr>
        <p:spPr>
          <a:xfrm>
            <a:off x="800100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11" name="card-title-2">
            <a:extLst>
              <a:ext uri="{FF2B5EF4-FFF2-40B4-BE49-F238E27FC236}">
                <a16:creationId xmlns:a16="http://schemas.microsoft.com/office/drawing/2014/main" id="{A4CF23E9-6CC8-469E-AB53-34807F9EC88D}"/>
              </a:ext>
            </a:extLst>
          </p:cNvPr>
          <p:cNvSpPr>
            <a:spLocks noGrp="1"/>
          </p:cNvSpPr>
          <p:nvPr/>
        </p:nvSpPr>
        <p:spPr>
          <a:xfrm>
            <a:off x="8267700" y="23622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Loop specification</a:t>
            </a:r>
          </a:p>
        </p:txBody>
      </p:sp>
      <p:sp>
        <p:nvSpPr>
          <p:cNvPr id="12" name="card-copy-2">
            <a:extLst>
              <a:ext uri="{FF2B5EF4-FFF2-40B4-BE49-F238E27FC236}">
                <a16:creationId xmlns:a16="http://schemas.microsoft.com/office/drawing/2014/main" id="{93C76D3F-1D70-4B89-ADCB-07C5C32330B1}"/>
              </a:ext>
            </a:extLst>
          </p:cNvPr>
          <p:cNvSpPr>
            <a:spLocks noGrp="1"/>
          </p:cNvSpPr>
          <p:nvPr/>
        </p:nvSpPr>
        <p:spPr>
          <a:xfrm>
            <a:off x="8267700" y="3086100"/>
            <a:ext cx="24574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寫在模型外面的工作契約：何時觸發、要達成什麼、怎麼驗證、何時停止。</a:t>
            </a:r>
          </a:p>
        </p:txBody>
      </p:sp>
    </p:spTree>
    <p:extLst>
      <p:ext uri="{BB962C8B-B14F-4D97-AF65-F5344CB8AC3E}">
        <p14:creationId xmlns:p14="http://schemas.microsoft.com/office/powerpoint/2010/main" val="347892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BB30FBA7-A1B0-4B16-83EE-B3B2511B5AB7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LOOP SPEC ANATOMY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54750E-6449-42DD-862C-BBC0C045E6A9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你寫 loop spec 時，至少要交代這幾件事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0BDC4DAD-D702-4906-BB79-FFEAFCC7D3A0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7/38</a:t>
            </a:r>
          </a:p>
        </p:txBody>
      </p:sp>
      <p:sp>
        <p:nvSpPr>
          <p:cNvPr id="4" name="head-0">
            <a:extLst>
              <a:ext uri="{FF2B5EF4-FFF2-40B4-BE49-F238E27FC236}">
                <a16:creationId xmlns:a16="http://schemas.microsoft.com/office/drawing/2014/main" id="{70CF6EFD-FE56-4F07-B2D8-517967082550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23431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5" name="head-text-0">
            <a:extLst>
              <a:ext uri="{FF2B5EF4-FFF2-40B4-BE49-F238E27FC236}">
                <a16:creationId xmlns:a16="http://schemas.microsoft.com/office/drawing/2014/main" id="{B3F29C4B-7B01-4A31-BF03-885BE8439E59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欄位</a:t>
            </a:r>
          </a:p>
        </p:txBody>
      </p:sp>
      <p:sp>
        <p:nvSpPr>
          <p:cNvPr id="6" name="head-1">
            <a:extLst>
              <a:ext uri="{FF2B5EF4-FFF2-40B4-BE49-F238E27FC236}">
                <a16:creationId xmlns:a16="http://schemas.microsoft.com/office/drawing/2014/main" id="{C1125071-B01C-4D57-97DD-A902C3E6CEB0}"/>
              </a:ext>
            </a:extLst>
          </p:cNvPr>
          <p:cNvSpPr>
            <a:spLocks noGrp="1"/>
          </p:cNvSpPr>
          <p:nvPr/>
        </p:nvSpPr>
        <p:spPr>
          <a:xfrm>
            <a:off x="323850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7" name="head-text-1">
            <a:extLst>
              <a:ext uri="{FF2B5EF4-FFF2-40B4-BE49-F238E27FC236}">
                <a16:creationId xmlns:a16="http://schemas.microsoft.com/office/drawing/2014/main" id="{60B35E9C-FFA2-4A47-8A90-4DE80694B2BB}"/>
              </a:ext>
            </a:extLst>
          </p:cNvPr>
          <p:cNvSpPr>
            <a:spLocks noGrp="1"/>
          </p:cNvSpPr>
          <p:nvPr/>
        </p:nvSpPr>
        <p:spPr>
          <a:xfrm>
            <a:off x="337185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你要寫清楚什麼</a:t>
            </a:r>
          </a:p>
        </p:txBody>
      </p:sp>
      <p:sp>
        <p:nvSpPr>
          <p:cNvPr id="8" name="head-2">
            <a:extLst>
              <a:ext uri="{FF2B5EF4-FFF2-40B4-BE49-F238E27FC236}">
                <a16:creationId xmlns:a16="http://schemas.microsoft.com/office/drawing/2014/main" id="{7F5D3631-AF77-4287-9197-BBEDF4ED2FDC}"/>
              </a:ext>
            </a:extLst>
          </p:cNvPr>
          <p:cNvSpPr>
            <a:spLocks noGrp="1"/>
          </p:cNvSpPr>
          <p:nvPr/>
        </p:nvSpPr>
        <p:spPr>
          <a:xfrm>
            <a:off x="687705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9" name="head-text-2">
            <a:extLst>
              <a:ext uri="{FF2B5EF4-FFF2-40B4-BE49-F238E27FC236}">
                <a16:creationId xmlns:a16="http://schemas.microsoft.com/office/drawing/2014/main" id="{C5F41458-216A-4793-9F6D-E0420C83F182}"/>
              </a:ext>
            </a:extLst>
          </p:cNvPr>
          <p:cNvSpPr>
            <a:spLocks noGrp="1"/>
          </p:cNvSpPr>
          <p:nvPr/>
        </p:nvSpPr>
        <p:spPr>
          <a:xfrm>
            <a:off x="701040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生醫 summary 例子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BD3328CE-58D0-4E36-AA1C-B2A08CE3E60C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868D9111-38A8-455E-BF69-30DD154B4BF5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Trigger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7B44D3A2-467B-46E6-BB17-02E56C222A61}"/>
              </a:ext>
            </a:extLst>
          </p:cNvPr>
          <p:cNvSpPr>
            <a:spLocks noGrp="1"/>
          </p:cNvSpPr>
          <p:nvPr/>
        </p:nvSpPr>
        <p:spPr>
          <a:xfrm>
            <a:off x="323850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A86EF1EE-FCC0-47DB-8EBE-CFD3DD3ADBB7}"/>
              </a:ext>
            </a:extLst>
          </p:cNvPr>
          <p:cNvSpPr>
            <a:spLocks noGrp="1"/>
          </p:cNvSpPr>
          <p:nvPr/>
        </p:nvSpPr>
        <p:spPr>
          <a:xfrm>
            <a:off x="337185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何時啟動 loop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B0B7399A-2969-447B-AEAC-8C1DF719C912}"/>
              </a:ext>
            </a:extLst>
          </p:cNvPr>
          <p:cNvSpPr>
            <a:spLocks noGrp="1"/>
          </p:cNvSpPr>
          <p:nvPr/>
        </p:nvSpPr>
        <p:spPr>
          <a:xfrm>
            <a:off x="687705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83ABF823-036E-4F60-831E-E032BE7536E0}"/>
              </a:ext>
            </a:extLst>
          </p:cNvPr>
          <p:cNvSpPr>
            <a:spLocks noGrp="1"/>
          </p:cNvSpPr>
          <p:nvPr/>
        </p:nvSpPr>
        <p:spPr>
          <a:xfrm>
            <a:off x="701040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手動執行，或 evidence table 更新後執行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B1E81709-56F3-4F91-A87A-9F5FBBAC6568}"/>
              </a:ext>
            </a:extLst>
          </p:cNvPr>
          <p:cNvSpPr>
            <a:spLocks noGrp="1"/>
          </p:cNvSpPr>
          <p:nvPr/>
        </p:nvSpPr>
        <p:spPr>
          <a:xfrm>
            <a:off x="895350" y="30289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23F62026-E346-49CC-B01F-9108DA6A0DB0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Goal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C82B5375-19C5-410A-953F-11DCDA138F89}"/>
              </a:ext>
            </a:extLst>
          </p:cNvPr>
          <p:cNvSpPr>
            <a:spLocks noGrp="1"/>
          </p:cNvSpPr>
          <p:nvPr/>
        </p:nvSpPr>
        <p:spPr>
          <a:xfrm>
            <a:off x="323850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CDA1A20E-6927-424F-B425-11F59B137EC2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這次 loop 要交付什麼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CE25DFCC-3435-4462-95D8-B78EC422F815}"/>
              </a:ext>
            </a:extLst>
          </p:cNvPr>
          <p:cNvSpPr>
            <a:spLocks noGrp="1"/>
          </p:cNvSpPr>
          <p:nvPr/>
        </p:nvSpPr>
        <p:spPr>
          <a:xfrm>
            <a:off x="687705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659C1823-C357-48C6-AF01-042629BCCB99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產生 EGFR T790M biomedical summary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1BD61354-AE7D-400A-851D-6E89411E6024}"/>
              </a:ext>
            </a:extLst>
          </p:cNvPr>
          <p:cNvSpPr>
            <a:spLocks noGrp="1"/>
          </p:cNvSpPr>
          <p:nvPr/>
        </p:nvSpPr>
        <p:spPr>
          <a:xfrm>
            <a:off x="895350" y="37528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0CA843C8-01E8-4A4F-9053-8A791E54DA1E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Execution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6D445D27-F0E8-4C9D-9C7B-B3222B682146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8CA06DA3-BEBA-4239-ABDE-5267AD38E1E4}"/>
              </a:ext>
            </a:extLst>
          </p:cNvPr>
          <p:cNvSpPr>
            <a:spLocks noGrp="1"/>
          </p:cNvSpPr>
          <p:nvPr/>
        </p:nvSpPr>
        <p:spPr>
          <a:xfrm>
            <a:off x="337185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每輪怎麼做事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1838C6C9-C9AD-416E-A5E8-B4EC4E1AEC30}"/>
              </a:ext>
            </a:extLst>
          </p:cNvPr>
          <p:cNvSpPr>
            <a:spLocks noGrp="1"/>
          </p:cNvSpPr>
          <p:nvPr/>
        </p:nvSpPr>
        <p:spPr>
          <a:xfrm>
            <a:off x="687705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0C8855AD-9F94-4936-B00C-FCE5FFC40BFA}"/>
              </a:ext>
            </a:extLst>
          </p:cNvPr>
          <p:cNvSpPr>
            <a:spLocks noGrp="1"/>
          </p:cNvSpPr>
          <p:nvPr/>
        </p:nvSpPr>
        <p:spPr>
          <a:xfrm>
            <a:off x="701040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plan -&gt; analyze -&gt; verify -&gt; revise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F231B526-BAA2-4974-8685-B0E36EEC07DC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89F6965B-DCB6-4C77-B752-8FC835041B9F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Verification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75208BFF-2D7D-4811-BB7E-D92F80ECEE20}"/>
              </a:ext>
            </a:extLst>
          </p:cNvPr>
          <p:cNvSpPr>
            <a:spLocks noGrp="1"/>
          </p:cNvSpPr>
          <p:nvPr/>
        </p:nvSpPr>
        <p:spPr>
          <a:xfrm>
            <a:off x="323850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1A45296C-C3AE-446C-A293-422883335A34}"/>
              </a:ext>
            </a:extLst>
          </p:cNvPr>
          <p:cNvSpPr>
            <a:spLocks noGrp="1"/>
          </p:cNvSpPr>
          <p:nvPr/>
        </p:nvSpPr>
        <p:spPr>
          <a:xfrm>
            <a:off x="337185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用哪些檢查決定能不能過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0B09AAAB-7E3F-4A6C-BB3A-A64CE04C54E1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C62B9ABD-7BF6-4A4C-A8C6-0074B491CEA2}"/>
              </a:ext>
            </a:extLst>
          </p:cNvPr>
          <p:cNvSpPr>
            <a:spLocks noGrp="1"/>
          </p:cNvSpPr>
          <p:nvPr/>
        </p:nvSpPr>
        <p:spPr>
          <a:xfrm>
            <a:off x="701040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source_id、字數、overstatement、人審</a:t>
            </a:r>
          </a:p>
        </p:txBody>
      </p:sp>
    </p:spTree>
    <p:extLst>
      <p:ext uri="{BB962C8B-B14F-4D97-AF65-F5344CB8AC3E}">
        <p14:creationId xmlns:p14="http://schemas.microsoft.com/office/powerpoint/2010/main" val="1455058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A0787488-CA4B-4385-8EA8-93A28FF6B9DD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6E15DA2-B767-4416-86A1-20CF6EE1121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Plan 的目的不是裝忙，是先避免任務失控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F5DA0EA-6E3B-4F88-8151-B74EAF8B8EA9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8/38</a:t>
            </a:r>
          </a:p>
        </p:txBody>
      </p:sp>
      <p:sp>
        <p:nvSpPr>
          <p:cNvPr id="4" name="head-0">
            <a:extLst>
              <a:ext uri="{FF2B5EF4-FFF2-40B4-BE49-F238E27FC236}">
                <a16:creationId xmlns:a16="http://schemas.microsoft.com/office/drawing/2014/main" id="{CD121160-93DF-4F24-8505-DDD9871EBA97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23431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5" name="head-text-0">
            <a:extLst>
              <a:ext uri="{FF2B5EF4-FFF2-40B4-BE49-F238E27FC236}">
                <a16:creationId xmlns:a16="http://schemas.microsoft.com/office/drawing/2014/main" id="{84B68390-DF9B-4BD3-8371-7D8916A3725C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Plan 檢查點</a:t>
            </a:r>
          </a:p>
        </p:txBody>
      </p:sp>
      <p:sp>
        <p:nvSpPr>
          <p:cNvPr id="6" name="head-1">
            <a:extLst>
              <a:ext uri="{FF2B5EF4-FFF2-40B4-BE49-F238E27FC236}">
                <a16:creationId xmlns:a16="http://schemas.microsoft.com/office/drawing/2014/main" id="{FFAADB12-D942-4869-8DCE-664B2A466CFA}"/>
              </a:ext>
            </a:extLst>
          </p:cNvPr>
          <p:cNvSpPr>
            <a:spLocks noGrp="1"/>
          </p:cNvSpPr>
          <p:nvPr/>
        </p:nvSpPr>
        <p:spPr>
          <a:xfrm>
            <a:off x="323850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7" name="head-text-1">
            <a:extLst>
              <a:ext uri="{FF2B5EF4-FFF2-40B4-BE49-F238E27FC236}">
                <a16:creationId xmlns:a16="http://schemas.microsoft.com/office/drawing/2014/main" id="{66C51FE2-B22B-4875-BD15-300C92B8F487}"/>
              </a:ext>
            </a:extLst>
          </p:cNvPr>
          <p:cNvSpPr>
            <a:spLocks noGrp="1"/>
          </p:cNvSpPr>
          <p:nvPr/>
        </p:nvSpPr>
        <p:spPr>
          <a:xfrm>
            <a:off x="337185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為什麼重要</a:t>
            </a:r>
          </a:p>
        </p:txBody>
      </p:sp>
      <p:sp>
        <p:nvSpPr>
          <p:cNvPr id="8" name="head-2">
            <a:extLst>
              <a:ext uri="{FF2B5EF4-FFF2-40B4-BE49-F238E27FC236}">
                <a16:creationId xmlns:a16="http://schemas.microsoft.com/office/drawing/2014/main" id="{42BE5D00-5749-48F1-B0F4-26381FAFFB17}"/>
              </a:ext>
            </a:extLst>
          </p:cNvPr>
          <p:cNvSpPr>
            <a:spLocks noGrp="1"/>
          </p:cNvSpPr>
          <p:nvPr/>
        </p:nvSpPr>
        <p:spPr>
          <a:xfrm>
            <a:off x="687705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9" name="head-text-2">
            <a:extLst>
              <a:ext uri="{FF2B5EF4-FFF2-40B4-BE49-F238E27FC236}">
                <a16:creationId xmlns:a16="http://schemas.microsoft.com/office/drawing/2014/main" id="{6922B2AC-2777-49A5-973A-F6CBD7F7370C}"/>
              </a:ext>
            </a:extLst>
          </p:cNvPr>
          <p:cNvSpPr>
            <a:spLocks noGrp="1"/>
          </p:cNvSpPr>
          <p:nvPr/>
        </p:nvSpPr>
        <p:spPr>
          <a:xfrm>
            <a:off x="701040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範例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7CF73CD1-37F0-4F42-AB6A-5CF1BA22A068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811F10E4-2764-407C-9232-6EA501D593EF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Question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A748A194-00DE-48AA-9F5C-C4A83AEB997F}"/>
              </a:ext>
            </a:extLst>
          </p:cNvPr>
          <p:cNvSpPr>
            <a:spLocks noGrp="1"/>
          </p:cNvSpPr>
          <p:nvPr/>
        </p:nvSpPr>
        <p:spPr>
          <a:xfrm>
            <a:off x="323850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8BB8CDCF-9C5C-4E2D-9D83-3B059D749B9A}"/>
              </a:ext>
            </a:extLst>
          </p:cNvPr>
          <p:cNvSpPr>
            <a:spLocks noGrp="1"/>
          </p:cNvSpPr>
          <p:nvPr/>
        </p:nvSpPr>
        <p:spPr>
          <a:xfrm>
            <a:off x="337185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沒有明確問題，後面都會漂移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ABF5476D-879B-4F9A-BA70-BCB3FC5CCED2}"/>
              </a:ext>
            </a:extLst>
          </p:cNvPr>
          <p:cNvSpPr>
            <a:spLocks noGrp="1"/>
          </p:cNvSpPr>
          <p:nvPr/>
        </p:nvSpPr>
        <p:spPr>
          <a:xfrm>
            <a:off x="687705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86DAEEBE-3C7D-4470-95D7-8204C5C71088}"/>
              </a:ext>
            </a:extLst>
          </p:cNvPr>
          <p:cNvSpPr>
            <a:spLocks noGrp="1"/>
          </p:cNvSpPr>
          <p:nvPr/>
        </p:nvSpPr>
        <p:spPr>
          <a:xfrm>
            <a:off x="701040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T790M 與 NSCLC resistance/response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327345CB-8CC3-4E31-8005-29E645C37C7C}"/>
              </a:ext>
            </a:extLst>
          </p:cNvPr>
          <p:cNvSpPr>
            <a:spLocks noGrp="1"/>
          </p:cNvSpPr>
          <p:nvPr/>
        </p:nvSpPr>
        <p:spPr>
          <a:xfrm>
            <a:off x="895350" y="30289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89F6E4F4-52FC-4736-B707-6225719E091C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Boundary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9787FD1F-04D4-4018-A40C-F83A37A7F320}"/>
              </a:ext>
            </a:extLst>
          </p:cNvPr>
          <p:cNvSpPr>
            <a:spLocks noGrp="1"/>
          </p:cNvSpPr>
          <p:nvPr/>
        </p:nvSpPr>
        <p:spPr>
          <a:xfrm>
            <a:off x="323850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054C59C3-E568-4E65-9DAE-7516311BA7D3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先講不能回答什麼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60431112-34C7-4D4A-A178-8329DAB5FA1B}"/>
              </a:ext>
            </a:extLst>
          </p:cNvPr>
          <p:cNvSpPr>
            <a:spLocks noGrp="1"/>
          </p:cNvSpPr>
          <p:nvPr/>
        </p:nvSpPr>
        <p:spPr>
          <a:xfrm>
            <a:off x="687705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8019624A-06E5-4A87-BE08-7F92C515B32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不產生 patient-level recommendation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6050EAA4-4416-49F8-9DD9-AC57088D93AC}"/>
              </a:ext>
            </a:extLst>
          </p:cNvPr>
          <p:cNvSpPr>
            <a:spLocks noGrp="1"/>
          </p:cNvSpPr>
          <p:nvPr/>
        </p:nvSpPr>
        <p:spPr>
          <a:xfrm>
            <a:off x="895350" y="37528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4EDDEBF2-A742-44C6-A2C8-3DF08D73DE28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Output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A84654CD-2884-454B-92F8-616837FC6C3B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B55E91AB-192F-43E7-B7BF-11DF298C243C}"/>
              </a:ext>
            </a:extLst>
          </p:cNvPr>
          <p:cNvSpPr>
            <a:spLocks noGrp="1"/>
          </p:cNvSpPr>
          <p:nvPr/>
        </p:nvSpPr>
        <p:spPr>
          <a:xfrm>
            <a:off x="337185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沒有格式，無法驗證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9470A1C8-3AA3-4E28-A767-6C146F2B2947}"/>
              </a:ext>
            </a:extLst>
          </p:cNvPr>
          <p:cNvSpPr>
            <a:spLocks noGrp="1"/>
          </p:cNvSpPr>
          <p:nvPr/>
        </p:nvSpPr>
        <p:spPr>
          <a:xfrm>
            <a:off x="687705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2D45A2E3-9868-4FBB-83AB-9075057EF514}"/>
              </a:ext>
            </a:extLst>
          </p:cNvPr>
          <p:cNvSpPr>
            <a:spLocks noGrp="1"/>
          </p:cNvSpPr>
          <p:nvPr/>
        </p:nvSpPr>
        <p:spPr>
          <a:xfrm>
            <a:off x="701040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220 words + source IDs + uncertainty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8717C670-8E30-4E97-8ED7-DF275110023B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579F50F3-3525-4810-9EB1-3C0080E8795D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Done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D591D1CB-6351-4453-BF0E-66CFA52480FC}"/>
              </a:ext>
            </a:extLst>
          </p:cNvPr>
          <p:cNvSpPr>
            <a:spLocks noGrp="1"/>
          </p:cNvSpPr>
          <p:nvPr/>
        </p:nvSpPr>
        <p:spPr>
          <a:xfrm>
            <a:off x="323850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93C20170-B99F-4C24-BADA-F3B27BDD8A62}"/>
              </a:ext>
            </a:extLst>
          </p:cNvPr>
          <p:cNvSpPr>
            <a:spLocks noGrp="1"/>
          </p:cNvSpPr>
          <p:nvPr/>
        </p:nvSpPr>
        <p:spPr>
          <a:xfrm>
            <a:off x="337185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沒有完成定義就會無限修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7D6C0B4B-BF50-41EF-BFBC-0BB98DE77B17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C0E48703-BCF9-4280-ABB3-B6CF96408D74}"/>
              </a:ext>
            </a:extLst>
          </p:cNvPr>
          <p:cNvSpPr>
            <a:spLocks noGrp="1"/>
          </p:cNvSpPr>
          <p:nvPr/>
        </p:nvSpPr>
        <p:spPr>
          <a:xfrm>
            <a:off x="701040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no blocking issues or human review</a:t>
            </a:r>
          </a:p>
        </p:txBody>
      </p:sp>
    </p:spTree>
    <p:extLst>
      <p:ext uri="{BB962C8B-B14F-4D97-AF65-F5344CB8AC3E}">
        <p14:creationId xmlns:p14="http://schemas.microsoft.com/office/powerpoint/2010/main" val="1299325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075353F7-FB93-47B0-98C1-6B510E1478A4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3607BA-57D3-47CD-BEB7-AD1C739AB1FD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Retrieve 不是亂查，是拿到能支撐 claim 的 evidence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A5BBA0BD-0FF8-4423-AB1A-33D207C8E44F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9/38</a:t>
            </a:r>
          </a:p>
        </p:txBody>
      </p:sp>
      <p:sp>
        <p:nvSpPr>
          <p:cNvPr id="4" name="left-bullets">
            <a:extLst>
              <a:ext uri="{FF2B5EF4-FFF2-40B4-BE49-F238E27FC236}">
                <a16:creationId xmlns:a16="http://schemas.microsoft.com/office/drawing/2014/main" id="{83AE096F-EE11-4570-B157-9152E06F9DB0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5143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今天先用固定 evidence table，先練會檢查與引用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未來接 PubMed 時，要限制 query、max sources、資料來源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每個 source 都要有 source_id，後面 verify 才抓得到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7440ADC1-98AF-4126-9BF4-1A329B19E5D0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EEF1FF"/>
          </a:solidFill>
          <a:ln w="9525">
            <a:solidFill>
              <a:srgbClr val="0E8F88"/>
            </a:solidFill>
            <a:prstDash val="solid"/>
          </a:ln>
        </p:spPr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FB5E9FB8-D704-465C-84FF-DD71F5F34263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新手常犯錯</a:t>
            </a:r>
          </a:p>
        </p:txBody>
      </p:sp>
      <p:sp>
        <p:nvSpPr>
          <p:cNvPr id="7" name="right-bullets">
            <a:extLst>
              <a:ext uri="{FF2B5EF4-FFF2-40B4-BE49-F238E27FC236}">
                <a16:creationId xmlns:a16="http://schemas.microsoft.com/office/drawing/2014/main" id="{DD72FE7C-4A64-4E47-B1DB-F975F1D4CEA4}"/>
              </a:ext>
            </a:extLst>
          </p:cNvPr>
          <p:cNvSpPr>
            <a:spLocks noGrp="1"/>
          </p:cNvSpPr>
          <p:nvPr/>
        </p:nvSpPr>
        <p:spPr>
          <a:xfrm>
            <a:off x="7105650" y="2781300"/>
            <a:ext cx="295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每輪都重新查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把摘要當全文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 沒編號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查到什麼都塞</a:t>
            </a:r>
          </a:p>
        </p:txBody>
      </p:sp>
    </p:spTree>
    <p:extLst>
      <p:ext uri="{BB962C8B-B14F-4D97-AF65-F5344CB8AC3E}">
        <p14:creationId xmlns:p14="http://schemas.microsoft.com/office/powerpoint/2010/main" val="1798994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954218FB-5EFB-4B5B-9EEF-73045EB5BFF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190C286-E32A-47C6-A1F2-B359C56C3378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Analyze 要把 evidence 轉成小心的 claim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954051C8-475D-46F5-9C2B-B97BB1B02259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10/38</a:t>
            </a:r>
          </a:p>
        </p:txBody>
      </p:sp>
      <p:sp>
        <p:nvSpPr>
          <p:cNvPr id="4" name="left-bullets">
            <a:extLst>
              <a:ext uri="{FF2B5EF4-FFF2-40B4-BE49-F238E27FC236}">
                <a16:creationId xmlns:a16="http://schemas.microsoft.com/office/drawing/2014/main" id="{4A9FFDBB-2C1C-437C-AF74-55FEE40A678F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5143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association、mechanism、response、resistance 分開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clinical、preclinical、review 的證據等級分開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不要把『有關聯』升級成『可以用來治療』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C05BA9A4-F076-4F0E-9ED4-DE7D608C0CD0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276038BE-703A-475F-ACF2-8FAB7D058244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一句提醒</a:t>
            </a:r>
          </a:p>
        </p:txBody>
      </p:sp>
      <p:sp>
        <p:nvSpPr>
          <p:cNvPr id="7" name="right-bullets">
            <a:extLst>
              <a:ext uri="{FF2B5EF4-FFF2-40B4-BE49-F238E27FC236}">
                <a16:creationId xmlns:a16="http://schemas.microsoft.com/office/drawing/2014/main" id="{DB45C94B-712C-4BF3-A81F-69E02C96CC7D}"/>
              </a:ext>
            </a:extLst>
          </p:cNvPr>
          <p:cNvSpPr>
            <a:spLocks noGrp="1"/>
          </p:cNvSpPr>
          <p:nvPr/>
        </p:nvSpPr>
        <p:spPr>
          <a:xfrm>
            <a:off x="7105650" y="2781300"/>
            <a:ext cx="295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Biomedical summary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不是醫囑產生器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更不是自信心表演</a:t>
            </a:r>
          </a:p>
        </p:txBody>
      </p:sp>
    </p:spTree>
    <p:extLst>
      <p:ext uri="{BB962C8B-B14F-4D97-AF65-F5344CB8AC3E}">
        <p14:creationId xmlns:p14="http://schemas.microsoft.com/office/powerpoint/2010/main" val="2097467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4DA179AB-8593-44FC-97CD-308B7DE36311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144EA13-DF76-4A79-963A-73B864911A25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Verify 的工作是找錯，不是幫 draft 找台階下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4B3944F-BCE5-4A63-9C25-841AAEFD83C7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11/38</a:t>
            </a:r>
          </a:p>
        </p:txBody>
      </p:sp>
      <p:sp>
        <p:nvSpPr>
          <p:cNvPr id="4" name="left-bullets">
            <a:extLst>
              <a:ext uri="{FF2B5EF4-FFF2-40B4-BE49-F238E27FC236}">
                <a16:creationId xmlns:a16="http://schemas.microsoft.com/office/drawing/2014/main" id="{73419535-B7FC-4FCC-A957-BFE0487F5F90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5143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每個 biomedical claim 是否有 source_id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source_id 是否存在於 evidence table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claim 是否超出 evidence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是否出現 clinical recommendation 或過度推論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BFC028C9-3F00-4D9A-90C7-D3372717837A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66337D5B-174C-4563-B14F-4B1718936D06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Evaluator 心態</a:t>
            </a:r>
          </a:p>
        </p:txBody>
      </p:sp>
      <p:sp>
        <p:nvSpPr>
          <p:cNvPr id="7" name="right-bullets">
            <a:extLst>
              <a:ext uri="{FF2B5EF4-FFF2-40B4-BE49-F238E27FC236}">
                <a16:creationId xmlns:a16="http://schemas.microsoft.com/office/drawing/2014/main" id="{7FAE4041-777D-4313-B4B9-64780FC2B9A3}"/>
              </a:ext>
            </a:extLst>
          </p:cNvPr>
          <p:cNvSpPr>
            <a:spLocks noGrp="1"/>
          </p:cNvSpPr>
          <p:nvPr/>
        </p:nvSpPr>
        <p:spPr>
          <a:xfrm>
            <a:off x="7105650" y="2781300"/>
            <a:ext cx="295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不要禮貌性通過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不要只說 looks good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要輸出可修的 issues</a:t>
            </a:r>
          </a:p>
        </p:txBody>
      </p:sp>
    </p:spTree>
    <p:extLst>
      <p:ext uri="{BB962C8B-B14F-4D97-AF65-F5344CB8AC3E}">
        <p14:creationId xmlns:p14="http://schemas.microsoft.com/office/powerpoint/2010/main" val="262836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508A1AFF-FCEC-4983-96F5-86A0FC455CC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REVISE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FF2718D-61CC-4EA6-9507-96320C04F52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Revise 不是重寫一篇，而是根據 issues 修補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4E6B5FAA-464E-4511-A23F-8A249E6CB9F5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12/38</a:t>
            </a:r>
          </a:p>
        </p:txBody>
      </p:sp>
      <p:sp>
        <p:nvSpPr>
          <p:cNvPr id="4" name="left-bullets">
            <a:extLst>
              <a:ext uri="{FF2B5EF4-FFF2-40B4-BE49-F238E27FC236}">
                <a16:creationId xmlns:a16="http://schemas.microsoft.com/office/drawing/2014/main" id="{F2D5F4E1-B855-467D-B606-65E86CF86060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5143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只修 evaluator 指出的問題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刪掉 unsupported claim，比硬找理由更安全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修完要保留 source_id 和 uncertainty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D613DAB2-1639-49A3-B706-3B1854E4401E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EEF1FF"/>
          </a:solidFill>
          <a:ln w="9525">
            <a:solidFill>
              <a:srgbClr val="0E8F88"/>
            </a:solidFill>
            <a:prstDash val="solid"/>
          </a:ln>
        </p:spPr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CC0CA858-790C-44AC-9952-01D76A7ABD52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危險修法</a:t>
            </a:r>
          </a:p>
        </p:txBody>
      </p:sp>
      <p:sp>
        <p:nvSpPr>
          <p:cNvPr id="7" name="right-bullets">
            <a:extLst>
              <a:ext uri="{FF2B5EF4-FFF2-40B4-BE49-F238E27FC236}">
                <a16:creationId xmlns:a16="http://schemas.microsoft.com/office/drawing/2014/main" id="{7530AD1A-7543-4548-916C-221DAB707DDB}"/>
              </a:ext>
            </a:extLst>
          </p:cNvPr>
          <p:cNvSpPr>
            <a:spLocks noGrp="1"/>
          </p:cNvSpPr>
          <p:nvPr/>
        </p:nvSpPr>
        <p:spPr>
          <a:xfrm>
            <a:off x="7105650" y="2781300"/>
            <a:ext cx="295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改到 citation 不見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claim 改更大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為了通過而刪光內容</a:t>
            </a:r>
          </a:p>
        </p:txBody>
      </p:sp>
    </p:spTree>
    <p:extLst>
      <p:ext uri="{BB962C8B-B14F-4D97-AF65-F5344CB8AC3E}">
        <p14:creationId xmlns:p14="http://schemas.microsoft.com/office/powerpoint/2010/main" val="1035021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86A478DC-B5B9-442B-8AFA-282CDC08C82D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F3456A6-1471-4762-8912-70AC6325C85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Report 要交答案，也要交檢查紀錄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9CF7026F-8246-4ECA-ACB4-E3DD6E002F1F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13/38</a:t>
            </a:r>
          </a:p>
        </p:txBody>
      </p:sp>
      <p:sp>
        <p:nvSpPr>
          <p:cNvPr id="4" name="left-bullets">
            <a:extLst>
              <a:ext uri="{FF2B5EF4-FFF2-40B4-BE49-F238E27FC236}">
                <a16:creationId xmlns:a16="http://schemas.microsoft.com/office/drawing/2014/main" id="{52624BD6-67E7-4234-97DB-F1F7AEB1D0C4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5143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final_summary.md 是給人讀的結論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issue_log.json 是給人追查的紀錄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loop_report.json 是這次 loop 是否通過的狀態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00A36F90-99DA-4B41-B26B-77D99772F0FC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EBFC9A3E-CC83-426B-8880-17919775E6AC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最後交付</a:t>
            </a:r>
          </a:p>
        </p:txBody>
      </p:sp>
      <p:sp>
        <p:nvSpPr>
          <p:cNvPr id="7" name="right-bullets">
            <a:extLst>
              <a:ext uri="{FF2B5EF4-FFF2-40B4-BE49-F238E27FC236}">
                <a16:creationId xmlns:a16="http://schemas.microsoft.com/office/drawing/2014/main" id="{3E4C5945-AABF-48FB-AB7D-7E2753A874A1}"/>
              </a:ext>
            </a:extLst>
          </p:cNvPr>
          <p:cNvSpPr>
            <a:spLocks noGrp="1"/>
          </p:cNvSpPr>
          <p:nvPr/>
        </p:nvSpPr>
        <p:spPr>
          <a:xfrm>
            <a:off x="7105650" y="2781300"/>
            <a:ext cx="295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summary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sources used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iterations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human review flag</a:t>
            </a:r>
          </a:p>
        </p:txBody>
      </p:sp>
    </p:spTree>
    <p:extLst>
      <p:ext uri="{BB962C8B-B14F-4D97-AF65-F5344CB8AC3E}">
        <p14:creationId xmlns:p14="http://schemas.microsoft.com/office/powerpoint/2010/main" val="1555590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562E4E3F-90B6-40A4-9FF2-C8A18150F36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PART 2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29415B15-4426-465C-9911-E741605D70D7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9525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把寫作者和挑錯者分開</a:t>
            </a:r>
          </a:p>
        </p:txBody>
      </p:sp>
      <p:sp>
        <p:nvSpPr>
          <p:cNvPr id="3" name="section-subtitle">
            <a:extLst>
              <a:ext uri="{FF2B5EF4-FFF2-40B4-BE49-F238E27FC236}">
                <a16:creationId xmlns:a16="http://schemas.microsoft.com/office/drawing/2014/main" id="{88E98B36-2038-4CB5-AE6D-6E722C21512E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你可以用同一個模型扮演兩個角色，但 prompt、任務和輸出格式要分開，否則它很容易自己幫自己蓋章。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AFA78EB4-9980-46E3-B0C0-A464A28B7CE3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14/38</a:t>
            </a:r>
          </a:p>
        </p:txBody>
      </p:sp>
    </p:spTree>
    <p:extLst>
      <p:ext uri="{BB962C8B-B14F-4D97-AF65-F5344CB8AC3E}">
        <p14:creationId xmlns:p14="http://schemas.microsoft.com/office/powerpoint/2010/main" val="1200155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37B16578-5179-45A6-A621-E5064B4CF99F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GENERATOR VS EVALUATOR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B4CFD9A-5478-4BCB-A07A-52FB63370FF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寫的人和挑錯的人，不應該是同一種心態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AE92E896-5C10-44C0-BA80-587B2A8CD87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15/38</a:t>
            </a:r>
          </a:p>
        </p:txBody>
      </p:sp>
      <p:sp>
        <p:nvSpPr>
          <p:cNvPr id="4" name="left">
            <a:extLst>
              <a:ext uri="{FF2B5EF4-FFF2-40B4-BE49-F238E27FC236}">
                <a16:creationId xmlns:a16="http://schemas.microsoft.com/office/drawing/2014/main" id="{63CCBFD5-39AE-4C5F-A11E-4AE44D68F5A9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4762500" cy="3143250"/>
          </a:xfrm>
          <a:prstGeom prst="roundRect">
            <a:avLst>
              <a:gd name="adj" fmla="val 2424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</p:sp>
      <p:sp>
        <p:nvSpPr>
          <p:cNvPr id="5" name="left-head">
            <a:extLst>
              <a:ext uri="{FF2B5EF4-FFF2-40B4-BE49-F238E27FC236}">
                <a16:creationId xmlns:a16="http://schemas.microsoft.com/office/drawing/2014/main" id="{323CAD98-FFD3-42BB-8CBD-EBF33205BCFF}"/>
              </a:ext>
            </a:extLst>
          </p:cNvPr>
          <p:cNvSpPr>
            <a:spLocks noGrp="1"/>
          </p:cNvSpPr>
          <p:nvPr/>
        </p:nvSpPr>
        <p:spPr>
          <a:xfrm>
            <a:off x="1257300" y="21717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Generator</a:t>
            </a:r>
          </a:p>
        </p:txBody>
      </p:sp>
      <p:sp>
        <p:nvSpPr>
          <p:cNvPr id="6" name="left-list">
            <a:extLst>
              <a:ext uri="{FF2B5EF4-FFF2-40B4-BE49-F238E27FC236}">
                <a16:creationId xmlns:a16="http://schemas.microsoft.com/office/drawing/2014/main" id="{B41B5866-C4E5-43F8-A3AC-D0278A4FE42A}"/>
              </a:ext>
            </a:extLst>
          </p:cNvPr>
          <p:cNvSpPr>
            <a:spLocks noGrp="1"/>
          </p:cNvSpPr>
          <p:nvPr/>
        </p:nvSpPr>
        <p:spPr>
          <a:xfrm>
            <a:off x="1314450" y="2838450"/>
            <a:ext cx="3714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根據 evidence 產生 summary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把資訊整理得可讀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必須引用 source_id</a:t>
            </a:r>
          </a:p>
        </p:txBody>
      </p:sp>
      <p:sp>
        <p:nvSpPr>
          <p:cNvPr id="7" name="right">
            <a:extLst>
              <a:ext uri="{FF2B5EF4-FFF2-40B4-BE49-F238E27FC236}">
                <a16:creationId xmlns:a16="http://schemas.microsoft.com/office/drawing/2014/main" id="{166CDAB5-2656-4E93-A5A7-F85E31595A28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762500" cy="3143250"/>
          </a:xfrm>
          <a:prstGeom prst="roundRect">
            <a:avLst>
              <a:gd name="adj" fmla="val 2424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8" name="right-head">
            <a:extLst>
              <a:ext uri="{FF2B5EF4-FFF2-40B4-BE49-F238E27FC236}">
                <a16:creationId xmlns:a16="http://schemas.microsoft.com/office/drawing/2014/main" id="{D5507E90-9C79-45CA-86C5-E976D0FFD138}"/>
              </a:ext>
            </a:extLst>
          </p:cNvPr>
          <p:cNvSpPr>
            <a:spLocks noGrp="1"/>
          </p:cNvSpPr>
          <p:nvPr/>
        </p:nvSpPr>
        <p:spPr>
          <a:xfrm>
            <a:off x="6781800" y="21717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Evaluator</a:t>
            </a:r>
          </a:p>
        </p:txBody>
      </p:sp>
      <p:sp>
        <p:nvSpPr>
          <p:cNvPr id="9" name="right-list">
            <a:extLst>
              <a:ext uri="{FF2B5EF4-FFF2-40B4-BE49-F238E27FC236}">
                <a16:creationId xmlns:a16="http://schemas.microsoft.com/office/drawing/2014/main" id="{F9D527C6-ECF1-449A-A5A2-BFD9173D5022}"/>
              </a:ext>
            </a:extLst>
          </p:cNvPr>
          <p:cNvSpPr>
            <a:spLocks noGrp="1"/>
          </p:cNvSpPr>
          <p:nvPr/>
        </p:nvSpPr>
        <p:spPr>
          <a:xfrm>
            <a:off x="6838950" y="2838450"/>
            <a:ext cx="3714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找 unsupported claim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檢查 missing source_id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標出 overstatement 和 human review</a:t>
            </a:r>
          </a:p>
        </p:txBody>
      </p:sp>
    </p:spTree>
    <p:extLst>
      <p:ext uri="{BB962C8B-B14F-4D97-AF65-F5344CB8AC3E}">
        <p14:creationId xmlns:p14="http://schemas.microsoft.com/office/powerpoint/2010/main" val="2029175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F5566D30-36D8-48F8-9DAD-C558204A776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GENERATOR PROMPT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BF4BD8F-7E5B-4850-B6F9-EB5D4A660D93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Generator prompt 要限制來源和輸出格式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B48D4F73-5D58-4F9B-95FE-D499BD743F7B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16/38</a:t>
            </a:r>
          </a:p>
        </p:txBody>
      </p:sp>
      <p:sp>
        <p:nvSpPr>
          <p:cNvPr id="4" name="code-box">
            <a:extLst>
              <a:ext uri="{FF2B5EF4-FFF2-40B4-BE49-F238E27FC236}">
                <a16:creationId xmlns:a16="http://schemas.microsoft.com/office/drawing/2014/main" id="{E91460D7-566F-48DB-9E27-535DDD9B02FC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6019800" cy="3695700"/>
          </a:xfrm>
          <a:prstGeom prst="roundRect">
            <a:avLst>
              <a:gd name="adj" fmla="val 2062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>
              <a:ext uri="{FF2B5EF4-FFF2-40B4-BE49-F238E27FC236}">
                <a16:creationId xmlns:a16="http://schemas.microsoft.com/office/drawing/2014/main" id="{5981A5F5-AA7D-40B5-8951-F29C174AA5BD}"/>
              </a:ext>
            </a:extLst>
          </p:cNvPr>
          <p:cNvSpPr>
            <a:spLocks noGrp="1"/>
          </p:cNvSpPr>
          <p:nvPr/>
        </p:nvSpPr>
        <p:spPr>
          <a:xfrm>
            <a:off x="1047750" y="1895475"/>
            <a:ext cx="5676900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You are generating a biomedical summary.</a:t>
            </a:r>
          </a:p>
          <a:p>
            <a:endParaRPr sz="9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Use only the provided evidence table.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Every biomedical claim must cite source_id like [S1].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Do not make patient-level treatment recommendations.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Mention uncertainty for preclinical or indirect evidence.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Output &lt;= 220 words.</a:t>
            </a:r>
          </a:p>
          <a:p>
            <a:endParaRPr sz="9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Question: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{{question}}</a:t>
            </a:r>
          </a:p>
          <a:p>
            <a:endParaRPr sz="9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Evidence: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{{evidence_table}}</a:t>
            </a:r>
          </a:p>
        </p:txBody>
      </p:sp>
      <p:sp>
        <p:nvSpPr>
          <p:cNvPr id="6" name="explain">
            <a:extLst>
              <a:ext uri="{FF2B5EF4-FFF2-40B4-BE49-F238E27FC236}">
                <a16:creationId xmlns:a16="http://schemas.microsoft.com/office/drawing/2014/main" id="{2DB03796-B2D6-4B88-AE77-7B28162F4B57}"/>
              </a:ext>
            </a:extLst>
          </p:cNvPr>
          <p:cNvSpPr>
            <a:spLocks noGrp="1"/>
          </p:cNvSpPr>
          <p:nvPr/>
        </p:nvSpPr>
        <p:spPr>
          <a:xfrm>
            <a:off x="7296150" y="1943100"/>
            <a:ext cx="3276600" cy="3048000"/>
          </a:xfrm>
          <a:prstGeom prst="roundRect">
            <a:avLst>
              <a:gd name="adj" fmla="val 2500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</p:sp>
      <p:sp>
        <p:nvSpPr>
          <p:cNvPr id="7" name="explain-title">
            <a:extLst>
              <a:ext uri="{FF2B5EF4-FFF2-40B4-BE49-F238E27FC236}">
                <a16:creationId xmlns:a16="http://schemas.microsoft.com/office/drawing/2014/main" id="{6BFF7838-981B-4FD0-9C90-43929ACBE6C6}"/>
              </a:ext>
            </a:extLst>
          </p:cNvPr>
          <p:cNvSpPr>
            <a:spLocks noGrp="1"/>
          </p:cNvSpPr>
          <p:nvPr/>
        </p:nvSpPr>
        <p:spPr>
          <a:xfrm>
            <a:off x="7600950" y="2266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你要看懂</a:t>
            </a:r>
          </a:p>
        </p:txBody>
      </p:sp>
      <p:sp>
        <p:nvSpPr>
          <p:cNvPr id="8" name="explain-list">
            <a:extLst>
              <a:ext uri="{FF2B5EF4-FFF2-40B4-BE49-F238E27FC236}">
                <a16:creationId xmlns:a16="http://schemas.microsoft.com/office/drawing/2014/main" id="{D2C57080-B43A-4A58-8FB8-6BCE9053CE05}"/>
              </a:ext>
            </a:extLst>
          </p:cNvPr>
          <p:cNvSpPr>
            <a:spLocks noGrp="1"/>
          </p:cNvSpPr>
          <p:nvPr/>
        </p:nvSpPr>
        <p:spPr>
          <a:xfrm>
            <a:off x="7639050" y="2895600"/>
            <a:ext cx="2571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先限制資料來源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明確禁止臨床建議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 source_id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限制長度避免發散</a:t>
            </a:r>
          </a:p>
        </p:txBody>
      </p:sp>
    </p:spTree>
    <p:extLst>
      <p:ext uri="{BB962C8B-B14F-4D97-AF65-F5344CB8AC3E}">
        <p14:creationId xmlns:p14="http://schemas.microsoft.com/office/powerpoint/2010/main" val="1436674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B552350A-2AFF-413B-BBF5-079882C93D50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EVALUATOR PROMPT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78420F-5647-4693-8041-131E206A915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Evaluator prompt 要輸出結構化 issue，不要只聊天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64AC05A6-3447-47E3-90DF-8B6A2ED7E14F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17/38</a:t>
            </a:r>
          </a:p>
        </p:txBody>
      </p:sp>
      <p:sp>
        <p:nvSpPr>
          <p:cNvPr id="4" name="code-box">
            <a:extLst>
              <a:ext uri="{FF2B5EF4-FFF2-40B4-BE49-F238E27FC236}">
                <a16:creationId xmlns:a16="http://schemas.microsoft.com/office/drawing/2014/main" id="{887E55D9-8046-4375-9FC8-6E9D546CA257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6019800" cy="3695700"/>
          </a:xfrm>
          <a:prstGeom prst="roundRect">
            <a:avLst>
              <a:gd name="adj" fmla="val 2062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>
              <a:ext uri="{FF2B5EF4-FFF2-40B4-BE49-F238E27FC236}">
                <a16:creationId xmlns:a16="http://schemas.microsoft.com/office/drawing/2014/main" id="{D2FBA3FF-8E78-4B16-864A-6A850258625D}"/>
              </a:ext>
            </a:extLst>
          </p:cNvPr>
          <p:cNvSpPr>
            <a:spLocks noGrp="1"/>
          </p:cNvSpPr>
          <p:nvPr/>
        </p:nvSpPr>
        <p:spPr>
          <a:xfrm>
            <a:off x="1047750" y="1895475"/>
            <a:ext cx="5676900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You are evaluating a biomedical summary.</a:t>
            </a:r>
          </a:p>
          <a:p>
            <a:endParaRPr sz="863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Check: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unsupported biomedical claims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missing or invalid source_id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overstatement beyond evidence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clinical recommendation language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missing uncertainty</a:t>
            </a:r>
          </a:p>
          <a:p>
            <a:endParaRPr sz="863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Return JSON issues: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[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{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"issue_type": "...",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"severity": "high|medium|low",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"sentence": "...",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"suggested_fix": "..."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}</a:t>
            </a:r>
          </a:p>
          <a:p>
            <a:pPr algn="l">
              <a:lnSpc>
                <a:spcPct val="106000"/>
              </a:lnSpc>
              <a:buNone/>
              <a:defRPr sz="86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]</a:t>
            </a:r>
          </a:p>
        </p:txBody>
      </p:sp>
      <p:sp>
        <p:nvSpPr>
          <p:cNvPr id="6" name="explain">
            <a:extLst>
              <a:ext uri="{FF2B5EF4-FFF2-40B4-BE49-F238E27FC236}">
                <a16:creationId xmlns:a16="http://schemas.microsoft.com/office/drawing/2014/main" id="{435865F2-7CAA-4445-8238-9D6C1E3AF65B}"/>
              </a:ext>
            </a:extLst>
          </p:cNvPr>
          <p:cNvSpPr>
            <a:spLocks noGrp="1"/>
          </p:cNvSpPr>
          <p:nvPr/>
        </p:nvSpPr>
        <p:spPr>
          <a:xfrm>
            <a:off x="7296150" y="1943100"/>
            <a:ext cx="3276600" cy="3048000"/>
          </a:xfrm>
          <a:prstGeom prst="roundRect">
            <a:avLst>
              <a:gd name="adj" fmla="val 2500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</p:sp>
      <p:sp>
        <p:nvSpPr>
          <p:cNvPr id="7" name="explain-title">
            <a:extLst>
              <a:ext uri="{FF2B5EF4-FFF2-40B4-BE49-F238E27FC236}">
                <a16:creationId xmlns:a16="http://schemas.microsoft.com/office/drawing/2014/main" id="{0BE2936B-365F-4644-A71E-2F4619707A15}"/>
              </a:ext>
            </a:extLst>
          </p:cNvPr>
          <p:cNvSpPr>
            <a:spLocks noGrp="1"/>
          </p:cNvSpPr>
          <p:nvPr/>
        </p:nvSpPr>
        <p:spPr>
          <a:xfrm>
            <a:off x="7600950" y="2266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你要看懂</a:t>
            </a:r>
          </a:p>
        </p:txBody>
      </p:sp>
      <p:sp>
        <p:nvSpPr>
          <p:cNvPr id="8" name="explain-list">
            <a:extLst>
              <a:ext uri="{FF2B5EF4-FFF2-40B4-BE49-F238E27FC236}">
                <a16:creationId xmlns:a16="http://schemas.microsoft.com/office/drawing/2014/main" id="{8FAC8538-47E0-40F8-B619-5DBB4B574CE7}"/>
              </a:ext>
            </a:extLst>
          </p:cNvPr>
          <p:cNvSpPr>
            <a:spLocks noGrp="1"/>
          </p:cNvSpPr>
          <p:nvPr/>
        </p:nvSpPr>
        <p:spPr>
          <a:xfrm>
            <a:off x="7639050" y="2895600"/>
            <a:ext cx="2571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列出檢查項目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輸出 JSON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issue 要能被 revise 使用</a:t>
            </a:r>
          </a:p>
        </p:txBody>
      </p:sp>
    </p:spTree>
    <p:extLst>
      <p:ext uri="{BB962C8B-B14F-4D97-AF65-F5344CB8AC3E}">
        <p14:creationId xmlns:p14="http://schemas.microsoft.com/office/powerpoint/2010/main" val="1302776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B10ADDDE-60BD-4A19-AEA6-103212A003A0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ISSUE SCHEMA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E123AD9-8533-4E6E-A0AE-28CACCE0E323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好的 evaluator 會留下可修的錯誤清單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30B16093-0A29-4E24-B8EA-F8CD946AECBF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18/38</a:t>
            </a:r>
          </a:p>
        </p:txBody>
      </p:sp>
      <p:sp>
        <p:nvSpPr>
          <p:cNvPr id="4" name="code-box">
            <a:extLst>
              <a:ext uri="{FF2B5EF4-FFF2-40B4-BE49-F238E27FC236}">
                <a16:creationId xmlns:a16="http://schemas.microsoft.com/office/drawing/2014/main" id="{7E61307F-CE99-4581-AD1C-684A3AF091F3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6019800" cy="3695700"/>
          </a:xfrm>
          <a:prstGeom prst="roundRect">
            <a:avLst>
              <a:gd name="adj" fmla="val 2062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>
              <a:ext uri="{FF2B5EF4-FFF2-40B4-BE49-F238E27FC236}">
                <a16:creationId xmlns:a16="http://schemas.microsoft.com/office/drawing/2014/main" id="{1FEC5B53-0F0C-4051-91FB-785846DCC2EB}"/>
              </a:ext>
            </a:extLst>
          </p:cNvPr>
          <p:cNvSpPr>
            <a:spLocks noGrp="1"/>
          </p:cNvSpPr>
          <p:nvPr/>
        </p:nvSpPr>
        <p:spPr>
          <a:xfrm>
            <a:off x="1047750" y="1895475"/>
            <a:ext cx="5676900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"issue_type": "unsupported_claim",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"severity": "high",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"sentence": "Osimertinib is effective in all EGFR-mutant lung cancers.",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"explanation": "Evidence only discusses T790M-positive NSCLC.",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"suggested_fix": "Limit the claim to T790M-positive NSCLC and cite [S2].",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"needs_human_review": false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6" name="explain">
            <a:extLst>
              <a:ext uri="{FF2B5EF4-FFF2-40B4-BE49-F238E27FC236}">
                <a16:creationId xmlns:a16="http://schemas.microsoft.com/office/drawing/2014/main" id="{3657D9AC-9143-43DC-9F5E-AB816948ED7E}"/>
              </a:ext>
            </a:extLst>
          </p:cNvPr>
          <p:cNvSpPr>
            <a:spLocks noGrp="1"/>
          </p:cNvSpPr>
          <p:nvPr/>
        </p:nvSpPr>
        <p:spPr>
          <a:xfrm>
            <a:off x="7296150" y="1943100"/>
            <a:ext cx="3276600" cy="3048000"/>
          </a:xfrm>
          <a:prstGeom prst="roundRect">
            <a:avLst>
              <a:gd name="adj" fmla="val 2500"/>
            </a:avLst>
          </a:prstGeom>
          <a:solidFill>
            <a:srgbClr val="EAF8F6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7" name="explain-title">
            <a:extLst>
              <a:ext uri="{FF2B5EF4-FFF2-40B4-BE49-F238E27FC236}">
                <a16:creationId xmlns:a16="http://schemas.microsoft.com/office/drawing/2014/main" id="{4CA00E71-A89A-4523-928D-9196F28E839C}"/>
              </a:ext>
            </a:extLst>
          </p:cNvPr>
          <p:cNvSpPr>
            <a:spLocks noGrp="1"/>
          </p:cNvSpPr>
          <p:nvPr/>
        </p:nvSpPr>
        <p:spPr>
          <a:xfrm>
            <a:off x="7600950" y="2266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你要看懂</a:t>
            </a:r>
          </a:p>
        </p:txBody>
      </p:sp>
      <p:sp>
        <p:nvSpPr>
          <p:cNvPr id="8" name="explain-list">
            <a:extLst>
              <a:ext uri="{FF2B5EF4-FFF2-40B4-BE49-F238E27FC236}">
                <a16:creationId xmlns:a16="http://schemas.microsoft.com/office/drawing/2014/main" id="{C8DB0F74-6595-4D90-A00F-25E709186BD2}"/>
              </a:ext>
            </a:extLst>
          </p:cNvPr>
          <p:cNvSpPr>
            <a:spLocks noGrp="1"/>
          </p:cNvSpPr>
          <p:nvPr/>
        </p:nvSpPr>
        <p:spPr>
          <a:xfrm>
            <a:off x="7639050" y="2895600"/>
            <a:ext cx="2571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severity 決定是否阻擋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sentence 讓人定位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suggested_fix 讓 revise 可執行</a:t>
            </a:r>
          </a:p>
        </p:txBody>
      </p:sp>
    </p:spTree>
    <p:extLst>
      <p:ext uri="{BB962C8B-B14F-4D97-AF65-F5344CB8AC3E}">
        <p14:creationId xmlns:p14="http://schemas.microsoft.com/office/powerpoint/2010/main" val="10813180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CB21A030-24C5-47EE-AEA1-96A5E686DA14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PART 3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E635E7B8-DA65-4FE1-9826-810BDE2EB2E7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9525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不要把 self-check 當成真正驗證</a:t>
            </a:r>
          </a:p>
        </p:txBody>
      </p:sp>
      <p:sp>
        <p:nvSpPr>
          <p:cNvPr id="3" name="section-subtitle">
            <a:extLst>
              <a:ext uri="{FF2B5EF4-FFF2-40B4-BE49-F238E27FC236}">
                <a16:creationId xmlns:a16="http://schemas.microsoft.com/office/drawing/2014/main" id="{C558D588-9710-4F86-AFB7-58A9B7AD490D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自我檢查可以降低風險，但不能取代外部規則檢查，更不能取代高風險的人工審查。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A8334683-9EF1-4CD3-89AC-3D20AE92AE96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19/38</a:t>
            </a:r>
          </a:p>
        </p:txBody>
      </p:sp>
    </p:spTree>
    <p:extLst>
      <p:ext uri="{BB962C8B-B14F-4D97-AF65-F5344CB8AC3E}">
        <p14:creationId xmlns:p14="http://schemas.microsoft.com/office/powerpoint/2010/main" val="811226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D7900118-D2BA-4B0F-818A-E550437FD7F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VERIFICATION LADDER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CED5AB6-F850-4BAB-8ABB-DE12FFC3111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不要把每種檢查都叫 AI 自我檢查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CEE5A26D-2349-479D-884B-BA7D7865649C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20/38</a:t>
            </a:r>
          </a:p>
        </p:txBody>
      </p:sp>
      <p:sp>
        <p:nvSpPr>
          <p:cNvPr id="4" name="head-0">
            <a:extLst>
              <a:ext uri="{FF2B5EF4-FFF2-40B4-BE49-F238E27FC236}">
                <a16:creationId xmlns:a16="http://schemas.microsoft.com/office/drawing/2014/main" id="{1010F927-A266-4F68-88A8-4A7467AD7FED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2343150" cy="457200"/>
          </a:xfrm>
          <a:prstGeom prst="roundRect">
            <a:avLst>
              <a:gd name="adj" fmla="val 16667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</p:sp>
      <p:sp>
        <p:nvSpPr>
          <p:cNvPr id="5" name="head-text-0">
            <a:extLst>
              <a:ext uri="{FF2B5EF4-FFF2-40B4-BE49-F238E27FC236}">
                <a16:creationId xmlns:a16="http://schemas.microsoft.com/office/drawing/2014/main" id="{D235AE57-2C9C-4348-B9E9-70873BCD437A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層級</a:t>
            </a:r>
          </a:p>
        </p:txBody>
      </p:sp>
      <p:sp>
        <p:nvSpPr>
          <p:cNvPr id="6" name="head-1">
            <a:extLst>
              <a:ext uri="{FF2B5EF4-FFF2-40B4-BE49-F238E27FC236}">
                <a16:creationId xmlns:a16="http://schemas.microsoft.com/office/drawing/2014/main" id="{554CBB81-52B7-485E-B243-8B137020EA14}"/>
              </a:ext>
            </a:extLst>
          </p:cNvPr>
          <p:cNvSpPr>
            <a:spLocks noGrp="1"/>
          </p:cNvSpPr>
          <p:nvPr/>
        </p:nvSpPr>
        <p:spPr>
          <a:xfrm>
            <a:off x="323850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</p:sp>
      <p:sp>
        <p:nvSpPr>
          <p:cNvPr id="7" name="head-text-1">
            <a:extLst>
              <a:ext uri="{FF2B5EF4-FFF2-40B4-BE49-F238E27FC236}">
                <a16:creationId xmlns:a16="http://schemas.microsoft.com/office/drawing/2014/main" id="{E6A11F89-1C31-453E-971D-D0444A30CD6D}"/>
              </a:ext>
            </a:extLst>
          </p:cNvPr>
          <p:cNvSpPr>
            <a:spLocks noGrp="1"/>
          </p:cNvSpPr>
          <p:nvPr/>
        </p:nvSpPr>
        <p:spPr>
          <a:xfrm>
            <a:off x="337185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適合檢查什麼</a:t>
            </a:r>
          </a:p>
        </p:txBody>
      </p:sp>
      <p:sp>
        <p:nvSpPr>
          <p:cNvPr id="8" name="head-2">
            <a:extLst>
              <a:ext uri="{FF2B5EF4-FFF2-40B4-BE49-F238E27FC236}">
                <a16:creationId xmlns:a16="http://schemas.microsoft.com/office/drawing/2014/main" id="{86A93E77-BF67-41B5-B120-95A327CADC6A}"/>
              </a:ext>
            </a:extLst>
          </p:cNvPr>
          <p:cNvSpPr>
            <a:spLocks noGrp="1"/>
          </p:cNvSpPr>
          <p:nvPr/>
        </p:nvSpPr>
        <p:spPr>
          <a:xfrm>
            <a:off x="687705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</p:sp>
      <p:sp>
        <p:nvSpPr>
          <p:cNvPr id="9" name="head-text-2">
            <a:extLst>
              <a:ext uri="{FF2B5EF4-FFF2-40B4-BE49-F238E27FC236}">
                <a16:creationId xmlns:a16="http://schemas.microsoft.com/office/drawing/2014/main" id="{4FD71756-E832-49D9-9337-82E026C41056}"/>
              </a:ext>
            </a:extLst>
          </p:cNvPr>
          <p:cNvSpPr>
            <a:spLocks noGrp="1"/>
          </p:cNvSpPr>
          <p:nvPr/>
        </p:nvSpPr>
        <p:spPr>
          <a:xfrm>
            <a:off x="701040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生醫例子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7454BC02-83C8-4856-AE5E-AE1DCF52870A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E234029E-B1D9-472D-885C-C56D50C350CE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L1 deterministic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E247A337-E39D-489F-9B15-19A23F5462E3}"/>
              </a:ext>
            </a:extLst>
          </p:cNvPr>
          <p:cNvSpPr>
            <a:spLocks noGrp="1"/>
          </p:cNvSpPr>
          <p:nvPr/>
        </p:nvSpPr>
        <p:spPr>
          <a:xfrm>
            <a:off x="323850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1BC46777-47C5-4A47-876F-3386CB68A30C}"/>
              </a:ext>
            </a:extLst>
          </p:cNvPr>
          <p:cNvSpPr>
            <a:spLocks noGrp="1"/>
          </p:cNvSpPr>
          <p:nvPr/>
        </p:nvSpPr>
        <p:spPr>
          <a:xfrm>
            <a:off x="337185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不需要模型判斷的硬規則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70FFC9BC-3876-42AB-BACA-B4B37B0F74DD}"/>
              </a:ext>
            </a:extLst>
          </p:cNvPr>
          <p:cNvSpPr>
            <a:spLocks noGrp="1"/>
          </p:cNvSpPr>
          <p:nvPr/>
        </p:nvSpPr>
        <p:spPr>
          <a:xfrm>
            <a:off x="687705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D81DF405-298F-4493-A2B8-91C036181DA8}"/>
              </a:ext>
            </a:extLst>
          </p:cNvPr>
          <p:cNvSpPr>
            <a:spLocks noGrp="1"/>
          </p:cNvSpPr>
          <p:nvPr/>
        </p:nvSpPr>
        <p:spPr>
          <a:xfrm>
            <a:off x="701040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source_id 是否存在、字數是否超標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39B1C062-97AD-47C9-93BE-E9259A0F656B}"/>
              </a:ext>
            </a:extLst>
          </p:cNvPr>
          <p:cNvSpPr>
            <a:spLocks noGrp="1"/>
          </p:cNvSpPr>
          <p:nvPr/>
        </p:nvSpPr>
        <p:spPr>
          <a:xfrm>
            <a:off x="895350" y="30289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FC7B5406-3073-4B95-BC43-8D2C88C6D554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L2 rule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B3AA13E9-FD3E-4D9E-B632-18518D69E939}"/>
              </a:ext>
            </a:extLst>
          </p:cNvPr>
          <p:cNvSpPr>
            <a:spLocks noGrp="1"/>
          </p:cNvSpPr>
          <p:nvPr/>
        </p:nvSpPr>
        <p:spPr>
          <a:xfrm>
            <a:off x="323850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7CC425E5-D25D-44E8-BD6B-A79A6667AAF7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明確可列出的限制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CD06E82A-72DE-46D6-9FF4-E4F5598D5479}"/>
              </a:ext>
            </a:extLst>
          </p:cNvPr>
          <p:cNvSpPr>
            <a:spLocks noGrp="1"/>
          </p:cNvSpPr>
          <p:nvPr/>
        </p:nvSpPr>
        <p:spPr>
          <a:xfrm>
            <a:off x="687705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4FC6ECEF-2A14-42F8-885F-774F2AB02AAD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禁止 patient-level treatment recommendation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6806B463-CEF1-4923-AF0C-3FF15DFA3709}"/>
              </a:ext>
            </a:extLst>
          </p:cNvPr>
          <p:cNvSpPr>
            <a:spLocks noGrp="1"/>
          </p:cNvSpPr>
          <p:nvPr/>
        </p:nvSpPr>
        <p:spPr>
          <a:xfrm>
            <a:off x="895350" y="37528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C45636F5-419E-4251-B1B8-9848432A08A2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L3 field truth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BE5641F8-B59A-46CE-9027-621C482A1D20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C995F68F-B8D4-4712-8F99-A4A7C97BADAF}"/>
              </a:ext>
            </a:extLst>
          </p:cNvPr>
          <p:cNvSpPr>
            <a:spLocks noGrp="1"/>
          </p:cNvSpPr>
          <p:nvPr/>
        </p:nvSpPr>
        <p:spPr>
          <a:xfrm>
            <a:off x="337185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外部資料庫或真實來源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865E30D9-96F7-4569-9C2A-321248C292D0}"/>
              </a:ext>
            </a:extLst>
          </p:cNvPr>
          <p:cNvSpPr>
            <a:spLocks noGrp="1"/>
          </p:cNvSpPr>
          <p:nvPr/>
        </p:nvSpPr>
        <p:spPr>
          <a:xfrm>
            <a:off x="687705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56DF6B47-56F6-4706-9BCF-BBC988AA8AE5}"/>
              </a:ext>
            </a:extLst>
          </p:cNvPr>
          <p:cNvSpPr>
            <a:spLocks noGrp="1"/>
          </p:cNvSpPr>
          <p:nvPr/>
        </p:nvSpPr>
        <p:spPr>
          <a:xfrm>
            <a:off x="701040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PMID/DOI、HGNC gene symbol、資料庫版本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F3ACABC8-4F1B-4BDD-99A6-290EEDACCED4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841A50BD-15B1-42C5-B57D-361916AE56C0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L4/L5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C7DF34BF-39C5-4E8C-AA27-92A3CC267789}"/>
              </a:ext>
            </a:extLst>
          </p:cNvPr>
          <p:cNvSpPr>
            <a:spLocks noGrp="1"/>
          </p:cNvSpPr>
          <p:nvPr/>
        </p:nvSpPr>
        <p:spPr>
          <a:xfrm>
            <a:off x="323850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79A8CA38-4D3D-4549-AB6C-8BBBC309FC8B}"/>
              </a:ext>
            </a:extLst>
          </p:cNvPr>
          <p:cNvSpPr>
            <a:spLocks noGrp="1"/>
          </p:cNvSpPr>
          <p:nvPr/>
        </p:nvSpPr>
        <p:spPr>
          <a:xfrm>
            <a:off x="337185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語意判斷與人工關卡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036D578B-D746-4684-BC3E-C38EF016406D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EE7616D1-AF04-4D1A-8083-69BC9BA28499}"/>
              </a:ext>
            </a:extLst>
          </p:cNvPr>
          <p:cNvSpPr>
            <a:spLocks noGrp="1"/>
          </p:cNvSpPr>
          <p:nvPr/>
        </p:nvSpPr>
        <p:spPr>
          <a:xfrm>
            <a:off x="701040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overstatement 先由 evaluator 標記，高風險交給人</a:t>
            </a:r>
          </a:p>
        </p:txBody>
      </p:sp>
    </p:spTree>
    <p:extLst>
      <p:ext uri="{BB962C8B-B14F-4D97-AF65-F5344CB8AC3E}">
        <p14:creationId xmlns:p14="http://schemas.microsoft.com/office/powerpoint/2010/main" val="1350458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C17700B2-F66C-404F-90AB-BCF249E700C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PROGRAMMATIC CHECKS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F797F7C-EF13-401E-A913-E827DA625983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把無聊但重要的錯誤交給程式抓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CC5DA523-3F8E-45E2-8CC3-896B60DD93BA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21/38</a:t>
            </a:r>
          </a:p>
        </p:txBody>
      </p:sp>
      <p:sp>
        <p:nvSpPr>
          <p:cNvPr id="4" name="left-bullets">
            <a:extLst>
              <a:ext uri="{FF2B5EF4-FFF2-40B4-BE49-F238E27FC236}">
                <a16:creationId xmlns:a16="http://schemas.microsoft.com/office/drawing/2014/main" id="{0B63CF84-2D8B-46D1-A356-BEDF07A69F94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5143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source_id 是否都存在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summary 是否引用 evidence table 以外的 source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是否超過字數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是否出現 clinical action 禁止語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7255D653-81E9-4CFC-AC88-E794429EE129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E9245475-DE3E-4971-A3A2-0E9B6D1C1A9E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適合程式抓</a:t>
            </a:r>
          </a:p>
        </p:txBody>
      </p:sp>
      <p:sp>
        <p:nvSpPr>
          <p:cNvPr id="7" name="right-bullets">
            <a:extLst>
              <a:ext uri="{FF2B5EF4-FFF2-40B4-BE49-F238E27FC236}">
                <a16:creationId xmlns:a16="http://schemas.microsoft.com/office/drawing/2014/main" id="{C95A7ADA-25A3-4008-91FB-A25C496BF2EA}"/>
              </a:ext>
            </a:extLst>
          </p:cNvPr>
          <p:cNvSpPr>
            <a:spLocks noGrp="1"/>
          </p:cNvSpPr>
          <p:nvPr/>
        </p:nvSpPr>
        <p:spPr>
          <a:xfrm>
            <a:off x="7105650" y="2781300"/>
            <a:ext cx="295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格式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存在性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長度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明確規則</a:t>
            </a:r>
          </a:p>
        </p:txBody>
      </p:sp>
    </p:spTree>
    <p:extLst>
      <p:ext uri="{BB962C8B-B14F-4D97-AF65-F5344CB8AC3E}">
        <p14:creationId xmlns:p14="http://schemas.microsoft.com/office/powerpoint/2010/main" val="445028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0E851696-63E0-457A-BE2B-A97429F3622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RULE CHECKER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419A344-D03B-4F3C-9D31-A584A905312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最小 rule checker 就能擋掉很多事故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E5AF04C-85D7-4169-BABA-20DFC1ED150C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22/38</a:t>
            </a:r>
          </a:p>
        </p:txBody>
      </p:sp>
      <p:sp>
        <p:nvSpPr>
          <p:cNvPr id="4" name="code-box">
            <a:extLst>
              <a:ext uri="{FF2B5EF4-FFF2-40B4-BE49-F238E27FC236}">
                <a16:creationId xmlns:a16="http://schemas.microsoft.com/office/drawing/2014/main" id="{05010AC4-76D7-43EA-927A-976FD66D1138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6019800" cy="3695700"/>
          </a:xfrm>
          <a:prstGeom prst="roundRect">
            <a:avLst>
              <a:gd name="adj" fmla="val 2062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>
              <a:ext uri="{FF2B5EF4-FFF2-40B4-BE49-F238E27FC236}">
                <a16:creationId xmlns:a16="http://schemas.microsoft.com/office/drawing/2014/main" id="{28BB37DA-9EDC-4616-8630-07EE2ED771D0}"/>
              </a:ext>
            </a:extLst>
          </p:cNvPr>
          <p:cNvSpPr>
            <a:spLocks noGrp="1"/>
          </p:cNvSpPr>
          <p:nvPr/>
        </p:nvSpPr>
        <p:spPr>
          <a:xfrm>
            <a:off x="1047750" y="1895475"/>
            <a:ext cx="5676900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def check_summary(summary, source_ids):</a:t>
            </a:r>
          </a:p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issues = []</a:t>
            </a:r>
          </a:p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cited = set(re.findall(r"\[(S\d+)\]", summary))</a:t>
            </a:r>
          </a:p>
          <a:p>
            <a:endParaRPr sz="848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for sid in cited:</a:t>
            </a:r>
          </a:p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if sid not in source_ids:</a:t>
            </a:r>
          </a:p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    issues.append(issue("invalid_source_id", sid))</a:t>
            </a:r>
          </a:p>
          <a:p>
            <a:endParaRPr sz="848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if not cited:</a:t>
            </a:r>
          </a:p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issues.append(issue("missing_source_id", "No source IDs found"))</a:t>
            </a:r>
          </a:p>
          <a:p>
            <a:endParaRPr sz="848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banned = ["should treat", "recommended treatment", "patients should"]</a:t>
            </a:r>
          </a:p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if any(term in summary.lower() for term in banned):</a:t>
            </a:r>
          </a:p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issues.append(issue("clinical_recommendation", "Human review required"))</a:t>
            </a:r>
          </a:p>
          <a:p>
            <a:endParaRPr sz="848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84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4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return issues</a:t>
            </a:r>
          </a:p>
        </p:txBody>
      </p:sp>
      <p:sp>
        <p:nvSpPr>
          <p:cNvPr id="6" name="explain">
            <a:extLst>
              <a:ext uri="{FF2B5EF4-FFF2-40B4-BE49-F238E27FC236}">
                <a16:creationId xmlns:a16="http://schemas.microsoft.com/office/drawing/2014/main" id="{11E8D5F1-EA92-48B1-A47A-919A1C9292EB}"/>
              </a:ext>
            </a:extLst>
          </p:cNvPr>
          <p:cNvSpPr>
            <a:spLocks noGrp="1"/>
          </p:cNvSpPr>
          <p:nvPr/>
        </p:nvSpPr>
        <p:spPr>
          <a:xfrm>
            <a:off x="7296150" y="1943100"/>
            <a:ext cx="3276600" cy="3048000"/>
          </a:xfrm>
          <a:prstGeom prst="roundRect">
            <a:avLst>
              <a:gd name="adj" fmla="val 2500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</p:sp>
      <p:sp>
        <p:nvSpPr>
          <p:cNvPr id="7" name="explain-title">
            <a:extLst>
              <a:ext uri="{FF2B5EF4-FFF2-40B4-BE49-F238E27FC236}">
                <a16:creationId xmlns:a16="http://schemas.microsoft.com/office/drawing/2014/main" id="{3B498E31-6E2C-4A68-89F8-032CF054A6F6}"/>
              </a:ext>
            </a:extLst>
          </p:cNvPr>
          <p:cNvSpPr>
            <a:spLocks noGrp="1"/>
          </p:cNvSpPr>
          <p:nvPr/>
        </p:nvSpPr>
        <p:spPr>
          <a:xfrm>
            <a:off x="7600950" y="2266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你要看懂</a:t>
            </a:r>
          </a:p>
        </p:txBody>
      </p:sp>
      <p:sp>
        <p:nvSpPr>
          <p:cNvPr id="8" name="explain-list">
            <a:extLst>
              <a:ext uri="{FF2B5EF4-FFF2-40B4-BE49-F238E27FC236}">
                <a16:creationId xmlns:a16="http://schemas.microsoft.com/office/drawing/2014/main" id="{9DE728AA-2388-46CB-8B8F-CA40876C6200}"/>
              </a:ext>
            </a:extLst>
          </p:cNvPr>
          <p:cNvSpPr>
            <a:spLocks noGrp="1"/>
          </p:cNvSpPr>
          <p:nvPr/>
        </p:nvSpPr>
        <p:spPr>
          <a:xfrm>
            <a:off x="7639050" y="2895600"/>
            <a:ext cx="2571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規則不用聰明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要抓高風險硬條件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LLM 和程式互補</a:t>
            </a:r>
          </a:p>
        </p:txBody>
      </p:sp>
    </p:spTree>
    <p:extLst>
      <p:ext uri="{BB962C8B-B14F-4D97-AF65-F5344CB8AC3E}">
        <p14:creationId xmlns:p14="http://schemas.microsoft.com/office/powerpoint/2010/main" val="404417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4A224423-3EE0-4AD0-B40D-4BE83F95527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PART 4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294CC64C-51AF-4345-980C-7218C27EF8E0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9525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Loop 一定要有停止條件和成本邊界</a:t>
            </a:r>
          </a:p>
        </p:txBody>
      </p:sp>
      <p:sp>
        <p:nvSpPr>
          <p:cNvPr id="3" name="section-subtitle">
            <a:extLst>
              <a:ext uri="{FF2B5EF4-FFF2-40B4-BE49-F238E27FC236}">
                <a16:creationId xmlns:a16="http://schemas.microsoft.com/office/drawing/2014/main" id="{4F5C8DE9-358C-4389-974B-D56B4B8B29F0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好的 loop 不只是會努力，還要知道什麼時候該停。否則它會從助教變成會刷卡的無限迴圈。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B60E81FE-470A-403D-A438-42DA3C2D854E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23/38</a:t>
            </a:r>
          </a:p>
        </p:txBody>
      </p:sp>
    </p:spTree>
    <p:extLst>
      <p:ext uri="{BB962C8B-B14F-4D97-AF65-F5344CB8AC3E}">
        <p14:creationId xmlns:p14="http://schemas.microsoft.com/office/powerpoint/2010/main" val="1924615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A49ABB2A-5A44-470B-9BF4-6DF885140A6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TERMINAL STATES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15B1410-4D30-4727-B941-B0A25886DCC3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 要命名結局，不要只剩成功或爆炸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01D7971-7D22-46C1-8708-4EDA53986209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24/38</a:t>
            </a:r>
          </a:p>
        </p:txBody>
      </p:sp>
      <p:sp>
        <p:nvSpPr>
          <p:cNvPr id="4" name="head-0">
            <a:extLst>
              <a:ext uri="{FF2B5EF4-FFF2-40B4-BE49-F238E27FC236}">
                <a16:creationId xmlns:a16="http://schemas.microsoft.com/office/drawing/2014/main" id="{DF685B43-A94D-4E99-A062-FC6E743351B1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23431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D89A16"/>
            </a:solidFill>
            <a:prstDash val="solid"/>
          </a:ln>
        </p:spPr>
      </p:sp>
      <p:sp>
        <p:nvSpPr>
          <p:cNvPr id="5" name="head-text-0">
            <a:extLst>
              <a:ext uri="{FF2B5EF4-FFF2-40B4-BE49-F238E27FC236}">
                <a16:creationId xmlns:a16="http://schemas.microsoft.com/office/drawing/2014/main" id="{0D0596ED-F1C4-432A-96BA-C1E420D9D201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Terminal state</a:t>
            </a:r>
          </a:p>
        </p:txBody>
      </p:sp>
      <p:sp>
        <p:nvSpPr>
          <p:cNvPr id="6" name="head-1">
            <a:extLst>
              <a:ext uri="{FF2B5EF4-FFF2-40B4-BE49-F238E27FC236}">
                <a16:creationId xmlns:a16="http://schemas.microsoft.com/office/drawing/2014/main" id="{6D5F5D05-6D9A-4171-B4E8-780AA5E8B2C4}"/>
              </a:ext>
            </a:extLst>
          </p:cNvPr>
          <p:cNvSpPr>
            <a:spLocks noGrp="1"/>
          </p:cNvSpPr>
          <p:nvPr/>
        </p:nvSpPr>
        <p:spPr>
          <a:xfrm>
            <a:off x="323850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D89A16"/>
            </a:solidFill>
            <a:prstDash val="solid"/>
          </a:ln>
        </p:spPr>
      </p:sp>
      <p:sp>
        <p:nvSpPr>
          <p:cNvPr id="7" name="head-text-1">
            <a:extLst>
              <a:ext uri="{FF2B5EF4-FFF2-40B4-BE49-F238E27FC236}">
                <a16:creationId xmlns:a16="http://schemas.microsoft.com/office/drawing/2014/main" id="{013B4FEB-0CAC-4194-A763-2BEF3C35A921}"/>
              </a:ext>
            </a:extLst>
          </p:cNvPr>
          <p:cNvSpPr>
            <a:spLocks noGrp="1"/>
          </p:cNvSpPr>
          <p:nvPr/>
        </p:nvSpPr>
        <p:spPr>
          <a:xfrm>
            <a:off x="337185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何時觸發</a:t>
            </a:r>
          </a:p>
        </p:txBody>
      </p:sp>
      <p:sp>
        <p:nvSpPr>
          <p:cNvPr id="8" name="head-2">
            <a:extLst>
              <a:ext uri="{FF2B5EF4-FFF2-40B4-BE49-F238E27FC236}">
                <a16:creationId xmlns:a16="http://schemas.microsoft.com/office/drawing/2014/main" id="{561CB41D-CE79-4921-9608-8FB5A7E1E98A}"/>
              </a:ext>
            </a:extLst>
          </p:cNvPr>
          <p:cNvSpPr>
            <a:spLocks noGrp="1"/>
          </p:cNvSpPr>
          <p:nvPr/>
        </p:nvSpPr>
        <p:spPr>
          <a:xfrm>
            <a:off x="687705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D89A16"/>
            </a:solidFill>
            <a:prstDash val="solid"/>
          </a:ln>
        </p:spPr>
      </p:sp>
      <p:sp>
        <p:nvSpPr>
          <p:cNvPr id="9" name="head-text-2">
            <a:extLst>
              <a:ext uri="{FF2B5EF4-FFF2-40B4-BE49-F238E27FC236}">
                <a16:creationId xmlns:a16="http://schemas.microsoft.com/office/drawing/2014/main" id="{6445C352-BAF3-4211-ACA1-5BE4AB6EDF56}"/>
              </a:ext>
            </a:extLst>
          </p:cNvPr>
          <p:cNvSpPr>
            <a:spLocks noGrp="1"/>
          </p:cNvSpPr>
          <p:nvPr/>
        </p:nvSpPr>
        <p:spPr>
          <a:xfrm>
            <a:off x="701040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處理方式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2B16ECC5-6E32-4448-ADB1-0D7CAC2D31AB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4A8FB907-5E3E-450B-9841-E860F889B2E4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passed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3C4A2352-E92C-44D5-AD85-1342644C3E02}"/>
              </a:ext>
            </a:extLst>
          </p:cNvPr>
          <p:cNvSpPr>
            <a:spLocks noGrp="1"/>
          </p:cNvSpPr>
          <p:nvPr/>
        </p:nvSpPr>
        <p:spPr>
          <a:xfrm>
            <a:off x="323850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82120315-E8C9-4ECE-BCEA-A67E2FAE13F5}"/>
              </a:ext>
            </a:extLst>
          </p:cNvPr>
          <p:cNvSpPr>
            <a:spLocks noGrp="1"/>
          </p:cNvSpPr>
          <p:nvPr/>
        </p:nvSpPr>
        <p:spPr>
          <a:xfrm>
            <a:off x="337185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 blocking issues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F979A790-ED1E-481E-B4B2-426AAB4B4CED}"/>
              </a:ext>
            </a:extLst>
          </p:cNvPr>
          <p:cNvSpPr>
            <a:spLocks noGrp="1"/>
          </p:cNvSpPr>
          <p:nvPr/>
        </p:nvSpPr>
        <p:spPr>
          <a:xfrm>
            <a:off x="687705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13BA3937-94B1-4B57-9CA4-6C1FD7830B7C}"/>
              </a:ext>
            </a:extLst>
          </p:cNvPr>
          <p:cNvSpPr>
            <a:spLocks noGrp="1"/>
          </p:cNvSpPr>
          <p:nvPr/>
        </p:nvSpPr>
        <p:spPr>
          <a:xfrm>
            <a:off x="701040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輸出 final_summary 和 report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AEF96FE3-4B84-4309-AB93-4B833A4BA1D8}"/>
              </a:ext>
            </a:extLst>
          </p:cNvPr>
          <p:cNvSpPr>
            <a:spLocks noGrp="1"/>
          </p:cNvSpPr>
          <p:nvPr/>
        </p:nvSpPr>
        <p:spPr>
          <a:xfrm>
            <a:off x="895350" y="30289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362B2C38-288C-4F77-BB70-256BAC8581DA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needs_human_review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00EA982C-7956-4588-AC8D-527F41416E8F}"/>
              </a:ext>
            </a:extLst>
          </p:cNvPr>
          <p:cNvSpPr>
            <a:spLocks noGrp="1"/>
          </p:cNvSpPr>
          <p:nvPr/>
        </p:nvSpPr>
        <p:spPr>
          <a:xfrm>
            <a:off x="323850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AFB96E6B-2B68-4190-9C5A-0417744245D5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臨床建議、證據不足、衝突資料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E0B6A39A-2E01-488F-BE4F-C749E86D1DFB}"/>
              </a:ext>
            </a:extLst>
          </p:cNvPr>
          <p:cNvSpPr>
            <a:spLocks noGrp="1"/>
          </p:cNvSpPr>
          <p:nvPr/>
        </p:nvSpPr>
        <p:spPr>
          <a:xfrm>
            <a:off x="687705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A85AB9C9-07B6-4694-A8EA-D2587E374BD2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停止自動修正，交給人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B6AFBB32-4D11-4A7C-BD80-D5817E35C7F1}"/>
              </a:ext>
            </a:extLst>
          </p:cNvPr>
          <p:cNvSpPr>
            <a:spLocks noGrp="1"/>
          </p:cNvSpPr>
          <p:nvPr/>
        </p:nvSpPr>
        <p:spPr>
          <a:xfrm>
            <a:off x="895350" y="37528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A134AD70-2D10-4C23-96C2-C90637FD5499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stalled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69457B33-8463-4B06-A24C-D012B332C06A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5B512C3C-4A18-496F-9BC8-B66229387FE3}"/>
              </a:ext>
            </a:extLst>
          </p:cNvPr>
          <p:cNvSpPr>
            <a:spLocks noGrp="1"/>
          </p:cNvSpPr>
          <p:nvPr/>
        </p:nvSpPr>
        <p:spPr>
          <a:xfrm>
            <a:off x="337185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連續幾輪問題完全沒變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28A98839-56B0-4016-9065-3DB172821AC2}"/>
              </a:ext>
            </a:extLst>
          </p:cNvPr>
          <p:cNvSpPr>
            <a:spLocks noGrp="1"/>
          </p:cNvSpPr>
          <p:nvPr/>
        </p:nvSpPr>
        <p:spPr>
          <a:xfrm>
            <a:off x="687705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DE8A5448-BED7-446E-AFFF-90BBAF032717}"/>
              </a:ext>
            </a:extLst>
          </p:cNvPr>
          <p:cNvSpPr>
            <a:spLocks noGrp="1"/>
          </p:cNvSpPr>
          <p:nvPr/>
        </p:nvSpPr>
        <p:spPr>
          <a:xfrm>
            <a:off x="701040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停止，避免假裝有進步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204BAFE6-0FF9-4509-B75D-CA9D329932D8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D94538A2-1005-424D-906A-60651C4919F1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max_iterations_reached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F7D5A6EE-6655-4D7B-91FB-51E52E35F490}"/>
              </a:ext>
            </a:extLst>
          </p:cNvPr>
          <p:cNvSpPr>
            <a:spLocks noGrp="1"/>
          </p:cNvSpPr>
          <p:nvPr/>
        </p:nvSpPr>
        <p:spPr>
          <a:xfrm>
            <a:off x="323850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E69941F6-C085-4CD7-852E-5B6760FE824A}"/>
              </a:ext>
            </a:extLst>
          </p:cNvPr>
          <p:cNvSpPr>
            <a:spLocks noGrp="1"/>
          </p:cNvSpPr>
          <p:nvPr/>
        </p:nvSpPr>
        <p:spPr>
          <a:xfrm>
            <a:off x="337185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已修到上限仍有問題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79F375F0-DD1B-410A-BB98-975BE8370F59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43D00C32-83A5-4169-9475-540B888D1020}"/>
              </a:ext>
            </a:extLst>
          </p:cNvPr>
          <p:cNvSpPr>
            <a:spLocks noGrp="1"/>
          </p:cNvSpPr>
          <p:nvPr/>
        </p:nvSpPr>
        <p:spPr>
          <a:xfrm>
            <a:off x="701040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列出剩餘問題與下一步</a:t>
            </a:r>
          </a:p>
        </p:txBody>
      </p:sp>
    </p:spTree>
    <p:extLst>
      <p:ext uri="{BB962C8B-B14F-4D97-AF65-F5344CB8AC3E}">
        <p14:creationId xmlns:p14="http://schemas.microsoft.com/office/powerpoint/2010/main" val="3449768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4EBC7FE2-3CE4-4242-8582-DA439BD5C41B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LOOP SPEC YAML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E59AAC9-D70E-4B18-ABD9-1F666A096045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loop 契約寫成檔案，你才知道每輪在做什麼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85D0C108-ED75-4EC8-AFF9-A44ECCCFCCCB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25/38</a:t>
            </a:r>
          </a:p>
        </p:txBody>
      </p:sp>
      <p:sp>
        <p:nvSpPr>
          <p:cNvPr id="4" name="code-box">
            <a:extLst>
              <a:ext uri="{FF2B5EF4-FFF2-40B4-BE49-F238E27FC236}">
                <a16:creationId xmlns:a16="http://schemas.microsoft.com/office/drawing/2014/main" id="{AA18CF98-F143-4F9B-820D-A89995B57609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6019800" cy="3695700"/>
          </a:xfrm>
          <a:prstGeom prst="roundRect">
            <a:avLst>
              <a:gd name="adj" fmla="val 2062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>
              <a:ext uri="{FF2B5EF4-FFF2-40B4-BE49-F238E27FC236}">
                <a16:creationId xmlns:a16="http://schemas.microsoft.com/office/drawing/2014/main" id="{C4671619-892A-4ADC-A905-2E082DA2BF1F}"/>
              </a:ext>
            </a:extLst>
          </p:cNvPr>
          <p:cNvSpPr>
            <a:spLocks noGrp="1"/>
          </p:cNvSpPr>
          <p:nvPr/>
        </p:nvSpPr>
        <p:spPr>
          <a:xfrm>
            <a:off x="1047750" y="1895475"/>
            <a:ext cx="5676900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trigger: manual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goal: produce_biomedical_summary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max_iterations: 3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max_no_progress_rounds: 2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max_summary_words: 220</a:t>
            </a:r>
          </a:p>
          <a:p>
            <a:endParaRPr sz="72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terminal_states: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- passed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- needs_human_review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- stalled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- max_iterations_reached</a:t>
            </a:r>
          </a:p>
          <a:p>
            <a:endParaRPr sz="72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verification: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deterministic: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source_id_exists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max_summary_words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rule: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no_clinical_recommendation_language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model_judge: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overstatement_check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human_checkpoint:</a:t>
            </a:r>
          </a:p>
          <a:p>
            <a:pPr algn="l">
              <a:lnSpc>
                <a:spcPct val="106000"/>
              </a:lnSpc>
              <a:buNone/>
              <a:defRPr sz="72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clinical_action</a:t>
            </a:r>
          </a:p>
        </p:txBody>
      </p:sp>
      <p:sp>
        <p:nvSpPr>
          <p:cNvPr id="6" name="explain">
            <a:extLst>
              <a:ext uri="{FF2B5EF4-FFF2-40B4-BE49-F238E27FC236}">
                <a16:creationId xmlns:a16="http://schemas.microsoft.com/office/drawing/2014/main" id="{60E92B54-3497-40FD-AEDE-D2998E7C52D6}"/>
              </a:ext>
            </a:extLst>
          </p:cNvPr>
          <p:cNvSpPr>
            <a:spLocks noGrp="1"/>
          </p:cNvSpPr>
          <p:nvPr/>
        </p:nvSpPr>
        <p:spPr>
          <a:xfrm>
            <a:off x="7296150" y="1943100"/>
            <a:ext cx="3276600" cy="3048000"/>
          </a:xfrm>
          <a:prstGeom prst="roundRect">
            <a:avLst>
              <a:gd name="adj" fmla="val 2500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</p:sp>
      <p:sp>
        <p:nvSpPr>
          <p:cNvPr id="7" name="explain-title">
            <a:extLst>
              <a:ext uri="{FF2B5EF4-FFF2-40B4-BE49-F238E27FC236}">
                <a16:creationId xmlns:a16="http://schemas.microsoft.com/office/drawing/2014/main" id="{B44CBA46-B483-4E83-94C3-591F1E0E32D7}"/>
              </a:ext>
            </a:extLst>
          </p:cNvPr>
          <p:cNvSpPr>
            <a:spLocks noGrp="1"/>
          </p:cNvSpPr>
          <p:nvPr/>
        </p:nvSpPr>
        <p:spPr>
          <a:xfrm>
            <a:off x="7600950" y="2266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你要看懂</a:t>
            </a:r>
          </a:p>
        </p:txBody>
      </p:sp>
      <p:sp>
        <p:nvSpPr>
          <p:cNvPr id="8" name="explain-list">
            <a:extLst>
              <a:ext uri="{FF2B5EF4-FFF2-40B4-BE49-F238E27FC236}">
                <a16:creationId xmlns:a16="http://schemas.microsoft.com/office/drawing/2014/main" id="{75D80924-EABF-4A0C-8B95-DD19AF820659}"/>
              </a:ext>
            </a:extLst>
          </p:cNvPr>
          <p:cNvSpPr>
            <a:spLocks noGrp="1"/>
          </p:cNvSpPr>
          <p:nvPr/>
        </p:nvSpPr>
        <p:spPr>
          <a:xfrm>
            <a:off x="7639050" y="2895600"/>
            <a:ext cx="2571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規格先於 prompt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停止條件明確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檢查層級可追查</a:t>
            </a:r>
          </a:p>
        </p:txBody>
      </p:sp>
    </p:spTree>
    <p:extLst>
      <p:ext uri="{BB962C8B-B14F-4D97-AF65-F5344CB8AC3E}">
        <p14:creationId xmlns:p14="http://schemas.microsoft.com/office/powerpoint/2010/main" val="3000813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">
            <a:extLst>
              <a:ext uri="{FF2B5EF4-FFF2-40B4-BE49-F238E27FC236}">
                <a16:creationId xmlns:a16="http://schemas.microsoft.com/office/drawing/2014/main" id="{FF042B96-4917-4B09-A27D-6FD1D662F0A1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FAILURE MODES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88D30D-24C4-4123-9600-A0F0E43F3B6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 失控通常不是壞掉，而是太努力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CCA1BA48-ABE4-4621-A585-5F52779367F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26/38</a:t>
            </a:r>
          </a:p>
        </p:txBody>
      </p:sp>
      <p:sp>
        <p:nvSpPr>
          <p:cNvPr id="4" name="card-0">
            <a:extLst>
              <a:ext uri="{FF2B5EF4-FFF2-40B4-BE49-F238E27FC236}">
                <a16:creationId xmlns:a16="http://schemas.microsoft.com/office/drawing/2014/main" id="{B42F5024-C405-4C77-BD63-ECDAD8A92BA5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</p:sp>
      <p:sp>
        <p:nvSpPr>
          <p:cNvPr id="5" name="card-title-0">
            <a:extLst>
              <a:ext uri="{FF2B5EF4-FFF2-40B4-BE49-F238E27FC236}">
                <a16:creationId xmlns:a16="http://schemas.microsoft.com/office/drawing/2014/main" id="{80A83DEB-871E-43F3-AA75-C74045DBBD6A}"/>
              </a:ext>
            </a:extLst>
          </p:cNvPr>
          <p:cNvSpPr>
            <a:spLocks noGrp="1"/>
          </p:cNvSpPr>
          <p:nvPr/>
        </p:nvSpPr>
        <p:spPr>
          <a:xfrm>
            <a:off x="1143000" y="23622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無限修正</a:t>
            </a:r>
          </a:p>
        </p:txBody>
      </p:sp>
      <p:sp>
        <p:nvSpPr>
          <p:cNvPr id="6" name="card-copy-0">
            <a:extLst>
              <a:ext uri="{FF2B5EF4-FFF2-40B4-BE49-F238E27FC236}">
                <a16:creationId xmlns:a16="http://schemas.microsoft.com/office/drawing/2014/main" id="{60FAB229-4EE3-47B4-9678-BE6A3A47E998}"/>
              </a:ext>
            </a:extLst>
          </p:cNvPr>
          <p:cNvSpPr>
            <a:spLocks noGrp="1"/>
          </p:cNvSpPr>
          <p:nvPr/>
        </p:nvSpPr>
        <p:spPr>
          <a:xfrm>
            <a:off x="1143000" y="3086100"/>
            <a:ext cx="24574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Evaluator 每輪都找到新問題，agent 就一直改。沒有 max_iterations 就會開始表演耐力賽。</a:t>
            </a:r>
          </a:p>
        </p:txBody>
      </p:sp>
      <p:sp>
        <p:nvSpPr>
          <p:cNvPr id="7" name="card-1">
            <a:extLst>
              <a:ext uri="{FF2B5EF4-FFF2-40B4-BE49-F238E27FC236}">
                <a16:creationId xmlns:a16="http://schemas.microsoft.com/office/drawing/2014/main" id="{92C48F20-6298-4AB2-B9E2-BA1B0540A893}"/>
              </a:ext>
            </a:extLst>
          </p:cNvPr>
          <p:cNvSpPr>
            <a:spLocks noGrp="1"/>
          </p:cNvSpPr>
          <p:nvPr/>
        </p:nvSpPr>
        <p:spPr>
          <a:xfrm>
            <a:off x="443865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</p:sp>
      <p:sp>
        <p:nvSpPr>
          <p:cNvPr id="8" name="card-title-1">
            <a:extLst>
              <a:ext uri="{FF2B5EF4-FFF2-40B4-BE49-F238E27FC236}">
                <a16:creationId xmlns:a16="http://schemas.microsoft.com/office/drawing/2014/main" id="{8B35D1EF-49F7-4AC7-A604-78B0277F7AEA}"/>
              </a:ext>
            </a:extLst>
          </p:cNvPr>
          <p:cNvSpPr>
            <a:spLocks noGrp="1"/>
          </p:cNvSpPr>
          <p:nvPr/>
        </p:nvSpPr>
        <p:spPr>
          <a:xfrm>
            <a:off x="4705350" y="23622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越改越偏</a:t>
            </a:r>
          </a:p>
        </p:txBody>
      </p:sp>
      <p:sp>
        <p:nvSpPr>
          <p:cNvPr id="9" name="card-copy-1">
            <a:extLst>
              <a:ext uri="{FF2B5EF4-FFF2-40B4-BE49-F238E27FC236}">
                <a16:creationId xmlns:a16="http://schemas.microsoft.com/office/drawing/2014/main" id="{8B3A7A15-0BA2-48AE-8098-17A03CAC1B7E}"/>
              </a:ext>
            </a:extLst>
          </p:cNvPr>
          <p:cNvSpPr>
            <a:spLocks noGrp="1"/>
          </p:cNvSpPr>
          <p:nvPr/>
        </p:nvSpPr>
        <p:spPr>
          <a:xfrm>
            <a:off x="4705350" y="3086100"/>
            <a:ext cx="24574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第一版有 source，第三版改到 citation 消失。Revise 必須保留 evidence linkage。</a:t>
            </a:r>
          </a:p>
        </p:txBody>
      </p:sp>
      <p:sp>
        <p:nvSpPr>
          <p:cNvPr id="10" name="card-2">
            <a:extLst>
              <a:ext uri="{FF2B5EF4-FFF2-40B4-BE49-F238E27FC236}">
                <a16:creationId xmlns:a16="http://schemas.microsoft.com/office/drawing/2014/main" id="{FC07127E-C44E-45C6-AA23-035B67A3DCD8}"/>
              </a:ext>
            </a:extLst>
          </p:cNvPr>
          <p:cNvSpPr>
            <a:spLocks noGrp="1"/>
          </p:cNvSpPr>
          <p:nvPr/>
        </p:nvSpPr>
        <p:spPr>
          <a:xfrm>
            <a:off x="8001000" y="2057400"/>
            <a:ext cx="3067050" cy="2533650"/>
          </a:xfrm>
          <a:prstGeom prst="roundRect">
            <a:avLst>
              <a:gd name="adj" fmla="val 3008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11" name="card-title-2">
            <a:extLst>
              <a:ext uri="{FF2B5EF4-FFF2-40B4-BE49-F238E27FC236}">
                <a16:creationId xmlns:a16="http://schemas.microsoft.com/office/drawing/2014/main" id="{3C9388F3-D1A8-4181-A350-F78839A28032}"/>
              </a:ext>
            </a:extLst>
          </p:cNvPr>
          <p:cNvSpPr>
            <a:spLocks noGrp="1"/>
          </p:cNvSpPr>
          <p:nvPr/>
        </p:nvSpPr>
        <p:spPr>
          <a:xfrm>
            <a:off x="8267700" y="23622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Evaluator 放水</a:t>
            </a:r>
          </a:p>
        </p:txBody>
      </p:sp>
      <p:sp>
        <p:nvSpPr>
          <p:cNvPr id="12" name="card-copy-2">
            <a:extLst>
              <a:ext uri="{FF2B5EF4-FFF2-40B4-BE49-F238E27FC236}">
                <a16:creationId xmlns:a16="http://schemas.microsoft.com/office/drawing/2014/main" id="{AE5ED488-65A2-4EB9-BBEA-57F48E666A6D}"/>
              </a:ext>
            </a:extLst>
          </p:cNvPr>
          <p:cNvSpPr>
            <a:spLocks noGrp="1"/>
          </p:cNvSpPr>
          <p:nvPr/>
        </p:nvSpPr>
        <p:spPr>
          <a:xfrm>
            <a:off x="8267700" y="3086100"/>
            <a:ext cx="24574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只回 looks good，等於沒有 evaluator。Issue schema 要逼它講清楚錯在哪。</a:t>
            </a:r>
          </a:p>
        </p:txBody>
      </p:sp>
    </p:spTree>
    <p:extLst>
      <p:ext uri="{BB962C8B-B14F-4D97-AF65-F5344CB8AC3E}">
        <p14:creationId xmlns:p14="http://schemas.microsoft.com/office/powerpoint/2010/main" val="1983960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C616DFD5-DD6F-47B7-BF6C-C803A8C5C82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PART 5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2F71C760-8F7B-4FF0-BAD0-841A177BE23E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9525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Mini lab：你要跑一個 biomedical summary loop</a:t>
            </a:r>
          </a:p>
        </p:txBody>
      </p:sp>
      <p:sp>
        <p:nvSpPr>
          <p:cNvPr id="3" name="section-subtitle">
            <a:extLst>
              <a:ext uri="{FF2B5EF4-FFF2-40B4-BE49-F238E27FC236}">
                <a16:creationId xmlns:a16="http://schemas.microsoft.com/office/drawing/2014/main" id="{7AEE14B5-9317-4CF8-90CD-C310DF9A7CCC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先用 mock mode 跑通整個流程。等你看懂每個環節後，再把 generator、evaluator 或 retriever 換成真的 agent。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FFF11BCE-9D79-444D-8A37-359374EF67EA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27/38</a:t>
            </a:r>
          </a:p>
        </p:txBody>
      </p:sp>
    </p:spTree>
    <p:extLst>
      <p:ext uri="{BB962C8B-B14F-4D97-AF65-F5344CB8AC3E}">
        <p14:creationId xmlns:p14="http://schemas.microsoft.com/office/powerpoint/2010/main" val="3023354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F5B8239A-43DE-4A2D-AF53-763864340AE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LAB OUTPUTS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770851E-4807-42CD-955A-CCBC5A228D8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跑完 lab 後，你要能解釋這三個檔案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2B845715-BCED-484E-AC14-51FF9EF6379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28/38</a:t>
            </a:r>
          </a:p>
        </p:txBody>
      </p:sp>
      <p:sp>
        <p:nvSpPr>
          <p:cNvPr id="4" name="head-0">
            <a:extLst>
              <a:ext uri="{FF2B5EF4-FFF2-40B4-BE49-F238E27FC236}">
                <a16:creationId xmlns:a16="http://schemas.microsoft.com/office/drawing/2014/main" id="{BA027A02-AFDB-422E-97E3-2884599273B3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2343150" cy="457200"/>
          </a:xfrm>
          <a:prstGeom prst="roundRect">
            <a:avLst>
              <a:gd name="adj" fmla="val 16667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5" name="head-text-0">
            <a:extLst>
              <a:ext uri="{FF2B5EF4-FFF2-40B4-BE49-F238E27FC236}">
                <a16:creationId xmlns:a16="http://schemas.microsoft.com/office/drawing/2014/main" id="{C5D0252B-A6AC-4267-8E83-1AD7B64E746D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產物</a:t>
            </a:r>
          </a:p>
        </p:txBody>
      </p:sp>
      <p:sp>
        <p:nvSpPr>
          <p:cNvPr id="6" name="head-1">
            <a:extLst>
              <a:ext uri="{FF2B5EF4-FFF2-40B4-BE49-F238E27FC236}">
                <a16:creationId xmlns:a16="http://schemas.microsoft.com/office/drawing/2014/main" id="{82D5160F-0D7A-490A-8BD4-40287A600DF9}"/>
              </a:ext>
            </a:extLst>
          </p:cNvPr>
          <p:cNvSpPr>
            <a:spLocks noGrp="1"/>
          </p:cNvSpPr>
          <p:nvPr/>
        </p:nvSpPr>
        <p:spPr>
          <a:xfrm>
            <a:off x="323850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7" name="head-text-1">
            <a:extLst>
              <a:ext uri="{FF2B5EF4-FFF2-40B4-BE49-F238E27FC236}">
                <a16:creationId xmlns:a16="http://schemas.microsoft.com/office/drawing/2014/main" id="{9E44AC91-406D-472E-9AD6-6ECA1B1C85F9}"/>
              </a:ext>
            </a:extLst>
          </p:cNvPr>
          <p:cNvSpPr>
            <a:spLocks noGrp="1"/>
          </p:cNvSpPr>
          <p:nvPr/>
        </p:nvSpPr>
        <p:spPr>
          <a:xfrm>
            <a:off x="337185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用途</a:t>
            </a:r>
          </a:p>
        </p:txBody>
      </p:sp>
      <p:sp>
        <p:nvSpPr>
          <p:cNvPr id="8" name="head-2">
            <a:extLst>
              <a:ext uri="{FF2B5EF4-FFF2-40B4-BE49-F238E27FC236}">
                <a16:creationId xmlns:a16="http://schemas.microsoft.com/office/drawing/2014/main" id="{7CE694D7-009C-45AD-9DA6-153C6EAE5669}"/>
              </a:ext>
            </a:extLst>
          </p:cNvPr>
          <p:cNvSpPr>
            <a:spLocks noGrp="1"/>
          </p:cNvSpPr>
          <p:nvPr/>
        </p:nvSpPr>
        <p:spPr>
          <a:xfrm>
            <a:off x="687705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9" name="head-text-2">
            <a:extLst>
              <a:ext uri="{FF2B5EF4-FFF2-40B4-BE49-F238E27FC236}">
                <a16:creationId xmlns:a16="http://schemas.microsoft.com/office/drawing/2014/main" id="{A78ED470-2CC6-419C-ACF0-5031C4C4DCE5}"/>
              </a:ext>
            </a:extLst>
          </p:cNvPr>
          <p:cNvSpPr>
            <a:spLocks noGrp="1"/>
          </p:cNvSpPr>
          <p:nvPr/>
        </p:nvSpPr>
        <p:spPr>
          <a:xfrm>
            <a:off x="701040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你要檢查什麼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E15CC92C-9ED8-4B49-9390-8DD60BEBC6AD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41B3D801-B411-4B72-BAE7-FABF4BC39339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final_summary.md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1F6B1DB8-6EF8-4BDA-8D07-0B903BF5FA79}"/>
              </a:ext>
            </a:extLst>
          </p:cNvPr>
          <p:cNvSpPr>
            <a:spLocks noGrp="1"/>
          </p:cNvSpPr>
          <p:nvPr/>
        </p:nvSpPr>
        <p:spPr>
          <a:xfrm>
            <a:off x="323850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6337D9FF-A802-4979-97D2-839C754C77A6}"/>
              </a:ext>
            </a:extLst>
          </p:cNvPr>
          <p:cNvSpPr>
            <a:spLocks noGrp="1"/>
          </p:cNvSpPr>
          <p:nvPr/>
        </p:nvSpPr>
        <p:spPr>
          <a:xfrm>
            <a:off x="337185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給人看的 biomedical summary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70ADE065-18C4-4C14-9AB2-99F8264ED65A}"/>
              </a:ext>
            </a:extLst>
          </p:cNvPr>
          <p:cNvSpPr>
            <a:spLocks noGrp="1"/>
          </p:cNvSpPr>
          <p:nvPr/>
        </p:nvSpPr>
        <p:spPr>
          <a:xfrm>
            <a:off x="687705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3F841DED-00B8-4079-9235-A91A1BDDD948}"/>
              </a:ext>
            </a:extLst>
          </p:cNvPr>
          <p:cNvSpPr>
            <a:spLocks noGrp="1"/>
          </p:cNvSpPr>
          <p:nvPr/>
        </p:nvSpPr>
        <p:spPr>
          <a:xfrm>
            <a:off x="701040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每個 claim 有 source_id，沒有臨床建議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EA6D1795-6E2B-4185-A11B-BDA217B12468}"/>
              </a:ext>
            </a:extLst>
          </p:cNvPr>
          <p:cNvSpPr>
            <a:spLocks noGrp="1"/>
          </p:cNvSpPr>
          <p:nvPr/>
        </p:nvSpPr>
        <p:spPr>
          <a:xfrm>
            <a:off x="895350" y="30289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BBC948CE-FC89-4DB0-8306-C9EE54F46745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issue_log.json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79C0FDAF-7863-4052-A78F-0FB05A561246}"/>
              </a:ext>
            </a:extLst>
          </p:cNvPr>
          <p:cNvSpPr>
            <a:spLocks noGrp="1"/>
          </p:cNvSpPr>
          <p:nvPr/>
        </p:nvSpPr>
        <p:spPr>
          <a:xfrm>
            <a:off x="323850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3846A239-41D0-4F23-9344-6C5344E47553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每輪 evaluator 和 rule checker 問題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770FE345-FB33-498B-A0E1-B6C1894FC03A}"/>
              </a:ext>
            </a:extLst>
          </p:cNvPr>
          <p:cNvSpPr>
            <a:spLocks noGrp="1"/>
          </p:cNvSpPr>
          <p:nvPr/>
        </p:nvSpPr>
        <p:spPr>
          <a:xfrm>
            <a:off x="687705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45CE9836-FAF6-46C5-B1A0-7354C358F607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看得出修了什麼，剩什麼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AC3EB300-2167-4E0D-B9C5-24D67884D42C}"/>
              </a:ext>
            </a:extLst>
          </p:cNvPr>
          <p:cNvSpPr>
            <a:spLocks noGrp="1"/>
          </p:cNvSpPr>
          <p:nvPr/>
        </p:nvSpPr>
        <p:spPr>
          <a:xfrm>
            <a:off x="895350" y="37528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93D6A435-DB5F-4EEE-BAA6-EB7DC86D5474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loop_report.json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758E3226-722D-4811-AE18-45760D05635C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44178AB0-00E6-49B8-800B-AE443044EA8B}"/>
              </a:ext>
            </a:extLst>
          </p:cNvPr>
          <p:cNvSpPr>
            <a:spLocks noGrp="1"/>
          </p:cNvSpPr>
          <p:nvPr/>
        </p:nvSpPr>
        <p:spPr>
          <a:xfrm>
            <a:off x="337185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這次 loop 的狀態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A82144B9-9FCE-436D-B75D-DD5FBA2BF8F7}"/>
              </a:ext>
            </a:extLst>
          </p:cNvPr>
          <p:cNvSpPr>
            <a:spLocks noGrp="1"/>
          </p:cNvSpPr>
          <p:nvPr/>
        </p:nvSpPr>
        <p:spPr>
          <a:xfrm>
            <a:off x="687705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36D93E59-2A86-43A1-AF99-51B6B7ED6E91}"/>
              </a:ext>
            </a:extLst>
          </p:cNvPr>
          <p:cNvSpPr>
            <a:spLocks noGrp="1"/>
          </p:cNvSpPr>
          <p:nvPr/>
        </p:nvSpPr>
        <p:spPr>
          <a:xfrm>
            <a:off x="701040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passed / needs_human_review / max_iterations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37D4B938-96C5-4034-BF74-3200E3765BDA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57926ADE-0888-471A-B101-111A30A72BA5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review_notes.md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3E185AC4-847E-4C10-B5CC-CBFA1A4A1365}"/>
              </a:ext>
            </a:extLst>
          </p:cNvPr>
          <p:cNvSpPr>
            <a:spLocks noGrp="1"/>
          </p:cNvSpPr>
          <p:nvPr/>
        </p:nvSpPr>
        <p:spPr>
          <a:xfrm>
            <a:off x="323850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DFCAD51B-9AC7-49A7-A86C-A61E42EB59D9}"/>
              </a:ext>
            </a:extLst>
          </p:cNvPr>
          <p:cNvSpPr>
            <a:spLocks noGrp="1"/>
          </p:cNvSpPr>
          <p:nvPr/>
        </p:nvSpPr>
        <p:spPr>
          <a:xfrm>
            <a:off x="337185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你的人工檢查心得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37C13C05-751E-4621-8C54-61D440139029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C8D93DE0-5758-4387-BE96-8B83813F1CB8}"/>
              </a:ext>
            </a:extLst>
          </p:cNvPr>
          <p:cNvSpPr>
            <a:spLocks noGrp="1"/>
          </p:cNvSpPr>
          <p:nvPr/>
        </p:nvSpPr>
        <p:spPr>
          <a:xfrm>
            <a:off x="701040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哪裡仍需要領域專家判斷</a:t>
            </a:r>
          </a:p>
        </p:txBody>
      </p:sp>
    </p:spTree>
    <p:extLst>
      <p:ext uri="{BB962C8B-B14F-4D97-AF65-F5344CB8AC3E}">
        <p14:creationId xmlns:p14="http://schemas.microsoft.com/office/powerpoint/2010/main" val="19376440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5BA8B4C3-7609-4843-8239-26A8BE44105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EVIDENCE TABLE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D591B92-5575-488E-A694-3F25507F942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先用小 evidence table，專心練 citation 和 verification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7358C96A-37FB-4142-A954-EA565FBD0886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29/38</a:t>
            </a:r>
          </a:p>
        </p:txBody>
      </p:sp>
      <p:sp>
        <p:nvSpPr>
          <p:cNvPr id="4" name="code-box">
            <a:extLst>
              <a:ext uri="{FF2B5EF4-FFF2-40B4-BE49-F238E27FC236}">
                <a16:creationId xmlns:a16="http://schemas.microsoft.com/office/drawing/2014/main" id="{CEE69F8B-0873-43AD-9A97-C57FF2C670E4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6019800" cy="3695700"/>
          </a:xfrm>
          <a:prstGeom prst="roundRect">
            <a:avLst>
              <a:gd name="adj" fmla="val 2062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>
              <a:ext uri="{FF2B5EF4-FFF2-40B4-BE49-F238E27FC236}">
                <a16:creationId xmlns:a16="http://schemas.microsoft.com/office/drawing/2014/main" id="{AB7C4FF3-66E4-4441-82CC-273AD12BFF54}"/>
              </a:ext>
            </a:extLst>
          </p:cNvPr>
          <p:cNvSpPr>
            <a:spLocks noGrp="1"/>
          </p:cNvSpPr>
          <p:nvPr/>
        </p:nvSpPr>
        <p:spPr>
          <a:xfrm>
            <a:off x="1047750" y="1895475"/>
            <a:ext cx="5676900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source_id,topic,evidence_type,claim,confidence</a:t>
            </a:r>
          </a:p>
          <a:p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S1,EGFR T790M,clinical,"T790M is associated with resistance to first-generation EGFR TKIs in NSCLC.",high</a:t>
            </a:r>
          </a:p>
          <a:p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S2,Osimertinib,clinical,"Osimertinib has activity in T790M-positive NSCLC.",high</a:t>
            </a:r>
          </a:p>
          <a:p>
            <a:pPr algn="l">
              <a:lnSpc>
                <a:spcPct val="106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S3,Resistance mechanism,preclinical,"Bypass pathway activation may contribute to resistance in models.",medium</a:t>
            </a:r>
          </a:p>
        </p:txBody>
      </p:sp>
      <p:sp>
        <p:nvSpPr>
          <p:cNvPr id="6" name="explain">
            <a:extLst>
              <a:ext uri="{FF2B5EF4-FFF2-40B4-BE49-F238E27FC236}">
                <a16:creationId xmlns:a16="http://schemas.microsoft.com/office/drawing/2014/main" id="{7BCC2426-63E3-4256-A8FA-3E4965B97E10}"/>
              </a:ext>
            </a:extLst>
          </p:cNvPr>
          <p:cNvSpPr>
            <a:spLocks noGrp="1"/>
          </p:cNvSpPr>
          <p:nvPr/>
        </p:nvSpPr>
        <p:spPr>
          <a:xfrm>
            <a:off x="7296150" y="1943100"/>
            <a:ext cx="3276600" cy="3048000"/>
          </a:xfrm>
          <a:prstGeom prst="roundRect">
            <a:avLst>
              <a:gd name="adj" fmla="val 2500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7" name="explain-title">
            <a:extLst>
              <a:ext uri="{FF2B5EF4-FFF2-40B4-BE49-F238E27FC236}">
                <a16:creationId xmlns:a16="http://schemas.microsoft.com/office/drawing/2014/main" id="{D20014AC-335F-4F14-B6C7-C3CD713BE05C}"/>
              </a:ext>
            </a:extLst>
          </p:cNvPr>
          <p:cNvSpPr>
            <a:spLocks noGrp="1"/>
          </p:cNvSpPr>
          <p:nvPr/>
        </p:nvSpPr>
        <p:spPr>
          <a:xfrm>
            <a:off x="7600950" y="2266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你要看懂</a:t>
            </a:r>
          </a:p>
        </p:txBody>
      </p:sp>
      <p:sp>
        <p:nvSpPr>
          <p:cNvPr id="8" name="explain-list">
            <a:extLst>
              <a:ext uri="{FF2B5EF4-FFF2-40B4-BE49-F238E27FC236}">
                <a16:creationId xmlns:a16="http://schemas.microsoft.com/office/drawing/2014/main" id="{4D96D343-0745-40D8-A5BC-BADE6B14354E}"/>
              </a:ext>
            </a:extLst>
          </p:cNvPr>
          <p:cNvSpPr>
            <a:spLocks noGrp="1"/>
          </p:cNvSpPr>
          <p:nvPr/>
        </p:nvSpPr>
        <p:spPr>
          <a:xfrm>
            <a:off x="7639050" y="2895600"/>
            <a:ext cx="2571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資料小，容易讀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source_id 清楚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包含 clinical 和 preclinical</a:t>
            </a:r>
          </a:p>
        </p:txBody>
      </p:sp>
    </p:spTree>
    <p:extLst>
      <p:ext uri="{BB962C8B-B14F-4D97-AF65-F5344CB8AC3E}">
        <p14:creationId xmlns:p14="http://schemas.microsoft.com/office/powerpoint/2010/main" val="1846341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B6CE9E98-B640-41A3-A7E7-72F09EDFDB6D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QUESTION SPEC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DA4A173-9D92-4CF6-8360-F47F9EB8DCD4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Question spec 讓 generator 不會自由飛翔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DFFBDED0-41D0-4AEC-AA87-4F443C1342C8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30/38</a:t>
            </a:r>
          </a:p>
        </p:txBody>
      </p:sp>
      <p:sp>
        <p:nvSpPr>
          <p:cNvPr id="4" name="code-box">
            <a:extLst>
              <a:ext uri="{FF2B5EF4-FFF2-40B4-BE49-F238E27FC236}">
                <a16:creationId xmlns:a16="http://schemas.microsoft.com/office/drawing/2014/main" id="{1355656C-14F1-4D51-852B-E44B4D24F32B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6019800" cy="3695700"/>
          </a:xfrm>
          <a:prstGeom prst="roundRect">
            <a:avLst>
              <a:gd name="adj" fmla="val 2062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>
              <a:ext uri="{FF2B5EF4-FFF2-40B4-BE49-F238E27FC236}">
                <a16:creationId xmlns:a16="http://schemas.microsoft.com/office/drawing/2014/main" id="{2D9BDE91-0D70-4040-A898-5BBF47A437DE}"/>
              </a:ext>
            </a:extLst>
          </p:cNvPr>
          <p:cNvSpPr>
            <a:spLocks noGrp="1"/>
          </p:cNvSpPr>
          <p:nvPr/>
        </p:nvSpPr>
        <p:spPr>
          <a:xfrm>
            <a:off x="1047750" y="1895475"/>
            <a:ext cx="5676900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Summarize evidence about EGFR T790M and treatment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resistance or response in non-small cell lung cancer.</a:t>
            </a:r>
          </a:p>
          <a:p>
            <a:endParaRPr sz="900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Requirements: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Use only the provided evidence table.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Every biomedical claim must include [source_id].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Do not make patient-level treatment recommendations.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Mention uncertainty for preclinical or indirect evidence.</a:t>
            </a:r>
          </a:p>
          <a:p>
            <a:pPr algn="l">
              <a:lnSpc>
                <a:spcPct val="106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- Output no more than 220 words.</a:t>
            </a:r>
          </a:p>
        </p:txBody>
      </p:sp>
      <p:sp>
        <p:nvSpPr>
          <p:cNvPr id="6" name="explain">
            <a:extLst>
              <a:ext uri="{FF2B5EF4-FFF2-40B4-BE49-F238E27FC236}">
                <a16:creationId xmlns:a16="http://schemas.microsoft.com/office/drawing/2014/main" id="{09C89A72-E36D-4560-A35C-4BDB578D4CDC}"/>
              </a:ext>
            </a:extLst>
          </p:cNvPr>
          <p:cNvSpPr>
            <a:spLocks noGrp="1"/>
          </p:cNvSpPr>
          <p:nvPr/>
        </p:nvSpPr>
        <p:spPr>
          <a:xfrm>
            <a:off x="7296150" y="1943100"/>
            <a:ext cx="3276600" cy="3048000"/>
          </a:xfrm>
          <a:prstGeom prst="roundRect">
            <a:avLst>
              <a:gd name="adj" fmla="val 2500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7" name="explain-title">
            <a:extLst>
              <a:ext uri="{FF2B5EF4-FFF2-40B4-BE49-F238E27FC236}">
                <a16:creationId xmlns:a16="http://schemas.microsoft.com/office/drawing/2014/main" id="{2D2417EA-63FF-4954-B85B-55BE74006023}"/>
              </a:ext>
            </a:extLst>
          </p:cNvPr>
          <p:cNvSpPr>
            <a:spLocks noGrp="1"/>
          </p:cNvSpPr>
          <p:nvPr/>
        </p:nvSpPr>
        <p:spPr>
          <a:xfrm>
            <a:off x="7600950" y="2266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你要看懂</a:t>
            </a:r>
          </a:p>
        </p:txBody>
      </p:sp>
      <p:sp>
        <p:nvSpPr>
          <p:cNvPr id="8" name="explain-list">
            <a:extLst>
              <a:ext uri="{FF2B5EF4-FFF2-40B4-BE49-F238E27FC236}">
                <a16:creationId xmlns:a16="http://schemas.microsoft.com/office/drawing/2014/main" id="{B70DE6CF-EF85-445D-ACAF-7E93AC235686}"/>
              </a:ext>
            </a:extLst>
          </p:cNvPr>
          <p:cNvSpPr>
            <a:spLocks noGrp="1"/>
          </p:cNvSpPr>
          <p:nvPr/>
        </p:nvSpPr>
        <p:spPr>
          <a:xfrm>
            <a:off x="7639050" y="2895600"/>
            <a:ext cx="2571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題目要有邊界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要求可驗證引用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禁止高風險輸出</a:t>
            </a:r>
          </a:p>
        </p:txBody>
      </p:sp>
    </p:spTree>
    <p:extLst>
      <p:ext uri="{BB962C8B-B14F-4D97-AF65-F5344CB8AC3E}">
        <p14:creationId xmlns:p14="http://schemas.microsoft.com/office/powerpoint/2010/main" val="11855118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FD5C1D10-781E-4AFF-AC69-97F67109921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LOOP PSEUDOCODE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8EE3E44-71C2-4044-81CB-0EDC6EEE4A1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完整 loop 的骨架其實很短，重點是 status 和 memory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2294F33F-B318-4A7A-B633-DE323052D937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31/38</a:t>
            </a:r>
          </a:p>
        </p:txBody>
      </p:sp>
      <p:sp>
        <p:nvSpPr>
          <p:cNvPr id="4" name="code-box">
            <a:extLst>
              <a:ext uri="{FF2B5EF4-FFF2-40B4-BE49-F238E27FC236}">
                <a16:creationId xmlns:a16="http://schemas.microsoft.com/office/drawing/2014/main" id="{34B4B618-62C6-4BBF-BA20-170C4DF9A78A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6019800" cy="3695700"/>
          </a:xfrm>
          <a:prstGeom prst="roundRect">
            <a:avLst>
              <a:gd name="adj" fmla="val 2062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>
              <a:ext uri="{FF2B5EF4-FFF2-40B4-BE49-F238E27FC236}">
                <a16:creationId xmlns:a16="http://schemas.microsoft.com/office/drawing/2014/main" id="{7DAB7DA6-7281-4ED1-AB76-3BA7B32907E0}"/>
              </a:ext>
            </a:extLst>
          </p:cNvPr>
          <p:cNvSpPr>
            <a:spLocks noGrp="1"/>
          </p:cNvSpPr>
          <p:nvPr/>
        </p:nvSpPr>
        <p:spPr>
          <a:xfrm>
            <a:off x="1047750" y="1895475"/>
            <a:ext cx="5676900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def run_loop(question, evidence, spec):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plan = make_plan(question, evidence)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draft = generate_summary(question, evidence, plan)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issue_log = []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previous_signature = None</a:t>
            </a:r>
          </a:p>
          <a:p>
            <a:endParaRPr sz="728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for iteration in range(1, spec.max_iterations + 1):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llm_issues = evaluate_with_llm(draft, evidence)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rule_issues = check_summary_rules(draft, evidence)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issues = llm_issues + rule_issues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issue_log.append({"iteration": iteration, "issues": issues})</a:t>
            </a:r>
          </a:p>
          <a:p>
            <a:endParaRPr sz="728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if has_human_review_issue(issues):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    return report("needs_human_review", draft, issue_log)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if no_blocking_issues(issues):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    return report("passed", draft, issue_log)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if no_progress(issues, previous_signature):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    return report("stalled", draft, issue_log)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previous_signature = issue_signature(issues)</a:t>
            </a: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draft = revise_summary(draft, issues, evidence)</a:t>
            </a:r>
          </a:p>
          <a:p>
            <a:endParaRPr sz="728" b="0">
              <a:solidFill>
                <a:srgbClr val="F3F7FA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6000"/>
              </a:lnSpc>
              <a:buNone/>
              <a:defRPr sz="728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28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return report("max_iterations_reached", draft, issue_log)</a:t>
            </a:r>
          </a:p>
        </p:txBody>
      </p:sp>
      <p:sp>
        <p:nvSpPr>
          <p:cNvPr id="6" name="explain">
            <a:extLst>
              <a:ext uri="{FF2B5EF4-FFF2-40B4-BE49-F238E27FC236}">
                <a16:creationId xmlns:a16="http://schemas.microsoft.com/office/drawing/2014/main" id="{7DBBE2F2-B14F-4A6B-BDB0-7CFF8D590DFF}"/>
              </a:ext>
            </a:extLst>
          </p:cNvPr>
          <p:cNvSpPr>
            <a:spLocks noGrp="1"/>
          </p:cNvSpPr>
          <p:nvPr/>
        </p:nvSpPr>
        <p:spPr>
          <a:xfrm>
            <a:off x="7296150" y="1943100"/>
            <a:ext cx="3276600" cy="3048000"/>
          </a:xfrm>
          <a:prstGeom prst="roundRect">
            <a:avLst>
              <a:gd name="adj" fmla="val 2500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7" name="explain-title">
            <a:extLst>
              <a:ext uri="{FF2B5EF4-FFF2-40B4-BE49-F238E27FC236}">
                <a16:creationId xmlns:a16="http://schemas.microsoft.com/office/drawing/2014/main" id="{E6A903DE-9D63-445B-918B-34E906CBD510}"/>
              </a:ext>
            </a:extLst>
          </p:cNvPr>
          <p:cNvSpPr>
            <a:spLocks noGrp="1"/>
          </p:cNvSpPr>
          <p:nvPr/>
        </p:nvSpPr>
        <p:spPr>
          <a:xfrm>
            <a:off x="7600950" y="2266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你要看懂</a:t>
            </a:r>
          </a:p>
        </p:txBody>
      </p:sp>
      <p:sp>
        <p:nvSpPr>
          <p:cNvPr id="8" name="explain-list">
            <a:extLst>
              <a:ext uri="{FF2B5EF4-FFF2-40B4-BE49-F238E27FC236}">
                <a16:creationId xmlns:a16="http://schemas.microsoft.com/office/drawing/2014/main" id="{7EDF03EB-7087-43D2-A934-E928F162F0AD}"/>
              </a:ext>
            </a:extLst>
          </p:cNvPr>
          <p:cNvSpPr>
            <a:spLocks noGrp="1"/>
          </p:cNvSpPr>
          <p:nvPr/>
        </p:nvSpPr>
        <p:spPr>
          <a:xfrm>
            <a:off x="7639050" y="2895600"/>
            <a:ext cx="2571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generate 後立刻 evaluate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LLM checks + rule checks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每輪都寫 issue log</a:t>
            </a:r>
          </a:p>
        </p:txBody>
      </p:sp>
    </p:spTree>
    <p:extLst>
      <p:ext uri="{BB962C8B-B14F-4D97-AF65-F5344CB8AC3E}">
        <p14:creationId xmlns:p14="http://schemas.microsoft.com/office/powerpoint/2010/main" val="7888701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5AC3E329-B243-46E4-BE14-F67B508C95C2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MOCK MODE VS AGENT MODE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0BCC5DF-C904-43EE-823B-F2E2DAC7663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你先學會 loop，再換成真正的 agent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E2DF83DB-E0C4-4512-8CB6-B5DF0523934A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32/38</a:t>
            </a:r>
          </a:p>
        </p:txBody>
      </p:sp>
      <p:sp>
        <p:nvSpPr>
          <p:cNvPr id="4" name="left">
            <a:extLst>
              <a:ext uri="{FF2B5EF4-FFF2-40B4-BE49-F238E27FC236}">
                <a16:creationId xmlns:a16="http://schemas.microsoft.com/office/drawing/2014/main" id="{37CCB54C-52DE-440A-A5C3-9597F82D0643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4762500" cy="3143250"/>
          </a:xfrm>
          <a:prstGeom prst="roundRect">
            <a:avLst>
              <a:gd name="adj" fmla="val 2424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</p:sp>
      <p:sp>
        <p:nvSpPr>
          <p:cNvPr id="5" name="left-head">
            <a:extLst>
              <a:ext uri="{FF2B5EF4-FFF2-40B4-BE49-F238E27FC236}">
                <a16:creationId xmlns:a16="http://schemas.microsoft.com/office/drawing/2014/main" id="{5C0AA90A-2D40-4288-8F87-09A1D1FB52CA}"/>
              </a:ext>
            </a:extLst>
          </p:cNvPr>
          <p:cNvSpPr>
            <a:spLocks noGrp="1"/>
          </p:cNvSpPr>
          <p:nvPr/>
        </p:nvSpPr>
        <p:spPr>
          <a:xfrm>
            <a:off x="1257300" y="21717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Mock mode</a:t>
            </a:r>
          </a:p>
        </p:txBody>
      </p:sp>
      <p:sp>
        <p:nvSpPr>
          <p:cNvPr id="6" name="left-list">
            <a:extLst>
              <a:ext uri="{FF2B5EF4-FFF2-40B4-BE49-F238E27FC236}">
                <a16:creationId xmlns:a16="http://schemas.microsoft.com/office/drawing/2014/main" id="{0E082CCF-94D6-44B8-97C0-3177A4AB5C82}"/>
              </a:ext>
            </a:extLst>
          </p:cNvPr>
          <p:cNvSpPr>
            <a:spLocks noGrp="1"/>
          </p:cNvSpPr>
          <p:nvPr/>
        </p:nvSpPr>
        <p:spPr>
          <a:xfrm>
            <a:off x="1314450" y="2838450"/>
            <a:ext cx="3714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使用預設 draft 和 issues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不需要 API key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讓你先看懂完整 loop</a:t>
            </a:r>
          </a:p>
        </p:txBody>
      </p:sp>
      <p:sp>
        <p:nvSpPr>
          <p:cNvPr id="7" name="right">
            <a:extLst>
              <a:ext uri="{FF2B5EF4-FFF2-40B4-BE49-F238E27FC236}">
                <a16:creationId xmlns:a16="http://schemas.microsoft.com/office/drawing/2014/main" id="{793E3FEF-FADD-4B53-A2C8-5AC8138CD2CD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762500" cy="3143250"/>
          </a:xfrm>
          <a:prstGeom prst="roundRect">
            <a:avLst>
              <a:gd name="adj" fmla="val 2424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8" name="right-head">
            <a:extLst>
              <a:ext uri="{FF2B5EF4-FFF2-40B4-BE49-F238E27FC236}">
                <a16:creationId xmlns:a16="http://schemas.microsoft.com/office/drawing/2014/main" id="{AFAB09E4-89F2-44AE-A646-EBBF145693DC}"/>
              </a:ext>
            </a:extLst>
          </p:cNvPr>
          <p:cNvSpPr>
            <a:spLocks noGrp="1"/>
          </p:cNvSpPr>
          <p:nvPr/>
        </p:nvSpPr>
        <p:spPr>
          <a:xfrm>
            <a:off x="6781800" y="21717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Agent mode</a:t>
            </a:r>
          </a:p>
        </p:txBody>
      </p:sp>
      <p:sp>
        <p:nvSpPr>
          <p:cNvPr id="9" name="right-list">
            <a:extLst>
              <a:ext uri="{FF2B5EF4-FFF2-40B4-BE49-F238E27FC236}">
                <a16:creationId xmlns:a16="http://schemas.microsoft.com/office/drawing/2014/main" id="{D00B3BA7-F542-4990-AABB-3DEDD923E8CA}"/>
              </a:ext>
            </a:extLst>
          </p:cNvPr>
          <p:cNvSpPr>
            <a:spLocks noGrp="1"/>
          </p:cNvSpPr>
          <p:nvPr/>
        </p:nvSpPr>
        <p:spPr>
          <a:xfrm>
            <a:off x="6838950" y="2838450"/>
            <a:ext cx="3714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prompt 交給 Codex / Gemini / Claude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可以真的產生和評估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需要處理成本、延遲和不穩定</a:t>
            </a:r>
          </a:p>
        </p:txBody>
      </p:sp>
    </p:spTree>
    <p:extLst>
      <p:ext uri="{BB962C8B-B14F-4D97-AF65-F5344CB8AC3E}">
        <p14:creationId xmlns:p14="http://schemas.microsoft.com/office/powerpoint/2010/main" val="1526633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00192D09-1B94-4CF1-BCA9-458E4B86C700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EXPECTED REPORT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1B77BDF-A3C5-4DCE-9830-E48769DE63E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最後報告要讓人一眼知道能不能用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8D597FF5-46AD-47E4-9A4A-656B51DF713F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33/38</a:t>
            </a:r>
          </a:p>
        </p:txBody>
      </p:sp>
      <p:sp>
        <p:nvSpPr>
          <p:cNvPr id="4" name="code-box">
            <a:extLst>
              <a:ext uri="{FF2B5EF4-FFF2-40B4-BE49-F238E27FC236}">
                <a16:creationId xmlns:a16="http://schemas.microsoft.com/office/drawing/2014/main" id="{D4E15958-3E1C-494D-8230-4CC97853FFA0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6019800" cy="3695700"/>
          </a:xfrm>
          <a:prstGeom prst="roundRect">
            <a:avLst>
              <a:gd name="adj" fmla="val 2062"/>
            </a:avLst>
          </a:prstGeom>
          <a:solidFill>
            <a:srgbClr val="202A33"/>
          </a:solidFill>
          <a:ln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>
              <a:ext uri="{FF2B5EF4-FFF2-40B4-BE49-F238E27FC236}">
                <a16:creationId xmlns:a16="http://schemas.microsoft.com/office/drawing/2014/main" id="{64858CB2-5B6A-41F9-944C-2FFC4074D380}"/>
              </a:ext>
            </a:extLst>
          </p:cNvPr>
          <p:cNvSpPr>
            <a:spLocks noGrp="1"/>
          </p:cNvSpPr>
          <p:nvPr/>
        </p:nvSpPr>
        <p:spPr>
          <a:xfrm>
            <a:off x="1047750" y="1895475"/>
            <a:ext cx="5676900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"status": "passed",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"trigger": "manual",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"goal": "produce_biomedical_summary",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"iterations": 2,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"terminal_states": ["passed", "needs_human_review", "stalled"],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"blocking_issues_remaining": 0,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"no_progress_rounds": 0,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"human_review_required": false,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"sources_used": ["S1", "S2", "S3"],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"verification_ladder": {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"L1 deterministic": ["source_id_exists"],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"L2 rule": ["no_clinical_recommendation_language"],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"L4 model_judge": ["overstatement_check"],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"L5 human_checkpoint": ["clinical_action"]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}</a:t>
            </a:r>
          </a:p>
          <a:p>
            <a:pPr algn="l">
              <a:lnSpc>
                <a:spcPct val="106000"/>
              </a:lnSpc>
              <a:buNone/>
              <a:defRPr sz="713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713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6" name="explain">
            <a:extLst>
              <a:ext uri="{FF2B5EF4-FFF2-40B4-BE49-F238E27FC236}">
                <a16:creationId xmlns:a16="http://schemas.microsoft.com/office/drawing/2014/main" id="{B2D2ABE1-52D0-499C-93F9-F4F773068EC9}"/>
              </a:ext>
            </a:extLst>
          </p:cNvPr>
          <p:cNvSpPr>
            <a:spLocks noGrp="1"/>
          </p:cNvSpPr>
          <p:nvPr/>
        </p:nvSpPr>
        <p:spPr>
          <a:xfrm>
            <a:off x="7296150" y="1943100"/>
            <a:ext cx="3276600" cy="3048000"/>
          </a:xfrm>
          <a:prstGeom prst="roundRect">
            <a:avLst>
              <a:gd name="adj" fmla="val 2500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7" name="explain-title">
            <a:extLst>
              <a:ext uri="{FF2B5EF4-FFF2-40B4-BE49-F238E27FC236}">
                <a16:creationId xmlns:a16="http://schemas.microsoft.com/office/drawing/2014/main" id="{5774F8FB-F4CD-4647-8B0C-F3DBB582A900}"/>
              </a:ext>
            </a:extLst>
          </p:cNvPr>
          <p:cNvSpPr>
            <a:spLocks noGrp="1"/>
          </p:cNvSpPr>
          <p:nvPr/>
        </p:nvSpPr>
        <p:spPr>
          <a:xfrm>
            <a:off x="7600950" y="2266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你要看懂</a:t>
            </a:r>
          </a:p>
        </p:txBody>
      </p:sp>
      <p:sp>
        <p:nvSpPr>
          <p:cNvPr id="8" name="explain-list">
            <a:extLst>
              <a:ext uri="{FF2B5EF4-FFF2-40B4-BE49-F238E27FC236}">
                <a16:creationId xmlns:a16="http://schemas.microsoft.com/office/drawing/2014/main" id="{DAD0F2F7-DE24-4031-A727-A2B1E957C77B}"/>
              </a:ext>
            </a:extLst>
          </p:cNvPr>
          <p:cNvSpPr>
            <a:spLocks noGrp="1"/>
          </p:cNvSpPr>
          <p:nvPr/>
        </p:nvSpPr>
        <p:spPr>
          <a:xfrm>
            <a:off x="7639050" y="2895600"/>
            <a:ext cx="2571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status 要明確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verification 要可追查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stalled 也要能停</a:t>
            </a:r>
          </a:p>
        </p:txBody>
      </p:sp>
    </p:spTree>
    <p:extLst>
      <p:ext uri="{BB962C8B-B14F-4D97-AF65-F5344CB8AC3E}">
        <p14:creationId xmlns:p14="http://schemas.microsoft.com/office/powerpoint/2010/main" val="8576498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5942EF3A-0858-478B-A38A-D9F814DDDC4F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REVIEW CHECKLIST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B0F7455-05A3-4AC7-9E54-76515E42CE6E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人工檢查不是重做，是盯住高風險點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CF0CD196-2D88-48F2-86A4-E697AD2A95DB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34/38</a:t>
            </a:r>
          </a:p>
        </p:txBody>
      </p:sp>
      <p:sp>
        <p:nvSpPr>
          <p:cNvPr id="4" name="head-0">
            <a:extLst>
              <a:ext uri="{FF2B5EF4-FFF2-40B4-BE49-F238E27FC236}">
                <a16:creationId xmlns:a16="http://schemas.microsoft.com/office/drawing/2014/main" id="{736B0573-CB65-47E7-99D7-3EF33A1D6D8B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2343150" cy="457200"/>
          </a:xfrm>
          <a:prstGeom prst="roundRect">
            <a:avLst>
              <a:gd name="adj" fmla="val 16667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5" name="head-text-0">
            <a:extLst>
              <a:ext uri="{FF2B5EF4-FFF2-40B4-BE49-F238E27FC236}">
                <a16:creationId xmlns:a16="http://schemas.microsoft.com/office/drawing/2014/main" id="{A2BF0A01-3210-4BE0-A490-4F158E865DBA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檢查項目</a:t>
            </a:r>
          </a:p>
        </p:txBody>
      </p:sp>
      <p:sp>
        <p:nvSpPr>
          <p:cNvPr id="6" name="head-1">
            <a:extLst>
              <a:ext uri="{FF2B5EF4-FFF2-40B4-BE49-F238E27FC236}">
                <a16:creationId xmlns:a16="http://schemas.microsoft.com/office/drawing/2014/main" id="{8A4D8D75-16C7-476F-96DF-FADF0D133C54}"/>
              </a:ext>
            </a:extLst>
          </p:cNvPr>
          <p:cNvSpPr>
            <a:spLocks noGrp="1"/>
          </p:cNvSpPr>
          <p:nvPr/>
        </p:nvSpPr>
        <p:spPr>
          <a:xfrm>
            <a:off x="323850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7" name="head-text-1">
            <a:extLst>
              <a:ext uri="{FF2B5EF4-FFF2-40B4-BE49-F238E27FC236}">
                <a16:creationId xmlns:a16="http://schemas.microsoft.com/office/drawing/2014/main" id="{C7269C62-ED7F-4680-BAF5-5C215CB71DAA}"/>
              </a:ext>
            </a:extLst>
          </p:cNvPr>
          <p:cNvSpPr>
            <a:spLocks noGrp="1"/>
          </p:cNvSpPr>
          <p:nvPr/>
        </p:nvSpPr>
        <p:spPr>
          <a:xfrm>
            <a:off x="337185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你要問的問題</a:t>
            </a:r>
          </a:p>
        </p:txBody>
      </p:sp>
      <p:sp>
        <p:nvSpPr>
          <p:cNvPr id="8" name="head-2">
            <a:extLst>
              <a:ext uri="{FF2B5EF4-FFF2-40B4-BE49-F238E27FC236}">
                <a16:creationId xmlns:a16="http://schemas.microsoft.com/office/drawing/2014/main" id="{8D0317AA-051D-4DC9-BF31-12FBCDB19347}"/>
              </a:ext>
            </a:extLst>
          </p:cNvPr>
          <p:cNvSpPr>
            <a:spLocks noGrp="1"/>
          </p:cNvSpPr>
          <p:nvPr/>
        </p:nvSpPr>
        <p:spPr>
          <a:xfrm>
            <a:off x="687705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9" name="head-text-2">
            <a:extLst>
              <a:ext uri="{FF2B5EF4-FFF2-40B4-BE49-F238E27FC236}">
                <a16:creationId xmlns:a16="http://schemas.microsoft.com/office/drawing/2014/main" id="{3EB05666-B835-432E-9296-23E3105FE00A}"/>
              </a:ext>
            </a:extLst>
          </p:cNvPr>
          <p:cNvSpPr>
            <a:spLocks noGrp="1"/>
          </p:cNvSpPr>
          <p:nvPr/>
        </p:nvSpPr>
        <p:spPr>
          <a:xfrm>
            <a:off x="701040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不通過時怎麼辦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F6A51F3F-4323-4846-A104-95A56C064AB0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DF0D966C-EEA9-4757-9843-0B75C5F7B1B5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Evidence coverage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6D15FD30-3910-40D3-A418-E1F86A5B265C}"/>
              </a:ext>
            </a:extLst>
          </p:cNvPr>
          <p:cNvSpPr>
            <a:spLocks noGrp="1"/>
          </p:cNvSpPr>
          <p:nvPr/>
        </p:nvSpPr>
        <p:spPr>
          <a:xfrm>
            <a:off x="323850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41BCFBF8-041F-4734-90B8-805DEBE5FD91}"/>
              </a:ext>
            </a:extLst>
          </p:cNvPr>
          <p:cNvSpPr>
            <a:spLocks noGrp="1"/>
          </p:cNvSpPr>
          <p:nvPr/>
        </p:nvSpPr>
        <p:spPr>
          <a:xfrm>
            <a:off x="337185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每個 claim 都有 source_id 嗎？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B953E280-A133-4950-91AD-8F1EA7294433}"/>
              </a:ext>
            </a:extLst>
          </p:cNvPr>
          <p:cNvSpPr>
            <a:spLocks noGrp="1"/>
          </p:cNvSpPr>
          <p:nvPr/>
        </p:nvSpPr>
        <p:spPr>
          <a:xfrm>
            <a:off x="687705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9A042721-8F29-4076-B1BA-9F2C210B2006}"/>
              </a:ext>
            </a:extLst>
          </p:cNvPr>
          <p:cNvSpPr>
            <a:spLocks noGrp="1"/>
          </p:cNvSpPr>
          <p:nvPr/>
        </p:nvSpPr>
        <p:spPr>
          <a:xfrm>
            <a:off x="701040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補引用或刪句子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17ED6A39-82EC-497D-BD56-DD31F98C0D6A}"/>
              </a:ext>
            </a:extLst>
          </p:cNvPr>
          <p:cNvSpPr>
            <a:spLocks noGrp="1"/>
          </p:cNvSpPr>
          <p:nvPr/>
        </p:nvSpPr>
        <p:spPr>
          <a:xfrm>
            <a:off x="895350" y="30289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79AADDA2-E86A-4D4B-AC15-74D1152F2C86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Overreach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60A883EF-BF37-4E2B-A4D7-16E48EFDE0BC}"/>
              </a:ext>
            </a:extLst>
          </p:cNvPr>
          <p:cNvSpPr>
            <a:spLocks noGrp="1"/>
          </p:cNvSpPr>
          <p:nvPr/>
        </p:nvSpPr>
        <p:spPr>
          <a:xfrm>
            <a:off x="323850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8CE06CB5-D35D-4C09-9D67-C554AA3C0B08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有沒有從 association 變成 clinical action？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75A65AC1-2591-437D-A2BE-D34F1AA730A3}"/>
              </a:ext>
            </a:extLst>
          </p:cNvPr>
          <p:cNvSpPr>
            <a:spLocks noGrp="1"/>
          </p:cNvSpPr>
          <p:nvPr/>
        </p:nvSpPr>
        <p:spPr>
          <a:xfrm>
            <a:off x="687705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B6135419-4837-40D8-9365-AFBDEB4E4724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降級語氣或 human review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51A9C0DA-3892-41D2-A0C3-765AC85F0CEB}"/>
              </a:ext>
            </a:extLst>
          </p:cNvPr>
          <p:cNvSpPr>
            <a:spLocks noGrp="1"/>
          </p:cNvSpPr>
          <p:nvPr/>
        </p:nvSpPr>
        <p:spPr>
          <a:xfrm>
            <a:off x="895350" y="37528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8E343E58-2E1E-40A2-A710-E2689B6BD473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Uncertainty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D3E9A3EA-75FC-4740-935C-C9FC9F8EF5ED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6C8435BC-3E4A-4537-AD5F-7CA968E985D8}"/>
              </a:ext>
            </a:extLst>
          </p:cNvPr>
          <p:cNvSpPr>
            <a:spLocks noGrp="1"/>
          </p:cNvSpPr>
          <p:nvPr/>
        </p:nvSpPr>
        <p:spPr>
          <a:xfrm>
            <a:off x="337185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preclinical evidence 有標不確定性嗎？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707781B3-DDC5-4838-9704-D3EEEDC5B3FB}"/>
              </a:ext>
            </a:extLst>
          </p:cNvPr>
          <p:cNvSpPr>
            <a:spLocks noGrp="1"/>
          </p:cNvSpPr>
          <p:nvPr/>
        </p:nvSpPr>
        <p:spPr>
          <a:xfrm>
            <a:off x="687705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26A786C8-4930-4A7F-9A6D-40D6EA4DCFD7}"/>
              </a:ext>
            </a:extLst>
          </p:cNvPr>
          <p:cNvSpPr>
            <a:spLocks noGrp="1"/>
          </p:cNvSpPr>
          <p:nvPr/>
        </p:nvSpPr>
        <p:spPr>
          <a:xfrm>
            <a:off x="701040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補上限制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E79E4741-294D-4257-950F-93FE10577970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414865F3-55CA-433B-A2A2-2F8C7C4F363A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Final status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35AFB680-A9C9-4375-8CDA-885090BB853F}"/>
              </a:ext>
            </a:extLst>
          </p:cNvPr>
          <p:cNvSpPr>
            <a:spLocks noGrp="1"/>
          </p:cNvSpPr>
          <p:nvPr/>
        </p:nvSpPr>
        <p:spPr>
          <a:xfrm>
            <a:off x="323850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BFCB3FAE-0E93-4A33-9D02-459CA0A10462}"/>
              </a:ext>
            </a:extLst>
          </p:cNvPr>
          <p:cNvSpPr>
            <a:spLocks noGrp="1"/>
          </p:cNvSpPr>
          <p:nvPr/>
        </p:nvSpPr>
        <p:spPr>
          <a:xfrm>
            <a:off x="337185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passed 真的合理嗎？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36BC2A04-E21A-46A6-90A7-743636C7A34D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52DDDEDE-3211-4DD5-8D79-43FC41E1D060}"/>
              </a:ext>
            </a:extLst>
          </p:cNvPr>
          <p:cNvSpPr>
            <a:spLocks noGrp="1"/>
          </p:cNvSpPr>
          <p:nvPr/>
        </p:nvSpPr>
        <p:spPr>
          <a:xfrm>
            <a:off x="701040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改成 needs_human_review</a:t>
            </a:r>
          </a:p>
        </p:txBody>
      </p:sp>
    </p:spTree>
    <p:extLst>
      <p:ext uri="{BB962C8B-B14F-4D97-AF65-F5344CB8AC3E}">
        <p14:creationId xmlns:p14="http://schemas.microsoft.com/office/powerpoint/2010/main" val="9531972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E8BB7D7C-A3D4-4A4F-BE23-F8787406F45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PART 6</a:t>
            </a:r>
          </a:p>
        </p:txBody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05C77D7D-3373-4870-BF24-CC2C1D10DF3B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9525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把你做出的 loop 帶回真實 biomedical agent</a:t>
            </a:r>
          </a:p>
        </p:txBody>
      </p:sp>
      <p:sp>
        <p:nvSpPr>
          <p:cNvPr id="3" name="section-subtitle">
            <a:extLst>
              <a:ext uri="{FF2B5EF4-FFF2-40B4-BE49-F238E27FC236}">
                <a16:creationId xmlns:a16="http://schemas.microsoft.com/office/drawing/2014/main" id="{5DAC9BC2-9820-4E34-9CD2-6381EC6710D4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今天的 mock loop 是骨架。真實系統只是把 generator、evaluator、retriever、rule checker 換成更強的實作。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13BCE5D3-9EB7-4200-BB8E-C374CB691368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35/38</a:t>
            </a:r>
          </a:p>
        </p:txBody>
      </p:sp>
    </p:spTree>
    <p:extLst>
      <p:ext uri="{BB962C8B-B14F-4D97-AF65-F5344CB8AC3E}">
        <p14:creationId xmlns:p14="http://schemas.microsoft.com/office/powerpoint/2010/main" val="12973200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4C12B7C8-7F80-4519-AEBB-B2EDB078906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REAL-WORLD EXTENSION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8FDB55-8673-453E-AAE7-68094F900D5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真實 biomedical loop 可以逐步升級，不要一口氣做太大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63016C60-49C0-4C3B-AFDD-09AD3DABAAF8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36/38</a:t>
            </a:r>
          </a:p>
        </p:txBody>
      </p:sp>
      <p:sp>
        <p:nvSpPr>
          <p:cNvPr id="4" name="head-0">
            <a:extLst>
              <a:ext uri="{FF2B5EF4-FFF2-40B4-BE49-F238E27FC236}">
                <a16:creationId xmlns:a16="http://schemas.microsoft.com/office/drawing/2014/main" id="{CCE9CC77-0868-400F-97A8-3DAD82DA82DC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23431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5" name="head-text-0">
            <a:extLst>
              <a:ext uri="{FF2B5EF4-FFF2-40B4-BE49-F238E27FC236}">
                <a16:creationId xmlns:a16="http://schemas.microsoft.com/office/drawing/2014/main" id="{8894D4DC-2867-408C-A86E-20A92DEE1B96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升級方向</a:t>
            </a:r>
          </a:p>
        </p:txBody>
      </p:sp>
      <p:sp>
        <p:nvSpPr>
          <p:cNvPr id="6" name="head-1">
            <a:extLst>
              <a:ext uri="{FF2B5EF4-FFF2-40B4-BE49-F238E27FC236}">
                <a16:creationId xmlns:a16="http://schemas.microsoft.com/office/drawing/2014/main" id="{7E805818-0A37-40B3-B223-9107FE7AC8CA}"/>
              </a:ext>
            </a:extLst>
          </p:cNvPr>
          <p:cNvSpPr>
            <a:spLocks noGrp="1"/>
          </p:cNvSpPr>
          <p:nvPr/>
        </p:nvSpPr>
        <p:spPr>
          <a:xfrm>
            <a:off x="323850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7" name="head-text-1">
            <a:extLst>
              <a:ext uri="{FF2B5EF4-FFF2-40B4-BE49-F238E27FC236}">
                <a16:creationId xmlns:a16="http://schemas.microsoft.com/office/drawing/2014/main" id="{855142E0-EB10-4292-8F8C-FEB561C658DA}"/>
              </a:ext>
            </a:extLst>
          </p:cNvPr>
          <p:cNvSpPr>
            <a:spLocks noGrp="1"/>
          </p:cNvSpPr>
          <p:nvPr/>
        </p:nvSpPr>
        <p:spPr>
          <a:xfrm>
            <a:off x="337185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加入什麼</a:t>
            </a:r>
          </a:p>
        </p:txBody>
      </p:sp>
      <p:sp>
        <p:nvSpPr>
          <p:cNvPr id="8" name="head-2">
            <a:extLst>
              <a:ext uri="{FF2B5EF4-FFF2-40B4-BE49-F238E27FC236}">
                <a16:creationId xmlns:a16="http://schemas.microsoft.com/office/drawing/2014/main" id="{EF7976B2-B14C-4829-9CED-B87D4E980317}"/>
              </a:ext>
            </a:extLst>
          </p:cNvPr>
          <p:cNvSpPr>
            <a:spLocks noGrp="1"/>
          </p:cNvSpPr>
          <p:nvPr/>
        </p:nvSpPr>
        <p:spPr>
          <a:xfrm>
            <a:off x="6877050" y="1790700"/>
            <a:ext cx="3638550" cy="457200"/>
          </a:xfrm>
          <a:prstGeom prst="roundRect">
            <a:avLst>
              <a:gd name="adj" fmla="val 16667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9" name="head-text-2">
            <a:extLst>
              <a:ext uri="{FF2B5EF4-FFF2-40B4-BE49-F238E27FC236}">
                <a16:creationId xmlns:a16="http://schemas.microsoft.com/office/drawing/2014/main" id="{E262B915-2D85-4734-981E-986BF9B8A689}"/>
              </a:ext>
            </a:extLst>
          </p:cNvPr>
          <p:cNvSpPr>
            <a:spLocks noGrp="1"/>
          </p:cNvSpPr>
          <p:nvPr/>
        </p:nvSpPr>
        <p:spPr>
          <a:xfrm>
            <a:off x="7010400" y="1905000"/>
            <a:ext cx="3371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新的風險</a:t>
            </a:r>
          </a:p>
        </p:txBody>
      </p:sp>
      <p:sp>
        <p:nvSpPr>
          <p:cNvPr id="10" name="cell-0-0">
            <a:extLst>
              <a:ext uri="{FF2B5EF4-FFF2-40B4-BE49-F238E27FC236}">
                <a16:creationId xmlns:a16="http://schemas.microsoft.com/office/drawing/2014/main" id="{EF00AAB3-A3EA-4595-B0FD-B1B2493C17C5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>
              <a:ext uri="{FF2B5EF4-FFF2-40B4-BE49-F238E27FC236}">
                <a16:creationId xmlns:a16="http://schemas.microsoft.com/office/drawing/2014/main" id="{356254B5-0F7F-4133-8F11-C016CEF9258E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PubMed retrieval</a:t>
            </a:r>
          </a:p>
        </p:txBody>
      </p:sp>
      <p:sp>
        <p:nvSpPr>
          <p:cNvPr id="12" name="cell-0-1">
            <a:extLst>
              <a:ext uri="{FF2B5EF4-FFF2-40B4-BE49-F238E27FC236}">
                <a16:creationId xmlns:a16="http://schemas.microsoft.com/office/drawing/2014/main" id="{2CB63065-5343-4DDA-9A86-9323CAF1F8A9}"/>
              </a:ext>
            </a:extLst>
          </p:cNvPr>
          <p:cNvSpPr>
            <a:spLocks noGrp="1"/>
          </p:cNvSpPr>
          <p:nvPr/>
        </p:nvSpPr>
        <p:spPr>
          <a:xfrm>
            <a:off x="323850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>
              <a:ext uri="{FF2B5EF4-FFF2-40B4-BE49-F238E27FC236}">
                <a16:creationId xmlns:a16="http://schemas.microsoft.com/office/drawing/2014/main" id="{246EB39E-E281-4B5A-A70B-B311253564C8}"/>
              </a:ext>
            </a:extLst>
          </p:cNvPr>
          <p:cNvSpPr>
            <a:spLocks noGrp="1"/>
          </p:cNvSpPr>
          <p:nvPr/>
        </p:nvSpPr>
        <p:spPr>
          <a:xfrm>
            <a:off x="337185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自動搜尋與排序來源</a:t>
            </a:r>
          </a:p>
        </p:txBody>
      </p:sp>
      <p:sp>
        <p:nvSpPr>
          <p:cNvPr id="14" name="cell-0-2">
            <a:extLst>
              <a:ext uri="{FF2B5EF4-FFF2-40B4-BE49-F238E27FC236}">
                <a16:creationId xmlns:a16="http://schemas.microsoft.com/office/drawing/2014/main" id="{F56F067C-85FD-435F-9EDE-BC4A95B9B0FC}"/>
              </a:ext>
            </a:extLst>
          </p:cNvPr>
          <p:cNvSpPr>
            <a:spLocks noGrp="1"/>
          </p:cNvSpPr>
          <p:nvPr/>
        </p:nvSpPr>
        <p:spPr>
          <a:xfrm>
            <a:off x="6877050" y="23050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>
              <a:ext uri="{FF2B5EF4-FFF2-40B4-BE49-F238E27FC236}">
                <a16:creationId xmlns:a16="http://schemas.microsoft.com/office/drawing/2014/main" id="{BA19727F-0BAE-4E9C-96E3-08D6D53402D2}"/>
              </a:ext>
            </a:extLst>
          </p:cNvPr>
          <p:cNvSpPr>
            <a:spLocks noGrp="1"/>
          </p:cNvSpPr>
          <p:nvPr/>
        </p:nvSpPr>
        <p:spPr>
          <a:xfrm>
            <a:off x="7010400" y="24193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query drift、來源過多</a:t>
            </a:r>
          </a:p>
        </p:txBody>
      </p:sp>
      <p:sp>
        <p:nvSpPr>
          <p:cNvPr id="16" name="cell-1-0">
            <a:extLst>
              <a:ext uri="{FF2B5EF4-FFF2-40B4-BE49-F238E27FC236}">
                <a16:creationId xmlns:a16="http://schemas.microsoft.com/office/drawing/2014/main" id="{E96FA379-2428-4AF9-B7A8-2390FA4407A3}"/>
              </a:ext>
            </a:extLst>
          </p:cNvPr>
          <p:cNvSpPr>
            <a:spLocks noGrp="1"/>
          </p:cNvSpPr>
          <p:nvPr/>
        </p:nvSpPr>
        <p:spPr>
          <a:xfrm>
            <a:off x="895350" y="30289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>
              <a:ext uri="{FF2B5EF4-FFF2-40B4-BE49-F238E27FC236}">
                <a16:creationId xmlns:a16="http://schemas.microsoft.com/office/drawing/2014/main" id="{95B66F47-2448-4C2D-BE8E-C559AFD4DE72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Citation validation</a:t>
            </a:r>
          </a:p>
        </p:txBody>
      </p:sp>
      <p:sp>
        <p:nvSpPr>
          <p:cNvPr id="18" name="cell-1-1">
            <a:extLst>
              <a:ext uri="{FF2B5EF4-FFF2-40B4-BE49-F238E27FC236}">
                <a16:creationId xmlns:a16="http://schemas.microsoft.com/office/drawing/2014/main" id="{E9688725-6E6D-4B7D-AEEE-C8BD369D5C2A}"/>
              </a:ext>
            </a:extLst>
          </p:cNvPr>
          <p:cNvSpPr>
            <a:spLocks noGrp="1"/>
          </p:cNvSpPr>
          <p:nvPr/>
        </p:nvSpPr>
        <p:spPr>
          <a:xfrm>
            <a:off x="323850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>
              <a:ext uri="{FF2B5EF4-FFF2-40B4-BE49-F238E27FC236}">
                <a16:creationId xmlns:a16="http://schemas.microsoft.com/office/drawing/2014/main" id="{4B389A02-C163-4A90-8278-9788F00FC56E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PMID/DOI 存在性與摘要比對</a:t>
            </a:r>
          </a:p>
        </p:txBody>
      </p:sp>
      <p:sp>
        <p:nvSpPr>
          <p:cNvPr id="20" name="cell-1-2">
            <a:extLst>
              <a:ext uri="{FF2B5EF4-FFF2-40B4-BE49-F238E27FC236}">
                <a16:creationId xmlns:a16="http://schemas.microsoft.com/office/drawing/2014/main" id="{FAC640AB-2EE9-435D-A240-C9D8CF5A556F}"/>
              </a:ext>
            </a:extLst>
          </p:cNvPr>
          <p:cNvSpPr>
            <a:spLocks noGrp="1"/>
          </p:cNvSpPr>
          <p:nvPr/>
        </p:nvSpPr>
        <p:spPr>
          <a:xfrm>
            <a:off x="6877050" y="30289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>
              <a:ext uri="{FF2B5EF4-FFF2-40B4-BE49-F238E27FC236}">
                <a16:creationId xmlns:a16="http://schemas.microsoft.com/office/drawing/2014/main" id="{9FB8263F-E53D-4EA4-A65B-F67DF8528430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摘要不等於全文</a:t>
            </a:r>
          </a:p>
        </p:txBody>
      </p:sp>
      <p:sp>
        <p:nvSpPr>
          <p:cNvPr id="22" name="cell-2-0">
            <a:extLst>
              <a:ext uri="{FF2B5EF4-FFF2-40B4-BE49-F238E27FC236}">
                <a16:creationId xmlns:a16="http://schemas.microsoft.com/office/drawing/2014/main" id="{7A6B0FD7-2D2A-47CA-8EBB-04CD2FB5EC2F}"/>
              </a:ext>
            </a:extLst>
          </p:cNvPr>
          <p:cNvSpPr>
            <a:spLocks noGrp="1"/>
          </p:cNvSpPr>
          <p:nvPr/>
        </p:nvSpPr>
        <p:spPr>
          <a:xfrm>
            <a:off x="895350" y="37528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>
              <a:ext uri="{FF2B5EF4-FFF2-40B4-BE49-F238E27FC236}">
                <a16:creationId xmlns:a16="http://schemas.microsoft.com/office/drawing/2014/main" id="{73A6C650-B979-4B0F-958B-515D1D947492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Gene symbol check</a:t>
            </a:r>
          </a:p>
        </p:txBody>
      </p:sp>
      <p:sp>
        <p:nvSpPr>
          <p:cNvPr id="24" name="cell-2-1">
            <a:extLst>
              <a:ext uri="{FF2B5EF4-FFF2-40B4-BE49-F238E27FC236}">
                <a16:creationId xmlns:a16="http://schemas.microsoft.com/office/drawing/2014/main" id="{A61D8581-AC32-45CE-957F-197082DEE22E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>
              <a:ext uri="{FF2B5EF4-FFF2-40B4-BE49-F238E27FC236}">
                <a16:creationId xmlns:a16="http://schemas.microsoft.com/office/drawing/2014/main" id="{BEB58F71-6141-40B1-880D-E84E8DED9F3B}"/>
              </a:ext>
            </a:extLst>
          </p:cNvPr>
          <p:cNvSpPr>
            <a:spLocks noGrp="1"/>
          </p:cNvSpPr>
          <p:nvPr/>
        </p:nvSpPr>
        <p:spPr>
          <a:xfrm>
            <a:off x="337185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HGNC approved symbol lookup</a:t>
            </a:r>
          </a:p>
        </p:txBody>
      </p:sp>
      <p:sp>
        <p:nvSpPr>
          <p:cNvPr id="26" name="cell-2-2">
            <a:extLst>
              <a:ext uri="{FF2B5EF4-FFF2-40B4-BE49-F238E27FC236}">
                <a16:creationId xmlns:a16="http://schemas.microsoft.com/office/drawing/2014/main" id="{404B77F3-B337-4FB8-A9BB-150902D639E8}"/>
              </a:ext>
            </a:extLst>
          </p:cNvPr>
          <p:cNvSpPr>
            <a:spLocks noGrp="1"/>
          </p:cNvSpPr>
          <p:nvPr/>
        </p:nvSpPr>
        <p:spPr>
          <a:xfrm>
            <a:off x="6877050" y="37528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>
              <a:ext uri="{FF2B5EF4-FFF2-40B4-BE49-F238E27FC236}">
                <a16:creationId xmlns:a16="http://schemas.microsoft.com/office/drawing/2014/main" id="{F52540B8-AA1F-43C3-AB55-3EBF07FFDF59}"/>
              </a:ext>
            </a:extLst>
          </p:cNvPr>
          <p:cNvSpPr>
            <a:spLocks noGrp="1"/>
          </p:cNvSpPr>
          <p:nvPr/>
        </p:nvSpPr>
        <p:spPr>
          <a:xfrm>
            <a:off x="7010400" y="38671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舊名、物種混淆</a:t>
            </a:r>
          </a:p>
        </p:txBody>
      </p:sp>
      <p:sp>
        <p:nvSpPr>
          <p:cNvPr id="28" name="cell-3-0">
            <a:extLst>
              <a:ext uri="{FF2B5EF4-FFF2-40B4-BE49-F238E27FC236}">
                <a16:creationId xmlns:a16="http://schemas.microsoft.com/office/drawing/2014/main" id="{E4DBB08A-3C27-4B06-A2CA-8BA0081A759D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23431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>
              <a:ext uri="{FF2B5EF4-FFF2-40B4-BE49-F238E27FC236}">
                <a16:creationId xmlns:a16="http://schemas.microsoft.com/office/drawing/2014/main" id="{D0CBA363-BF44-4E80-8A7C-57B299896D2F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Human review queue</a:t>
            </a:r>
          </a:p>
        </p:txBody>
      </p:sp>
      <p:sp>
        <p:nvSpPr>
          <p:cNvPr id="30" name="cell-3-1">
            <a:extLst>
              <a:ext uri="{FF2B5EF4-FFF2-40B4-BE49-F238E27FC236}">
                <a16:creationId xmlns:a16="http://schemas.microsoft.com/office/drawing/2014/main" id="{A2607DC1-7144-4501-ADAF-19D7264DFDE5}"/>
              </a:ext>
            </a:extLst>
          </p:cNvPr>
          <p:cNvSpPr>
            <a:spLocks noGrp="1"/>
          </p:cNvSpPr>
          <p:nvPr/>
        </p:nvSpPr>
        <p:spPr>
          <a:xfrm>
            <a:off x="323850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>
              <a:ext uri="{FF2B5EF4-FFF2-40B4-BE49-F238E27FC236}">
                <a16:creationId xmlns:a16="http://schemas.microsoft.com/office/drawing/2014/main" id="{D1558613-9311-460F-B0AB-E7F4F4B229BA}"/>
              </a:ext>
            </a:extLst>
          </p:cNvPr>
          <p:cNvSpPr>
            <a:spLocks noGrp="1"/>
          </p:cNvSpPr>
          <p:nvPr/>
        </p:nvSpPr>
        <p:spPr>
          <a:xfrm>
            <a:off x="337185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高風險 issue 送審</a:t>
            </a:r>
          </a:p>
        </p:txBody>
      </p:sp>
      <p:sp>
        <p:nvSpPr>
          <p:cNvPr id="32" name="cell-3-2">
            <a:extLst>
              <a:ext uri="{FF2B5EF4-FFF2-40B4-BE49-F238E27FC236}">
                <a16:creationId xmlns:a16="http://schemas.microsoft.com/office/drawing/2014/main" id="{79791E7A-C72E-4CB6-AC9A-B060197522F9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36385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>
              <a:ext uri="{FF2B5EF4-FFF2-40B4-BE49-F238E27FC236}">
                <a16:creationId xmlns:a16="http://schemas.microsoft.com/office/drawing/2014/main" id="{26D0C1B3-2939-4DFE-B155-0F5BF85EF383}"/>
              </a:ext>
            </a:extLst>
          </p:cNvPr>
          <p:cNvSpPr>
            <a:spLocks noGrp="1"/>
          </p:cNvSpPr>
          <p:nvPr/>
        </p:nvSpPr>
        <p:spPr>
          <a:xfrm>
            <a:off x="7010400" y="4591050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7000"/>
              </a:lnSpc>
              <a:buNone/>
              <a:def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8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責任歸屬與審查紀錄</a:t>
            </a:r>
          </a:p>
        </p:txBody>
      </p:sp>
    </p:spTree>
    <p:extLst>
      <p:ext uri="{BB962C8B-B14F-4D97-AF65-F5344CB8AC3E}">
        <p14:creationId xmlns:p14="http://schemas.microsoft.com/office/powerpoint/2010/main" val="12832249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9A6D1CAA-9FC9-4C6B-9C23-C079BCF0BC3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673720E-F25D-4E12-AC03-E32D78030DE2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好的 loop 不是把人拿掉，而是讓人審得更準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B57E6A53-EA1C-4605-9B25-C5A8CB3053AC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37/38</a:t>
            </a:r>
          </a:p>
        </p:txBody>
      </p:sp>
      <p:sp>
        <p:nvSpPr>
          <p:cNvPr id="4" name="left-bullets">
            <a:extLst>
              <a:ext uri="{FF2B5EF4-FFF2-40B4-BE49-F238E27FC236}">
                <a16:creationId xmlns:a16="http://schemas.microsoft.com/office/drawing/2014/main" id="{7124A949-603F-47F1-9879-3F04493E67B0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5143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低風險格式錯誤交給程式抓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語意和 overstatement 交給 evaluator 先掃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高風險 biomedical 判斷交給 human-in-the-loop</a:t>
            </a:r>
          </a:p>
          <a:p>
            <a:pPr marL="24" indent="-12">
              <a:lnSpc>
                <a:spcPct val="108000"/>
              </a:lnSpc>
              <a:spcAft>
                <a:spcPts val="13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最後把每一輪留下可追查紀錄</a:t>
            </a:r>
          </a:p>
        </p:txBody>
      </p:sp>
      <p:sp>
        <p:nvSpPr>
          <p:cNvPr id="5" name="right-box">
            <a:extLst>
              <a:ext uri="{FF2B5EF4-FFF2-40B4-BE49-F238E27FC236}">
                <a16:creationId xmlns:a16="http://schemas.microsoft.com/office/drawing/2014/main" id="{3D33A4F5-12CD-4847-A7B6-B259BC932408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3905250" cy="3143250"/>
          </a:xfrm>
          <a:prstGeom prst="roundRect">
            <a:avLst>
              <a:gd name="adj" fmla="val 2424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6" name="right-title">
            <a:extLst>
              <a:ext uri="{FF2B5EF4-FFF2-40B4-BE49-F238E27FC236}">
                <a16:creationId xmlns:a16="http://schemas.microsoft.com/office/drawing/2014/main" id="{32937AB3-900C-44B5-8E5C-9361DE64CAC4}"/>
              </a:ext>
            </a:extLst>
          </p:cNvPr>
          <p:cNvSpPr>
            <a:spLocks noGrp="1"/>
          </p:cNvSpPr>
          <p:nvPr/>
        </p:nvSpPr>
        <p:spPr>
          <a:xfrm>
            <a:off x="7067550" y="21526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Day 2 收束</a:t>
            </a:r>
          </a:p>
        </p:txBody>
      </p:sp>
      <p:sp>
        <p:nvSpPr>
          <p:cNvPr id="7" name="right-bullets">
            <a:extLst>
              <a:ext uri="{FF2B5EF4-FFF2-40B4-BE49-F238E27FC236}">
                <a16:creationId xmlns:a16="http://schemas.microsoft.com/office/drawing/2014/main" id="{F3CC4433-B1AB-407D-B06B-44E000174A41}"/>
              </a:ext>
            </a:extLst>
          </p:cNvPr>
          <p:cNvSpPr>
            <a:spLocks noGrp="1"/>
          </p:cNvSpPr>
          <p:nvPr/>
        </p:nvSpPr>
        <p:spPr>
          <a:xfrm>
            <a:off x="7105650" y="2781300"/>
            <a:ext cx="295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Harness: 可控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Spec: 可驗證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Loop: 可改進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Human: 可負責</a:t>
            </a:r>
          </a:p>
        </p:txBody>
      </p:sp>
    </p:spTree>
    <p:extLst>
      <p:ext uri="{BB962C8B-B14F-4D97-AF65-F5344CB8AC3E}">
        <p14:creationId xmlns:p14="http://schemas.microsoft.com/office/powerpoint/2010/main" val="12983637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BB4BA6A8-9F4B-489D-AADD-8E2C349CEBC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752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WRAP-UP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CD41D0-AB8A-4058-BFBB-90990A2E0009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離開前，你要記得這五件事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C4351934-6D35-4B80-BA00-B1D5537D156E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Loop engineering  |  38/38</a:t>
            </a:r>
          </a:p>
        </p:txBody>
      </p:sp>
      <p:sp>
        <p:nvSpPr>
          <p:cNvPr id="4" name="wrap-0">
            <a:extLst>
              <a:ext uri="{FF2B5EF4-FFF2-40B4-BE49-F238E27FC236}">
                <a16:creationId xmlns:a16="http://schemas.microsoft.com/office/drawing/2014/main" id="{96ED0694-FC76-4D57-8752-B04E51C435A4}"/>
              </a:ext>
            </a:extLst>
          </p:cNvPr>
          <p:cNvSpPr>
            <a:spLocks noGrp="1"/>
          </p:cNvSpPr>
          <p:nvPr/>
        </p:nvSpPr>
        <p:spPr>
          <a:xfrm>
            <a:off x="1123950" y="1581150"/>
            <a:ext cx="9620250" cy="552450"/>
          </a:xfrm>
          <a:prstGeom prst="roundRect">
            <a:avLst>
              <a:gd name="adj" fmla="val 13793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</p:sp>
      <p:sp>
        <p:nvSpPr>
          <p:cNvPr id="5" name="wrap-text-0">
            <a:extLst>
              <a:ext uri="{FF2B5EF4-FFF2-40B4-BE49-F238E27FC236}">
                <a16:creationId xmlns:a16="http://schemas.microsoft.com/office/drawing/2014/main" id="{5D570BE5-05C3-4FF7-8DE9-4FDE207814CB}"/>
              </a:ext>
            </a:extLst>
          </p:cNvPr>
          <p:cNvSpPr>
            <a:spLocks noGrp="1"/>
          </p:cNvSpPr>
          <p:nvPr/>
        </p:nvSpPr>
        <p:spPr>
          <a:xfrm>
            <a:off x="1409700" y="173355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1. Loop 不是一直問 AI，而是有階段、有檢查、有停止條件。</a:t>
            </a:r>
          </a:p>
        </p:txBody>
      </p:sp>
      <p:sp>
        <p:nvSpPr>
          <p:cNvPr id="6" name="wrap-1">
            <a:extLst>
              <a:ext uri="{FF2B5EF4-FFF2-40B4-BE49-F238E27FC236}">
                <a16:creationId xmlns:a16="http://schemas.microsoft.com/office/drawing/2014/main" id="{593405E0-4E65-4C06-929D-9D610C687323}"/>
              </a:ext>
            </a:extLst>
          </p:cNvPr>
          <p:cNvSpPr>
            <a:spLocks noGrp="1"/>
          </p:cNvSpPr>
          <p:nvPr/>
        </p:nvSpPr>
        <p:spPr>
          <a:xfrm>
            <a:off x="1123950" y="2362200"/>
            <a:ext cx="9620250" cy="552450"/>
          </a:xfrm>
          <a:prstGeom prst="roundRect">
            <a:avLst>
              <a:gd name="adj" fmla="val 13793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</p:sp>
      <p:sp>
        <p:nvSpPr>
          <p:cNvPr id="7" name="wrap-text-1">
            <a:extLst>
              <a:ext uri="{FF2B5EF4-FFF2-40B4-BE49-F238E27FC236}">
                <a16:creationId xmlns:a16="http://schemas.microsoft.com/office/drawing/2014/main" id="{1EF1A147-C328-4783-B622-8AE02D9663E3}"/>
              </a:ext>
            </a:extLst>
          </p:cNvPr>
          <p:cNvSpPr>
            <a:spLocks noGrp="1"/>
          </p:cNvSpPr>
          <p:nvPr/>
        </p:nvSpPr>
        <p:spPr>
          <a:xfrm>
            <a:off x="1409700" y="251460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2. Generator 負責產生，evaluator 負責挑錯，兩者要分開。</a:t>
            </a:r>
          </a:p>
        </p:txBody>
      </p:sp>
      <p:sp>
        <p:nvSpPr>
          <p:cNvPr id="8" name="wrap-2">
            <a:extLst>
              <a:ext uri="{FF2B5EF4-FFF2-40B4-BE49-F238E27FC236}">
                <a16:creationId xmlns:a16="http://schemas.microsoft.com/office/drawing/2014/main" id="{05EF182D-D824-4066-A57B-C556C1552F68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9620250" cy="552450"/>
          </a:xfrm>
          <a:prstGeom prst="roundRect">
            <a:avLst>
              <a:gd name="adj" fmla="val 13793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</p:sp>
      <p:sp>
        <p:nvSpPr>
          <p:cNvPr id="9" name="wrap-text-2">
            <a:extLst>
              <a:ext uri="{FF2B5EF4-FFF2-40B4-BE49-F238E27FC236}">
                <a16:creationId xmlns:a16="http://schemas.microsoft.com/office/drawing/2014/main" id="{646E5D9B-B5D7-4DB4-9E9F-D6CAC1B30DB0}"/>
              </a:ext>
            </a:extLst>
          </p:cNvPr>
          <p:cNvSpPr>
            <a:spLocks noGrp="1"/>
          </p:cNvSpPr>
          <p:nvPr/>
        </p:nvSpPr>
        <p:spPr>
          <a:xfrm>
            <a:off x="1409700" y="329565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3. Self-check 只能降低風險，不能取代 rule checker 和 human review。</a:t>
            </a:r>
          </a:p>
        </p:txBody>
      </p:sp>
      <p:sp>
        <p:nvSpPr>
          <p:cNvPr id="10" name="wrap-3">
            <a:extLst>
              <a:ext uri="{FF2B5EF4-FFF2-40B4-BE49-F238E27FC236}">
                <a16:creationId xmlns:a16="http://schemas.microsoft.com/office/drawing/2014/main" id="{DC5E5F0C-9518-4C84-BE1D-3139078974CF}"/>
              </a:ext>
            </a:extLst>
          </p:cNvPr>
          <p:cNvSpPr>
            <a:spLocks noGrp="1"/>
          </p:cNvSpPr>
          <p:nvPr/>
        </p:nvSpPr>
        <p:spPr>
          <a:xfrm>
            <a:off x="1123950" y="3924300"/>
            <a:ext cx="9620250" cy="552450"/>
          </a:xfrm>
          <a:prstGeom prst="roundRect">
            <a:avLst>
              <a:gd name="adj" fmla="val 13793"/>
            </a:avLst>
          </a:prstGeom>
          <a:solidFill>
            <a:srgbClr val="EDF8EE"/>
          </a:solidFill>
          <a:ln w="9525">
            <a:solidFill>
              <a:srgbClr val="438D4A"/>
            </a:solidFill>
            <a:prstDash val="solid"/>
          </a:ln>
        </p:spPr>
      </p:sp>
      <p:sp>
        <p:nvSpPr>
          <p:cNvPr id="11" name="wrap-text-3">
            <a:extLst>
              <a:ext uri="{FF2B5EF4-FFF2-40B4-BE49-F238E27FC236}">
                <a16:creationId xmlns:a16="http://schemas.microsoft.com/office/drawing/2014/main" id="{5E4A94CB-FDC0-4EDD-842A-1E4F1A314E51}"/>
              </a:ext>
            </a:extLst>
          </p:cNvPr>
          <p:cNvSpPr>
            <a:spLocks noGrp="1"/>
          </p:cNvSpPr>
          <p:nvPr/>
        </p:nvSpPr>
        <p:spPr>
          <a:xfrm>
            <a:off x="1409700" y="407670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4. Biomedical summary 必須能追到 evidence，不可以只看起來合理。</a:t>
            </a:r>
          </a:p>
        </p:txBody>
      </p:sp>
      <p:sp>
        <p:nvSpPr>
          <p:cNvPr id="12" name="wrap-4">
            <a:extLst>
              <a:ext uri="{FF2B5EF4-FFF2-40B4-BE49-F238E27FC236}">
                <a16:creationId xmlns:a16="http://schemas.microsoft.com/office/drawing/2014/main" id="{B00127C7-9EF6-4DEE-AD80-B1A9B12ADD96}"/>
              </a:ext>
            </a:extLst>
          </p:cNvPr>
          <p:cNvSpPr>
            <a:spLocks noGrp="1"/>
          </p:cNvSpPr>
          <p:nvPr/>
        </p:nvSpPr>
        <p:spPr>
          <a:xfrm>
            <a:off x="1123950" y="4705350"/>
            <a:ext cx="9620250" cy="552450"/>
          </a:xfrm>
          <a:prstGeom prst="roundRect">
            <a:avLst>
              <a:gd name="adj" fmla="val 13793"/>
            </a:avLst>
          </a:prstGeom>
          <a:solidFill>
            <a:srgbClr val="FFF8E8"/>
          </a:solidFill>
          <a:ln w="9525">
            <a:solidFill>
              <a:srgbClr val="D89A16"/>
            </a:solidFill>
            <a:prstDash val="solid"/>
          </a:ln>
        </p:spPr>
      </p:sp>
      <p:sp>
        <p:nvSpPr>
          <p:cNvPr id="13" name="wrap-text-4">
            <a:extLst>
              <a:ext uri="{FF2B5EF4-FFF2-40B4-BE49-F238E27FC236}">
                <a16:creationId xmlns:a16="http://schemas.microsoft.com/office/drawing/2014/main" id="{A40DB8B9-07B4-4DDB-A093-752B52AA2191}"/>
              </a:ext>
            </a:extLst>
          </p:cNvPr>
          <p:cNvSpPr>
            <a:spLocks noGrp="1"/>
          </p:cNvSpPr>
          <p:nvPr/>
        </p:nvSpPr>
        <p:spPr>
          <a:xfrm>
            <a:off x="1409700" y="485775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5. 好的 loop 會知道什麼時候停止，什麼時候交給人。</a:t>
            </a:r>
          </a:p>
        </p:txBody>
      </p:sp>
    </p:spTree>
    <p:extLst>
      <p:ext uri="{BB962C8B-B14F-4D97-AF65-F5344CB8AC3E}">
        <p14:creationId xmlns:p14="http://schemas.microsoft.com/office/powerpoint/2010/main" val="5838106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3886</Words>
  <Application>Microsoft Macintosh PowerPoint</Application>
  <DocSecurity>0</DocSecurity>
  <PresentationFormat>寬螢幕</PresentationFormat>
  <Paragraphs>697</Paragraphs>
  <Slides>46</Slides>
  <Notes>46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5" baseType="lpstr">
      <vt:lpstr>-apple-system</vt:lpstr>
      <vt:lpstr>PingFang TC</vt:lpstr>
      <vt:lpstr>Spectral</vt:lpstr>
      <vt:lpstr>system-ui</vt:lpstr>
      <vt:lpstr>Aptos</vt:lpstr>
      <vt:lpstr>Arial</vt:lpstr>
      <vt:lpstr>Calibri</vt:lpstr>
      <vt:lpstr>Menlo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Willis Cheng</cp:lastModifiedBy>
  <cp:revision>20</cp:revision>
  <dcterms:created xsi:type="dcterms:W3CDTF">2026-07-08T06:35:45Z</dcterms:created>
  <dcterms:modified xsi:type="dcterms:W3CDTF">2026-07-08T17:19:34Z</dcterms:modified>
</cp:coreProperties>
</file>