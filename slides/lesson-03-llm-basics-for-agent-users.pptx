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2f39a1b043424d" /><Relationship Type="http://schemas.openxmlformats.org/officeDocument/2006/relationships/extended-properties" Target="/docProps/app.xml" Id="R1954ea3b3ea448c6" /><Relationship Type="http://schemas.openxmlformats.org/officeDocument/2006/relationships/officeDocument" Target="/ppt/presentation.xml" Id="R6134848bb09f48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ae630f42b84a04"/>
  </p:sldMasterIdLst>
  <p:notesMasterIdLst>
    <p:notesMasterId xmlns:r="http://schemas.openxmlformats.org/officeDocument/2006/relationships" r:id="R4ad721cc5dbb4061"/>
  </p:notesMasterIdLst>
  <p:sldIdLst>
    <p:sldId xmlns:r="http://schemas.openxmlformats.org/officeDocument/2006/relationships" id="256" r:id="Ra8492dabe941479a"/>
    <p:sldId xmlns:r="http://schemas.openxmlformats.org/officeDocument/2006/relationships" id="257" r:id="R03f845b901414b96"/>
    <p:sldId xmlns:r="http://schemas.openxmlformats.org/officeDocument/2006/relationships" id="258" r:id="R1cdc5c67781c480d"/>
    <p:sldId xmlns:r="http://schemas.openxmlformats.org/officeDocument/2006/relationships" id="259" r:id="R90e7cb759d0c406d"/>
    <p:sldId xmlns:r="http://schemas.openxmlformats.org/officeDocument/2006/relationships" id="260" r:id="R22fea805e63a46e9"/>
    <p:sldId xmlns:r="http://schemas.openxmlformats.org/officeDocument/2006/relationships" id="261" r:id="Rc8b42a7fcc004b36"/>
    <p:sldId xmlns:r="http://schemas.openxmlformats.org/officeDocument/2006/relationships" id="262" r:id="R039b4a5898e94bca"/>
    <p:sldId xmlns:r="http://schemas.openxmlformats.org/officeDocument/2006/relationships" id="263" r:id="R44cafdb994444ae5"/>
    <p:sldId xmlns:r="http://schemas.openxmlformats.org/officeDocument/2006/relationships" id="264" r:id="Ra0890fd2a70b4147"/>
    <p:sldId xmlns:r="http://schemas.openxmlformats.org/officeDocument/2006/relationships" id="265" r:id="R1c10b578989c4b93"/>
    <p:sldId xmlns:r="http://schemas.openxmlformats.org/officeDocument/2006/relationships" id="266" r:id="Rc7558bb51fda4c32"/>
    <p:sldId xmlns:r="http://schemas.openxmlformats.org/officeDocument/2006/relationships" id="267" r:id="R1a0e5d797fb343f1"/>
    <p:sldId xmlns:r="http://schemas.openxmlformats.org/officeDocument/2006/relationships" id="268" r:id="Rd1dca803c4e64069"/>
    <p:sldId xmlns:r="http://schemas.openxmlformats.org/officeDocument/2006/relationships" id="269" r:id="R5357dfad45fe42d0"/>
    <p:sldId xmlns:r="http://schemas.openxmlformats.org/officeDocument/2006/relationships" id="270" r:id="R7bd5d27083c44c5c"/>
    <p:sldId xmlns:r="http://schemas.openxmlformats.org/officeDocument/2006/relationships" id="271" r:id="R8a08c59db6d04944"/>
    <p:sldId xmlns:r="http://schemas.openxmlformats.org/officeDocument/2006/relationships" id="272" r:id="R1a56e29207ed4206"/>
    <p:sldId xmlns:r="http://schemas.openxmlformats.org/officeDocument/2006/relationships" id="273" r:id="R025efb44af8f4dde"/>
    <p:sldId xmlns:r="http://schemas.openxmlformats.org/officeDocument/2006/relationships" id="274" r:id="R5f54fa6e18514f01"/>
    <p:sldId xmlns:r="http://schemas.openxmlformats.org/officeDocument/2006/relationships" id="275" r:id="R6d6a9adbcf18464a"/>
    <p:sldId xmlns:r="http://schemas.openxmlformats.org/officeDocument/2006/relationships" id="276" r:id="Rfc32c768ef4742c1"/>
    <p:sldId xmlns:r="http://schemas.openxmlformats.org/officeDocument/2006/relationships" id="277" r:id="Race049428dec4b67"/>
    <p:sldId xmlns:r="http://schemas.openxmlformats.org/officeDocument/2006/relationships" id="278" r:id="R14053d7bd20b42d8"/>
    <p:sldId xmlns:r="http://schemas.openxmlformats.org/officeDocument/2006/relationships" id="279" r:id="R14e05733c0424553"/>
    <p:sldId xmlns:r="http://schemas.openxmlformats.org/officeDocument/2006/relationships" id="280" r:id="R2a41321bc3674ce2"/>
    <p:sldId xmlns:r="http://schemas.openxmlformats.org/officeDocument/2006/relationships" id="281" r:id="R2041269047d34b65"/>
    <p:sldId xmlns:r="http://schemas.openxmlformats.org/officeDocument/2006/relationships" id="282" r:id="R54aef94cf0bc4efa"/>
    <p:sldId xmlns:r="http://schemas.openxmlformats.org/officeDocument/2006/relationships" id="283" r:id="R2629de2f55b3459d"/>
    <p:sldId xmlns:r="http://schemas.openxmlformats.org/officeDocument/2006/relationships" id="284" r:id="R74eeb9321f7d43fb"/>
    <p:sldId xmlns:r="http://schemas.openxmlformats.org/officeDocument/2006/relationships" id="285" r:id="R0ec7a25f727647fe"/>
    <p:sldId xmlns:r="http://schemas.openxmlformats.org/officeDocument/2006/relationships" id="286" r:id="R2c1de2cdacb3443e"/>
    <p:sldId xmlns:r="http://schemas.openxmlformats.org/officeDocument/2006/relationships" id="287" r:id="Rffb27edb28f343e3"/>
    <p:sldId xmlns:r="http://schemas.openxmlformats.org/officeDocument/2006/relationships" id="288" r:id="Ra924d92bc7e34c72"/>
    <p:sldId xmlns:r="http://schemas.openxmlformats.org/officeDocument/2006/relationships" id="289" r:id="R12e434a97b9c448a"/>
    <p:sldId xmlns:r="http://schemas.openxmlformats.org/officeDocument/2006/relationships" id="290" r:id="Rb60193a13bf5436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c240c56fb94d44" /><Relationship Type="http://schemas.openxmlformats.org/officeDocument/2006/relationships/slideMaster" Target="/ppt/slideMasters/slideMaster1.xml" Id="R1fae630f42b84a04" /><Relationship Type="http://schemas.openxmlformats.org/officeDocument/2006/relationships/notesMaster" Target="/ppt/notesMasters/notesMaster1.xml" Id="R4ad721cc5dbb4061" /><Relationship Type="http://schemas.openxmlformats.org/officeDocument/2006/relationships/presProps" Target="/ppt/presProps.xml" Id="R8db8540b3a1f486a" /><Relationship Type="http://schemas.openxmlformats.org/officeDocument/2006/relationships/tableStyles" Target="/ppt/tableStyles.xml" Id="Refc81caf75c44ba3" /><Relationship Type="http://schemas.openxmlformats.org/officeDocument/2006/relationships/slide" Target="/ppt/slides/slide1.xml" Id="Ra8492dabe941479a" /><Relationship Type="http://schemas.openxmlformats.org/officeDocument/2006/relationships/slide" Target="/ppt/slides/slide2.xml" Id="R03f845b901414b96" /><Relationship Type="http://schemas.openxmlformats.org/officeDocument/2006/relationships/slide" Target="/ppt/slides/slide3.xml" Id="R1cdc5c67781c480d" /><Relationship Type="http://schemas.openxmlformats.org/officeDocument/2006/relationships/slide" Target="/ppt/slides/slide4.xml" Id="R90e7cb759d0c406d" /><Relationship Type="http://schemas.openxmlformats.org/officeDocument/2006/relationships/slide" Target="/ppt/slides/slide5.xml" Id="R22fea805e63a46e9" /><Relationship Type="http://schemas.openxmlformats.org/officeDocument/2006/relationships/slide" Target="/ppt/slides/slide6.xml" Id="Rc8b42a7fcc004b36" /><Relationship Type="http://schemas.openxmlformats.org/officeDocument/2006/relationships/slide" Target="/ppt/slides/slide7.xml" Id="R039b4a5898e94bca" /><Relationship Type="http://schemas.openxmlformats.org/officeDocument/2006/relationships/slide" Target="/ppt/slides/slide8.xml" Id="R44cafdb994444ae5" /><Relationship Type="http://schemas.openxmlformats.org/officeDocument/2006/relationships/slide" Target="/ppt/slides/slide9.xml" Id="Ra0890fd2a70b4147" /><Relationship Type="http://schemas.openxmlformats.org/officeDocument/2006/relationships/slide" Target="/ppt/slides/slide10.xml" Id="R1c10b578989c4b93" /><Relationship Type="http://schemas.openxmlformats.org/officeDocument/2006/relationships/slide" Target="/ppt/slides/slide11.xml" Id="Rc7558bb51fda4c32" /><Relationship Type="http://schemas.openxmlformats.org/officeDocument/2006/relationships/slide" Target="/ppt/slides/slide12.xml" Id="R1a0e5d797fb343f1" /><Relationship Type="http://schemas.openxmlformats.org/officeDocument/2006/relationships/slide" Target="/ppt/slides/slide13.xml" Id="Rd1dca803c4e64069" /><Relationship Type="http://schemas.openxmlformats.org/officeDocument/2006/relationships/slide" Target="/ppt/slides/slide14.xml" Id="R5357dfad45fe42d0" /><Relationship Type="http://schemas.openxmlformats.org/officeDocument/2006/relationships/slide" Target="/ppt/slides/slide15.xml" Id="R7bd5d27083c44c5c" /><Relationship Type="http://schemas.openxmlformats.org/officeDocument/2006/relationships/slide" Target="/ppt/slides/slide16.xml" Id="R8a08c59db6d04944" /><Relationship Type="http://schemas.openxmlformats.org/officeDocument/2006/relationships/slide" Target="/ppt/slides/slide17.xml" Id="R1a56e29207ed4206" /><Relationship Type="http://schemas.openxmlformats.org/officeDocument/2006/relationships/slide" Target="/ppt/slides/slide18.xml" Id="R025efb44af8f4dde" /><Relationship Type="http://schemas.openxmlformats.org/officeDocument/2006/relationships/slide" Target="/ppt/slides/slide19.xml" Id="R5f54fa6e18514f01" /><Relationship Type="http://schemas.openxmlformats.org/officeDocument/2006/relationships/slide" Target="/ppt/slides/slide20.xml" Id="R6d6a9adbcf18464a" /><Relationship Type="http://schemas.openxmlformats.org/officeDocument/2006/relationships/slide" Target="/ppt/slides/slide21.xml" Id="Rfc32c768ef4742c1" /><Relationship Type="http://schemas.openxmlformats.org/officeDocument/2006/relationships/slide" Target="/ppt/slides/slide22.xml" Id="Race049428dec4b67" /><Relationship Type="http://schemas.openxmlformats.org/officeDocument/2006/relationships/slide" Target="/ppt/slides/slide23.xml" Id="R14053d7bd20b42d8" /><Relationship Type="http://schemas.openxmlformats.org/officeDocument/2006/relationships/slide" Target="/ppt/slides/slide24.xml" Id="R14e05733c0424553" /><Relationship Type="http://schemas.openxmlformats.org/officeDocument/2006/relationships/slide" Target="/ppt/slides/slide25.xml" Id="R2a41321bc3674ce2" /><Relationship Type="http://schemas.openxmlformats.org/officeDocument/2006/relationships/slide" Target="/ppt/slides/slide26.xml" Id="R2041269047d34b65" /><Relationship Type="http://schemas.openxmlformats.org/officeDocument/2006/relationships/slide" Target="/ppt/slides/slide27.xml" Id="R54aef94cf0bc4efa" /><Relationship Type="http://schemas.openxmlformats.org/officeDocument/2006/relationships/slide" Target="/ppt/slides/slide28.xml" Id="R2629de2f55b3459d" /><Relationship Type="http://schemas.openxmlformats.org/officeDocument/2006/relationships/slide" Target="/ppt/slides/slide29.xml" Id="R74eeb9321f7d43fb" /><Relationship Type="http://schemas.openxmlformats.org/officeDocument/2006/relationships/slide" Target="/ppt/slides/slide30.xml" Id="R0ec7a25f727647fe" /><Relationship Type="http://schemas.openxmlformats.org/officeDocument/2006/relationships/slide" Target="/ppt/slides/slide31.xml" Id="R2c1de2cdacb3443e" /><Relationship Type="http://schemas.openxmlformats.org/officeDocument/2006/relationships/slide" Target="/ppt/slides/slide32.xml" Id="Rffb27edb28f343e3" /><Relationship Type="http://schemas.openxmlformats.org/officeDocument/2006/relationships/slide" Target="/ppt/slides/slide33.xml" Id="Ra924d92bc7e34c72" /><Relationship Type="http://schemas.openxmlformats.org/officeDocument/2006/relationships/slide" Target="/ppt/slides/slide34.xml" Id="R12e434a97b9c448a" /><Relationship Type="http://schemas.openxmlformats.org/officeDocument/2006/relationships/slide" Target="/ppt/slides/slide35.xml" Id="Rb60193a13bf543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8eaf70be6146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03b8417c524ecf" /><Relationship Type="http://schemas.openxmlformats.org/officeDocument/2006/relationships/notesMaster" Target="/ppt/notesMasters/notesMaster1.xml" Id="R2ca7d322ca514b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90515c87e24e8e" /><Relationship Type="http://schemas.openxmlformats.org/officeDocument/2006/relationships/notesMaster" Target="/ppt/notesMasters/notesMaster1.xml" Id="R8df659a65a8141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06b5c3bf724412" /><Relationship Type="http://schemas.openxmlformats.org/officeDocument/2006/relationships/notesMaster" Target="/ppt/notesMasters/notesMaster1.xml" Id="R9bce849f25044a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1ef7a0f7eb4146" /><Relationship Type="http://schemas.openxmlformats.org/officeDocument/2006/relationships/notesMaster" Target="/ppt/notesMasters/notesMaster1.xml" Id="Rae42b60325fc4e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164a718a5a4083" /><Relationship Type="http://schemas.openxmlformats.org/officeDocument/2006/relationships/notesMaster" Target="/ppt/notesMasters/notesMaster1.xml" Id="Rded80195304047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adffefdd974ed6" /><Relationship Type="http://schemas.openxmlformats.org/officeDocument/2006/relationships/notesMaster" Target="/ppt/notesMasters/notesMaster1.xml" Id="R64db360ab6cc4c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e8ef3b5d354535" /><Relationship Type="http://schemas.openxmlformats.org/officeDocument/2006/relationships/notesMaster" Target="/ppt/notesMasters/notesMaster1.xml" Id="R7c4ddf17a8ce4f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07c603f6334e49" /><Relationship Type="http://schemas.openxmlformats.org/officeDocument/2006/relationships/notesMaster" Target="/ppt/notesMasters/notesMaster1.xml" Id="R70ce1db1f6364f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a7c0d6794e4668" /><Relationship Type="http://schemas.openxmlformats.org/officeDocument/2006/relationships/notesMaster" Target="/ppt/notesMasters/notesMaster1.xml" Id="R65558adce5034f2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0408ddc5474ce9" /><Relationship Type="http://schemas.openxmlformats.org/officeDocument/2006/relationships/notesMaster" Target="/ppt/notesMasters/notesMaster1.xml" Id="Rff79c0996f724b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dd22a23c404a8e" /><Relationship Type="http://schemas.openxmlformats.org/officeDocument/2006/relationships/notesMaster" Target="/ppt/notesMasters/notesMaster1.xml" Id="Re7faa8af4d1a45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b1234693d24c80" /><Relationship Type="http://schemas.openxmlformats.org/officeDocument/2006/relationships/notesMaster" Target="/ppt/notesMasters/notesMaster1.xml" Id="Ra8bac76b151e42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a70ac04e1f42cb" /><Relationship Type="http://schemas.openxmlformats.org/officeDocument/2006/relationships/notesMaster" Target="/ppt/notesMasters/notesMaster1.xml" Id="Rcdd24e89b6e64ad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febccbf54c4c03" /><Relationship Type="http://schemas.openxmlformats.org/officeDocument/2006/relationships/notesMaster" Target="/ppt/notesMasters/notesMaster1.xml" Id="Reb89d2bb3f07434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1d8029b26b4793" /><Relationship Type="http://schemas.openxmlformats.org/officeDocument/2006/relationships/notesMaster" Target="/ppt/notesMasters/notesMaster1.xml" Id="R84f6a694bf2e40b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b08b557b60427a" /><Relationship Type="http://schemas.openxmlformats.org/officeDocument/2006/relationships/notesMaster" Target="/ppt/notesMasters/notesMaster1.xml" Id="R049c006a292845d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d8eb9f86cb64852" /><Relationship Type="http://schemas.openxmlformats.org/officeDocument/2006/relationships/notesMaster" Target="/ppt/notesMasters/notesMaster1.xml" Id="R996ef5ddffa4415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a8c1c2834c14245" /><Relationship Type="http://schemas.openxmlformats.org/officeDocument/2006/relationships/notesMaster" Target="/ppt/notesMasters/notesMaster1.xml" Id="R4fe7132cce8545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7819952cf5d4a95" /><Relationship Type="http://schemas.openxmlformats.org/officeDocument/2006/relationships/notesMaster" Target="/ppt/notesMasters/notesMaster1.xml" Id="R7ec281cf11bd48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ef3e48ce5ce4171" /><Relationship Type="http://schemas.openxmlformats.org/officeDocument/2006/relationships/notesMaster" Target="/ppt/notesMasters/notesMaster1.xml" Id="Ra79b060ed68647e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d06ad67103e4188" /><Relationship Type="http://schemas.openxmlformats.org/officeDocument/2006/relationships/notesMaster" Target="/ppt/notesMasters/notesMaster1.xml" Id="R58ea6118a98a4b4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530e75aa561451d" /><Relationship Type="http://schemas.openxmlformats.org/officeDocument/2006/relationships/notesMaster" Target="/ppt/notesMasters/notesMaster1.xml" Id="R0b7f937cb0b446d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6aca33580d04ea1" /><Relationship Type="http://schemas.openxmlformats.org/officeDocument/2006/relationships/notesMaster" Target="/ppt/notesMasters/notesMaster1.xml" Id="R604e56da41a942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c879c7b8d0b4205" /><Relationship Type="http://schemas.openxmlformats.org/officeDocument/2006/relationships/notesMaster" Target="/ppt/notesMasters/notesMaster1.xml" Id="R182941ce26814ad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47a9fcd584d41f1" /><Relationship Type="http://schemas.openxmlformats.org/officeDocument/2006/relationships/notesMaster" Target="/ppt/notesMasters/notesMaster1.xml" Id="R0f0bab8e14ae4c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1e8cefd49714ff7" /><Relationship Type="http://schemas.openxmlformats.org/officeDocument/2006/relationships/notesMaster" Target="/ppt/notesMasters/notesMaster1.xml" Id="R0b96906a36034e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bc51acf8d014bed" /><Relationship Type="http://schemas.openxmlformats.org/officeDocument/2006/relationships/notesMaster" Target="/ppt/notesMasters/notesMaster1.xml" Id="R5d2b4c8524ae404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41213eb472a4311" /><Relationship Type="http://schemas.openxmlformats.org/officeDocument/2006/relationships/notesMaster" Target="/ppt/notesMasters/notesMaster1.xml" Id="Rb6bcaef7f350426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57a6a427b9340f3" /><Relationship Type="http://schemas.openxmlformats.org/officeDocument/2006/relationships/notesMaster" Target="/ppt/notesMasters/notesMaster1.xml" Id="R05a70b84d90043e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7b472a09c674e21" /><Relationship Type="http://schemas.openxmlformats.org/officeDocument/2006/relationships/notesMaster" Target="/ppt/notesMasters/notesMaster1.xml" Id="R929989c59f10463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c1831aaeb714a0d" /><Relationship Type="http://schemas.openxmlformats.org/officeDocument/2006/relationships/notesMaster" Target="/ppt/notesMasters/notesMaster1.xml" Id="Rf00970d1381244a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e4b7e35ee5741ab" /><Relationship Type="http://schemas.openxmlformats.org/officeDocument/2006/relationships/notesMaster" Target="/ppt/notesMasters/notesMaster1.xml" Id="R3353ce84d8f8454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a4b75809bb6427e" /><Relationship Type="http://schemas.openxmlformats.org/officeDocument/2006/relationships/notesMaster" Target="/ppt/notesMasters/notesMaster1.xml" Id="R4c3e2aab0e0e451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39eb569fa244112" /><Relationship Type="http://schemas.openxmlformats.org/officeDocument/2006/relationships/notesMaster" Target="/ppt/notesMasters/notesMaster1.xml" Id="R1f1576572c444d9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5ad8f9bef614f71" /><Relationship Type="http://schemas.openxmlformats.org/officeDocument/2006/relationships/notesMaster" Target="/ppt/notesMasters/notesMaster1.xml" Id="R173a55e49fa74b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設定這堂課的定位：不是模型數學課，也不是單純 prompt tips，而是讓學生能安全使用 LLM 和 agent 做 biomedical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這張讓學生知道 90 分鐘的路線。重點是學會判斷與驗證，不是背術語。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用一句話建立整堂課的標準。之後所有概念都回到可驗證性。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資料庫回答要可追溯；LLM 回答要被驗證。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流暢度是語言能力，不是 evidence。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先理解 token、next-token prediction 與 context window。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是模型處理文字的基本單位。教學重點：學生不用背切法，</a:t>
            </a:r>
          </a:p>
          <a:p xmlns:a="http://schemas.openxmlformats.org/drawingml/2006/main">
            <a:r>
              <a:t>但要知道模型不是用人類讀法在看字。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gene、variant、中文疾病名稱做 tokenization 直覺。提醒學生：罕見符號、座標、變異名稱可能讓模型更容易出錯。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它很會補完模式，所以也可能補出一個看起來合理但不存在的 PMID。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為什麼 LLM 很容易產生「像答案」的文字。教學重點：像答案 ≠ 是答案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Context window 是模型當下看得到的工作桌面。教學重點：它不是無限記憶，</a:t>
            </a:r>
          </a:p>
          <a:p xmlns:a="http://schemas.openxmlformats.org/drawingml/2006/main">
            <a:r>
              <a:t>只是當下桌面。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context 常常比模型桌面還大。教學重點：資料放不完整，</a:t>
            </a:r>
          </a:p>
          <a:p xmlns:a="http://schemas.openxmlformats.org/drawingml/2006/main">
            <a:r>
              <a:t>答案就不能當完整。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 不會自動知道你丟進去的表格是錯的。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system prompt、tool use、memory 決定了它能不能被檢查。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System prompt 是行為規則，不是任務內容。教學重點：規則層和任務層</a:t>
            </a:r>
          </a:p>
          <a:p xmlns:a="http://schemas.openxmlformats.org/drawingml/2006/main">
            <a:r>
              <a:t>要分開想。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答錯時先問：任務錯、規則錯、材料錯，還是檢查流程錯？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Debug agent 時，要能指出是哪一層讓答案變差。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 負責規劃與解釋；工具負責查證與計算。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哪些事應該交給 tool，而不是讓模型猜。逐列說明風險與檢查方式。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Memory 是被保存、取回、再放進 context 的資訊。教學重點：Memory 也可能</a:t>
            </a:r>
          </a:p>
          <a:p xmlns:a="http://schemas.openxmlformats.org/drawingml/2006/main">
            <a:r>
              <a:t>過期或污染任務。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memory 最怕舊版本和錯任務混在一起。教學重點：記憶越方便，</a:t>
            </a:r>
          </a:p>
          <a:p xmlns:a="http://schemas.openxmlformats.org/drawingml/2006/main">
            <a:r>
              <a:t>越要標版本。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讓學生真的改寫 prompt。討論時請聚焦在來源、版本、schema、not found rule 與 review boundary。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接下來把錯誤拆成來源和檢查方式。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Hallucination 是沒有可靠依據卻生成合理文字。教學重點：語氣不是證據。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缺少證據，但 prompt 逼它回答。教學重點：好 prompt 要允許它說：</a:t>
            </a:r>
          </a:p>
          <a:p xmlns:a="http://schemas.openxmlformats.org/drawingml/2006/main">
            <a:r>
              <a:t>我不知道。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相似概念混淆會讓答案看起來專業又危險。教學重點：相近不等於相同。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Context 不完整或版本錯誤會導致錯結論。教學重點：版本沒寫，</a:t>
            </a:r>
          </a:p>
          <a:p xmlns:a="http://schemas.openxmlformats.org/drawingml/2006/main">
            <a:r>
              <a:t>就是在邀請混亂。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假 citation：最像真的錯誤。逐列說明風險與檢查方式。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錯 gene symbol：一個字母就能換世界線。逐列說明風險與檢查方式。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錯資料庫版本：答案不是錯在語言，是錯在時間。逐列說明風險與檢查方式。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過度臨床推論：從相關性跳到建議。逐列說明風險與檢查方式。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任務需要驗證，因為錯誤有實際代價。教學重點：可驗證不是潔癖，</a:t>
            </a:r>
          </a:p>
          <a:p xmlns:a="http://schemas.openxmlformats.org/drawingml/2006/main">
            <a:r>
              <a:t>是專業安全帶。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可檢查 task spec 讓 LLM 不容易亂發揮。教學重點：Prompt = 任務 + 材料 + 格式 + 檢查規則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讓學生真的改寫 prompt。討論時請聚焦在來源、版本、schema、not found rule 與 review boundary。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把全課收斂成可帶走的 checklist。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db2003cca242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8d43eb39084f64" /><Relationship Type="http://schemas.openxmlformats.org/officeDocument/2006/relationships/slideLayout" Target="/ppt/slideLayouts/slideLayout1.xml" Id="R2281eb6b6a4a4d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1eb6b6a4a4d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4d2a4e60a419a" /><Relationship Type="http://schemas.openxmlformats.org/officeDocument/2006/relationships/notesSlide" Target="/ppt/notesSlides/notesSlide1.xml" Id="R0a99feded1a9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e5ed94c614481" /><Relationship Type="http://schemas.openxmlformats.org/officeDocument/2006/relationships/notesSlide" Target="/ppt/notesSlides/notesSlide2.xml" Id="R9ae1d279e4194e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2f0c02a984d28" /><Relationship Type="http://schemas.openxmlformats.org/officeDocument/2006/relationships/notesSlide" Target="/ppt/notesSlides/notesSlide3.xml" Id="R60d601c01b1e40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a23fa19984541" /><Relationship Type="http://schemas.openxmlformats.org/officeDocument/2006/relationships/notesSlide" Target="/ppt/notesSlides/notesSlide4.xml" Id="R4d4a9833dd3d40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cd6c3a3ba4a14" /><Relationship Type="http://schemas.openxmlformats.org/officeDocument/2006/relationships/notesSlide" Target="/ppt/notesSlides/notesSlide5.xml" Id="Rf8c609464b5844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51b740d7d46ba" /><Relationship Type="http://schemas.openxmlformats.org/officeDocument/2006/relationships/notesSlide" Target="/ppt/notesSlides/notesSlide6.xml" Id="R08934ca8b05148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ab3c1504b471d" /><Relationship Type="http://schemas.openxmlformats.org/officeDocument/2006/relationships/notesSlide" Target="/ppt/notesSlides/notesSlide7.xml" Id="R0570cd27f76d4d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f32242f2d4b57" /><Relationship Type="http://schemas.openxmlformats.org/officeDocument/2006/relationships/notesSlide" Target="/ppt/notesSlides/notesSlide8.xml" Id="Ra4913c492fbf48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87ebf80024dca" /><Relationship Type="http://schemas.openxmlformats.org/officeDocument/2006/relationships/notesSlide" Target="/ppt/notesSlides/notesSlide9.xml" Id="Rfd95780cbeb84f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3e18344864cb8" /><Relationship Type="http://schemas.openxmlformats.org/officeDocument/2006/relationships/notesSlide" Target="/ppt/notesSlides/notesSlide10.xml" Id="R8bf080abb94a4f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c8f26f84a4a21" /><Relationship Type="http://schemas.openxmlformats.org/officeDocument/2006/relationships/notesSlide" Target="/ppt/notesSlides/notesSlide11.xml" Id="R73931db8473f4d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2b17f897c4768" /><Relationship Type="http://schemas.openxmlformats.org/officeDocument/2006/relationships/notesSlide" Target="/ppt/notesSlides/notesSlide12.xml" Id="R59e787eef78b430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98f0862204661" /><Relationship Type="http://schemas.openxmlformats.org/officeDocument/2006/relationships/notesSlide" Target="/ppt/notesSlides/notesSlide13.xml" Id="R55819ca421804f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16269939e4758" /><Relationship Type="http://schemas.openxmlformats.org/officeDocument/2006/relationships/notesSlide" Target="/ppt/notesSlides/notesSlide14.xml" Id="Rdaca0c4092364e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3beb5d3a7477e" /><Relationship Type="http://schemas.openxmlformats.org/officeDocument/2006/relationships/notesSlide" Target="/ppt/notesSlides/notesSlide15.xml" Id="Rdd64aca456f647d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fa66b93d248d7" /><Relationship Type="http://schemas.openxmlformats.org/officeDocument/2006/relationships/notesSlide" Target="/ppt/notesSlides/notesSlide16.xml" Id="Rc0a5dd2a77314ed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cb8a949804bce" /><Relationship Type="http://schemas.openxmlformats.org/officeDocument/2006/relationships/notesSlide" Target="/ppt/notesSlides/notesSlide17.xml" Id="R086b10d5f124468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c95440900416f" /><Relationship Type="http://schemas.openxmlformats.org/officeDocument/2006/relationships/notesSlide" Target="/ppt/notesSlides/notesSlide18.xml" Id="Rccfbf0edeaa04af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b040ed30b4233" /><Relationship Type="http://schemas.openxmlformats.org/officeDocument/2006/relationships/notesSlide" Target="/ppt/notesSlides/notesSlide19.xml" Id="R10ad54e57fcf455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ad816243f490c" /><Relationship Type="http://schemas.openxmlformats.org/officeDocument/2006/relationships/notesSlide" Target="/ppt/notesSlides/notesSlide20.xml" Id="R8e064c746de34b4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8f570b61c4581" /><Relationship Type="http://schemas.openxmlformats.org/officeDocument/2006/relationships/notesSlide" Target="/ppt/notesSlides/notesSlide21.xml" Id="R77fa5b8efa3e42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6fac17cf54211" /><Relationship Type="http://schemas.openxmlformats.org/officeDocument/2006/relationships/notesSlide" Target="/ppt/notesSlides/notesSlide22.xml" Id="Re89dbe30c2e040a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e89bc47374a32" /><Relationship Type="http://schemas.openxmlformats.org/officeDocument/2006/relationships/notesSlide" Target="/ppt/notesSlides/notesSlide23.xml" Id="R664f5abbd9a742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ab240d2604fa6" /><Relationship Type="http://schemas.openxmlformats.org/officeDocument/2006/relationships/notesSlide" Target="/ppt/notesSlides/notesSlide24.xml" Id="Ree22c3e8f1b84b5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b8b04f8bd4456" /><Relationship Type="http://schemas.openxmlformats.org/officeDocument/2006/relationships/notesSlide" Target="/ppt/notesSlides/notesSlide25.xml" Id="Ra27e56ca6f664b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1f04c1e6343e8" /><Relationship Type="http://schemas.openxmlformats.org/officeDocument/2006/relationships/notesSlide" Target="/ppt/notesSlides/notesSlide26.xml" Id="Re2571d201725452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55baecaa44000" /><Relationship Type="http://schemas.openxmlformats.org/officeDocument/2006/relationships/notesSlide" Target="/ppt/notesSlides/notesSlide27.xml" Id="Rc5e0f7ea3b924c0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62882e8c64f5c" /><Relationship Type="http://schemas.openxmlformats.org/officeDocument/2006/relationships/notesSlide" Target="/ppt/notesSlides/notesSlide28.xml" Id="R77629e611d354ab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47d4612ad4622" /><Relationship Type="http://schemas.openxmlformats.org/officeDocument/2006/relationships/notesSlide" Target="/ppt/notesSlides/notesSlide29.xml" Id="R8ec7c2b50dee46d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31efd50204c0a" /><Relationship Type="http://schemas.openxmlformats.org/officeDocument/2006/relationships/notesSlide" Target="/ppt/notesSlides/notesSlide30.xml" Id="Ra67eda6fb9d6496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3c19ea1c4441e" /><Relationship Type="http://schemas.openxmlformats.org/officeDocument/2006/relationships/notesSlide" Target="/ppt/notesSlides/notesSlide31.xml" Id="R628e8abdeef74b3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2682cf24d46d1" /><Relationship Type="http://schemas.openxmlformats.org/officeDocument/2006/relationships/notesSlide" Target="/ppt/notesSlides/notesSlide32.xml" Id="R3728ae174f034a7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9eab0372048ce" /><Relationship Type="http://schemas.openxmlformats.org/officeDocument/2006/relationships/notesSlide" Target="/ppt/notesSlides/notesSlide33.xml" Id="R8f23e7bb205f46b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07de5f48748ef" /><Relationship Type="http://schemas.openxmlformats.org/officeDocument/2006/relationships/notesSlide" Target="/ppt/notesSlides/notesSlide34.xml" Id="Rf2da7d5b1adb4cd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1f030485a4be1" /><Relationship Type="http://schemas.openxmlformats.org/officeDocument/2006/relationships/notesSlide" Target="/ppt/notesSlides/notesSlide35.xml" Id="R96f056a84a394f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5A39546-915D-4550-A5B5-6219925E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239BB4-CC13-4708-95E7-9026A426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4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LLM basics for agent users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2C6FE0C-6C53-4C73-9CFC-1956378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從 token、context、tool use 到 biomedical hallucination 驗證</a:t>
            </a:r>
          </a:p>
        </p:txBody>
      </p:sp>
      <p:sp>
        <p:nvSpPr>
          <p:cNvPr id="4" name="goals">
            <a:extLst xmlns:a="http://schemas.openxmlformats.org/drawingml/2006/main">
              <a:ext uri="{FF2B5EF4-FFF2-40B4-BE49-F238E27FC236}">
                <a16:creationId xmlns:a16="http://schemas.microsoft.com/office/drawing/2014/main" id="{BBF95DE1-8C65-4157-ACE2-0FFA342A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4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看懂 LLM 為什麼會這樣回答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4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 biomedical 任務何時要查、何時要停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4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把模糊 prompt 改成可驗證 task spec</a:t>
            </a:r>
          </a:p>
        </p:txBody>
      </p:sp>
      <p:sp>
        <p:nvSpPr>
          <p:cNvPr id="5" name="llm">
            <a:extLst xmlns:a="http://schemas.openxmlformats.org/drawingml/2006/main">
              <a:ext uri="{FF2B5EF4-FFF2-40B4-BE49-F238E27FC236}">
                <a16:creationId xmlns:a16="http://schemas.microsoft.com/office/drawing/2014/main" id="{0C66B3C8-5D2E-4728-A0F0-596A6398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6" name="tools">
            <a:extLst xmlns:a="http://schemas.openxmlformats.org/drawingml/2006/main">
              <a:ext uri="{FF2B5EF4-FFF2-40B4-BE49-F238E27FC236}">
                <a16:creationId xmlns:a16="http://schemas.microsoft.com/office/drawing/2014/main" id="{FD125E34-6181-4FF5-A33B-1C687403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956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7" name="verify">
            <a:extLst xmlns:a="http://schemas.openxmlformats.org/drawingml/2006/main">
              <a:ext uri="{FF2B5EF4-FFF2-40B4-BE49-F238E27FC236}">
                <a16:creationId xmlns:a16="http://schemas.microsoft.com/office/drawing/2014/main" id="{A0722DE0-3F4F-4E57-A22D-0F977D22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24350"/>
            <a:ext cx="1238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477250" y="317182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0E8F88"/>
            </a:solidFill>
            <a:prstDash val="solid"/>
            <a:tailEnd type="arrow" w="sm" len="sm"/>
          </a:ln>
        </p:spPr>
      </p:cxnSp>
      <p:sp>
        <p:nvSpPr>
          <p:cNvPr id="9" name="verify-a">
            <a:extLst xmlns:a="http://schemas.openxmlformats.org/drawingml/2006/main">
              <a:ext uri="{FF2B5EF4-FFF2-40B4-BE49-F238E27FC236}">
                <a16:creationId xmlns:a16="http://schemas.microsoft.com/office/drawing/2014/main" id="{C8F5B98D-D3FE-4EB5-B778-09FB9441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480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89A16"/>
            </a:solidFill>
            <a:prstDash val="dash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307F92F6-22A1-46B0-8EC1-2D9E4D9C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1/35</a:t>
            </a:r>
          </a:p>
        </p:txBody>
      </p:sp>
    </p:spTree>
    <p:extLst>
      <p:ext uri="{BB962C8B-B14F-4D97-AF65-F5344CB8AC3E}">
        <p14:creationId xmlns:p14="http://schemas.microsoft.com/office/powerpoint/2010/main" val="13062199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1A45D3B-C293-4AD7-9488-24873CCD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90-MINUTE MAP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A7973F-7433-490B-83E0-75848E96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35 張投影片，分成 5 個學習段落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78EBB82-32D5-4AEC-9AE8-3896C1E0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2/35</a:t>
            </a:r>
          </a:p>
        </p:txBody>
      </p:sp>
      <p:sp>
        <p:nvSpPr>
          <p:cNvPr id="4" name="time-0">
            <a:extLst xmlns:a="http://schemas.openxmlformats.org/drawingml/2006/main">
              <a:ext uri="{FF2B5EF4-FFF2-40B4-BE49-F238E27FC236}">
                <a16:creationId xmlns:a16="http://schemas.microsoft.com/office/drawing/2014/main" id="{55B8E20C-FEFA-4DF8-9A04-0E7845E5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1200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0-10 min</a:t>
            </a:r>
          </a:p>
        </p:txBody>
      </p:sp>
      <p:sp>
        <p:nvSpPr>
          <p:cNvPr id="5" name="role-0">
            <a:extLst xmlns:a="http://schemas.openxmlformats.org/drawingml/2006/main">
              <a:ext uri="{FF2B5EF4-FFF2-40B4-BE49-F238E27FC236}">
                <a16:creationId xmlns:a16="http://schemas.microsoft.com/office/drawing/2014/main" id="{7762ECF4-E198-4CFC-BB93-8DBF52F8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先拆錯誤直覺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C692E3DE-9E9D-4BA7-BB61-07E396BD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192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LLM 很會講話，但不是資料庫。</a:t>
            </a:r>
          </a:p>
        </p:txBody>
      </p:sp>
      <p:sp>
        <p:nvSpPr>
          <p:cNvPr id="7" name="step-line-0">
            <a:extLst xmlns:a="http://schemas.openxmlformats.org/drawingml/2006/main">
              <a:ext uri="{FF2B5EF4-FFF2-40B4-BE49-F238E27FC236}">
                <a16:creationId xmlns:a16="http://schemas.microsoft.com/office/drawing/2014/main" id="{3E742E4B-72BB-4311-9BC6-2889C117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2098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time-1">
            <a:extLst xmlns:a="http://schemas.openxmlformats.org/drawingml/2006/main">
              <a:ext uri="{FF2B5EF4-FFF2-40B4-BE49-F238E27FC236}">
                <a16:creationId xmlns:a16="http://schemas.microsoft.com/office/drawing/2014/main" id="{27BD192D-5143-42A5-98DA-9DC5905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200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10-30 min</a:t>
            </a:r>
          </a:p>
        </p:txBody>
      </p:sp>
      <p:sp>
        <p:nvSpPr>
          <p:cNvPr id="9" name="role-1">
            <a:extLst xmlns:a="http://schemas.openxmlformats.org/drawingml/2006/main">
              <a:ext uri="{FF2B5EF4-FFF2-40B4-BE49-F238E27FC236}">
                <a16:creationId xmlns:a16="http://schemas.microsoft.com/office/drawing/2014/main" id="{E8EAAE80-3EBA-42C2-A7C4-B233334C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3365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理解模型輸入輸出</a:t>
            </a:r>
          </a:p>
        </p:txBody>
      </p:sp>
      <p:sp>
        <p:nvSpPr>
          <p:cNvPr id="10" name="copy-1">
            <a:extLst xmlns:a="http://schemas.openxmlformats.org/drawingml/2006/main">
              <a:ext uri="{FF2B5EF4-FFF2-40B4-BE49-F238E27FC236}">
                <a16:creationId xmlns:a16="http://schemas.microsoft.com/office/drawing/2014/main" id="{EC1F9AF8-CB15-47FC-8888-7156B7B1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622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token、next-token、context window。</a:t>
            </a:r>
          </a:p>
        </p:txBody>
      </p:sp>
      <p:sp>
        <p:nvSpPr>
          <p:cNvPr id="11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7E30D51-BCB9-42A2-8B60-EC71C337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9527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2" name="time-2">
            <a:extLst xmlns:a="http://schemas.openxmlformats.org/drawingml/2006/main">
              <a:ext uri="{FF2B5EF4-FFF2-40B4-BE49-F238E27FC236}">
                <a16:creationId xmlns:a16="http://schemas.microsoft.com/office/drawing/2014/main" id="{435EC116-F3CF-47FC-9346-62284D94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1200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30-48 min</a:t>
            </a:r>
          </a:p>
        </p:txBody>
      </p:sp>
      <p:sp>
        <p:nvSpPr>
          <p:cNvPr id="13" name="role-2">
            <a:extLst xmlns:a="http://schemas.openxmlformats.org/drawingml/2006/main">
              <a:ext uri="{FF2B5EF4-FFF2-40B4-BE49-F238E27FC236}">
                <a16:creationId xmlns:a16="http://schemas.microsoft.com/office/drawing/2014/main" id="{D86EFBCC-31CB-4D50-9E42-59594F10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766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理解 agent 裡的 LLM</a:t>
            </a:r>
          </a:p>
        </p:txBody>
      </p:sp>
      <p:sp>
        <p:nvSpPr>
          <p:cNvPr id="14" name="copy-2">
            <a:extLst xmlns:a="http://schemas.openxmlformats.org/drawingml/2006/main">
              <a:ext uri="{FF2B5EF4-FFF2-40B4-BE49-F238E27FC236}">
                <a16:creationId xmlns:a16="http://schemas.microsoft.com/office/drawing/2014/main" id="{A6C8767C-62FF-4FBF-8909-6B216C9B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051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system prompt、tool use、memory。</a:t>
            </a:r>
          </a:p>
        </p:txBody>
      </p:sp>
      <p:sp>
        <p:nvSpPr>
          <p:cNvPr id="15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977DDF9-6346-41E7-AA6D-E0D5CFD4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69570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6" name="time-3">
            <a:extLst xmlns:a="http://schemas.openxmlformats.org/drawingml/2006/main">
              <a:ext uri="{FF2B5EF4-FFF2-40B4-BE49-F238E27FC236}">
                <a16:creationId xmlns:a16="http://schemas.microsoft.com/office/drawing/2014/main" id="{50ABA022-C939-4BAD-95AF-526BCD44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81450"/>
            <a:ext cx="1200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48-70 min</a:t>
            </a:r>
          </a:p>
        </p:txBody>
      </p:sp>
      <p:sp>
        <p:nvSpPr>
          <p:cNvPr id="17" name="role-3">
            <a:extLst xmlns:a="http://schemas.openxmlformats.org/drawingml/2006/main">
              <a:ext uri="{FF2B5EF4-FFF2-40B4-BE49-F238E27FC236}">
                <a16:creationId xmlns:a16="http://schemas.microsoft.com/office/drawing/2014/main" id="{B2072D06-A0B2-463C-9DC9-71DE147F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1955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辨識 biomedical 風險</a:t>
            </a:r>
          </a:p>
        </p:txBody>
      </p:sp>
      <p:sp>
        <p:nvSpPr>
          <p:cNvPr id="18" name="copy-3">
            <a:extLst xmlns:a="http://schemas.openxmlformats.org/drawingml/2006/main">
              <a:ext uri="{FF2B5EF4-FFF2-40B4-BE49-F238E27FC236}">
                <a16:creationId xmlns:a16="http://schemas.microsoft.com/office/drawing/2014/main" id="{C5FB8680-91F2-469F-A7D7-2CD970CB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481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hallucination、citation、gene、版本、臨床推論。</a:t>
            </a:r>
          </a:p>
        </p:txBody>
      </p:sp>
      <p:sp>
        <p:nvSpPr>
          <p:cNvPr id="19" name="step-line-3">
            <a:extLst xmlns:a="http://schemas.openxmlformats.org/drawingml/2006/main">
              <a:ext uri="{FF2B5EF4-FFF2-40B4-BE49-F238E27FC236}">
                <a16:creationId xmlns:a16="http://schemas.microsoft.com/office/drawing/2014/main" id="{4D189476-331D-4078-9CEC-FCDBEC16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438650"/>
            <a:ext cx="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20" name="time-4">
            <a:extLst xmlns:a="http://schemas.openxmlformats.org/drawingml/2006/main">
              <a:ext uri="{FF2B5EF4-FFF2-40B4-BE49-F238E27FC236}">
                <a16:creationId xmlns:a16="http://schemas.microsoft.com/office/drawing/2014/main" id="{ACFC54A7-8142-4AC2-B72F-DF4F74D2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1200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70-90 min</a:t>
            </a:r>
          </a:p>
        </p:txBody>
      </p:sp>
      <p:sp>
        <p:nvSpPr>
          <p:cNvPr id="21" name="role-4">
            <a:extLst xmlns:a="http://schemas.openxmlformats.org/drawingml/2006/main">
              <a:ext uri="{FF2B5EF4-FFF2-40B4-BE49-F238E27FC236}">
                <a16:creationId xmlns:a16="http://schemas.microsoft.com/office/drawing/2014/main" id="{98BA0528-DF97-4228-B9D7-FA75DE9F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762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練習可驗證任務</a:t>
            </a:r>
          </a:p>
        </p:txBody>
      </p:sp>
      <p:sp>
        <p:nvSpPr>
          <p:cNvPr id="22" name="copy-4">
            <a:extLst xmlns:a="http://schemas.openxmlformats.org/drawingml/2006/main">
              <a:ext uri="{FF2B5EF4-FFF2-40B4-BE49-F238E27FC236}">
                <a16:creationId xmlns:a16="http://schemas.microsoft.com/office/drawing/2014/main" id="{D60B6BAD-7DFC-4C68-9005-202CAB7A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910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task spec、schema、checklist、human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20593994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805B22D-A7F3-4D59-8613-E90FCF26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ONE SENTENCE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6855B4E-2274-4C48-801F-53401464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這堂課只要先記住一句話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0BB31E0-D78D-4156-AF9D-9D2AF71B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3/35</a:t>
            </a:r>
          </a:p>
        </p:txBody>
      </p:sp>
      <p:sp>
        <p:nvSpPr>
          <p:cNvPr id="4" name="quote-box">
            <a:extLst xmlns:a="http://schemas.openxmlformats.org/drawingml/2006/main">
              <a:ext uri="{FF2B5EF4-FFF2-40B4-BE49-F238E27FC236}">
                <a16:creationId xmlns:a16="http://schemas.microsoft.com/office/drawing/2014/main" id="{767305F0-3FE8-4880-B30C-542F099B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71700"/>
            <a:ext cx="9486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quote">
            <a:extLst xmlns:a="http://schemas.openxmlformats.org/drawingml/2006/main">
              <a:ext uri="{FF2B5EF4-FFF2-40B4-BE49-F238E27FC236}">
                <a16:creationId xmlns:a16="http://schemas.microsoft.com/office/drawing/2014/main" id="{69B840D5-5B8A-4720-B50F-E567478A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8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LLM 很會產生文字；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28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biomedical workflow 要求可驗證。</a:t>
            </a:r>
          </a:p>
        </p:txBody>
      </p:sp>
      <p:sp>
        <p:nvSpPr>
          <p:cNvPr id="6" name="sub">
            <a:extLst xmlns:a="http://schemas.openxmlformats.org/drawingml/2006/main">
              <a:ext uri="{FF2B5EF4-FFF2-40B4-BE49-F238E27FC236}">
                <a16:creationId xmlns:a16="http://schemas.microsoft.com/office/drawing/2014/main" id="{2596BFA4-A8D8-4EBA-BED0-4F22898F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625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所以我們不是問「它答得像不像」，而是問「它能不能被查」。</a:t>
            </a:r>
          </a:p>
        </p:txBody>
      </p:sp>
    </p:spTree>
    <p:extLst>
      <p:ext uri="{BB962C8B-B14F-4D97-AF65-F5344CB8AC3E}">
        <p14:creationId xmlns:p14="http://schemas.microsoft.com/office/powerpoint/2010/main" val="1369647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1C880CD-D189-4B74-9725-05552F17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WRONG INTUITION 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D8C17F2-53EF-4CAA-A10F-9F918037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不是 biomedical database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026C644-A5A2-4D30-B38A-15C214B7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4/35</a:t>
            </a:r>
          </a:p>
        </p:txBody>
      </p:sp>
      <p:sp>
        <p:nvSpPr>
          <p:cNvPr id="4" name="left-box">
            <a:extLst xmlns:a="http://schemas.openxmlformats.org/drawingml/2006/main">
              <a:ext uri="{FF2B5EF4-FFF2-40B4-BE49-F238E27FC236}">
                <a16:creationId xmlns:a16="http://schemas.microsoft.com/office/drawing/2014/main" id="{0F8CDB7D-CE0B-4AC2-9E1C-9F50170B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B62F2C88-AA97-47E5-99A1-8FE11F9A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不要這樣想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94696CFB-6731-47D6-8B43-22736F0A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像 PubMed 一樣查表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像 ClinVar 一樣保證版本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像 HGNC 一樣維護符號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126C3DB6-D80B-4284-B8C8-5B19A38D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E5A25D3-911A-4387-A090-45B04DCC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比較接近這樣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5828D62D-30FB-4AEE-A4D5-C0B541BC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根據 context 生成文字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可能記得常見模式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需要外部來源查證</a:t>
            </a:r>
          </a:p>
        </p:txBody>
      </p:sp>
      <p:sp>
        <p:nvSpPr>
          <p:cNvPr id="10" name="note">
            <a:extLst xmlns:a="http://schemas.openxmlformats.org/drawingml/2006/main">
              <a:ext uri="{FF2B5EF4-FFF2-40B4-BE49-F238E27FC236}">
                <a16:creationId xmlns:a16="http://schemas.microsoft.com/office/drawing/2014/main" id="{CCE3914D-726F-4AFA-BF98-836DE75F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資料庫回答要可追溯；LLM 回答要被驗證。</a:t>
            </a:r>
          </a:p>
        </p:txBody>
      </p:sp>
    </p:spTree>
    <p:extLst>
      <p:ext uri="{BB962C8B-B14F-4D97-AF65-F5344CB8AC3E}">
        <p14:creationId xmlns:p14="http://schemas.microsoft.com/office/powerpoint/2010/main" val="3798814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DD8B01-D2D5-48AD-836A-145B0641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WRONG INTUITION 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4A9384-ABDD-4E32-9B0A-8876DF16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講得順不代表講得對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E9D6B1E-C224-4EED-97D9-354EDBE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5/35</a:t>
            </a:r>
          </a:p>
        </p:txBody>
      </p:sp>
      <p:sp>
        <p:nvSpPr>
          <p:cNvPr id="4" name="left-box">
            <a:extLst xmlns:a="http://schemas.openxmlformats.org/drawingml/2006/main">
              <a:ext uri="{FF2B5EF4-FFF2-40B4-BE49-F238E27FC236}">
                <a16:creationId xmlns:a16="http://schemas.microsoft.com/office/drawing/2014/main" id="{C8DF8CE9-1336-45A8-B08F-ED7ADC6F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0780C5B0-A8B4-4958-B312-36D58A48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流暢答案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7C24511F-584B-41BC-A0FC-26DC01DC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語氣穩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格式漂亮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聽起來像 paper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ECCE618D-6754-4A2D-849C-586D0DEC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D93171AD-315F-4308-8AB9-1A90EF22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可靠答案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BFE0CEC4-D44E-43F4-942D-96C56475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對應來源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版本清楚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找不到就停止</a:t>
            </a:r>
          </a:p>
        </p:txBody>
      </p:sp>
      <p:sp>
        <p:nvSpPr>
          <p:cNvPr id="10" name="note">
            <a:extLst xmlns:a="http://schemas.openxmlformats.org/drawingml/2006/main">
              <a:ext uri="{FF2B5EF4-FFF2-40B4-BE49-F238E27FC236}">
                <a16:creationId xmlns:a16="http://schemas.microsoft.com/office/drawing/2014/main" id="{D59BD188-A1C4-4240-82EF-CDBFD2B8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流暢度是語言能力，不是 evidence。</a:t>
            </a:r>
          </a:p>
        </p:txBody>
      </p:sp>
    </p:spTree>
    <p:extLst>
      <p:ext uri="{BB962C8B-B14F-4D97-AF65-F5344CB8AC3E}">
        <p14:creationId xmlns:p14="http://schemas.microsoft.com/office/powerpoint/2010/main" val="14918122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358C4FE-15B9-45E5-8B21-77AD957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1AE749ED-1FA5-4D79-B1E9-49CC70CF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895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模型怎麼把文字變成輸出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C96AD23A-57EE-4120-B607-74147D0F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先理解 token、next-token prediction 與 context window。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B1A85B7-6FAA-4A0A-9FB8-E568323B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6/35</a:t>
            </a:r>
          </a:p>
        </p:txBody>
      </p:sp>
    </p:spTree>
    <p:extLst>
      <p:ext uri="{BB962C8B-B14F-4D97-AF65-F5344CB8AC3E}">
        <p14:creationId xmlns:p14="http://schemas.microsoft.com/office/powerpoint/2010/main" val="10739704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A7AF4A8-B3F0-4759-96B2-7D533AEA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TOKEN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02AE20B-C709-4677-A122-76EFC93B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Token 是模型處理文字的基本單位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5E288DD-F909-4DA0-9BCE-AD0EDF2A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7/35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D074BE4F-8826-4E7E-98DB-FB5CDCAD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token 不一定等於一個中文字或英文單字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符號、數字、variant notation 可能被切成多段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模型的輸入、輸出、成本與長度限制都跟 token 有關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6306CBFB-45B7-4C82-BAED-4FFEE605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4D723E2F-27A1-435A-9343-7E326BFE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學生不用背切法，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但要知道模型不是用人類讀法在看字。</a:t>
            </a:r>
          </a:p>
        </p:txBody>
      </p:sp>
    </p:spTree>
    <p:extLst>
      <p:ext uri="{BB962C8B-B14F-4D97-AF65-F5344CB8AC3E}">
        <p14:creationId xmlns:p14="http://schemas.microsoft.com/office/powerpoint/2010/main" val="8926585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E22194D-0445-4420-908C-CD265C55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TOKENIZATION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67F08C2-83C1-4087-ABF9-CD8BD103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生醫文字常常不是照你想的方式被切開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6831E50-4BBE-457E-864A-646D5628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8/35</a:t>
            </a:r>
          </a:p>
        </p:txBody>
      </p:sp>
      <p:sp>
        <p:nvSpPr>
          <p:cNvPr id="4" name="prompt">
            <a:extLst xmlns:a="http://schemas.openxmlformats.org/drawingml/2006/main">
              <a:ext uri="{FF2B5EF4-FFF2-40B4-BE49-F238E27FC236}">
                <a16:creationId xmlns:a16="http://schemas.microsoft.com/office/drawing/2014/main" id="{5CAF581C-0BD8-43E5-8C22-65C44FDF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85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Example input</a:t>
            </a:r>
          </a:p>
        </p:txBody>
      </p:sp>
      <p:sp>
        <p:nvSpPr>
          <p:cNvPr id="5" name="input">
            <a:extLst xmlns:a="http://schemas.openxmlformats.org/drawingml/2006/main">
              <a:ext uri="{FF2B5EF4-FFF2-40B4-BE49-F238E27FC236}">
                <a16:creationId xmlns:a16="http://schemas.microsoft.com/office/drawing/2014/main" id="{EEB2582B-4854-4758-BC15-DEF8DA00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9906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input-text">
            <a:extLst xmlns:a="http://schemas.openxmlformats.org/drawingml/2006/main">
              <a:ext uri="{FF2B5EF4-FFF2-40B4-BE49-F238E27FC236}">
                <a16:creationId xmlns:a16="http://schemas.microsoft.com/office/drawing/2014/main" id="{37C4E419-A7DB-4DB4-88D0-AA3FC682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193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 exon 19 deletion, TP53 p.R175H, 非小細胞肺癌</a:t>
            </a:r>
          </a:p>
        </p:txBody>
      </p:sp>
      <p:sp>
        <p:nvSpPr>
          <p:cNvPr id="7" name="tok-0">
            <a:extLst xmlns:a="http://schemas.openxmlformats.org/drawingml/2006/main">
              <a:ext uri="{FF2B5EF4-FFF2-40B4-BE49-F238E27FC236}">
                <a16:creationId xmlns:a16="http://schemas.microsoft.com/office/drawing/2014/main" id="{156A4F78-80AF-4EB2-B9F2-3932A1F9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8" name="tok-1">
            <a:extLst xmlns:a="http://schemas.openxmlformats.org/drawingml/2006/main">
              <a:ext uri="{FF2B5EF4-FFF2-40B4-BE49-F238E27FC236}">
                <a16:creationId xmlns:a16="http://schemas.microsoft.com/office/drawing/2014/main" id="{09B18070-4EC7-45C9-85F0-E8F0E0A4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6235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exon</a:t>
            </a:r>
          </a:p>
        </p:txBody>
      </p:sp>
      <p:sp>
        <p:nvSpPr>
          <p:cNvPr id="9" name="tok-2">
            <a:extLst xmlns:a="http://schemas.openxmlformats.org/drawingml/2006/main">
              <a:ext uri="{FF2B5EF4-FFF2-40B4-BE49-F238E27FC236}">
                <a16:creationId xmlns:a16="http://schemas.microsoft.com/office/drawing/2014/main" id="{E13F16BC-0797-4A96-A090-C285CC2F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6235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ok-3">
            <a:extLst xmlns:a="http://schemas.openxmlformats.org/drawingml/2006/main">
              <a:ext uri="{FF2B5EF4-FFF2-40B4-BE49-F238E27FC236}">
                <a16:creationId xmlns:a16="http://schemas.microsoft.com/office/drawing/2014/main" id="{69FDC087-8B7E-4D0B-B236-8C4F10DB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6235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deletion</a:t>
            </a:r>
          </a:p>
        </p:txBody>
      </p:sp>
      <p:sp>
        <p:nvSpPr>
          <p:cNvPr id="11" name="tok-4">
            <a:extLst xmlns:a="http://schemas.openxmlformats.org/drawingml/2006/main">
              <a:ext uri="{FF2B5EF4-FFF2-40B4-BE49-F238E27FC236}">
                <a16:creationId xmlns:a16="http://schemas.microsoft.com/office/drawing/2014/main" id="{1CEB54AF-95CB-4352-90E6-E1057C47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6235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12" name="tok-5">
            <a:extLst xmlns:a="http://schemas.openxmlformats.org/drawingml/2006/main">
              <a:ext uri="{FF2B5EF4-FFF2-40B4-BE49-F238E27FC236}">
                <a16:creationId xmlns:a16="http://schemas.microsoft.com/office/drawing/2014/main" id="{FF1030CE-26E6-4608-8A20-2EABFA20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0530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p.</a:t>
            </a:r>
          </a:p>
        </p:txBody>
      </p:sp>
      <p:sp>
        <p:nvSpPr>
          <p:cNvPr id="13" name="tok-6">
            <a:extLst xmlns:a="http://schemas.openxmlformats.org/drawingml/2006/main">
              <a:ext uri="{FF2B5EF4-FFF2-40B4-BE49-F238E27FC236}">
                <a16:creationId xmlns:a16="http://schemas.microsoft.com/office/drawing/2014/main" id="{B864875A-D890-40F1-BA2A-72B928C2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0530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R175H</a:t>
            </a:r>
          </a:p>
        </p:txBody>
      </p:sp>
      <p:sp>
        <p:nvSpPr>
          <p:cNvPr id="14" name="tok-7">
            <a:extLst xmlns:a="http://schemas.openxmlformats.org/drawingml/2006/main">
              <a:ext uri="{FF2B5EF4-FFF2-40B4-BE49-F238E27FC236}">
                <a16:creationId xmlns:a16="http://schemas.microsoft.com/office/drawing/2014/main" id="{2D177CCC-ED98-4563-AB01-8201D877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0530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非小細胞</a:t>
            </a:r>
          </a:p>
        </p:txBody>
      </p:sp>
      <p:sp>
        <p:nvSpPr>
          <p:cNvPr id="15" name="tok-8">
            <a:extLst xmlns:a="http://schemas.openxmlformats.org/drawingml/2006/main">
              <a:ext uri="{FF2B5EF4-FFF2-40B4-BE49-F238E27FC236}">
                <a16:creationId xmlns:a16="http://schemas.microsoft.com/office/drawing/2014/main" id="{1C5DAAC4-F651-4D98-B139-ED005F8A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16002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肺癌</a:t>
            </a:r>
          </a:p>
        </p:txBody>
      </p:sp>
      <p:sp>
        <p:nvSpPr>
          <p:cNvPr id="16" name="note">
            <a:extLst xmlns:a="http://schemas.openxmlformats.org/drawingml/2006/main">
              <a:ext uri="{FF2B5EF4-FFF2-40B4-BE49-F238E27FC236}">
                <a16:creationId xmlns:a16="http://schemas.microsoft.com/office/drawing/2014/main" id="{A8649386-A47D-408D-9B72-00878CDC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007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重點不是背 tokenization，而是知道模型看到的文字單位和人類直覺不同。</a:t>
            </a:r>
          </a:p>
        </p:txBody>
      </p:sp>
    </p:spTree>
    <p:extLst>
      <p:ext uri="{BB962C8B-B14F-4D97-AF65-F5344CB8AC3E}">
        <p14:creationId xmlns:p14="http://schemas.microsoft.com/office/powerpoint/2010/main" val="20917296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58701C0-A98F-44FA-833C-3A9FF17F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NEXT-TOKEN PREDICTION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CEE76A-DC0A-4050-8FD3-DC9DCDE8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一步一步預測下一段最可能的文字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30DC764-130B-4444-8BAD-0FE27F78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9/35</a:t>
            </a:r>
          </a:p>
        </p:txBody>
      </p:sp>
      <p:sp>
        <p:nvSpPr>
          <p:cNvPr id="4" name="flow-0">
            <a:extLst xmlns:a="http://schemas.openxmlformats.org/drawingml/2006/main">
              <a:ext uri="{FF2B5EF4-FFF2-40B4-BE49-F238E27FC236}">
                <a16:creationId xmlns:a16="http://schemas.microsoft.com/office/drawing/2014/main" id="{82E4E1D5-EC42-4FD3-8051-9CD4A8B0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5" name="flow-1">
            <a:extLst xmlns:a="http://schemas.openxmlformats.org/drawingml/2006/main">
              <a:ext uri="{FF2B5EF4-FFF2-40B4-BE49-F238E27FC236}">
                <a16:creationId xmlns:a16="http://schemas.microsoft.com/office/drawing/2014/main" id="{05F840D6-D7EF-4BDB-BB7E-FE38FB20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is associated</a:t>
            </a:r>
          </a:p>
        </p:txBody>
      </p:sp>
      <p:sp>
        <p:nvSpPr>
          <p:cNvPr id="6" name="flow-line-1">
            <a:extLst xmlns:a="http://schemas.openxmlformats.org/drawingml/2006/main">
              <a:ext uri="{FF2B5EF4-FFF2-40B4-BE49-F238E27FC236}">
                <a16:creationId xmlns:a16="http://schemas.microsoft.com/office/drawing/2014/main" id="{A3DE830E-9EDD-448D-9B77-86C06BA5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0E8F88"/>
            </a:solidFill>
            <a:prstDash val="solid"/>
          </a:ln>
        </p:spPr>
      </p:sp>
      <p:sp>
        <p:nvSpPr>
          <p:cNvPr id="7" name="flow-2">
            <a:extLst xmlns:a="http://schemas.openxmlformats.org/drawingml/2006/main">
              <a:ext uri="{FF2B5EF4-FFF2-40B4-BE49-F238E27FC236}">
                <a16:creationId xmlns:a16="http://schemas.microsoft.com/office/drawing/2014/main" id="{DA02B57F-0AA4-4914-BFDE-AAE59D44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with</a:t>
            </a:r>
          </a:p>
        </p:txBody>
      </p:sp>
      <p:sp>
        <p:nvSpPr>
          <p:cNvPr id="8" name="flow-line-2">
            <a:extLst xmlns:a="http://schemas.openxmlformats.org/drawingml/2006/main">
              <a:ext uri="{FF2B5EF4-FFF2-40B4-BE49-F238E27FC236}">
                <a16:creationId xmlns:a16="http://schemas.microsoft.com/office/drawing/2014/main" id="{7E45F184-8B3E-4F84-847E-65B0E99E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5C6670"/>
            </a:solidFill>
            <a:prstDash val="solid"/>
          </a:ln>
        </p:spPr>
      </p:sp>
      <p:sp>
        <p:nvSpPr>
          <p:cNvPr id="9" name="flow-3">
            <a:extLst xmlns:a="http://schemas.openxmlformats.org/drawingml/2006/main">
              <a:ext uri="{FF2B5EF4-FFF2-40B4-BE49-F238E27FC236}">
                <a16:creationId xmlns:a16="http://schemas.microsoft.com/office/drawing/2014/main" id="{2860B00F-63B3-4052-A86B-24D61CAA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cancer?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mutation?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risk?</a:t>
            </a:r>
          </a:p>
        </p:txBody>
      </p:sp>
      <p:sp>
        <p:nvSpPr>
          <p:cNvPr id="10" name="flow-line-3">
            <a:extLst xmlns:a="http://schemas.openxmlformats.org/drawingml/2006/main">
              <a:ext uri="{FF2B5EF4-FFF2-40B4-BE49-F238E27FC236}">
                <a16:creationId xmlns:a16="http://schemas.microsoft.com/office/drawing/2014/main" id="{F7E6D6D3-B485-4634-9C44-3E47BC96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5C6670"/>
            </a:solidFill>
            <a:prstDash val="solid"/>
          </a:ln>
        </p:spPr>
      </p:sp>
      <p:sp>
        <p:nvSpPr>
          <p:cNvPr id="11" name="note">
            <a:extLst xmlns:a="http://schemas.openxmlformats.org/drawingml/2006/main">
              <a:ext uri="{FF2B5EF4-FFF2-40B4-BE49-F238E27FC236}">
                <a16:creationId xmlns:a16="http://schemas.microsoft.com/office/drawing/2014/main" id="{685EF6C9-9F6F-4FB8-9ACE-1CF38D8E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它很會補完模式，所以也可能補出一個看起來合理但不存在的 PMID。</a:t>
            </a:r>
          </a:p>
        </p:txBody>
      </p:sp>
    </p:spTree>
    <p:extLst>
      <p:ext uri="{BB962C8B-B14F-4D97-AF65-F5344CB8AC3E}">
        <p14:creationId xmlns:p14="http://schemas.microsoft.com/office/powerpoint/2010/main" val="1862918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0BA35E2-01AF-4518-8A07-B2B172DF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PLAUSIBLE TEXT HAPPENS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612FDC5-6FD8-40E2-9D79-93209DC7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為什麼 LLM 很容易產生「像答案」的文字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39A461F-A276-4F07-9D1E-4ED8EBB8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10/35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DFEC9C68-F08C-49F4-87A1-F4548022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訓練目標讓它學會延續語言模式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常見知識會讓答案看起來很有把握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當 prompt 要求它一定回答時，它會傾向完成任務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905E19C1-815D-4969-A520-5EA9CB3A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E23207B7-D801-4171-9CC1-9F941C2E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像答案 ≠ 是答案</a:t>
            </a:r>
          </a:p>
        </p:txBody>
      </p:sp>
    </p:spTree>
    <p:extLst>
      <p:ext uri="{BB962C8B-B14F-4D97-AF65-F5344CB8AC3E}">
        <p14:creationId xmlns:p14="http://schemas.microsoft.com/office/powerpoint/2010/main" val="6474097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2024FC4-3C34-4D58-A718-2BB9DC77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CONTEXT WINDOW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2B5ED09-4AF2-4348-9A1D-E96554D5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Context window 是模型當下看得到的工作桌面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90FC722-AC8D-4A4B-BA40-F7A95060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11/35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5D6BE686-99CD-43F6-A4BD-E1940BB3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包含 system prompt、user prompt、貼上的資料、tool output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沒有放進 context 的內容，模型不能可靠引用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長文件需要切段、選擇、摘要與來源標記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1BEBF160-1148-4377-AE63-9FAA7F11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D9AFA650-9102-4CE7-B76B-8A3F4509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它不是無限記憶，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只是當下桌面。</a:t>
            </a:r>
          </a:p>
        </p:txBody>
      </p:sp>
    </p:spTree>
    <p:extLst>
      <p:ext uri="{BB962C8B-B14F-4D97-AF65-F5344CB8AC3E}">
        <p14:creationId xmlns:p14="http://schemas.microsoft.com/office/powerpoint/2010/main" val="189410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14E4937-74A1-4FCF-AF19-4CDB49ED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CONTEXT LIMIT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EF4D61-A32F-45D6-AEB0-D9D3DE60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context 常常比模型桌面還大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AF920D-DA0E-48D9-BDE2-AD6AC1FA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12/35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864ACA3F-EB8B-45EC-A1B2-A578A52C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一篇 PDF 可能有補充表格、方法、cohort、版本資訊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資料庫有日期、release、genome build、transcript version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表格欄位若沒有定義，模型會自己猜意思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F02CC00A-E4ED-4F2B-9241-758E1AEC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9D78121E-03EE-408E-9696-32CA622E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資料放不完整，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答案就不能當完整。</a:t>
            </a:r>
          </a:p>
        </p:txBody>
      </p:sp>
    </p:spTree>
    <p:extLst>
      <p:ext uri="{BB962C8B-B14F-4D97-AF65-F5344CB8AC3E}">
        <p14:creationId xmlns:p14="http://schemas.microsoft.com/office/powerpoint/2010/main" val="6774797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A058CC6-9FDF-4B97-88EB-5A809C99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CONTEXT POLLUTION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852EE1-2659-4A6E-87DB-959ECBBE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錯資料進 context，模型會很認真地整理錯誤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EE582CC-09A4-44C5-958E-BEF7AEF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13/35</a:t>
            </a:r>
          </a:p>
        </p:txBody>
      </p:sp>
      <p:sp>
        <p:nvSpPr>
          <p:cNvPr id="4" name="left-box">
            <a:extLst xmlns:a="http://schemas.openxmlformats.org/drawingml/2006/main">
              <a:ext uri="{FF2B5EF4-FFF2-40B4-BE49-F238E27FC236}">
                <a16:creationId xmlns:a16="http://schemas.microsoft.com/office/drawing/2014/main" id="{FAB611BA-E364-4683-A44C-C55F303E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855C9A42-09C7-4060-816B-15BAD7D7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污染來源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F0689E66-A86B-49FF-A31F-0572AB87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過期資料庫匯出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錯誤中間結果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未標註物種或 build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781860A1-1B3F-4ECB-8909-94C9B84D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F0060859-5932-4A68-8AC7-BD5124E6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防護方式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AD231E3A-9E94-4F4C-9D39-AE19EC02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保留來源 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保留版本日期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讓模型標註不確定</a:t>
            </a:r>
          </a:p>
        </p:txBody>
      </p:sp>
      <p:sp>
        <p:nvSpPr>
          <p:cNvPr id="10" name="note">
            <a:extLst xmlns:a="http://schemas.openxmlformats.org/drawingml/2006/main">
              <a:ext uri="{FF2B5EF4-FFF2-40B4-BE49-F238E27FC236}">
                <a16:creationId xmlns:a16="http://schemas.microsoft.com/office/drawing/2014/main" id="{E428844A-DAC8-4260-BB5C-FC482BEF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LLM 不會自動知道你丟進去的表格是錯的。</a:t>
            </a:r>
          </a:p>
        </p:txBody>
      </p:sp>
    </p:spTree>
    <p:extLst>
      <p:ext uri="{BB962C8B-B14F-4D97-AF65-F5344CB8AC3E}">
        <p14:creationId xmlns:p14="http://schemas.microsoft.com/office/powerpoint/2010/main" val="15638115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A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903C651-7BCB-4CD7-AC3E-7918E614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954CE0A-C393-444D-B42C-5A7F8175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895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 裡的 LLM 不是單獨工作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8733446C-62A7-4779-BAF3-B3298254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system prompt、tool use、memory 決定了它能不能被檢查。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DC23A92-245C-4A08-9E66-4A462732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14/35</a:t>
            </a:r>
          </a:p>
        </p:txBody>
      </p:sp>
    </p:spTree>
    <p:extLst>
      <p:ext uri="{BB962C8B-B14F-4D97-AF65-F5344CB8AC3E}">
        <p14:creationId xmlns:p14="http://schemas.microsoft.com/office/powerpoint/2010/main" val="3035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5CD8ACF-66D4-4279-B11A-FA2295C0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SYSTEM PROMPT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2324C75-8BB4-41AB-8F87-2396B22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System prompt 是行為規則，不是任務內容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BB97FC8-C7E1-4558-8B43-ECC933D1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15/35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5EE84B81-F962-4652-BC1D-D1A9AC6D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定義角色、邊界、禁止事項與輸出要求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可要求模型引用來源、拒絕無證據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不清楚的規則會讓 agent 行為難以 debug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086A6BE2-828D-40B5-B910-AF930431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0C9BF96E-1C0B-4940-8307-B8F0D460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規則層和任務層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要分開想。</a:t>
            </a:r>
          </a:p>
        </p:txBody>
      </p:sp>
    </p:spTree>
    <p:extLst>
      <p:ext uri="{BB962C8B-B14F-4D97-AF65-F5344CB8AC3E}">
        <p14:creationId xmlns:p14="http://schemas.microsoft.com/office/powerpoint/2010/main" val="16911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CD89185-277B-4825-8CFC-E5CD83D4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LAYERS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D5FF51D-E88B-4C21-8574-800959E2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User prompt 和 system prompt 解決不同問題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8D81F98-3E43-4EA1-9DC8-3F3FBC3B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16/35</a:t>
            </a:r>
          </a:p>
        </p:txBody>
      </p:sp>
      <p:sp>
        <p:nvSpPr>
          <p:cNvPr id="4" name="left-box">
            <a:extLst xmlns:a="http://schemas.openxmlformats.org/drawingml/2006/main">
              <a:ext uri="{FF2B5EF4-FFF2-40B4-BE49-F238E27FC236}">
                <a16:creationId xmlns:a16="http://schemas.microsoft.com/office/drawing/2014/main" id="{22802EC5-0127-424A-963F-233B1FF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7906302E-2778-4CAD-8595-A9E182BE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User prompt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503A183E-77EF-4D3E-94A3-E193EF63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這次要做什麼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要處理哪些檔案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希望輸出什麼格式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BF0C16F4-F853-419D-80E9-8C306B41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720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6A6B8052-653E-47DD-88B9-570E269A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System prompt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1A4CB7AE-D27D-4035-9FA9-B91C5FB8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永遠遵守的規則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安全邊界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遇到缺證據要停止</a:t>
            </a:r>
          </a:p>
        </p:txBody>
      </p:sp>
      <p:sp>
        <p:nvSpPr>
          <p:cNvPr id="10" name="note">
            <a:extLst xmlns:a="http://schemas.openxmlformats.org/drawingml/2006/main">
              <a:ext uri="{FF2B5EF4-FFF2-40B4-BE49-F238E27FC236}">
                <a16:creationId xmlns:a16="http://schemas.microsoft.com/office/drawing/2014/main" id="{FF1923CE-52DC-4EC8-AC70-3316247F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8165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答錯時先問：任務錯、規則錯、材料錯，還是檢查流程錯？</a:t>
            </a:r>
          </a:p>
        </p:txBody>
      </p:sp>
    </p:spTree>
    <p:extLst>
      <p:ext uri="{BB962C8B-B14F-4D97-AF65-F5344CB8AC3E}">
        <p14:creationId xmlns:p14="http://schemas.microsoft.com/office/powerpoint/2010/main" val="170099651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9397F61-D7FF-4B35-8A97-118987D6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906496-BBDC-4DAB-AFB5-FC6145AC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真正送進模型的是一包材料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E101A14-E3E7-4EAB-97CE-2BBA212C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17/35</a:t>
            </a:r>
          </a:p>
        </p:txBody>
      </p:sp>
      <p:sp>
        <p:nvSpPr>
          <p:cNvPr id="4" name="flow-0">
            <a:extLst xmlns:a="http://schemas.openxmlformats.org/drawingml/2006/main">
              <a:ext uri="{FF2B5EF4-FFF2-40B4-BE49-F238E27FC236}">
                <a16:creationId xmlns:a16="http://schemas.microsoft.com/office/drawing/2014/main" id="{8FEC9BE8-C996-4EF5-9E1B-F18C78EC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system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5" name="flow-1">
            <a:extLst xmlns:a="http://schemas.openxmlformats.org/drawingml/2006/main">
              <a:ext uri="{FF2B5EF4-FFF2-40B4-BE49-F238E27FC236}">
                <a16:creationId xmlns:a16="http://schemas.microsoft.com/office/drawing/2014/main" id="{88CF3639-7852-4E74-9DBA-FC4C453B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user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</a:t>
            </a:r>
          </a:p>
        </p:txBody>
      </p:sp>
      <p:sp>
        <p:nvSpPr>
          <p:cNvPr id="6" name="flow-line-1">
            <a:extLst xmlns:a="http://schemas.openxmlformats.org/drawingml/2006/main">
              <a:ext uri="{FF2B5EF4-FFF2-40B4-BE49-F238E27FC236}">
                <a16:creationId xmlns:a16="http://schemas.microsoft.com/office/drawing/2014/main" id="{A455CED1-D8C9-49D0-B667-757C5539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3446A8"/>
            </a:solidFill>
            <a:prstDash val="solid"/>
          </a:ln>
        </p:spPr>
      </p:sp>
      <p:sp>
        <p:nvSpPr>
          <p:cNvPr id="7" name="flow-2">
            <a:extLst xmlns:a="http://schemas.openxmlformats.org/drawingml/2006/main">
              <a:ext uri="{FF2B5EF4-FFF2-40B4-BE49-F238E27FC236}">
                <a16:creationId xmlns:a16="http://schemas.microsoft.com/office/drawing/2014/main" id="{CA63075F-6FA5-4420-9077-3D0780F0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flow-line-2">
            <a:extLst xmlns:a="http://schemas.openxmlformats.org/drawingml/2006/main">
              <a:ext uri="{FF2B5EF4-FFF2-40B4-BE49-F238E27FC236}">
                <a16:creationId xmlns:a16="http://schemas.microsoft.com/office/drawing/2014/main" id="{8B0D1EA8-36A1-42FB-9997-798E3C70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0E8F88"/>
            </a:solidFill>
            <a:prstDash val="solid"/>
          </a:ln>
        </p:spPr>
      </p:sp>
      <p:sp>
        <p:nvSpPr>
          <p:cNvPr id="9" name="flow-3">
            <a:extLst xmlns:a="http://schemas.openxmlformats.org/drawingml/2006/main">
              <a:ext uri="{FF2B5EF4-FFF2-40B4-BE49-F238E27FC236}">
                <a16:creationId xmlns:a16="http://schemas.microsoft.com/office/drawing/2014/main" id="{D7518B4F-DBD0-45EF-A315-9A85D38B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10" name="flow-line-3">
            <a:extLst xmlns:a="http://schemas.openxmlformats.org/drawingml/2006/main">
              <a:ext uri="{FF2B5EF4-FFF2-40B4-BE49-F238E27FC236}">
                <a16:creationId xmlns:a16="http://schemas.microsoft.com/office/drawing/2014/main" id="{A3E822AB-6764-41BE-AAB1-2401798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5C6670"/>
            </a:solidFill>
            <a:prstDash val="solid"/>
          </a:ln>
        </p:spPr>
      </p:sp>
      <p:sp>
        <p:nvSpPr>
          <p:cNvPr id="11" name="note">
            <a:extLst xmlns:a="http://schemas.openxmlformats.org/drawingml/2006/main">
              <a:ext uri="{FF2B5EF4-FFF2-40B4-BE49-F238E27FC236}">
                <a16:creationId xmlns:a16="http://schemas.microsoft.com/office/drawing/2014/main" id="{4BB61832-0137-4CE2-8158-F7DEEB27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Debug agent 時，要能指出是哪一層讓答案變差。</a:t>
            </a:r>
          </a:p>
        </p:txBody>
      </p:sp>
    </p:spTree>
    <p:extLst>
      <p:ext uri="{BB962C8B-B14F-4D97-AF65-F5344CB8AC3E}">
        <p14:creationId xmlns:p14="http://schemas.microsoft.com/office/powerpoint/2010/main" val="119757967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E4A3EB4-DF60-470C-903F-C7E206DB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55A1CB-360D-4512-90D8-DCC7CFD7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Tool use 讓 LLM 請外部系統做可檢查的事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9B69891-2E49-4C76-B805-967D659B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18/35</a:t>
            </a:r>
          </a:p>
        </p:txBody>
      </p:sp>
      <p:sp>
        <p:nvSpPr>
          <p:cNvPr id="4" name="flow-0">
            <a:extLst xmlns:a="http://schemas.openxmlformats.org/drawingml/2006/main">
              <a:ext uri="{FF2B5EF4-FFF2-40B4-BE49-F238E27FC236}">
                <a16:creationId xmlns:a16="http://schemas.microsoft.com/office/drawing/2014/main" id="{7D50F016-9E5B-47CF-8F35-B5F50593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plans</a:t>
            </a:r>
          </a:p>
        </p:txBody>
      </p:sp>
      <p:sp>
        <p:nvSpPr>
          <p:cNvPr id="5" name="flow-1">
            <a:extLst xmlns:a="http://schemas.openxmlformats.org/drawingml/2006/main">
              <a:ext uri="{FF2B5EF4-FFF2-40B4-BE49-F238E27FC236}">
                <a16:creationId xmlns:a16="http://schemas.microsoft.com/office/drawing/2014/main" id="{C21B538A-BCFD-4436-960E-A44F5AEB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function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flow-line-1">
            <a:extLst xmlns:a="http://schemas.openxmlformats.org/drawingml/2006/main">
              <a:ext uri="{FF2B5EF4-FFF2-40B4-BE49-F238E27FC236}">
                <a16:creationId xmlns:a16="http://schemas.microsoft.com/office/drawing/2014/main" id="{31A3D39E-8ECC-41C4-A847-A03C6EDF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3446A8"/>
            </a:solidFill>
            <a:prstDash val="solid"/>
          </a:ln>
        </p:spPr>
      </p:sp>
      <p:sp>
        <p:nvSpPr>
          <p:cNvPr id="7" name="flow-2">
            <a:extLst xmlns:a="http://schemas.openxmlformats.org/drawingml/2006/main">
              <a:ext uri="{FF2B5EF4-FFF2-40B4-BE49-F238E27FC236}">
                <a16:creationId xmlns:a16="http://schemas.microsoft.com/office/drawing/2014/main" id="{A8AE196D-ACC6-4234-B1F0-642985AB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database /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script / API</a:t>
            </a:r>
          </a:p>
        </p:txBody>
      </p:sp>
      <p:sp>
        <p:nvSpPr>
          <p:cNvPr id="8" name="flow-line-2">
            <a:extLst xmlns:a="http://schemas.openxmlformats.org/drawingml/2006/main">
              <a:ext uri="{FF2B5EF4-FFF2-40B4-BE49-F238E27FC236}">
                <a16:creationId xmlns:a16="http://schemas.microsoft.com/office/drawing/2014/main" id="{96A42239-EED1-4367-8AE5-64B62C3E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3446A8"/>
            </a:solidFill>
            <a:prstDash val="solid"/>
          </a:ln>
        </p:spPr>
      </p:sp>
      <p:sp>
        <p:nvSpPr>
          <p:cNvPr id="9" name="flow-3">
            <a:extLst xmlns:a="http://schemas.openxmlformats.org/drawingml/2006/main">
              <a:ext uri="{FF2B5EF4-FFF2-40B4-BE49-F238E27FC236}">
                <a16:creationId xmlns:a16="http://schemas.microsoft.com/office/drawing/2014/main" id="{AC1B2CDC-3F6D-4A1F-A2AF-B1518474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152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structured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10" name="flow-line-3">
            <a:extLst xmlns:a="http://schemas.openxmlformats.org/drawingml/2006/main">
              <a:ext uri="{FF2B5EF4-FFF2-40B4-BE49-F238E27FC236}">
                <a16:creationId xmlns:a16="http://schemas.microsoft.com/office/drawing/2014/main" id="{9ABF2BA2-7F42-45E6-9779-0065BFEE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956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0E8F88"/>
            </a:solidFill>
            <a:prstDash val="solid"/>
          </a:ln>
        </p:spPr>
      </p:sp>
      <p:sp>
        <p:nvSpPr>
          <p:cNvPr id="11" name="note">
            <a:extLst xmlns:a="http://schemas.openxmlformats.org/drawingml/2006/main">
              <a:ext uri="{FF2B5EF4-FFF2-40B4-BE49-F238E27FC236}">
                <a16:creationId xmlns:a16="http://schemas.microsoft.com/office/drawing/2014/main" id="{D9E0C309-A185-4025-AEE0-7635DB8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LLM 負責規劃與解釋；工具負責查證與計算。</a:t>
            </a:r>
          </a:p>
        </p:txBody>
      </p:sp>
    </p:spTree>
    <p:extLst>
      <p:ext uri="{BB962C8B-B14F-4D97-AF65-F5344CB8AC3E}">
        <p14:creationId xmlns:p14="http://schemas.microsoft.com/office/powerpoint/2010/main" val="120953723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31F1BDA-0125-480F-A57F-FFA1484B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BIOMEDICAL TOOL EXAMPLES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9659566-6661-492B-9C1A-862AB9B3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哪些事應該交給 tool，而不是讓模型猜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624755D-1BB3-407C-A1F3-8D42F7EF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19/35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7D597082-0665-4437-81D1-B8373E9A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Need</a:t>
            </a:r>
          </a:p>
        </p:txBody>
      </p:sp>
      <p:sp>
        <p:nvSpPr>
          <p:cNvPr id="5" name="head-1">
            <a:extLst xmlns:a="http://schemas.openxmlformats.org/drawingml/2006/main">
              <a:ext uri="{FF2B5EF4-FFF2-40B4-BE49-F238E27FC236}">
                <a16:creationId xmlns:a16="http://schemas.microsoft.com/office/drawing/2014/main" id="{A6D8CF60-1966-44CF-983A-FA8CCBA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859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if model guesses</a:t>
            </a:r>
          </a:p>
        </p:txBody>
      </p:sp>
      <p:sp>
        <p:nvSpPr>
          <p:cNvPr id="6" name="head-2">
            <a:extLst xmlns:a="http://schemas.openxmlformats.org/drawingml/2006/main">
              <a:ext uri="{FF2B5EF4-FFF2-40B4-BE49-F238E27FC236}">
                <a16:creationId xmlns:a16="http://schemas.microsoft.com/office/drawing/2014/main" id="{7CAB0632-2D5B-4331-8B69-4A906B1E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Better tool/check</a:t>
            </a:r>
          </a:p>
        </p:txBody>
      </p:sp>
      <p:sp>
        <p:nvSpPr>
          <p:cNvPr id="7" name="r0c0">
            <a:extLst xmlns:a="http://schemas.openxmlformats.org/drawingml/2006/main">
              <a:ext uri="{FF2B5EF4-FFF2-40B4-BE49-F238E27FC236}">
                <a16:creationId xmlns:a16="http://schemas.microsoft.com/office/drawing/2014/main" id="{30D87378-D8B9-4305-A1AD-D9B64BDB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</a:t>
            </a:r>
          </a:p>
        </p:txBody>
      </p:sp>
      <p:sp>
        <p:nvSpPr>
          <p:cNvPr id="8" name="r0c1">
            <a:extLst xmlns:a="http://schemas.openxmlformats.org/drawingml/2006/main">
              <a:ext uri="{FF2B5EF4-FFF2-40B4-BE49-F238E27FC236}">
                <a16:creationId xmlns:a16="http://schemas.microsoft.com/office/drawing/2014/main" id="{1CA26B3F-2A62-4396-83BF-A94A9E0A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384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PMID / DOI 看起來像真的</a:t>
            </a:r>
          </a:p>
        </p:txBody>
      </p:sp>
      <p:sp>
        <p:nvSpPr>
          <p:cNvPr id="9" name="r0c2">
            <a:extLst xmlns:a="http://schemas.openxmlformats.org/drawingml/2006/main">
              <a:ext uri="{FF2B5EF4-FFF2-40B4-BE49-F238E27FC236}">
                <a16:creationId xmlns:a16="http://schemas.microsoft.com/office/drawing/2014/main" id="{3D9B3CAA-8998-49F6-A2C8-F3CC5732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38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PubMed / DOI lookup</a:t>
            </a:r>
          </a:p>
        </p:txBody>
      </p:sp>
      <p:sp>
        <p:nvSpPr>
          <p:cNvPr id="10" name="rowline-0">
            <a:extLst xmlns:a="http://schemas.openxmlformats.org/drawingml/2006/main">
              <a:ext uri="{FF2B5EF4-FFF2-40B4-BE49-F238E27FC236}">
                <a16:creationId xmlns:a16="http://schemas.microsoft.com/office/drawing/2014/main" id="{ABAFE95C-DC6A-4EA4-87A5-4DF9E309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r1c0">
            <a:extLst xmlns:a="http://schemas.openxmlformats.org/drawingml/2006/main">
              <a:ext uri="{FF2B5EF4-FFF2-40B4-BE49-F238E27FC236}">
                <a16:creationId xmlns:a16="http://schemas.microsoft.com/office/drawing/2014/main" id="{C296E87C-A6C9-4F30-BE09-C4F67FAF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 symbol</a:t>
            </a:r>
          </a:p>
        </p:txBody>
      </p:sp>
      <p:sp>
        <p:nvSpPr>
          <p:cNvPr id="12" name="r1c1">
            <a:extLst xmlns:a="http://schemas.openxmlformats.org/drawingml/2006/main">
              <a:ext uri="{FF2B5EF4-FFF2-40B4-BE49-F238E27FC236}">
                <a16:creationId xmlns:a16="http://schemas.microsoft.com/office/drawing/2014/main" id="{A874F346-265E-482C-A6A1-CCFA4FA8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alias、舊名、物種混淆</a:t>
            </a:r>
          </a:p>
        </p:txBody>
      </p:sp>
      <p:sp>
        <p:nvSpPr>
          <p:cNvPr id="13" name="r1c2">
            <a:extLst xmlns:a="http://schemas.openxmlformats.org/drawingml/2006/main">
              <a:ext uri="{FF2B5EF4-FFF2-40B4-BE49-F238E27FC236}">
                <a16:creationId xmlns:a16="http://schemas.microsoft.com/office/drawing/2014/main" id="{79995939-E9C2-4FA2-A202-CC8B9F4C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HGNC / organism check</a:t>
            </a:r>
          </a:p>
        </p:txBody>
      </p:sp>
      <p:sp>
        <p:nvSpPr>
          <p:cNvPr id="14" name="rowline-1">
            <a:extLst xmlns:a="http://schemas.openxmlformats.org/drawingml/2006/main">
              <a:ext uri="{FF2B5EF4-FFF2-40B4-BE49-F238E27FC236}">
                <a16:creationId xmlns:a16="http://schemas.microsoft.com/office/drawing/2014/main" id="{A3A5A95C-7487-40EC-B8D1-89B8E572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r2c0">
            <a:extLst xmlns:a="http://schemas.openxmlformats.org/drawingml/2006/main">
              <a:ext uri="{FF2B5EF4-FFF2-40B4-BE49-F238E27FC236}">
                <a16:creationId xmlns:a16="http://schemas.microsoft.com/office/drawing/2014/main" id="{2970627A-030A-4870-BC12-EEADA6C8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6" name="r2c1">
            <a:extLst xmlns:a="http://schemas.openxmlformats.org/drawingml/2006/main">
              <a:ext uri="{FF2B5EF4-FFF2-40B4-BE49-F238E27FC236}">
                <a16:creationId xmlns:a16="http://schemas.microsoft.com/office/drawing/2014/main" id="{9B53B67F-EDC5-49C7-8409-2D68B69D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95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HGVS、transcript、build 錯</a:t>
            </a:r>
          </a:p>
        </p:txBody>
      </p:sp>
      <p:sp>
        <p:nvSpPr>
          <p:cNvPr id="17" name="r2c2">
            <a:extLst xmlns:a="http://schemas.openxmlformats.org/drawingml/2006/main">
              <a:ext uri="{FF2B5EF4-FFF2-40B4-BE49-F238E27FC236}">
                <a16:creationId xmlns:a16="http://schemas.microsoft.com/office/drawing/2014/main" id="{1E58F922-FF68-49CC-8236-7DA985B1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ClinVar / VEP / build check</a:t>
            </a:r>
          </a:p>
        </p:txBody>
      </p:sp>
      <p:sp>
        <p:nvSpPr>
          <p:cNvPr id="18" name="rowline-2">
            <a:extLst xmlns:a="http://schemas.openxmlformats.org/drawingml/2006/main">
              <a:ext uri="{FF2B5EF4-FFF2-40B4-BE49-F238E27FC236}">
                <a16:creationId xmlns:a16="http://schemas.microsoft.com/office/drawing/2014/main" id="{53565C28-AB08-43D0-8FE2-B6C97B9F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r3c0">
            <a:extLst xmlns:a="http://schemas.openxmlformats.org/drawingml/2006/main">
              <a:ext uri="{FF2B5EF4-FFF2-40B4-BE49-F238E27FC236}">
                <a16:creationId xmlns:a16="http://schemas.microsoft.com/office/drawing/2014/main" id="{A338A2DE-A253-45D3-AE0F-D503687F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Computation</a:t>
            </a:r>
          </a:p>
        </p:txBody>
      </p:sp>
      <p:sp>
        <p:nvSpPr>
          <p:cNvPr id="20" name="r3c1">
            <a:extLst xmlns:a="http://schemas.openxmlformats.org/drawingml/2006/main">
              <a:ext uri="{FF2B5EF4-FFF2-40B4-BE49-F238E27FC236}">
                <a16:creationId xmlns:a16="http://schemas.microsoft.com/office/drawing/2014/main" id="{48A5BBF7-2F8F-41CF-AFF5-35A689E7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算式或統計被口算</a:t>
            </a:r>
          </a:p>
        </p:txBody>
      </p:sp>
      <p:sp>
        <p:nvSpPr>
          <p:cNvPr id="21" name="r3c2">
            <a:extLst xmlns:a="http://schemas.openxmlformats.org/drawingml/2006/main">
              <a:ext uri="{FF2B5EF4-FFF2-40B4-BE49-F238E27FC236}">
                <a16:creationId xmlns:a16="http://schemas.microsoft.com/office/drawing/2014/main" id="{896F60D5-87FE-4CD4-BD9F-887ADAF4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24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script + saved output</a:t>
            </a:r>
          </a:p>
        </p:txBody>
      </p:sp>
      <p:sp>
        <p:nvSpPr>
          <p:cNvPr id="22" name="rowline-3">
            <a:extLst xmlns:a="http://schemas.openxmlformats.org/drawingml/2006/main">
              <a:ext uri="{FF2B5EF4-FFF2-40B4-BE49-F238E27FC236}">
                <a16:creationId xmlns:a16="http://schemas.microsoft.com/office/drawing/2014/main" id="{60F842BD-0634-4758-AC50-5CEFBCA8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r4c0">
            <a:extLst xmlns:a="http://schemas.openxmlformats.org/drawingml/2006/main">
              <a:ext uri="{FF2B5EF4-FFF2-40B4-BE49-F238E27FC236}">
                <a16:creationId xmlns:a16="http://schemas.microsoft.com/office/drawing/2014/main" id="{D9AE0A36-6177-4C40-9BB1-BC02900B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530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Table lookup</a:t>
            </a:r>
          </a:p>
        </p:txBody>
      </p:sp>
      <p:sp>
        <p:nvSpPr>
          <p:cNvPr id="24" name="r4c1">
            <a:extLst xmlns:a="http://schemas.openxmlformats.org/drawingml/2006/main">
              <a:ext uri="{FF2B5EF4-FFF2-40B4-BE49-F238E27FC236}">
                <a16:creationId xmlns:a16="http://schemas.microsoft.com/office/drawing/2014/main" id="{36BE0A04-FDD9-4BC4-BF36-1E3F0C34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9530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欄位含義被猜測</a:t>
            </a:r>
          </a:p>
        </p:txBody>
      </p:sp>
      <p:sp>
        <p:nvSpPr>
          <p:cNvPr id="25" name="r4c2">
            <a:extLst xmlns:a="http://schemas.openxmlformats.org/drawingml/2006/main">
              <a:ext uri="{FF2B5EF4-FFF2-40B4-BE49-F238E27FC236}">
                <a16:creationId xmlns:a16="http://schemas.microsoft.com/office/drawing/2014/main" id="{7F049406-C083-47CD-9B9F-D0EB47D6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53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schema + row IDs</a:t>
            </a:r>
          </a:p>
        </p:txBody>
      </p:sp>
      <p:sp>
        <p:nvSpPr>
          <p:cNvPr id="26" name="rowline-4">
            <a:extLst xmlns:a="http://schemas.openxmlformats.org/drawingml/2006/main">
              <a:ext uri="{FF2B5EF4-FFF2-40B4-BE49-F238E27FC236}">
                <a16:creationId xmlns:a16="http://schemas.microsoft.com/office/drawing/2014/main" id="{F427E2AD-7829-429A-9587-7C44C8B9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57FD6F28-6639-4F35-88F6-6CDC8C2E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19/35</a:t>
            </a:r>
          </a:p>
        </p:txBody>
      </p:sp>
    </p:spTree>
    <p:extLst>
      <p:ext uri="{BB962C8B-B14F-4D97-AF65-F5344CB8AC3E}">
        <p14:creationId xmlns:p14="http://schemas.microsoft.com/office/powerpoint/2010/main" val="20162518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502758B-2FA1-4FCF-8542-987B1EF9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46A641F-7CE4-44BC-BF69-06DB3950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Memory 是被保存、取回、再放進 context 的資訊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0284CB5-CC5F-462A-B43E-829FACC1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20/35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AC71AC97-F85D-4BB4-9C8E-94FD47F2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memory 不是模型腦中神秘角落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它通常是外部儲存或系統狀態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被取回後仍然要跟這次任務一起檢查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90CE3833-8617-4723-B551-0A16532B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152C57F9-93D1-4FDE-AD89-725FEDEE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Memory 也可能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過期或污染任務。</a:t>
            </a:r>
          </a:p>
        </p:txBody>
      </p:sp>
    </p:spTree>
    <p:extLst>
      <p:ext uri="{BB962C8B-B14F-4D97-AF65-F5344CB8AC3E}">
        <p14:creationId xmlns:p14="http://schemas.microsoft.com/office/powerpoint/2010/main" val="16233942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5C9927D-FA5D-4C09-8135-8227AC82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MEMORY RISK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F31A172-1BD4-48E7-BFF7-43CC879A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memory 最怕舊版本和錯任務混在一起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0ED49A1-9622-4BAB-AC0A-31C6E7CB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21/35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6D5AD8C6-E994-432E-AEEE-F12D70DA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上次的 ClinVar release 可能已經不是這次要用的版本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舊分析假設可能不適用新的 cohort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長期偏好不能取代本次 evidence trail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26318AE6-8310-4151-A9CC-51EB23E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E0BFBA3C-9DF4-4C80-A239-FE344AE3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記憶越方便，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越要標版本。</a:t>
            </a:r>
          </a:p>
        </p:txBody>
      </p:sp>
    </p:spTree>
    <p:extLst>
      <p:ext uri="{BB962C8B-B14F-4D97-AF65-F5344CB8AC3E}">
        <p14:creationId xmlns:p14="http://schemas.microsoft.com/office/powerpoint/2010/main" val="102259335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9C5D942-F608-4563-A59A-A6E1EC82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B3AA45C-D16F-42FE-AAB1-624BA262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小練習 1：哪些放 context，哪些交給 tool？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FD5C7B6-214D-4A83-8862-D26B1902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22/35</a:t>
            </a:r>
          </a:p>
        </p:txBody>
      </p:sp>
      <p:sp>
        <p:nvSpPr>
          <p:cNvPr id="4" name="prompt-box">
            <a:extLst xmlns:a="http://schemas.openxmlformats.org/drawingml/2006/main">
              <a:ext uri="{FF2B5EF4-FFF2-40B4-BE49-F238E27FC236}">
                <a16:creationId xmlns:a16="http://schemas.microsoft.com/office/drawing/2014/main" id="{E3205881-CCDB-41F9-919D-CF79B47E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76250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98AA63BC-CEF5-4846-AE28-A219AFF1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給學生的壞 prompt</a:t>
            </a:r>
          </a:p>
        </p:txBody>
      </p:sp>
      <p:sp>
        <p:nvSpPr>
          <p:cNvPr id="6" name="prompt">
            <a:extLst xmlns:a="http://schemas.openxmlformats.org/drawingml/2006/main">
              <a:ext uri="{FF2B5EF4-FFF2-40B4-BE49-F238E27FC236}">
                <a16:creationId xmlns:a16="http://schemas.microsoft.com/office/drawing/2014/main" id="{954C8582-6B5A-4575-91A4-F6AE3D94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14650"/>
            <a:ext cx="3524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請模型判斷 EGFR exon 19 deletion 是否和某藥物治療有關。</a:t>
            </a:r>
          </a:p>
        </p:txBody>
      </p:sp>
      <p:sp>
        <p:nvSpPr>
          <p:cNvPr id="7" name="task-box">
            <a:extLst xmlns:a="http://schemas.openxmlformats.org/drawingml/2006/main">
              <a:ext uri="{FF2B5EF4-FFF2-40B4-BE49-F238E27FC236}">
                <a16:creationId xmlns:a16="http://schemas.microsoft.com/office/drawing/2014/main" id="{B3BE6778-8E0A-4BDE-8BC3-6C751876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85950"/>
            <a:ext cx="438150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task-label">
            <a:extLst xmlns:a="http://schemas.openxmlformats.org/drawingml/2006/main">
              <a:ext uri="{FF2B5EF4-FFF2-40B4-BE49-F238E27FC236}">
                <a16:creationId xmlns:a16="http://schemas.microsoft.com/office/drawing/2014/main" id="{53DF9F9A-054D-4EB0-970E-847804BF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09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要補上的規格</a:t>
            </a:r>
          </a:p>
        </p:txBody>
      </p:sp>
      <p:sp>
        <p:nvSpPr>
          <p:cNvPr id="9" name="tasks">
            <a:extLst xmlns:a="http://schemas.openxmlformats.org/drawingml/2006/main">
              <a:ext uri="{FF2B5EF4-FFF2-40B4-BE49-F238E27FC236}">
                <a16:creationId xmlns:a16="http://schemas.microsoft.com/office/drawing/2014/main" id="{CED5203A-325C-4144-8BAF-2188D731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0035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哪些資料要放進 context？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哪些事要 tool lookup？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哪些 claim 要 human review？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缺資料時要怎麼停止？</a:t>
            </a:r>
          </a:p>
        </p:txBody>
      </p:sp>
      <p:sp>
        <p:nvSpPr>
          <p:cNvPr id="10" name="timing">
            <a:extLst xmlns:a="http://schemas.openxmlformats.org/drawingml/2006/main">
              <a:ext uri="{FF2B5EF4-FFF2-40B4-BE49-F238E27FC236}">
                <a16:creationId xmlns:a16="http://schemas.microsoft.com/office/drawing/2014/main" id="{76A1B06D-B57E-42A9-B8D5-CB02108E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0545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 分鐘分組 + 3 分鐘講答案</a:t>
            </a:r>
          </a:p>
        </p:txBody>
      </p:sp>
    </p:spTree>
    <p:extLst>
      <p:ext uri="{BB962C8B-B14F-4D97-AF65-F5344CB8AC3E}">
        <p14:creationId xmlns:p14="http://schemas.microsoft.com/office/powerpoint/2010/main" val="4574826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DED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1CD5DA1-BA5D-4798-905C-A666BCCC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4BBAE5A-05F1-4121-A7A9-09DCB13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895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3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Hallucination 不是偶發小錯，是生成式系統的自然風險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C80C0599-B017-4F27-9AD3-BCDC9DD9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接下來把錯誤拆成來源和檢查方式。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FD00179-CD3F-475F-8C0E-737AEB87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23/35</a:t>
            </a:r>
          </a:p>
        </p:txBody>
      </p:sp>
    </p:spTree>
    <p:extLst>
      <p:ext uri="{BB962C8B-B14F-4D97-AF65-F5344CB8AC3E}">
        <p14:creationId xmlns:p14="http://schemas.microsoft.com/office/powerpoint/2010/main" val="129908066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A4602E0-478F-4C5A-A41D-8F3B0FF2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HALLUCINATION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6249682-613B-425C-9C55-EB27EBA3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Hallucination 是沒有可靠依據卻生成合理文字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55CE2EF-97D2-452D-B9E8-4DE01DC9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24/35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4DEA6879-E69D-41CA-87FE-4B6A62A3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它可能是完全編造，也可能是混合幾個相似事實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最危險的是語氣穩、格式好、但 evidence 不存在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錯誤常常很像真的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D928DA61-9D47-43EB-8395-CCEFA407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024B4244-4C47-4802-9837-5B94F7D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語氣不是證據。</a:t>
            </a:r>
          </a:p>
        </p:txBody>
      </p:sp>
    </p:spTree>
    <p:extLst>
      <p:ext uri="{BB962C8B-B14F-4D97-AF65-F5344CB8AC3E}">
        <p14:creationId xmlns:p14="http://schemas.microsoft.com/office/powerpoint/2010/main" val="141166464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417AA05-2242-438D-B166-7234EC7C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182A81E-CFB8-4C57-9031-8E558B1A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缺少證據，但 prompt 逼它回答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1577474-DFCF-4101-84A5-D484A504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25/35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2C18F347-1ED2-4943-931F-5756E3D7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「一定要給我結論」會增加編造風險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模型傾向完成任務，而不是讓你失望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要明確允許 not found、insufficient evidence、needs review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A2A4C9D9-A325-4A81-AF4E-4DA1F4B5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810F8000-13E3-430F-9EFB-1DEA4C8B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好 prompt 要允許它說：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我不知道。</a:t>
            </a:r>
          </a:p>
        </p:txBody>
      </p:sp>
    </p:spTree>
    <p:extLst>
      <p:ext uri="{BB962C8B-B14F-4D97-AF65-F5344CB8AC3E}">
        <p14:creationId xmlns:p14="http://schemas.microsoft.com/office/powerpoint/2010/main" val="168670258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6BB1DD1-4AC0-4302-8A4B-E246FF03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D8CCE0-7072-43AF-905B-5D7740FD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相似概念混淆會讓答案看起來專業又危險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FCB746D-54CC-4635-B9EC-C464769F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26/35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47664025-5BC1-40CC-96CB-FEB104BA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alias 和正式 symbol 混用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疾病 subtype 被合併成一個大類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drug indication、trial evidence、guideline recommendation 混在一起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00F5E834-8A92-4635-A1B1-4DE6358D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86C461AA-9068-45B8-9144-E6A4A11E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相近不等於相同。</a:t>
            </a:r>
          </a:p>
        </p:txBody>
      </p:sp>
    </p:spTree>
    <p:extLst>
      <p:ext uri="{BB962C8B-B14F-4D97-AF65-F5344CB8AC3E}">
        <p14:creationId xmlns:p14="http://schemas.microsoft.com/office/powerpoint/2010/main" val="3388682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8F676C4-3033-402F-9C16-62452BDD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AC6BE7E-092A-40B8-8405-D8C90E22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Context 不完整或版本錯誤會導致錯結論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9DD1E2A-A731-407F-A44F-08DD5B19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27/35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1FACDEE4-ACA3-4608-BCE6-DE81DA43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只給 abstract，模型可能補出 full text 才有的細節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ClinVar、gnomAD、Ensembl release 不一致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reference genome build 或 transcript version 沒寫清楚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2D7BC980-0374-4BD9-B02A-B99FC6D3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D7C70E2D-0A9E-45F2-887D-B1FA7C66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版本沒寫，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就是在邀請混亂。</a:t>
            </a:r>
          </a:p>
        </p:txBody>
      </p:sp>
    </p:spTree>
    <p:extLst>
      <p:ext uri="{BB962C8B-B14F-4D97-AF65-F5344CB8AC3E}">
        <p14:creationId xmlns:p14="http://schemas.microsoft.com/office/powerpoint/2010/main" val="21247132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9B8035A-67A7-4F6B-AB5E-3EBB96FC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COMMON ERROR 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1A98E62-B19B-4B12-9317-F520CF5B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假 citation：最像真的錯誤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45E864-3965-4AC8-B90F-596AAE87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28/35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4D4919D7-2E33-47EC-A2C5-8FBBEE71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Pattern</a:t>
            </a:r>
          </a:p>
        </p:txBody>
      </p:sp>
      <p:sp>
        <p:nvSpPr>
          <p:cNvPr id="5" name="head-1">
            <a:extLst xmlns:a="http://schemas.openxmlformats.org/drawingml/2006/main">
              <a:ext uri="{FF2B5EF4-FFF2-40B4-BE49-F238E27FC236}">
                <a16:creationId xmlns:a16="http://schemas.microsoft.com/office/drawing/2014/main" id="{73629445-8940-41E0-9651-663A19FF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859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What goes wrong</a:t>
            </a:r>
          </a:p>
        </p:txBody>
      </p:sp>
      <p:sp>
        <p:nvSpPr>
          <p:cNvPr id="6" name="head-2">
            <a:extLst xmlns:a="http://schemas.openxmlformats.org/drawingml/2006/main">
              <a:ext uri="{FF2B5EF4-FFF2-40B4-BE49-F238E27FC236}">
                <a16:creationId xmlns:a16="http://schemas.microsoft.com/office/drawing/2014/main" id="{48F53866-DC5D-4304-BB95-7E848B93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How to check</a:t>
            </a:r>
          </a:p>
        </p:txBody>
      </p:sp>
      <p:sp>
        <p:nvSpPr>
          <p:cNvPr id="7" name="r0c0">
            <a:extLst xmlns:a="http://schemas.openxmlformats.org/drawingml/2006/main">
              <a:ext uri="{FF2B5EF4-FFF2-40B4-BE49-F238E27FC236}">
                <a16:creationId xmlns:a16="http://schemas.microsoft.com/office/drawing/2014/main" id="{5DA86F2D-6CFD-4795-9AD0-A91A4BE1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Fabricated PMID</a:t>
            </a:r>
          </a:p>
        </p:txBody>
      </p:sp>
      <p:sp>
        <p:nvSpPr>
          <p:cNvPr id="8" name="r0c1">
            <a:extLst xmlns:a="http://schemas.openxmlformats.org/drawingml/2006/main">
              <a:ext uri="{FF2B5EF4-FFF2-40B4-BE49-F238E27FC236}">
                <a16:creationId xmlns:a16="http://schemas.microsoft.com/office/drawing/2014/main" id="{829A12CB-0A22-43AE-9E35-0E0CD9C3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384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號碼存在但不支持該 claim</a:t>
            </a:r>
          </a:p>
        </p:txBody>
      </p:sp>
      <p:sp>
        <p:nvSpPr>
          <p:cNvPr id="9" name="r0c2">
            <a:extLst xmlns:a="http://schemas.openxmlformats.org/drawingml/2006/main">
              <a:ext uri="{FF2B5EF4-FFF2-40B4-BE49-F238E27FC236}">
                <a16:creationId xmlns:a16="http://schemas.microsoft.com/office/drawing/2014/main" id="{E86B1DDC-BB36-4E73-AB4F-DD9FC4B6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38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open PubMed record</a:t>
            </a:r>
          </a:p>
        </p:txBody>
      </p:sp>
      <p:sp>
        <p:nvSpPr>
          <p:cNvPr id="10" name="rowline-0">
            <a:extLst xmlns:a="http://schemas.openxmlformats.org/drawingml/2006/main">
              <a:ext uri="{FF2B5EF4-FFF2-40B4-BE49-F238E27FC236}">
                <a16:creationId xmlns:a16="http://schemas.microsoft.com/office/drawing/2014/main" id="{64DC9147-74ED-4C77-865B-6BBBF01B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r1c0">
            <a:extLst xmlns:a="http://schemas.openxmlformats.org/drawingml/2006/main">
              <a:ext uri="{FF2B5EF4-FFF2-40B4-BE49-F238E27FC236}">
                <a16:creationId xmlns:a16="http://schemas.microsoft.com/office/drawing/2014/main" id="{5CC4AAC5-13D6-4B74-AE19-4DC97114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DOI</a:t>
            </a:r>
          </a:p>
        </p:txBody>
      </p:sp>
      <p:sp>
        <p:nvSpPr>
          <p:cNvPr id="12" name="r1c1">
            <a:extLst xmlns:a="http://schemas.openxmlformats.org/drawingml/2006/main">
              <a:ext uri="{FF2B5EF4-FFF2-40B4-BE49-F238E27FC236}">
                <a16:creationId xmlns:a16="http://schemas.microsoft.com/office/drawing/2014/main" id="{F5EEB421-D635-4EB4-8B67-C77B291C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DOI 指到不同 paper</a:t>
            </a:r>
          </a:p>
        </p:txBody>
      </p:sp>
      <p:sp>
        <p:nvSpPr>
          <p:cNvPr id="13" name="r1c2">
            <a:extLst xmlns:a="http://schemas.openxmlformats.org/drawingml/2006/main">
              <a:ext uri="{FF2B5EF4-FFF2-40B4-BE49-F238E27FC236}">
                <a16:creationId xmlns:a16="http://schemas.microsoft.com/office/drawing/2014/main" id="{D9251E42-E2BB-4496-9F81-38F1F3C7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DOI resolver</a:t>
            </a:r>
          </a:p>
        </p:txBody>
      </p:sp>
      <p:sp>
        <p:nvSpPr>
          <p:cNvPr id="14" name="rowline-1">
            <a:extLst xmlns:a="http://schemas.openxmlformats.org/drawingml/2006/main">
              <a:ext uri="{FF2B5EF4-FFF2-40B4-BE49-F238E27FC236}">
                <a16:creationId xmlns:a16="http://schemas.microsoft.com/office/drawing/2014/main" id="{46E04DAA-9161-43B0-B631-E3310884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r2c0">
            <a:extLst xmlns:a="http://schemas.openxmlformats.org/drawingml/2006/main">
              <a:ext uri="{FF2B5EF4-FFF2-40B4-BE49-F238E27FC236}">
                <a16:creationId xmlns:a16="http://schemas.microsoft.com/office/drawing/2014/main" id="{6CD5B015-D8CA-4E24-BDC9-C2941F5A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Over-cited review</a:t>
            </a:r>
          </a:p>
        </p:txBody>
      </p:sp>
      <p:sp>
        <p:nvSpPr>
          <p:cNvPr id="16" name="r2c1">
            <a:extLst xmlns:a="http://schemas.openxmlformats.org/drawingml/2006/main">
              <a:ext uri="{FF2B5EF4-FFF2-40B4-BE49-F238E27FC236}">
                <a16:creationId xmlns:a16="http://schemas.microsoft.com/office/drawing/2014/main" id="{4F505308-389B-4E58-A83A-52AE24EA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95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 被當 primary evidence</a:t>
            </a:r>
          </a:p>
        </p:txBody>
      </p:sp>
      <p:sp>
        <p:nvSpPr>
          <p:cNvPr id="17" name="r2c2">
            <a:extLst xmlns:a="http://schemas.openxmlformats.org/drawingml/2006/main">
              <a:ext uri="{FF2B5EF4-FFF2-40B4-BE49-F238E27FC236}">
                <a16:creationId xmlns:a16="http://schemas.microsoft.com/office/drawing/2014/main" id="{43C3086C-10FB-48AA-AB8B-BC78B3B6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 study type</a:t>
            </a:r>
          </a:p>
        </p:txBody>
      </p:sp>
      <p:sp>
        <p:nvSpPr>
          <p:cNvPr id="18" name="rowline-2">
            <a:extLst xmlns:a="http://schemas.openxmlformats.org/drawingml/2006/main">
              <a:ext uri="{FF2B5EF4-FFF2-40B4-BE49-F238E27FC236}">
                <a16:creationId xmlns:a16="http://schemas.microsoft.com/office/drawing/2014/main" id="{EC9A1497-7299-40ED-936C-F5565FD9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r3c0">
            <a:extLst xmlns:a="http://schemas.openxmlformats.org/drawingml/2006/main">
              <a:ext uri="{FF2B5EF4-FFF2-40B4-BE49-F238E27FC236}">
                <a16:creationId xmlns:a16="http://schemas.microsoft.com/office/drawing/2014/main" id="{D96BB711-A4FB-4459-8E60-797CFDB4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Quote drift</a:t>
            </a:r>
          </a:p>
        </p:txBody>
      </p:sp>
      <p:sp>
        <p:nvSpPr>
          <p:cNvPr id="20" name="r3c1">
            <a:extLst xmlns:a="http://schemas.openxmlformats.org/drawingml/2006/main">
              <a:ext uri="{FF2B5EF4-FFF2-40B4-BE49-F238E27FC236}">
                <a16:creationId xmlns:a16="http://schemas.microsoft.com/office/drawing/2014/main" id="{F3D8D5C6-44A6-4FF7-83BB-28F20AE9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引用句子和原文意思不同</a:t>
            </a:r>
          </a:p>
        </p:txBody>
      </p:sp>
      <p:sp>
        <p:nvSpPr>
          <p:cNvPr id="21" name="r3c2">
            <a:extLst xmlns:a="http://schemas.openxmlformats.org/drawingml/2006/main">
              <a:ext uri="{FF2B5EF4-FFF2-40B4-BE49-F238E27FC236}">
                <a16:creationId xmlns:a16="http://schemas.microsoft.com/office/drawing/2014/main" id="{8FB33199-CD0E-4E43-A3C3-971307C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24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keep evidence quote</a:t>
            </a:r>
          </a:p>
        </p:txBody>
      </p:sp>
      <p:sp>
        <p:nvSpPr>
          <p:cNvPr id="22" name="rowline-3">
            <a:extLst xmlns:a="http://schemas.openxmlformats.org/drawingml/2006/main">
              <a:ext uri="{FF2B5EF4-FFF2-40B4-BE49-F238E27FC236}">
                <a16:creationId xmlns:a16="http://schemas.microsoft.com/office/drawing/2014/main" id="{930FF257-E0FB-40A7-B7DF-42CE086D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footer">
            <a:extLst xmlns:a="http://schemas.openxmlformats.org/drawingml/2006/main">
              <a:ext uri="{FF2B5EF4-FFF2-40B4-BE49-F238E27FC236}">
                <a16:creationId xmlns:a16="http://schemas.microsoft.com/office/drawing/2014/main" id="{A863B224-50C5-4867-AAE4-E9BD6DA7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28/35</a:t>
            </a:r>
          </a:p>
        </p:txBody>
      </p:sp>
    </p:spTree>
    <p:extLst>
      <p:ext uri="{BB962C8B-B14F-4D97-AF65-F5344CB8AC3E}">
        <p14:creationId xmlns:p14="http://schemas.microsoft.com/office/powerpoint/2010/main" val="1540402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B02F20F-54EC-4F63-A4B3-99511EEE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COMMON ERROR 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9EE33F3-12D9-486B-8F05-737ED1DB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 gene symbol：一個字母就能換世界線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BC0C9FD-676D-4CC1-AB56-565FBD77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29/35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181A20B5-D1F7-46FA-B93A-0C11ED01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Pattern</a:t>
            </a:r>
          </a:p>
        </p:txBody>
      </p:sp>
      <p:sp>
        <p:nvSpPr>
          <p:cNvPr id="5" name="head-1">
            <a:extLst xmlns:a="http://schemas.openxmlformats.org/drawingml/2006/main">
              <a:ext uri="{FF2B5EF4-FFF2-40B4-BE49-F238E27FC236}">
                <a16:creationId xmlns:a16="http://schemas.microsoft.com/office/drawing/2014/main" id="{DA273313-06CE-44DB-A0A2-C968218D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859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What goes wrong</a:t>
            </a:r>
          </a:p>
        </p:txBody>
      </p:sp>
      <p:sp>
        <p:nvSpPr>
          <p:cNvPr id="6" name="head-2">
            <a:extLst xmlns:a="http://schemas.openxmlformats.org/drawingml/2006/main">
              <a:ext uri="{FF2B5EF4-FFF2-40B4-BE49-F238E27FC236}">
                <a16:creationId xmlns:a16="http://schemas.microsoft.com/office/drawing/2014/main" id="{CEEF6A6B-D76E-44F2-B61D-43C4D1ED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How to check</a:t>
            </a:r>
          </a:p>
        </p:txBody>
      </p:sp>
      <p:sp>
        <p:nvSpPr>
          <p:cNvPr id="7" name="r0c0">
            <a:extLst xmlns:a="http://schemas.openxmlformats.org/drawingml/2006/main">
              <a:ext uri="{FF2B5EF4-FFF2-40B4-BE49-F238E27FC236}">
                <a16:creationId xmlns:a16="http://schemas.microsoft.com/office/drawing/2014/main" id="{4F47DA80-1D0D-44B6-8BE6-594F9216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Alias</a:t>
            </a:r>
          </a:p>
        </p:txBody>
      </p:sp>
      <p:sp>
        <p:nvSpPr>
          <p:cNvPr id="8" name="r0c1">
            <a:extLst xmlns:a="http://schemas.openxmlformats.org/drawingml/2006/main">
              <a:ext uri="{FF2B5EF4-FFF2-40B4-BE49-F238E27FC236}">
                <a16:creationId xmlns:a16="http://schemas.microsoft.com/office/drawing/2014/main" id="{6067E7BB-7AA5-47CC-A84D-85A2533E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384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舊名和正式 symbol 混用</a:t>
            </a:r>
          </a:p>
        </p:txBody>
      </p:sp>
      <p:sp>
        <p:nvSpPr>
          <p:cNvPr id="9" name="r0c2">
            <a:extLst xmlns:a="http://schemas.openxmlformats.org/drawingml/2006/main">
              <a:ext uri="{FF2B5EF4-FFF2-40B4-BE49-F238E27FC236}">
                <a16:creationId xmlns:a16="http://schemas.microsoft.com/office/drawing/2014/main" id="{AFC3E03B-B548-4A79-9F0E-7811594E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38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HGNC approved symbol</a:t>
            </a:r>
          </a:p>
        </p:txBody>
      </p:sp>
      <p:sp>
        <p:nvSpPr>
          <p:cNvPr id="10" name="rowline-0">
            <a:extLst xmlns:a="http://schemas.openxmlformats.org/drawingml/2006/main">
              <a:ext uri="{FF2B5EF4-FFF2-40B4-BE49-F238E27FC236}">
                <a16:creationId xmlns:a16="http://schemas.microsoft.com/office/drawing/2014/main" id="{F6D117FD-4A86-40B8-8584-CFB07522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r1c0">
            <a:extLst xmlns:a="http://schemas.openxmlformats.org/drawingml/2006/main">
              <a:ext uri="{FF2B5EF4-FFF2-40B4-BE49-F238E27FC236}">
                <a16:creationId xmlns:a16="http://schemas.microsoft.com/office/drawing/2014/main" id="{BFD47C1C-8A56-4EAC-A0B3-1F0A22F4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Species</a:t>
            </a:r>
          </a:p>
        </p:txBody>
      </p:sp>
      <p:sp>
        <p:nvSpPr>
          <p:cNvPr id="12" name="r1c1">
            <a:extLst xmlns:a="http://schemas.openxmlformats.org/drawingml/2006/main">
              <a:ext uri="{FF2B5EF4-FFF2-40B4-BE49-F238E27FC236}">
                <a16:creationId xmlns:a16="http://schemas.microsoft.com/office/drawing/2014/main" id="{4D121282-F136-485A-BF55-F14A7F6F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mouse gene 被當 human gene</a:t>
            </a:r>
          </a:p>
        </p:txBody>
      </p:sp>
      <p:sp>
        <p:nvSpPr>
          <p:cNvPr id="13" name="r1c2">
            <a:extLst xmlns:a="http://schemas.openxmlformats.org/drawingml/2006/main">
              <a:ext uri="{FF2B5EF4-FFF2-40B4-BE49-F238E27FC236}">
                <a16:creationId xmlns:a16="http://schemas.microsoft.com/office/drawing/2014/main" id="{36D8A5A1-023B-4AA1-8137-79E653DB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organism check</a:t>
            </a:r>
          </a:p>
        </p:txBody>
      </p:sp>
      <p:sp>
        <p:nvSpPr>
          <p:cNvPr id="14" name="rowline-1">
            <a:extLst xmlns:a="http://schemas.openxmlformats.org/drawingml/2006/main">
              <a:ext uri="{FF2B5EF4-FFF2-40B4-BE49-F238E27FC236}">
                <a16:creationId xmlns:a16="http://schemas.microsoft.com/office/drawing/2014/main" id="{E00DB41D-AE84-402C-AB44-AD9C063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r2c0">
            <a:extLst xmlns:a="http://schemas.openxmlformats.org/drawingml/2006/main">
              <a:ext uri="{FF2B5EF4-FFF2-40B4-BE49-F238E27FC236}">
                <a16:creationId xmlns:a16="http://schemas.microsoft.com/office/drawing/2014/main" id="{81C647CB-6DB7-49B6-90A3-47E2F5A1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Family</a:t>
            </a:r>
          </a:p>
        </p:txBody>
      </p:sp>
      <p:sp>
        <p:nvSpPr>
          <p:cNvPr id="16" name="r2c1">
            <a:extLst xmlns:a="http://schemas.openxmlformats.org/drawingml/2006/main">
              <a:ext uri="{FF2B5EF4-FFF2-40B4-BE49-F238E27FC236}">
                <a16:creationId xmlns:a16="http://schemas.microsoft.com/office/drawing/2014/main" id="{6CCAA26C-87D1-4B63-A02E-9CBC47A0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95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family member 被混淆</a:t>
            </a:r>
          </a:p>
        </p:txBody>
      </p:sp>
      <p:sp>
        <p:nvSpPr>
          <p:cNvPr id="17" name="r2c2">
            <a:extLst xmlns:a="http://schemas.openxmlformats.org/drawingml/2006/main">
              <a:ext uri="{FF2B5EF4-FFF2-40B4-BE49-F238E27FC236}">
                <a16:creationId xmlns:a16="http://schemas.microsoft.com/office/drawing/2014/main" id="{6044D3BD-48DC-48C2-9DA5-ED158324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stable ID</a:t>
            </a:r>
          </a:p>
        </p:txBody>
      </p:sp>
      <p:sp>
        <p:nvSpPr>
          <p:cNvPr id="18" name="rowline-2">
            <a:extLst xmlns:a="http://schemas.openxmlformats.org/drawingml/2006/main">
              <a:ext uri="{FF2B5EF4-FFF2-40B4-BE49-F238E27FC236}">
                <a16:creationId xmlns:a16="http://schemas.microsoft.com/office/drawing/2014/main" id="{BB2EE163-46B4-4BEA-8162-A0B04771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r3c0">
            <a:extLst xmlns:a="http://schemas.openxmlformats.org/drawingml/2006/main">
              <a:ext uri="{FF2B5EF4-FFF2-40B4-BE49-F238E27FC236}">
                <a16:creationId xmlns:a16="http://schemas.microsoft.com/office/drawing/2014/main" id="{6E9AFC80-7A32-4EEF-8A91-F1E58396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Formatting</a:t>
            </a:r>
          </a:p>
        </p:txBody>
      </p:sp>
      <p:sp>
        <p:nvSpPr>
          <p:cNvPr id="20" name="r3c1">
            <a:extLst xmlns:a="http://schemas.openxmlformats.org/drawingml/2006/main">
              <a:ext uri="{FF2B5EF4-FFF2-40B4-BE49-F238E27FC236}">
                <a16:creationId xmlns:a16="http://schemas.microsoft.com/office/drawing/2014/main" id="{2EBA4110-D1AD-4861-B5B6-D850D839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大小寫造成物種或符號誤判</a:t>
            </a:r>
          </a:p>
        </p:txBody>
      </p:sp>
      <p:sp>
        <p:nvSpPr>
          <p:cNvPr id="21" name="r3c2">
            <a:extLst xmlns:a="http://schemas.openxmlformats.org/drawingml/2006/main">
              <a:ext uri="{FF2B5EF4-FFF2-40B4-BE49-F238E27FC236}">
                <a16:creationId xmlns:a16="http://schemas.microsoft.com/office/drawing/2014/main" id="{E57FDA81-4363-401D-B629-5BA0894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24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naming convention</a:t>
            </a:r>
          </a:p>
        </p:txBody>
      </p:sp>
      <p:sp>
        <p:nvSpPr>
          <p:cNvPr id="22" name="rowline-3">
            <a:extLst xmlns:a="http://schemas.openxmlformats.org/drawingml/2006/main">
              <a:ext uri="{FF2B5EF4-FFF2-40B4-BE49-F238E27FC236}">
                <a16:creationId xmlns:a16="http://schemas.microsoft.com/office/drawing/2014/main" id="{4640159D-B4E7-490C-A0A7-A1C2A011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footer">
            <a:extLst xmlns:a="http://schemas.openxmlformats.org/drawingml/2006/main">
              <a:ext uri="{FF2B5EF4-FFF2-40B4-BE49-F238E27FC236}">
                <a16:creationId xmlns:a16="http://schemas.microsoft.com/office/drawing/2014/main" id="{7BE38CD3-C424-419E-91F4-68EB96ED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29/35</a:t>
            </a:r>
          </a:p>
        </p:txBody>
      </p:sp>
    </p:spTree>
    <p:extLst>
      <p:ext uri="{BB962C8B-B14F-4D97-AF65-F5344CB8AC3E}">
        <p14:creationId xmlns:p14="http://schemas.microsoft.com/office/powerpoint/2010/main" val="2890454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0EA2194-F7EB-4E60-8AE3-FC256E27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COMMON ERROR 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0BE8CD-8EF8-441B-898B-7D1A4F1D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錯資料庫版本：答案不是錯在語言，是錯在時間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9B82B5E-DFC8-43C9-B0B1-13C1912E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30/35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10E4B8D9-C729-4DD4-9FF2-B529BA35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5" name="head-1">
            <a:extLst xmlns:a="http://schemas.openxmlformats.org/drawingml/2006/main">
              <a:ext uri="{FF2B5EF4-FFF2-40B4-BE49-F238E27FC236}">
                <a16:creationId xmlns:a16="http://schemas.microsoft.com/office/drawing/2014/main" id="{65A3A657-1036-4704-85C6-6E26C098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859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Version risk</a:t>
            </a:r>
          </a:p>
        </p:txBody>
      </p:sp>
      <p:sp>
        <p:nvSpPr>
          <p:cNvPr id="6" name="head-2">
            <a:extLst xmlns:a="http://schemas.openxmlformats.org/drawingml/2006/main">
              <a:ext uri="{FF2B5EF4-FFF2-40B4-BE49-F238E27FC236}">
                <a16:creationId xmlns:a16="http://schemas.microsoft.com/office/drawing/2014/main" id="{B4C15003-A00F-4E99-BC8E-287F05EE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7" name="r0c0">
            <a:extLst xmlns:a="http://schemas.openxmlformats.org/drawingml/2006/main">
              <a:ext uri="{FF2B5EF4-FFF2-40B4-BE49-F238E27FC236}">
                <a16:creationId xmlns:a16="http://schemas.microsoft.com/office/drawing/2014/main" id="{D3ABC237-428A-4E41-9ACA-F663ADF4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ClinVar</a:t>
            </a:r>
          </a:p>
        </p:txBody>
      </p:sp>
      <p:sp>
        <p:nvSpPr>
          <p:cNvPr id="8" name="r0c1">
            <a:extLst xmlns:a="http://schemas.openxmlformats.org/drawingml/2006/main">
              <a:ext uri="{FF2B5EF4-FFF2-40B4-BE49-F238E27FC236}">
                <a16:creationId xmlns:a16="http://schemas.microsoft.com/office/drawing/2014/main" id="{1F18D779-52CA-48EC-A5C7-DD02663E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384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interpretation 會更新</a:t>
            </a:r>
          </a:p>
        </p:txBody>
      </p:sp>
      <p:sp>
        <p:nvSpPr>
          <p:cNvPr id="9" name="r0c2">
            <a:extLst xmlns:a="http://schemas.openxmlformats.org/drawingml/2006/main">
              <a:ext uri="{FF2B5EF4-FFF2-40B4-BE49-F238E27FC236}">
                <a16:creationId xmlns:a16="http://schemas.microsoft.com/office/drawing/2014/main" id="{59DD9712-7BF5-4083-B690-8E50F1C2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38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release date</a:t>
            </a:r>
          </a:p>
        </p:txBody>
      </p:sp>
      <p:sp>
        <p:nvSpPr>
          <p:cNvPr id="10" name="rowline-0">
            <a:extLst xmlns:a="http://schemas.openxmlformats.org/drawingml/2006/main">
              <a:ext uri="{FF2B5EF4-FFF2-40B4-BE49-F238E27FC236}">
                <a16:creationId xmlns:a16="http://schemas.microsoft.com/office/drawing/2014/main" id="{6B9475F8-0BDF-4584-A5ED-13DE85B6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r1c0">
            <a:extLst xmlns:a="http://schemas.openxmlformats.org/drawingml/2006/main">
              <a:ext uri="{FF2B5EF4-FFF2-40B4-BE49-F238E27FC236}">
                <a16:creationId xmlns:a16="http://schemas.microsoft.com/office/drawing/2014/main" id="{7004D08B-A425-473E-B66F-01A77F34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gnomAD</a:t>
            </a:r>
          </a:p>
        </p:txBody>
      </p:sp>
      <p:sp>
        <p:nvSpPr>
          <p:cNvPr id="12" name="r1c1">
            <a:extLst xmlns:a="http://schemas.openxmlformats.org/drawingml/2006/main">
              <a:ext uri="{FF2B5EF4-FFF2-40B4-BE49-F238E27FC236}">
                <a16:creationId xmlns:a16="http://schemas.microsoft.com/office/drawing/2014/main" id="{4DEFCD13-01C0-4B38-B143-DA55FD93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population frequency 版本差異</a:t>
            </a:r>
          </a:p>
        </p:txBody>
      </p:sp>
      <p:sp>
        <p:nvSpPr>
          <p:cNvPr id="13" name="r1c2">
            <a:extLst xmlns:a="http://schemas.openxmlformats.org/drawingml/2006/main">
              <a:ext uri="{FF2B5EF4-FFF2-40B4-BE49-F238E27FC236}">
                <a16:creationId xmlns:a16="http://schemas.microsoft.com/office/drawing/2014/main" id="{AF86B965-9BE8-47D6-9814-86CDBF2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dataset version</a:t>
            </a:r>
          </a:p>
        </p:txBody>
      </p:sp>
      <p:sp>
        <p:nvSpPr>
          <p:cNvPr id="14" name="rowline-1">
            <a:extLst xmlns:a="http://schemas.openxmlformats.org/drawingml/2006/main">
              <a:ext uri="{FF2B5EF4-FFF2-40B4-BE49-F238E27FC236}">
                <a16:creationId xmlns:a16="http://schemas.microsoft.com/office/drawing/2014/main" id="{6FC105FB-DD4F-4D45-AC4D-55A24661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r2c0">
            <a:extLst xmlns:a="http://schemas.openxmlformats.org/drawingml/2006/main">
              <a:ext uri="{FF2B5EF4-FFF2-40B4-BE49-F238E27FC236}">
                <a16:creationId xmlns:a16="http://schemas.microsoft.com/office/drawing/2014/main" id="{1C24D661-4760-48D3-B807-EFD0489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Ensembl</a:t>
            </a:r>
          </a:p>
        </p:txBody>
      </p:sp>
      <p:sp>
        <p:nvSpPr>
          <p:cNvPr id="16" name="r2c1">
            <a:extLst xmlns:a="http://schemas.openxmlformats.org/drawingml/2006/main">
              <a:ext uri="{FF2B5EF4-FFF2-40B4-BE49-F238E27FC236}">
                <a16:creationId xmlns:a16="http://schemas.microsoft.com/office/drawing/2014/main" id="{C10A12A8-A7C3-4849-A3B8-0BDADADD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95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model / transcript 改變</a:t>
            </a:r>
          </a:p>
        </p:txBody>
      </p:sp>
      <p:sp>
        <p:nvSpPr>
          <p:cNvPr id="17" name="r2c2">
            <a:extLst xmlns:a="http://schemas.openxmlformats.org/drawingml/2006/main">
              <a:ext uri="{FF2B5EF4-FFF2-40B4-BE49-F238E27FC236}">
                <a16:creationId xmlns:a16="http://schemas.microsoft.com/office/drawing/2014/main" id="{E400B2A7-F735-4728-A1D7-AF3350AF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release + transcript</a:t>
            </a:r>
          </a:p>
        </p:txBody>
      </p:sp>
      <p:sp>
        <p:nvSpPr>
          <p:cNvPr id="18" name="rowline-2">
            <a:extLst xmlns:a="http://schemas.openxmlformats.org/drawingml/2006/main">
              <a:ext uri="{FF2B5EF4-FFF2-40B4-BE49-F238E27FC236}">
                <a16:creationId xmlns:a16="http://schemas.microsoft.com/office/drawing/2014/main" id="{B9FA8434-A195-46BF-8E40-D7F5EAF0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r3c0">
            <a:extLst xmlns:a="http://schemas.openxmlformats.org/drawingml/2006/main">
              <a:ext uri="{FF2B5EF4-FFF2-40B4-BE49-F238E27FC236}">
                <a16:creationId xmlns:a16="http://schemas.microsoft.com/office/drawing/2014/main" id="{47D5FC76-CD2A-469B-8A72-EB284D18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20" name="r3c1">
            <a:extLst xmlns:a="http://schemas.openxmlformats.org/drawingml/2006/main">
              <a:ext uri="{FF2B5EF4-FFF2-40B4-BE49-F238E27FC236}">
                <a16:creationId xmlns:a16="http://schemas.microsoft.com/office/drawing/2014/main" id="{65ADF3B9-AB48-458C-8832-C39A1022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GRCh37 / GRCh38 座標不同</a:t>
            </a:r>
          </a:p>
        </p:txBody>
      </p:sp>
      <p:sp>
        <p:nvSpPr>
          <p:cNvPr id="21" name="r3c2">
            <a:extLst xmlns:a="http://schemas.openxmlformats.org/drawingml/2006/main">
              <a:ext uri="{FF2B5EF4-FFF2-40B4-BE49-F238E27FC236}">
                <a16:creationId xmlns:a16="http://schemas.microsoft.com/office/drawing/2014/main" id="{05311D40-1C4B-45EE-9CB3-0AF56FAC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24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genome build</a:t>
            </a:r>
          </a:p>
        </p:txBody>
      </p:sp>
      <p:sp>
        <p:nvSpPr>
          <p:cNvPr id="22" name="rowline-3">
            <a:extLst xmlns:a="http://schemas.openxmlformats.org/drawingml/2006/main">
              <a:ext uri="{FF2B5EF4-FFF2-40B4-BE49-F238E27FC236}">
                <a16:creationId xmlns:a16="http://schemas.microsoft.com/office/drawing/2014/main" id="{032EA6D8-B713-4CDA-981D-3AC2DCC1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footer">
            <a:extLst xmlns:a="http://schemas.openxmlformats.org/drawingml/2006/main">
              <a:ext uri="{FF2B5EF4-FFF2-40B4-BE49-F238E27FC236}">
                <a16:creationId xmlns:a16="http://schemas.microsoft.com/office/drawing/2014/main" id="{1A382153-819B-434D-80CC-56AAEF8A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30/35</a:t>
            </a:r>
          </a:p>
        </p:txBody>
      </p:sp>
    </p:spTree>
    <p:extLst>
      <p:ext uri="{BB962C8B-B14F-4D97-AF65-F5344CB8AC3E}">
        <p14:creationId xmlns:p14="http://schemas.microsoft.com/office/powerpoint/2010/main" val="65241177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7A23965-D948-48F4-88E4-F89A57F7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COMMON ERROR 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8779FBF-20B2-4A44-9863-7F30976A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過度臨床推論：從相關性跳到建議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E21B4FB-67DA-4C44-92FB-D6DA7170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31/35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052A92CE-899F-43F8-909C-B41A58E8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5" name="head-1">
            <a:extLst xmlns:a="http://schemas.openxmlformats.org/drawingml/2006/main">
              <a:ext uri="{FF2B5EF4-FFF2-40B4-BE49-F238E27FC236}">
                <a16:creationId xmlns:a16="http://schemas.microsoft.com/office/drawing/2014/main" id="{6A4B741D-1BAA-4550-A6ED-C9E15BDF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859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Danger</a:t>
            </a:r>
          </a:p>
        </p:txBody>
      </p:sp>
      <p:sp>
        <p:nvSpPr>
          <p:cNvPr id="6" name="head-2">
            <a:extLst xmlns:a="http://schemas.openxmlformats.org/drawingml/2006/main">
              <a:ext uri="{FF2B5EF4-FFF2-40B4-BE49-F238E27FC236}">
                <a16:creationId xmlns:a16="http://schemas.microsoft.com/office/drawing/2014/main" id="{9DCBF8D7-87DB-431C-8C21-1AB44934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Boundary</a:t>
            </a:r>
          </a:p>
        </p:txBody>
      </p:sp>
      <p:sp>
        <p:nvSpPr>
          <p:cNvPr id="7" name="r0c0">
            <a:extLst xmlns:a="http://schemas.openxmlformats.org/drawingml/2006/main">
              <a:ext uri="{FF2B5EF4-FFF2-40B4-BE49-F238E27FC236}">
                <a16:creationId xmlns:a16="http://schemas.microsoft.com/office/drawing/2014/main" id="{B8E48454-9606-40EB-89F2-E23F928F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Association</a:t>
            </a:r>
          </a:p>
        </p:txBody>
      </p:sp>
      <p:sp>
        <p:nvSpPr>
          <p:cNvPr id="8" name="r0c1">
            <a:extLst xmlns:a="http://schemas.openxmlformats.org/drawingml/2006/main">
              <a:ext uri="{FF2B5EF4-FFF2-40B4-BE49-F238E27FC236}">
                <a16:creationId xmlns:a16="http://schemas.microsoft.com/office/drawing/2014/main" id="{EFE45057-96CC-4A9E-B4CA-6FCFDFD6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384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被講成 causation</a:t>
            </a:r>
          </a:p>
        </p:txBody>
      </p:sp>
      <p:sp>
        <p:nvSpPr>
          <p:cNvPr id="9" name="r0c2">
            <a:extLst xmlns:a="http://schemas.openxmlformats.org/drawingml/2006/main">
              <a:ext uri="{FF2B5EF4-FFF2-40B4-BE49-F238E27FC236}">
                <a16:creationId xmlns:a16="http://schemas.microsoft.com/office/drawing/2014/main" id="{1AEB7D30-7428-47CD-BD8F-BCCAA4BB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38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state evidence level</a:t>
            </a:r>
          </a:p>
        </p:txBody>
      </p:sp>
      <p:sp>
        <p:nvSpPr>
          <p:cNvPr id="10" name="rowline-0">
            <a:extLst xmlns:a="http://schemas.openxmlformats.org/drawingml/2006/main">
              <a:ext uri="{FF2B5EF4-FFF2-40B4-BE49-F238E27FC236}">
                <a16:creationId xmlns:a16="http://schemas.microsoft.com/office/drawing/2014/main" id="{DA149662-A76C-4905-8081-9095CFA5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r1c0">
            <a:extLst xmlns:a="http://schemas.openxmlformats.org/drawingml/2006/main">
              <a:ext uri="{FF2B5EF4-FFF2-40B4-BE49-F238E27FC236}">
                <a16:creationId xmlns:a16="http://schemas.microsoft.com/office/drawing/2014/main" id="{C090B558-6BB0-4625-9457-0FF9AB59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Biomarker</a:t>
            </a:r>
          </a:p>
        </p:txBody>
      </p:sp>
      <p:sp>
        <p:nvSpPr>
          <p:cNvPr id="12" name="r1c1">
            <a:extLst xmlns:a="http://schemas.openxmlformats.org/drawingml/2006/main">
              <a:ext uri="{FF2B5EF4-FFF2-40B4-BE49-F238E27FC236}">
                <a16:creationId xmlns:a16="http://schemas.microsoft.com/office/drawing/2014/main" id="{D2147619-934C-414F-8D8A-778C656F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被講成 treatment decision</a:t>
            </a:r>
          </a:p>
        </p:txBody>
      </p:sp>
      <p:sp>
        <p:nvSpPr>
          <p:cNvPr id="13" name="r1c2">
            <a:extLst xmlns:a="http://schemas.openxmlformats.org/drawingml/2006/main">
              <a:ext uri="{FF2B5EF4-FFF2-40B4-BE49-F238E27FC236}">
                <a16:creationId xmlns:a16="http://schemas.microsoft.com/office/drawing/2014/main" id="{35268286-E77F-4280-998B-6899DC43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67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guideline / label</a:t>
            </a:r>
          </a:p>
        </p:txBody>
      </p:sp>
      <p:sp>
        <p:nvSpPr>
          <p:cNvPr id="14" name="rowline-1">
            <a:extLst xmlns:a="http://schemas.openxmlformats.org/drawingml/2006/main">
              <a:ext uri="{FF2B5EF4-FFF2-40B4-BE49-F238E27FC236}">
                <a16:creationId xmlns:a16="http://schemas.microsoft.com/office/drawing/2014/main" id="{1EDD7A49-0516-489C-B0D6-A8E9C056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r2c0">
            <a:extLst xmlns:a="http://schemas.openxmlformats.org/drawingml/2006/main">
              <a:ext uri="{FF2B5EF4-FFF2-40B4-BE49-F238E27FC236}">
                <a16:creationId xmlns:a16="http://schemas.microsoft.com/office/drawing/2014/main" id="{0E99EC05-F2C8-48BC-B187-FBF66677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6" name="r2c1">
            <a:extLst xmlns:a="http://schemas.openxmlformats.org/drawingml/2006/main">
              <a:ext uri="{FF2B5EF4-FFF2-40B4-BE49-F238E27FC236}">
                <a16:creationId xmlns:a16="http://schemas.microsoft.com/office/drawing/2014/main" id="{C6D22B86-F911-4408-A56A-43048B31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95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被講成 pathogenic</a:t>
            </a:r>
          </a:p>
        </p:txBody>
      </p:sp>
      <p:sp>
        <p:nvSpPr>
          <p:cNvPr id="17" name="r2c2">
            <a:extLst xmlns:a="http://schemas.openxmlformats.org/drawingml/2006/main">
              <a:ext uri="{FF2B5EF4-FFF2-40B4-BE49-F238E27FC236}">
                <a16:creationId xmlns:a16="http://schemas.microsoft.com/office/drawing/2014/main" id="{E4E8E889-DAD2-4DD7-B95D-C56ABA8F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ClinVar + expert review</a:t>
            </a:r>
          </a:p>
        </p:txBody>
      </p:sp>
      <p:sp>
        <p:nvSpPr>
          <p:cNvPr id="18" name="rowline-2">
            <a:extLst xmlns:a="http://schemas.openxmlformats.org/drawingml/2006/main">
              <a:ext uri="{FF2B5EF4-FFF2-40B4-BE49-F238E27FC236}">
                <a16:creationId xmlns:a16="http://schemas.microsoft.com/office/drawing/2014/main" id="{5C4B81A1-0CC8-4A21-BA96-9441912B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r3c0">
            <a:extLst xmlns:a="http://schemas.openxmlformats.org/drawingml/2006/main">
              <a:ext uri="{FF2B5EF4-FFF2-40B4-BE49-F238E27FC236}">
                <a16:creationId xmlns:a16="http://schemas.microsoft.com/office/drawing/2014/main" id="{A01D71AB-D29F-4CB1-B562-0072E461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20" name="r3c1">
            <a:extLst xmlns:a="http://schemas.openxmlformats.org/drawingml/2006/main">
              <a:ext uri="{FF2B5EF4-FFF2-40B4-BE49-F238E27FC236}">
                <a16:creationId xmlns:a16="http://schemas.microsoft.com/office/drawing/2014/main" id="{E0670C82-AF3F-4B49-A252-13CBC91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243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5A4A"/>
                </a:solidFill>
                <a:latin typeface="Aptos"/>
                <a:ea typeface="Aptos"/>
                <a:cs typeface="Aptos"/>
              </a:rPr>
              <a:t>被講成 patient-specific advice</a:t>
            </a:r>
          </a:p>
        </p:txBody>
      </p:sp>
      <p:sp>
        <p:nvSpPr>
          <p:cNvPr id="21" name="r3c2">
            <a:extLst xmlns:a="http://schemas.openxmlformats.org/drawingml/2006/main">
              <a:ext uri="{FF2B5EF4-FFF2-40B4-BE49-F238E27FC236}">
                <a16:creationId xmlns:a16="http://schemas.microsoft.com/office/drawing/2014/main" id="{D98B5DC9-FBD9-4AB3-A7FE-0A7F6BAC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24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E8F88"/>
                </a:solidFill>
                <a:latin typeface="Aptos"/>
                <a:ea typeface="Aptos"/>
                <a:cs typeface="Aptos"/>
              </a:rPr>
              <a:t>human clinical review</a:t>
            </a:r>
          </a:p>
        </p:txBody>
      </p:sp>
      <p:sp>
        <p:nvSpPr>
          <p:cNvPr id="22" name="rowline-3">
            <a:extLst xmlns:a="http://schemas.openxmlformats.org/drawingml/2006/main">
              <a:ext uri="{FF2B5EF4-FFF2-40B4-BE49-F238E27FC236}">
                <a16:creationId xmlns:a16="http://schemas.microsoft.com/office/drawing/2014/main" id="{B5B01C3C-7057-46F1-8EB3-87D030BA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50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footer">
            <a:extLst xmlns:a="http://schemas.openxmlformats.org/drawingml/2006/main">
              <a:ext uri="{FF2B5EF4-FFF2-40B4-BE49-F238E27FC236}">
                <a16:creationId xmlns:a16="http://schemas.microsoft.com/office/drawing/2014/main" id="{86EB9DB2-A760-4490-A9D6-59DC09D3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31/35</a:t>
            </a:r>
          </a:p>
        </p:txBody>
      </p:sp>
    </p:spTree>
    <p:extLst>
      <p:ext uri="{BB962C8B-B14F-4D97-AF65-F5344CB8AC3E}">
        <p14:creationId xmlns:p14="http://schemas.microsoft.com/office/powerpoint/2010/main" val="131474635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DF60D38-4D60-405F-B1F3-F16F15F8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VERIFY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50350D-A8C4-4623-9FC6-0EEB4A1C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任務需要驗證，因為錯誤有實際代價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0A2BD16-F827-4F21-8B35-E07CDED4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32/35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8F74BB49-5FF3-4C7F-9D79-CC8A2D30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研究結論可能被錯誤 evidence 影響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臨床語氣可能讓非專家誤以為是建議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資料庫版本錯誤會讓結果難以重現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0287B652-CC44-4B36-B839-352FE3E9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85DC3A57-84EB-40C0-892C-443FBD7F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可驗證不是潔癖，</a:t>
            </a:r>
          </a:p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是專業安全帶。</a:t>
            </a:r>
          </a:p>
        </p:txBody>
      </p:sp>
    </p:spTree>
    <p:extLst>
      <p:ext uri="{BB962C8B-B14F-4D97-AF65-F5344CB8AC3E}">
        <p14:creationId xmlns:p14="http://schemas.microsoft.com/office/powerpoint/2010/main" val="138591704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5C27252-D44B-45B2-BAA4-71FCE82F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CHECKABLE TASK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6FAC26-13CA-4F5A-B935-9A710A4B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可檢查 task spec 讓 LLM 不容易亂發揮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55F5688-A9AE-4D03-8B6C-9E27263F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33/35</a:t>
            </a:r>
          </a:p>
        </p:txBody>
      </p:sp>
      <p:sp>
        <p:nvSpPr>
          <p:cNvPr id="4" name="bullets">
            <a:extLst xmlns:a="http://schemas.openxmlformats.org/drawingml/2006/main">
              <a:ext uri="{FF2B5EF4-FFF2-40B4-BE49-F238E27FC236}">
                <a16:creationId xmlns:a16="http://schemas.microsoft.com/office/drawing/2014/main" id="{8584D183-9542-4B64-BC39-BB3B691D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3835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Goal：要產出什麼，給誰用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Inputs：資料、欄位、版本、限制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Sources：允許使用哪些 evidence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Schema：欄位、型別、citation、not found rule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boundary：哪些 claim 必須人工檢查</a:t>
            </a:r>
          </a:p>
        </p:txBody>
      </p:sp>
      <p:sp>
        <p:nvSpPr>
          <p:cNvPr id="5" name="callout">
            <a:extLst xmlns:a="http://schemas.openxmlformats.org/drawingml/2006/main">
              <a:ext uri="{FF2B5EF4-FFF2-40B4-BE49-F238E27FC236}">
                <a16:creationId xmlns:a16="http://schemas.microsoft.com/office/drawing/2014/main" id="{59C917F4-1034-44F7-9B40-99CAD3E5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10D3CD8A-D0DB-4517-BE9D-EB89E1C9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81300"/>
            <a:ext cx="2628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 = 任務 + 材料 + 格式 + 檢查規則</a:t>
            </a:r>
          </a:p>
        </p:txBody>
      </p:sp>
    </p:spTree>
    <p:extLst>
      <p:ext uri="{BB962C8B-B14F-4D97-AF65-F5344CB8AC3E}">
        <p14:creationId xmlns:p14="http://schemas.microsoft.com/office/powerpoint/2010/main" val="146940840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78BC326-7807-44D7-BED9-C3D40BE6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5C7AF2C-DDFC-4907-B121-7D55E1D9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小練習 2：把壞 prompt 改成可檢查 task spec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F2D0C12-65F1-4FFC-A8A7-DC908674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LLM basics for agent users  |  34/35</a:t>
            </a:r>
          </a:p>
        </p:txBody>
      </p:sp>
      <p:sp>
        <p:nvSpPr>
          <p:cNvPr id="4" name="prompt-box">
            <a:extLst xmlns:a="http://schemas.openxmlformats.org/drawingml/2006/main">
              <a:ext uri="{FF2B5EF4-FFF2-40B4-BE49-F238E27FC236}">
                <a16:creationId xmlns:a16="http://schemas.microsoft.com/office/drawing/2014/main" id="{82396615-D4BF-487D-A3A6-E72283C1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76250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2A71C706-EEEB-4C08-80CD-A8E0769A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給學生的壞 prompt</a:t>
            </a:r>
          </a:p>
        </p:txBody>
      </p:sp>
      <p:sp>
        <p:nvSpPr>
          <p:cNvPr id="6" name="prompt">
            <a:extLst xmlns:a="http://schemas.openxmlformats.org/drawingml/2006/main">
              <a:ext uri="{FF2B5EF4-FFF2-40B4-BE49-F238E27FC236}">
                <a16:creationId xmlns:a16="http://schemas.microsoft.com/office/drawing/2014/main" id="{8CE585CB-C92E-4C1B-B1EA-11C23CF5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14650"/>
            <a:ext cx="3524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幫我整理 TP53、EGFR、ALK 跟肺癌的關係，做成表格。</a:t>
            </a:r>
          </a:p>
        </p:txBody>
      </p:sp>
      <p:sp>
        <p:nvSpPr>
          <p:cNvPr id="7" name="task-box">
            <a:extLst xmlns:a="http://schemas.openxmlformats.org/drawingml/2006/main">
              <a:ext uri="{FF2B5EF4-FFF2-40B4-BE49-F238E27FC236}">
                <a16:creationId xmlns:a16="http://schemas.microsoft.com/office/drawing/2014/main" id="{33C329A8-F72A-4765-B7A5-F69592B9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85950"/>
            <a:ext cx="438150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task-label">
            <a:extLst xmlns:a="http://schemas.openxmlformats.org/drawingml/2006/main">
              <a:ext uri="{FF2B5EF4-FFF2-40B4-BE49-F238E27FC236}">
                <a16:creationId xmlns:a16="http://schemas.microsoft.com/office/drawing/2014/main" id="{6A191BAA-8E49-4477-8988-E9952BEF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09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要補上的規格</a:t>
            </a:r>
          </a:p>
        </p:txBody>
      </p:sp>
      <p:sp>
        <p:nvSpPr>
          <p:cNvPr id="9" name="tasks">
            <a:extLst xmlns:a="http://schemas.openxmlformats.org/drawingml/2006/main">
              <a:ext uri="{FF2B5EF4-FFF2-40B4-BE49-F238E27FC236}">
                <a16:creationId xmlns:a16="http://schemas.microsoft.com/office/drawing/2014/main" id="{1198C407-AA59-4F89-9749-9D4E32F8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0035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指定資料來源與版本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指定欄位與 citation 格式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claim 附 evidence quote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找不到證據時填 not found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標出需要 human review 的欄位</a:t>
            </a:r>
          </a:p>
        </p:txBody>
      </p:sp>
      <p:sp>
        <p:nvSpPr>
          <p:cNvPr id="10" name="timing">
            <a:extLst xmlns:a="http://schemas.openxmlformats.org/drawingml/2006/main">
              <a:ext uri="{FF2B5EF4-FFF2-40B4-BE49-F238E27FC236}">
                <a16:creationId xmlns:a16="http://schemas.microsoft.com/office/drawing/2014/main" id="{DDC409E6-50C5-411E-A3C5-276A80AB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0545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8 分鐘改寫 + 5 分鐘分享</a:t>
            </a:r>
          </a:p>
        </p:txBody>
      </p:sp>
    </p:spTree>
    <p:extLst>
      <p:ext uri="{BB962C8B-B14F-4D97-AF65-F5344CB8AC3E}">
        <p14:creationId xmlns:p14="http://schemas.microsoft.com/office/powerpoint/2010/main" val="49811486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241EC266-972B-4082-A43D-2C06CB39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048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9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每次用 LLM 做 biomedical 任務前，問這 6 件事</a:t>
            </a:r>
          </a:p>
        </p:txBody>
      </p:sp>
      <p:sp>
        <p:nvSpPr>
          <p:cNvPr id="2" name="num-0">
            <a:extLst xmlns:a="http://schemas.openxmlformats.org/drawingml/2006/main">
              <a:ext uri="{FF2B5EF4-FFF2-40B4-BE49-F238E27FC236}">
                <a16:creationId xmlns:a16="http://schemas.microsoft.com/office/drawing/2014/main" id="{945F3B27-1B32-43B5-82F2-918EDED0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" name="item-0">
            <a:extLst xmlns:a="http://schemas.openxmlformats.org/drawingml/2006/main">
              <a:ext uri="{FF2B5EF4-FFF2-40B4-BE49-F238E27FC236}">
                <a16:creationId xmlns:a16="http://schemas.microsoft.com/office/drawing/2014/main" id="{DAF173F9-5B28-4C6E-BBE8-C8781F37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8288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資料來源和版本在哪？</a:t>
            </a:r>
          </a:p>
        </p:txBody>
      </p:sp>
      <p:sp>
        <p:nvSpPr>
          <p:cNvPr id="4" name="num-1">
            <a:extLst xmlns:a="http://schemas.openxmlformats.org/drawingml/2006/main">
              <a:ext uri="{FF2B5EF4-FFF2-40B4-BE49-F238E27FC236}">
                <a16:creationId xmlns:a16="http://schemas.microsoft.com/office/drawing/2014/main" id="{518E930F-AD01-4FD1-ADD0-EB4F85C9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item-1">
            <a:extLst xmlns:a="http://schemas.openxmlformats.org/drawingml/2006/main">
              <a:ext uri="{FF2B5EF4-FFF2-40B4-BE49-F238E27FC236}">
                <a16:creationId xmlns:a16="http://schemas.microsoft.com/office/drawing/2014/main" id="{AD161DAD-01FF-4D28-BEAB-BABDB071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288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哪些內容真的進了 context？</a:t>
            </a:r>
          </a:p>
        </p:txBody>
      </p:sp>
      <p:sp>
        <p:nvSpPr>
          <p:cNvPr id="6" name="num-2">
            <a:extLst xmlns:a="http://schemas.openxmlformats.org/drawingml/2006/main">
              <a:ext uri="{FF2B5EF4-FFF2-40B4-BE49-F238E27FC236}">
                <a16:creationId xmlns:a16="http://schemas.microsoft.com/office/drawing/2014/main" id="{0D102A76-F93B-45EE-9E7B-3B4DC182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7" name="item-2">
            <a:extLst xmlns:a="http://schemas.openxmlformats.org/drawingml/2006/main">
              <a:ext uri="{FF2B5EF4-FFF2-40B4-BE49-F238E27FC236}">
                <a16:creationId xmlns:a16="http://schemas.microsoft.com/office/drawing/2014/main" id="{C28E63D3-2A24-45E1-BAE2-E0C93E55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956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哪些 claim 需要 citation？</a:t>
            </a:r>
          </a:p>
        </p:txBody>
      </p:sp>
      <p:sp>
        <p:nvSpPr>
          <p:cNvPr id="8" name="num-3">
            <a:extLst xmlns:a="http://schemas.openxmlformats.org/drawingml/2006/main">
              <a:ext uri="{FF2B5EF4-FFF2-40B4-BE49-F238E27FC236}">
                <a16:creationId xmlns:a16="http://schemas.microsoft.com/office/drawing/2014/main" id="{5503907F-4344-4BE0-A192-E95034A8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9" name="item-3">
            <a:extLst xmlns:a="http://schemas.openxmlformats.org/drawingml/2006/main">
              <a:ext uri="{FF2B5EF4-FFF2-40B4-BE49-F238E27FC236}">
                <a16:creationId xmlns:a16="http://schemas.microsoft.com/office/drawing/2014/main" id="{4FFEA78D-C324-4202-8DDB-F2932DDB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956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輸出 schema 能不能暴露錯誤？</a:t>
            </a:r>
          </a:p>
        </p:txBody>
      </p:sp>
      <p:sp>
        <p:nvSpPr>
          <p:cNvPr id="10" name="num-4">
            <a:extLst xmlns:a="http://schemas.openxmlformats.org/drawingml/2006/main">
              <a:ext uri="{FF2B5EF4-FFF2-40B4-BE49-F238E27FC236}">
                <a16:creationId xmlns:a16="http://schemas.microsoft.com/office/drawing/2014/main" id="{5D924373-E213-4B48-A0E3-B2DB2AB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86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1" name="item-4">
            <a:extLst xmlns:a="http://schemas.openxmlformats.org/drawingml/2006/main">
              <a:ext uri="{FF2B5EF4-FFF2-40B4-BE49-F238E27FC236}">
                <a16:creationId xmlns:a16="http://schemas.microsoft.com/office/drawing/2014/main" id="{8EACAF00-2FB5-4766-A5CB-1180EE00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962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找不到證據時會不會停止？</a:t>
            </a:r>
          </a:p>
        </p:txBody>
      </p:sp>
      <p:sp>
        <p:nvSpPr>
          <p:cNvPr id="12" name="num-5">
            <a:extLst xmlns:a="http://schemas.openxmlformats.org/drawingml/2006/main">
              <a:ext uri="{FF2B5EF4-FFF2-40B4-BE49-F238E27FC236}">
                <a16:creationId xmlns:a16="http://schemas.microsoft.com/office/drawing/2014/main" id="{F7DF1CE9-BB96-4F17-993E-480FD4E1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3" name="item-5">
            <a:extLst xmlns:a="http://schemas.openxmlformats.org/drawingml/2006/main">
              <a:ext uri="{FF2B5EF4-FFF2-40B4-BE49-F238E27FC236}">
                <a16:creationId xmlns:a16="http://schemas.microsoft.com/office/drawing/2014/main" id="{BA1DA1F7-30F6-44C8-9FF2-ADA565C9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62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哪一步需要 human review？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FA4428DE-1A65-4C96-8932-48FE1CE3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578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FD98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D98A"/>
                </a:solidFill>
                <a:latin typeface="PingFang TC"/>
                <a:ea typeface="PingFang TC"/>
                <a:cs typeface="PingFang TC"/>
              </a:rPr>
              <a:t>AI 很會講話，工程師和研究者要很會驗證。</a:t>
            </a:r>
          </a:p>
        </p:txBody>
      </p:sp>
      <p:sp>
        <p:nvSpPr>
          <p:cNvPr id="15" name="footer-dark">
            <a:extLst xmlns:a="http://schemas.openxmlformats.org/drawingml/2006/main">
              <a:ext uri="{FF2B5EF4-FFF2-40B4-BE49-F238E27FC236}">
                <a16:creationId xmlns:a16="http://schemas.microsoft.com/office/drawing/2014/main" id="{8FA10523-A1F3-4D74-96B4-8598DD29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LLM basics for agent users  |  35/35</a:t>
            </a:r>
          </a:p>
        </p:txBody>
      </p:sp>
    </p:spTree>
    <p:extLst>
      <p:ext uri="{BB962C8B-B14F-4D97-AF65-F5344CB8AC3E}">
        <p14:creationId xmlns:p14="http://schemas.microsoft.com/office/powerpoint/2010/main" val="15344584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2026-07-05T08:09:16.1450000Z</dcterms:created>
  <dcterms:modified xsi:type="dcterms:W3CDTF">2026-07-05T08:09:16.1450000Z</dcterms:modified>
</coreProperties>
</file>