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bf63ec75d045e0" /><Relationship Type="http://schemas.openxmlformats.org/officeDocument/2006/relationships/extended-properties" Target="/docProps/app.xml" Id="Rc2dd08c281b2451f" /><Relationship Type="http://schemas.openxmlformats.org/officeDocument/2006/relationships/officeDocument" Target="/ppt/presentation.xml" Id="R5a6105f8623c45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857ff552a2403a"/>
  </p:sldMasterIdLst>
  <p:notesMasterIdLst>
    <p:notesMasterId xmlns:r="http://schemas.openxmlformats.org/officeDocument/2006/relationships" r:id="R46ff45d4d05b4e63"/>
  </p:notesMasterIdLst>
  <p:sldIdLst>
    <p:sldId xmlns:r="http://schemas.openxmlformats.org/officeDocument/2006/relationships" id="256" r:id="R64222cc99ecd4441"/>
    <p:sldId xmlns:r="http://schemas.openxmlformats.org/officeDocument/2006/relationships" id="257" r:id="Rf0c093ec98574ee3"/>
    <p:sldId xmlns:r="http://schemas.openxmlformats.org/officeDocument/2006/relationships" id="258" r:id="R77d163dfdcd54fe0"/>
    <p:sldId xmlns:r="http://schemas.openxmlformats.org/officeDocument/2006/relationships" id="259" r:id="R37d63badcb784ba3"/>
    <p:sldId xmlns:r="http://schemas.openxmlformats.org/officeDocument/2006/relationships" id="260" r:id="Ra49f8fba7d5d4a78"/>
    <p:sldId xmlns:r="http://schemas.openxmlformats.org/officeDocument/2006/relationships" id="261" r:id="Rff96cbac2ea34a78"/>
    <p:sldId xmlns:r="http://schemas.openxmlformats.org/officeDocument/2006/relationships" id="262" r:id="R89846e38cb144639"/>
    <p:sldId xmlns:r="http://schemas.openxmlformats.org/officeDocument/2006/relationships" id="263" r:id="R8ccb08e7a9254226"/>
    <p:sldId xmlns:r="http://schemas.openxmlformats.org/officeDocument/2006/relationships" id="264" r:id="R3f9bf7df374b4f8a"/>
    <p:sldId xmlns:r="http://schemas.openxmlformats.org/officeDocument/2006/relationships" id="265" r:id="R7a5545ef186b448a"/>
    <p:sldId xmlns:r="http://schemas.openxmlformats.org/officeDocument/2006/relationships" id="266" r:id="Rb3cb8103da874ade"/>
    <p:sldId xmlns:r="http://schemas.openxmlformats.org/officeDocument/2006/relationships" id="267" r:id="Rbe6730fa1b3440e5"/>
    <p:sldId xmlns:r="http://schemas.openxmlformats.org/officeDocument/2006/relationships" id="268" r:id="Rf66139dd9069415a"/>
    <p:sldId xmlns:r="http://schemas.openxmlformats.org/officeDocument/2006/relationships" id="269" r:id="R2566902463a049b4"/>
    <p:sldId xmlns:r="http://schemas.openxmlformats.org/officeDocument/2006/relationships" id="270" r:id="R648768fdf7a049e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967859f8674328" /><Relationship Type="http://schemas.openxmlformats.org/officeDocument/2006/relationships/slideMaster" Target="/ppt/slideMasters/slideMaster1.xml" Id="R3a857ff552a2403a" /><Relationship Type="http://schemas.openxmlformats.org/officeDocument/2006/relationships/notesMaster" Target="/ppt/notesMasters/notesMaster1.xml" Id="R46ff45d4d05b4e63" /><Relationship Type="http://schemas.openxmlformats.org/officeDocument/2006/relationships/presProps" Target="/ppt/presProps.xml" Id="Rb735127a1dc4418d" /><Relationship Type="http://schemas.openxmlformats.org/officeDocument/2006/relationships/tableStyles" Target="/ppt/tableStyles.xml" Id="R5bf3dd4c15924828" /><Relationship Type="http://schemas.openxmlformats.org/officeDocument/2006/relationships/slide" Target="/ppt/slides/slide1.xml" Id="R64222cc99ecd4441" /><Relationship Type="http://schemas.openxmlformats.org/officeDocument/2006/relationships/slide" Target="/ppt/slides/slide2.xml" Id="Rf0c093ec98574ee3" /><Relationship Type="http://schemas.openxmlformats.org/officeDocument/2006/relationships/slide" Target="/ppt/slides/slide3.xml" Id="R77d163dfdcd54fe0" /><Relationship Type="http://schemas.openxmlformats.org/officeDocument/2006/relationships/slide" Target="/ppt/slides/slide4.xml" Id="R37d63badcb784ba3" /><Relationship Type="http://schemas.openxmlformats.org/officeDocument/2006/relationships/slide" Target="/ppt/slides/slide5.xml" Id="Ra49f8fba7d5d4a78" /><Relationship Type="http://schemas.openxmlformats.org/officeDocument/2006/relationships/slide" Target="/ppt/slides/slide6.xml" Id="Rff96cbac2ea34a78" /><Relationship Type="http://schemas.openxmlformats.org/officeDocument/2006/relationships/slide" Target="/ppt/slides/slide7.xml" Id="R89846e38cb144639" /><Relationship Type="http://schemas.openxmlformats.org/officeDocument/2006/relationships/slide" Target="/ppt/slides/slide8.xml" Id="R8ccb08e7a9254226" /><Relationship Type="http://schemas.openxmlformats.org/officeDocument/2006/relationships/slide" Target="/ppt/slides/slide9.xml" Id="R3f9bf7df374b4f8a" /><Relationship Type="http://schemas.openxmlformats.org/officeDocument/2006/relationships/slide" Target="/ppt/slides/slide10.xml" Id="R7a5545ef186b448a" /><Relationship Type="http://schemas.openxmlformats.org/officeDocument/2006/relationships/slide" Target="/ppt/slides/slide11.xml" Id="Rb3cb8103da874ade" /><Relationship Type="http://schemas.openxmlformats.org/officeDocument/2006/relationships/slide" Target="/ppt/slides/slide12.xml" Id="Rbe6730fa1b3440e5" /><Relationship Type="http://schemas.openxmlformats.org/officeDocument/2006/relationships/slide" Target="/ppt/slides/slide13.xml" Id="Rf66139dd9069415a" /><Relationship Type="http://schemas.openxmlformats.org/officeDocument/2006/relationships/slide" Target="/ppt/slides/slide14.xml" Id="R2566902463a049b4" /><Relationship Type="http://schemas.openxmlformats.org/officeDocument/2006/relationships/slide" Target="/ppt/slides/slide15.xml" Id="R648768fdf7a049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78e22329744f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2a2094396a4d44" /><Relationship Type="http://schemas.openxmlformats.org/officeDocument/2006/relationships/notesMaster" Target="/ppt/notesMasters/notesMaster1.xml" Id="Rb75749c6ab5842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6a03ba1b734ada" /><Relationship Type="http://schemas.openxmlformats.org/officeDocument/2006/relationships/notesMaster" Target="/ppt/notesMasters/notesMaster1.xml" Id="R2478623115a341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30815e40ea4281" /><Relationship Type="http://schemas.openxmlformats.org/officeDocument/2006/relationships/notesMaster" Target="/ppt/notesMasters/notesMaster1.xml" Id="R24356e639ace4a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7eb6d357a14b1a" /><Relationship Type="http://schemas.openxmlformats.org/officeDocument/2006/relationships/notesMaster" Target="/ppt/notesMasters/notesMaster1.xml" Id="R8cbaa062ca1248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12ff7517de45b6" /><Relationship Type="http://schemas.openxmlformats.org/officeDocument/2006/relationships/notesMaster" Target="/ppt/notesMasters/notesMaster1.xml" Id="R80b9d0789d3e4d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8ac9139b1b4e8a" /><Relationship Type="http://schemas.openxmlformats.org/officeDocument/2006/relationships/notesMaster" Target="/ppt/notesMasters/notesMaster1.xml" Id="Ra293726d2cda4f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f0f77277f84ce7" /><Relationship Type="http://schemas.openxmlformats.org/officeDocument/2006/relationships/notesMaster" Target="/ppt/notesMasters/notesMaster1.xml" Id="Rba2fe03ca97048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e5372c0bef4f56" /><Relationship Type="http://schemas.openxmlformats.org/officeDocument/2006/relationships/notesMaster" Target="/ppt/notesMasters/notesMaster1.xml" Id="R21ac04bbf1cd48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8872dbde074e58" /><Relationship Type="http://schemas.openxmlformats.org/officeDocument/2006/relationships/notesMaster" Target="/ppt/notesMasters/notesMaster1.xml" Id="R035320e0eb6a42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3a9f6245b14002" /><Relationship Type="http://schemas.openxmlformats.org/officeDocument/2006/relationships/notesMaster" Target="/ppt/notesMasters/notesMaster1.xml" Id="R32e140b79c4c49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70ae02533e46d4" /><Relationship Type="http://schemas.openxmlformats.org/officeDocument/2006/relationships/notesMaster" Target="/ppt/notesMasters/notesMaster1.xml" Id="R397568e36d8443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57b445f8db4813" /><Relationship Type="http://schemas.openxmlformats.org/officeDocument/2006/relationships/notesMaster" Target="/ppt/notesMasters/notesMaster1.xml" Id="R5432e94d86dd46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d8459de78d4ef6" /><Relationship Type="http://schemas.openxmlformats.org/officeDocument/2006/relationships/notesMaster" Target="/ppt/notesMasters/notesMaster1.xml" Id="Rd67317c5717b4b1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b4c6c5eea55484c" /><Relationship Type="http://schemas.openxmlformats.org/officeDocument/2006/relationships/notesMaster" Target="/ppt/notesMasters/notesMaster1.xml" Id="R42a65d2e56464c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3fc1fa923c84e5a" /><Relationship Type="http://schemas.openxmlformats.org/officeDocument/2006/relationships/notesMaster" Target="/ppt/notesMasters/notesMaster1.xml" Id="R315df4f3ba9e4e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設定本堂課定位：不是模型架構課，也不是 prompt 技巧課，而是幫 agent 使用者理解 LLM 的行為邊界，知道什麼能信、什麼要查、什麼要留下紀錄。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用直觀方式說明：LLM 是根據上下文預測下一段最可能的文字。它可能記得常見知識，但不是穩定、可查詢、可保證更新的 biomedical database。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這張只建立直覺，不講模型細節。LLM 的輸出是根據上下文一步步產生的，因此它可能非常流暢，但流暢不代表有查過資料來源。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解釋 token 對使用者的實際影響：context 放不下所有 PDF、表格、程式碼。agent workflow 必須設計放什麼進去，以及怎麼檢查沒放進去的部分。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 RAG 背後直覺：embedding 幫我們找到可能相關的段落，但不能保證段落就是答案，也不能保證模型正確引用。retrieval 後仍需要來源檢查。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建立詞彙精準度。未來設計 agent 時，要能分清楚規則、任務、材料、證據來源。這也是 debug agent 行為的基礎。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同一個問題，如果 context 不同，答案可能不同。可重現的 agent workflow 必須保存 prompt、context、retrieved files、tool outputs。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避免把 hallucination 講成單純模型笨。它是生成式模型的自然風險：語言流暢度不等於事實正確性。尤其生醫領域中，錯誤可能很像真的。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給具體風險邊界。生醫 workflow 中，citation、gene symbol、variant、drug、clinical claim 等欄位不能只靠語言模型判斷，必須用外部來源檢查。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區分 reasoning-like behavior 和 validated reasoning。LLM 可以幫忙規劃分析、提出候選解釋，但 biomedical 結論必須回到資料、文獻、程式、統計結果檢查。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建立和第二堂課的銜接：agent 不是比較聰明的聊天。agent 的價值在於能把不可靠的文字生成，接到可靠的工具執行與檢查流程。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回到第二堂 agent loop，這次只高亮 model decision point。學生要理解，今天學的是 model 層，但可靠 agent workflow 還需要 tools、state、verification。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讓學生理解同樣問題為什麼答案不同。實務上要記錄 model、日期、prompt、context、工具版本、資料版本、輸出檔案，必要時固定 seed 或 deterministic 設定。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把安全講成工程規格，而不是抽象倫理。任何會影響臨床解讀、病人風險、藥物建議、variant pathogenicity 的內容，都要有 evidence trail 和 human review。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本堂核心轉換：從『請幫我分析』改成『可檢查任務規格』。練習可用不可靠 prompt：請幫我找出 TP53、EGFR、ALK 跟肺癌的關係，整理成表格。要求學生指定 gene symbol 標準、癌別範圍、資料來源、欄位格式、citation 欄位、找不到證據時填 not found、不得編造 PMID。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5da73dd17145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71a5aef1654d0c" /><Relationship Type="http://schemas.openxmlformats.org/officeDocument/2006/relationships/slideLayout" Target="/ppt/slideLayouts/slideLayout1.xml" Id="R56e58cb926b044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e58cb926b044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7b1f5ac3a4373" /><Relationship Type="http://schemas.openxmlformats.org/officeDocument/2006/relationships/notesSlide" Target="/ppt/notesSlides/notesSlide1.xml" Id="R27c05916d50648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6248b94cf4f18" /><Relationship Type="http://schemas.openxmlformats.org/officeDocument/2006/relationships/notesSlide" Target="/ppt/notesSlides/notesSlide2.xml" Id="R182d2b87d8d04d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c3042b4ac46f6" /><Relationship Type="http://schemas.openxmlformats.org/officeDocument/2006/relationships/notesSlide" Target="/ppt/notesSlides/notesSlide3.xml" Id="R4dc476bbaa5e4a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42745b9b2467f" /><Relationship Type="http://schemas.openxmlformats.org/officeDocument/2006/relationships/notesSlide" Target="/ppt/notesSlides/notesSlide4.xml" Id="R970c7dfc7e1449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c7596d0934905" /><Relationship Type="http://schemas.openxmlformats.org/officeDocument/2006/relationships/notesSlide" Target="/ppt/notesSlides/notesSlide5.xml" Id="R2aa972930d2a47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4215e5c4545b9" /><Relationship Type="http://schemas.openxmlformats.org/officeDocument/2006/relationships/notesSlide" Target="/ppt/notesSlides/notesSlide6.xml" Id="R40f0d0dbf5aa4e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6a088bdf04042" /><Relationship Type="http://schemas.openxmlformats.org/officeDocument/2006/relationships/notesSlide" Target="/ppt/notesSlides/notesSlide7.xml" Id="Rd747e884251c41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77191684e4f7e" /><Relationship Type="http://schemas.openxmlformats.org/officeDocument/2006/relationships/notesSlide" Target="/ppt/notesSlides/notesSlide8.xml" Id="R16492e1af1b84b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ea3500b544456" /><Relationship Type="http://schemas.openxmlformats.org/officeDocument/2006/relationships/notesSlide" Target="/ppt/notesSlides/notesSlide9.xml" Id="R583c5636903d4d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4b5c8df9c4b6d" /><Relationship Type="http://schemas.openxmlformats.org/officeDocument/2006/relationships/notesSlide" Target="/ppt/notesSlides/notesSlide10.xml" Id="Rbaf07e56710348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98d5141e842a0" /><Relationship Type="http://schemas.openxmlformats.org/officeDocument/2006/relationships/notesSlide" Target="/ppt/notesSlides/notesSlide11.xml" Id="Rf349afcf010b42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d25925feb4075" /><Relationship Type="http://schemas.openxmlformats.org/officeDocument/2006/relationships/notesSlide" Target="/ppt/notesSlides/notesSlide12.xml" Id="R5ca79973b4da46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536cc719d40a4" /><Relationship Type="http://schemas.openxmlformats.org/officeDocument/2006/relationships/notesSlide" Target="/ppt/notesSlides/notesSlide13.xml" Id="Rce2a3e065ea6418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1a341753a41db" /><Relationship Type="http://schemas.openxmlformats.org/officeDocument/2006/relationships/notesSlide" Target="/ppt/notesSlides/notesSlide14.xml" Id="Re85e2d19966d4f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ba3868212496c" /><Relationship Type="http://schemas.openxmlformats.org/officeDocument/2006/relationships/notesSlide" Target="/ppt/notesSlides/notesSlide15.xml" Id="R8960882a1f9048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7ED9CF7-8680-4D35-91ED-5FDE73CD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LESSON 03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0132C5E-47CF-4221-AE9B-4F595ED4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666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今天放大看 agent loop 裡的 model 層</a:t>
            </a:r>
          </a:p>
        </p:txBody>
      </p:sp>
      <p:sp>
        <p:nvSpPr>
          <p:cNvPr id="3" name="questions">
            <a:extLst xmlns:a="http://schemas.openxmlformats.org/drawingml/2006/main">
              <a:ext uri="{FF2B5EF4-FFF2-40B4-BE49-F238E27FC236}">
                <a16:creationId xmlns:a16="http://schemas.microsoft.com/office/drawing/2014/main" id="{C1136B6E-B61B-4429-B351-6AE2BD3F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953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4"/>
              </a:spcAft>
              <a:buNone/>
              <a:defRPr sz="18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LLM 到底在做什麼？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4"/>
              </a:spcAft>
              <a:buNone/>
              <a:defRPr sz="18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為什麼它有時很強、有時很危險？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4"/>
              </a:spcAft>
              <a:buNone/>
              <a:defRPr sz="18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如何把 LLM 放進可檢查的 biomedical workflow？</a:t>
            </a:r>
          </a:p>
        </p:txBody>
      </p:sp>
      <p:sp>
        <p:nvSpPr>
          <p:cNvPr id="4" name="goal">
            <a:extLst xmlns:a="http://schemas.openxmlformats.org/drawingml/2006/main">
              <a:ext uri="{FF2B5EF4-FFF2-40B4-BE49-F238E27FC236}">
                <a16:creationId xmlns:a16="http://schemas.microsoft.com/office/drawing/2014/main" id="{F158A99B-833F-4710-8A7E-2AF26783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33600"/>
            <a:ext cx="952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C98A1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5" name="model">
            <a:extLst xmlns:a="http://schemas.openxmlformats.org/drawingml/2006/main">
              <a:ext uri="{FF2B5EF4-FFF2-40B4-BE49-F238E27FC236}">
                <a16:creationId xmlns:a16="http://schemas.microsoft.com/office/drawing/2014/main" id="{37492823-32B1-47D6-B3EB-DBDEE635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85950"/>
            <a:ext cx="1485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LLM call</a:t>
            </a:r>
          </a:p>
        </p:txBody>
      </p:sp>
      <p:sp>
        <p:nvSpPr>
          <p:cNvPr id="6" name="tools">
            <a:extLst xmlns:a="http://schemas.openxmlformats.org/drawingml/2006/main">
              <a:ext uri="{FF2B5EF4-FFF2-40B4-BE49-F238E27FC236}">
                <a16:creationId xmlns:a16="http://schemas.microsoft.com/office/drawing/2014/main" id="{58DB1A8E-CF4D-42B6-BE54-30D6F3AF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133600"/>
            <a:ext cx="952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C98A1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7" name="verify">
            <a:extLst xmlns:a="http://schemas.openxmlformats.org/drawingml/2006/main">
              <a:ext uri="{FF2B5EF4-FFF2-40B4-BE49-F238E27FC236}">
                <a16:creationId xmlns:a16="http://schemas.microsoft.com/office/drawing/2014/main" id="{36C4585E-8139-4F4C-A84E-8B409F8C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5760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333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7810500" y="2219325"/>
            <a:ext cx="60960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D4DADD"/>
            </a:solidFill>
            <a:prstDash val="solid"/>
            <a:tailEnd type="arrow" w="sm" len="sm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906000" y="2219325"/>
            <a:ext cx="57150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D4DADD"/>
            </a:solidFill>
            <a:prstDash val="solid"/>
            <a:tailEnd type="arrow" w="sm" len="sm"/>
          </a:ln>
        </p:spPr>
      </p:cxnSp>
      <p:cxnSp>
        <p:nvCxnSpPr>
          <p:cNvPr id="22" name="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9153525" y="2552700"/>
            <a:ext cx="9525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89A16"/>
            </a:solidFill>
            <a:prstDash val="dash"/>
            <a:tailEnd type="arrow" w="sm" len="sm"/>
          </a:ln>
        </p:spPr>
      </p:cxnSp>
      <p:sp>
        <p:nvSpPr>
          <p:cNvPr id="11" name="zoom">
            <a:extLst xmlns:a="http://schemas.openxmlformats.org/drawingml/2006/main">
              <a:ext uri="{FF2B5EF4-FFF2-40B4-BE49-F238E27FC236}">
                <a16:creationId xmlns:a16="http://schemas.microsoft.com/office/drawing/2014/main" id="{62F1E05D-9DFC-4EF8-8272-E4F9D9A6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Prompt, context, retrieved evidence, temperature, hallucination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都會影響這一層的輸出。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D7322870-1D3D-4578-851E-3F5825F3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LLM basics for agent users  |  1/15</a:t>
            </a:r>
          </a:p>
        </p:txBody>
      </p:sp>
    </p:spTree>
    <p:extLst>
      <p:ext uri="{BB962C8B-B14F-4D97-AF65-F5344CB8AC3E}">
        <p14:creationId xmlns:p14="http://schemas.microsoft.com/office/powerpoint/2010/main" val="18535559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8791726-1110-4243-B63D-8CE0C2B1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LLM IS NOT A DATABASE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23FF376-98AB-4D64-8D99-41E409E5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LLM 不是資料庫；它產生最像答案的文字</a:t>
            </a:r>
          </a:p>
        </p:txBody>
      </p:sp>
      <p:sp>
        <p:nvSpPr>
          <p:cNvPr id="3" name="db-surface">
            <a:extLst xmlns:a="http://schemas.openxmlformats.org/drawingml/2006/main">
              <a:ext uri="{FF2B5EF4-FFF2-40B4-BE49-F238E27FC236}">
                <a16:creationId xmlns:a16="http://schemas.microsoft.com/office/drawing/2014/main" id="{1844D516-BD9E-42A6-AAAB-C8EB0498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4191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4" name="db-title">
            <a:extLst xmlns:a="http://schemas.openxmlformats.org/drawingml/2006/main">
              <a:ext uri="{FF2B5EF4-FFF2-40B4-BE49-F238E27FC236}">
                <a16:creationId xmlns:a16="http://schemas.microsoft.com/office/drawing/2014/main" id="{EC368C36-9934-442A-B126-124503D3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5" name="query">
            <a:extLst xmlns:a="http://schemas.openxmlformats.org/drawingml/2006/main">
              <a:ext uri="{FF2B5EF4-FFF2-40B4-BE49-F238E27FC236}">
                <a16:creationId xmlns:a16="http://schemas.microsoft.com/office/drawing/2014/main" id="{310E4763-AAA5-466F-8DD6-E33B17EA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104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query</a:t>
            </a:r>
          </a:p>
        </p:txBody>
      </p:sp>
      <p:sp>
        <p:nvSpPr>
          <p:cNvPr id="6" name="record">
            <a:extLst xmlns:a="http://schemas.openxmlformats.org/drawingml/2006/main">
              <a:ext uri="{FF2B5EF4-FFF2-40B4-BE49-F238E27FC236}">
                <a16:creationId xmlns:a16="http://schemas.microsoft.com/office/drawing/2014/main" id="{5B4F7543-6AEF-4A20-A6BD-0DD05DC1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29000"/>
            <a:ext cx="104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record</a:t>
            </a:r>
          </a:p>
        </p:txBody>
      </p:sp>
      <p:sp>
        <p:nvSpPr>
          <p:cNvPr id="7" name="db-line">
            <a:extLst xmlns:a="http://schemas.openxmlformats.org/drawingml/2006/main">
              <a:ext uri="{FF2B5EF4-FFF2-40B4-BE49-F238E27FC236}">
                <a16:creationId xmlns:a16="http://schemas.microsoft.com/office/drawing/2014/main" id="{34000B8B-F4D8-4466-A732-5E0AA980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576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E8F88"/>
            </a:solidFill>
            <a:prstDash val="solid"/>
          </a:ln>
        </p:spPr>
      </p:sp>
      <p:sp>
        <p:nvSpPr>
          <p:cNvPr id="8" name="db-copy">
            <a:extLst xmlns:a="http://schemas.openxmlformats.org/drawingml/2006/main">
              <a:ext uri="{FF2B5EF4-FFF2-40B4-BE49-F238E27FC236}">
                <a16:creationId xmlns:a16="http://schemas.microsoft.com/office/drawing/2014/main" id="{496176AB-9D83-4B7A-AA6A-201B420F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243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查表：有明確來源、版本與結果。</a:t>
            </a:r>
          </a:p>
        </p:txBody>
      </p:sp>
      <p:sp>
        <p:nvSpPr>
          <p:cNvPr id="9" name="llm-surface">
            <a:extLst xmlns:a="http://schemas.openxmlformats.org/drawingml/2006/main">
              <a:ext uri="{FF2B5EF4-FFF2-40B4-BE49-F238E27FC236}">
                <a16:creationId xmlns:a16="http://schemas.microsoft.com/office/drawing/2014/main" id="{FD3F63AD-0828-4B6C-8A93-C4B21D19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4191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0" name="llm-title">
            <a:extLst xmlns:a="http://schemas.openxmlformats.org/drawingml/2006/main">
              <a:ext uri="{FF2B5EF4-FFF2-40B4-BE49-F238E27FC236}">
                <a16:creationId xmlns:a16="http://schemas.microsoft.com/office/drawing/2014/main" id="{9BCE2AC6-411D-42AC-B3D4-03F474CF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11" name="context">
            <a:extLst xmlns:a="http://schemas.openxmlformats.org/drawingml/2006/main">
              <a:ext uri="{FF2B5EF4-FFF2-40B4-BE49-F238E27FC236}">
                <a16:creationId xmlns:a16="http://schemas.microsoft.com/office/drawing/2014/main" id="{335251D6-286B-4E21-BD9C-1019206F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14700"/>
            <a:ext cx="12001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2" name="token">
            <a:extLst xmlns:a="http://schemas.openxmlformats.org/drawingml/2006/main">
              <a:ext uri="{FF2B5EF4-FFF2-40B4-BE49-F238E27FC236}">
                <a16:creationId xmlns:a16="http://schemas.microsoft.com/office/drawing/2014/main" id="{7FD9D749-71AE-4B94-9332-43827403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14700"/>
            <a:ext cx="1295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next token</a:t>
            </a:r>
          </a:p>
        </p:txBody>
      </p:sp>
      <p:sp>
        <p:nvSpPr>
          <p:cNvPr id="13" name="llm-line">
            <a:extLst xmlns:a="http://schemas.openxmlformats.org/drawingml/2006/main">
              <a:ext uri="{FF2B5EF4-FFF2-40B4-BE49-F238E27FC236}">
                <a16:creationId xmlns:a16="http://schemas.microsoft.com/office/drawing/2014/main" id="{2C6F3E40-D2BB-46DB-88B3-2E9A125D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43300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446A8"/>
            </a:solidFill>
            <a:prstDash val="solid"/>
          </a:ln>
        </p:spPr>
      </p:sp>
      <p:sp>
        <p:nvSpPr>
          <p:cNvPr id="14" name="llm-copy">
            <a:extLst xmlns:a="http://schemas.openxmlformats.org/drawingml/2006/main">
              <a:ext uri="{FF2B5EF4-FFF2-40B4-BE49-F238E27FC236}">
                <a16:creationId xmlns:a16="http://schemas.microsoft.com/office/drawing/2014/main" id="{60ADE739-B789-4BC8-8E64-BD19D03F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243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生成：依上下文預測下一段文字。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5F6FE84C-FC91-44E7-B094-43D8F210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LLM basics for agent users  |  2/15</a:t>
            </a:r>
          </a:p>
        </p:txBody>
      </p:sp>
    </p:spTree>
    <p:extLst>
      <p:ext uri="{BB962C8B-B14F-4D97-AF65-F5344CB8AC3E}">
        <p14:creationId xmlns:p14="http://schemas.microsoft.com/office/powerpoint/2010/main" val="19999003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9F1E738-F86E-45D1-A5CC-F1939C80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NEXT-TOKEN PREDICTION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6DC8DF2-F141-4A1E-9CD1-BA3DD110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Next-token prediction 是判斷接下來最像什麼</a:t>
            </a:r>
          </a:p>
        </p:txBody>
      </p:sp>
      <p:sp>
        <p:nvSpPr>
          <p:cNvPr id="3" name="tok-0">
            <a:extLst xmlns:a="http://schemas.openxmlformats.org/drawingml/2006/main">
              <a:ext uri="{FF2B5EF4-FFF2-40B4-BE49-F238E27FC236}">
                <a16:creationId xmlns:a16="http://schemas.microsoft.com/office/drawing/2014/main" id="{7FA4DDAD-1E6B-428F-ACFF-DCF69D50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TP53</a:t>
            </a:r>
          </a:p>
        </p:txBody>
      </p:sp>
      <p:sp>
        <p:nvSpPr>
          <p:cNvPr id="4" name="tok-1">
            <a:extLst xmlns:a="http://schemas.openxmlformats.org/drawingml/2006/main">
              <a:ext uri="{FF2B5EF4-FFF2-40B4-BE49-F238E27FC236}">
                <a16:creationId xmlns:a16="http://schemas.microsoft.com/office/drawing/2014/main" id="{4AA9A370-CC57-4AE8-ADD2-4884FE55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4320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is</a:t>
            </a:r>
          </a:p>
        </p:txBody>
      </p:sp>
      <p:sp>
        <p:nvSpPr>
          <p:cNvPr id="5" name="tok-2">
            <a:extLst xmlns:a="http://schemas.openxmlformats.org/drawingml/2006/main">
              <a:ext uri="{FF2B5EF4-FFF2-40B4-BE49-F238E27FC236}">
                <a16:creationId xmlns:a16="http://schemas.microsoft.com/office/drawing/2014/main" id="{A574E559-A564-4F64-BEEA-16926BF3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associated</a:t>
            </a:r>
          </a:p>
        </p:txBody>
      </p:sp>
      <p:sp>
        <p:nvSpPr>
          <p:cNvPr id="6" name="tok-3">
            <a:extLst xmlns:a="http://schemas.openxmlformats.org/drawingml/2006/main">
              <a:ext uri="{FF2B5EF4-FFF2-40B4-BE49-F238E27FC236}">
                <a16:creationId xmlns:a16="http://schemas.microsoft.com/office/drawing/2014/main" id="{64F25FCE-9A9A-4C9E-B9A5-A4F18399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4320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with</a:t>
            </a:r>
          </a:p>
        </p:txBody>
      </p:sp>
      <p:sp>
        <p:nvSpPr>
          <p:cNvPr id="7" name="ellipsis">
            <a:extLst xmlns:a="http://schemas.openxmlformats.org/drawingml/2006/main">
              <a:ext uri="{FF2B5EF4-FFF2-40B4-BE49-F238E27FC236}">
                <a16:creationId xmlns:a16="http://schemas.microsoft.com/office/drawing/2014/main" id="{0FAB938F-3E78-461A-A7FB-F51D14F4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...</a:t>
            </a:r>
          </a:p>
        </p:txBody>
      </p:sp>
      <p:sp>
        <p:nvSpPr>
          <p:cNvPr id="8" name="prob-0">
            <a:extLst xmlns:a="http://schemas.openxmlformats.org/drawingml/2006/main">
              <a:ext uri="{FF2B5EF4-FFF2-40B4-BE49-F238E27FC236}">
                <a16:creationId xmlns:a16="http://schemas.microsoft.com/office/drawing/2014/main" id="{84FD24FE-2B1B-4800-8816-0A6BD5A1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76450"/>
            <a:ext cx="1409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cancer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42%</a:t>
            </a:r>
          </a:p>
        </p:txBody>
      </p:sp>
      <p:sp>
        <p:nvSpPr>
          <p:cNvPr id="9" name="fan-0">
            <a:extLst xmlns:a="http://schemas.openxmlformats.org/drawingml/2006/main">
              <a:ext uri="{FF2B5EF4-FFF2-40B4-BE49-F238E27FC236}">
                <a16:creationId xmlns:a16="http://schemas.microsoft.com/office/drawing/2014/main" id="{06C28235-A98E-43D9-8C77-1EBF63CC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52750"/>
            <a:ext cx="1104900" cy="-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446A8"/>
            </a:solidFill>
            <a:prstDash val="solid"/>
          </a:ln>
        </p:spPr>
      </p:sp>
      <p:sp>
        <p:nvSpPr>
          <p:cNvPr id="10" name="prob-1">
            <a:extLst xmlns:a="http://schemas.openxmlformats.org/drawingml/2006/main">
              <a:ext uri="{FF2B5EF4-FFF2-40B4-BE49-F238E27FC236}">
                <a16:creationId xmlns:a16="http://schemas.microsoft.com/office/drawing/2014/main" id="{C4B5DC1C-C7C0-4FF9-B26E-D820271B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409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mutation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21%</a:t>
            </a:r>
          </a:p>
        </p:txBody>
      </p:sp>
      <p:sp>
        <p:nvSpPr>
          <p:cNvPr id="11" name="fan-1">
            <a:extLst xmlns:a="http://schemas.openxmlformats.org/drawingml/2006/main">
              <a:ext uri="{FF2B5EF4-FFF2-40B4-BE49-F238E27FC236}">
                <a16:creationId xmlns:a16="http://schemas.microsoft.com/office/drawing/2014/main" id="{833367BF-F9EA-43BA-9E4A-027BD087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52750"/>
            <a:ext cx="110490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E8F88"/>
            </a:solidFill>
            <a:prstDash val="solid"/>
          </a:ln>
        </p:spPr>
      </p:sp>
      <p:sp>
        <p:nvSpPr>
          <p:cNvPr id="12" name="prob-2">
            <a:extLst xmlns:a="http://schemas.openxmlformats.org/drawingml/2006/main">
              <a:ext uri="{FF2B5EF4-FFF2-40B4-BE49-F238E27FC236}">
                <a16:creationId xmlns:a16="http://schemas.microsoft.com/office/drawing/2014/main" id="{7C34FFBF-9198-4363-B79E-F72D62A5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1409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333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risk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13%</a:t>
            </a:r>
          </a:p>
        </p:txBody>
      </p:sp>
      <p:sp>
        <p:nvSpPr>
          <p:cNvPr id="13" name="fan-2">
            <a:extLst xmlns:a="http://schemas.openxmlformats.org/drawingml/2006/main">
              <a:ext uri="{FF2B5EF4-FFF2-40B4-BE49-F238E27FC236}">
                <a16:creationId xmlns:a16="http://schemas.microsoft.com/office/drawing/2014/main" id="{12200BD1-9626-460A-B06F-FD79C191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52750"/>
            <a:ext cx="1104900" cy="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9A16"/>
            </a:solidFill>
            <a:prstDash val="solid"/>
          </a:ln>
        </p:spPr>
      </p:sp>
      <p:sp>
        <p:nvSpPr>
          <p:cNvPr id="14" name="chosen">
            <a:extLst xmlns:a="http://schemas.openxmlformats.org/drawingml/2006/main">
              <a:ext uri="{FF2B5EF4-FFF2-40B4-BE49-F238E27FC236}">
                <a16:creationId xmlns:a16="http://schemas.microsoft.com/office/drawing/2014/main" id="{60D40BBD-A2BD-45CF-9D10-491A6E8D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57500"/>
            <a:ext cx="1600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chosen next token</a:t>
            </a:r>
          </a:p>
        </p:txBody>
      </p:sp>
      <p:sp>
        <p:nvSpPr>
          <p:cNvPr id="15" name="chosen-line">
            <a:extLst xmlns:a="http://schemas.openxmlformats.org/drawingml/2006/main">
              <a:ext uri="{FF2B5EF4-FFF2-40B4-BE49-F238E27FC236}">
                <a16:creationId xmlns:a16="http://schemas.microsoft.com/office/drawing/2014/main" id="{20D9480E-0FF2-4724-A431-F9F0A35B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337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446A8"/>
            </a:solidFill>
            <a:prstDash val="solid"/>
          </a:ln>
        </p:spPr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CDAEF968-07EE-459B-87C8-8A64613A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482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流暢 ≠ 查證過；機率最高也不一定是真實。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ED38DAFB-C30A-45F5-8964-27D392F9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LLM basics for agent users  |  3/15</a:t>
            </a:r>
          </a:p>
        </p:txBody>
      </p:sp>
    </p:spTree>
    <p:extLst>
      <p:ext uri="{BB962C8B-B14F-4D97-AF65-F5344CB8AC3E}">
        <p14:creationId xmlns:p14="http://schemas.microsoft.com/office/powerpoint/2010/main" val="2898444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986D213-51DF-4658-961B-45770616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TOKENS AND CONTEXT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CE1AD81-61D6-4B12-AAEE-3E5F2DC5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Token 不是字；context 是模型當下看得到的材料</a:t>
            </a:r>
          </a:p>
        </p:txBody>
      </p:sp>
      <p:sp>
        <p:nvSpPr>
          <p:cNvPr id="3" name="prompt">
            <a:extLst xmlns:a="http://schemas.openxmlformats.org/drawingml/2006/main">
              <a:ext uri="{FF2B5EF4-FFF2-40B4-BE49-F238E27FC236}">
                <a16:creationId xmlns:a16="http://schemas.microsoft.com/office/drawing/2014/main" id="{CF55A08B-A79D-40B5-B8BD-DAE9CE0B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Prompt example: summarize EGFR exon 19 deletion evidence</a:t>
            </a:r>
          </a:p>
        </p:txBody>
      </p:sp>
      <p:sp>
        <p:nvSpPr>
          <p:cNvPr id="4" name="chip-0">
            <a:extLst xmlns:a="http://schemas.openxmlformats.org/drawingml/2006/main">
              <a:ext uri="{FF2B5EF4-FFF2-40B4-BE49-F238E27FC236}">
                <a16:creationId xmlns:a16="http://schemas.microsoft.com/office/drawing/2014/main" id="{2D3CF767-5AB3-47BC-80B3-3AB68787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1295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summarize</a:t>
            </a:r>
          </a:p>
        </p:txBody>
      </p:sp>
      <p:sp>
        <p:nvSpPr>
          <p:cNvPr id="5" name="chip-1">
            <a:extLst xmlns:a="http://schemas.openxmlformats.org/drawingml/2006/main">
              <a:ext uri="{FF2B5EF4-FFF2-40B4-BE49-F238E27FC236}">
                <a16:creationId xmlns:a16="http://schemas.microsoft.com/office/drawing/2014/main" id="{576A5741-9527-4CBC-8DB9-E454CD44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81300"/>
            <a:ext cx="1295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EGFR</a:t>
            </a:r>
          </a:p>
        </p:txBody>
      </p:sp>
      <p:sp>
        <p:nvSpPr>
          <p:cNvPr id="6" name="chip-2">
            <a:extLst xmlns:a="http://schemas.openxmlformats.org/drawingml/2006/main">
              <a:ext uri="{FF2B5EF4-FFF2-40B4-BE49-F238E27FC236}">
                <a16:creationId xmlns:a16="http://schemas.microsoft.com/office/drawing/2014/main" id="{BAEE99C2-E7EA-4A23-9CB6-56336A56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81300"/>
            <a:ext cx="1295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exon</a:t>
            </a:r>
          </a:p>
        </p:txBody>
      </p:sp>
      <p:sp>
        <p:nvSpPr>
          <p:cNvPr id="7" name="chip-3">
            <a:extLst xmlns:a="http://schemas.openxmlformats.org/drawingml/2006/main">
              <a:ext uri="{FF2B5EF4-FFF2-40B4-BE49-F238E27FC236}">
                <a16:creationId xmlns:a16="http://schemas.microsoft.com/office/drawing/2014/main" id="{C8587AA9-C946-4DFC-A37D-18DB9B02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81300"/>
            <a:ext cx="1295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8" name="chip-4">
            <a:extLst xmlns:a="http://schemas.openxmlformats.org/drawingml/2006/main">
              <a:ext uri="{FF2B5EF4-FFF2-40B4-BE49-F238E27FC236}">
                <a16:creationId xmlns:a16="http://schemas.microsoft.com/office/drawing/2014/main" id="{091451B7-ECB2-4CEC-9FF7-DFCB3DD9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81300"/>
            <a:ext cx="1295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deletion</a:t>
            </a:r>
          </a:p>
        </p:txBody>
      </p:sp>
      <p:sp>
        <p:nvSpPr>
          <p:cNvPr id="9" name="chip-5">
            <a:extLst xmlns:a="http://schemas.openxmlformats.org/drawingml/2006/main">
              <a:ext uri="{FF2B5EF4-FFF2-40B4-BE49-F238E27FC236}">
                <a16:creationId xmlns:a16="http://schemas.microsoft.com/office/drawing/2014/main" id="{86680987-6049-4B84-B558-1E522FBD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81300"/>
            <a:ext cx="1295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0" name="window">
            <a:extLst xmlns:a="http://schemas.openxmlformats.org/drawingml/2006/main">
              <a:ext uri="{FF2B5EF4-FFF2-40B4-BE49-F238E27FC236}">
                <a16:creationId xmlns:a16="http://schemas.microsoft.com/office/drawing/2014/main" id="{7AF18584-20D1-4F12-83D8-D5039129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76700"/>
            <a:ext cx="85534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11" name="window-text">
            <a:extLst xmlns:a="http://schemas.openxmlformats.org/drawingml/2006/main">
              <a:ext uri="{FF2B5EF4-FFF2-40B4-BE49-F238E27FC236}">
                <a16:creationId xmlns:a16="http://schemas.microsoft.com/office/drawing/2014/main" id="{481617D8-7070-4563-ACE8-64183A47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00550"/>
            <a:ext cx="805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context window = prompt + selected excerpts + tables + tool outputs</a:t>
            </a:r>
          </a:p>
        </p:txBody>
      </p:sp>
      <p:sp>
        <p:nvSpPr>
          <p:cNvPr id="12" name="note">
            <a:extLst xmlns:a="http://schemas.openxmlformats.org/drawingml/2006/main">
              <a:ext uri="{FF2B5EF4-FFF2-40B4-BE49-F238E27FC236}">
                <a16:creationId xmlns:a16="http://schemas.microsoft.com/office/drawing/2014/main" id="{012FF2E8-329C-40CC-A10F-16FDA8C3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626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長文件需要選擇、壓縮、切段；沒放進 context 的內容不能可靠引用。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E0052E30-FA41-4658-BC72-B16F7A6F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LLM basics for agent users  |  4/15</a:t>
            </a:r>
          </a:p>
        </p:txBody>
      </p:sp>
    </p:spTree>
    <p:extLst>
      <p:ext uri="{BB962C8B-B14F-4D97-AF65-F5344CB8AC3E}">
        <p14:creationId xmlns:p14="http://schemas.microsoft.com/office/powerpoint/2010/main" val="17151295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DBE0F52-7A97-470A-8E98-BF7AC9C4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EMBEDDINGS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CFCA8A-C5FB-4A1F-BC52-71C51DA4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Embedding 找語意相近內容，但相近不等於正確</a:t>
            </a:r>
          </a:p>
        </p:txBody>
      </p:sp>
      <p:sp>
        <p:nvSpPr>
          <p:cNvPr id="3" name="map">
            <a:extLst xmlns:a="http://schemas.openxmlformats.org/drawingml/2006/main">
              <a:ext uri="{FF2B5EF4-FFF2-40B4-BE49-F238E27FC236}">
                <a16:creationId xmlns:a16="http://schemas.microsoft.com/office/drawing/2014/main" id="{7E04A516-6C29-4CCB-8F3A-12F10597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809750"/>
            <a:ext cx="83820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4" name="term-EGFR">
            <a:extLst xmlns:a="http://schemas.openxmlformats.org/drawingml/2006/main">
              <a:ext uri="{FF2B5EF4-FFF2-40B4-BE49-F238E27FC236}">
                <a16:creationId xmlns:a16="http://schemas.microsoft.com/office/drawing/2014/main" id="{8319A71D-91A7-4E4B-8574-BCB7DA78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EGFR</a:t>
            </a:r>
          </a:p>
        </p:txBody>
      </p:sp>
      <p:sp>
        <p:nvSpPr>
          <p:cNvPr id="5" name="term-ALK">
            <a:extLst xmlns:a="http://schemas.openxmlformats.org/drawingml/2006/main">
              <a:ext uri="{FF2B5EF4-FFF2-40B4-BE49-F238E27FC236}">
                <a16:creationId xmlns:a16="http://schemas.microsoft.com/office/drawing/2014/main" id="{64E8A2CD-7F6F-4EEE-B3A3-55961FC2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ALK</a:t>
            </a:r>
          </a:p>
        </p:txBody>
      </p:sp>
      <p:sp>
        <p:nvSpPr>
          <p:cNvPr id="6" name="term-lung cancer">
            <a:extLst xmlns:a="http://schemas.openxmlformats.org/drawingml/2006/main">
              <a:ext uri="{FF2B5EF4-FFF2-40B4-BE49-F238E27FC236}">
                <a16:creationId xmlns:a16="http://schemas.microsoft.com/office/drawing/2014/main" id="{AFBC603A-93A6-41CF-AA21-3C62BA46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lung cancer</a:t>
            </a:r>
          </a:p>
        </p:txBody>
      </p:sp>
      <p:sp>
        <p:nvSpPr>
          <p:cNvPr id="7" name="term-osimertinib">
            <a:extLst xmlns:a="http://schemas.openxmlformats.org/drawingml/2006/main">
              <a:ext uri="{FF2B5EF4-FFF2-40B4-BE49-F238E27FC236}">
                <a16:creationId xmlns:a16="http://schemas.microsoft.com/office/drawing/2014/main" id="{88DAD5A2-36C7-46DC-99F7-602AB170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osimertinib</a:t>
            </a:r>
          </a:p>
        </p:txBody>
      </p:sp>
      <p:sp>
        <p:nvSpPr>
          <p:cNvPr id="8" name="term-TKI">
            <a:extLst xmlns:a="http://schemas.openxmlformats.org/drawingml/2006/main">
              <a:ext uri="{FF2B5EF4-FFF2-40B4-BE49-F238E27FC236}">
                <a16:creationId xmlns:a16="http://schemas.microsoft.com/office/drawing/2014/main" id="{94AA8B79-FECC-4AB0-B613-86C4778F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TKI</a:t>
            </a:r>
          </a:p>
        </p:txBody>
      </p:sp>
      <p:sp>
        <p:nvSpPr>
          <p:cNvPr id="9" name="term-variant">
            <a:extLst xmlns:a="http://schemas.openxmlformats.org/drawingml/2006/main">
              <a:ext uri="{FF2B5EF4-FFF2-40B4-BE49-F238E27FC236}">
                <a16:creationId xmlns:a16="http://schemas.microsoft.com/office/drawing/2014/main" id="{D32C5DFA-FCFE-4CAB-8AE5-7654D25D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339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333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variant</a:t>
            </a:r>
          </a:p>
        </p:txBody>
      </p:sp>
      <p:sp>
        <p:nvSpPr>
          <p:cNvPr id="10" name="term-HGVS">
            <a:extLst xmlns:a="http://schemas.openxmlformats.org/drawingml/2006/main">
              <a:ext uri="{FF2B5EF4-FFF2-40B4-BE49-F238E27FC236}">
                <a16:creationId xmlns:a16="http://schemas.microsoft.com/office/drawing/2014/main" id="{239E1416-DC46-4B08-9DA7-7E2F3599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57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333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HGVS</a:t>
            </a:r>
          </a:p>
        </p:txBody>
      </p:sp>
      <p:sp>
        <p:nvSpPr>
          <p:cNvPr id="11" name="term-citation">
            <a:extLst xmlns:a="http://schemas.openxmlformats.org/drawingml/2006/main">
              <a:ext uri="{FF2B5EF4-FFF2-40B4-BE49-F238E27FC236}">
                <a16:creationId xmlns:a16="http://schemas.microsoft.com/office/drawing/2014/main" id="{746FA428-090D-46C4-98D8-0CDB6DA4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720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citation</a:t>
            </a:r>
          </a:p>
        </p:txBody>
      </p:sp>
      <p:sp>
        <p:nvSpPr>
          <p:cNvPr id="12" name="axis-x">
            <a:extLst xmlns:a="http://schemas.openxmlformats.org/drawingml/2006/main">
              <a:ext uri="{FF2B5EF4-FFF2-40B4-BE49-F238E27FC236}">
                <a16:creationId xmlns:a16="http://schemas.microsoft.com/office/drawing/2014/main" id="{741EBEB5-32E5-467B-A4FF-8B4AADDF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19700"/>
            <a:ext cx="718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3" name="axis-y">
            <a:extLst xmlns:a="http://schemas.openxmlformats.org/drawingml/2006/main">
              <a:ext uri="{FF2B5EF4-FFF2-40B4-BE49-F238E27FC236}">
                <a16:creationId xmlns:a16="http://schemas.microsoft.com/office/drawing/2014/main" id="{672D7A21-EF5A-47A9-AA9F-504BB72F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152650"/>
            <a:ext cx="0" cy="3067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4" name="map-label">
            <a:extLst xmlns:a="http://schemas.openxmlformats.org/drawingml/2006/main">
              <a:ext uri="{FF2B5EF4-FFF2-40B4-BE49-F238E27FC236}">
                <a16:creationId xmlns:a16="http://schemas.microsoft.com/office/drawing/2014/main" id="{D0B5F325-4B4E-4EB6-9414-4CC7B97C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57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semantic proximity</a:t>
            </a:r>
          </a:p>
        </p:txBody>
      </p:sp>
      <p:sp>
        <p:nvSpPr>
          <p:cNvPr id="15" name="note">
            <a:extLst xmlns:a="http://schemas.openxmlformats.org/drawingml/2006/main">
              <a:ext uri="{FF2B5EF4-FFF2-40B4-BE49-F238E27FC236}">
                <a16:creationId xmlns:a16="http://schemas.microsoft.com/office/drawing/2014/main" id="{891C1011-6585-4281-A543-ECF8C64D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9245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Embedding 支援 retrieval、clustering、deduplication；retrieval 後仍要查來源。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E8CFBAD2-0D91-41E7-99C5-4F7707C0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LLM basics for agent users  |  5/15</a:t>
            </a:r>
          </a:p>
        </p:txBody>
      </p:sp>
    </p:spTree>
    <p:extLst>
      <p:ext uri="{BB962C8B-B14F-4D97-AF65-F5344CB8AC3E}">
        <p14:creationId xmlns:p14="http://schemas.microsoft.com/office/powerpoint/2010/main" val="13822669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0B3B788-E1F2-4CBC-BF14-7B5BE426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PROMPT PACKET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4434C58-EA3A-4FBC-82E8-DD4D97BE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System prompt、task、context、evidence 要分清楚</a:t>
            </a:r>
          </a:p>
        </p:txBody>
      </p:sp>
      <p:sp>
        <p:nvSpPr>
          <p:cNvPr id="3" name="layer-0">
            <a:extLst xmlns:a="http://schemas.openxmlformats.org/drawingml/2006/main">
              <a:ext uri="{FF2B5EF4-FFF2-40B4-BE49-F238E27FC236}">
                <a16:creationId xmlns:a16="http://schemas.microsoft.com/office/drawing/2014/main" id="{6B6CEFB6-ED80-45E3-A43F-39759D94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0975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4" name="layer-copy-0">
            <a:extLst xmlns:a="http://schemas.openxmlformats.org/drawingml/2006/main">
              <a:ext uri="{FF2B5EF4-FFF2-40B4-BE49-F238E27FC236}">
                <a16:creationId xmlns:a16="http://schemas.microsoft.com/office/drawing/2014/main" id="{3CD92EC7-4DC8-44D9-8220-80ADB7C6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31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role / rules / boundaries</a:t>
            </a:r>
          </a:p>
        </p:txBody>
      </p:sp>
      <p:sp>
        <p:nvSpPr>
          <p:cNvPr id="5" name="layer-1">
            <a:extLst xmlns:a="http://schemas.openxmlformats.org/drawingml/2006/main">
              <a:ext uri="{FF2B5EF4-FFF2-40B4-BE49-F238E27FC236}">
                <a16:creationId xmlns:a16="http://schemas.microsoft.com/office/drawing/2014/main" id="{ABD650AE-019B-4C0E-BDA3-58533687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1460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User task</a:t>
            </a:r>
          </a:p>
        </p:txBody>
      </p:sp>
      <p:sp>
        <p:nvSpPr>
          <p:cNvPr id="6" name="layer-copy-1">
            <a:extLst xmlns:a="http://schemas.openxmlformats.org/drawingml/2006/main">
              <a:ext uri="{FF2B5EF4-FFF2-40B4-BE49-F238E27FC236}">
                <a16:creationId xmlns:a16="http://schemas.microsoft.com/office/drawing/2014/main" id="{FF09C009-8F14-4520-85AF-8C9201A3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this request</a:t>
            </a:r>
          </a:p>
        </p:txBody>
      </p:sp>
      <p:sp>
        <p:nvSpPr>
          <p:cNvPr id="7" name="layer-2">
            <a:extLst xmlns:a="http://schemas.openxmlformats.org/drawingml/2006/main">
              <a:ext uri="{FF2B5EF4-FFF2-40B4-BE49-F238E27FC236}">
                <a16:creationId xmlns:a16="http://schemas.microsoft.com/office/drawing/2014/main" id="{A5DEFE58-40BB-4E95-BC88-01C8C2E7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1945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8" name="layer-copy-2">
            <a:extLst xmlns:a="http://schemas.openxmlformats.org/drawingml/2006/main">
              <a:ext uri="{FF2B5EF4-FFF2-40B4-BE49-F238E27FC236}">
                <a16:creationId xmlns:a16="http://schemas.microsoft.com/office/drawing/2014/main" id="{D916D847-B088-4D81-B867-BAD5EF70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528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working material</a:t>
            </a:r>
          </a:p>
        </p:txBody>
      </p:sp>
      <p:sp>
        <p:nvSpPr>
          <p:cNvPr id="9" name="layer-3">
            <a:extLst xmlns:a="http://schemas.openxmlformats.org/drawingml/2006/main">
              <a:ext uri="{FF2B5EF4-FFF2-40B4-BE49-F238E27FC236}">
                <a16:creationId xmlns:a16="http://schemas.microsoft.com/office/drawing/2014/main" id="{78FAC70B-1147-4D2C-B926-1BCE133A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2430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Retrieved content</a:t>
            </a:r>
          </a:p>
        </p:txBody>
      </p:sp>
      <p:sp>
        <p:nvSpPr>
          <p:cNvPr id="10" name="layer-copy-3">
            <a:extLst xmlns:a="http://schemas.openxmlformats.org/drawingml/2006/main">
              <a:ext uri="{FF2B5EF4-FFF2-40B4-BE49-F238E27FC236}">
                <a16:creationId xmlns:a16="http://schemas.microsoft.com/office/drawing/2014/main" id="{5A70D0CB-5665-4E13-B615-8BC7FDA6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external evidence</a:t>
            </a:r>
          </a:p>
        </p:txBody>
      </p:sp>
      <p:sp>
        <p:nvSpPr>
          <p:cNvPr id="11" name="layer-4">
            <a:extLst xmlns:a="http://schemas.openxmlformats.org/drawingml/2006/main">
              <a:ext uri="{FF2B5EF4-FFF2-40B4-BE49-F238E27FC236}">
                <a16:creationId xmlns:a16="http://schemas.microsoft.com/office/drawing/2014/main" id="{4CDA8150-BE06-4A4A-958D-0EAD2E48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2915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333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Tool result</a:t>
            </a:r>
          </a:p>
        </p:txBody>
      </p:sp>
      <p:sp>
        <p:nvSpPr>
          <p:cNvPr id="12" name="layer-copy-4">
            <a:extLst xmlns:a="http://schemas.openxmlformats.org/drawingml/2006/main">
              <a:ext uri="{FF2B5EF4-FFF2-40B4-BE49-F238E27FC236}">
                <a16:creationId xmlns:a16="http://schemas.microsoft.com/office/drawing/2014/main" id="{B8630BF2-D9A8-472F-803D-E965FEEB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625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structured output</a:t>
            </a:r>
          </a:p>
        </p:txBody>
      </p:sp>
      <p:sp>
        <p:nvSpPr>
          <p:cNvPr id="13" name="debug">
            <a:extLst xmlns:a="http://schemas.openxmlformats.org/drawingml/2006/main">
              <a:ext uri="{FF2B5EF4-FFF2-40B4-BE49-F238E27FC236}">
                <a16:creationId xmlns:a16="http://schemas.microsoft.com/office/drawing/2014/main" id="{8B1750F0-1243-4F9F-BA5C-8BAAA5B6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578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Debug agent 行為時，先問：規則、任務、材料、證據哪一層錯了？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E312BA73-41C7-4B54-A7CF-EC38EC4C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LLM basics for agent users  |  6/15</a:t>
            </a:r>
          </a:p>
        </p:txBody>
      </p:sp>
    </p:spTree>
    <p:extLst>
      <p:ext uri="{BB962C8B-B14F-4D97-AF65-F5344CB8AC3E}">
        <p14:creationId xmlns:p14="http://schemas.microsoft.com/office/powerpoint/2010/main" val="19813566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F0F4A39-7854-4C4D-8DC6-95CA326D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CONTEXT WINDOW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B96D6C8-594F-4EA5-9BE7-D7D26BD2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Context window 是有限工作桌面，不是無限記憶</a:t>
            </a:r>
          </a:p>
        </p:txBody>
      </p:sp>
      <p:sp>
        <p:nvSpPr>
          <p:cNvPr id="3" name="desk">
            <a:extLst xmlns:a="http://schemas.openxmlformats.org/drawingml/2006/main">
              <a:ext uri="{FF2B5EF4-FFF2-40B4-BE49-F238E27FC236}">
                <a16:creationId xmlns:a16="http://schemas.microsoft.com/office/drawing/2014/main" id="{B393D9D0-7246-40AA-9E25-E40B1E37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09750"/>
            <a:ext cx="7239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4" name="desk-title">
            <a:extLst xmlns:a="http://schemas.openxmlformats.org/drawingml/2006/main">
              <a:ext uri="{FF2B5EF4-FFF2-40B4-BE49-F238E27FC236}">
                <a16:creationId xmlns:a16="http://schemas.microsoft.com/office/drawing/2014/main" id="{8535287E-5DE8-4848-B950-4A92756C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383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current model workspace</a:t>
            </a:r>
          </a:p>
        </p:txBody>
      </p:sp>
      <p:sp>
        <p:nvSpPr>
          <p:cNvPr id="5" name="prompt">
            <a:extLst xmlns:a="http://schemas.openxmlformats.org/drawingml/2006/main">
              <a:ext uri="{FF2B5EF4-FFF2-40B4-BE49-F238E27FC236}">
                <a16:creationId xmlns:a16="http://schemas.microsoft.com/office/drawing/2014/main" id="{2908590A-21F7-4B99-AB53-A3B4E918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00350"/>
            <a:ext cx="1123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6" name="paper">
            <a:extLst xmlns:a="http://schemas.openxmlformats.org/drawingml/2006/main">
              <a:ext uri="{FF2B5EF4-FFF2-40B4-BE49-F238E27FC236}">
                <a16:creationId xmlns:a16="http://schemas.microsoft.com/office/drawing/2014/main" id="{6BB37D91-0B7A-436F-B49D-DDF46162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00350"/>
            <a:ext cx="1524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paper excerpt</a:t>
            </a:r>
          </a:p>
        </p:txBody>
      </p:sp>
      <p:sp>
        <p:nvSpPr>
          <p:cNvPr id="7" name="table">
            <a:extLst xmlns:a="http://schemas.openxmlformats.org/drawingml/2006/main">
              <a:ext uri="{FF2B5EF4-FFF2-40B4-BE49-F238E27FC236}">
                <a16:creationId xmlns:a16="http://schemas.microsoft.com/office/drawing/2014/main" id="{F907306E-B545-4D0F-819C-F9B92EC9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00350"/>
            <a:ext cx="12573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table rows</a:t>
            </a:r>
          </a:p>
        </p:txBody>
      </p:sp>
      <p:sp>
        <p:nvSpPr>
          <p:cNvPr id="8" name="tool">
            <a:extLst xmlns:a="http://schemas.openxmlformats.org/drawingml/2006/main">
              <a:ext uri="{FF2B5EF4-FFF2-40B4-BE49-F238E27FC236}">
                <a16:creationId xmlns:a16="http://schemas.microsoft.com/office/drawing/2014/main" id="{472AFA9C-B580-4189-96C2-F2E320DB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00350"/>
            <a:ext cx="12573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333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tool output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A618B9CD-31A3-4E67-B38F-5E1F24AC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38600"/>
            <a:ext cx="1428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source IDs</a:t>
            </a:r>
          </a:p>
        </p:txBody>
      </p:sp>
      <p:sp>
        <p:nvSpPr>
          <p:cNvPr id="10" name="schema">
            <a:extLst xmlns:a="http://schemas.openxmlformats.org/drawingml/2006/main">
              <a:ext uri="{FF2B5EF4-FFF2-40B4-BE49-F238E27FC236}">
                <a16:creationId xmlns:a16="http://schemas.microsoft.com/office/drawing/2014/main" id="{849AF0D6-25BE-4B7D-80FC-CBAF690E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38600"/>
            <a:ext cx="1619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output schema</a:t>
            </a:r>
          </a:p>
        </p:txBody>
      </p:sp>
      <p:sp>
        <p:nvSpPr>
          <p:cNvPr id="11" name="outside">
            <a:extLst xmlns:a="http://schemas.openxmlformats.org/drawingml/2006/main">
              <a:ext uri="{FF2B5EF4-FFF2-40B4-BE49-F238E27FC236}">
                <a16:creationId xmlns:a16="http://schemas.microsoft.com/office/drawing/2014/main" id="{C86F89F3-237F-4BBC-BD18-C8475B2C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81250"/>
            <a:ext cx="114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8C98A1"/>
                </a:solidFill>
                <a:latin typeface="Aptos"/>
                <a:ea typeface="Aptos"/>
                <a:cs typeface="Aptos"/>
              </a:rPr>
              <a:t>full PDF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8C98A1"/>
                </a:solidFill>
                <a:latin typeface="Aptos"/>
                <a:ea typeface="Aptos"/>
                <a:cs typeface="Aptos"/>
              </a:rPr>
              <a:t>raw dataset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8C98A1"/>
                </a:solidFill>
                <a:latin typeface="Aptos"/>
                <a:ea typeface="Aptos"/>
                <a:cs typeface="Aptos"/>
              </a:rPr>
              <a:t>old chat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8C98A1"/>
                </a:solidFill>
                <a:latin typeface="Aptos"/>
                <a:ea typeface="Aptos"/>
                <a:cs typeface="Aptos"/>
              </a:rPr>
              <a:t>unloaded files</a:t>
            </a:r>
          </a:p>
        </p:txBody>
      </p:sp>
      <p:sp>
        <p:nvSpPr>
          <p:cNvPr id="12" name="outside-line">
            <a:extLst xmlns:a="http://schemas.openxmlformats.org/drawingml/2006/main">
              <a:ext uri="{FF2B5EF4-FFF2-40B4-BE49-F238E27FC236}">
                <a16:creationId xmlns:a16="http://schemas.microsoft.com/office/drawing/2014/main" id="{A3A6A806-93DA-4F93-B676-C9B63DAE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dash"/>
          </a:ln>
        </p:spPr>
      </p:sp>
      <p:sp>
        <p:nvSpPr>
          <p:cNvPr id="13" name="note">
            <a:extLst xmlns:a="http://schemas.openxmlformats.org/drawingml/2006/main">
              <a:ext uri="{FF2B5EF4-FFF2-40B4-BE49-F238E27FC236}">
                <a16:creationId xmlns:a16="http://schemas.microsoft.com/office/drawing/2014/main" id="{A18C8356-36A4-45B4-A795-74FCF64C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可重現的 workflow 要保存 prompt、context、retrieved files、tool outputs。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D7A7B1B0-B04C-4FD2-8D2F-E14F86A7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LLM basics for agent users  |  7/15</a:t>
            </a:r>
          </a:p>
        </p:txBody>
      </p:sp>
    </p:spTree>
    <p:extLst>
      <p:ext uri="{BB962C8B-B14F-4D97-AF65-F5344CB8AC3E}">
        <p14:creationId xmlns:p14="http://schemas.microsoft.com/office/powerpoint/2010/main" val="8502881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F614E19-13D4-406A-8CEB-7575B92D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HALLUCINATION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643EB1-58EC-434F-AB1C-5C52F635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Hallucination 常是合理語氣加上不可靠內容</a:t>
            </a:r>
          </a:p>
        </p:txBody>
      </p:sp>
      <p:sp>
        <p:nvSpPr>
          <p:cNvPr id="3" name="head-0">
            <a:extLst xmlns:a="http://schemas.openxmlformats.org/drawingml/2006/main">
              <a:ext uri="{FF2B5EF4-FFF2-40B4-BE49-F238E27FC236}">
                <a16:creationId xmlns:a16="http://schemas.microsoft.com/office/drawing/2014/main" id="{8895D1FF-3B8D-44E7-9918-8A103977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24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Failure pattern</a:t>
            </a:r>
          </a:p>
        </p:txBody>
      </p:sp>
      <p:sp>
        <p:nvSpPr>
          <p:cNvPr id="4" name="head-1">
            <a:extLst xmlns:a="http://schemas.openxmlformats.org/drawingml/2006/main">
              <a:ext uri="{FF2B5EF4-FFF2-40B4-BE49-F238E27FC236}">
                <a16:creationId xmlns:a16="http://schemas.microsoft.com/office/drawing/2014/main" id="{345261CF-4529-4762-8862-CA9C24EF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24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Why it happens</a:t>
            </a:r>
          </a:p>
        </p:txBody>
      </p:sp>
      <p:sp>
        <p:nvSpPr>
          <p:cNvPr id="5" name="head-2">
            <a:extLst xmlns:a="http://schemas.openxmlformats.org/drawingml/2006/main">
              <a:ext uri="{FF2B5EF4-FFF2-40B4-BE49-F238E27FC236}">
                <a16:creationId xmlns:a16="http://schemas.microsoft.com/office/drawing/2014/main" id="{5B270077-90C1-49E1-85EB-60920C21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24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How to check</a:t>
            </a:r>
          </a:p>
        </p:txBody>
      </p:sp>
      <p:sp>
        <p:nvSpPr>
          <p:cNvPr id="6" name="r0c0">
            <a:extLst xmlns:a="http://schemas.openxmlformats.org/drawingml/2006/main">
              <a:ext uri="{FF2B5EF4-FFF2-40B4-BE49-F238E27FC236}">
                <a16:creationId xmlns:a16="http://schemas.microsoft.com/office/drawing/2014/main" id="{EC8C50EE-FBDC-4D5A-8D3E-707BA35B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2743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13335">
            <a:solidFill>
              <a:srgbClr val="C85A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Fabricated citation</a:t>
            </a:r>
          </a:p>
        </p:txBody>
      </p:sp>
      <p:sp>
        <p:nvSpPr>
          <p:cNvPr id="7" name="r0c1">
            <a:extLst xmlns:a="http://schemas.openxmlformats.org/drawingml/2006/main">
              <a:ext uri="{FF2B5EF4-FFF2-40B4-BE49-F238E27FC236}">
                <a16:creationId xmlns:a16="http://schemas.microsoft.com/office/drawing/2014/main" id="{FB06F4E5-F55E-4318-995E-36E6C864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57450"/>
            <a:ext cx="2743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text looks plausible</a:t>
            </a:r>
          </a:p>
        </p:txBody>
      </p:sp>
      <p:sp>
        <p:nvSpPr>
          <p:cNvPr id="8" name="r0c2">
            <a:extLst xmlns:a="http://schemas.openxmlformats.org/drawingml/2006/main">
              <a:ext uri="{FF2B5EF4-FFF2-40B4-BE49-F238E27FC236}">
                <a16:creationId xmlns:a16="http://schemas.microsoft.com/office/drawing/2014/main" id="{FD0C0E74-676C-47FB-B4DA-AA556FAC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57450"/>
            <a:ext cx="2743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open PMID / DOI</a:t>
            </a:r>
          </a:p>
        </p:txBody>
      </p:sp>
      <p:sp>
        <p:nvSpPr>
          <p:cNvPr id="9" name="r1c0">
            <a:extLst xmlns:a="http://schemas.openxmlformats.org/drawingml/2006/main">
              <a:ext uri="{FF2B5EF4-FFF2-40B4-BE49-F238E27FC236}">
                <a16:creationId xmlns:a16="http://schemas.microsoft.com/office/drawing/2014/main" id="{7A8DA13E-8F67-42A2-AD37-4B12030C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2743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13335">
            <a:solidFill>
              <a:srgbClr val="C85A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Merged concepts</a:t>
            </a:r>
          </a:p>
        </p:txBody>
      </p:sp>
      <p:sp>
        <p:nvSpPr>
          <p:cNvPr id="10" name="r1c1">
            <a:extLst xmlns:a="http://schemas.openxmlformats.org/drawingml/2006/main">
              <a:ext uri="{FF2B5EF4-FFF2-40B4-BE49-F238E27FC236}">
                <a16:creationId xmlns:a16="http://schemas.microsoft.com/office/drawing/2014/main" id="{162B5176-B45B-41C2-88B8-7C0DDF9A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2743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similar patterns mix</a:t>
            </a:r>
          </a:p>
        </p:txBody>
      </p:sp>
      <p:sp>
        <p:nvSpPr>
          <p:cNvPr id="11" name="r1c2">
            <a:extLst xmlns:a="http://schemas.openxmlformats.org/drawingml/2006/main">
              <a:ext uri="{FF2B5EF4-FFF2-40B4-BE49-F238E27FC236}">
                <a16:creationId xmlns:a16="http://schemas.microsoft.com/office/drawing/2014/main" id="{C178BB7E-68E3-47CD-A3A0-5A18FE52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33750"/>
            <a:ext cx="2743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check source terms</a:t>
            </a:r>
          </a:p>
        </p:txBody>
      </p:sp>
      <p:sp>
        <p:nvSpPr>
          <p:cNvPr id="12" name="r2c0">
            <a:extLst xmlns:a="http://schemas.openxmlformats.org/drawingml/2006/main">
              <a:ext uri="{FF2B5EF4-FFF2-40B4-BE49-F238E27FC236}">
                <a16:creationId xmlns:a16="http://schemas.microsoft.com/office/drawing/2014/main" id="{C960E66D-EFF4-40F6-BBE1-A649CD85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2743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13335">
            <a:solidFill>
              <a:srgbClr val="C85A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Unsupported claim</a:t>
            </a:r>
          </a:p>
        </p:txBody>
      </p:sp>
      <p:sp>
        <p:nvSpPr>
          <p:cNvPr id="13" name="r2c1">
            <a:extLst xmlns:a="http://schemas.openxmlformats.org/drawingml/2006/main">
              <a:ext uri="{FF2B5EF4-FFF2-40B4-BE49-F238E27FC236}">
                <a16:creationId xmlns:a16="http://schemas.microsoft.com/office/drawing/2014/main" id="{5D79C284-C1FE-418B-9A41-DD8D65DF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10050"/>
            <a:ext cx="2743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answer pressure</a:t>
            </a:r>
          </a:p>
        </p:txBody>
      </p:sp>
      <p:sp>
        <p:nvSpPr>
          <p:cNvPr id="14" name="r2c2">
            <a:extLst xmlns:a="http://schemas.openxmlformats.org/drawingml/2006/main">
              <a:ext uri="{FF2B5EF4-FFF2-40B4-BE49-F238E27FC236}">
                <a16:creationId xmlns:a16="http://schemas.microsoft.com/office/drawing/2014/main" id="{4D6D4AEA-D419-46DC-9415-FD345BE6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10050"/>
            <a:ext cx="2743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require evidence field</a:t>
            </a:r>
          </a:p>
        </p:txBody>
      </p:sp>
      <p:sp>
        <p:nvSpPr>
          <p:cNvPr id="15" name="note">
            <a:extLst xmlns:a="http://schemas.openxmlformats.org/drawingml/2006/main">
              <a:ext uri="{FF2B5EF4-FFF2-40B4-BE49-F238E27FC236}">
                <a16:creationId xmlns:a16="http://schemas.microsoft.com/office/drawing/2014/main" id="{20CE761B-9D3B-4BE2-9E35-5B82D397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語言流暢度不是 evidence；缺證據時要讓模型說不知道。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CDD65D92-0476-454B-B0B4-2A6BA95F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LLM basics for agent users  |  8/15</a:t>
            </a:r>
          </a:p>
        </p:txBody>
      </p:sp>
    </p:spTree>
    <p:extLst>
      <p:ext uri="{BB962C8B-B14F-4D97-AF65-F5344CB8AC3E}">
        <p14:creationId xmlns:p14="http://schemas.microsoft.com/office/powerpoint/2010/main" val="950787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DB28469-F739-4A45-935A-5644B2C5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BIOMEDICAL FAILURE MODES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E5745F2-4E63-40CD-A24E-927A2215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Biomedical 錯誤要用具體欄位來檢查</a:t>
            </a:r>
          </a:p>
        </p:txBody>
      </p:sp>
      <p:sp>
        <p:nvSpPr>
          <p:cNvPr id="3" name="h1">
            <a:extLst xmlns:a="http://schemas.openxmlformats.org/drawingml/2006/main">
              <a:ext uri="{FF2B5EF4-FFF2-40B4-BE49-F238E27FC236}">
                <a16:creationId xmlns:a16="http://schemas.microsoft.com/office/drawing/2014/main" id="{6EE9C5E9-B975-4C62-AF0F-CFD81844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Field</a:t>
            </a:r>
          </a:p>
        </p:txBody>
      </p:sp>
      <p:sp>
        <p:nvSpPr>
          <p:cNvPr id="4" name="h2">
            <a:extLst xmlns:a="http://schemas.openxmlformats.org/drawingml/2006/main">
              <a:ext uri="{FF2B5EF4-FFF2-40B4-BE49-F238E27FC236}">
                <a16:creationId xmlns:a16="http://schemas.microsoft.com/office/drawing/2014/main" id="{707412EA-8CE5-4E5A-AF1C-B3800004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05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5" name="h3">
            <a:extLst xmlns:a="http://schemas.openxmlformats.org/drawingml/2006/main">
              <a:ext uri="{FF2B5EF4-FFF2-40B4-BE49-F238E27FC236}">
                <a16:creationId xmlns:a16="http://schemas.microsoft.com/office/drawing/2014/main" id="{45D15A12-934E-402F-AA42-C096DD89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05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6" name="field-0">
            <a:extLst xmlns:a="http://schemas.openxmlformats.org/drawingml/2006/main">
              <a:ext uri="{FF2B5EF4-FFF2-40B4-BE49-F238E27FC236}">
                <a16:creationId xmlns:a16="http://schemas.microsoft.com/office/drawing/2014/main" id="{83BAAA9B-1372-413A-991E-69D785BD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9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Citation</a:t>
            </a:r>
          </a:p>
        </p:txBody>
      </p:sp>
      <p:sp>
        <p:nvSpPr>
          <p:cNvPr id="7" name="risk-0">
            <a:extLst xmlns:a="http://schemas.openxmlformats.org/drawingml/2006/main">
              <a:ext uri="{FF2B5EF4-FFF2-40B4-BE49-F238E27FC236}">
                <a16:creationId xmlns:a16="http://schemas.microsoft.com/office/drawing/2014/main" id="{701F1C24-5EF3-4C96-8BF3-7AE191AD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193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PMID / DOI 編造</a:t>
            </a:r>
          </a:p>
        </p:txBody>
      </p:sp>
      <p:sp>
        <p:nvSpPr>
          <p:cNvPr id="8" name="check-0">
            <a:extLst xmlns:a="http://schemas.openxmlformats.org/drawingml/2006/main">
              <a:ext uri="{FF2B5EF4-FFF2-40B4-BE49-F238E27FC236}">
                <a16:creationId xmlns:a16="http://schemas.microsoft.com/office/drawing/2014/main" id="{45092206-6452-460B-B1DE-B330D0E9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193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E8F88"/>
                </a:solidFill>
                <a:latin typeface="Aptos"/>
                <a:ea typeface="Aptos"/>
                <a:cs typeface="Aptos"/>
              </a:rPr>
              <a:t>PubMed / DOI lookup</a:t>
            </a:r>
          </a:p>
        </p:txBody>
      </p:sp>
      <p:sp>
        <p:nvSpPr>
          <p:cNvPr id="9" name="rowline-0">
            <a:extLst xmlns:a="http://schemas.openxmlformats.org/drawingml/2006/main">
              <a:ext uri="{FF2B5EF4-FFF2-40B4-BE49-F238E27FC236}">
                <a16:creationId xmlns:a16="http://schemas.microsoft.com/office/drawing/2014/main" id="{CECC8381-8EF5-4FEB-B343-25BD8195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960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0" name="field-1">
            <a:extLst xmlns:a="http://schemas.openxmlformats.org/drawingml/2006/main">
              <a:ext uri="{FF2B5EF4-FFF2-40B4-BE49-F238E27FC236}">
                <a16:creationId xmlns:a16="http://schemas.microsoft.com/office/drawing/2014/main" id="{579A4A36-9982-4D12-95D7-9E908294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Gene symbol</a:t>
            </a:r>
          </a:p>
        </p:txBody>
      </p:sp>
      <p:sp>
        <p:nvSpPr>
          <p:cNvPr id="11" name="risk-1">
            <a:extLst xmlns:a="http://schemas.openxmlformats.org/drawingml/2006/main">
              <a:ext uri="{FF2B5EF4-FFF2-40B4-BE49-F238E27FC236}">
                <a16:creationId xmlns:a16="http://schemas.microsoft.com/office/drawing/2014/main" id="{C74CF25D-10B7-4CDC-A73A-30F9F224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48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舊名、物種混淆</a:t>
            </a:r>
          </a:p>
        </p:txBody>
      </p:sp>
      <p:sp>
        <p:nvSpPr>
          <p:cNvPr id="12" name="check-1">
            <a:extLst xmlns:a="http://schemas.openxmlformats.org/drawingml/2006/main">
              <a:ext uri="{FF2B5EF4-FFF2-40B4-BE49-F238E27FC236}">
                <a16:creationId xmlns:a16="http://schemas.microsoft.com/office/drawing/2014/main" id="{B5B2A0FD-E290-4BCC-8761-3A9A0B50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480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E8F88"/>
                </a:solidFill>
                <a:latin typeface="Aptos"/>
                <a:ea typeface="Aptos"/>
                <a:cs typeface="Aptos"/>
              </a:rPr>
              <a:t>HGNC / organism check</a:t>
            </a:r>
          </a:p>
        </p:txBody>
      </p:sp>
      <p:sp>
        <p:nvSpPr>
          <p:cNvPr id="13" name="rowline-1">
            <a:extLst xmlns:a="http://schemas.openxmlformats.org/drawingml/2006/main">
              <a:ext uri="{FF2B5EF4-FFF2-40B4-BE49-F238E27FC236}">
                <a16:creationId xmlns:a16="http://schemas.microsoft.com/office/drawing/2014/main" id="{34F00C4B-D54F-4893-904E-CAA6E122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0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4" name="field-2">
            <a:extLst xmlns:a="http://schemas.openxmlformats.org/drawingml/2006/main">
              <a:ext uri="{FF2B5EF4-FFF2-40B4-BE49-F238E27FC236}">
                <a16:creationId xmlns:a16="http://schemas.microsoft.com/office/drawing/2014/main" id="{271CD083-F1C6-4CE8-B6C9-01FDF41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Variant</a:t>
            </a:r>
          </a:p>
        </p:txBody>
      </p:sp>
      <p:sp>
        <p:nvSpPr>
          <p:cNvPr id="15" name="risk-2">
            <a:extLst xmlns:a="http://schemas.openxmlformats.org/drawingml/2006/main">
              <a:ext uri="{FF2B5EF4-FFF2-40B4-BE49-F238E27FC236}">
                <a16:creationId xmlns:a16="http://schemas.microsoft.com/office/drawing/2014/main" id="{17E5FF97-95E3-4225-B2AD-A5185974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76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HGVS、座標版本錯</a:t>
            </a:r>
          </a:p>
        </p:txBody>
      </p:sp>
      <p:sp>
        <p:nvSpPr>
          <p:cNvPr id="16" name="check-2">
            <a:extLst xmlns:a="http://schemas.openxmlformats.org/drawingml/2006/main">
              <a:ext uri="{FF2B5EF4-FFF2-40B4-BE49-F238E27FC236}">
                <a16:creationId xmlns:a16="http://schemas.microsoft.com/office/drawing/2014/main" id="{F560BC9F-4B92-4C68-BA30-4FAC8DEA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766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E8F88"/>
                </a:solidFill>
                <a:latin typeface="Aptos"/>
                <a:ea typeface="Aptos"/>
                <a:cs typeface="Aptos"/>
              </a:rPr>
              <a:t>ClinVar / genome build</a:t>
            </a:r>
          </a:p>
        </p:txBody>
      </p:sp>
      <p:sp>
        <p:nvSpPr>
          <p:cNvPr id="17" name="rowline-2">
            <a:extLst xmlns:a="http://schemas.openxmlformats.org/drawingml/2006/main">
              <a:ext uri="{FF2B5EF4-FFF2-40B4-BE49-F238E27FC236}">
                <a16:creationId xmlns:a16="http://schemas.microsoft.com/office/drawing/2014/main" id="{BD7C4992-9676-49E9-BFBC-770B13AF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960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8" name="field-3">
            <a:extLst xmlns:a="http://schemas.openxmlformats.org/drawingml/2006/main">
              <a:ext uri="{FF2B5EF4-FFF2-40B4-BE49-F238E27FC236}">
                <a16:creationId xmlns:a16="http://schemas.microsoft.com/office/drawing/2014/main" id="{C3D0AF2E-3AE2-4B81-9E0E-73521301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Drug claim</a:t>
            </a:r>
          </a:p>
        </p:txBody>
      </p:sp>
      <p:sp>
        <p:nvSpPr>
          <p:cNvPr id="19" name="risk-3">
            <a:extLst xmlns:a="http://schemas.openxmlformats.org/drawingml/2006/main">
              <a:ext uri="{FF2B5EF4-FFF2-40B4-BE49-F238E27FC236}">
                <a16:creationId xmlns:a16="http://schemas.microsoft.com/office/drawing/2014/main" id="{782EAB3D-638A-4B72-AADD-60FCACDA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05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適應症與證據等級混淆</a:t>
            </a:r>
          </a:p>
        </p:txBody>
      </p:sp>
      <p:sp>
        <p:nvSpPr>
          <p:cNvPr id="20" name="check-3">
            <a:extLst xmlns:a="http://schemas.openxmlformats.org/drawingml/2006/main">
              <a:ext uri="{FF2B5EF4-FFF2-40B4-BE49-F238E27FC236}">
                <a16:creationId xmlns:a16="http://schemas.microsoft.com/office/drawing/2014/main" id="{BC2AA21C-3FE9-4085-8D26-4E167CCC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053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E8F88"/>
                </a:solidFill>
                <a:latin typeface="Aptos"/>
                <a:ea typeface="Aptos"/>
                <a:cs typeface="Aptos"/>
              </a:rPr>
              <a:t>guideline / label</a:t>
            </a:r>
          </a:p>
        </p:txBody>
      </p:sp>
      <p:sp>
        <p:nvSpPr>
          <p:cNvPr id="21" name="rowline-3">
            <a:extLst xmlns:a="http://schemas.openxmlformats.org/drawingml/2006/main">
              <a:ext uri="{FF2B5EF4-FFF2-40B4-BE49-F238E27FC236}">
                <a16:creationId xmlns:a16="http://schemas.microsoft.com/office/drawing/2014/main" id="{82A2F6A7-6A0B-46E7-A430-DFACC742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960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2" name="field-4">
            <a:extLst xmlns:a="http://schemas.openxmlformats.org/drawingml/2006/main">
              <a:ext uri="{FF2B5EF4-FFF2-40B4-BE49-F238E27FC236}">
                <a16:creationId xmlns:a16="http://schemas.microsoft.com/office/drawing/2014/main" id="{39C23B3A-C164-4D0C-A8A1-9BF6EF58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Clinical claim</a:t>
            </a:r>
          </a:p>
        </p:txBody>
      </p:sp>
      <p:sp>
        <p:nvSpPr>
          <p:cNvPr id="23" name="risk-4">
            <a:extLst xmlns:a="http://schemas.openxmlformats.org/drawingml/2006/main">
              <a:ext uri="{FF2B5EF4-FFF2-40B4-BE49-F238E27FC236}">
                <a16:creationId xmlns:a16="http://schemas.microsoft.com/office/drawing/2014/main" id="{42483A01-53B0-4CA6-8276-005AA392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33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過度推論</a:t>
            </a:r>
          </a:p>
        </p:txBody>
      </p:sp>
      <p:sp>
        <p:nvSpPr>
          <p:cNvPr id="24" name="check-4">
            <a:extLst xmlns:a="http://schemas.openxmlformats.org/drawingml/2006/main">
              <a:ext uri="{FF2B5EF4-FFF2-40B4-BE49-F238E27FC236}">
                <a16:creationId xmlns:a16="http://schemas.microsoft.com/office/drawing/2014/main" id="{D5BC26BB-B740-4BB7-AFF8-786C3E1D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9339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E8F88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25" name="rowline-4">
            <a:extLst xmlns:a="http://schemas.openxmlformats.org/drawingml/2006/main">
              <a:ext uri="{FF2B5EF4-FFF2-40B4-BE49-F238E27FC236}">
                <a16:creationId xmlns:a16="http://schemas.microsoft.com/office/drawing/2014/main" id="{BDC76E83-05EC-4C46-A1E0-37370F15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14950"/>
            <a:ext cx="960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6" name="footer">
            <a:extLst xmlns:a="http://schemas.openxmlformats.org/drawingml/2006/main">
              <a:ext uri="{FF2B5EF4-FFF2-40B4-BE49-F238E27FC236}">
                <a16:creationId xmlns:a16="http://schemas.microsoft.com/office/drawing/2014/main" id="{A648E911-D6DE-41D1-A40F-92C5D181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LLM basics for agent users  |  9/15</a:t>
            </a:r>
          </a:p>
        </p:txBody>
      </p:sp>
    </p:spTree>
    <p:extLst>
      <p:ext uri="{BB962C8B-B14F-4D97-AF65-F5344CB8AC3E}">
        <p14:creationId xmlns:p14="http://schemas.microsoft.com/office/powerpoint/2010/main" val="19019856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A47F163-84FD-45BE-89E3-3048E218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REASONING LIMITS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34DF330-AF51-4E9E-9811-947F4DF2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Reasoning 很有用，但不能保證事實正確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9E3C4FBC-EDF4-4FCE-93A9-6F005461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Summarize</a:t>
            </a:r>
          </a:p>
        </p:txBody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65E40FD2-2085-4258-A81E-E0E52B14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433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5" name="ladder-1">
            <a:extLst xmlns:a="http://schemas.openxmlformats.org/drawingml/2006/main">
              <a:ext uri="{FF2B5EF4-FFF2-40B4-BE49-F238E27FC236}">
                <a16:creationId xmlns:a16="http://schemas.microsoft.com/office/drawing/2014/main" id="{7358B7F3-F582-4B58-94F0-12FF31F9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909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4DADD"/>
            </a:solidFill>
            <a:prstDash val="solid"/>
          </a:ln>
        </p:spPr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45011C58-FD3F-4EDA-8ECD-1998E2C4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9085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7" name="ladder-2">
            <a:extLst xmlns:a="http://schemas.openxmlformats.org/drawingml/2006/main">
              <a:ext uri="{FF2B5EF4-FFF2-40B4-BE49-F238E27FC236}">
                <a16:creationId xmlns:a16="http://schemas.microsoft.com/office/drawing/2014/main" id="{8D74E854-4926-4761-AE4E-0F5BBB39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385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4DADD"/>
            </a:solidFill>
            <a:prstDash val="solid"/>
          </a:ln>
        </p:spPr>
      </p:sp>
      <p:sp>
        <p:nvSpPr>
          <p:cNvPr id="8" name="step-3">
            <a:extLst xmlns:a="http://schemas.openxmlformats.org/drawingml/2006/main">
              <a:ext uri="{FF2B5EF4-FFF2-40B4-BE49-F238E27FC236}">
                <a16:creationId xmlns:a16="http://schemas.microsoft.com/office/drawing/2014/main" id="{E05BBA7C-4543-4EB7-8247-C0F81555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384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Infer</a:t>
            </a:r>
          </a:p>
        </p:txBody>
      </p:sp>
      <p:sp>
        <p:nvSpPr>
          <p:cNvPr id="9" name="ladder-3">
            <a:extLst xmlns:a="http://schemas.openxmlformats.org/drawingml/2006/main">
              <a:ext uri="{FF2B5EF4-FFF2-40B4-BE49-F238E27FC236}">
                <a16:creationId xmlns:a16="http://schemas.microsoft.com/office/drawing/2014/main" id="{4C873570-097A-46C0-BBBB-51B19716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860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4DADD"/>
            </a:solidFill>
            <a:prstDash val="solid"/>
          </a:ln>
        </p:spPr>
      </p:sp>
      <p:sp>
        <p:nvSpPr>
          <p:cNvPr id="10" name="ladder-to-gate">
            <a:extLst xmlns:a="http://schemas.openxmlformats.org/drawingml/2006/main">
              <a:ext uri="{FF2B5EF4-FFF2-40B4-BE49-F238E27FC236}">
                <a16:creationId xmlns:a16="http://schemas.microsoft.com/office/drawing/2014/main" id="{6E016352-281D-4013-9AEB-70372FF1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86050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4DADD"/>
            </a:solidFill>
            <a:prstDash val="solid"/>
          </a:ln>
        </p:spPr>
      </p:sp>
      <p:sp>
        <p:nvSpPr>
          <p:cNvPr id="11" name="gate">
            <a:extLst xmlns:a="http://schemas.openxmlformats.org/drawingml/2006/main">
              <a:ext uri="{FF2B5EF4-FFF2-40B4-BE49-F238E27FC236}">
                <a16:creationId xmlns:a16="http://schemas.microsoft.com/office/drawing/2014/main" id="{816F0970-B485-4F3E-B1DF-6C0F572C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33600"/>
            <a:ext cx="22479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2" name="gate-title">
            <a:extLst xmlns:a="http://schemas.openxmlformats.org/drawingml/2006/main">
              <a:ext uri="{FF2B5EF4-FFF2-40B4-BE49-F238E27FC236}">
                <a16:creationId xmlns:a16="http://schemas.microsoft.com/office/drawing/2014/main" id="{C421E614-3587-4138-A642-6E318E22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193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Verification gate</a:t>
            </a:r>
          </a:p>
        </p:txBody>
      </p:sp>
      <p:sp>
        <p:nvSpPr>
          <p:cNvPr id="13" name="gate-list">
            <a:extLst xmlns:a="http://schemas.openxmlformats.org/drawingml/2006/main">
              <a:ext uri="{FF2B5EF4-FFF2-40B4-BE49-F238E27FC236}">
                <a16:creationId xmlns:a16="http://schemas.microsoft.com/office/drawing/2014/main" id="{34AE9EC1-5998-4F4B-B602-3641F3F7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71800"/>
            <a:ext cx="142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資料來源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程式輸出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統計假設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人工判斷</a:t>
            </a:r>
          </a:p>
        </p:txBody>
      </p:sp>
      <p:sp>
        <p:nvSpPr>
          <p:cNvPr id="14" name="note">
            <a:extLst xmlns:a="http://schemas.openxmlformats.org/drawingml/2006/main">
              <a:ext uri="{FF2B5EF4-FFF2-40B4-BE49-F238E27FC236}">
                <a16:creationId xmlns:a16="http://schemas.microsoft.com/office/drawing/2014/main" id="{EA6D3AC1-CC52-440E-B7FC-A74BD817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816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推理若建立在錯誤事實上，結論仍然錯。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EF3AD5C0-ECEE-42E7-BC75-2EA4B354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LLM basics for agent users  |  10/15</a:t>
            </a:r>
          </a:p>
        </p:txBody>
      </p:sp>
    </p:spTree>
    <p:extLst>
      <p:ext uri="{BB962C8B-B14F-4D97-AF65-F5344CB8AC3E}">
        <p14:creationId xmlns:p14="http://schemas.microsoft.com/office/powerpoint/2010/main" val="21064061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AE0F593-7E42-4017-B3EB-2329334A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TOOL USE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5113C55-8D71-405E-A4CC-C4ECEB37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Tool use 讓 LLM 請外部系統做可檢查的事</a:t>
            </a:r>
          </a:p>
        </p:txBody>
      </p:sp>
      <p:sp>
        <p:nvSpPr>
          <p:cNvPr id="3" name="llm">
            <a:extLst xmlns:a="http://schemas.openxmlformats.org/drawingml/2006/main">
              <a:ext uri="{FF2B5EF4-FFF2-40B4-BE49-F238E27FC236}">
                <a16:creationId xmlns:a16="http://schemas.microsoft.com/office/drawing/2014/main" id="{BDA53BA5-1B2B-4767-9696-FA40D928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114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4" name="call">
            <a:extLst xmlns:a="http://schemas.openxmlformats.org/drawingml/2006/main">
              <a:ext uri="{FF2B5EF4-FFF2-40B4-BE49-F238E27FC236}">
                <a16:creationId xmlns:a16="http://schemas.microsoft.com/office/drawing/2014/main" id="{09C3F4EA-1572-4584-96CF-C86F3F49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52750"/>
            <a:ext cx="16954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function call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structured args</a:t>
            </a:r>
          </a:p>
        </p:txBody>
      </p:sp>
      <p:sp>
        <p:nvSpPr>
          <p:cNvPr id="5" name="tool">
            <a:extLst xmlns:a="http://schemas.openxmlformats.org/drawingml/2006/main">
              <a:ext uri="{FF2B5EF4-FFF2-40B4-BE49-F238E27FC236}">
                <a16:creationId xmlns:a16="http://schemas.microsoft.com/office/drawing/2014/main" id="{0389F965-3389-4E52-B719-74631D00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52750"/>
            <a:ext cx="2000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database / script / API</a:t>
            </a:r>
          </a:p>
        </p:txBody>
      </p:sp>
      <p:sp>
        <p:nvSpPr>
          <p:cNvPr id="6" name="result">
            <a:extLst xmlns:a="http://schemas.openxmlformats.org/drawingml/2006/main">
              <a:ext uri="{FF2B5EF4-FFF2-40B4-BE49-F238E27FC236}">
                <a16:creationId xmlns:a16="http://schemas.microsoft.com/office/drawing/2014/main" id="{01D03190-5E2B-4C1D-B925-FE5E6B13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52750"/>
            <a:ext cx="1676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structured result</a:t>
            </a:r>
          </a:p>
        </p:txBody>
      </p:sp>
      <p:sp>
        <p:nvSpPr>
          <p:cNvPr id="7" name="summary">
            <a:extLst xmlns:a="http://schemas.openxmlformats.org/drawingml/2006/main">
              <a:ext uri="{FF2B5EF4-FFF2-40B4-BE49-F238E27FC236}">
                <a16:creationId xmlns:a16="http://schemas.microsoft.com/office/drawing/2014/main" id="{815C3B84-62C6-43CB-9D19-22BA2222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100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model summarizes</a:t>
            </a:r>
          </a:p>
        </p:txBody>
      </p:sp>
      <p:cxnSp>
        <p:nvCxnSpPr>
          <p:cNvPr id="21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2152650" y="3314700"/>
            <a:ext cx="8001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46A8"/>
            </a:solidFill>
            <a:prstDash val="solid"/>
            <a:tailEnd type="arrow" w="sm" len="sm"/>
          </a:ln>
        </p:spPr>
      </p:cxn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648200" y="33147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E8F88"/>
            </a:solidFill>
            <a:prstDash val="solid"/>
            <a:tailEnd type="arrow" w="sm" len="sm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05700" y="33147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E8F88"/>
            </a:solidFill>
            <a:prstDash val="solid"/>
            <a:tailEnd type="arrow" w="sm" len="sm"/>
          </a:ln>
        </p:spPr>
      </p:cxnSp>
      <p:cxnSp>
        <p:nvCxnSpPr>
          <p:cNvPr id="24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201150" y="3676650"/>
            <a:ext cx="146685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446A8"/>
            </a:solidFill>
            <a:prstDash val="dash"/>
            <a:tailEnd type="arrow" w="sm" len="sm"/>
          </a:ln>
        </p:spPr>
      </p:cxnSp>
      <p:sp>
        <p:nvSpPr>
          <p:cNvPr id="12" name="note">
            <a:extLst xmlns:a="http://schemas.openxmlformats.org/drawingml/2006/main">
              <a:ext uri="{FF2B5EF4-FFF2-40B4-BE49-F238E27FC236}">
                <a16:creationId xmlns:a16="http://schemas.microsoft.com/office/drawing/2014/main" id="{F99310F7-1858-487B-9CB5-B273D635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57800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Agent = LLM + tools + loop + checks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6CEFF17-4406-45BF-83F0-DCA75CED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LLM basics for agent users  |  11/15</a:t>
            </a:r>
          </a:p>
        </p:txBody>
      </p:sp>
    </p:spTree>
    <p:extLst>
      <p:ext uri="{BB962C8B-B14F-4D97-AF65-F5344CB8AC3E}">
        <p14:creationId xmlns:p14="http://schemas.microsoft.com/office/powerpoint/2010/main" val="18284530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4EFBF1B-E2B8-4B55-BCF2-15E9E668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BACK TO THE AGENT LOOP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74C759F-F0C9-4EAC-A4C2-BDE582E0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Agent 把 model 放進 tools、state 與 review loop</a:t>
            </a:r>
          </a:p>
        </p:txBody>
      </p:sp>
      <p:sp>
        <p:nvSpPr>
          <p:cNvPr id="3" name="goal-model-a">
            <a:extLst xmlns:a="http://schemas.openxmlformats.org/drawingml/2006/main">
              <a:ext uri="{FF2B5EF4-FFF2-40B4-BE49-F238E27FC236}">
                <a16:creationId xmlns:a16="http://schemas.microsoft.com/office/drawing/2014/main" id="{E42116A4-102E-49E7-BAF7-EC12281C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004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4DADD"/>
            </a:solidFill>
            <a:prstDash val="solid"/>
          </a:ln>
        </p:spPr>
      </p:sp>
      <p:sp>
        <p:nvSpPr>
          <p:cNvPr id="4" name="goal-model-b">
            <a:extLst xmlns:a="http://schemas.openxmlformats.org/drawingml/2006/main">
              <a:ext uri="{FF2B5EF4-FFF2-40B4-BE49-F238E27FC236}">
                <a16:creationId xmlns:a16="http://schemas.microsoft.com/office/drawing/2014/main" id="{7F90820C-6035-4C8C-A504-255E7F72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4DADD"/>
            </a:solidFill>
            <a:prstDash val="solid"/>
          </a:ln>
        </p:spPr>
      </p:sp>
      <p:sp>
        <p:nvSpPr>
          <p:cNvPr id="5" name="goal-model-c">
            <a:extLst xmlns:a="http://schemas.openxmlformats.org/drawingml/2006/main">
              <a:ext uri="{FF2B5EF4-FFF2-40B4-BE49-F238E27FC236}">
                <a16:creationId xmlns:a16="http://schemas.microsoft.com/office/drawing/2014/main" id="{95E9847E-A521-41A5-849E-FE71564D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4DADD"/>
            </a:solidFill>
            <a:prstDash val="solid"/>
          </a:ln>
        </p:spPr>
      </p:sp>
      <p:sp>
        <p:nvSpPr>
          <p:cNvPr id="6" name="model-tools">
            <a:extLst xmlns:a="http://schemas.openxmlformats.org/drawingml/2006/main">
              <a:ext uri="{FF2B5EF4-FFF2-40B4-BE49-F238E27FC236}">
                <a16:creationId xmlns:a16="http://schemas.microsoft.com/office/drawing/2014/main" id="{B9D395DE-E463-4E98-902D-B97C288E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67000"/>
            <a:ext cx="108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446A8"/>
            </a:solidFill>
            <a:prstDash val="solid"/>
          </a:ln>
        </p:spPr>
      </p:sp>
      <p:sp>
        <p:nvSpPr>
          <p:cNvPr id="7" name="tools-observe-a">
            <a:extLst xmlns:a="http://schemas.openxmlformats.org/drawingml/2006/main">
              <a:ext uri="{FF2B5EF4-FFF2-40B4-BE49-F238E27FC236}">
                <a16:creationId xmlns:a16="http://schemas.microsoft.com/office/drawing/2014/main" id="{867D6219-4D8D-429D-A68F-B7A876DF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670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E8F88"/>
            </a:solidFill>
            <a:prstDash val="solid"/>
          </a:ln>
        </p:spPr>
      </p:sp>
      <p:sp>
        <p:nvSpPr>
          <p:cNvPr id="8" name="tools-observe-b">
            <a:extLst xmlns:a="http://schemas.openxmlformats.org/drawingml/2006/main">
              <a:ext uri="{FF2B5EF4-FFF2-40B4-BE49-F238E27FC236}">
                <a16:creationId xmlns:a16="http://schemas.microsoft.com/office/drawing/2014/main" id="{9B197D76-D251-4B2D-A669-5D10BB2D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0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E8F88"/>
            </a:solidFill>
            <a:prstDash val="solid"/>
          </a:ln>
        </p:spPr>
      </p:sp>
      <p:sp>
        <p:nvSpPr>
          <p:cNvPr id="9" name="tools-observe-c">
            <a:extLst xmlns:a="http://schemas.openxmlformats.org/drawingml/2006/main">
              <a:ext uri="{FF2B5EF4-FFF2-40B4-BE49-F238E27FC236}">
                <a16:creationId xmlns:a16="http://schemas.microsoft.com/office/drawing/2014/main" id="{E6BF4129-21BF-46D0-A9AB-A8366A5C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28975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E8F88"/>
            </a:solidFill>
            <a:prstDash val="solid"/>
          </a:ln>
        </p:spPr>
      </p:sp>
      <p:sp>
        <p:nvSpPr>
          <p:cNvPr id="10" name="observe-verify-a">
            <a:extLst xmlns:a="http://schemas.openxmlformats.org/drawingml/2006/main">
              <a:ext uri="{FF2B5EF4-FFF2-40B4-BE49-F238E27FC236}">
                <a16:creationId xmlns:a16="http://schemas.microsoft.com/office/drawing/2014/main" id="{A196B32E-7B92-49C9-83E0-17D47C04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4861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89A16"/>
            </a:solidFill>
            <a:prstDash val="solid"/>
          </a:ln>
        </p:spPr>
      </p:sp>
      <p:sp>
        <p:nvSpPr>
          <p:cNvPr id="11" name="observe-verify-b">
            <a:extLst xmlns:a="http://schemas.openxmlformats.org/drawingml/2006/main">
              <a:ext uri="{FF2B5EF4-FFF2-40B4-BE49-F238E27FC236}">
                <a16:creationId xmlns:a16="http://schemas.microsoft.com/office/drawing/2014/main" id="{B70750E6-7499-41C4-A47A-6BF73DA8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3860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89A16"/>
            </a:solidFill>
            <a:prstDash val="solid"/>
          </a:ln>
        </p:spPr>
      </p:sp>
      <p:sp>
        <p:nvSpPr>
          <p:cNvPr id="12" name="observe-verify-c">
            <a:extLst xmlns:a="http://schemas.openxmlformats.org/drawingml/2006/main">
              <a:ext uri="{FF2B5EF4-FFF2-40B4-BE49-F238E27FC236}">
                <a16:creationId xmlns:a16="http://schemas.microsoft.com/office/drawing/2014/main" id="{07CE7960-AA28-4189-A3AF-AC44B30C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3860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89A16"/>
            </a:solidFill>
            <a:prstDash val="solid"/>
          </a:ln>
        </p:spPr>
      </p:sp>
      <p:sp>
        <p:nvSpPr>
          <p:cNvPr id="13" name="verify-state">
            <a:extLst xmlns:a="http://schemas.openxmlformats.org/drawingml/2006/main">
              <a:ext uri="{FF2B5EF4-FFF2-40B4-BE49-F238E27FC236}">
                <a16:creationId xmlns:a16="http://schemas.microsoft.com/office/drawing/2014/main" id="{40400669-42F5-4785-A7A9-C20EFF85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767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89A16"/>
            </a:solidFill>
            <a:prstDash val="solid"/>
          </a:ln>
        </p:spPr>
      </p:sp>
      <p:sp>
        <p:nvSpPr>
          <p:cNvPr id="14" name="state-goal-a">
            <a:extLst xmlns:a="http://schemas.openxmlformats.org/drawingml/2006/main">
              <a:ext uri="{FF2B5EF4-FFF2-40B4-BE49-F238E27FC236}">
                <a16:creationId xmlns:a16="http://schemas.microsoft.com/office/drawing/2014/main" id="{558DEC06-6D75-4054-9527-F1640AB1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76775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4DADD"/>
            </a:solidFill>
            <a:prstDash val="dash"/>
          </a:ln>
        </p:spPr>
      </p:sp>
      <p:sp>
        <p:nvSpPr>
          <p:cNvPr id="15" name="state-goal-b">
            <a:extLst xmlns:a="http://schemas.openxmlformats.org/drawingml/2006/main">
              <a:ext uri="{FF2B5EF4-FFF2-40B4-BE49-F238E27FC236}">
                <a16:creationId xmlns:a16="http://schemas.microsoft.com/office/drawing/2014/main" id="{39585043-E3EE-47DA-AC48-8C736D2D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0" cy="1476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4DADD"/>
            </a:solidFill>
            <a:prstDash val="dash"/>
          </a:ln>
        </p:spPr>
      </p:sp>
      <p:sp>
        <p:nvSpPr>
          <p:cNvPr id="16" name="state-goal-c">
            <a:extLst xmlns:a="http://schemas.openxmlformats.org/drawingml/2006/main">
              <a:ext uri="{FF2B5EF4-FFF2-40B4-BE49-F238E27FC236}">
                <a16:creationId xmlns:a16="http://schemas.microsoft.com/office/drawing/2014/main" id="{D7E68B2D-FEC2-4490-B501-F02C7F4F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4DADD"/>
            </a:solidFill>
            <a:prstDash val="dash"/>
          </a:ln>
        </p:spPr>
      </p:sp>
      <p:sp>
        <p:nvSpPr>
          <p:cNvPr id="17" name="goal">
            <a:extLst xmlns:a="http://schemas.openxmlformats.org/drawingml/2006/main">
              <a:ext uri="{FF2B5EF4-FFF2-40B4-BE49-F238E27FC236}">
                <a16:creationId xmlns:a16="http://schemas.microsoft.com/office/drawing/2014/main" id="{F081544F-3937-4FA7-992C-AA249A93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99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C98A1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18" name="model">
            <a:extLst xmlns:a="http://schemas.openxmlformats.org/drawingml/2006/main">
              <a:ext uri="{FF2B5EF4-FFF2-40B4-BE49-F238E27FC236}">
                <a16:creationId xmlns:a16="http://schemas.microsoft.com/office/drawing/2014/main" id="{6C5313A2-7E8D-4EF5-BE3B-8487FAA6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0505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LLM call</a:t>
            </a:r>
          </a:p>
        </p:txBody>
      </p:sp>
      <p:sp>
        <p:nvSpPr>
          <p:cNvPr id="19" name="tools">
            <a:extLst xmlns:a="http://schemas.openxmlformats.org/drawingml/2006/main">
              <a:ext uri="{FF2B5EF4-FFF2-40B4-BE49-F238E27FC236}">
                <a16:creationId xmlns:a16="http://schemas.microsoft.com/office/drawing/2014/main" id="{9CE96EC9-62A6-4A4C-9FA7-9327DA76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09825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20" name="observe">
            <a:extLst xmlns:a="http://schemas.openxmlformats.org/drawingml/2006/main">
              <a:ext uri="{FF2B5EF4-FFF2-40B4-BE49-F238E27FC236}">
                <a16:creationId xmlns:a16="http://schemas.microsoft.com/office/drawing/2014/main" id="{B7F64EDD-B9F6-429D-AEB5-DAD48913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718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21" name="verify">
            <a:extLst xmlns:a="http://schemas.openxmlformats.org/drawingml/2006/main">
              <a:ext uri="{FF2B5EF4-FFF2-40B4-BE49-F238E27FC236}">
                <a16:creationId xmlns:a16="http://schemas.microsoft.com/office/drawing/2014/main" id="{75C77104-1B58-411F-8F3A-1224E078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196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333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2" name="state">
            <a:extLst xmlns:a="http://schemas.openxmlformats.org/drawingml/2006/main">
              <a:ext uri="{FF2B5EF4-FFF2-40B4-BE49-F238E27FC236}">
                <a16:creationId xmlns:a16="http://schemas.microsoft.com/office/drawing/2014/main" id="{E74B184C-00EE-4C52-B2C7-2FC77296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19600"/>
            <a:ext cx="1200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sp>
        <p:nvSpPr>
          <p:cNvPr id="23" name="note">
            <a:extLst xmlns:a="http://schemas.openxmlformats.org/drawingml/2006/main">
              <a:ext uri="{FF2B5EF4-FFF2-40B4-BE49-F238E27FC236}">
                <a16:creationId xmlns:a16="http://schemas.microsoft.com/office/drawing/2014/main" id="{6CE5A6AE-60D6-4452-B59F-6CA3081A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388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今天學的是 model 層；可靠 workflow 還需要 tools、state、verification。</a:t>
            </a:r>
          </a:p>
        </p:txBody>
      </p:sp>
      <p:sp>
        <p:nvSpPr>
          <p:cNvPr id="24" name="footer">
            <a:extLst xmlns:a="http://schemas.openxmlformats.org/drawingml/2006/main">
              <a:ext uri="{FF2B5EF4-FFF2-40B4-BE49-F238E27FC236}">
                <a16:creationId xmlns:a16="http://schemas.microsoft.com/office/drawing/2014/main" id="{F05F77E4-F5AA-4260-9AE9-D9BFBB8B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LLM basics for agent users  |  12/15</a:t>
            </a:r>
          </a:p>
        </p:txBody>
      </p:sp>
    </p:spTree>
    <p:extLst>
      <p:ext uri="{BB962C8B-B14F-4D97-AF65-F5344CB8AC3E}">
        <p14:creationId xmlns:p14="http://schemas.microsoft.com/office/powerpoint/2010/main" val="19248936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8AF23F6-7ADF-40E1-BB51-37AB0894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TEMPERATURE AND REPRODUCIBILITY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B361AE6-D565-43D2-839E-BDFADE31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Temperature 影響穩定性，不等於聰明程度</a:t>
            </a:r>
          </a:p>
        </p:txBody>
      </p:sp>
      <p:sp>
        <p:nvSpPr>
          <p:cNvPr id="3" name="slider">
            <a:extLst xmlns:a="http://schemas.openxmlformats.org/drawingml/2006/main">
              <a:ext uri="{FF2B5EF4-FFF2-40B4-BE49-F238E27FC236}">
                <a16:creationId xmlns:a16="http://schemas.microsoft.com/office/drawing/2014/main" id="{4F479524-5AC8-4E95-99FD-67627E75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05100"/>
            <a:ext cx="746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4DADD"/>
            </a:solidFill>
            <a:prstDash val="solid"/>
          </a:ln>
        </p:spPr>
      </p:sp>
      <p:sp>
        <p:nvSpPr>
          <p:cNvPr id="4" name="low">
            <a:extLst xmlns:a="http://schemas.openxmlformats.org/drawingml/2006/main">
              <a:ext uri="{FF2B5EF4-FFF2-40B4-BE49-F238E27FC236}">
                <a16:creationId xmlns:a16="http://schemas.microsoft.com/office/drawing/2014/main" id="{C435ABB2-07ED-496E-8910-DEF8BE77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90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low temp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repeatable</a:t>
            </a:r>
          </a:p>
        </p:txBody>
      </p:sp>
      <p:sp>
        <p:nvSpPr>
          <p:cNvPr id="5" name="mid">
            <a:extLst xmlns:a="http://schemas.openxmlformats.org/drawingml/2006/main">
              <a:ext uri="{FF2B5EF4-FFF2-40B4-BE49-F238E27FC236}">
                <a16:creationId xmlns:a16="http://schemas.microsoft.com/office/drawing/2014/main" id="{FB3D6C43-4F62-4230-AFD0-79B050F4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90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default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balanced</a:t>
            </a:r>
          </a:p>
        </p:txBody>
      </p:sp>
      <p:sp>
        <p:nvSpPr>
          <p:cNvPr id="6" name="high">
            <a:extLst xmlns:a="http://schemas.openxmlformats.org/drawingml/2006/main">
              <a:ext uri="{FF2B5EF4-FFF2-40B4-BE49-F238E27FC236}">
                <a16:creationId xmlns:a16="http://schemas.microsoft.com/office/drawing/2014/main" id="{AD84213D-436E-49EB-97DF-FB8821AC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13335">
            <a:solidFill>
              <a:srgbClr val="C85A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high temp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varied</a:t>
            </a:r>
          </a:p>
        </p:txBody>
      </p:sp>
      <p:sp>
        <p:nvSpPr>
          <p:cNvPr id="7" name="variant-0">
            <a:extLst xmlns:a="http://schemas.openxmlformats.org/drawingml/2006/main">
              <a:ext uri="{FF2B5EF4-FFF2-40B4-BE49-F238E27FC236}">
                <a16:creationId xmlns:a16="http://schemas.microsoft.com/office/drawing/2014/main" id="{DD227754-2B7D-4232-ADE6-53039892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2743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EGFR is linked to targeted therapy.</a:t>
            </a:r>
          </a:p>
        </p:txBody>
      </p:sp>
      <p:sp>
        <p:nvSpPr>
          <p:cNvPr id="8" name="variant-1">
            <a:extLst xmlns:a="http://schemas.openxmlformats.org/drawingml/2006/main">
              <a:ext uri="{FF2B5EF4-FFF2-40B4-BE49-F238E27FC236}">
                <a16:creationId xmlns:a16="http://schemas.microsoft.com/office/drawing/2014/main" id="{61494322-6BAD-4CFF-81C4-B6F32248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62400"/>
            <a:ext cx="2743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EGFR mutations can guide TKI selection.</a:t>
            </a:r>
          </a:p>
        </p:txBody>
      </p:sp>
      <p:sp>
        <p:nvSpPr>
          <p:cNvPr id="9" name="variant-2">
            <a:extLst xmlns:a="http://schemas.openxmlformats.org/drawingml/2006/main">
              <a:ext uri="{FF2B5EF4-FFF2-40B4-BE49-F238E27FC236}">
                <a16:creationId xmlns:a16="http://schemas.microsoft.com/office/drawing/2014/main" id="{98A629A3-8CF7-4E06-A73E-B00B1C2D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62400"/>
            <a:ext cx="2743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Evidence should be checked against sources.</a:t>
            </a:r>
          </a:p>
        </p:txBody>
      </p:sp>
      <p:sp>
        <p:nvSpPr>
          <p:cNvPr id="10" name="note">
            <a:extLst xmlns:a="http://schemas.openxmlformats.org/drawingml/2006/main">
              <a:ext uri="{FF2B5EF4-FFF2-40B4-BE49-F238E27FC236}">
                <a16:creationId xmlns:a16="http://schemas.microsoft.com/office/drawing/2014/main" id="{1BA0F95A-C872-4BDE-90CA-FFE08AD7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5816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可重現要保存 model、prompt、context、工具版本與資料版本。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45931EEC-DEEA-400A-88CF-2877EC24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LLM basics for agent users  |  13/15</a:t>
            </a:r>
          </a:p>
        </p:txBody>
      </p:sp>
    </p:spTree>
    <p:extLst>
      <p:ext uri="{BB962C8B-B14F-4D97-AF65-F5344CB8AC3E}">
        <p14:creationId xmlns:p14="http://schemas.microsoft.com/office/powerpoint/2010/main" val="4371320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B0BF1CF-7724-41BD-B4A5-3B4AF8A9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BIOMEDICAL SAFETY BOUNDARY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1E78FF4-682E-421C-9DEF-29A4AFA6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Biomedical LLM 可以協助，但要知道何時停止</a:t>
            </a:r>
          </a:p>
        </p:txBody>
      </p:sp>
      <p:sp>
        <p:nvSpPr>
          <p:cNvPr id="3" name="assist">
            <a:extLst xmlns:a="http://schemas.openxmlformats.org/drawingml/2006/main">
              <a:ext uri="{FF2B5EF4-FFF2-40B4-BE49-F238E27FC236}">
                <a16:creationId xmlns:a16="http://schemas.microsoft.com/office/drawing/2014/main" id="{C4A545FC-D0C5-4B6D-9880-FE4D08BA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4000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4" name="assist-title">
            <a:extLst xmlns:a="http://schemas.openxmlformats.org/drawingml/2006/main">
              <a:ext uri="{FF2B5EF4-FFF2-40B4-BE49-F238E27FC236}">
                <a16:creationId xmlns:a16="http://schemas.microsoft.com/office/drawing/2014/main" id="{1F7897CC-6614-43D3-893E-82B6D42A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Can assist</a:t>
            </a:r>
          </a:p>
        </p:txBody>
      </p:sp>
      <p:sp>
        <p:nvSpPr>
          <p:cNvPr id="5" name="assist-list">
            <a:extLst xmlns:a="http://schemas.openxmlformats.org/drawingml/2006/main">
              <a:ext uri="{FF2B5EF4-FFF2-40B4-BE49-F238E27FC236}">
                <a16:creationId xmlns:a16="http://schemas.microsoft.com/office/drawing/2014/main" id="{F4848494-E331-44D9-89E5-2EB2709E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摘要與分類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整理 evidence table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草擬分析步驟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提出檢查清單</a:t>
            </a:r>
          </a:p>
        </p:txBody>
      </p:sp>
      <p:sp>
        <p:nvSpPr>
          <p:cNvPr id="6" name="stop">
            <a:extLst xmlns:a="http://schemas.openxmlformats.org/drawingml/2006/main">
              <a:ext uri="{FF2B5EF4-FFF2-40B4-BE49-F238E27FC236}">
                <a16:creationId xmlns:a16="http://schemas.microsoft.com/office/drawing/2014/main" id="{14401833-D030-4EF7-8E12-027EE435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52650"/>
            <a:ext cx="4000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7" name="stop-title">
            <a:extLst xmlns:a="http://schemas.openxmlformats.org/drawingml/2006/main">
              <a:ext uri="{FF2B5EF4-FFF2-40B4-BE49-F238E27FC236}">
                <a16:creationId xmlns:a16="http://schemas.microsoft.com/office/drawing/2014/main" id="{8F36D7DB-66C5-4745-93FA-676F337A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76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Stop / review</a:t>
            </a:r>
          </a:p>
        </p:txBody>
      </p:sp>
      <p:sp>
        <p:nvSpPr>
          <p:cNvPr id="8" name="stop-list">
            <a:extLst xmlns:a="http://schemas.openxmlformats.org/drawingml/2006/main">
              <a:ext uri="{FF2B5EF4-FFF2-40B4-BE49-F238E27FC236}">
                <a16:creationId xmlns:a16="http://schemas.microsoft.com/office/drawing/2014/main" id="{76B4AC42-118F-4ED1-8BC6-AA0F7DB3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4325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診斷或治療建議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drug dosage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variant pathogenicity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clinical action</a:t>
            </a:r>
          </a:p>
        </p:txBody>
      </p:sp>
      <p:sp>
        <p:nvSpPr>
          <p:cNvPr id="9" name="gate">
            <a:extLst xmlns:a="http://schemas.openxmlformats.org/drawingml/2006/main">
              <a:ext uri="{FF2B5EF4-FFF2-40B4-BE49-F238E27FC236}">
                <a16:creationId xmlns:a16="http://schemas.microsoft.com/office/drawing/2014/main" id="{485F69C5-4C58-4634-A055-2F21BDAA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219700"/>
            <a:ext cx="2571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333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Human review gate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322486C8-55B7-4DDD-AA14-E067CF4F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LLM basics for agent users  |  14/15</a:t>
            </a:r>
          </a:p>
        </p:txBody>
      </p:sp>
    </p:spTree>
    <p:extLst>
      <p:ext uri="{BB962C8B-B14F-4D97-AF65-F5344CB8AC3E}">
        <p14:creationId xmlns:p14="http://schemas.microsoft.com/office/powerpoint/2010/main" val="9430739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20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769F7974-F1BF-4771-8222-07230711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Good task specs make LLM output checkable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D4EC62-DF4D-4924-B1AD-28CAB26A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DDE4E8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Mini exercise: 把不可靠 prompt 改成可檢查的 task spec</a:t>
            </a:r>
          </a:p>
        </p:txBody>
      </p:sp>
      <p:sp>
        <p:nvSpPr>
          <p:cNvPr id="3" name="bad">
            <a:extLst xmlns:a="http://schemas.openxmlformats.org/drawingml/2006/main">
              <a:ext uri="{FF2B5EF4-FFF2-40B4-BE49-F238E27FC236}">
                <a16:creationId xmlns:a16="http://schemas.microsoft.com/office/drawing/2014/main" id="{A65EE805-4E79-42E6-8FAD-46C3278A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37147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26313A"/>
          </a:solidFill>
          <a:ln xmlns:a="http://schemas.openxmlformats.org/drawingml/2006/main" w="9525">
            <a:solidFill>
              <a:srgbClr val="52616D"/>
            </a:solidFill>
            <a:prstDash val="solid"/>
          </a:ln>
        </p:spPr>
      </p:sp>
      <p:sp>
        <p:nvSpPr>
          <p:cNvPr id="4" name="bad-title">
            <a:extLst xmlns:a="http://schemas.openxmlformats.org/drawingml/2006/main">
              <a:ext uri="{FF2B5EF4-FFF2-40B4-BE49-F238E27FC236}">
                <a16:creationId xmlns:a16="http://schemas.microsoft.com/office/drawing/2014/main" id="{6CB09E1E-96B9-4C0C-8315-96214790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47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Unreliable prompt</a:t>
            </a:r>
          </a:p>
        </p:txBody>
      </p:sp>
      <p:sp>
        <p:nvSpPr>
          <p:cNvPr id="5" name="bad-copy">
            <a:extLst xmlns:a="http://schemas.openxmlformats.org/drawingml/2006/main">
              <a:ext uri="{FF2B5EF4-FFF2-40B4-BE49-F238E27FC236}">
                <a16:creationId xmlns:a16="http://schemas.microsoft.com/office/drawing/2014/main" id="{3FE47331-469A-4850-949B-B29E72BC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DDE4E8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分析這些基因和癌症的關係，整理成表格。</a:t>
            </a:r>
          </a:p>
        </p:txBody>
      </p:sp>
      <p:sp>
        <p:nvSpPr>
          <p:cNvPr id="6" name="spec">
            <a:extLst xmlns:a="http://schemas.openxmlformats.org/drawingml/2006/main">
              <a:ext uri="{FF2B5EF4-FFF2-40B4-BE49-F238E27FC236}">
                <a16:creationId xmlns:a16="http://schemas.microsoft.com/office/drawing/2014/main" id="{6EBB4235-65BC-41B3-9BC1-8DD37B83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90750"/>
            <a:ext cx="451485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26313A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7" name="spec-title">
            <a:extLst xmlns:a="http://schemas.openxmlformats.org/drawingml/2006/main">
              <a:ext uri="{FF2B5EF4-FFF2-40B4-BE49-F238E27FC236}">
                <a16:creationId xmlns:a16="http://schemas.microsoft.com/office/drawing/2014/main" id="{33FE47CE-40DA-4D2F-9EDD-C09E26D5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AEB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AEBBFF"/>
                </a:solidFill>
                <a:latin typeface="Aptos"/>
                <a:ea typeface="Aptos"/>
                <a:cs typeface="Aptos"/>
              </a:rPr>
              <a:t>Checkable task spec</a:t>
            </a:r>
          </a:p>
        </p:txBody>
      </p:sp>
      <p:sp>
        <p:nvSpPr>
          <p:cNvPr id="8" name="spec-0">
            <a:extLst xmlns:a="http://schemas.openxmlformats.org/drawingml/2006/main">
              <a:ext uri="{FF2B5EF4-FFF2-40B4-BE49-F238E27FC236}">
                <a16:creationId xmlns:a16="http://schemas.microsoft.com/office/drawing/2014/main" id="{81E2A0AC-D7E6-46C4-BC99-65E412CD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28950"/>
            <a:ext cx="1695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9" name="spec-1">
            <a:extLst xmlns:a="http://schemas.openxmlformats.org/drawingml/2006/main">
              <a:ext uri="{FF2B5EF4-FFF2-40B4-BE49-F238E27FC236}">
                <a16:creationId xmlns:a16="http://schemas.microsoft.com/office/drawing/2014/main" id="{5880E568-53E8-46D9-9E21-DAC2EADD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1695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Inputs + versions</a:t>
            </a:r>
          </a:p>
        </p:txBody>
      </p:sp>
      <p:sp>
        <p:nvSpPr>
          <p:cNvPr id="10" name="spec-2">
            <a:extLst xmlns:a="http://schemas.openxmlformats.org/drawingml/2006/main">
              <a:ext uri="{FF2B5EF4-FFF2-40B4-BE49-F238E27FC236}">
                <a16:creationId xmlns:a16="http://schemas.microsoft.com/office/drawing/2014/main" id="{50C26507-C9A0-45C5-9E80-67FF97F2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81400"/>
            <a:ext cx="1695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Evidence sources</a:t>
            </a:r>
          </a:p>
        </p:txBody>
      </p:sp>
      <p:sp>
        <p:nvSpPr>
          <p:cNvPr id="11" name="spec-3">
            <a:extLst xmlns:a="http://schemas.openxmlformats.org/drawingml/2006/main">
              <a:ext uri="{FF2B5EF4-FFF2-40B4-BE49-F238E27FC236}">
                <a16:creationId xmlns:a16="http://schemas.microsoft.com/office/drawing/2014/main" id="{CC945F4A-8061-4109-942F-921610A9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81400"/>
            <a:ext cx="1695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Output schema</a:t>
            </a:r>
          </a:p>
        </p:txBody>
      </p:sp>
      <p:sp>
        <p:nvSpPr>
          <p:cNvPr id="12" name="spec-4">
            <a:extLst xmlns:a="http://schemas.openxmlformats.org/drawingml/2006/main">
              <a:ext uri="{FF2B5EF4-FFF2-40B4-BE49-F238E27FC236}">
                <a16:creationId xmlns:a16="http://schemas.microsoft.com/office/drawing/2014/main" id="{9903A175-C11C-4A43-AD14-BA0C0772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33850"/>
            <a:ext cx="2819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333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Checks + not found rule</a:t>
            </a:r>
          </a:p>
        </p:txBody>
      </p:sp>
      <p:sp>
        <p:nvSpPr>
          <p:cNvPr id="13" name="next">
            <a:extLst xmlns:a="http://schemas.openxmlformats.org/drawingml/2006/main">
              <a:ext uri="{FF2B5EF4-FFF2-40B4-BE49-F238E27FC236}">
                <a16:creationId xmlns:a16="http://schemas.microsoft.com/office/drawing/2014/main" id="{6DAC0192-60BB-4C9B-879E-CA8B30C8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292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DDE4E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Next: desktop agent workflow 將把 task spec 接到檔案、瀏覽器、terminal 和資料來源。</a:t>
            </a:r>
          </a:p>
        </p:txBody>
      </p:sp>
      <p:sp>
        <p:nvSpPr>
          <p:cNvPr id="14" name="footer-dark">
            <a:extLst xmlns:a="http://schemas.openxmlformats.org/drawingml/2006/main">
              <a:ext uri="{FF2B5EF4-FFF2-40B4-BE49-F238E27FC236}">
                <a16:creationId xmlns:a16="http://schemas.microsoft.com/office/drawing/2014/main" id="{F6BAC66E-40DD-4665-A8CA-7F654B2E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B7C0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C7"/>
                </a:solidFill>
                <a:latin typeface="Aptos"/>
                <a:ea typeface="Aptos"/>
                <a:cs typeface="Aptos"/>
              </a:rPr>
              <a:t>LLM basics for agent users  |  15/15</a:t>
            </a:r>
          </a:p>
        </p:txBody>
      </p:sp>
    </p:spTree>
    <p:extLst>
      <p:ext uri="{BB962C8B-B14F-4D97-AF65-F5344CB8AC3E}">
        <p14:creationId xmlns:p14="http://schemas.microsoft.com/office/powerpoint/2010/main" val="635682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2026-07-01T15:15:52.1940000Z</dcterms:created>
  <dcterms:modified xsi:type="dcterms:W3CDTF">2026-07-01T15:15:52.1940000Z</dcterms:modified>
</coreProperties>
</file>