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custDataLst>
    <p:tags r:id="rId44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5"/>
    <p:restoredTop sz="94645"/>
  </p:normalViewPr>
  <p:slideViewPr>
    <p:cSldViewPr snapToGrid="0">
      <p:cViewPr varScale="1">
        <p:scale>
          <a:sx n="129" d="100"/>
          <a:sy n="129" d="100"/>
        </p:scale>
        <p:origin x="21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本堂課定位為老師示範課。重點是讓學生看到完整 workflow，而不是只看到 agent 生成的一張表。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這張和課綱對齊：如何讓 agent 產出的 evidence table 能被人檢查，而不是只有看起來整齊。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示範問題故意設計為小型但真實，讓學生可以看見任務拆解和 evidence table schema 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對應課綱的研究問題拆解：研究主題、gene list、disease scope、資料類型和輸出格式。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這張告訴學生真正的輸出不是投影片，而是一個可交接的 demo bundle。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這張有線，但只使用水平線，並且線在節點前畫，避免 PowerPoint connector 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對應課綱的 literature search workflow：保留來源、日期、關鍵字和排除條件。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這張示範 prompt design：先要 search strategy，而不是讓 agent 直接生成 evidence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資料來自 PubMed abstract / E-utilities：PMID 29151359、25470694、25079552。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對應使用者要求的欄位：PMID、研究類型、樣本數、疾病、基因、藥物、結論。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 evidence extraction prompt。重點是 evidence_kind 和 model_inference 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示範表格放在 demos/lesson-04-literature-evidence-workflow/evidence_table.demo.csv。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這張直接回應使用者列出的欄位需求。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這張符合使用者要求：如何要求 agent 區分文獻證據和模型推測。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這個 prompt 是 review prompt，不是 extraction prompt。它是把 agent 轉成 reviewer，而不是讓它繼續擴寫。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TP53 row 是教學用的壞例子，目標是示範 evidence_kind 和 needs_source 的價值。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這張的線全是水平線，避免前面投影片發生的線條方向錯誤。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對應課綱 Research note structure。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使用者要求如果需要 MCP 或 skills，要先提會用哪些，隔天再詳細介紹。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這張可當教師上課時的示範腳本。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這個活動設計為短時間檢查，為 Lesson 05 hands-on 做準備。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這是新增的深度模組分隔頁。先告訴學生：可重現搜尋不是一條完美 query，而是一串可解釋的搜尋決策。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把問題分成 Explore、Map、Decide，目的不是創造新術語，而是讓學生把 evidence threshold 說清楚。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示範 PICO 與 PECO 的實用定位：協助拆題，不是要求每個研究問題都有四個完整欄位。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Query ladder 讓 agent 的搜尋行為可重現。實際搜尋時還要記錄日期、資料庫與 filters。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先寫 eligibility rules，可以降低看到喜歡的結果後才改標準的風險。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Search log 不需要記錄假精確的 hit count；重要的是資料庫、日期、query、filters 與決策。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這張不是 evidence hierarchy，而是 source depth：不同層級能抽取與驗證的欄位不同。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學生容易把是否相關與研究品質混在一起。這張只處理候選來源的 workflow triage。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第二個深度模組從搜尋轉向 evidence row 的品質控制。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先示範一個不可查證的長句，再拆成三個 atomic claims。每列都可有自己的 source、status 與 review note。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taxonomy 不只是標籤；每個 evidence_kind 都要觸發不同的 downstream action。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提醒學生 sample_n 不是單一真值；它必須和 claim、analysis population 與欄位定義對齊。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這張專門處理常見 overclaim：把 molecular context 或 observational association 改寫成治療結論。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生醫 entity 常有別名與不同粒度。最安全的做法是 raw 與 normalized 並存，並保留 review note。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學生常讓模型把衝突來源平均成一句模糊結論。正確做法是保留差異並升級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found rule 是 agent stop condition 的一部分，也是避免 hallucination 的結構化方法。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補上 desktop agent 處理外部來源時的安全邊界：prompt injection、敏感資料與 scope creep。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bundle 與 exit gate 收束新增內容，讓學生知道完成的定義不是表格看起來漂亮。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收束到下一堂 hands-on lab。線條只用水平線，避免 connector 錯位。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16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0439B0-84F5-A927-9C5E-F1CF21409DE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C47C13-EFF6-F08A-A1E7-8D34407BBF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9050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4000" b="1">
                <a:solidFill>
                  <a:srgbClr val="000000"/>
                </a:solidFill>
              </a:rPr>
              <a:t>Audience Q&amp;A</a:t>
            </a:r>
            <a:endParaRPr kumimoji="1" lang="zh-TW" altLang="en-US" sz="40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91E343-28BA-38D0-0FCC-DEB00668B046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kumimoji="1" lang="en" altLang="zh-TW" sz="2600">
                <a:solidFill>
                  <a:srgbClr val="FFFFFF"/>
                </a:solidFill>
              </a:rPr>
              <a:t>The </a:t>
            </a:r>
            <a:r>
              <a:rPr kumimoji="1" lang="en" altLang="zh-TW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kumimoji="1" lang="en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kumimoji="1"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A487ED0E-8838-7865-6067-3774131A335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不規則四邊形 6">
            <a:extLst>
              <a:ext uri="{FF2B5EF4-FFF2-40B4-BE49-F238E27FC236}">
                <a16:creationId xmlns:a16="http://schemas.microsoft.com/office/drawing/2014/main" id="{9943A0A3-B140-7353-9D7B-95A9696C6F7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kumimoji="1" lang="en" altLang="zh-TW" sz="2600" b="1">
                <a:solidFill>
                  <a:srgbClr val="198038"/>
                </a:solidFill>
              </a:rPr>
              <a:t>Do not edit
</a:t>
            </a:r>
            <a:r>
              <a:rPr kumimoji="1" lang="en" altLang="zh-TW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kumimoji="1"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41CDB9BC-DE65-6AC9-F752-5A2FBFA749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147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-rail-1">
            <a:extLst>
              <a:ext uri="{FF2B5EF4-FFF2-40B4-BE49-F238E27FC236}">
                <a16:creationId xmlns:a16="http://schemas.microsoft.com/office/drawing/2014/main" id="{910E90C8-8E0E-4EFB-A06D-C25EA49398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">
            <a:extLst>
              <a:ext uri="{FF2B5EF4-FFF2-40B4-BE49-F238E27FC236}">
                <a16:creationId xmlns:a16="http://schemas.microsoft.com/office/drawing/2014/main" id="{A657ABA9-D0E9-4235-91C5-8253F64DEC5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1">
            <a:extLst>
              <a:ext uri="{FF2B5EF4-FFF2-40B4-BE49-F238E27FC236}">
                <a16:creationId xmlns:a16="http://schemas.microsoft.com/office/drawing/2014/main" id="{9B848E92-F9AE-49A9-B291-16E41E0E70E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">
            <a:extLst>
              <a:ext uri="{FF2B5EF4-FFF2-40B4-BE49-F238E27FC236}">
                <a16:creationId xmlns:a16="http://schemas.microsoft.com/office/drawing/2014/main" id="{2C340ED7-E302-4FCE-A024-E752D50EDDD7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65246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C75CFE7-9B73-4A54-9F9A-21561A162E3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LESSON 04  |  DESKTOP AGENT WORKFLOW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5F49682-B4B5-4A63-986B-F8342FBEFC5C}"/>
              </a:ext>
            </a:extLst>
          </p:cNvPr>
          <p:cNvSpPr>
            <a:spLocks noGrp="1"/>
          </p:cNvSpPr>
          <p:nvPr/>
        </p:nvSpPr>
        <p:spPr>
          <a:xfrm>
            <a:off x="742950" y="10668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Literature search to evidence table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4B869263-1E67-46F0-8BE4-F70C03BB1003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如何用 agent 查文獻、產生可審核 evidence table，並區分文獻證據與模型推測</a:t>
            </a:r>
          </a:p>
        </p:txBody>
      </p:sp>
      <p:sp>
        <p:nvSpPr>
          <p:cNvPr id="8" name="entry-0">
            <a:extLst>
              <a:ext uri="{FF2B5EF4-FFF2-40B4-BE49-F238E27FC236}">
                <a16:creationId xmlns:a16="http://schemas.microsoft.com/office/drawing/2014/main" id="{C51D0768-37C1-4FCD-8CC5-7D4B308DC2CF}"/>
              </a:ext>
            </a:extLst>
          </p:cNvPr>
          <p:cNvSpPr>
            <a:spLocks noGrp="1"/>
          </p:cNvSpPr>
          <p:nvPr/>
        </p:nvSpPr>
        <p:spPr>
          <a:xfrm>
            <a:off x="1066800" y="39243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9" name="entry-1">
            <a:extLst>
              <a:ext uri="{FF2B5EF4-FFF2-40B4-BE49-F238E27FC236}">
                <a16:creationId xmlns:a16="http://schemas.microsoft.com/office/drawing/2014/main" id="{D9C652E1-E35C-4D69-A7D3-89A665ED0A25}"/>
              </a:ext>
            </a:extLst>
          </p:cNvPr>
          <p:cNvSpPr>
            <a:spLocks noGrp="1"/>
          </p:cNvSpPr>
          <p:nvPr/>
        </p:nvSpPr>
        <p:spPr>
          <a:xfrm>
            <a:off x="3638550" y="39243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source inventory</a:t>
            </a:r>
          </a:p>
        </p:txBody>
      </p:sp>
      <p:sp>
        <p:nvSpPr>
          <p:cNvPr id="10" name="entry-2">
            <a:extLst>
              <a:ext uri="{FF2B5EF4-FFF2-40B4-BE49-F238E27FC236}">
                <a16:creationId xmlns:a16="http://schemas.microsoft.com/office/drawing/2014/main" id="{E1EC4CCB-E2AE-4E2A-A0C0-3853DB65072E}"/>
              </a:ext>
            </a:extLst>
          </p:cNvPr>
          <p:cNvSpPr>
            <a:spLocks noGrp="1"/>
          </p:cNvSpPr>
          <p:nvPr/>
        </p:nvSpPr>
        <p:spPr>
          <a:xfrm>
            <a:off x="6210300" y="39243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11" name="entry-3">
            <a:extLst>
              <a:ext uri="{FF2B5EF4-FFF2-40B4-BE49-F238E27FC236}">
                <a16:creationId xmlns:a16="http://schemas.microsoft.com/office/drawing/2014/main" id="{D9205E0D-9210-4649-809E-1456710F1D27}"/>
              </a:ext>
            </a:extLst>
          </p:cNvPr>
          <p:cNvSpPr>
            <a:spLocks noGrp="1"/>
          </p:cNvSpPr>
          <p:nvPr/>
        </p:nvSpPr>
        <p:spPr>
          <a:xfrm>
            <a:off x="8782050" y="39243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research note</a:t>
            </a:r>
          </a:p>
        </p:txBody>
      </p:sp>
      <p:sp>
        <p:nvSpPr>
          <p:cNvPr id="12" name="note">
            <a:extLst>
              <a:ext uri="{FF2B5EF4-FFF2-40B4-BE49-F238E27FC236}">
                <a16:creationId xmlns:a16="http://schemas.microsoft.com/office/drawing/2014/main" id="{1E6F8940-CB64-4E9A-97ED-49314EAB927B}"/>
              </a:ext>
            </a:extLst>
          </p:cNvPr>
          <p:cNvSpPr>
            <a:spLocks noGrp="1"/>
          </p:cNvSpPr>
          <p:nvPr/>
        </p:nvSpPr>
        <p:spPr>
          <a:xfrm>
            <a:off x="1962150" y="52197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Demo theme: NSCLC precision oncology literature evidence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4BDD0B00-67F7-4E95-830A-B823860F8C4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1/40</a:t>
            </a:r>
          </a:p>
        </p:txBody>
      </p:sp>
    </p:spTree>
    <p:extLst>
      <p:ext uri="{BB962C8B-B14F-4D97-AF65-F5344CB8AC3E}">
        <p14:creationId xmlns:p14="http://schemas.microsoft.com/office/powerpoint/2010/main" val="35297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ccent-rail-2">
            <a:extLst>
              <a:ext uri="{FF2B5EF4-FFF2-40B4-BE49-F238E27FC236}">
                <a16:creationId xmlns:a16="http://schemas.microsoft.com/office/drawing/2014/main" id="{F6F42166-938C-4CFA-B225-6D0BB669DC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">
            <a:extLst>
              <a:ext uri="{FF2B5EF4-FFF2-40B4-BE49-F238E27FC236}">
                <a16:creationId xmlns:a16="http://schemas.microsoft.com/office/drawing/2014/main" id="{DC63C492-0E28-4977-9102-78A190B92F6E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2">
            <a:extLst>
              <a:ext uri="{FF2B5EF4-FFF2-40B4-BE49-F238E27FC236}">
                <a16:creationId xmlns:a16="http://schemas.microsoft.com/office/drawing/2014/main" id="{C757D302-49F4-453D-BD21-F204C5A1032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">
            <a:extLst>
              <a:ext uri="{FF2B5EF4-FFF2-40B4-BE49-F238E27FC236}">
                <a16:creationId xmlns:a16="http://schemas.microsoft.com/office/drawing/2014/main" id="{45183D95-4D88-444E-B8B5-C300E603A3A6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30493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8BF7A8D7-9C7A-42FE-A6DD-8A0EE7DE978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LEARNING JOB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447E883-306C-4354-90B8-38810FD81A9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這堂課不是要得到答案，而是要留下可檢查的查證流程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CE4496B-CB6C-44E6-BBD7-09366990731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2/40</a:t>
            </a:r>
          </a:p>
        </p:txBody>
      </p:sp>
      <p:sp>
        <p:nvSpPr>
          <p:cNvPr id="8" name="panel-0">
            <a:extLst>
              <a:ext uri="{FF2B5EF4-FFF2-40B4-BE49-F238E27FC236}">
                <a16:creationId xmlns:a16="http://schemas.microsoft.com/office/drawing/2014/main" id="{5A1EE1D2-E223-448C-B3A9-91BB5BD363D9}"/>
              </a:ext>
            </a:extLst>
          </p:cNvPr>
          <p:cNvSpPr>
            <a:spLocks noGrp="1"/>
          </p:cNvSpPr>
          <p:nvPr/>
        </p:nvSpPr>
        <p:spPr>
          <a:xfrm>
            <a:off x="1200150" y="2152650"/>
            <a:ext cx="4191000" cy="2647950"/>
          </a:xfrm>
          <a:prstGeom prst="roundRect">
            <a:avLst>
              <a:gd name="adj" fmla="val 2878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-0">
            <a:extLst>
              <a:ext uri="{FF2B5EF4-FFF2-40B4-BE49-F238E27FC236}">
                <a16:creationId xmlns:a16="http://schemas.microsoft.com/office/drawing/2014/main" id="{9E9F130E-1BC2-4CB1-8CBE-73EB99EF57BF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Agent 可以做</a:t>
            </a:r>
          </a:p>
        </p:txBody>
      </p:sp>
      <p:sp>
        <p:nvSpPr>
          <p:cNvPr id="10" name="bullets-0">
            <a:extLst>
              <a:ext uri="{FF2B5EF4-FFF2-40B4-BE49-F238E27FC236}">
                <a16:creationId xmlns:a16="http://schemas.microsoft.com/office/drawing/2014/main" id="{DB7BF21E-E3C1-462F-A2F1-52533CA2085B}"/>
              </a:ext>
            </a:extLst>
          </p:cNvPr>
          <p:cNvSpPr>
            <a:spLocks noGrp="1"/>
          </p:cNvSpPr>
          <p:nvPr/>
        </p:nvSpPr>
        <p:spPr>
          <a:xfrm>
            <a:off x="1943100" y="3276600"/>
            <a:ext cx="2857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拆研究問題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產生 query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整理候選文獻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產出初版 table</a:t>
            </a:r>
          </a:p>
        </p:txBody>
      </p:sp>
      <p:sp>
        <p:nvSpPr>
          <p:cNvPr id="11" name="panel-1">
            <a:extLst>
              <a:ext uri="{FF2B5EF4-FFF2-40B4-BE49-F238E27FC236}">
                <a16:creationId xmlns:a16="http://schemas.microsoft.com/office/drawing/2014/main" id="{BFB11BBA-7E37-4492-9680-BCDE8FB661BE}"/>
              </a:ext>
            </a:extLst>
          </p:cNvPr>
          <p:cNvSpPr>
            <a:spLocks noGrp="1"/>
          </p:cNvSpPr>
          <p:nvPr/>
        </p:nvSpPr>
        <p:spPr>
          <a:xfrm>
            <a:off x="6534150" y="2152650"/>
            <a:ext cx="4191000" cy="2647950"/>
          </a:xfrm>
          <a:prstGeom prst="roundRect">
            <a:avLst>
              <a:gd name="adj" fmla="val 2878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head-1">
            <a:extLst>
              <a:ext uri="{FF2B5EF4-FFF2-40B4-BE49-F238E27FC236}">
                <a16:creationId xmlns:a16="http://schemas.microsoft.com/office/drawing/2014/main" id="{30444D0C-A51A-4709-AA4F-EA6D01886532}"/>
              </a:ext>
            </a:extLst>
          </p:cNvPr>
          <p:cNvSpPr>
            <a:spLocks noGrp="1"/>
          </p:cNvSpPr>
          <p:nvPr/>
        </p:nvSpPr>
        <p:spPr>
          <a:xfrm>
            <a:off x="6858000" y="2495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人必須檢查</a:t>
            </a:r>
          </a:p>
        </p:txBody>
      </p:sp>
      <p:sp>
        <p:nvSpPr>
          <p:cNvPr id="13" name="bullets-1">
            <a:extLst>
              <a:ext uri="{FF2B5EF4-FFF2-40B4-BE49-F238E27FC236}">
                <a16:creationId xmlns:a16="http://schemas.microsoft.com/office/drawing/2014/main" id="{797A7C8D-859B-460F-A6A2-78E20C7946E5}"/>
              </a:ext>
            </a:extLst>
          </p:cNvPr>
          <p:cNvSpPr>
            <a:spLocks noGrp="1"/>
          </p:cNvSpPr>
          <p:nvPr/>
        </p:nvSpPr>
        <p:spPr>
          <a:xfrm>
            <a:off x="7277100" y="3276600"/>
            <a:ext cx="2857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DOI 是否存在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是否支持 claim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 size 是否照抄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推測是否被標記</a:t>
            </a:r>
          </a:p>
        </p:txBody>
      </p:sp>
      <p:sp>
        <p:nvSpPr>
          <p:cNvPr id="14" name="bottom">
            <a:extLst>
              <a:ext uri="{FF2B5EF4-FFF2-40B4-BE49-F238E27FC236}">
                <a16:creationId xmlns:a16="http://schemas.microsoft.com/office/drawing/2014/main" id="{AA537615-52EA-4B65-8498-27E26AFD0328}"/>
              </a:ext>
            </a:extLst>
          </p:cNvPr>
          <p:cNvSpPr>
            <a:spLocks noGrp="1"/>
          </p:cNvSpPr>
          <p:nvPr/>
        </p:nvSpPr>
        <p:spPr>
          <a:xfrm>
            <a:off x="1581150" y="552450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核心標準：任何 biomedical claim 都要能回到來源、欄位和人工 review。</a:t>
            </a:r>
          </a:p>
        </p:txBody>
      </p:sp>
    </p:spTree>
    <p:extLst>
      <p:ext uri="{BB962C8B-B14F-4D97-AF65-F5344CB8AC3E}">
        <p14:creationId xmlns:p14="http://schemas.microsoft.com/office/powerpoint/2010/main" val="18621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ccent-rail-3">
            <a:extLst>
              <a:ext uri="{FF2B5EF4-FFF2-40B4-BE49-F238E27FC236}">
                <a16:creationId xmlns:a16="http://schemas.microsoft.com/office/drawing/2014/main" id="{92B2F371-7992-4551-AE8B-6FBD71F3F6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">
            <a:extLst>
              <a:ext uri="{FF2B5EF4-FFF2-40B4-BE49-F238E27FC236}">
                <a16:creationId xmlns:a16="http://schemas.microsoft.com/office/drawing/2014/main" id="{322D82FE-A1B0-4040-9AD6-EB19B65B371F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3">
            <a:extLst>
              <a:ext uri="{FF2B5EF4-FFF2-40B4-BE49-F238E27FC236}">
                <a16:creationId xmlns:a16="http://schemas.microsoft.com/office/drawing/2014/main" id="{EC21069A-F5F3-4626-94ED-E1E5B9A2D62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">
            <a:extLst>
              <a:ext uri="{FF2B5EF4-FFF2-40B4-BE49-F238E27FC236}">
                <a16:creationId xmlns:a16="http://schemas.microsoft.com/office/drawing/2014/main" id="{374C437D-F9AC-47DA-A411-E9967AC91FE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95739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B84B16D-9ED8-4DC5-B85C-32BFF361561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DEMO QUESTION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D289EB86-CB34-4511-BAA0-20C16DD62B4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問題要小到能查證，也要足夠真實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FA5F493F-9D21-444E-816B-B2341E14628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3/40</a:t>
            </a:r>
          </a:p>
        </p:txBody>
      </p:sp>
      <p:sp>
        <p:nvSpPr>
          <p:cNvPr id="8" name="question">
            <a:extLst>
              <a:ext uri="{FF2B5EF4-FFF2-40B4-BE49-F238E27FC236}">
                <a16:creationId xmlns:a16="http://schemas.microsoft.com/office/drawing/2014/main" id="{DB2877DC-BE95-4215-97CE-6F2A0AEBF11D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0210800" cy="1066800"/>
          </a:xfrm>
          <a:prstGeom prst="roundRect">
            <a:avLst>
              <a:gd name="adj" fmla="val 714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question-text">
            <a:extLst>
              <a:ext uri="{FF2B5EF4-FFF2-40B4-BE49-F238E27FC236}">
                <a16:creationId xmlns:a16="http://schemas.microsoft.com/office/drawing/2014/main" id="{ECD701F0-A71C-443F-B6B8-E21F375A092B}"/>
              </a:ext>
            </a:extLst>
          </p:cNvPr>
          <p:cNvSpPr>
            <a:spLocks noGrp="1"/>
          </p:cNvSpPr>
          <p:nvPr/>
        </p:nvSpPr>
        <p:spPr>
          <a:xfrm>
            <a:off x="1390650" y="21145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在 NSCLC precision oncology 中，EGFR、ALK、TP53 相關 claim 要如何整理成 evidence table？</a:t>
            </a:r>
          </a:p>
        </p:txBody>
      </p:sp>
      <p:sp>
        <p:nvSpPr>
          <p:cNvPr id="10" name="row-head-0">
            <a:extLst>
              <a:ext uri="{FF2B5EF4-FFF2-40B4-BE49-F238E27FC236}">
                <a16:creationId xmlns:a16="http://schemas.microsoft.com/office/drawing/2014/main" id="{05FAAFD4-DF18-4E4C-8389-93A448679098}"/>
              </a:ext>
            </a:extLst>
          </p:cNvPr>
          <p:cNvSpPr>
            <a:spLocks noGrp="1"/>
          </p:cNvSpPr>
          <p:nvPr/>
        </p:nvSpPr>
        <p:spPr>
          <a:xfrm>
            <a:off x="1581150" y="33909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Disease</a:t>
            </a:r>
          </a:p>
        </p:txBody>
      </p:sp>
      <p:sp>
        <p:nvSpPr>
          <p:cNvPr id="11" name="row-copy-0">
            <a:extLst>
              <a:ext uri="{FF2B5EF4-FFF2-40B4-BE49-F238E27FC236}">
                <a16:creationId xmlns:a16="http://schemas.microsoft.com/office/drawing/2014/main" id="{B0535A88-6578-443F-BBDB-6BB5717DB495}"/>
              </a:ext>
            </a:extLst>
          </p:cNvPr>
          <p:cNvSpPr>
            <a:spLocks noGrp="1"/>
          </p:cNvSpPr>
          <p:nvPr/>
        </p:nvSpPr>
        <p:spPr>
          <a:xfrm>
            <a:off x="3429000" y="34671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advanced NSCLC / lung adenocarcinoma</a:t>
            </a:r>
          </a:p>
        </p:txBody>
      </p:sp>
      <p:sp>
        <p:nvSpPr>
          <p:cNvPr id="12" name="row-head-1">
            <a:extLst>
              <a:ext uri="{FF2B5EF4-FFF2-40B4-BE49-F238E27FC236}">
                <a16:creationId xmlns:a16="http://schemas.microsoft.com/office/drawing/2014/main" id="{6CBC4D19-A2A5-4334-9139-5C6919EA6D29}"/>
              </a:ext>
            </a:extLst>
          </p:cNvPr>
          <p:cNvSpPr>
            <a:spLocks noGrp="1"/>
          </p:cNvSpPr>
          <p:nvPr/>
        </p:nvSpPr>
        <p:spPr>
          <a:xfrm>
            <a:off x="1581150" y="39052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Genes</a:t>
            </a:r>
          </a:p>
        </p:txBody>
      </p:sp>
      <p:sp>
        <p:nvSpPr>
          <p:cNvPr id="13" name="row-copy-1">
            <a:extLst>
              <a:ext uri="{FF2B5EF4-FFF2-40B4-BE49-F238E27FC236}">
                <a16:creationId xmlns:a16="http://schemas.microsoft.com/office/drawing/2014/main" id="{C27321D0-6714-4A9C-94E7-BDDBB70DEE6F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EGFR, ALK, TP53</a:t>
            </a:r>
          </a:p>
        </p:txBody>
      </p:sp>
      <p:sp>
        <p:nvSpPr>
          <p:cNvPr id="14" name="row-head-2">
            <a:extLst>
              <a:ext uri="{FF2B5EF4-FFF2-40B4-BE49-F238E27FC236}">
                <a16:creationId xmlns:a16="http://schemas.microsoft.com/office/drawing/2014/main" id="{B28D0D8A-184B-45D7-95D4-F2898142C532}"/>
              </a:ext>
            </a:extLst>
          </p:cNvPr>
          <p:cNvSpPr>
            <a:spLocks noGrp="1"/>
          </p:cNvSpPr>
          <p:nvPr/>
        </p:nvSpPr>
        <p:spPr>
          <a:xfrm>
            <a:off x="1581150" y="44196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Drugs</a:t>
            </a:r>
          </a:p>
        </p:txBody>
      </p:sp>
      <p:sp>
        <p:nvSpPr>
          <p:cNvPr id="15" name="row-copy-2">
            <a:extLst>
              <a:ext uri="{FF2B5EF4-FFF2-40B4-BE49-F238E27FC236}">
                <a16:creationId xmlns:a16="http://schemas.microsoft.com/office/drawing/2014/main" id="{233CD290-5F4A-467A-8680-93DF2CB41998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osimertinib, crizotinib, chemotherapy</a:t>
            </a:r>
          </a:p>
        </p:txBody>
      </p:sp>
      <p:sp>
        <p:nvSpPr>
          <p:cNvPr id="16" name="row-head-3">
            <a:extLst>
              <a:ext uri="{FF2B5EF4-FFF2-40B4-BE49-F238E27FC236}">
                <a16:creationId xmlns:a16="http://schemas.microsoft.com/office/drawing/2014/main" id="{91C5B563-DF47-46D0-ABEF-C05F3057A5F7}"/>
              </a:ext>
            </a:extLst>
          </p:cNvPr>
          <p:cNvSpPr>
            <a:spLocks noGrp="1"/>
          </p:cNvSpPr>
          <p:nvPr/>
        </p:nvSpPr>
        <p:spPr>
          <a:xfrm>
            <a:off x="1581150" y="49339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7" name="row-copy-3">
            <a:extLst>
              <a:ext uri="{FF2B5EF4-FFF2-40B4-BE49-F238E27FC236}">
                <a16:creationId xmlns:a16="http://schemas.microsoft.com/office/drawing/2014/main" id="{5024433C-97A3-4E11-BC2B-C9E7B6324662}"/>
              </a:ext>
            </a:extLst>
          </p:cNvPr>
          <p:cNvSpPr>
            <a:spLocks noGrp="1"/>
          </p:cNvSpPr>
          <p:nvPr/>
        </p:nvSpPr>
        <p:spPr>
          <a:xfrm>
            <a:off x="3429000" y="50101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CSV evidence table + review note</a:t>
            </a:r>
          </a:p>
        </p:txBody>
      </p:sp>
    </p:spTree>
    <p:extLst>
      <p:ext uri="{BB962C8B-B14F-4D97-AF65-F5344CB8AC3E}">
        <p14:creationId xmlns:p14="http://schemas.microsoft.com/office/powerpoint/2010/main" val="143182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4">
            <a:extLst>
              <a:ext uri="{FF2B5EF4-FFF2-40B4-BE49-F238E27FC236}">
                <a16:creationId xmlns:a16="http://schemas.microsoft.com/office/drawing/2014/main" id="{193D7C8D-CE5B-42ED-82C9-3583AC59E5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4">
            <a:extLst>
              <a:ext uri="{FF2B5EF4-FFF2-40B4-BE49-F238E27FC236}">
                <a16:creationId xmlns:a16="http://schemas.microsoft.com/office/drawing/2014/main" id="{79EA45A6-6345-44C3-9891-331101EAC96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4">
            <a:extLst>
              <a:ext uri="{FF2B5EF4-FFF2-40B4-BE49-F238E27FC236}">
                <a16:creationId xmlns:a16="http://schemas.microsoft.com/office/drawing/2014/main" id="{7553A946-35B1-478B-B01A-65BFED32325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4">
            <a:extLst>
              <a:ext uri="{FF2B5EF4-FFF2-40B4-BE49-F238E27FC236}">
                <a16:creationId xmlns:a16="http://schemas.microsoft.com/office/drawing/2014/main" id="{0C66CB11-5277-47CA-B671-8FBDD1BFB1C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A3DDD9B-B8FD-48D7-8601-0724BE8E0AB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TASK DECOMPOSITION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05C4112-F36B-4F3F-AE03-41C2D3C7909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先把研究問題拆成 query 能處理的概念塊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A0D38AB8-88F5-4AE2-BA05-EC3D8AA604A7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4/40</a:t>
            </a:r>
          </a:p>
        </p:txBody>
      </p:sp>
      <p:sp>
        <p:nvSpPr>
          <p:cNvPr id="8" name="block-0">
            <a:extLst>
              <a:ext uri="{FF2B5EF4-FFF2-40B4-BE49-F238E27FC236}">
                <a16:creationId xmlns:a16="http://schemas.microsoft.com/office/drawing/2014/main" id="{64073B87-D3C0-472C-93E5-385973198DD7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343150" cy="2095500"/>
          </a:xfrm>
          <a:prstGeom prst="roundRect">
            <a:avLst>
              <a:gd name="adj" fmla="val 3636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block-head-0">
            <a:extLst>
              <a:ext uri="{FF2B5EF4-FFF2-40B4-BE49-F238E27FC236}">
                <a16:creationId xmlns:a16="http://schemas.microsoft.com/office/drawing/2014/main" id="{D043380A-C111-4DAD-BAB1-545E46EA607F}"/>
              </a:ext>
            </a:extLst>
          </p:cNvPr>
          <p:cNvSpPr>
            <a:spLocks noGrp="1"/>
          </p:cNvSpPr>
          <p:nvPr/>
        </p:nvSpPr>
        <p:spPr>
          <a:xfrm>
            <a:off x="1162050" y="2514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Disease</a:t>
            </a:r>
          </a:p>
        </p:txBody>
      </p:sp>
      <p:sp>
        <p:nvSpPr>
          <p:cNvPr id="10" name="block-copy-0">
            <a:extLst>
              <a:ext uri="{FF2B5EF4-FFF2-40B4-BE49-F238E27FC236}">
                <a16:creationId xmlns:a16="http://schemas.microsoft.com/office/drawing/2014/main" id="{CB19BE5D-B488-4398-A995-A8CAB283B211}"/>
              </a:ext>
            </a:extLst>
          </p:cNvPr>
          <p:cNvSpPr>
            <a:spLocks noGrp="1"/>
          </p:cNvSpPr>
          <p:nvPr/>
        </p:nvSpPr>
        <p:spPr>
          <a:xfrm>
            <a:off x="1200150" y="3143250"/>
            <a:ext cx="1676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NSCLC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lung adenocarcinoma</a:t>
            </a:r>
          </a:p>
        </p:txBody>
      </p:sp>
      <p:sp>
        <p:nvSpPr>
          <p:cNvPr id="11" name="block-1">
            <a:extLst>
              <a:ext uri="{FF2B5EF4-FFF2-40B4-BE49-F238E27FC236}">
                <a16:creationId xmlns:a16="http://schemas.microsoft.com/office/drawing/2014/main" id="{A792EEA3-53A2-447C-9E81-3A8ADB7AF041}"/>
              </a:ext>
            </a:extLst>
          </p:cNvPr>
          <p:cNvSpPr>
            <a:spLocks noGrp="1"/>
          </p:cNvSpPr>
          <p:nvPr/>
        </p:nvSpPr>
        <p:spPr>
          <a:xfrm>
            <a:off x="3714750" y="2209800"/>
            <a:ext cx="2343150" cy="2095500"/>
          </a:xfrm>
          <a:prstGeom prst="roundRect">
            <a:avLst>
              <a:gd name="adj" fmla="val 3636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block-head-1">
            <a:extLst>
              <a:ext uri="{FF2B5EF4-FFF2-40B4-BE49-F238E27FC236}">
                <a16:creationId xmlns:a16="http://schemas.microsoft.com/office/drawing/2014/main" id="{DCB6E1B1-8410-4472-9156-F2F0992E2B65}"/>
              </a:ext>
            </a:extLst>
          </p:cNvPr>
          <p:cNvSpPr>
            <a:spLocks noGrp="1"/>
          </p:cNvSpPr>
          <p:nvPr/>
        </p:nvSpPr>
        <p:spPr>
          <a:xfrm>
            <a:off x="3981450" y="2514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13" name="block-copy-1">
            <a:extLst>
              <a:ext uri="{FF2B5EF4-FFF2-40B4-BE49-F238E27FC236}">
                <a16:creationId xmlns:a16="http://schemas.microsoft.com/office/drawing/2014/main" id="{27B6EE07-778B-4426-9BFA-A5ACC98F4B2E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1676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EGFR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ALK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14" name="block-2">
            <a:extLst>
              <a:ext uri="{FF2B5EF4-FFF2-40B4-BE49-F238E27FC236}">
                <a16:creationId xmlns:a16="http://schemas.microsoft.com/office/drawing/2014/main" id="{F376A96C-6A64-45FD-9934-22988D4C620E}"/>
              </a:ext>
            </a:extLst>
          </p:cNvPr>
          <p:cNvSpPr>
            <a:spLocks noGrp="1"/>
          </p:cNvSpPr>
          <p:nvPr/>
        </p:nvSpPr>
        <p:spPr>
          <a:xfrm>
            <a:off x="6534150" y="2209800"/>
            <a:ext cx="2343150" cy="2095500"/>
          </a:xfrm>
          <a:prstGeom prst="roundRect">
            <a:avLst>
              <a:gd name="adj" fmla="val 3636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block-head-2">
            <a:extLst>
              <a:ext uri="{FF2B5EF4-FFF2-40B4-BE49-F238E27FC236}">
                <a16:creationId xmlns:a16="http://schemas.microsoft.com/office/drawing/2014/main" id="{D48D7FCB-0E64-4F8C-934C-051939515D73}"/>
              </a:ext>
            </a:extLst>
          </p:cNvPr>
          <p:cNvSpPr>
            <a:spLocks noGrp="1"/>
          </p:cNvSpPr>
          <p:nvPr/>
        </p:nvSpPr>
        <p:spPr>
          <a:xfrm>
            <a:off x="6800850" y="2514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16" name="block-copy-2">
            <a:extLst>
              <a:ext uri="{FF2B5EF4-FFF2-40B4-BE49-F238E27FC236}">
                <a16:creationId xmlns:a16="http://schemas.microsoft.com/office/drawing/2014/main" id="{0666A1D4-851D-4A43-A156-2DBDC8A1763D}"/>
              </a:ext>
            </a:extLst>
          </p:cNvPr>
          <p:cNvSpPr>
            <a:spLocks noGrp="1"/>
          </p:cNvSpPr>
          <p:nvPr/>
        </p:nvSpPr>
        <p:spPr>
          <a:xfrm>
            <a:off x="6838950" y="3143250"/>
            <a:ext cx="1676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osimertinib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crizotinib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EGFR-TKI</a:t>
            </a:r>
          </a:p>
        </p:txBody>
      </p:sp>
      <p:sp>
        <p:nvSpPr>
          <p:cNvPr id="17" name="block-3">
            <a:extLst>
              <a:ext uri="{FF2B5EF4-FFF2-40B4-BE49-F238E27FC236}">
                <a16:creationId xmlns:a16="http://schemas.microsoft.com/office/drawing/2014/main" id="{9BB32D0E-AB18-404B-83CB-E384237706DF}"/>
              </a:ext>
            </a:extLst>
          </p:cNvPr>
          <p:cNvSpPr>
            <a:spLocks noGrp="1"/>
          </p:cNvSpPr>
          <p:nvPr/>
        </p:nvSpPr>
        <p:spPr>
          <a:xfrm>
            <a:off x="9353550" y="2209800"/>
            <a:ext cx="2533650" cy="2095500"/>
          </a:xfrm>
          <a:prstGeom prst="roundRect">
            <a:avLst>
              <a:gd name="adj" fmla="val 3636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block-head-3">
            <a:extLst>
              <a:ext uri="{FF2B5EF4-FFF2-40B4-BE49-F238E27FC236}">
                <a16:creationId xmlns:a16="http://schemas.microsoft.com/office/drawing/2014/main" id="{45A99D97-DD7C-4A53-8BE0-D130ADB9F332}"/>
              </a:ext>
            </a:extLst>
          </p:cNvPr>
          <p:cNvSpPr>
            <a:spLocks noGrp="1"/>
          </p:cNvSpPr>
          <p:nvPr/>
        </p:nvSpPr>
        <p:spPr>
          <a:xfrm>
            <a:off x="9620250" y="2514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block-copy-3">
            <a:extLst>
              <a:ext uri="{FF2B5EF4-FFF2-40B4-BE49-F238E27FC236}">
                <a16:creationId xmlns:a16="http://schemas.microsoft.com/office/drawing/2014/main" id="{161BF518-3ACD-43B5-90E7-3C346C46218F}"/>
              </a:ext>
            </a:extLst>
          </p:cNvPr>
          <p:cNvSpPr>
            <a:spLocks noGrp="1"/>
          </p:cNvSpPr>
          <p:nvPr/>
        </p:nvSpPr>
        <p:spPr>
          <a:xfrm>
            <a:off x="9658349" y="3143250"/>
            <a:ext cx="205988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trial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molecular profiling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review needed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7A1E7F98-2105-48BE-B44F-252B095B5E9D}"/>
              </a:ext>
            </a:extLst>
          </p:cNvPr>
          <p:cNvSpPr>
            <a:spLocks noGrp="1"/>
          </p:cNvSpPr>
          <p:nvPr/>
        </p:nvSpPr>
        <p:spPr>
          <a:xfrm>
            <a:off x="1809750" y="5391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這一步讓 agent 產生 search strategy，而不是直接產生結論。</a:t>
            </a:r>
          </a:p>
        </p:txBody>
      </p:sp>
    </p:spTree>
    <p:extLst>
      <p:ext uri="{BB962C8B-B14F-4D97-AF65-F5344CB8AC3E}">
        <p14:creationId xmlns:p14="http://schemas.microsoft.com/office/powerpoint/2010/main" val="11694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ccent-rail-5">
            <a:extLst>
              <a:ext uri="{FF2B5EF4-FFF2-40B4-BE49-F238E27FC236}">
                <a16:creationId xmlns:a16="http://schemas.microsoft.com/office/drawing/2014/main" id="{AAB9624F-C808-4612-9404-13ED084D9E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5">
            <a:extLst>
              <a:ext uri="{FF2B5EF4-FFF2-40B4-BE49-F238E27FC236}">
                <a16:creationId xmlns:a16="http://schemas.microsoft.com/office/drawing/2014/main" id="{68EC65D4-E17A-4F28-BF77-79CF66B36DB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5">
            <a:extLst>
              <a:ext uri="{FF2B5EF4-FFF2-40B4-BE49-F238E27FC236}">
                <a16:creationId xmlns:a16="http://schemas.microsoft.com/office/drawing/2014/main" id="{11B1B8EE-8163-45B6-947B-88E53C656138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5">
            <a:extLst>
              <a:ext uri="{FF2B5EF4-FFF2-40B4-BE49-F238E27FC236}">
                <a16:creationId xmlns:a16="http://schemas.microsoft.com/office/drawing/2014/main" id="{F75F8C4F-AF38-4123-963E-653832A9EFEA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326231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D6AAF679-494F-4455-AE61-C3A00D75DCC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DEMO FILES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DDFAC0EE-789D-4C80-AD01-357CE3360BB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會留下七個可以檢查的檔案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3CB89E1-DD4A-46BE-910B-29EDB55E699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5/40</a:t>
            </a:r>
          </a:p>
        </p:txBody>
      </p:sp>
      <p:sp>
        <p:nvSpPr>
          <p:cNvPr id="8" name="file-0">
            <a:extLst>
              <a:ext uri="{FF2B5EF4-FFF2-40B4-BE49-F238E27FC236}">
                <a16:creationId xmlns:a16="http://schemas.microsoft.com/office/drawing/2014/main" id="{59891BB5-97FC-4160-BDC2-1A7C60587598}"/>
              </a:ext>
            </a:extLst>
          </p:cNvPr>
          <p:cNvSpPr>
            <a:spLocks noGrp="1"/>
          </p:cNvSpPr>
          <p:nvPr/>
        </p:nvSpPr>
        <p:spPr>
          <a:xfrm>
            <a:off x="1257300" y="15811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ile-name-0">
            <a:extLst>
              <a:ext uri="{FF2B5EF4-FFF2-40B4-BE49-F238E27FC236}">
                <a16:creationId xmlns:a16="http://schemas.microsoft.com/office/drawing/2014/main" id="{E4093165-C1CC-4797-999F-1CCDC2A70F37}"/>
              </a:ext>
            </a:extLst>
          </p:cNvPr>
          <p:cNvSpPr>
            <a:spLocks noGrp="1"/>
          </p:cNvSpPr>
          <p:nvPr/>
        </p:nvSpPr>
        <p:spPr>
          <a:xfrm>
            <a:off x="1466850" y="1676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task_spec.md</a:t>
            </a:r>
          </a:p>
        </p:txBody>
      </p:sp>
      <p:sp>
        <p:nvSpPr>
          <p:cNvPr id="10" name="file-desc-0">
            <a:extLst>
              <a:ext uri="{FF2B5EF4-FFF2-40B4-BE49-F238E27FC236}">
                <a16:creationId xmlns:a16="http://schemas.microsoft.com/office/drawing/2014/main" id="{E6559D20-0839-4673-ADF5-D4BB3D6AF468}"/>
              </a:ext>
            </a:extLst>
          </p:cNvPr>
          <p:cNvSpPr>
            <a:spLocks noGrp="1"/>
          </p:cNvSpPr>
          <p:nvPr/>
        </p:nvSpPr>
        <p:spPr>
          <a:xfrm>
            <a:off x="6115050" y="16764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研究問題、欄位、規則</a:t>
            </a:r>
          </a:p>
        </p:txBody>
      </p:sp>
      <p:sp>
        <p:nvSpPr>
          <p:cNvPr id="11" name="file-1">
            <a:extLst>
              <a:ext uri="{FF2B5EF4-FFF2-40B4-BE49-F238E27FC236}">
                <a16:creationId xmlns:a16="http://schemas.microsoft.com/office/drawing/2014/main" id="{D601D6ED-D834-4F1E-A561-EEEAC48C2118}"/>
              </a:ext>
            </a:extLst>
          </p:cNvPr>
          <p:cNvSpPr>
            <a:spLocks noGrp="1"/>
          </p:cNvSpPr>
          <p:nvPr/>
        </p:nvSpPr>
        <p:spPr>
          <a:xfrm>
            <a:off x="1257300" y="21145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ile-name-1">
            <a:extLst>
              <a:ext uri="{FF2B5EF4-FFF2-40B4-BE49-F238E27FC236}">
                <a16:creationId xmlns:a16="http://schemas.microsoft.com/office/drawing/2014/main" id="{E40D832C-C9F9-4B81-8CCF-C3AD531A6E6E}"/>
              </a:ext>
            </a:extLst>
          </p:cNvPr>
          <p:cNvSpPr>
            <a:spLocks noGrp="1"/>
          </p:cNvSpPr>
          <p:nvPr/>
        </p:nvSpPr>
        <p:spPr>
          <a:xfrm>
            <a:off x="1466850" y="2209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prompts.md</a:t>
            </a:r>
          </a:p>
        </p:txBody>
      </p:sp>
      <p:sp>
        <p:nvSpPr>
          <p:cNvPr id="13" name="file-desc-1">
            <a:extLst>
              <a:ext uri="{FF2B5EF4-FFF2-40B4-BE49-F238E27FC236}">
                <a16:creationId xmlns:a16="http://schemas.microsoft.com/office/drawing/2014/main" id="{A275E909-592C-4203-BE7F-3F3155DB245A}"/>
              </a:ext>
            </a:extLst>
          </p:cNvPr>
          <p:cNvSpPr>
            <a:spLocks noGrp="1"/>
          </p:cNvSpPr>
          <p:nvPr/>
        </p:nvSpPr>
        <p:spPr>
          <a:xfrm>
            <a:off x="6115050" y="22098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設計過的 agent prompts</a:t>
            </a:r>
          </a:p>
        </p:txBody>
      </p:sp>
      <p:sp>
        <p:nvSpPr>
          <p:cNvPr id="14" name="file-2">
            <a:extLst>
              <a:ext uri="{FF2B5EF4-FFF2-40B4-BE49-F238E27FC236}">
                <a16:creationId xmlns:a16="http://schemas.microsoft.com/office/drawing/2014/main" id="{12FC8FD7-E001-4948-B2DD-2ADA35DAEB6C}"/>
              </a:ext>
            </a:extLst>
          </p:cNvPr>
          <p:cNvSpPr>
            <a:spLocks noGrp="1"/>
          </p:cNvSpPr>
          <p:nvPr/>
        </p:nvSpPr>
        <p:spPr>
          <a:xfrm>
            <a:off x="1257300" y="26479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file-name-2">
            <a:extLst>
              <a:ext uri="{FF2B5EF4-FFF2-40B4-BE49-F238E27FC236}">
                <a16:creationId xmlns:a16="http://schemas.microsoft.com/office/drawing/2014/main" id="{A4E4715E-7429-49BD-AB2A-D251B2B0A563}"/>
              </a:ext>
            </a:extLst>
          </p:cNvPr>
          <p:cNvSpPr>
            <a:spLocks noGrp="1"/>
          </p:cNvSpPr>
          <p:nvPr/>
        </p:nvSpPr>
        <p:spPr>
          <a:xfrm>
            <a:off x="1466850" y="27432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query_log.demo.md</a:t>
            </a:r>
          </a:p>
        </p:txBody>
      </p:sp>
      <p:sp>
        <p:nvSpPr>
          <p:cNvPr id="16" name="file-desc-2">
            <a:extLst>
              <a:ext uri="{FF2B5EF4-FFF2-40B4-BE49-F238E27FC236}">
                <a16:creationId xmlns:a16="http://schemas.microsoft.com/office/drawing/2014/main" id="{48F30910-FDC8-4F47-9839-B23EBA195285}"/>
              </a:ext>
            </a:extLst>
          </p:cNvPr>
          <p:cNvSpPr>
            <a:spLocks noGrp="1"/>
          </p:cNvSpPr>
          <p:nvPr/>
        </p:nvSpPr>
        <p:spPr>
          <a:xfrm>
            <a:off x="6115050" y="27432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query ladder、排除條件、停止規則</a:t>
            </a:r>
          </a:p>
        </p:txBody>
      </p:sp>
      <p:sp>
        <p:nvSpPr>
          <p:cNvPr id="17" name="file-3">
            <a:extLst>
              <a:ext uri="{FF2B5EF4-FFF2-40B4-BE49-F238E27FC236}">
                <a16:creationId xmlns:a16="http://schemas.microsoft.com/office/drawing/2014/main" id="{2DE2DCC3-BE67-4334-8B6F-9E51C6F34BCC}"/>
              </a:ext>
            </a:extLst>
          </p:cNvPr>
          <p:cNvSpPr>
            <a:spLocks noGrp="1"/>
          </p:cNvSpPr>
          <p:nvPr/>
        </p:nvSpPr>
        <p:spPr>
          <a:xfrm>
            <a:off x="1257300" y="31813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file-name-3">
            <a:extLst>
              <a:ext uri="{FF2B5EF4-FFF2-40B4-BE49-F238E27FC236}">
                <a16:creationId xmlns:a16="http://schemas.microsoft.com/office/drawing/2014/main" id="{567900D0-9A9B-4E40-8B89-47B18AD1E81E}"/>
              </a:ext>
            </a:extLst>
          </p:cNvPr>
          <p:cNvSpPr>
            <a:spLocks noGrp="1"/>
          </p:cNvSpPr>
          <p:nvPr/>
        </p:nvSpPr>
        <p:spPr>
          <a:xfrm>
            <a:off x="1466850" y="3276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source_inventory.csv</a:t>
            </a:r>
          </a:p>
        </p:txBody>
      </p:sp>
      <p:sp>
        <p:nvSpPr>
          <p:cNvPr id="19" name="file-desc-3">
            <a:extLst>
              <a:ext uri="{FF2B5EF4-FFF2-40B4-BE49-F238E27FC236}">
                <a16:creationId xmlns:a16="http://schemas.microsoft.com/office/drawing/2014/main" id="{3D8079AE-8FB7-4D16-A20B-09E0183C6317}"/>
              </a:ext>
            </a:extLst>
          </p:cNvPr>
          <p:cNvSpPr>
            <a:spLocks noGrp="1"/>
          </p:cNvSpPr>
          <p:nvPr/>
        </p:nvSpPr>
        <p:spPr>
          <a:xfrm>
            <a:off x="6115050" y="32766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 / DOI / title / n</a:t>
            </a:r>
          </a:p>
        </p:txBody>
      </p:sp>
      <p:sp>
        <p:nvSpPr>
          <p:cNvPr id="20" name="file-4">
            <a:extLst>
              <a:ext uri="{FF2B5EF4-FFF2-40B4-BE49-F238E27FC236}">
                <a16:creationId xmlns:a16="http://schemas.microsoft.com/office/drawing/2014/main" id="{67BEAEEF-058B-4A68-B83F-395A270E446C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file-name-4">
            <a:extLst>
              <a:ext uri="{FF2B5EF4-FFF2-40B4-BE49-F238E27FC236}">
                <a16:creationId xmlns:a16="http://schemas.microsoft.com/office/drawing/2014/main" id="{26DC371F-9A72-487C-8206-DC6D3E8F47B4}"/>
              </a:ext>
            </a:extLst>
          </p:cNvPr>
          <p:cNvSpPr>
            <a:spLocks noGrp="1"/>
          </p:cNvSpPr>
          <p:nvPr/>
        </p:nvSpPr>
        <p:spPr>
          <a:xfrm>
            <a:off x="1466850" y="3810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evidence_table.demo.csv</a:t>
            </a:r>
          </a:p>
        </p:txBody>
      </p:sp>
      <p:sp>
        <p:nvSpPr>
          <p:cNvPr id="22" name="file-desc-4">
            <a:extLst>
              <a:ext uri="{FF2B5EF4-FFF2-40B4-BE49-F238E27FC236}">
                <a16:creationId xmlns:a16="http://schemas.microsoft.com/office/drawing/2014/main" id="{4844AE97-281B-4A7E-A588-06C7A59F8FED}"/>
              </a:ext>
            </a:extLst>
          </p:cNvPr>
          <p:cNvSpPr>
            <a:spLocks noGrp="1"/>
          </p:cNvSpPr>
          <p:nvPr/>
        </p:nvSpPr>
        <p:spPr>
          <a:xfrm>
            <a:off x="6115050" y="38100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可審核 evidence rows</a:t>
            </a:r>
          </a:p>
        </p:txBody>
      </p:sp>
      <p:sp>
        <p:nvSpPr>
          <p:cNvPr id="23" name="file-5">
            <a:extLst>
              <a:ext uri="{FF2B5EF4-FFF2-40B4-BE49-F238E27FC236}">
                <a16:creationId xmlns:a16="http://schemas.microsoft.com/office/drawing/2014/main" id="{F44DB8D2-A4F7-4A99-86A6-B7B114308F06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file-name-5">
            <a:extLst>
              <a:ext uri="{FF2B5EF4-FFF2-40B4-BE49-F238E27FC236}">
                <a16:creationId xmlns:a16="http://schemas.microsoft.com/office/drawing/2014/main" id="{8B7B924C-9FBF-43CF-AD70-042841D79512}"/>
              </a:ext>
            </a:extLst>
          </p:cNvPr>
          <p:cNvSpPr>
            <a:spLocks noGrp="1"/>
          </p:cNvSpPr>
          <p:nvPr/>
        </p:nvSpPr>
        <p:spPr>
          <a:xfrm>
            <a:off x="1466850" y="4343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evidence_review.demo.md</a:t>
            </a:r>
          </a:p>
        </p:txBody>
      </p:sp>
      <p:sp>
        <p:nvSpPr>
          <p:cNvPr id="25" name="file-desc-5">
            <a:extLst>
              <a:ext uri="{FF2B5EF4-FFF2-40B4-BE49-F238E27FC236}">
                <a16:creationId xmlns:a16="http://schemas.microsoft.com/office/drawing/2014/main" id="{25B5AA7F-55CD-4D3F-8F94-5E4E013813F6}"/>
              </a:ext>
            </a:extLst>
          </p:cNvPr>
          <p:cNvSpPr>
            <a:spLocks noGrp="1"/>
          </p:cNvSpPr>
          <p:nvPr/>
        </p:nvSpPr>
        <p:spPr>
          <a:xfrm>
            <a:off x="6115050" y="43434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逐列查證與修正決策</a:t>
            </a:r>
          </a:p>
        </p:txBody>
      </p:sp>
      <p:sp>
        <p:nvSpPr>
          <p:cNvPr id="26" name="file-6">
            <a:extLst>
              <a:ext uri="{FF2B5EF4-FFF2-40B4-BE49-F238E27FC236}">
                <a16:creationId xmlns:a16="http://schemas.microsoft.com/office/drawing/2014/main" id="{A468E74F-AA79-4BC6-A186-F7058EC8E52D}"/>
              </a:ext>
            </a:extLst>
          </p:cNvPr>
          <p:cNvSpPr>
            <a:spLocks noGrp="1"/>
          </p:cNvSpPr>
          <p:nvPr/>
        </p:nvSpPr>
        <p:spPr>
          <a:xfrm>
            <a:off x="1257300" y="4781550"/>
            <a:ext cx="421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file-name-6">
            <a:extLst>
              <a:ext uri="{FF2B5EF4-FFF2-40B4-BE49-F238E27FC236}">
                <a16:creationId xmlns:a16="http://schemas.microsoft.com/office/drawing/2014/main" id="{764460DF-0F21-4B10-839B-D1E099E7C05E}"/>
              </a:ext>
            </a:extLst>
          </p:cNvPr>
          <p:cNvSpPr>
            <a:spLocks noGrp="1"/>
          </p:cNvSpPr>
          <p:nvPr/>
        </p:nvSpPr>
        <p:spPr>
          <a:xfrm>
            <a:off x="1466850" y="4876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research_note.demo.md</a:t>
            </a:r>
          </a:p>
        </p:txBody>
      </p:sp>
      <p:sp>
        <p:nvSpPr>
          <p:cNvPr id="28" name="file-desc-6">
            <a:extLst>
              <a:ext uri="{FF2B5EF4-FFF2-40B4-BE49-F238E27FC236}">
                <a16:creationId xmlns:a16="http://schemas.microsoft.com/office/drawing/2014/main" id="{097598A3-754D-4629-993D-20E51FFB4A3F}"/>
              </a:ext>
            </a:extLst>
          </p:cNvPr>
          <p:cNvSpPr>
            <a:spLocks noGrp="1"/>
          </p:cNvSpPr>
          <p:nvPr/>
        </p:nvSpPr>
        <p:spPr>
          <a:xfrm>
            <a:off x="6115050" y="48768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摘要、限制、下一步</a:t>
            </a:r>
          </a:p>
        </p:txBody>
      </p:sp>
      <p:sp>
        <p:nvSpPr>
          <p:cNvPr id="29" name="path">
            <a:extLst>
              <a:ext uri="{FF2B5EF4-FFF2-40B4-BE49-F238E27FC236}">
                <a16:creationId xmlns:a16="http://schemas.microsoft.com/office/drawing/2014/main" id="{EB604D5B-9089-4606-A8A2-A285769A7217}"/>
              </a:ext>
            </a:extLst>
          </p:cNvPr>
          <p:cNvSpPr>
            <a:spLocks noGrp="1"/>
          </p:cNvSpPr>
          <p:nvPr/>
        </p:nvSpPr>
        <p:spPr>
          <a:xfrm>
            <a:off x="2476500" y="55626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demos/lesson-04-literature-evidence-workflow/</a:t>
            </a:r>
          </a:p>
        </p:txBody>
      </p:sp>
    </p:spTree>
    <p:extLst>
      <p:ext uri="{BB962C8B-B14F-4D97-AF65-F5344CB8AC3E}">
        <p14:creationId xmlns:p14="http://schemas.microsoft.com/office/powerpoint/2010/main" val="178362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-rail-6">
            <a:extLst>
              <a:ext uri="{FF2B5EF4-FFF2-40B4-BE49-F238E27FC236}">
                <a16:creationId xmlns:a16="http://schemas.microsoft.com/office/drawing/2014/main" id="{FB22D280-788A-4319-AA53-A38DB0F8ED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6">
            <a:extLst>
              <a:ext uri="{FF2B5EF4-FFF2-40B4-BE49-F238E27FC236}">
                <a16:creationId xmlns:a16="http://schemas.microsoft.com/office/drawing/2014/main" id="{1A91AA4B-A6AC-4C48-8365-3D8DE0909157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6">
            <a:extLst>
              <a:ext uri="{FF2B5EF4-FFF2-40B4-BE49-F238E27FC236}">
                <a16:creationId xmlns:a16="http://schemas.microsoft.com/office/drawing/2014/main" id="{E62F2109-8E96-4AB9-BA57-2191DBB8B88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6">
            <a:extLst>
              <a:ext uri="{FF2B5EF4-FFF2-40B4-BE49-F238E27FC236}">
                <a16:creationId xmlns:a16="http://schemas.microsoft.com/office/drawing/2014/main" id="{7499E775-4791-480C-A0CB-E5116CCC17B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391478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7C0F6CD5-4ADA-46D3-B7F4-ABE98E5546B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641199C-CFFF-4912-8023-0C04E8E3159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workflow 要把搜尋、整理、查證和筆記分開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31615C9-FB5E-4C86-8BCB-FE96B32C234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6/40</a:t>
            </a:r>
          </a:p>
        </p:txBody>
      </p:sp>
      <p:sp>
        <p:nvSpPr>
          <p:cNvPr id="8" name="step-0">
            <a:extLst>
              <a:ext uri="{FF2B5EF4-FFF2-40B4-BE49-F238E27FC236}">
                <a16:creationId xmlns:a16="http://schemas.microsoft.com/office/drawing/2014/main" id="{5AC8CE08-11AE-4781-A294-6877C44958DC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flow-line-1">
            <a:extLst>
              <a:ext uri="{FF2B5EF4-FFF2-40B4-BE49-F238E27FC236}">
                <a16:creationId xmlns:a16="http://schemas.microsoft.com/office/drawing/2014/main" id="{112C3878-079F-4338-A1F5-AD3F1E163D5E}"/>
              </a:ext>
            </a:extLst>
          </p:cNvPr>
          <p:cNvSpPr>
            <a:spLocks noGrp="1"/>
          </p:cNvSpPr>
          <p:nvPr/>
        </p:nvSpPr>
        <p:spPr>
          <a:xfrm>
            <a:off x="2076450" y="3429000"/>
            <a:ext cx="49530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1">
            <a:extLst>
              <a:ext uri="{FF2B5EF4-FFF2-40B4-BE49-F238E27FC236}">
                <a16:creationId xmlns:a16="http://schemas.microsoft.com/office/drawing/2014/main" id="{D898C99D-BC68-4766-9657-9DECB48DDEA1}"/>
              </a:ext>
            </a:extLst>
          </p:cNvPr>
          <p:cNvSpPr>
            <a:spLocks noGrp="1"/>
          </p:cNvSpPr>
          <p:nvPr/>
        </p:nvSpPr>
        <p:spPr>
          <a:xfrm>
            <a:off x="257175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1" name="flow-line-2">
            <a:extLst>
              <a:ext uri="{FF2B5EF4-FFF2-40B4-BE49-F238E27FC236}">
                <a16:creationId xmlns:a16="http://schemas.microsoft.com/office/drawing/2014/main" id="{6BD977A3-DDC0-40C8-8937-40899D69A810}"/>
              </a:ext>
            </a:extLst>
          </p:cNvPr>
          <p:cNvSpPr>
            <a:spLocks noGrp="1"/>
          </p:cNvSpPr>
          <p:nvPr/>
        </p:nvSpPr>
        <p:spPr>
          <a:xfrm>
            <a:off x="3886200" y="3429000"/>
            <a:ext cx="49530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tep-2">
            <a:extLst>
              <a:ext uri="{FF2B5EF4-FFF2-40B4-BE49-F238E27FC236}">
                <a16:creationId xmlns:a16="http://schemas.microsoft.com/office/drawing/2014/main" id="{7ACA376B-CE76-4850-AC0A-1C069B6D189C}"/>
              </a:ext>
            </a:extLst>
          </p:cNvPr>
          <p:cNvSpPr>
            <a:spLocks noGrp="1"/>
          </p:cNvSpPr>
          <p:nvPr/>
        </p:nvSpPr>
        <p:spPr>
          <a:xfrm>
            <a:off x="438150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3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3" name="flow-line-3">
            <a:extLst>
              <a:ext uri="{FF2B5EF4-FFF2-40B4-BE49-F238E27FC236}">
                <a16:creationId xmlns:a16="http://schemas.microsoft.com/office/drawing/2014/main" id="{1C413A83-62B7-4EDF-8687-557745F08034}"/>
              </a:ext>
            </a:extLst>
          </p:cNvPr>
          <p:cNvSpPr>
            <a:spLocks noGrp="1"/>
          </p:cNvSpPr>
          <p:nvPr/>
        </p:nvSpPr>
        <p:spPr>
          <a:xfrm>
            <a:off x="5695950" y="3429000"/>
            <a:ext cx="49530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3">
            <a:extLst>
              <a:ext uri="{FF2B5EF4-FFF2-40B4-BE49-F238E27FC236}">
                <a16:creationId xmlns:a16="http://schemas.microsoft.com/office/drawing/2014/main" id="{7FAFCA82-76B5-4255-8148-D7F73DED1813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4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5" name="flow-line-4">
            <a:extLst>
              <a:ext uri="{FF2B5EF4-FFF2-40B4-BE49-F238E27FC236}">
                <a16:creationId xmlns:a16="http://schemas.microsoft.com/office/drawing/2014/main" id="{10B4D9A6-8815-4F61-898C-8F3E505A17E4}"/>
              </a:ext>
            </a:extLst>
          </p:cNvPr>
          <p:cNvSpPr>
            <a:spLocks noGrp="1"/>
          </p:cNvSpPr>
          <p:nvPr/>
        </p:nvSpPr>
        <p:spPr>
          <a:xfrm>
            <a:off x="7505700" y="3429000"/>
            <a:ext cx="49530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tep-4">
            <a:extLst>
              <a:ext uri="{FF2B5EF4-FFF2-40B4-BE49-F238E27FC236}">
                <a16:creationId xmlns:a16="http://schemas.microsoft.com/office/drawing/2014/main" id="{B84613CD-B5BD-4504-8AF4-21EA18FC5203}"/>
              </a:ext>
            </a:extLst>
          </p:cNvPr>
          <p:cNvSpPr>
            <a:spLocks noGrp="1"/>
          </p:cNvSpPr>
          <p:nvPr/>
        </p:nvSpPr>
        <p:spPr>
          <a:xfrm>
            <a:off x="800100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5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Human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7" name="flow-line-5">
            <a:extLst>
              <a:ext uri="{FF2B5EF4-FFF2-40B4-BE49-F238E27FC236}">
                <a16:creationId xmlns:a16="http://schemas.microsoft.com/office/drawing/2014/main" id="{82E4E1AA-0522-4DE3-BAEE-3DBD6D2A5C97}"/>
              </a:ext>
            </a:extLst>
          </p:cNvPr>
          <p:cNvSpPr>
            <a:spLocks noGrp="1"/>
          </p:cNvSpPr>
          <p:nvPr/>
        </p:nvSpPr>
        <p:spPr>
          <a:xfrm>
            <a:off x="9315450" y="3429000"/>
            <a:ext cx="49530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tep-5">
            <a:extLst>
              <a:ext uri="{FF2B5EF4-FFF2-40B4-BE49-F238E27FC236}">
                <a16:creationId xmlns:a16="http://schemas.microsoft.com/office/drawing/2014/main" id="{555B1400-5AD5-4A8D-8453-45A1D1C5ACC6}"/>
              </a:ext>
            </a:extLst>
          </p:cNvPr>
          <p:cNvSpPr>
            <a:spLocks noGrp="1"/>
          </p:cNvSpPr>
          <p:nvPr/>
        </p:nvSpPr>
        <p:spPr>
          <a:xfrm>
            <a:off x="9810750" y="2933700"/>
            <a:ext cx="1314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6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Research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9" name="bottom">
            <a:extLst>
              <a:ext uri="{FF2B5EF4-FFF2-40B4-BE49-F238E27FC236}">
                <a16:creationId xmlns:a16="http://schemas.microsoft.com/office/drawing/2014/main" id="{F1FF3E9A-9687-4C83-A93E-B5D79C548F22}"/>
              </a:ext>
            </a:extLst>
          </p:cNvPr>
          <p:cNvSpPr>
            <a:spLocks noGrp="1"/>
          </p:cNvSpPr>
          <p:nvPr/>
        </p:nvSpPr>
        <p:spPr>
          <a:xfrm>
            <a:off x="2000250" y="51435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每一步都有自己的 artifact；不要讓 agent 一次完成所有事。</a:t>
            </a:r>
          </a:p>
        </p:txBody>
      </p:sp>
    </p:spTree>
    <p:extLst>
      <p:ext uri="{BB962C8B-B14F-4D97-AF65-F5344CB8AC3E}">
        <p14:creationId xmlns:p14="http://schemas.microsoft.com/office/powerpoint/2010/main" val="77618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7">
            <a:extLst>
              <a:ext uri="{FF2B5EF4-FFF2-40B4-BE49-F238E27FC236}">
                <a16:creationId xmlns:a16="http://schemas.microsoft.com/office/drawing/2014/main" id="{773A3D17-F194-44C8-B705-85434B03E4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7">
            <a:extLst>
              <a:ext uri="{FF2B5EF4-FFF2-40B4-BE49-F238E27FC236}">
                <a16:creationId xmlns:a16="http://schemas.microsoft.com/office/drawing/2014/main" id="{6D332492-BE7C-47F2-8E91-B77B437D3ABB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7">
            <a:extLst>
              <a:ext uri="{FF2B5EF4-FFF2-40B4-BE49-F238E27FC236}">
                <a16:creationId xmlns:a16="http://schemas.microsoft.com/office/drawing/2014/main" id="{1F398784-F56D-4320-BAA2-E84EEF416F5F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7">
            <a:extLst>
              <a:ext uri="{FF2B5EF4-FFF2-40B4-BE49-F238E27FC236}">
                <a16:creationId xmlns:a16="http://schemas.microsoft.com/office/drawing/2014/main" id="{A18C0EBC-CDC3-4429-8BF0-1A4727FC63F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456724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57ED1A2E-2BFD-4D69-910D-D5A6DA0E37F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E3CA62E-B444-4D36-A8DE-B3A08F187FE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先要求 agent 產生搜尋策略，不要直接要答案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DEA63D4-501C-45A2-9DB2-268726E3209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7/40</a:t>
            </a:r>
          </a:p>
        </p:txBody>
      </p:sp>
      <p:sp>
        <p:nvSpPr>
          <p:cNvPr id="8" name="strategy-0">
            <a:extLst>
              <a:ext uri="{FF2B5EF4-FFF2-40B4-BE49-F238E27FC236}">
                <a16:creationId xmlns:a16="http://schemas.microsoft.com/office/drawing/2014/main" id="{02197F05-B14D-4C27-B9B5-77920C376B1D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4229100" cy="1009650"/>
          </a:xfrm>
          <a:prstGeom prst="roundRect">
            <a:avLst>
              <a:gd name="adj" fmla="val 7547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trategy-head-0">
            <a:extLst>
              <a:ext uri="{FF2B5EF4-FFF2-40B4-BE49-F238E27FC236}">
                <a16:creationId xmlns:a16="http://schemas.microsoft.com/office/drawing/2014/main" id="{664AFD94-F7C0-4331-A056-5099ADC5E85C}"/>
              </a:ext>
            </a:extLst>
          </p:cNvPr>
          <p:cNvSpPr>
            <a:spLocks noGrp="1"/>
          </p:cNvSpPr>
          <p:nvPr/>
        </p:nvSpPr>
        <p:spPr>
          <a:xfrm>
            <a:off x="1314450" y="2209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Concept blocks</a:t>
            </a:r>
          </a:p>
        </p:txBody>
      </p:sp>
      <p:sp>
        <p:nvSpPr>
          <p:cNvPr id="10" name="strategy-copy-0">
            <a:extLst>
              <a:ext uri="{FF2B5EF4-FFF2-40B4-BE49-F238E27FC236}">
                <a16:creationId xmlns:a16="http://schemas.microsoft.com/office/drawing/2014/main" id="{8BCC086E-78A6-4B91-A09D-6E80D943D64D}"/>
              </a:ext>
            </a:extLst>
          </p:cNvPr>
          <p:cNvSpPr>
            <a:spLocks noGrp="1"/>
          </p:cNvSpPr>
          <p:nvPr/>
        </p:nvSpPr>
        <p:spPr>
          <a:xfrm>
            <a:off x="1314450" y="2609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disease / genes / drugs / evidence type</a:t>
            </a:r>
          </a:p>
        </p:txBody>
      </p:sp>
      <p:sp>
        <p:nvSpPr>
          <p:cNvPr id="11" name="strategy-1">
            <a:extLst>
              <a:ext uri="{FF2B5EF4-FFF2-40B4-BE49-F238E27FC236}">
                <a16:creationId xmlns:a16="http://schemas.microsoft.com/office/drawing/2014/main" id="{45CBEC46-41DE-4BD4-AF0C-8A1F81EB7ABA}"/>
              </a:ext>
            </a:extLst>
          </p:cNvPr>
          <p:cNvSpPr>
            <a:spLocks noGrp="1"/>
          </p:cNvSpPr>
          <p:nvPr/>
        </p:nvSpPr>
        <p:spPr>
          <a:xfrm>
            <a:off x="6143625" y="2000250"/>
            <a:ext cx="42291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trategy-head-1">
            <a:extLst>
              <a:ext uri="{FF2B5EF4-FFF2-40B4-BE49-F238E27FC236}">
                <a16:creationId xmlns:a16="http://schemas.microsoft.com/office/drawing/2014/main" id="{E0141C83-2A6E-4543-B439-127CF7148CB2}"/>
              </a:ext>
            </a:extLst>
          </p:cNvPr>
          <p:cNvSpPr>
            <a:spLocks noGrp="1"/>
          </p:cNvSpPr>
          <p:nvPr/>
        </p:nvSpPr>
        <p:spPr>
          <a:xfrm>
            <a:off x="6410325" y="2209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Query strings</a:t>
            </a:r>
          </a:p>
        </p:txBody>
      </p:sp>
      <p:sp>
        <p:nvSpPr>
          <p:cNvPr id="13" name="strategy-copy-1">
            <a:extLst>
              <a:ext uri="{FF2B5EF4-FFF2-40B4-BE49-F238E27FC236}">
                <a16:creationId xmlns:a16="http://schemas.microsoft.com/office/drawing/2014/main" id="{566DEA98-AC3E-4010-9149-4970449BA1DD}"/>
              </a:ext>
            </a:extLst>
          </p:cNvPr>
          <p:cNvSpPr>
            <a:spLocks noGrp="1"/>
          </p:cNvSpPr>
          <p:nvPr/>
        </p:nvSpPr>
        <p:spPr>
          <a:xfrm>
            <a:off x="6410325" y="26098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PubMed-style Boolean query</a:t>
            </a:r>
          </a:p>
        </p:txBody>
      </p:sp>
      <p:sp>
        <p:nvSpPr>
          <p:cNvPr id="14" name="strategy-2">
            <a:extLst>
              <a:ext uri="{FF2B5EF4-FFF2-40B4-BE49-F238E27FC236}">
                <a16:creationId xmlns:a16="http://schemas.microsoft.com/office/drawing/2014/main" id="{3B2576EF-81B6-416C-BF12-8FA5E5060D2C}"/>
              </a:ext>
            </a:extLst>
          </p:cNvPr>
          <p:cNvSpPr>
            <a:spLocks noGrp="1"/>
          </p:cNvSpPr>
          <p:nvPr/>
        </p:nvSpPr>
        <p:spPr>
          <a:xfrm>
            <a:off x="1047750" y="3505200"/>
            <a:ext cx="4229100" cy="1009650"/>
          </a:xfrm>
          <a:prstGeom prst="roundRect">
            <a:avLst>
              <a:gd name="adj" fmla="val 7547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rategy-head-2">
            <a:extLst>
              <a:ext uri="{FF2B5EF4-FFF2-40B4-BE49-F238E27FC236}">
                <a16:creationId xmlns:a16="http://schemas.microsoft.com/office/drawing/2014/main" id="{C4103DA1-D52B-47BF-8E45-B265793892BB}"/>
              </a:ext>
            </a:extLst>
          </p:cNvPr>
          <p:cNvSpPr>
            <a:spLocks noGrp="1"/>
          </p:cNvSpPr>
          <p:nvPr/>
        </p:nvSpPr>
        <p:spPr>
          <a:xfrm>
            <a:off x="1314450" y="3714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6" name="strategy-copy-2">
            <a:extLst>
              <a:ext uri="{FF2B5EF4-FFF2-40B4-BE49-F238E27FC236}">
                <a16:creationId xmlns:a16="http://schemas.microsoft.com/office/drawing/2014/main" id="{8A2B8444-A731-4DD4-9BB3-8232B00E5597}"/>
              </a:ext>
            </a:extLst>
          </p:cNvPr>
          <p:cNvSpPr>
            <a:spLocks noGrp="1"/>
          </p:cNvSpPr>
          <p:nvPr/>
        </p:nvSpPr>
        <p:spPr>
          <a:xfrm>
            <a:off x="1314450" y="41148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clinical trial / molecular profiling / date</a:t>
            </a:r>
          </a:p>
        </p:txBody>
      </p:sp>
      <p:sp>
        <p:nvSpPr>
          <p:cNvPr id="17" name="strategy-3">
            <a:extLst>
              <a:ext uri="{FF2B5EF4-FFF2-40B4-BE49-F238E27FC236}">
                <a16:creationId xmlns:a16="http://schemas.microsoft.com/office/drawing/2014/main" id="{13B6AE13-C7D8-4C7E-BC0E-4FD2ACFA59FD}"/>
              </a:ext>
            </a:extLst>
          </p:cNvPr>
          <p:cNvSpPr>
            <a:spLocks noGrp="1"/>
          </p:cNvSpPr>
          <p:nvPr/>
        </p:nvSpPr>
        <p:spPr>
          <a:xfrm>
            <a:off x="6143625" y="3505200"/>
            <a:ext cx="42291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trategy-head-3">
            <a:extLst>
              <a:ext uri="{FF2B5EF4-FFF2-40B4-BE49-F238E27FC236}">
                <a16:creationId xmlns:a16="http://schemas.microsoft.com/office/drawing/2014/main" id="{9DD3DFBE-5AE9-485B-AEE0-9FA035297CB4}"/>
              </a:ext>
            </a:extLst>
          </p:cNvPr>
          <p:cNvSpPr>
            <a:spLocks noGrp="1"/>
          </p:cNvSpPr>
          <p:nvPr/>
        </p:nvSpPr>
        <p:spPr>
          <a:xfrm>
            <a:off x="6410325" y="3714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Capture fields</a:t>
            </a:r>
          </a:p>
        </p:txBody>
      </p:sp>
      <p:sp>
        <p:nvSpPr>
          <p:cNvPr id="19" name="strategy-copy-3">
            <a:extLst>
              <a:ext uri="{FF2B5EF4-FFF2-40B4-BE49-F238E27FC236}">
                <a16:creationId xmlns:a16="http://schemas.microsoft.com/office/drawing/2014/main" id="{35B90086-AC4B-46E0-93D5-7C380BEBAAA4}"/>
              </a:ext>
            </a:extLst>
          </p:cNvPr>
          <p:cNvSpPr>
            <a:spLocks noGrp="1"/>
          </p:cNvSpPr>
          <p:nvPr/>
        </p:nvSpPr>
        <p:spPr>
          <a:xfrm>
            <a:off x="6410325" y="41148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PMID / DOI / title / n / conclusion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0B7A8297-BF26-4CBD-8990-7D077422FEFE}"/>
              </a:ext>
            </a:extLst>
          </p:cNvPr>
          <p:cNvSpPr>
            <a:spLocks noGrp="1"/>
          </p:cNvSpPr>
          <p:nvPr/>
        </p:nvSpPr>
        <p:spPr>
          <a:xfrm>
            <a:off x="1600200" y="53911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Rule: 找不到來源時寫 not_found，不要補一個看起來合理的 PMID。</a:t>
            </a:r>
          </a:p>
        </p:txBody>
      </p:sp>
    </p:spTree>
    <p:extLst>
      <p:ext uri="{BB962C8B-B14F-4D97-AF65-F5344CB8AC3E}">
        <p14:creationId xmlns:p14="http://schemas.microsoft.com/office/powerpoint/2010/main" val="82304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rail-8">
            <a:extLst>
              <a:ext uri="{FF2B5EF4-FFF2-40B4-BE49-F238E27FC236}">
                <a16:creationId xmlns:a16="http://schemas.microsoft.com/office/drawing/2014/main" id="{B4224977-F19B-4BBB-BA1F-8A890C4095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8">
            <a:extLst>
              <a:ext uri="{FF2B5EF4-FFF2-40B4-BE49-F238E27FC236}">
                <a16:creationId xmlns:a16="http://schemas.microsoft.com/office/drawing/2014/main" id="{43FF8F64-CD63-48CB-829C-231E0597B8F5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8">
            <a:extLst>
              <a:ext uri="{FF2B5EF4-FFF2-40B4-BE49-F238E27FC236}">
                <a16:creationId xmlns:a16="http://schemas.microsoft.com/office/drawing/2014/main" id="{6889BBFF-1E64-427C-A839-18E9B2607E86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8">
            <a:extLst>
              <a:ext uri="{FF2B5EF4-FFF2-40B4-BE49-F238E27FC236}">
                <a16:creationId xmlns:a16="http://schemas.microsoft.com/office/drawing/2014/main" id="{1C1C9364-C63E-4355-98C4-9CC595D815A5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521970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5013CDD-3BA5-4B4D-93B6-42D1A9451AC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PROMPT 1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C2290EF-156C-4FD8-BAB9-772F15A9C6B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設計 prompt 時先限制 agent 的輸出範圍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93C5F03-2615-44AF-89C6-59361C088B2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8/40</a:t>
            </a:r>
          </a:p>
        </p:txBody>
      </p:sp>
      <p:sp>
        <p:nvSpPr>
          <p:cNvPr id="8" name="prompt1-bg">
            <a:extLst>
              <a:ext uri="{FF2B5EF4-FFF2-40B4-BE49-F238E27FC236}">
                <a16:creationId xmlns:a16="http://schemas.microsoft.com/office/drawing/2014/main" id="{2F0F10B4-BA6F-4058-8299-26C3B8A0B1E0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76650"/>
          </a:xfrm>
          <a:prstGeom prst="roundRect">
            <a:avLst>
              <a:gd name="adj" fmla="val 2073"/>
            </a:avLst>
          </a:prstGeom>
          <a:solidFill>
            <a:srgbClr val="202A33"/>
          </a:solidFill>
          <a:ln w="9525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rompt1">
            <a:extLst>
              <a:ext uri="{FF2B5EF4-FFF2-40B4-BE49-F238E27FC236}">
                <a16:creationId xmlns:a16="http://schemas.microsoft.com/office/drawing/2014/main" id="{9CE48320-1FFB-40FF-B047-9E0C2389FE78}"/>
              </a:ext>
            </a:extLst>
          </p:cNvPr>
          <p:cNvSpPr>
            <a:spLocks noGrp="1"/>
          </p:cNvSpPr>
          <p:nvPr/>
        </p:nvSpPr>
        <p:spPr>
          <a:xfrm>
            <a:off x="1219200" y="1981200"/>
            <a:ext cx="97536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You are assisting with a biomedical literature evidence table.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Research question: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For NSCLC, identify literature-backed claims involving EGFR,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ALK, or TP53, and separate treatment-efficacy evidence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from molecular-context evidence and model speculation.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Before searching, produce a search strategy only.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Rules: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Do not answer the biomedical question yet.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Do not invent PMIDs, DOIs, sample sizes, or conclusions.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Mark unsupported guesses as model_inference_candidate.</a:t>
            </a:r>
          </a:p>
        </p:txBody>
      </p:sp>
      <p:sp>
        <p:nvSpPr>
          <p:cNvPr id="10" name="file">
            <a:extLst>
              <a:ext uri="{FF2B5EF4-FFF2-40B4-BE49-F238E27FC236}">
                <a16:creationId xmlns:a16="http://schemas.microsoft.com/office/drawing/2014/main" id="{FFB5C39B-8371-474C-B8BC-9F6508FC5C74}"/>
              </a:ext>
            </a:extLst>
          </p:cNvPr>
          <p:cNvSpPr>
            <a:spLocks noGrp="1"/>
          </p:cNvSpPr>
          <p:nvPr/>
        </p:nvSpPr>
        <p:spPr>
          <a:xfrm>
            <a:off x="1600200" y="57531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C6670"/>
                </a:solidFill>
                <a:latin typeface="Menlo"/>
                <a:ea typeface="Menlo"/>
                <a:cs typeface="Menlo"/>
              </a:rPr>
              <a:t>Full prompt: demos/lesson-04-literature-evidence-workflow/prompts.md</a:t>
            </a:r>
          </a:p>
        </p:txBody>
      </p:sp>
    </p:spTree>
    <p:extLst>
      <p:ext uri="{BB962C8B-B14F-4D97-AF65-F5344CB8AC3E}">
        <p14:creationId xmlns:p14="http://schemas.microsoft.com/office/powerpoint/2010/main" val="76426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ccent-rail-9">
            <a:extLst>
              <a:ext uri="{FF2B5EF4-FFF2-40B4-BE49-F238E27FC236}">
                <a16:creationId xmlns:a16="http://schemas.microsoft.com/office/drawing/2014/main" id="{359D4199-96B3-4A03-BCBC-B9C6771F7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9">
            <a:extLst>
              <a:ext uri="{FF2B5EF4-FFF2-40B4-BE49-F238E27FC236}">
                <a16:creationId xmlns:a16="http://schemas.microsoft.com/office/drawing/2014/main" id="{CB3F6F23-3E09-440A-8C2F-E57DE82FF96F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9">
            <a:extLst>
              <a:ext uri="{FF2B5EF4-FFF2-40B4-BE49-F238E27FC236}">
                <a16:creationId xmlns:a16="http://schemas.microsoft.com/office/drawing/2014/main" id="{4E72848E-9697-4249-B43D-606A9A4A612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9">
            <a:extLst>
              <a:ext uri="{FF2B5EF4-FFF2-40B4-BE49-F238E27FC236}">
                <a16:creationId xmlns:a16="http://schemas.microsoft.com/office/drawing/2014/main" id="{B47696A4-4898-42A3-A715-272E53CC0CE6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587216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6094F02E-6289-4FB9-ACAF-58CC6AB4846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 INVENTORY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7714252-2D39-4909-A61A-96B34A04F5E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候選文獻先進 source inventory，再進 evidence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14E5970-2A25-4805-AC8F-B68F72E2A09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9/40</a:t>
            </a:r>
          </a:p>
        </p:txBody>
      </p:sp>
      <p:sp>
        <p:nvSpPr>
          <p:cNvPr id="8" name="table-head-PMID-0">
            <a:extLst>
              <a:ext uri="{FF2B5EF4-FFF2-40B4-BE49-F238E27FC236}">
                <a16:creationId xmlns:a16="http://schemas.microsoft.com/office/drawing/2014/main" id="{376471F8-E79C-4DB6-8A55-A8227EFE40E6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PMID</a:t>
            </a:r>
          </a:p>
        </p:txBody>
      </p:sp>
      <p:sp>
        <p:nvSpPr>
          <p:cNvPr id="9" name="table-head-source-1">
            <a:extLst>
              <a:ext uri="{FF2B5EF4-FFF2-40B4-BE49-F238E27FC236}">
                <a16:creationId xmlns:a16="http://schemas.microsoft.com/office/drawing/2014/main" id="{5CAB4290-6846-49F8-9EA2-DD72295DD72D}"/>
              </a:ext>
            </a:extLst>
          </p:cNvPr>
          <p:cNvSpPr>
            <a:spLocks noGrp="1"/>
          </p:cNvSpPr>
          <p:nvPr/>
        </p:nvSpPr>
        <p:spPr>
          <a:xfrm>
            <a:off x="2133600" y="1809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table-head-type-2">
            <a:extLst>
              <a:ext uri="{FF2B5EF4-FFF2-40B4-BE49-F238E27FC236}">
                <a16:creationId xmlns:a16="http://schemas.microsoft.com/office/drawing/2014/main" id="{63A391F9-32F5-4DB0-878A-3F0C3577FDCD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1" name="table-head-n-3">
            <a:extLst>
              <a:ext uri="{FF2B5EF4-FFF2-40B4-BE49-F238E27FC236}">
                <a16:creationId xmlns:a16="http://schemas.microsoft.com/office/drawing/2014/main" id="{C4829418-5EE1-4D93-B7B6-FA444C454DC4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2" name="table-head-use-4">
            <a:extLst>
              <a:ext uri="{FF2B5EF4-FFF2-40B4-BE49-F238E27FC236}">
                <a16:creationId xmlns:a16="http://schemas.microsoft.com/office/drawing/2014/main" id="{900A1549-954D-4A35-8CA8-B50F6E66D8D0}"/>
              </a:ext>
            </a:extLst>
          </p:cNvPr>
          <p:cNvSpPr>
            <a:spLocks noGrp="1"/>
          </p:cNvSpPr>
          <p:nvPr/>
        </p:nvSpPr>
        <p:spPr>
          <a:xfrm>
            <a:off x="8439150" y="1809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3" name="source-row-0">
            <a:extLst>
              <a:ext uri="{FF2B5EF4-FFF2-40B4-BE49-F238E27FC236}">
                <a16:creationId xmlns:a16="http://schemas.microsoft.com/office/drawing/2014/main" id="{74A240BB-968E-4969-8216-900E9486550B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0668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ource-0-0">
            <a:extLst>
              <a:ext uri="{FF2B5EF4-FFF2-40B4-BE49-F238E27FC236}">
                <a16:creationId xmlns:a16="http://schemas.microsoft.com/office/drawing/2014/main" id="{0E6B995A-6273-4A04-A4E3-97C64080FE4B}"/>
              </a:ext>
            </a:extLst>
          </p:cNvPr>
          <p:cNvSpPr>
            <a:spLocks noGrp="1"/>
          </p:cNvSpPr>
          <p:nvPr/>
        </p:nvSpPr>
        <p:spPr>
          <a:xfrm>
            <a:off x="914400" y="22002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29151359</a:t>
            </a:r>
          </a:p>
        </p:txBody>
      </p:sp>
      <p:sp>
        <p:nvSpPr>
          <p:cNvPr id="15" name="source-0-1">
            <a:extLst>
              <a:ext uri="{FF2B5EF4-FFF2-40B4-BE49-F238E27FC236}">
                <a16:creationId xmlns:a16="http://schemas.microsoft.com/office/drawing/2014/main" id="{0153029A-8EFD-43FF-A57D-318257CB7571}"/>
              </a:ext>
            </a:extLst>
          </p:cNvPr>
          <p:cNvSpPr>
            <a:spLocks noGrp="1"/>
          </p:cNvSpPr>
          <p:nvPr/>
        </p:nvSpPr>
        <p:spPr>
          <a:xfrm>
            <a:off x="2133600" y="22002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Osimertinib in EGFR-mutated advanced NSCLC</a:t>
            </a:r>
          </a:p>
        </p:txBody>
      </p:sp>
      <p:sp>
        <p:nvSpPr>
          <p:cNvPr id="16" name="source-0-2">
            <a:extLst>
              <a:ext uri="{FF2B5EF4-FFF2-40B4-BE49-F238E27FC236}">
                <a16:creationId xmlns:a16="http://schemas.microsoft.com/office/drawing/2014/main" id="{B116B3D9-557D-4475-8117-5B2938E37F34}"/>
              </a:ext>
            </a:extLst>
          </p:cNvPr>
          <p:cNvSpPr>
            <a:spLocks noGrp="1"/>
          </p:cNvSpPr>
          <p:nvPr/>
        </p:nvSpPr>
        <p:spPr>
          <a:xfrm>
            <a:off x="5334000" y="22002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phase 3 RCT</a:t>
            </a:r>
          </a:p>
        </p:txBody>
      </p:sp>
      <p:sp>
        <p:nvSpPr>
          <p:cNvPr id="17" name="source-0-3">
            <a:extLst>
              <a:ext uri="{FF2B5EF4-FFF2-40B4-BE49-F238E27FC236}">
                <a16:creationId xmlns:a16="http://schemas.microsoft.com/office/drawing/2014/main" id="{4BF02D55-9642-4AAE-BC3C-4F24EF3181CB}"/>
              </a:ext>
            </a:extLst>
          </p:cNvPr>
          <p:cNvSpPr>
            <a:spLocks noGrp="1"/>
          </p:cNvSpPr>
          <p:nvPr/>
        </p:nvSpPr>
        <p:spPr>
          <a:xfrm>
            <a:off x="7429500" y="22002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556</a:t>
            </a:r>
          </a:p>
        </p:txBody>
      </p:sp>
      <p:sp>
        <p:nvSpPr>
          <p:cNvPr id="18" name="source-0-4">
            <a:extLst>
              <a:ext uri="{FF2B5EF4-FFF2-40B4-BE49-F238E27FC236}">
                <a16:creationId xmlns:a16="http://schemas.microsoft.com/office/drawing/2014/main" id="{3C288753-4F84-4048-8E06-C0D34390676A}"/>
              </a:ext>
            </a:extLst>
          </p:cNvPr>
          <p:cNvSpPr>
            <a:spLocks noGrp="1"/>
          </p:cNvSpPr>
          <p:nvPr/>
        </p:nvSpPr>
        <p:spPr>
          <a:xfrm>
            <a:off x="8439150" y="22002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treatment evidence</a:t>
            </a:r>
          </a:p>
        </p:txBody>
      </p:sp>
      <p:sp>
        <p:nvSpPr>
          <p:cNvPr id="19" name="source-row-1">
            <a:extLst>
              <a:ext uri="{FF2B5EF4-FFF2-40B4-BE49-F238E27FC236}">
                <a16:creationId xmlns:a16="http://schemas.microsoft.com/office/drawing/2014/main" id="{5BF0C97F-E47C-47AB-996C-E7B46821963C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668000" cy="552450"/>
          </a:xfrm>
          <a:prstGeom prst="roundRect">
            <a:avLst>
              <a:gd name="adj" fmla="val 1379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ource-1-0">
            <a:extLst>
              <a:ext uri="{FF2B5EF4-FFF2-40B4-BE49-F238E27FC236}">
                <a16:creationId xmlns:a16="http://schemas.microsoft.com/office/drawing/2014/main" id="{07ABB068-589D-482C-BA83-EADCD7C13614}"/>
              </a:ext>
            </a:extLst>
          </p:cNvPr>
          <p:cNvSpPr>
            <a:spLocks noGrp="1"/>
          </p:cNvSpPr>
          <p:nvPr/>
        </p:nvSpPr>
        <p:spPr>
          <a:xfrm>
            <a:off x="914400" y="29622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25470694</a:t>
            </a:r>
          </a:p>
        </p:txBody>
      </p:sp>
      <p:sp>
        <p:nvSpPr>
          <p:cNvPr id="21" name="source-1-1">
            <a:extLst>
              <a:ext uri="{FF2B5EF4-FFF2-40B4-BE49-F238E27FC236}">
                <a16:creationId xmlns:a16="http://schemas.microsoft.com/office/drawing/2014/main" id="{B1BE022F-6286-4EF3-BDB3-5DC84726EECF}"/>
              </a:ext>
            </a:extLst>
          </p:cNvPr>
          <p:cNvSpPr>
            <a:spLocks noGrp="1"/>
          </p:cNvSpPr>
          <p:nvPr/>
        </p:nvSpPr>
        <p:spPr>
          <a:xfrm>
            <a:off x="2133600" y="29622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Crizotinib vs chemotherapy in ALK+ lung cancer</a:t>
            </a:r>
          </a:p>
        </p:txBody>
      </p:sp>
      <p:sp>
        <p:nvSpPr>
          <p:cNvPr id="22" name="source-1-2">
            <a:extLst>
              <a:ext uri="{FF2B5EF4-FFF2-40B4-BE49-F238E27FC236}">
                <a16:creationId xmlns:a16="http://schemas.microsoft.com/office/drawing/2014/main" id="{9B82847C-0995-4BF0-8907-2E35EA6C2F0B}"/>
              </a:ext>
            </a:extLst>
          </p:cNvPr>
          <p:cNvSpPr>
            <a:spLocks noGrp="1"/>
          </p:cNvSpPr>
          <p:nvPr/>
        </p:nvSpPr>
        <p:spPr>
          <a:xfrm>
            <a:off x="5334000" y="29622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phase 3 RCT</a:t>
            </a:r>
          </a:p>
        </p:txBody>
      </p:sp>
      <p:sp>
        <p:nvSpPr>
          <p:cNvPr id="23" name="source-1-3">
            <a:extLst>
              <a:ext uri="{FF2B5EF4-FFF2-40B4-BE49-F238E27FC236}">
                <a16:creationId xmlns:a16="http://schemas.microsoft.com/office/drawing/2014/main" id="{FF353A51-FA4C-4DF5-A50F-6CFC9E2F9797}"/>
              </a:ext>
            </a:extLst>
          </p:cNvPr>
          <p:cNvSpPr>
            <a:spLocks noGrp="1"/>
          </p:cNvSpPr>
          <p:nvPr/>
        </p:nvSpPr>
        <p:spPr>
          <a:xfrm>
            <a:off x="7429500" y="29622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343</a:t>
            </a:r>
          </a:p>
        </p:txBody>
      </p:sp>
      <p:sp>
        <p:nvSpPr>
          <p:cNvPr id="24" name="source-1-4">
            <a:extLst>
              <a:ext uri="{FF2B5EF4-FFF2-40B4-BE49-F238E27FC236}">
                <a16:creationId xmlns:a16="http://schemas.microsoft.com/office/drawing/2014/main" id="{DCBC06C0-2D73-4DCC-85C0-8C1AB8C4DEBA}"/>
              </a:ext>
            </a:extLst>
          </p:cNvPr>
          <p:cNvSpPr>
            <a:spLocks noGrp="1"/>
          </p:cNvSpPr>
          <p:nvPr/>
        </p:nvSpPr>
        <p:spPr>
          <a:xfrm>
            <a:off x="8439150" y="29622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treatment evidence</a:t>
            </a:r>
          </a:p>
        </p:txBody>
      </p:sp>
      <p:sp>
        <p:nvSpPr>
          <p:cNvPr id="25" name="source-row-2">
            <a:extLst>
              <a:ext uri="{FF2B5EF4-FFF2-40B4-BE49-F238E27FC236}">
                <a16:creationId xmlns:a16="http://schemas.microsoft.com/office/drawing/2014/main" id="{8072E3FC-8146-4564-B2C6-978EA7CB7E4F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10668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ource-2-0">
            <a:extLst>
              <a:ext uri="{FF2B5EF4-FFF2-40B4-BE49-F238E27FC236}">
                <a16:creationId xmlns:a16="http://schemas.microsoft.com/office/drawing/2014/main" id="{DB98CF45-100F-46B1-A2BB-08810A9704AF}"/>
              </a:ext>
            </a:extLst>
          </p:cNvPr>
          <p:cNvSpPr>
            <a:spLocks noGrp="1"/>
          </p:cNvSpPr>
          <p:nvPr/>
        </p:nvSpPr>
        <p:spPr>
          <a:xfrm>
            <a:off x="914400" y="37242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25079552</a:t>
            </a:r>
          </a:p>
        </p:txBody>
      </p:sp>
      <p:sp>
        <p:nvSpPr>
          <p:cNvPr id="27" name="source-2-1">
            <a:extLst>
              <a:ext uri="{FF2B5EF4-FFF2-40B4-BE49-F238E27FC236}">
                <a16:creationId xmlns:a16="http://schemas.microsoft.com/office/drawing/2014/main" id="{EEEE3C9D-0924-4587-A79E-96E2FBD33FED}"/>
              </a:ext>
            </a:extLst>
          </p:cNvPr>
          <p:cNvSpPr>
            <a:spLocks noGrp="1"/>
          </p:cNvSpPr>
          <p:nvPr/>
        </p:nvSpPr>
        <p:spPr>
          <a:xfrm>
            <a:off x="2133600" y="37242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TCGA lung adenocarcinoma molecular profiling</a:t>
            </a:r>
          </a:p>
        </p:txBody>
      </p:sp>
      <p:sp>
        <p:nvSpPr>
          <p:cNvPr id="28" name="source-2-2">
            <a:extLst>
              <a:ext uri="{FF2B5EF4-FFF2-40B4-BE49-F238E27FC236}">
                <a16:creationId xmlns:a16="http://schemas.microsoft.com/office/drawing/2014/main" id="{006E8090-E5A6-49EA-A995-5825E2002A0C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profiling cohort</a:t>
            </a:r>
          </a:p>
        </p:txBody>
      </p:sp>
      <p:sp>
        <p:nvSpPr>
          <p:cNvPr id="29" name="source-2-3">
            <a:extLst>
              <a:ext uri="{FF2B5EF4-FFF2-40B4-BE49-F238E27FC236}">
                <a16:creationId xmlns:a16="http://schemas.microsoft.com/office/drawing/2014/main" id="{C8A4AC01-203E-44CB-AB70-7760F9664D14}"/>
              </a:ext>
            </a:extLst>
          </p:cNvPr>
          <p:cNvSpPr>
            <a:spLocks noGrp="1"/>
          </p:cNvSpPr>
          <p:nvPr/>
        </p:nvSpPr>
        <p:spPr>
          <a:xfrm>
            <a:off x="7429500" y="37242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230</a:t>
            </a:r>
          </a:p>
        </p:txBody>
      </p:sp>
      <p:sp>
        <p:nvSpPr>
          <p:cNvPr id="30" name="source-2-4">
            <a:extLst>
              <a:ext uri="{FF2B5EF4-FFF2-40B4-BE49-F238E27FC236}">
                <a16:creationId xmlns:a16="http://schemas.microsoft.com/office/drawing/2014/main" id="{CB0507EE-E720-4E9B-8980-1D1411D0E3B3}"/>
              </a:ext>
            </a:extLst>
          </p:cNvPr>
          <p:cNvSpPr>
            <a:spLocks noGrp="1"/>
          </p:cNvSpPr>
          <p:nvPr/>
        </p:nvSpPr>
        <p:spPr>
          <a:xfrm>
            <a:off x="8439150" y="37242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molecular context</a:t>
            </a:r>
          </a:p>
        </p:txBody>
      </p:sp>
      <p:sp>
        <p:nvSpPr>
          <p:cNvPr id="31" name="rule">
            <a:extLst>
              <a:ext uri="{FF2B5EF4-FFF2-40B4-BE49-F238E27FC236}">
                <a16:creationId xmlns:a16="http://schemas.microsoft.com/office/drawing/2014/main" id="{290291CB-2222-4A0B-A961-FB15F91C8E01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 source inventory 通過基本檢查後，才允許 agent 抽 evidence rows。</a:t>
            </a:r>
          </a:p>
        </p:txBody>
      </p:sp>
    </p:spTree>
    <p:extLst>
      <p:ext uri="{BB962C8B-B14F-4D97-AF65-F5344CB8AC3E}">
        <p14:creationId xmlns:p14="http://schemas.microsoft.com/office/powerpoint/2010/main" val="104330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10">
            <a:extLst>
              <a:ext uri="{FF2B5EF4-FFF2-40B4-BE49-F238E27FC236}">
                <a16:creationId xmlns:a16="http://schemas.microsoft.com/office/drawing/2014/main" id="{C078E7CE-993F-4659-8966-D9D53CE5A5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0">
            <a:extLst>
              <a:ext uri="{FF2B5EF4-FFF2-40B4-BE49-F238E27FC236}">
                <a16:creationId xmlns:a16="http://schemas.microsoft.com/office/drawing/2014/main" id="{35D700C1-A309-4715-AABB-40B608A7FA9B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10">
            <a:extLst>
              <a:ext uri="{FF2B5EF4-FFF2-40B4-BE49-F238E27FC236}">
                <a16:creationId xmlns:a16="http://schemas.microsoft.com/office/drawing/2014/main" id="{286DCA2F-2CE7-41BA-A977-4496CEB18AC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0">
            <a:extLst>
              <a:ext uri="{FF2B5EF4-FFF2-40B4-BE49-F238E27FC236}">
                <a16:creationId xmlns:a16="http://schemas.microsoft.com/office/drawing/2014/main" id="{5F536C16-9992-4620-99DD-FF3E261452E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652463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2DD3CE3-DA84-4ED8-8D88-0827B5CE184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 SCHEMA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3BDFEF5-C4CF-4F66-B704-DCC3E21BB68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欄位要能回答：誰說了什麼，憑什麼？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DD536A2-8E38-4079-94E1-DB0EBAAD2EB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10/40</a:t>
            </a:r>
          </a:p>
        </p:txBody>
      </p:sp>
      <p:sp>
        <p:nvSpPr>
          <p:cNvPr id="8" name="schema-0">
            <a:extLst>
              <a:ext uri="{FF2B5EF4-FFF2-40B4-BE49-F238E27FC236}">
                <a16:creationId xmlns:a16="http://schemas.microsoft.com/office/drawing/2014/main" id="{2197D4ED-A8A8-4758-8235-2C0F30F570C5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2343150" cy="2000250"/>
          </a:xfrm>
          <a:prstGeom prst="roundRect">
            <a:avLst>
              <a:gd name="adj" fmla="val 381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chema-head-0">
            <a:extLst>
              <a:ext uri="{FF2B5EF4-FFF2-40B4-BE49-F238E27FC236}">
                <a16:creationId xmlns:a16="http://schemas.microsoft.com/office/drawing/2014/main" id="{21137A91-F112-44AF-8F6E-E65C9E321536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Entity</a:t>
            </a:r>
          </a:p>
        </p:txBody>
      </p:sp>
      <p:sp>
        <p:nvSpPr>
          <p:cNvPr id="10" name="schema-fields-0">
            <a:extLst>
              <a:ext uri="{FF2B5EF4-FFF2-40B4-BE49-F238E27FC236}">
                <a16:creationId xmlns:a16="http://schemas.microsoft.com/office/drawing/2014/main" id="{4D023308-F8E9-44B6-8EC4-034181FB5FE5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disease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11" name="schema-1">
            <a:extLst>
              <a:ext uri="{FF2B5EF4-FFF2-40B4-BE49-F238E27FC236}">
                <a16:creationId xmlns:a16="http://schemas.microsoft.com/office/drawing/2014/main" id="{07EBCF0A-52F0-4226-80ED-EB952C947322}"/>
              </a:ext>
            </a:extLst>
          </p:cNvPr>
          <p:cNvSpPr>
            <a:spLocks noGrp="1"/>
          </p:cNvSpPr>
          <p:nvPr/>
        </p:nvSpPr>
        <p:spPr>
          <a:xfrm>
            <a:off x="3733800" y="2266950"/>
            <a:ext cx="2343150" cy="2000250"/>
          </a:xfrm>
          <a:prstGeom prst="roundRect">
            <a:avLst>
              <a:gd name="adj" fmla="val 3810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chema-head-1">
            <a:extLst>
              <a:ext uri="{FF2B5EF4-FFF2-40B4-BE49-F238E27FC236}">
                <a16:creationId xmlns:a16="http://schemas.microsoft.com/office/drawing/2014/main" id="{D20B56F9-F01F-4BB1-8540-2287867EE527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schema-fields-1">
            <a:extLst>
              <a:ext uri="{FF2B5EF4-FFF2-40B4-BE49-F238E27FC236}">
                <a16:creationId xmlns:a16="http://schemas.microsoft.com/office/drawing/2014/main" id="{EEAF41B4-529A-4157-82F8-ECA7B44923DE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claim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study_type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sample_n</a:t>
            </a:r>
          </a:p>
        </p:txBody>
      </p:sp>
      <p:sp>
        <p:nvSpPr>
          <p:cNvPr id="14" name="schema-2">
            <a:extLst>
              <a:ext uri="{FF2B5EF4-FFF2-40B4-BE49-F238E27FC236}">
                <a16:creationId xmlns:a16="http://schemas.microsoft.com/office/drawing/2014/main" id="{5B285285-948E-4864-99DB-F846A47C80CC}"/>
              </a:ext>
            </a:extLst>
          </p:cNvPr>
          <p:cNvSpPr>
            <a:spLocks noGrp="1"/>
          </p:cNvSpPr>
          <p:nvPr/>
        </p:nvSpPr>
        <p:spPr>
          <a:xfrm>
            <a:off x="6515100" y="2266950"/>
            <a:ext cx="2343150" cy="2000250"/>
          </a:xfrm>
          <a:prstGeom prst="roundRect">
            <a:avLst>
              <a:gd name="adj" fmla="val 3810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chema-head-2">
            <a:extLst>
              <a:ext uri="{FF2B5EF4-FFF2-40B4-BE49-F238E27FC236}">
                <a16:creationId xmlns:a16="http://schemas.microsoft.com/office/drawing/2014/main" id="{40D6D96C-60D6-4987-92D3-62D4FDD0805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6" name="schema-fields-2">
            <a:extLst>
              <a:ext uri="{FF2B5EF4-FFF2-40B4-BE49-F238E27FC236}">
                <a16:creationId xmlns:a16="http://schemas.microsoft.com/office/drawing/2014/main" id="{825C3679-46BF-481B-B96B-777565E5882E}"/>
              </a:ext>
            </a:extLst>
          </p:cNvPr>
          <p:cNvSpPr>
            <a:spLocks noGrp="1"/>
          </p:cNvSpPr>
          <p:nvPr/>
        </p:nvSpPr>
        <p:spPr>
          <a:xfrm>
            <a:off x="6915150" y="31432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PMID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DOI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source_note</a:t>
            </a:r>
          </a:p>
        </p:txBody>
      </p:sp>
      <p:sp>
        <p:nvSpPr>
          <p:cNvPr id="17" name="schema-3">
            <a:extLst>
              <a:ext uri="{FF2B5EF4-FFF2-40B4-BE49-F238E27FC236}">
                <a16:creationId xmlns:a16="http://schemas.microsoft.com/office/drawing/2014/main" id="{A281456B-A723-442B-85CA-89019012E36C}"/>
              </a:ext>
            </a:extLst>
          </p:cNvPr>
          <p:cNvSpPr>
            <a:spLocks noGrp="1"/>
          </p:cNvSpPr>
          <p:nvPr/>
        </p:nvSpPr>
        <p:spPr>
          <a:xfrm>
            <a:off x="9296400" y="2266950"/>
            <a:ext cx="2343150" cy="2000250"/>
          </a:xfrm>
          <a:prstGeom prst="roundRect">
            <a:avLst>
              <a:gd name="adj" fmla="val 3810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chema-head-3">
            <a:extLst>
              <a:ext uri="{FF2B5EF4-FFF2-40B4-BE49-F238E27FC236}">
                <a16:creationId xmlns:a16="http://schemas.microsoft.com/office/drawing/2014/main" id="{01FCE191-E14D-4BB4-8190-3379DA45FB64}"/>
              </a:ext>
            </a:extLst>
          </p:cNvPr>
          <p:cNvSpPr>
            <a:spLocks noGrp="1"/>
          </p:cNvSpPr>
          <p:nvPr/>
        </p:nvSpPr>
        <p:spPr>
          <a:xfrm>
            <a:off x="9563100" y="2571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9" name="schema-fields-3">
            <a:extLst>
              <a:ext uri="{FF2B5EF4-FFF2-40B4-BE49-F238E27FC236}">
                <a16:creationId xmlns:a16="http://schemas.microsoft.com/office/drawing/2014/main" id="{A30CD1A0-15F0-40A2-9564-D170B40EFA00}"/>
              </a:ext>
            </a:extLst>
          </p:cNvPr>
          <p:cNvSpPr>
            <a:spLocks noGrp="1"/>
          </p:cNvSpPr>
          <p:nvPr/>
        </p:nvSpPr>
        <p:spPr>
          <a:xfrm>
            <a:off x="9696450" y="31432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supported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not_found</a:t>
            </a:r>
          </a:p>
          <a:p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needs_review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3C2F4B30-062E-479B-9B52-EECB3CEBEA55}"/>
              </a:ext>
            </a:extLst>
          </p:cNvPr>
          <p:cNvSpPr>
            <a:spLocks noGrp="1"/>
          </p:cNvSpPr>
          <p:nvPr/>
        </p:nvSpPr>
        <p:spPr>
          <a:xfrm>
            <a:off x="2381250" y="53530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欄位不是越多越好；每個欄位都要支援 review。</a:t>
            </a:r>
          </a:p>
        </p:txBody>
      </p:sp>
    </p:spTree>
    <p:extLst>
      <p:ext uri="{BB962C8B-B14F-4D97-AF65-F5344CB8AC3E}">
        <p14:creationId xmlns:p14="http://schemas.microsoft.com/office/powerpoint/2010/main" val="139957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-rail-11">
            <a:extLst>
              <a:ext uri="{FF2B5EF4-FFF2-40B4-BE49-F238E27FC236}">
                <a16:creationId xmlns:a16="http://schemas.microsoft.com/office/drawing/2014/main" id="{9834CCD5-F799-4755-AD71-0C24EAF65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1">
            <a:extLst>
              <a:ext uri="{FF2B5EF4-FFF2-40B4-BE49-F238E27FC236}">
                <a16:creationId xmlns:a16="http://schemas.microsoft.com/office/drawing/2014/main" id="{B1EE2F07-E3B4-4277-8738-3B6BB5005D4C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11">
            <a:extLst>
              <a:ext uri="{FF2B5EF4-FFF2-40B4-BE49-F238E27FC236}">
                <a16:creationId xmlns:a16="http://schemas.microsoft.com/office/drawing/2014/main" id="{8106E9A7-8BC8-4B3B-8B07-11DB0835FF8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1">
            <a:extLst>
              <a:ext uri="{FF2B5EF4-FFF2-40B4-BE49-F238E27FC236}">
                <a16:creationId xmlns:a16="http://schemas.microsoft.com/office/drawing/2014/main" id="{401A5B0A-3FD7-4A2E-BE14-1B07C35782D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717709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6044AF4-9620-428D-B419-59EC0A4BBDA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PROMPT 2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C608E67-8808-47D4-A98E-F27E271407F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抽 evidence row 時，要求 agent 只用已驗證來源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FA472FC7-D975-4F64-B8CD-AD969F17CB6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11/40</a:t>
            </a:r>
          </a:p>
        </p:txBody>
      </p:sp>
      <p:sp>
        <p:nvSpPr>
          <p:cNvPr id="8" name="prompt2-bg">
            <a:extLst>
              <a:ext uri="{FF2B5EF4-FFF2-40B4-BE49-F238E27FC236}">
                <a16:creationId xmlns:a16="http://schemas.microsoft.com/office/drawing/2014/main" id="{56F7D5C4-AFFA-4D3D-B524-A052495D150A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0134600" cy="3848100"/>
          </a:xfrm>
          <a:prstGeom prst="roundRect">
            <a:avLst>
              <a:gd name="adj" fmla="val 1980"/>
            </a:avLst>
          </a:prstGeom>
          <a:solidFill>
            <a:srgbClr val="202A33"/>
          </a:solidFill>
          <a:ln w="9525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rompt2">
            <a:extLst>
              <a:ext uri="{FF2B5EF4-FFF2-40B4-BE49-F238E27FC236}">
                <a16:creationId xmlns:a16="http://schemas.microsoft.com/office/drawing/2014/main" id="{892121A4-42FD-46B1-8EF2-BF1606018608}"/>
              </a:ext>
            </a:extLst>
          </p:cNvPr>
          <p:cNvSpPr>
            <a:spLocks noGrp="1"/>
          </p:cNvSpPr>
          <p:nvPr/>
        </p:nvSpPr>
        <p:spPr>
          <a:xfrm>
            <a:off x="1200150" y="1905000"/>
            <a:ext cx="9791700" cy="350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Convert the verified source inventory into an evidence table.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Required columns: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question, entity_type, gene, disease, drug, claim,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evidence_kind, study_type, sample_n, source_title,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PMID, DOI, year, source_note, status, model_inference.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Rules: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One row makes one narrow claim.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literature_evidence only when the source supports the claim.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molecular_context when the source is biology, not treatment efficacy.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model_inference when no PMID or DOI supports the statement.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Every row starts with needs_human_review=TRUE.</a:t>
            </a:r>
          </a:p>
        </p:txBody>
      </p:sp>
    </p:spTree>
    <p:extLst>
      <p:ext uri="{BB962C8B-B14F-4D97-AF65-F5344CB8AC3E}">
        <p14:creationId xmlns:p14="http://schemas.microsoft.com/office/powerpoint/2010/main" val="127814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ccent-rail-12">
            <a:extLst>
              <a:ext uri="{FF2B5EF4-FFF2-40B4-BE49-F238E27FC236}">
                <a16:creationId xmlns:a16="http://schemas.microsoft.com/office/drawing/2014/main" id="{D82ED978-B870-41F0-9414-F4B78CFD60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2">
            <a:extLst>
              <a:ext uri="{FF2B5EF4-FFF2-40B4-BE49-F238E27FC236}">
                <a16:creationId xmlns:a16="http://schemas.microsoft.com/office/drawing/2014/main" id="{EEA9BF2F-A779-4B2A-8F03-8EBF36A1F8A7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" name="progress-track-12">
            <a:extLst>
              <a:ext uri="{FF2B5EF4-FFF2-40B4-BE49-F238E27FC236}">
                <a16:creationId xmlns:a16="http://schemas.microsoft.com/office/drawing/2014/main" id="{A8B74F8E-D4D4-4F20-9238-EAA91036A9A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2">
            <a:extLst>
              <a:ext uri="{FF2B5EF4-FFF2-40B4-BE49-F238E27FC236}">
                <a16:creationId xmlns:a16="http://schemas.microsoft.com/office/drawing/2014/main" id="{783AEDD4-F32F-48FE-BDE1-2A50924E3012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782955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9A852F56-40D2-4131-94E7-D4B08B652A2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DEMO TABLE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B076106-DAA4-4186-9E6D-97723A59B37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一份好的 evidence table 應該讓錯誤容易被看見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8FAF349-5E75-4993-A3F9-3F8B0E3B4B0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12/40</a:t>
            </a:r>
          </a:p>
        </p:txBody>
      </p:sp>
      <p:sp>
        <p:nvSpPr>
          <p:cNvPr id="8" name="table-head-gene-0">
            <a:extLst>
              <a:ext uri="{FF2B5EF4-FFF2-40B4-BE49-F238E27FC236}">
                <a16:creationId xmlns:a16="http://schemas.microsoft.com/office/drawing/2014/main" id="{8453E276-6803-4BCF-9BCB-56AD646F2194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9" name="table-head-drug-1">
            <a:extLst>
              <a:ext uri="{FF2B5EF4-FFF2-40B4-BE49-F238E27FC236}">
                <a16:creationId xmlns:a16="http://schemas.microsoft.com/office/drawing/2014/main" id="{489CC43C-88EF-42CE-8B8B-1D50554AEBFE}"/>
              </a:ext>
            </a:extLst>
          </p:cNvPr>
          <p:cNvSpPr>
            <a:spLocks noGrp="1"/>
          </p:cNvSpPr>
          <p:nvPr/>
        </p:nvSpPr>
        <p:spPr>
          <a:xfrm>
            <a:off x="2190750" y="1790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10" name="table-head-PMID-2">
            <a:extLst>
              <a:ext uri="{FF2B5EF4-FFF2-40B4-BE49-F238E27FC236}">
                <a16:creationId xmlns:a16="http://schemas.microsoft.com/office/drawing/2014/main" id="{DD01D981-5EBF-402C-9C9E-B7F9820B3DB0}"/>
              </a:ext>
            </a:extLst>
          </p:cNvPr>
          <p:cNvSpPr>
            <a:spLocks noGrp="1"/>
          </p:cNvSpPr>
          <p:nvPr/>
        </p:nvSpPr>
        <p:spPr>
          <a:xfrm>
            <a:off x="4095750" y="1790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PMID</a:t>
            </a:r>
          </a:p>
        </p:txBody>
      </p:sp>
      <p:sp>
        <p:nvSpPr>
          <p:cNvPr id="11" name="table-head-n-3">
            <a:extLst>
              <a:ext uri="{FF2B5EF4-FFF2-40B4-BE49-F238E27FC236}">
                <a16:creationId xmlns:a16="http://schemas.microsoft.com/office/drawing/2014/main" id="{963BDCF7-1ABB-4E82-9FA6-630AA8CDFD59}"/>
              </a:ext>
            </a:extLst>
          </p:cNvPr>
          <p:cNvSpPr>
            <a:spLocks noGrp="1"/>
          </p:cNvSpPr>
          <p:nvPr/>
        </p:nvSpPr>
        <p:spPr>
          <a:xfrm>
            <a:off x="5429250" y="17907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2" name="table-head-evidence kind-4">
            <a:extLst>
              <a:ext uri="{FF2B5EF4-FFF2-40B4-BE49-F238E27FC236}">
                <a16:creationId xmlns:a16="http://schemas.microsoft.com/office/drawing/2014/main" id="{93A42CA3-19E2-4123-B22C-E4237FD213CD}"/>
              </a:ext>
            </a:extLst>
          </p:cNvPr>
          <p:cNvSpPr>
            <a:spLocks noGrp="1"/>
          </p:cNvSpPr>
          <p:nvPr/>
        </p:nvSpPr>
        <p:spPr>
          <a:xfrm>
            <a:off x="6572250" y="1790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kind</a:t>
            </a:r>
          </a:p>
        </p:txBody>
      </p:sp>
      <p:sp>
        <p:nvSpPr>
          <p:cNvPr id="13" name="table-head-status-5">
            <a:extLst>
              <a:ext uri="{FF2B5EF4-FFF2-40B4-BE49-F238E27FC236}">
                <a16:creationId xmlns:a16="http://schemas.microsoft.com/office/drawing/2014/main" id="{6BE49788-EA54-47AB-B7B0-33CE446663C7}"/>
              </a:ext>
            </a:extLst>
          </p:cNvPr>
          <p:cNvSpPr>
            <a:spLocks noGrp="1"/>
          </p:cNvSpPr>
          <p:nvPr/>
        </p:nvSpPr>
        <p:spPr>
          <a:xfrm>
            <a:off x="8953500" y="1790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ev-row-0">
            <a:extLst>
              <a:ext uri="{FF2B5EF4-FFF2-40B4-BE49-F238E27FC236}">
                <a16:creationId xmlns:a16="http://schemas.microsoft.com/office/drawing/2014/main" id="{D3AD3E85-3DDC-4B96-A91E-0C84B176FBE6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706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ev-0-0">
            <a:extLst>
              <a:ext uri="{FF2B5EF4-FFF2-40B4-BE49-F238E27FC236}">
                <a16:creationId xmlns:a16="http://schemas.microsoft.com/office/drawing/2014/main" id="{9A621C5E-EF86-4A6F-86B9-F23309EE622B}"/>
              </a:ext>
            </a:extLst>
          </p:cNvPr>
          <p:cNvSpPr>
            <a:spLocks noGrp="1"/>
          </p:cNvSpPr>
          <p:nvPr/>
        </p:nvSpPr>
        <p:spPr>
          <a:xfrm>
            <a:off x="914400" y="21621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</a:t>
            </a:r>
          </a:p>
        </p:txBody>
      </p:sp>
      <p:sp>
        <p:nvSpPr>
          <p:cNvPr id="16" name="ev-0-1">
            <a:extLst>
              <a:ext uri="{FF2B5EF4-FFF2-40B4-BE49-F238E27FC236}">
                <a16:creationId xmlns:a16="http://schemas.microsoft.com/office/drawing/2014/main" id="{3ADB29D7-8DCF-4FE8-8895-D3CD46610873}"/>
              </a:ext>
            </a:extLst>
          </p:cNvPr>
          <p:cNvSpPr>
            <a:spLocks noGrp="1"/>
          </p:cNvSpPr>
          <p:nvPr/>
        </p:nvSpPr>
        <p:spPr>
          <a:xfrm>
            <a:off x="2190750" y="21621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osimertinib</a:t>
            </a:r>
          </a:p>
        </p:txBody>
      </p:sp>
      <p:sp>
        <p:nvSpPr>
          <p:cNvPr id="17" name="ev-0-2">
            <a:extLst>
              <a:ext uri="{FF2B5EF4-FFF2-40B4-BE49-F238E27FC236}">
                <a16:creationId xmlns:a16="http://schemas.microsoft.com/office/drawing/2014/main" id="{E9237BA3-1E04-4320-981A-F8032E926BA6}"/>
              </a:ext>
            </a:extLst>
          </p:cNvPr>
          <p:cNvSpPr>
            <a:spLocks noGrp="1"/>
          </p:cNvSpPr>
          <p:nvPr/>
        </p:nvSpPr>
        <p:spPr>
          <a:xfrm>
            <a:off x="4095750" y="21621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29151359</a:t>
            </a:r>
          </a:p>
        </p:txBody>
      </p:sp>
      <p:sp>
        <p:nvSpPr>
          <p:cNvPr id="18" name="ev-0-3">
            <a:extLst>
              <a:ext uri="{FF2B5EF4-FFF2-40B4-BE49-F238E27FC236}">
                <a16:creationId xmlns:a16="http://schemas.microsoft.com/office/drawing/2014/main" id="{CEAF8EB3-264D-4006-9B5A-A386FDD2D83E}"/>
              </a:ext>
            </a:extLst>
          </p:cNvPr>
          <p:cNvSpPr>
            <a:spLocks noGrp="1"/>
          </p:cNvSpPr>
          <p:nvPr/>
        </p:nvSpPr>
        <p:spPr>
          <a:xfrm>
            <a:off x="5429250" y="2162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556</a:t>
            </a:r>
          </a:p>
        </p:txBody>
      </p:sp>
      <p:sp>
        <p:nvSpPr>
          <p:cNvPr id="19" name="ev-0-4">
            <a:extLst>
              <a:ext uri="{FF2B5EF4-FFF2-40B4-BE49-F238E27FC236}">
                <a16:creationId xmlns:a16="http://schemas.microsoft.com/office/drawing/2014/main" id="{FE6FC04D-94FA-4E70-A6F1-8F1952E9ABC4}"/>
              </a:ext>
            </a:extLst>
          </p:cNvPr>
          <p:cNvSpPr>
            <a:spLocks noGrp="1"/>
          </p:cNvSpPr>
          <p:nvPr/>
        </p:nvSpPr>
        <p:spPr>
          <a:xfrm>
            <a:off x="6572250" y="21621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literature_evidence</a:t>
            </a:r>
          </a:p>
        </p:txBody>
      </p:sp>
      <p:sp>
        <p:nvSpPr>
          <p:cNvPr id="20" name="ev-0-5">
            <a:extLst>
              <a:ext uri="{FF2B5EF4-FFF2-40B4-BE49-F238E27FC236}">
                <a16:creationId xmlns:a16="http://schemas.microsoft.com/office/drawing/2014/main" id="{289EE81B-75E8-49BA-85A0-4E9DB8D5EADD}"/>
              </a:ext>
            </a:extLst>
          </p:cNvPr>
          <p:cNvSpPr>
            <a:spLocks noGrp="1"/>
          </p:cNvSpPr>
          <p:nvPr/>
        </p:nvSpPr>
        <p:spPr>
          <a:xfrm>
            <a:off x="8953500" y="21621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1" name="ev-row-1">
            <a:extLst>
              <a:ext uri="{FF2B5EF4-FFF2-40B4-BE49-F238E27FC236}">
                <a16:creationId xmlns:a16="http://schemas.microsoft.com/office/drawing/2014/main" id="{F01E7A88-68C0-4887-AAF3-E516FE143793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10706100" cy="438150"/>
          </a:xfrm>
          <a:prstGeom prst="roundRect">
            <a:avLst>
              <a:gd name="adj" fmla="val 17391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ev-1-0">
            <a:extLst>
              <a:ext uri="{FF2B5EF4-FFF2-40B4-BE49-F238E27FC236}">
                <a16:creationId xmlns:a16="http://schemas.microsoft.com/office/drawing/2014/main" id="{F5791C87-A428-45DA-9875-6B5C41C20004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ALK</a:t>
            </a:r>
          </a:p>
        </p:txBody>
      </p:sp>
      <p:sp>
        <p:nvSpPr>
          <p:cNvPr id="23" name="ev-1-1">
            <a:extLst>
              <a:ext uri="{FF2B5EF4-FFF2-40B4-BE49-F238E27FC236}">
                <a16:creationId xmlns:a16="http://schemas.microsoft.com/office/drawing/2014/main" id="{3A6699E8-50B6-4450-9D07-6A7854625F49}"/>
              </a:ext>
            </a:extLst>
          </p:cNvPr>
          <p:cNvSpPr>
            <a:spLocks noGrp="1"/>
          </p:cNvSpPr>
          <p:nvPr/>
        </p:nvSpPr>
        <p:spPr>
          <a:xfrm>
            <a:off x="2190750" y="27717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crizotinib</a:t>
            </a:r>
          </a:p>
        </p:txBody>
      </p:sp>
      <p:sp>
        <p:nvSpPr>
          <p:cNvPr id="24" name="ev-1-2">
            <a:extLst>
              <a:ext uri="{FF2B5EF4-FFF2-40B4-BE49-F238E27FC236}">
                <a16:creationId xmlns:a16="http://schemas.microsoft.com/office/drawing/2014/main" id="{EA443330-B90E-4A76-A760-A957A95745BF}"/>
              </a:ext>
            </a:extLst>
          </p:cNvPr>
          <p:cNvSpPr>
            <a:spLocks noGrp="1"/>
          </p:cNvSpPr>
          <p:nvPr/>
        </p:nvSpPr>
        <p:spPr>
          <a:xfrm>
            <a:off x="409575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25470694</a:t>
            </a:r>
          </a:p>
        </p:txBody>
      </p:sp>
      <p:sp>
        <p:nvSpPr>
          <p:cNvPr id="25" name="ev-1-3">
            <a:extLst>
              <a:ext uri="{FF2B5EF4-FFF2-40B4-BE49-F238E27FC236}">
                <a16:creationId xmlns:a16="http://schemas.microsoft.com/office/drawing/2014/main" id="{5CB4CD33-318A-45E3-9266-BAFBF665AB1B}"/>
              </a:ext>
            </a:extLst>
          </p:cNvPr>
          <p:cNvSpPr>
            <a:spLocks noGrp="1"/>
          </p:cNvSpPr>
          <p:nvPr/>
        </p:nvSpPr>
        <p:spPr>
          <a:xfrm>
            <a:off x="5429250" y="27717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343</a:t>
            </a:r>
          </a:p>
        </p:txBody>
      </p:sp>
      <p:sp>
        <p:nvSpPr>
          <p:cNvPr id="26" name="ev-1-4">
            <a:extLst>
              <a:ext uri="{FF2B5EF4-FFF2-40B4-BE49-F238E27FC236}">
                <a16:creationId xmlns:a16="http://schemas.microsoft.com/office/drawing/2014/main" id="{B62DB40A-117C-4FF2-9AC2-3DD263EFE26F}"/>
              </a:ext>
            </a:extLst>
          </p:cNvPr>
          <p:cNvSpPr>
            <a:spLocks noGrp="1"/>
          </p:cNvSpPr>
          <p:nvPr/>
        </p:nvSpPr>
        <p:spPr>
          <a:xfrm>
            <a:off x="6572250" y="27717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literature_evidence</a:t>
            </a:r>
          </a:p>
        </p:txBody>
      </p:sp>
      <p:sp>
        <p:nvSpPr>
          <p:cNvPr id="27" name="ev-1-5">
            <a:extLst>
              <a:ext uri="{FF2B5EF4-FFF2-40B4-BE49-F238E27FC236}">
                <a16:creationId xmlns:a16="http://schemas.microsoft.com/office/drawing/2014/main" id="{E497EDBA-FAC4-46FA-B1F4-A98C1A7BB676}"/>
              </a:ext>
            </a:extLst>
          </p:cNvPr>
          <p:cNvSpPr>
            <a:spLocks noGrp="1"/>
          </p:cNvSpPr>
          <p:nvPr/>
        </p:nvSpPr>
        <p:spPr>
          <a:xfrm>
            <a:off x="8953500" y="27717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8" name="ev-row-2">
            <a:extLst>
              <a:ext uri="{FF2B5EF4-FFF2-40B4-BE49-F238E27FC236}">
                <a16:creationId xmlns:a16="http://schemas.microsoft.com/office/drawing/2014/main" id="{E89D95BA-BF37-408F-996C-EEA7D3510191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10706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ev-2-0">
            <a:extLst>
              <a:ext uri="{FF2B5EF4-FFF2-40B4-BE49-F238E27FC236}">
                <a16:creationId xmlns:a16="http://schemas.microsoft.com/office/drawing/2014/main" id="{BFEEB685-9391-413A-A332-401485E837E4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EGFR/MET/etc.</a:t>
            </a:r>
          </a:p>
        </p:txBody>
      </p:sp>
      <p:sp>
        <p:nvSpPr>
          <p:cNvPr id="30" name="ev-2-1">
            <a:extLst>
              <a:ext uri="{FF2B5EF4-FFF2-40B4-BE49-F238E27FC236}">
                <a16:creationId xmlns:a16="http://schemas.microsoft.com/office/drawing/2014/main" id="{E77866C3-B8BB-4D2B-9D3D-D8E7DE60DEDA}"/>
              </a:ext>
            </a:extLst>
          </p:cNvPr>
          <p:cNvSpPr>
            <a:spLocks noGrp="1"/>
          </p:cNvSpPr>
          <p:nvPr/>
        </p:nvSpPr>
        <p:spPr>
          <a:xfrm>
            <a:off x="2190750" y="33813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1" name="ev-2-2">
            <a:extLst>
              <a:ext uri="{FF2B5EF4-FFF2-40B4-BE49-F238E27FC236}">
                <a16:creationId xmlns:a16="http://schemas.microsoft.com/office/drawing/2014/main" id="{E9669575-D633-4649-BB34-CE1D132662FB}"/>
              </a:ext>
            </a:extLst>
          </p:cNvPr>
          <p:cNvSpPr>
            <a:spLocks noGrp="1"/>
          </p:cNvSpPr>
          <p:nvPr/>
        </p:nvSpPr>
        <p:spPr>
          <a:xfrm>
            <a:off x="4095750" y="33813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25079552</a:t>
            </a:r>
          </a:p>
        </p:txBody>
      </p:sp>
      <p:sp>
        <p:nvSpPr>
          <p:cNvPr id="32" name="ev-2-3">
            <a:extLst>
              <a:ext uri="{FF2B5EF4-FFF2-40B4-BE49-F238E27FC236}">
                <a16:creationId xmlns:a16="http://schemas.microsoft.com/office/drawing/2014/main" id="{0857BC80-91DD-4656-B553-B56725E71A27}"/>
              </a:ext>
            </a:extLst>
          </p:cNvPr>
          <p:cNvSpPr>
            <a:spLocks noGrp="1"/>
          </p:cNvSpPr>
          <p:nvPr/>
        </p:nvSpPr>
        <p:spPr>
          <a:xfrm>
            <a:off x="5429250" y="33813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230</a:t>
            </a:r>
          </a:p>
        </p:txBody>
      </p:sp>
      <p:sp>
        <p:nvSpPr>
          <p:cNvPr id="33" name="ev-2-4">
            <a:extLst>
              <a:ext uri="{FF2B5EF4-FFF2-40B4-BE49-F238E27FC236}">
                <a16:creationId xmlns:a16="http://schemas.microsoft.com/office/drawing/2014/main" id="{AE032DF0-B019-4B0B-ACE5-1FEFA7E8DCAE}"/>
              </a:ext>
            </a:extLst>
          </p:cNvPr>
          <p:cNvSpPr>
            <a:spLocks noGrp="1"/>
          </p:cNvSpPr>
          <p:nvPr/>
        </p:nvSpPr>
        <p:spPr>
          <a:xfrm>
            <a:off x="6572250" y="33813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molecular_context</a:t>
            </a:r>
          </a:p>
        </p:txBody>
      </p:sp>
      <p:sp>
        <p:nvSpPr>
          <p:cNvPr id="34" name="ev-2-5">
            <a:extLst>
              <a:ext uri="{FF2B5EF4-FFF2-40B4-BE49-F238E27FC236}">
                <a16:creationId xmlns:a16="http://schemas.microsoft.com/office/drawing/2014/main" id="{86AD259F-6914-4614-BD24-6904858942D9}"/>
              </a:ext>
            </a:extLst>
          </p:cNvPr>
          <p:cNvSpPr>
            <a:spLocks noGrp="1"/>
          </p:cNvSpPr>
          <p:nvPr/>
        </p:nvSpPr>
        <p:spPr>
          <a:xfrm>
            <a:off x="8953500" y="33813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35" name="ev-row-3">
            <a:extLst>
              <a:ext uri="{FF2B5EF4-FFF2-40B4-BE49-F238E27FC236}">
                <a16:creationId xmlns:a16="http://schemas.microsoft.com/office/drawing/2014/main" id="{03B84825-4018-48CF-8C82-A0B4BE9D780D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10706100" cy="438150"/>
          </a:xfrm>
          <a:prstGeom prst="roundRect">
            <a:avLst>
              <a:gd name="adj" fmla="val 17391"/>
            </a:avLst>
          </a:prstGeom>
          <a:solidFill>
            <a:srgbClr val="EEF1F2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ev-3-0">
            <a:extLst>
              <a:ext uri="{FF2B5EF4-FFF2-40B4-BE49-F238E27FC236}">
                <a16:creationId xmlns:a16="http://schemas.microsoft.com/office/drawing/2014/main" id="{8A791FF9-7041-4264-A3C5-B09FCD0E3873}"/>
              </a:ext>
            </a:extLst>
          </p:cNvPr>
          <p:cNvSpPr>
            <a:spLocks noGrp="1"/>
          </p:cNvSpPr>
          <p:nvPr/>
        </p:nvSpPr>
        <p:spPr>
          <a:xfrm>
            <a:off x="914400" y="39909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37" name="ev-3-1">
            <a:extLst>
              <a:ext uri="{FF2B5EF4-FFF2-40B4-BE49-F238E27FC236}">
                <a16:creationId xmlns:a16="http://schemas.microsoft.com/office/drawing/2014/main" id="{B4A0F06A-F10A-4839-8E60-3FD27E01245D}"/>
              </a:ext>
            </a:extLst>
          </p:cNvPr>
          <p:cNvSpPr>
            <a:spLocks noGrp="1"/>
          </p:cNvSpPr>
          <p:nvPr/>
        </p:nvSpPr>
        <p:spPr>
          <a:xfrm>
            <a:off x="2190750" y="39909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targeted therapy</a:t>
            </a:r>
          </a:p>
        </p:txBody>
      </p:sp>
      <p:sp>
        <p:nvSpPr>
          <p:cNvPr id="38" name="ev-3-2">
            <a:extLst>
              <a:ext uri="{FF2B5EF4-FFF2-40B4-BE49-F238E27FC236}">
                <a16:creationId xmlns:a16="http://schemas.microsoft.com/office/drawing/2014/main" id="{ACAB1DE5-DF8A-446A-B02B-4DD3F097B752}"/>
              </a:ext>
            </a:extLst>
          </p:cNvPr>
          <p:cNvSpPr>
            <a:spLocks noGrp="1"/>
          </p:cNvSpPr>
          <p:nvPr/>
        </p:nvSpPr>
        <p:spPr>
          <a:xfrm>
            <a:off x="4095750" y="39909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9" name="ev-3-3">
            <a:extLst>
              <a:ext uri="{FF2B5EF4-FFF2-40B4-BE49-F238E27FC236}">
                <a16:creationId xmlns:a16="http://schemas.microsoft.com/office/drawing/2014/main" id="{DF98E701-C457-477D-B596-F5755C59DE3E}"/>
              </a:ext>
            </a:extLst>
          </p:cNvPr>
          <p:cNvSpPr>
            <a:spLocks noGrp="1"/>
          </p:cNvSpPr>
          <p:nvPr/>
        </p:nvSpPr>
        <p:spPr>
          <a:xfrm>
            <a:off x="5429250" y="39909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0" name="ev-3-4">
            <a:extLst>
              <a:ext uri="{FF2B5EF4-FFF2-40B4-BE49-F238E27FC236}">
                <a16:creationId xmlns:a16="http://schemas.microsoft.com/office/drawing/2014/main" id="{D291C14E-C440-4BB0-A9AF-788FA748229C}"/>
              </a:ext>
            </a:extLst>
          </p:cNvPr>
          <p:cNvSpPr>
            <a:spLocks noGrp="1"/>
          </p:cNvSpPr>
          <p:nvPr/>
        </p:nvSpPr>
        <p:spPr>
          <a:xfrm>
            <a:off x="6572250" y="39909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model_inference</a:t>
            </a:r>
          </a:p>
        </p:txBody>
      </p:sp>
      <p:sp>
        <p:nvSpPr>
          <p:cNvPr id="41" name="ev-3-5">
            <a:extLst>
              <a:ext uri="{FF2B5EF4-FFF2-40B4-BE49-F238E27FC236}">
                <a16:creationId xmlns:a16="http://schemas.microsoft.com/office/drawing/2014/main" id="{412F7E4E-453A-49EA-B331-18CA07D1AC44}"/>
              </a:ext>
            </a:extLst>
          </p:cNvPr>
          <p:cNvSpPr>
            <a:spLocks noGrp="1"/>
          </p:cNvSpPr>
          <p:nvPr/>
        </p:nvSpPr>
        <p:spPr>
          <a:xfrm>
            <a:off x="8953500" y="39909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needs_source</a:t>
            </a:r>
          </a:p>
        </p:txBody>
      </p:sp>
      <p:sp>
        <p:nvSpPr>
          <p:cNvPr id="42" name="bottom">
            <a:extLst>
              <a:ext uri="{FF2B5EF4-FFF2-40B4-BE49-F238E27FC236}">
                <a16:creationId xmlns:a16="http://schemas.microsoft.com/office/drawing/2014/main" id="{B9E89D82-5C6E-4C25-AEC8-E7FFA3FCDDF9}"/>
              </a:ext>
            </a:extLst>
          </p:cNvPr>
          <p:cNvSpPr>
            <a:spLocks noGrp="1"/>
          </p:cNvSpPr>
          <p:nvPr/>
        </p:nvSpPr>
        <p:spPr>
          <a:xfrm>
            <a:off x="1657350" y="520065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TP53 那列不是錯誤要刪掉，而是要明確標成 model inference。</a:t>
            </a:r>
          </a:p>
        </p:txBody>
      </p:sp>
    </p:spTree>
    <p:extLst>
      <p:ext uri="{BB962C8B-B14F-4D97-AF65-F5344CB8AC3E}">
        <p14:creationId xmlns:p14="http://schemas.microsoft.com/office/powerpoint/2010/main" val="191199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ccent-rail-13">
            <a:extLst>
              <a:ext uri="{FF2B5EF4-FFF2-40B4-BE49-F238E27FC236}">
                <a16:creationId xmlns:a16="http://schemas.microsoft.com/office/drawing/2014/main" id="{41FE617A-38D1-4349-98E4-5FA4BA2134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3">
            <a:extLst>
              <a:ext uri="{FF2B5EF4-FFF2-40B4-BE49-F238E27FC236}">
                <a16:creationId xmlns:a16="http://schemas.microsoft.com/office/drawing/2014/main" id="{62CBB58E-9AC0-458C-8425-C4672E488F2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3">
            <a:extLst>
              <a:ext uri="{FF2B5EF4-FFF2-40B4-BE49-F238E27FC236}">
                <a16:creationId xmlns:a16="http://schemas.microsoft.com/office/drawing/2014/main" id="{3A7770B6-74F3-4879-B805-D04830BCD13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3">
            <a:extLst>
              <a:ext uri="{FF2B5EF4-FFF2-40B4-BE49-F238E27FC236}">
                <a16:creationId xmlns:a16="http://schemas.microsoft.com/office/drawing/2014/main" id="{A7AE364D-5EF2-4FE8-87EC-F31ED5AFC03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848201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CAC4EE2-A3EB-4AD2-902A-21A6BE0F75E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FIELDS THAT MATTER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0FF07D18-0453-4EED-A03C-12D90053CD7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PMID、研究類型、樣本數是 evidence table 的最小查證欄位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6CFF079-6828-4371-BEAF-13F3AB366E5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13/40</a:t>
            </a:r>
          </a:p>
        </p:txBody>
      </p:sp>
      <p:sp>
        <p:nvSpPr>
          <p:cNvPr id="8" name="check-head-0">
            <a:extLst>
              <a:ext uri="{FF2B5EF4-FFF2-40B4-BE49-F238E27FC236}">
                <a16:creationId xmlns:a16="http://schemas.microsoft.com/office/drawing/2014/main" id="{1D9CA06E-03DA-40B8-B050-EB0E1FFC12B9}"/>
              </a:ext>
            </a:extLst>
          </p:cNvPr>
          <p:cNvSpPr>
            <a:spLocks noGrp="1"/>
          </p:cNvSpPr>
          <p:nvPr/>
        </p:nvSpPr>
        <p:spPr>
          <a:xfrm>
            <a:off x="1181100" y="16764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PMID / DOI</a:t>
            </a:r>
          </a:p>
        </p:txBody>
      </p:sp>
      <p:sp>
        <p:nvSpPr>
          <p:cNvPr id="9" name="check-copy-0">
            <a:extLst>
              <a:ext uri="{FF2B5EF4-FFF2-40B4-BE49-F238E27FC236}">
                <a16:creationId xmlns:a16="http://schemas.microsoft.com/office/drawing/2014/main" id="{7AFF1534-43D3-4C6E-AF0A-6CB5F5C525FE}"/>
              </a:ext>
            </a:extLst>
          </p:cNvPr>
          <p:cNvSpPr>
            <a:spLocks noGrp="1"/>
          </p:cNvSpPr>
          <p:nvPr/>
        </p:nvSpPr>
        <p:spPr>
          <a:xfrm>
            <a:off x="3638550" y="177165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來源真的存在，且可回查</a:t>
            </a:r>
          </a:p>
        </p:txBody>
      </p:sp>
      <p:sp>
        <p:nvSpPr>
          <p:cNvPr id="10" name="check-head-1">
            <a:extLst>
              <a:ext uri="{FF2B5EF4-FFF2-40B4-BE49-F238E27FC236}">
                <a16:creationId xmlns:a16="http://schemas.microsoft.com/office/drawing/2014/main" id="{14CE63B3-C63B-4FB6-8B3C-9A4EA3A1BAF3}"/>
              </a:ext>
            </a:extLst>
          </p:cNvPr>
          <p:cNvSpPr>
            <a:spLocks noGrp="1"/>
          </p:cNvSpPr>
          <p:nvPr/>
        </p:nvSpPr>
        <p:spPr>
          <a:xfrm>
            <a:off x="1181100" y="24003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study_type</a:t>
            </a:r>
          </a:p>
        </p:txBody>
      </p:sp>
      <p:sp>
        <p:nvSpPr>
          <p:cNvPr id="11" name="check-copy-1">
            <a:extLst>
              <a:ext uri="{FF2B5EF4-FFF2-40B4-BE49-F238E27FC236}">
                <a16:creationId xmlns:a16="http://schemas.microsoft.com/office/drawing/2014/main" id="{2F098576-F2E0-4A96-B8F9-068856A929D2}"/>
              </a:ext>
            </a:extLst>
          </p:cNvPr>
          <p:cNvSpPr>
            <a:spLocks noGrp="1"/>
          </p:cNvSpPr>
          <p:nvPr/>
        </p:nvSpPr>
        <p:spPr>
          <a:xfrm>
            <a:off x="3638550" y="249555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clinical trial、cohort、molecular profiling 不可混用</a:t>
            </a:r>
          </a:p>
        </p:txBody>
      </p:sp>
      <p:sp>
        <p:nvSpPr>
          <p:cNvPr id="12" name="check-head-2">
            <a:extLst>
              <a:ext uri="{FF2B5EF4-FFF2-40B4-BE49-F238E27FC236}">
                <a16:creationId xmlns:a16="http://schemas.microsoft.com/office/drawing/2014/main" id="{2E21FCD9-4BEC-4C70-8465-649A330E0C64}"/>
              </a:ext>
            </a:extLst>
          </p:cNvPr>
          <p:cNvSpPr>
            <a:spLocks noGrp="1"/>
          </p:cNvSpPr>
          <p:nvPr/>
        </p:nvSpPr>
        <p:spPr>
          <a:xfrm>
            <a:off x="1181100" y="31242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sample_n</a:t>
            </a:r>
          </a:p>
        </p:txBody>
      </p:sp>
      <p:sp>
        <p:nvSpPr>
          <p:cNvPr id="13" name="check-copy-2">
            <a:extLst>
              <a:ext uri="{FF2B5EF4-FFF2-40B4-BE49-F238E27FC236}">
                <a16:creationId xmlns:a16="http://schemas.microsoft.com/office/drawing/2014/main" id="{C89CB08E-16AD-4FCF-80E2-3896D4A75C9B}"/>
              </a:ext>
            </a:extLst>
          </p:cNvPr>
          <p:cNvSpPr>
            <a:spLocks noGrp="1"/>
          </p:cNvSpPr>
          <p:nvPr/>
        </p:nvSpPr>
        <p:spPr>
          <a:xfrm>
            <a:off x="3638550" y="321945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只能從 source text 取得，不能由 agent 猜</a:t>
            </a:r>
          </a:p>
        </p:txBody>
      </p:sp>
      <p:sp>
        <p:nvSpPr>
          <p:cNvPr id="14" name="check-head-3">
            <a:extLst>
              <a:ext uri="{FF2B5EF4-FFF2-40B4-BE49-F238E27FC236}">
                <a16:creationId xmlns:a16="http://schemas.microsoft.com/office/drawing/2014/main" id="{47F3E3F9-3A67-45D4-924D-E3B9E33EB5F9}"/>
              </a:ext>
            </a:extLst>
          </p:cNvPr>
          <p:cNvSpPr>
            <a:spLocks noGrp="1"/>
          </p:cNvSpPr>
          <p:nvPr/>
        </p:nvSpPr>
        <p:spPr>
          <a:xfrm>
            <a:off x="1181100" y="38481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disease / gene / drug</a:t>
            </a:r>
          </a:p>
        </p:txBody>
      </p:sp>
      <p:sp>
        <p:nvSpPr>
          <p:cNvPr id="15" name="check-copy-3">
            <a:extLst>
              <a:ext uri="{FF2B5EF4-FFF2-40B4-BE49-F238E27FC236}">
                <a16:creationId xmlns:a16="http://schemas.microsoft.com/office/drawing/2014/main" id="{70E24DCA-9E57-4C33-A6A8-5CEB88D9C27A}"/>
              </a:ext>
            </a:extLst>
          </p:cNvPr>
          <p:cNvSpPr>
            <a:spLocks noGrp="1"/>
          </p:cNvSpPr>
          <p:nvPr/>
        </p:nvSpPr>
        <p:spPr>
          <a:xfrm>
            <a:off x="3638550" y="394335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不要把背景關係改寫成治療證據</a:t>
            </a:r>
          </a:p>
        </p:txBody>
      </p:sp>
      <p:sp>
        <p:nvSpPr>
          <p:cNvPr id="16" name="check-head-4">
            <a:extLst>
              <a:ext uri="{FF2B5EF4-FFF2-40B4-BE49-F238E27FC236}">
                <a16:creationId xmlns:a16="http://schemas.microsoft.com/office/drawing/2014/main" id="{8628BCB0-18BB-49DB-A3B8-6F90B06555AC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7" name="check-copy-4">
            <a:extLst>
              <a:ext uri="{FF2B5EF4-FFF2-40B4-BE49-F238E27FC236}">
                <a16:creationId xmlns:a16="http://schemas.microsoft.com/office/drawing/2014/main" id="{1AAB3F15-CEA4-4F72-B62A-1E38275FA2A9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只能寫來源支持的 narrow claim</a:t>
            </a:r>
          </a:p>
        </p:txBody>
      </p:sp>
    </p:spTree>
    <p:extLst>
      <p:ext uri="{BB962C8B-B14F-4D97-AF65-F5344CB8AC3E}">
        <p14:creationId xmlns:p14="http://schemas.microsoft.com/office/powerpoint/2010/main" val="152342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ccent-rail-14">
            <a:extLst>
              <a:ext uri="{FF2B5EF4-FFF2-40B4-BE49-F238E27FC236}">
                <a16:creationId xmlns:a16="http://schemas.microsoft.com/office/drawing/2014/main" id="{CF08F21D-4351-4192-B9FA-7FA7E7205E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4">
            <a:extLst>
              <a:ext uri="{FF2B5EF4-FFF2-40B4-BE49-F238E27FC236}">
                <a16:creationId xmlns:a16="http://schemas.microsoft.com/office/drawing/2014/main" id="{93CB507B-2681-454C-8A2B-AE16E162D50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4">
            <a:extLst>
              <a:ext uri="{FF2B5EF4-FFF2-40B4-BE49-F238E27FC236}">
                <a16:creationId xmlns:a16="http://schemas.microsoft.com/office/drawing/2014/main" id="{9EB81B04-2A68-45C0-B86C-A5D6769A092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4">
            <a:extLst>
              <a:ext uri="{FF2B5EF4-FFF2-40B4-BE49-F238E27FC236}">
                <a16:creationId xmlns:a16="http://schemas.microsoft.com/office/drawing/2014/main" id="{B294DEE0-DAB6-40F3-AEEE-1ABDAB32348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913448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45AA4AA-D4BC-482F-A716-E60032CB15E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 VS INFERENCE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11BA32B-517B-4432-B33C-1DC26520612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模型推測可以保留，但不能偽裝成文獻證據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A523EDB-1734-42ED-93DE-0FD2FBF10F75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14/40</a:t>
            </a:r>
          </a:p>
        </p:txBody>
      </p:sp>
      <p:sp>
        <p:nvSpPr>
          <p:cNvPr id="8" name="col-0">
            <a:extLst>
              <a:ext uri="{FF2B5EF4-FFF2-40B4-BE49-F238E27FC236}">
                <a16:creationId xmlns:a16="http://schemas.microsoft.com/office/drawing/2014/main" id="{6FBC96B5-FAFB-45FD-B90E-E27D321CE730}"/>
              </a:ext>
            </a:extLst>
          </p:cNvPr>
          <p:cNvSpPr>
            <a:spLocks noGrp="1"/>
          </p:cNvSpPr>
          <p:nvPr/>
        </p:nvSpPr>
        <p:spPr>
          <a:xfrm>
            <a:off x="1371600" y="2038350"/>
            <a:ext cx="4057650" cy="2686050"/>
          </a:xfrm>
          <a:prstGeom prst="roundRect">
            <a:avLst>
              <a:gd name="adj" fmla="val 2837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col-head-0">
            <a:extLst>
              <a:ext uri="{FF2B5EF4-FFF2-40B4-BE49-F238E27FC236}">
                <a16:creationId xmlns:a16="http://schemas.microsoft.com/office/drawing/2014/main" id="{78814645-865D-48ED-9F8C-5356FA2C18BC}"/>
              </a:ext>
            </a:extLst>
          </p:cNvPr>
          <p:cNvSpPr>
            <a:spLocks noGrp="1"/>
          </p:cNvSpPr>
          <p:nvPr/>
        </p:nvSpPr>
        <p:spPr>
          <a:xfrm>
            <a:off x="1771650" y="24193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文獻證據</a:t>
            </a:r>
          </a:p>
        </p:txBody>
      </p:sp>
      <p:sp>
        <p:nvSpPr>
          <p:cNvPr id="10" name="col-bullets-0">
            <a:extLst>
              <a:ext uri="{FF2B5EF4-FFF2-40B4-BE49-F238E27FC236}">
                <a16:creationId xmlns:a16="http://schemas.microsoft.com/office/drawing/2014/main" id="{016E24B4-B538-4EB8-92D0-AFB3DE8AD993}"/>
              </a:ext>
            </a:extLst>
          </p:cNvPr>
          <p:cNvSpPr>
            <a:spLocks noGrp="1"/>
          </p:cNvSpPr>
          <p:nvPr/>
        </p:nvSpPr>
        <p:spPr>
          <a:xfrm>
            <a:off x="2171700" y="3257550"/>
            <a:ext cx="27051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 PMID / DOI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支持 exact claim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study type 與 sample_n 可查</a:t>
            </a:r>
          </a:p>
        </p:txBody>
      </p:sp>
      <p:sp>
        <p:nvSpPr>
          <p:cNvPr id="11" name="col-1">
            <a:extLst>
              <a:ext uri="{FF2B5EF4-FFF2-40B4-BE49-F238E27FC236}">
                <a16:creationId xmlns:a16="http://schemas.microsoft.com/office/drawing/2014/main" id="{B68FEBBD-4C73-45E9-A87B-42A5E2AE5FCC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4057650" cy="2686050"/>
          </a:xfrm>
          <a:prstGeom prst="roundRect">
            <a:avLst>
              <a:gd name="adj" fmla="val 283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l-head-1">
            <a:extLst>
              <a:ext uri="{FF2B5EF4-FFF2-40B4-BE49-F238E27FC236}">
                <a16:creationId xmlns:a16="http://schemas.microsoft.com/office/drawing/2014/main" id="{B3D3DC3A-6DAC-4338-8156-A73B0249089B}"/>
              </a:ext>
            </a:extLst>
          </p:cNvPr>
          <p:cNvSpPr>
            <a:spLocks noGrp="1"/>
          </p:cNvSpPr>
          <p:nvPr/>
        </p:nvSpPr>
        <p:spPr>
          <a:xfrm>
            <a:off x="7105650" y="24193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模型推測</a:t>
            </a:r>
          </a:p>
        </p:txBody>
      </p:sp>
      <p:sp>
        <p:nvSpPr>
          <p:cNvPr id="13" name="col-bullets-1">
            <a:extLst>
              <a:ext uri="{FF2B5EF4-FFF2-40B4-BE49-F238E27FC236}">
                <a16:creationId xmlns:a16="http://schemas.microsoft.com/office/drawing/2014/main" id="{8A248C2D-A6C0-4894-A3C2-1EAE7A9B82D0}"/>
              </a:ext>
            </a:extLst>
          </p:cNvPr>
          <p:cNvSpPr>
            <a:spLocks noGrp="1"/>
          </p:cNvSpPr>
          <p:nvPr/>
        </p:nvSpPr>
        <p:spPr>
          <a:xfrm>
            <a:off x="7505700" y="3257550"/>
            <a:ext cx="27051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沒有可查來源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只是生物學上合理</a:t>
            </a:r>
          </a:p>
          <a:p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只能標 needs_source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1D99CFD4-8859-49ED-BB59-839DEA9EAE3A}"/>
              </a:ext>
            </a:extLst>
          </p:cNvPr>
          <p:cNvSpPr>
            <a:spLocks noGrp="1"/>
          </p:cNvSpPr>
          <p:nvPr/>
        </p:nvSpPr>
        <p:spPr>
          <a:xfrm>
            <a:off x="3238500" y="54864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這是 biomedical agent 的安全底線。</a:t>
            </a:r>
          </a:p>
        </p:txBody>
      </p:sp>
    </p:spTree>
    <p:extLst>
      <p:ext uri="{BB962C8B-B14F-4D97-AF65-F5344CB8AC3E}">
        <p14:creationId xmlns:p14="http://schemas.microsoft.com/office/powerpoint/2010/main" val="47930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-rail-15">
            <a:extLst>
              <a:ext uri="{FF2B5EF4-FFF2-40B4-BE49-F238E27FC236}">
                <a16:creationId xmlns:a16="http://schemas.microsoft.com/office/drawing/2014/main" id="{D8FD4B79-206F-42B6-8937-4529DBA3B8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5">
            <a:extLst>
              <a:ext uri="{FF2B5EF4-FFF2-40B4-BE49-F238E27FC236}">
                <a16:creationId xmlns:a16="http://schemas.microsoft.com/office/drawing/2014/main" id="{D85604BB-EC68-443C-AC20-29602F4084F0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5">
            <a:extLst>
              <a:ext uri="{FF2B5EF4-FFF2-40B4-BE49-F238E27FC236}">
                <a16:creationId xmlns:a16="http://schemas.microsoft.com/office/drawing/2014/main" id="{A2143505-6313-4B34-838C-A3A15884A1C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5">
            <a:extLst>
              <a:ext uri="{FF2B5EF4-FFF2-40B4-BE49-F238E27FC236}">
                <a16:creationId xmlns:a16="http://schemas.microsoft.com/office/drawing/2014/main" id="{323BD4C7-851A-405E-B3A8-7D163904124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978694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1357E946-09CD-40F5-8D23-A93EE2FBAC7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PROMPT 3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00B4B6B1-AA1D-4260-B000-E4978421292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agent 自己標出哪些列不是文獻證據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6A319C0-67F5-47B1-B8C6-E6EBEB7E980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15/40</a:t>
            </a:r>
          </a:p>
        </p:txBody>
      </p:sp>
      <p:sp>
        <p:nvSpPr>
          <p:cNvPr id="8" name="prompt3-bg">
            <a:extLst>
              <a:ext uri="{FF2B5EF4-FFF2-40B4-BE49-F238E27FC236}">
                <a16:creationId xmlns:a16="http://schemas.microsoft.com/office/drawing/2014/main" id="{4A7B6307-672B-4F84-B110-90DFAF7E1805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00450"/>
          </a:xfrm>
          <a:prstGeom prst="roundRect">
            <a:avLst>
              <a:gd name="adj" fmla="val 2116"/>
            </a:avLst>
          </a:prstGeom>
          <a:solidFill>
            <a:srgbClr val="202A33"/>
          </a:solidFill>
          <a:ln w="9525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rompt3">
            <a:extLst>
              <a:ext uri="{FF2B5EF4-FFF2-40B4-BE49-F238E27FC236}">
                <a16:creationId xmlns:a16="http://schemas.microsoft.com/office/drawing/2014/main" id="{815BA713-7350-4A37-90FE-6ACCE09520E0}"/>
              </a:ext>
            </a:extLst>
          </p:cNvPr>
          <p:cNvSpPr>
            <a:spLocks noGrp="1"/>
          </p:cNvSpPr>
          <p:nvPr/>
        </p:nvSpPr>
        <p:spPr>
          <a:xfrm>
            <a:off x="1219200" y="1981200"/>
            <a:ext cx="9753600" cy="3257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Review this evidence table row by row.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For each row, answer: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1. Does the PMID or DOI exist?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2. Does the source support the exact claim?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3. Is sample_n copied from the source or inferred?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4. Is this literature_evidence, molecular_context,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   model_inference, conflicting, or not_found?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5. What must a human reviewer check before accepting it?</a:t>
            </a:r>
          </a:p>
          <a:p>
            <a:endParaRPr sz="1350" b="0">
              <a:solidFill>
                <a:srgbClr val="EEF3F4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Output a corrected table plus a short review note.</a:t>
            </a:r>
          </a:p>
        </p:txBody>
      </p:sp>
    </p:spTree>
    <p:extLst>
      <p:ext uri="{BB962C8B-B14F-4D97-AF65-F5344CB8AC3E}">
        <p14:creationId xmlns:p14="http://schemas.microsoft.com/office/powerpoint/2010/main" val="623339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ccent-rail-16">
            <a:extLst>
              <a:ext uri="{FF2B5EF4-FFF2-40B4-BE49-F238E27FC236}">
                <a16:creationId xmlns:a16="http://schemas.microsoft.com/office/drawing/2014/main" id="{F29BA77D-D041-4734-BCE0-2B912C989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6">
            <a:extLst>
              <a:ext uri="{FF2B5EF4-FFF2-40B4-BE49-F238E27FC236}">
                <a16:creationId xmlns:a16="http://schemas.microsoft.com/office/drawing/2014/main" id="{41308161-E3A2-48AD-9E88-848ADA147360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6">
            <a:extLst>
              <a:ext uri="{FF2B5EF4-FFF2-40B4-BE49-F238E27FC236}">
                <a16:creationId xmlns:a16="http://schemas.microsoft.com/office/drawing/2014/main" id="{C40DD96E-C8BE-4871-BB19-50EAA569E472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6">
            <a:extLst>
              <a:ext uri="{FF2B5EF4-FFF2-40B4-BE49-F238E27FC236}">
                <a16:creationId xmlns:a16="http://schemas.microsoft.com/office/drawing/2014/main" id="{E32A3558-C3F9-489D-A985-2D20E01111D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043940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227BA510-E7A6-4563-B4CB-AD2C7DCCE71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BAD ROW DEMO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F76B6AB-7AC8-44FB-8F97-499082620F5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TP53 這種合理推測要被抓出來，不是自動補成證據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5F41B06-DE98-4D2C-91DD-34335843492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16/40</a:t>
            </a:r>
          </a:p>
        </p:txBody>
      </p:sp>
      <p:sp>
        <p:nvSpPr>
          <p:cNvPr id="8" name="bad">
            <a:extLst>
              <a:ext uri="{FF2B5EF4-FFF2-40B4-BE49-F238E27FC236}">
                <a16:creationId xmlns:a16="http://schemas.microsoft.com/office/drawing/2014/main" id="{3775F5BF-84FB-4B5C-BB33-981CA9452A19}"/>
              </a:ext>
            </a:extLst>
          </p:cNvPr>
          <p:cNvSpPr>
            <a:spLocks noGrp="1"/>
          </p:cNvSpPr>
          <p:nvPr/>
        </p:nvSpPr>
        <p:spPr>
          <a:xfrm>
            <a:off x="1028700" y="1809750"/>
            <a:ext cx="10134600" cy="1428750"/>
          </a:xfrm>
          <a:prstGeom prst="roundRect">
            <a:avLst>
              <a:gd name="adj" fmla="val 5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bad-row">
            <a:extLst>
              <a:ext uri="{FF2B5EF4-FFF2-40B4-BE49-F238E27FC236}">
                <a16:creationId xmlns:a16="http://schemas.microsoft.com/office/drawing/2014/main" id="{A153A40C-2979-4855-9CAE-37A017EAAB7A}"/>
              </a:ext>
            </a:extLst>
          </p:cNvPr>
          <p:cNvSpPr>
            <a:spLocks noGrp="1"/>
          </p:cNvSpPr>
          <p:nvPr/>
        </p:nvSpPr>
        <p:spPr>
          <a:xfrm>
            <a:off x="1371600" y="2247900"/>
            <a:ext cx="942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TP53 | NSCLC | osimertinib or ALK inhibitor | TP53 mutation predicts worse response | PMID: NA | evidence_kind: model_inference</a:t>
            </a:r>
          </a:p>
        </p:txBody>
      </p:sp>
      <p:sp>
        <p:nvSpPr>
          <p:cNvPr id="10" name="fix-0">
            <a:extLst>
              <a:ext uri="{FF2B5EF4-FFF2-40B4-BE49-F238E27FC236}">
                <a16:creationId xmlns:a16="http://schemas.microsoft.com/office/drawing/2014/main" id="{53ACA109-F1BA-4609-9FE6-1A6CAFE6C513}"/>
              </a:ext>
            </a:extLst>
          </p:cNvPr>
          <p:cNvSpPr>
            <a:spLocks noGrp="1"/>
          </p:cNvSpPr>
          <p:nvPr/>
        </p:nvSpPr>
        <p:spPr>
          <a:xfrm>
            <a:off x="1276350" y="3943350"/>
            <a:ext cx="2762250" cy="1314450"/>
          </a:xfrm>
          <a:prstGeom prst="roundRect">
            <a:avLst>
              <a:gd name="adj" fmla="val 579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ix-head-0">
            <a:extLst>
              <a:ext uri="{FF2B5EF4-FFF2-40B4-BE49-F238E27FC236}">
                <a16:creationId xmlns:a16="http://schemas.microsoft.com/office/drawing/2014/main" id="{C065FDE6-2970-4F57-A563-56C2237A0A69}"/>
              </a:ext>
            </a:extLst>
          </p:cNvPr>
          <p:cNvSpPr>
            <a:spLocks noGrp="1"/>
          </p:cNvSpPr>
          <p:nvPr/>
        </p:nvSpPr>
        <p:spPr>
          <a:xfrm>
            <a:off x="1504950" y="4191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不要做</a:t>
            </a:r>
          </a:p>
        </p:txBody>
      </p:sp>
      <p:sp>
        <p:nvSpPr>
          <p:cNvPr id="12" name="fix-copy-0">
            <a:extLst>
              <a:ext uri="{FF2B5EF4-FFF2-40B4-BE49-F238E27FC236}">
                <a16:creationId xmlns:a16="http://schemas.microsoft.com/office/drawing/2014/main" id="{DEEF9A1B-141E-404F-BDA6-7940B106C8B1}"/>
              </a:ext>
            </a:extLst>
          </p:cNvPr>
          <p:cNvSpPr>
            <a:spLocks noGrp="1"/>
          </p:cNvSpPr>
          <p:nvPr/>
        </p:nvSpPr>
        <p:spPr>
          <a:xfrm>
            <a:off x="1504950" y="462915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把它改寫成 clinical conclusion</a:t>
            </a:r>
          </a:p>
        </p:txBody>
      </p:sp>
      <p:sp>
        <p:nvSpPr>
          <p:cNvPr id="13" name="fix-1">
            <a:extLst>
              <a:ext uri="{FF2B5EF4-FFF2-40B4-BE49-F238E27FC236}">
                <a16:creationId xmlns:a16="http://schemas.microsoft.com/office/drawing/2014/main" id="{1DF7BE1B-BE20-482C-B609-4EB6C136E84C}"/>
              </a:ext>
            </a:extLst>
          </p:cNvPr>
          <p:cNvSpPr>
            <a:spLocks noGrp="1"/>
          </p:cNvSpPr>
          <p:nvPr/>
        </p:nvSpPr>
        <p:spPr>
          <a:xfrm>
            <a:off x="4705350" y="3943350"/>
            <a:ext cx="27622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fix-head-1">
            <a:extLst>
              <a:ext uri="{FF2B5EF4-FFF2-40B4-BE49-F238E27FC236}">
                <a16:creationId xmlns:a16="http://schemas.microsoft.com/office/drawing/2014/main" id="{4FCF8E30-9B83-4941-AF3B-DC2F2A663B98}"/>
              </a:ext>
            </a:extLst>
          </p:cNvPr>
          <p:cNvSpPr>
            <a:spLocks noGrp="1"/>
          </p:cNvSpPr>
          <p:nvPr/>
        </p:nvSpPr>
        <p:spPr>
          <a:xfrm>
            <a:off x="4933950" y="4191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要做</a:t>
            </a:r>
          </a:p>
        </p:txBody>
      </p:sp>
      <p:sp>
        <p:nvSpPr>
          <p:cNvPr id="15" name="fix-copy-1">
            <a:extLst>
              <a:ext uri="{FF2B5EF4-FFF2-40B4-BE49-F238E27FC236}">
                <a16:creationId xmlns:a16="http://schemas.microsoft.com/office/drawing/2014/main" id="{79FE924F-3CFE-44B1-ADB5-A8AE181E4F85}"/>
              </a:ext>
            </a:extLst>
          </p:cNvPr>
          <p:cNvSpPr>
            <a:spLocks noGrp="1"/>
          </p:cNvSpPr>
          <p:nvPr/>
        </p:nvSpPr>
        <p:spPr>
          <a:xfrm>
            <a:off x="4933950" y="462915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標記 needs_source 並產生下一個 search task</a:t>
            </a:r>
          </a:p>
        </p:txBody>
      </p:sp>
      <p:sp>
        <p:nvSpPr>
          <p:cNvPr id="16" name="fix-2">
            <a:extLst>
              <a:ext uri="{FF2B5EF4-FFF2-40B4-BE49-F238E27FC236}">
                <a16:creationId xmlns:a16="http://schemas.microsoft.com/office/drawing/2014/main" id="{74384070-42A2-4226-8735-3C5A28F8AFA2}"/>
              </a:ext>
            </a:extLst>
          </p:cNvPr>
          <p:cNvSpPr>
            <a:spLocks noGrp="1"/>
          </p:cNvSpPr>
          <p:nvPr/>
        </p:nvSpPr>
        <p:spPr>
          <a:xfrm>
            <a:off x="8134350" y="3943350"/>
            <a:ext cx="27622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fix-head-2">
            <a:extLst>
              <a:ext uri="{FF2B5EF4-FFF2-40B4-BE49-F238E27FC236}">
                <a16:creationId xmlns:a16="http://schemas.microsoft.com/office/drawing/2014/main" id="{6010E5E1-F537-4A73-BA1F-96304EFDCCDD}"/>
              </a:ext>
            </a:extLst>
          </p:cNvPr>
          <p:cNvSpPr>
            <a:spLocks noGrp="1"/>
          </p:cNvSpPr>
          <p:nvPr/>
        </p:nvSpPr>
        <p:spPr>
          <a:xfrm>
            <a:off x="8362950" y="4191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接受條件</a:t>
            </a:r>
          </a:p>
        </p:txBody>
      </p:sp>
      <p:sp>
        <p:nvSpPr>
          <p:cNvPr id="18" name="fix-copy-2">
            <a:extLst>
              <a:ext uri="{FF2B5EF4-FFF2-40B4-BE49-F238E27FC236}">
                <a16:creationId xmlns:a16="http://schemas.microsoft.com/office/drawing/2014/main" id="{859405CD-25AB-412A-BF17-32239B9C4DB4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找到 source 並確認 source 支持 exact claim</a:t>
            </a:r>
          </a:p>
        </p:txBody>
      </p:sp>
    </p:spTree>
    <p:extLst>
      <p:ext uri="{BB962C8B-B14F-4D97-AF65-F5344CB8AC3E}">
        <p14:creationId xmlns:p14="http://schemas.microsoft.com/office/powerpoint/2010/main" val="328332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ccent-rail-17">
            <a:extLst>
              <a:ext uri="{FF2B5EF4-FFF2-40B4-BE49-F238E27FC236}">
                <a16:creationId xmlns:a16="http://schemas.microsoft.com/office/drawing/2014/main" id="{66FBA3E2-9260-408A-84EA-BE277D1A00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7">
            <a:extLst>
              <a:ext uri="{FF2B5EF4-FFF2-40B4-BE49-F238E27FC236}">
                <a16:creationId xmlns:a16="http://schemas.microsoft.com/office/drawing/2014/main" id="{4212E1B8-EA02-4C78-B03A-A163D9F514FC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7">
            <a:extLst>
              <a:ext uri="{FF2B5EF4-FFF2-40B4-BE49-F238E27FC236}">
                <a16:creationId xmlns:a16="http://schemas.microsoft.com/office/drawing/2014/main" id="{9DDC52C6-7C5E-448B-917C-9408DF3ED7F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7">
            <a:extLst>
              <a:ext uri="{FF2B5EF4-FFF2-40B4-BE49-F238E27FC236}">
                <a16:creationId xmlns:a16="http://schemas.microsoft.com/office/drawing/2014/main" id="{1AA21AE2-D7E0-4452-840F-87743F707C7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109186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13057268-A061-4D82-B907-6D0FE6B66BF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CITATION CHECK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AE914F3-484C-40C6-A0CA-9DE7C579C47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check 是 workflow，不是最後才補的格式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512F0E2-2963-4ECC-B894-5B95889F16B1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17/40</a:t>
            </a:r>
          </a:p>
        </p:txBody>
      </p:sp>
      <p:sp>
        <p:nvSpPr>
          <p:cNvPr id="8" name="check-step-0">
            <a:extLst>
              <a:ext uri="{FF2B5EF4-FFF2-40B4-BE49-F238E27FC236}">
                <a16:creationId xmlns:a16="http://schemas.microsoft.com/office/drawing/2014/main" id="{CF558FD8-3C71-464A-9D49-0E00D58A6FB9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Open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PMID / DOI page</a:t>
            </a:r>
          </a:p>
        </p:txBody>
      </p:sp>
      <p:sp>
        <p:nvSpPr>
          <p:cNvPr id="9" name="check-line-1">
            <a:extLst>
              <a:ext uri="{FF2B5EF4-FFF2-40B4-BE49-F238E27FC236}">
                <a16:creationId xmlns:a16="http://schemas.microsoft.com/office/drawing/2014/main" id="{E9881CFB-A22E-47E1-B31C-EEC38CB8785F}"/>
              </a:ext>
            </a:extLst>
          </p:cNvPr>
          <p:cNvSpPr>
            <a:spLocks noGrp="1"/>
          </p:cNvSpPr>
          <p:nvPr/>
        </p:nvSpPr>
        <p:spPr>
          <a:xfrm>
            <a:off x="2533650" y="3390900"/>
            <a:ext cx="5524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heck-step-1">
            <a:extLst>
              <a:ext uri="{FF2B5EF4-FFF2-40B4-BE49-F238E27FC236}">
                <a16:creationId xmlns:a16="http://schemas.microsoft.com/office/drawing/2014/main" id="{A9698170-4C9B-4A6F-B891-80CCA043CEAF}"/>
              </a:ext>
            </a:extLst>
          </p:cNvPr>
          <p:cNvSpPr>
            <a:spLocks noGrp="1"/>
          </p:cNvSpPr>
          <p:nvPr/>
        </p:nvSpPr>
        <p:spPr>
          <a:xfrm>
            <a:off x="3086100" y="291465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Match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title / year / journal</a:t>
            </a:r>
          </a:p>
        </p:txBody>
      </p:sp>
      <p:sp>
        <p:nvSpPr>
          <p:cNvPr id="11" name="check-line-2">
            <a:extLst>
              <a:ext uri="{FF2B5EF4-FFF2-40B4-BE49-F238E27FC236}">
                <a16:creationId xmlns:a16="http://schemas.microsoft.com/office/drawing/2014/main" id="{71D5251E-D8E5-4F88-B1C8-4FAE5BF8EDF7}"/>
              </a:ext>
            </a:extLst>
          </p:cNvPr>
          <p:cNvSpPr>
            <a:spLocks noGrp="1"/>
          </p:cNvSpPr>
          <p:nvPr/>
        </p:nvSpPr>
        <p:spPr>
          <a:xfrm>
            <a:off x="4572000" y="3390900"/>
            <a:ext cx="5524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heck-step-2">
            <a:extLst>
              <a:ext uri="{FF2B5EF4-FFF2-40B4-BE49-F238E27FC236}">
                <a16:creationId xmlns:a16="http://schemas.microsoft.com/office/drawing/2014/main" id="{39E652FF-7B5B-4F63-9EF9-A70521DA266C}"/>
              </a:ext>
            </a:extLst>
          </p:cNvPr>
          <p:cNvSpPr>
            <a:spLocks noGrp="1"/>
          </p:cNvSpPr>
          <p:nvPr/>
        </p:nvSpPr>
        <p:spPr>
          <a:xfrm>
            <a:off x="5124450" y="291465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Read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abstract method/results</a:t>
            </a:r>
          </a:p>
        </p:txBody>
      </p:sp>
      <p:sp>
        <p:nvSpPr>
          <p:cNvPr id="13" name="check-line-3">
            <a:extLst>
              <a:ext uri="{FF2B5EF4-FFF2-40B4-BE49-F238E27FC236}">
                <a16:creationId xmlns:a16="http://schemas.microsoft.com/office/drawing/2014/main" id="{A4F96E56-83FB-4060-9EFF-EA2A2A150408}"/>
              </a:ext>
            </a:extLst>
          </p:cNvPr>
          <p:cNvSpPr>
            <a:spLocks noGrp="1"/>
          </p:cNvSpPr>
          <p:nvPr/>
        </p:nvSpPr>
        <p:spPr>
          <a:xfrm>
            <a:off x="6610350" y="3390900"/>
            <a:ext cx="5524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check-step-3">
            <a:extLst>
              <a:ext uri="{FF2B5EF4-FFF2-40B4-BE49-F238E27FC236}">
                <a16:creationId xmlns:a16="http://schemas.microsoft.com/office/drawing/2014/main" id="{68505B9F-3292-4A43-8875-5AE4958C4EDF}"/>
              </a:ext>
            </a:extLst>
          </p:cNvPr>
          <p:cNvSpPr>
            <a:spLocks noGrp="1"/>
          </p:cNvSpPr>
          <p:nvPr/>
        </p:nvSpPr>
        <p:spPr>
          <a:xfrm>
            <a:off x="7162800" y="291465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Compare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claim vs source</a:t>
            </a:r>
          </a:p>
        </p:txBody>
      </p:sp>
      <p:sp>
        <p:nvSpPr>
          <p:cNvPr id="15" name="check-line-4">
            <a:extLst>
              <a:ext uri="{FF2B5EF4-FFF2-40B4-BE49-F238E27FC236}">
                <a16:creationId xmlns:a16="http://schemas.microsoft.com/office/drawing/2014/main" id="{DF18EB68-03CE-4C21-83F4-53431F651D07}"/>
              </a:ext>
            </a:extLst>
          </p:cNvPr>
          <p:cNvSpPr>
            <a:spLocks noGrp="1"/>
          </p:cNvSpPr>
          <p:nvPr/>
        </p:nvSpPr>
        <p:spPr>
          <a:xfrm>
            <a:off x="8648700" y="3390900"/>
            <a:ext cx="5524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check-step-4">
            <a:extLst>
              <a:ext uri="{FF2B5EF4-FFF2-40B4-BE49-F238E27FC236}">
                <a16:creationId xmlns:a16="http://schemas.microsoft.com/office/drawing/2014/main" id="{2ED78D34-DA16-4929-A216-5BABE8FA26DE}"/>
              </a:ext>
            </a:extLst>
          </p:cNvPr>
          <p:cNvSpPr>
            <a:spLocks noGrp="1"/>
          </p:cNvSpPr>
          <p:nvPr/>
        </p:nvSpPr>
        <p:spPr>
          <a:xfrm>
            <a:off x="9201150" y="291465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Mark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supported / needs review</a:t>
            </a:r>
          </a:p>
        </p:txBody>
      </p:sp>
      <p:sp>
        <p:nvSpPr>
          <p:cNvPr id="17" name="bottom">
            <a:extLst>
              <a:ext uri="{FF2B5EF4-FFF2-40B4-BE49-F238E27FC236}">
                <a16:creationId xmlns:a16="http://schemas.microsoft.com/office/drawing/2014/main" id="{0B2623AA-8A65-4203-8EE1-6E5F90BCF4B7}"/>
              </a:ext>
            </a:extLst>
          </p:cNvPr>
          <p:cNvSpPr>
            <a:spLocks noGrp="1"/>
          </p:cNvSpPr>
          <p:nvPr/>
        </p:nvSpPr>
        <p:spPr>
          <a:xfrm>
            <a:off x="2095500" y="51435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檢查失敗不是失敗；沒有標記檢查失敗才是失敗。</a:t>
            </a:r>
          </a:p>
        </p:txBody>
      </p:sp>
    </p:spTree>
    <p:extLst>
      <p:ext uri="{BB962C8B-B14F-4D97-AF65-F5344CB8AC3E}">
        <p14:creationId xmlns:p14="http://schemas.microsoft.com/office/powerpoint/2010/main" val="199284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ccent-rail-18">
            <a:extLst>
              <a:ext uri="{FF2B5EF4-FFF2-40B4-BE49-F238E27FC236}">
                <a16:creationId xmlns:a16="http://schemas.microsoft.com/office/drawing/2014/main" id="{C723A7B8-71DB-4627-97C4-776C2371B0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8">
            <a:extLst>
              <a:ext uri="{FF2B5EF4-FFF2-40B4-BE49-F238E27FC236}">
                <a16:creationId xmlns:a16="http://schemas.microsoft.com/office/drawing/2014/main" id="{384828DA-601C-4665-A562-22A7C714AC5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3" name="progress-track-18">
            <a:extLst>
              <a:ext uri="{FF2B5EF4-FFF2-40B4-BE49-F238E27FC236}">
                <a16:creationId xmlns:a16="http://schemas.microsoft.com/office/drawing/2014/main" id="{13A0ED29-1578-4775-8419-1FC86A25D0A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8">
            <a:extLst>
              <a:ext uri="{FF2B5EF4-FFF2-40B4-BE49-F238E27FC236}">
                <a16:creationId xmlns:a16="http://schemas.microsoft.com/office/drawing/2014/main" id="{E81F07C8-41A8-40AD-A02C-9041B2C6B3B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174432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EB39FFCE-8650-444D-8FEB-1D17B102603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RESEARCH NOTE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2228C5-A5A7-4ADB-BB19-B271AEBBE51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Research note 把表格變成可交接的研究紀錄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7519BCD-06BD-4DEB-9113-751C87032554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18/40</a:t>
            </a:r>
          </a:p>
        </p:txBody>
      </p:sp>
      <p:sp>
        <p:nvSpPr>
          <p:cNvPr id="8" name="note-part-0">
            <a:extLst>
              <a:ext uri="{FF2B5EF4-FFF2-40B4-BE49-F238E27FC236}">
                <a16:creationId xmlns:a16="http://schemas.microsoft.com/office/drawing/2014/main" id="{F475997B-6648-4358-9400-D833214938A4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note-head-0">
            <a:extLst>
              <a:ext uri="{FF2B5EF4-FFF2-40B4-BE49-F238E27FC236}">
                <a16:creationId xmlns:a16="http://schemas.microsoft.com/office/drawing/2014/main" id="{AF5E9F16-D8B2-4DAB-9C9E-5B948885A5B1}"/>
              </a:ext>
            </a:extLst>
          </p:cNvPr>
          <p:cNvSpPr>
            <a:spLocks noGrp="1"/>
          </p:cNvSpPr>
          <p:nvPr/>
        </p:nvSpPr>
        <p:spPr>
          <a:xfrm>
            <a:off x="1104900" y="217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10" name="note-copy-0">
            <a:extLst>
              <a:ext uri="{FF2B5EF4-FFF2-40B4-BE49-F238E27FC236}">
                <a16:creationId xmlns:a16="http://schemas.microsoft.com/office/drawing/2014/main" id="{1A99F7CA-4261-4716-9360-AEEAA9098AC3}"/>
              </a:ext>
            </a:extLst>
          </p:cNvPr>
          <p:cNvSpPr>
            <a:spLocks noGrp="1"/>
          </p:cNvSpPr>
          <p:nvPr/>
        </p:nvSpPr>
        <p:spPr>
          <a:xfrm>
            <a:off x="1104900" y="2514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問題與範圍</a:t>
            </a:r>
          </a:p>
        </p:txBody>
      </p:sp>
      <p:sp>
        <p:nvSpPr>
          <p:cNvPr id="11" name="note-part-1">
            <a:extLst>
              <a:ext uri="{FF2B5EF4-FFF2-40B4-BE49-F238E27FC236}">
                <a16:creationId xmlns:a16="http://schemas.microsoft.com/office/drawing/2014/main" id="{553C66E3-A02B-4887-9AC7-B3BF75FA5D6E}"/>
              </a:ext>
            </a:extLst>
          </p:cNvPr>
          <p:cNvSpPr>
            <a:spLocks noGrp="1"/>
          </p:cNvSpPr>
          <p:nvPr/>
        </p:nvSpPr>
        <p:spPr>
          <a:xfrm>
            <a:off x="4514850" y="1981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note-head-1">
            <a:extLst>
              <a:ext uri="{FF2B5EF4-FFF2-40B4-BE49-F238E27FC236}">
                <a16:creationId xmlns:a16="http://schemas.microsoft.com/office/drawing/2014/main" id="{AC710897-FDB1-4CDD-828E-14F8024763B8}"/>
              </a:ext>
            </a:extLst>
          </p:cNvPr>
          <p:cNvSpPr>
            <a:spLocks noGrp="1"/>
          </p:cNvSpPr>
          <p:nvPr/>
        </p:nvSpPr>
        <p:spPr>
          <a:xfrm>
            <a:off x="4724400" y="217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13" name="note-copy-1">
            <a:extLst>
              <a:ext uri="{FF2B5EF4-FFF2-40B4-BE49-F238E27FC236}">
                <a16:creationId xmlns:a16="http://schemas.microsoft.com/office/drawing/2014/main" id="{85D90159-0023-4F13-A959-4926E183AF7D}"/>
              </a:ext>
            </a:extLst>
          </p:cNvPr>
          <p:cNvSpPr>
            <a:spLocks noGrp="1"/>
          </p:cNvSpPr>
          <p:nvPr/>
        </p:nvSpPr>
        <p:spPr>
          <a:xfrm>
            <a:off x="4724400" y="2514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query、日期、排除條件</a:t>
            </a:r>
          </a:p>
        </p:txBody>
      </p:sp>
      <p:sp>
        <p:nvSpPr>
          <p:cNvPr id="14" name="note-part-2">
            <a:extLst>
              <a:ext uri="{FF2B5EF4-FFF2-40B4-BE49-F238E27FC236}">
                <a16:creationId xmlns:a16="http://schemas.microsoft.com/office/drawing/2014/main" id="{478A864D-7105-4A34-9D4A-D66C9691FDA4}"/>
              </a:ext>
            </a:extLst>
          </p:cNvPr>
          <p:cNvSpPr>
            <a:spLocks noGrp="1"/>
          </p:cNvSpPr>
          <p:nvPr/>
        </p:nvSpPr>
        <p:spPr>
          <a:xfrm>
            <a:off x="8134350" y="1981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note-head-2">
            <a:extLst>
              <a:ext uri="{FF2B5EF4-FFF2-40B4-BE49-F238E27FC236}">
                <a16:creationId xmlns:a16="http://schemas.microsoft.com/office/drawing/2014/main" id="{5CBD43D7-CC12-4EBD-A51E-429B40267AA7}"/>
              </a:ext>
            </a:extLst>
          </p:cNvPr>
          <p:cNvSpPr>
            <a:spLocks noGrp="1"/>
          </p:cNvSpPr>
          <p:nvPr/>
        </p:nvSpPr>
        <p:spPr>
          <a:xfrm>
            <a:off x="8343900" y="217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16" name="note-copy-2">
            <a:extLst>
              <a:ext uri="{FF2B5EF4-FFF2-40B4-BE49-F238E27FC236}">
                <a16:creationId xmlns:a16="http://schemas.microsoft.com/office/drawing/2014/main" id="{34697803-4729-49BA-AAAD-10E2C191DC8E}"/>
              </a:ext>
            </a:extLst>
          </p:cNvPr>
          <p:cNvSpPr>
            <a:spLocks noGrp="1"/>
          </p:cNvSpPr>
          <p:nvPr/>
        </p:nvSpPr>
        <p:spPr>
          <a:xfrm>
            <a:off x="8343900" y="2514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structured rows</a:t>
            </a:r>
          </a:p>
        </p:txBody>
      </p:sp>
      <p:sp>
        <p:nvSpPr>
          <p:cNvPr id="17" name="note-part-3">
            <a:extLst>
              <a:ext uri="{FF2B5EF4-FFF2-40B4-BE49-F238E27FC236}">
                <a16:creationId xmlns:a16="http://schemas.microsoft.com/office/drawing/2014/main" id="{838C8DB8-0183-4100-A97F-2EF450C5D5D1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note-head-3">
            <a:extLst>
              <a:ext uri="{FF2B5EF4-FFF2-40B4-BE49-F238E27FC236}">
                <a16:creationId xmlns:a16="http://schemas.microsoft.com/office/drawing/2014/main" id="{EBCC1730-F073-4162-9F93-E5C615FC42C8}"/>
              </a:ext>
            </a:extLst>
          </p:cNvPr>
          <p:cNvSpPr>
            <a:spLocks noGrp="1"/>
          </p:cNvSpPr>
          <p:nvPr/>
        </p:nvSpPr>
        <p:spPr>
          <a:xfrm>
            <a:off x="1104900" y="3543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Unresolved questions</a:t>
            </a:r>
          </a:p>
        </p:txBody>
      </p:sp>
      <p:sp>
        <p:nvSpPr>
          <p:cNvPr id="19" name="note-copy-3">
            <a:extLst>
              <a:ext uri="{FF2B5EF4-FFF2-40B4-BE49-F238E27FC236}">
                <a16:creationId xmlns:a16="http://schemas.microsoft.com/office/drawing/2014/main" id="{410F3F9B-835B-4580-828A-09EA958FFAFD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not_found / conflicting</a:t>
            </a:r>
          </a:p>
        </p:txBody>
      </p:sp>
      <p:sp>
        <p:nvSpPr>
          <p:cNvPr id="20" name="note-part-4">
            <a:extLst>
              <a:ext uri="{FF2B5EF4-FFF2-40B4-BE49-F238E27FC236}">
                <a16:creationId xmlns:a16="http://schemas.microsoft.com/office/drawing/2014/main" id="{CDB55BF1-967C-4189-99BD-AABEC960579C}"/>
              </a:ext>
            </a:extLst>
          </p:cNvPr>
          <p:cNvSpPr>
            <a:spLocks noGrp="1"/>
          </p:cNvSpPr>
          <p:nvPr/>
        </p:nvSpPr>
        <p:spPr>
          <a:xfrm>
            <a:off x="4514850" y="33528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note-head-4">
            <a:extLst>
              <a:ext uri="{FF2B5EF4-FFF2-40B4-BE49-F238E27FC236}">
                <a16:creationId xmlns:a16="http://schemas.microsoft.com/office/drawing/2014/main" id="{678B54FC-5B85-47DC-93DC-288C1F19CCC9}"/>
              </a:ext>
            </a:extLst>
          </p:cNvPr>
          <p:cNvSpPr>
            <a:spLocks noGrp="1"/>
          </p:cNvSpPr>
          <p:nvPr/>
        </p:nvSpPr>
        <p:spPr>
          <a:xfrm>
            <a:off x="4724400" y="3543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Human review notes</a:t>
            </a:r>
          </a:p>
        </p:txBody>
      </p:sp>
      <p:sp>
        <p:nvSpPr>
          <p:cNvPr id="22" name="note-copy-4">
            <a:extLst>
              <a:ext uri="{FF2B5EF4-FFF2-40B4-BE49-F238E27FC236}">
                <a16:creationId xmlns:a16="http://schemas.microsoft.com/office/drawing/2014/main" id="{6CD1A407-FEFC-49CD-84B7-1A3FFF8180FB}"/>
              </a:ext>
            </a:extLst>
          </p:cNvPr>
          <p:cNvSpPr>
            <a:spLocks noGrp="1"/>
          </p:cNvSpPr>
          <p:nvPr/>
        </p:nvSpPr>
        <p:spPr>
          <a:xfrm>
            <a:off x="4724400" y="3886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哪些 row 被改過</a:t>
            </a:r>
          </a:p>
        </p:txBody>
      </p:sp>
      <p:sp>
        <p:nvSpPr>
          <p:cNvPr id="23" name="note-part-5">
            <a:extLst>
              <a:ext uri="{FF2B5EF4-FFF2-40B4-BE49-F238E27FC236}">
                <a16:creationId xmlns:a16="http://schemas.microsoft.com/office/drawing/2014/main" id="{40C5A19D-55AE-4F67-A635-1A0B038DA776}"/>
              </a:ext>
            </a:extLst>
          </p:cNvPr>
          <p:cNvSpPr>
            <a:spLocks noGrp="1"/>
          </p:cNvSpPr>
          <p:nvPr/>
        </p:nvSpPr>
        <p:spPr>
          <a:xfrm>
            <a:off x="8134350" y="33528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note-head-5">
            <a:extLst>
              <a:ext uri="{FF2B5EF4-FFF2-40B4-BE49-F238E27FC236}">
                <a16:creationId xmlns:a16="http://schemas.microsoft.com/office/drawing/2014/main" id="{7F384E84-F440-4700-8A5A-CC99BBEC9A27}"/>
              </a:ext>
            </a:extLst>
          </p:cNvPr>
          <p:cNvSpPr>
            <a:spLocks noGrp="1"/>
          </p:cNvSpPr>
          <p:nvPr/>
        </p:nvSpPr>
        <p:spPr>
          <a:xfrm>
            <a:off x="8343900" y="3543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Next actions</a:t>
            </a:r>
          </a:p>
        </p:txBody>
      </p:sp>
      <p:sp>
        <p:nvSpPr>
          <p:cNvPr id="25" name="note-copy-5">
            <a:extLst>
              <a:ext uri="{FF2B5EF4-FFF2-40B4-BE49-F238E27FC236}">
                <a16:creationId xmlns:a16="http://schemas.microsoft.com/office/drawing/2014/main" id="{DE38F66E-4EC9-4409-B1AA-33ED2F18BDD8}"/>
              </a:ext>
            </a:extLst>
          </p:cNvPr>
          <p:cNvSpPr>
            <a:spLocks noGrp="1"/>
          </p:cNvSpPr>
          <p:nvPr/>
        </p:nvSpPr>
        <p:spPr>
          <a:xfrm>
            <a:off x="8343900" y="3886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下一輪 search 或驗證</a:t>
            </a:r>
          </a:p>
        </p:txBody>
      </p:sp>
    </p:spTree>
    <p:extLst>
      <p:ext uri="{BB962C8B-B14F-4D97-AF65-F5344CB8AC3E}">
        <p14:creationId xmlns:p14="http://schemas.microsoft.com/office/powerpoint/2010/main" val="1945133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ccent-rail-19">
            <a:extLst>
              <a:ext uri="{FF2B5EF4-FFF2-40B4-BE49-F238E27FC236}">
                <a16:creationId xmlns:a16="http://schemas.microsoft.com/office/drawing/2014/main" id="{B2F66A92-080E-4801-9448-EE0C59DA3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9">
            <a:extLst>
              <a:ext uri="{FF2B5EF4-FFF2-40B4-BE49-F238E27FC236}">
                <a16:creationId xmlns:a16="http://schemas.microsoft.com/office/drawing/2014/main" id="{F73DAD72-6AE4-4FCD-8F57-70C868AB5C16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" name="progress-track-19">
            <a:extLst>
              <a:ext uri="{FF2B5EF4-FFF2-40B4-BE49-F238E27FC236}">
                <a16:creationId xmlns:a16="http://schemas.microsoft.com/office/drawing/2014/main" id="{7517EA09-6C07-4A0C-ABB8-7AF7CA07DF8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9">
            <a:extLst>
              <a:ext uri="{FF2B5EF4-FFF2-40B4-BE49-F238E27FC236}">
                <a16:creationId xmlns:a16="http://schemas.microsoft.com/office/drawing/2014/main" id="{94E262F8-25F7-4C35-A83F-D3196AC47C0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239679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B6D92C2A-4404-4FF4-BA07-D64B09275E3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MCP / SKILLS PREVIEW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59466A0-BD9F-4592-8255-348A6E3E667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今天只先知道會用哪些工具，細節留到明天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CA9B077-D198-456C-86F6-3FB3500FE85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19/40</a:t>
            </a:r>
          </a:p>
        </p:txBody>
      </p:sp>
      <p:sp>
        <p:nvSpPr>
          <p:cNvPr id="8" name="tool-0">
            <a:extLst>
              <a:ext uri="{FF2B5EF4-FFF2-40B4-BE49-F238E27FC236}">
                <a16:creationId xmlns:a16="http://schemas.microsoft.com/office/drawing/2014/main" id="{FA66C502-0B53-4A15-B881-556AE6908858}"/>
              </a:ext>
            </a:extLst>
          </p:cNvPr>
          <p:cNvSpPr>
            <a:spLocks noGrp="1"/>
          </p:cNvSpPr>
          <p:nvPr/>
        </p:nvSpPr>
        <p:spPr>
          <a:xfrm>
            <a:off x="1295400" y="16954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PubMed skill</a:t>
            </a:r>
          </a:p>
        </p:txBody>
      </p:sp>
      <p:sp>
        <p:nvSpPr>
          <p:cNvPr id="9" name="tool-use-0">
            <a:extLst>
              <a:ext uri="{FF2B5EF4-FFF2-40B4-BE49-F238E27FC236}">
                <a16:creationId xmlns:a16="http://schemas.microsoft.com/office/drawing/2014/main" id="{15C32B64-3511-4CB6-B270-A2C78F7CD212}"/>
              </a:ext>
            </a:extLst>
          </p:cNvPr>
          <p:cNvSpPr>
            <a:spLocks noGrp="1"/>
          </p:cNvSpPr>
          <p:nvPr/>
        </p:nvSpPr>
        <p:spPr>
          <a:xfrm>
            <a:off x="3905250" y="17907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 PMID、DOI、abstract metadata</a:t>
            </a:r>
          </a:p>
        </p:txBody>
      </p:sp>
      <p:sp>
        <p:nvSpPr>
          <p:cNvPr id="10" name="tool-1">
            <a:extLst>
              <a:ext uri="{FF2B5EF4-FFF2-40B4-BE49-F238E27FC236}">
                <a16:creationId xmlns:a16="http://schemas.microsoft.com/office/drawing/2014/main" id="{EBC2757F-D4A6-476E-ACB3-503DEC8A68AC}"/>
              </a:ext>
            </a:extLst>
          </p:cNvPr>
          <p:cNvSpPr>
            <a:spLocks noGrp="1"/>
          </p:cNvSpPr>
          <p:nvPr/>
        </p:nvSpPr>
        <p:spPr>
          <a:xfrm>
            <a:off x="1295400" y="23812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1" name="tool-use-1">
            <a:extLst>
              <a:ext uri="{FF2B5EF4-FFF2-40B4-BE49-F238E27FC236}">
                <a16:creationId xmlns:a16="http://schemas.microsoft.com/office/drawing/2014/main" id="{BED5ABCD-4FC8-4E73-96BE-4D1EF47351FF}"/>
              </a:ext>
            </a:extLst>
          </p:cNvPr>
          <p:cNvSpPr>
            <a:spLocks noGrp="1"/>
          </p:cNvSpPr>
          <p:nvPr/>
        </p:nvSpPr>
        <p:spPr>
          <a:xfrm>
            <a:off x="3905250" y="24765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開來源頁面做人工確認</a:t>
            </a:r>
          </a:p>
        </p:txBody>
      </p:sp>
      <p:sp>
        <p:nvSpPr>
          <p:cNvPr id="12" name="tool-2">
            <a:extLst>
              <a:ext uri="{FF2B5EF4-FFF2-40B4-BE49-F238E27FC236}">
                <a16:creationId xmlns:a16="http://schemas.microsoft.com/office/drawing/2014/main" id="{A97910E0-2D2D-4287-B038-D0D55E6FD440}"/>
              </a:ext>
            </a:extLst>
          </p:cNvPr>
          <p:cNvSpPr>
            <a:spLocks noGrp="1"/>
          </p:cNvSpPr>
          <p:nvPr/>
        </p:nvSpPr>
        <p:spPr>
          <a:xfrm>
            <a:off x="1295400" y="30670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Spreadsheet / CSV</a:t>
            </a:r>
          </a:p>
        </p:txBody>
      </p:sp>
      <p:sp>
        <p:nvSpPr>
          <p:cNvPr id="13" name="tool-use-2">
            <a:extLst>
              <a:ext uri="{FF2B5EF4-FFF2-40B4-BE49-F238E27FC236}">
                <a16:creationId xmlns:a16="http://schemas.microsoft.com/office/drawing/2014/main" id="{1516EB2C-C853-4DFE-9E80-55D5BA081E11}"/>
              </a:ext>
            </a:extLst>
          </p:cNvPr>
          <p:cNvSpPr>
            <a:spLocks noGrp="1"/>
          </p:cNvSpPr>
          <p:nvPr/>
        </p:nvSpPr>
        <p:spPr>
          <a:xfrm>
            <a:off x="3905250" y="31623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 evidence table</a:t>
            </a:r>
          </a:p>
        </p:txBody>
      </p:sp>
      <p:sp>
        <p:nvSpPr>
          <p:cNvPr id="14" name="tool-3">
            <a:extLst>
              <a:ext uri="{FF2B5EF4-FFF2-40B4-BE49-F238E27FC236}">
                <a16:creationId xmlns:a16="http://schemas.microsoft.com/office/drawing/2014/main" id="{06099E4A-792D-41D9-B93C-81F123082F4C}"/>
              </a:ext>
            </a:extLst>
          </p:cNvPr>
          <p:cNvSpPr>
            <a:spLocks noGrp="1"/>
          </p:cNvSpPr>
          <p:nvPr/>
        </p:nvSpPr>
        <p:spPr>
          <a:xfrm>
            <a:off x="1295400" y="37528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Terminal / script</a:t>
            </a:r>
          </a:p>
        </p:txBody>
      </p:sp>
      <p:sp>
        <p:nvSpPr>
          <p:cNvPr id="15" name="tool-use-3">
            <a:extLst>
              <a:ext uri="{FF2B5EF4-FFF2-40B4-BE49-F238E27FC236}">
                <a16:creationId xmlns:a16="http://schemas.microsoft.com/office/drawing/2014/main" id="{1E5B33ED-F9F0-4B96-B09A-1E1406D482A9}"/>
              </a:ext>
            </a:extLst>
          </p:cNvPr>
          <p:cNvSpPr>
            <a:spLocks noGrp="1"/>
          </p:cNvSpPr>
          <p:nvPr/>
        </p:nvSpPr>
        <p:spPr>
          <a:xfrm>
            <a:off x="3905250" y="38481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檢查欄位與格式</a:t>
            </a:r>
          </a:p>
        </p:txBody>
      </p:sp>
      <p:sp>
        <p:nvSpPr>
          <p:cNvPr id="16" name="tool-4">
            <a:extLst>
              <a:ext uri="{FF2B5EF4-FFF2-40B4-BE49-F238E27FC236}">
                <a16:creationId xmlns:a16="http://schemas.microsoft.com/office/drawing/2014/main" id="{378C5A1A-F98E-42DE-86FC-627B9BB1DACB}"/>
              </a:ext>
            </a:extLst>
          </p:cNvPr>
          <p:cNvSpPr>
            <a:spLocks noGrp="1"/>
          </p:cNvSpPr>
          <p:nvPr/>
        </p:nvSpPr>
        <p:spPr>
          <a:xfrm>
            <a:off x="1295400" y="44386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Citation manager</a:t>
            </a:r>
          </a:p>
        </p:txBody>
      </p:sp>
      <p:sp>
        <p:nvSpPr>
          <p:cNvPr id="17" name="tool-use-4">
            <a:extLst>
              <a:ext uri="{FF2B5EF4-FFF2-40B4-BE49-F238E27FC236}">
                <a16:creationId xmlns:a16="http://schemas.microsoft.com/office/drawing/2014/main" id="{4C7129EB-6EB9-4AAC-97F9-FC9B72C470D4}"/>
              </a:ext>
            </a:extLst>
          </p:cNvPr>
          <p:cNvSpPr>
            <a:spLocks noGrp="1"/>
          </p:cNvSpPr>
          <p:nvPr/>
        </p:nvSpPr>
        <p:spPr>
          <a:xfrm>
            <a:off x="3905250" y="45339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保存候選文獻</a:t>
            </a:r>
          </a:p>
        </p:txBody>
      </p:sp>
      <p:sp>
        <p:nvSpPr>
          <p:cNvPr id="18" name="bottom">
            <a:extLst>
              <a:ext uri="{FF2B5EF4-FFF2-40B4-BE49-F238E27FC236}">
                <a16:creationId xmlns:a16="http://schemas.microsoft.com/office/drawing/2014/main" id="{BCAE1F2F-3395-45F7-AB1E-C1AEB471395A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工具越多，越要明確權限、輸入、輸出和 review gate。</a:t>
            </a:r>
          </a:p>
        </p:txBody>
      </p:sp>
    </p:spTree>
    <p:extLst>
      <p:ext uri="{BB962C8B-B14F-4D97-AF65-F5344CB8AC3E}">
        <p14:creationId xmlns:p14="http://schemas.microsoft.com/office/powerpoint/2010/main" val="1279926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ccent-rail-20">
            <a:extLst>
              <a:ext uri="{FF2B5EF4-FFF2-40B4-BE49-F238E27FC236}">
                <a16:creationId xmlns:a16="http://schemas.microsoft.com/office/drawing/2014/main" id="{209BE399-108B-4A9E-8D99-E137A13F9A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0">
            <a:extLst>
              <a:ext uri="{FF2B5EF4-FFF2-40B4-BE49-F238E27FC236}">
                <a16:creationId xmlns:a16="http://schemas.microsoft.com/office/drawing/2014/main" id="{6DFCE72D-13F2-4BF4-B1C0-A0B81FB7652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" name="progress-track-20">
            <a:extLst>
              <a:ext uri="{FF2B5EF4-FFF2-40B4-BE49-F238E27FC236}">
                <a16:creationId xmlns:a16="http://schemas.microsoft.com/office/drawing/2014/main" id="{8FA941BF-892D-4021-94FB-FBF3E5D24D9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0">
            <a:extLst>
              <a:ext uri="{FF2B5EF4-FFF2-40B4-BE49-F238E27FC236}">
                <a16:creationId xmlns:a16="http://schemas.microsoft.com/office/drawing/2014/main" id="{2568535C-55AD-4CC9-8DA8-AB7343647E1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304925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F5D7187-1C04-4211-AAF7-52613117D63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LIVE DEMO SCRIPT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464759A-18F8-4848-9D54-49C4BA23CE2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課堂示範照著四個 checkpoint 推進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0F90987-F3DF-44B3-996C-C7BB97680B1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20/40</a:t>
            </a:r>
          </a:p>
        </p:txBody>
      </p:sp>
      <p:sp>
        <p:nvSpPr>
          <p:cNvPr id="8" name="demo-step-0">
            <a:extLst>
              <a:ext uri="{FF2B5EF4-FFF2-40B4-BE49-F238E27FC236}">
                <a16:creationId xmlns:a16="http://schemas.microsoft.com/office/drawing/2014/main" id="{92C6372F-096C-4347-BE42-7B5A132B447B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20574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demo-num-0">
            <a:extLst>
              <a:ext uri="{FF2B5EF4-FFF2-40B4-BE49-F238E27FC236}">
                <a16:creationId xmlns:a16="http://schemas.microsoft.com/office/drawing/2014/main" id="{59E2C123-5078-47BA-967E-818360E807B7}"/>
              </a:ext>
            </a:extLst>
          </p:cNvPr>
          <p:cNvSpPr>
            <a:spLocks noGrp="1"/>
          </p:cNvSpPr>
          <p:nvPr/>
        </p:nvSpPr>
        <p:spPr>
          <a:xfrm>
            <a:off x="1352550" y="26098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demo-head-0">
            <a:extLst>
              <a:ext uri="{FF2B5EF4-FFF2-40B4-BE49-F238E27FC236}">
                <a16:creationId xmlns:a16="http://schemas.microsoft.com/office/drawing/2014/main" id="{9D073B61-223C-4A6F-8226-3AF1F87E3B1A}"/>
              </a:ext>
            </a:extLst>
          </p:cNvPr>
          <p:cNvSpPr>
            <a:spLocks noGrp="1"/>
          </p:cNvSpPr>
          <p:nvPr/>
        </p:nvSpPr>
        <p:spPr>
          <a:xfrm>
            <a:off x="1771650" y="2647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show task_spec</a:t>
            </a:r>
          </a:p>
        </p:txBody>
      </p:sp>
      <p:sp>
        <p:nvSpPr>
          <p:cNvPr id="11" name="demo-copy-0">
            <a:extLst>
              <a:ext uri="{FF2B5EF4-FFF2-40B4-BE49-F238E27FC236}">
                <a16:creationId xmlns:a16="http://schemas.microsoft.com/office/drawing/2014/main" id="{F9240E46-643F-40FC-BE3E-37C899A643C7}"/>
              </a:ext>
            </a:extLst>
          </p:cNvPr>
          <p:cNvSpPr>
            <a:spLocks noGrp="1"/>
          </p:cNvSpPr>
          <p:nvPr/>
        </p:nvSpPr>
        <p:spPr>
          <a:xfrm>
            <a:off x="1409700" y="33528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確認範圍與欄位</a:t>
            </a:r>
          </a:p>
        </p:txBody>
      </p:sp>
      <p:sp>
        <p:nvSpPr>
          <p:cNvPr id="12" name="demo-step-1">
            <a:extLst>
              <a:ext uri="{FF2B5EF4-FFF2-40B4-BE49-F238E27FC236}">
                <a16:creationId xmlns:a16="http://schemas.microsoft.com/office/drawing/2014/main" id="{4E1A9DFB-4956-45E2-84C5-7F38BDE43D05}"/>
              </a:ext>
            </a:extLst>
          </p:cNvPr>
          <p:cNvSpPr>
            <a:spLocks noGrp="1"/>
          </p:cNvSpPr>
          <p:nvPr/>
        </p:nvSpPr>
        <p:spPr>
          <a:xfrm>
            <a:off x="3790950" y="2343150"/>
            <a:ext cx="2057400" cy="1809750"/>
          </a:xfrm>
          <a:prstGeom prst="roundRect">
            <a:avLst>
              <a:gd name="adj" fmla="val 4211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demo-num-1">
            <a:extLst>
              <a:ext uri="{FF2B5EF4-FFF2-40B4-BE49-F238E27FC236}">
                <a16:creationId xmlns:a16="http://schemas.microsoft.com/office/drawing/2014/main" id="{B3414A33-8801-4430-BDA0-6D43BE3941B0}"/>
              </a:ext>
            </a:extLst>
          </p:cNvPr>
          <p:cNvSpPr>
            <a:spLocks noGrp="1"/>
          </p:cNvSpPr>
          <p:nvPr/>
        </p:nvSpPr>
        <p:spPr>
          <a:xfrm>
            <a:off x="4000500" y="26098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demo-head-1">
            <a:extLst>
              <a:ext uri="{FF2B5EF4-FFF2-40B4-BE49-F238E27FC236}">
                <a16:creationId xmlns:a16="http://schemas.microsoft.com/office/drawing/2014/main" id="{0807812D-1F9E-47C4-8FE2-A967A6B82842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Prompt 1</a:t>
            </a:r>
          </a:p>
        </p:txBody>
      </p:sp>
      <p:sp>
        <p:nvSpPr>
          <p:cNvPr id="15" name="demo-copy-1">
            <a:extLst>
              <a:ext uri="{FF2B5EF4-FFF2-40B4-BE49-F238E27FC236}">
                <a16:creationId xmlns:a16="http://schemas.microsoft.com/office/drawing/2014/main" id="{1863D5FB-15C7-4555-8722-C4D4079E6C99}"/>
              </a:ext>
            </a:extLst>
          </p:cNvPr>
          <p:cNvSpPr>
            <a:spLocks noGrp="1"/>
          </p:cNvSpPr>
          <p:nvPr/>
        </p:nvSpPr>
        <p:spPr>
          <a:xfrm>
            <a:off x="4057650" y="33528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產生 search strategy</a:t>
            </a:r>
          </a:p>
        </p:txBody>
      </p:sp>
      <p:sp>
        <p:nvSpPr>
          <p:cNvPr id="16" name="demo-step-2">
            <a:extLst>
              <a:ext uri="{FF2B5EF4-FFF2-40B4-BE49-F238E27FC236}">
                <a16:creationId xmlns:a16="http://schemas.microsoft.com/office/drawing/2014/main" id="{DA4E83A0-FB11-47D2-9025-054419410E34}"/>
              </a:ext>
            </a:extLst>
          </p:cNvPr>
          <p:cNvSpPr>
            <a:spLocks noGrp="1"/>
          </p:cNvSpPr>
          <p:nvPr/>
        </p:nvSpPr>
        <p:spPr>
          <a:xfrm>
            <a:off x="6438900" y="2343150"/>
            <a:ext cx="20574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demo-num-2">
            <a:extLst>
              <a:ext uri="{FF2B5EF4-FFF2-40B4-BE49-F238E27FC236}">
                <a16:creationId xmlns:a16="http://schemas.microsoft.com/office/drawing/2014/main" id="{902079C0-9E02-4DF6-9523-28C9E9609619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demo-head-2">
            <a:extLst>
              <a:ext uri="{FF2B5EF4-FFF2-40B4-BE49-F238E27FC236}">
                <a16:creationId xmlns:a16="http://schemas.microsoft.com/office/drawing/2014/main" id="{C21722CE-9176-4BF6-BD62-D425F3DF1671}"/>
              </a:ext>
            </a:extLst>
          </p:cNvPr>
          <p:cNvSpPr>
            <a:spLocks noGrp="1"/>
          </p:cNvSpPr>
          <p:nvPr/>
        </p:nvSpPr>
        <p:spPr>
          <a:xfrm>
            <a:off x="7067550" y="2647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 sources</a:t>
            </a:r>
          </a:p>
        </p:txBody>
      </p:sp>
      <p:sp>
        <p:nvSpPr>
          <p:cNvPr id="19" name="demo-copy-2">
            <a:extLst>
              <a:ext uri="{FF2B5EF4-FFF2-40B4-BE49-F238E27FC236}">
                <a16:creationId xmlns:a16="http://schemas.microsoft.com/office/drawing/2014/main" id="{842F5E53-30DF-4E8F-AE40-2B49BCEF8F59}"/>
              </a:ext>
            </a:extLst>
          </p:cNvPr>
          <p:cNvSpPr>
            <a:spLocks noGrp="1"/>
          </p:cNvSpPr>
          <p:nvPr/>
        </p:nvSpPr>
        <p:spPr>
          <a:xfrm>
            <a:off x="6705600" y="33528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建立 source inventory</a:t>
            </a:r>
          </a:p>
        </p:txBody>
      </p:sp>
      <p:sp>
        <p:nvSpPr>
          <p:cNvPr id="20" name="demo-step-3">
            <a:extLst>
              <a:ext uri="{FF2B5EF4-FFF2-40B4-BE49-F238E27FC236}">
                <a16:creationId xmlns:a16="http://schemas.microsoft.com/office/drawing/2014/main" id="{498F70CD-273F-452D-BDD3-8592E23278E1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2057400" cy="1809750"/>
          </a:xfrm>
          <a:prstGeom prst="roundRect">
            <a:avLst>
              <a:gd name="adj" fmla="val 4211"/>
            </a:avLst>
          </a:prstGeom>
          <a:solidFill>
            <a:srgbClr val="FFF8E8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demo-num-3">
            <a:extLst>
              <a:ext uri="{FF2B5EF4-FFF2-40B4-BE49-F238E27FC236}">
                <a16:creationId xmlns:a16="http://schemas.microsoft.com/office/drawing/2014/main" id="{CAB2CE4E-653A-4563-8299-F958F3581BD9}"/>
              </a:ext>
            </a:extLst>
          </p:cNvPr>
          <p:cNvSpPr>
            <a:spLocks noGrp="1"/>
          </p:cNvSpPr>
          <p:nvPr/>
        </p:nvSpPr>
        <p:spPr>
          <a:xfrm>
            <a:off x="9296400" y="26098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demo-head-3">
            <a:extLst>
              <a:ext uri="{FF2B5EF4-FFF2-40B4-BE49-F238E27FC236}">
                <a16:creationId xmlns:a16="http://schemas.microsoft.com/office/drawing/2014/main" id="{50FDC5B9-2046-4ADB-915E-7CFFE888CB0E}"/>
              </a:ext>
            </a:extLst>
          </p:cNvPr>
          <p:cNvSpPr>
            <a:spLocks noGrp="1"/>
          </p:cNvSpPr>
          <p:nvPr/>
        </p:nvSpPr>
        <p:spPr>
          <a:xfrm>
            <a:off x="9715500" y="2647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Prompt 2/3</a:t>
            </a:r>
          </a:p>
        </p:txBody>
      </p:sp>
      <p:sp>
        <p:nvSpPr>
          <p:cNvPr id="23" name="demo-copy-3">
            <a:extLst>
              <a:ext uri="{FF2B5EF4-FFF2-40B4-BE49-F238E27FC236}">
                <a16:creationId xmlns:a16="http://schemas.microsoft.com/office/drawing/2014/main" id="{50B009E9-9905-4E40-83A4-3B88DB6E388D}"/>
              </a:ext>
            </a:extLst>
          </p:cNvPr>
          <p:cNvSpPr>
            <a:spLocks noGrp="1"/>
          </p:cNvSpPr>
          <p:nvPr/>
        </p:nvSpPr>
        <p:spPr>
          <a:xfrm>
            <a:off x="9353550" y="33528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建表並標推測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3A6CB933-6B22-4BFA-BF9F-AAAB7CA84F3C}"/>
              </a:ext>
            </a:extLst>
          </p:cNvPr>
          <p:cNvSpPr>
            <a:spLocks noGrp="1"/>
          </p:cNvSpPr>
          <p:nvPr/>
        </p:nvSpPr>
        <p:spPr>
          <a:xfrm>
            <a:off x="1619250" y="52006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示範中要故意留下 TP53 needs_source row，讓學生看到 agent 不是全知。</a:t>
            </a:r>
          </a:p>
        </p:txBody>
      </p:sp>
    </p:spTree>
    <p:extLst>
      <p:ext uri="{BB962C8B-B14F-4D97-AF65-F5344CB8AC3E}">
        <p14:creationId xmlns:p14="http://schemas.microsoft.com/office/powerpoint/2010/main" val="171842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rail-21">
            <a:extLst>
              <a:ext uri="{FF2B5EF4-FFF2-40B4-BE49-F238E27FC236}">
                <a16:creationId xmlns:a16="http://schemas.microsoft.com/office/drawing/2014/main" id="{58654310-6363-42C3-A0A7-A7F7B9BDBC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1">
            <a:extLst>
              <a:ext uri="{FF2B5EF4-FFF2-40B4-BE49-F238E27FC236}">
                <a16:creationId xmlns:a16="http://schemas.microsoft.com/office/drawing/2014/main" id="{F208CDFC-0C3D-468C-9939-4635559C0B84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" name="progress-track-21">
            <a:extLst>
              <a:ext uri="{FF2B5EF4-FFF2-40B4-BE49-F238E27FC236}">
                <a16:creationId xmlns:a16="http://schemas.microsoft.com/office/drawing/2014/main" id="{EB5B76D9-6F94-4FE7-B9ED-52A2EE8E7E0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1">
            <a:extLst>
              <a:ext uri="{FF2B5EF4-FFF2-40B4-BE49-F238E27FC236}">
                <a16:creationId xmlns:a16="http://schemas.microsoft.com/office/drawing/2014/main" id="{74D055A2-DF02-471E-BDDC-AD8B0C311377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370171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5A343C3D-2BC2-49EE-A67C-DE7D66C23A8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MINI EXERCISE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F7B4A40-113E-44A0-B37B-BA4D6622240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學生不需要重做 demo，只要檢查一列 evidence row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F8788D0-002F-462F-AE8E-321C4AFCF3E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21/40</a:t>
            </a:r>
          </a:p>
        </p:txBody>
      </p:sp>
      <p:sp>
        <p:nvSpPr>
          <p:cNvPr id="8" name="task">
            <a:extLst>
              <a:ext uri="{FF2B5EF4-FFF2-40B4-BE49-F238E27FC236}">
                <a16:creationId xmlns:a16="http://schemas.microsoft.com/office/drawing/2014/main" id="{3AD0C732-08CE-4502-8B51-01599698D74F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9715500" cy="1066800"/>
          </a:xfrm>
          <a:prstGeom prst="roundRect">
            <a:avLst>
              <a:gd name="adj" fmla="val 714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ask-text">
            <a:extLst>
              <a:ext uri="{FF2B5EF4-FFF2-40B4-BE49-F238E27FC236}">
                <a16:creationId xmlns:a16="http://schemas.microsoft.com/office/drawing/2014/main" id="{9248496B-0B5A-4FFE-B49A-87F4D7306546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請每組挑一列：判斷它是 literature evidence、molecular context，還是 model inference。</a:t>
            </a:r>
          </a:p>
        </p:txBody>
      </p:sp>
      <p:sp>
        <p:nvSpPr>
          <p:cNvPr id="10" name="questions">
            <a:extLst>
              <a:ext uri="{FF2B5EF4-FFF2-40B4-BE49-F238E27FC236}">
                <a16:creationId xmlns:a16="http://schemas.microsoft.com/office/drawing/2014/main" id="{6868AF04-1110-415A-9438-64AB0DC139CF}"/>
              </a:ext>
            </a:extLst>
          </p:cNvPr>
          <p:cNvSpPr>
            <a:spLocks noGrp="1"/>
          </p:cNvSpPr>
          <p:nvPr/>
        </p:nvSpPr>
        <p:spPr>
          <a:xfrm>
            <a:off x="2667000" y="3676650"/>
            <a:ext cx="6572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DOI 是否存在？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是否支持 exact claim？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sample_n 是否照來源填？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需要 human review 的原因是什麼？</a:t>
            </a:r>
          </a:p>
        </p:txBody>
      </p:sp>
    </p:spTree>
    <p:extLst>
      <p:ext uri="{BB962C8B-B14F-4D97-AF65-F5344CB8AC3E}">
        <p14:creationId xmlns:p14="http://schemas.microsoft.com/office/powerpoint/2010/main" val="136121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ccent-rail-22">
            <a:extLst>
              <a:ext uri="{FF2B5EF4-FFF2-40B4-BE49-F238E27FC236}">
                <a16:creationId xmlns:a16="http://schemas.microsoft.com/office/drawing/2014/main" id="{1AD03126-75D3-48A3-A96A-F2C391DAB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2">
            <a:extLst>
              <a:ext uri="{FF2B5EF4-FFF2-40B4-BE49-F238E27FC236}">
                <a16:creationId xmlns:a16="http://schemas.microsoft.com/office/drawing/2014/main" id="{89F72DCF-F9AB-49C8-A94E-0FFDBB5D5C3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8C0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2">
            <a:extLst>
              <a:ext uri="{FF2B5EF4-FFF2-40B4-BE49-F238E27FC236}">
                <a16:creationId xmlns:a16="http://schemas.microsoft.com/office/drawing/2014/main" id="{052C2BA5-CF88-4C92-A539-640A2290CF4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2">
            <a:extLst>
              <a:ext uri="{FF2B5EF4-FFF2-40B4-BE49-F238E27FC236}">
                <a16:creationId xmlns:a16="http://schemas.microsoft.com/office/drawing/2014/main" id="{ABE4C816-25F3-4E31-BA2B-2CFA94114A7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435418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hapter">
            <a:extLst>
              <a:ext uri="{FF2B5EF4-FFF2-40B4-BE49-F238E27FC236}">
                <a16:creationId xmlns:a16="http://schemas.microsoft.com/office/drawing/2014/main" id="{C74323CE-993A-4CB4-B2AB-F842E8DD7176}"/>
              </a:ext>
            </a:extLst>
          </p:cNvPr>
          <p:cNvSpPr>
            <a:spLocks noGrp="1"/>
          </p:cNvSpPr>
          <p:nvPr/>
        </p:nvSpPr>
        <p:spPr>
          <a:xfrm>
            <a:off x="876300" y="9906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75D7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D7CF"/>
                </a:solidFill>
                <a:latin typeface="Aptos"/>
                <a:ea typeface="Aptos"/>
                <a:cs typeface="Aptos"/>
              </a:rPr>
              <a:t>DEEP DIVE 01</a:t>
            </a:r>
          </a:p>
        </p:txBody>
      </p:sp>
      <p:sp>
        <p:nvSpPr>
          <p:cNvPr id="6" name="chapter-number">
            <a:extLst>
              <a:ext uri="{FF2B5EF4-FFF2-40B4-BE49-F238E27FC236}">
                <a16:creationId xmlns:a16="http://schemas.microsoft.com/office/drawing/2014/main" id="{B6C4129A-E83C-4E65-B121-01F89E1ECD7F}"/>
              </a:ext>
            </a:extLst>
          </p:cNvPr>
          <p:cNvSpPr>
            <a:spLocks noGrp="1"/>
          </p:cNvSpPr>
          <p:nvPr/>
        </p:nvSpPr>
        <p:spPr>
          <a:xfrm>
            <a:off x="800100" y="1485900"/>
            <a:ext cx="1809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8400" b="1">
                <a:solidFill>
                  <a:srgbClr val="3B4B55"/>
                </a:solidFill>
                <a:latin typeface="Aptos"/>
                <a:ea typeface="Aptos"/>
                <a:cs typeface="Aptos"/>
              </a:defRPr>
            </a:pPr>
            <a:r>
              <a:rPr sz="8400" b="1">
                <a:solidFill>
                  <a:srgbClr val="3B4B5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9A497A2-C992-47A2-9F48-4E63CA20B925}"/>
              </a:ext>
            </a:extLst>
          </p:cNvPr>
          <p:cNvSpPr>
            <a:spLocks noGrp="1"/>
          </p:cNvSpPr>
          <p:nvPr/>
        </p:nvSpPr>
        <p:spPr>
          <a:xfrm>
            <a:off x="2647950" y="16764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the search reproducible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87C86A0-5AF2-418A-8CF2-E6282F2080FB}"/>
              </a:ext>
            </a:extLst>
          </p:cNvPr>
          <p:cNvSpPr>
            <a:spLocks noGrp="1"/>
          </p:cNvSpPr>
          <p:nvPr/>
        </p:nvSpPr>
        <p:spPr>
          <a:xfrm>
            <a:off x="2705100" y="2514600"/>
            <a:ext cx="790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從問題類型、query ladder 到 search log，讓別人知道你找過什麼、為何停下來</a:t>
            </a:r>
          </a:p>
        </p:txBody>
      </p:sp>
      <p:sp>
        <p:nvSpPr>
          <p:cNvPr id="9" name="deep-search-0">
            <a:extLst>
              <a:ext uri="{FF2B5EF4-FFF2-40B4-BE49-F238E27FC236}">
                <a16:creationId xmlns:a16="http://schemas.microsoft.com/office/drawing/2014/main" id="{AC929429-F93F-406C-A11C-8152C44F667F}"/>
              </a:ext>
            </a:extLst>
          </p:cNvPr>
          <p:cNvSpPr>
            <a:spLocks noGrp="1"/>
          </p:cNvSpPr>
          <p:nvPr/>
        </p:nvSpPr>
        <p:spPr>
          <a:xfrm>
            <a:off x="272415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question type</a:t>
            </a:r>
          </a:p>
        </p:txBody>
      </p:sp>
      <p:sp>
        <p:nvSpPr>
          <p:cNvPr id="10" name="deep-search-1">
            <a:extLst>
              <a:ext uri="{FF2B5EF4-FFF2-40B4-BE49-F238E27FC236}">
                <a16:creationId xmlns:a16="http://schemas.microsoft.com/office/drawing/2014/main" id="{ED89DC08-84D5-4284-AF1C-09948995D5A4}"/>
              </a:ext>
            </a:extLst>
          </p:cNvPr>
          <p:cNvSpPr>
            <a:spLocks noGrp="1"/>
          </p:cNvSpPr>
          <p:nvPr/>
        </p:nvSpPr>
        <p:spPr>
          <a:xfrm>
            <a:off x="533400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query ladder</a:t>
            </a:r>
          </a:p>
        </p:txBody>
      </p:sp>
      <p:sp>
        <p:nvSpPr>
          <p:cNvPr id="11" name="deep-search-2">
            <a:extLst>
              <a:ext uri="{FF2B5EF4-FFF2-40B4-BE49-F238E27FC236}">
                <a16:creationId xmlns:a16="http://schemas.microsoft.com/office/drawing/2014/main" id="{0C338440-1E38-4FE6-A504-90414B8772E2}"/>
              </a:ext>
            </a:extLst>
          </p:cNvPr>
          <p:cNvSpPr>
            <a:spLocks noGrp="1"/>
          </p:cNvSpPr>
          <p:nvPr/>
        </p:nvSpPr>
        <p:spPr>
          <a:xfrm>
            <a:off x="794385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stopping rule</a:t>
            </a:r>
          </a:p>
        </p:txBody>
      </p:sp>
      <p:sp>
        <p:nvSpPr>
          <p:cNvPr id="12" name="footer-dark">
            <a:extLst>
              <a:ext uri="{FF2B5EF4-FFF2-40B4-BE49-F238E27FC236}">
                <a16:creationId xmlns:a16="http://schemas.microsoft.com/office/drawing/2014/main" id="{F8EF3674-BA29-4A7E-8822-C641411BA215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Desktop agent literature workflow  |  22/40</a:t>
            </a:r>
          </a:p>
        </p:txBody>
      </p:sp>
    </p:spTree>
    <p:extLst>
      <p:ext uri="{BB962C8B-B14F-4D97-AF65-F5344CB8AC3E}">
        <p14:creationId xmlns:p14="http://schemas.microsoft.com/office/powerpoint/2010/main" val="151394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23">
            <a:extLst>
              <a:ext uri="{FF2B5EF4-FFF2-40B4-BE49-F238E27FC236}">
                <a16:creationId xmlns:a16="http://schemas.microsoft.com/office/drawing/2014/main" id="{C06A2A7E-1419-4102-BABB-3D171E179F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3">
            <a:extLst>
              <a:ext uri="{FF2B5EF4-FFF2-40B4-BE49-F238E27FC236}">
                <a16:creationId xmlns:a16="http://schemas.microsoft.com/office/drawing/2014/main" id="{EDC9A979-1408-43BA-87B9-B287FE038B2D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3">
            <a:extLst>
              <a:ext uri="{FF2B5EF4-FFF2-40B4-BE49-F238E27FC236}">
                <a16:creationId xmlns:a16="http://schemas.microsoft.com/office/drawing/2014/main" id="{56539A79-EA3C-4874-93EE-267045C6F25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3">
            <a:extLst>
              <a:ext uri="{FF2B5EF4-FFF2-40B4-BE49-F238E27FC236}">
                <a16:creationId xmlns:a16="http://schemas.microsoft.com/office/drawing/2014/main" id="{22A5A952-E3D9-4144-8478-F2B32C5F0742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500664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2BA9E687-CB72-43C2-AE81-933DAAA1152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QUESTION TYPE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55F9FA5-8819-4670-A197-1C0D71ED918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先判斷問題類型，才知道需要多嚴格的證據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41C581C-FEF0-4779-8253-95B1DD2A7EC7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23/40</a:t>
            </a:r>
          </a:p>
        </p:txBody>
      </p:sp>
      <p:sp>
        <p:nvSpPr>
          <p:cNvPr id="8" name="qtype-0">
            <a:extLst>
              <a:ext uri="{FF2B5EF4-FFF2-40B4-BE49-F238E27FC236}">
                <a16:creationId xmlns:a16="http://schemas.microsoft.com/office/drawing/2014/main" id="{8083DAEC-CBE2-42B3-8DE7-45CE6E82447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qtype-head-0">
            <a:extLst>
              <a:ext uri="{FF2B5EF4-FFF2-40B4-BE49-F238E27FC236}">
                <a16:creationId xmlns:a16="http://schemas.microsoft.com/office/drawing/2014/main" id="{5A1E3577-C3EB-43A3-8068-BF6A716E6D44}"/>
              </a:ext>
            </a:extLst>
          </p:cNvPr>
          <p:cNvSpPr>
            <a:spLocks noGrp="1"/>
          </p:cNvSpPr>
          <p:nvPr/>
        </p:nvSpPr>
        <p:spPr>
          <a:xfrm>
            <a:off x="1200150" y="21907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0" name="qtype-question-0">
            <a:extLst>
              <a:ext uri="{FF2B5EF4-FFF2-40B4-BE49-F238E27FC236}">
                <a16:creationId xmlns:a16="http://schemas.microsoft.com/office/drawing/2014/main" id="{38657EE8-462E-4958-B1AA-00F81D1D490D}"/>
              </a:ext>
            </a:extLst>
          </p:cNvPr>
          <p:cNvSpPr>
            <a:spLocks noGrp="1"/>
          </p:cNvSpPr>
          <p:nvPr/>
        </p:nvSpPr>
        <p:spPr>
          <a:xfrm>
            <a:off x="1200150" y="28575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有哪些可能關係？</a:t>
            </a:r>
          </a:p>
        </p:txBody>
      </p:sp>
      <p:sp>
        <p:nvSpPr>
          <p:cNvPr id="11" name="qtype-copy-0">
            <a:extLst>
              <a:ext uri="{FF2B5EF4-FFF2-40B4-BE49-F238E27FC236}">
                <a16:creationId xmlns:a16="http://schemas.microsoft.com/office/drawing/2014/main" id="{CB98AA69-5081-414D-86AF-11270400CE43}"/>
              </a:ext>
            </a:extLst>
          </p:cNvPr>
          <p:cNvSpPr>
            <a:spLocks noGrp="1"/>
          </p:cNvSpPr>
          <p:nvPr/>
        </p:nvSpPr>
        <p:spPr>
          <a:xfrm>
            <a:off x="1200150" y="38481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允許廣搜與候選線索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 hypothesis backlog</a:t>
            </a:r>
          </a:p>
        </p:txBody>
      </p:sp>
      <p:sp>
        <p:nvSpPr>
          <p:cNvPr id="12" name="qtype-1">
            <a:extLst>
              <a:ext uri="{FF2B5EF4-FFF2-40B4-BE49-F238E27FC236}">
                <a16:creationId xmlns:a16="http://schemas.microsoft.com/office/drawing/2014/main" id="{7DD3ADA0-4A6D-4B73-B215-DBBCE481455B}"/>
              </a:ext>
            </a:extLst>
          </p:cNvPr>
          <p:cNvSpPr>
            <a:spLocks noGrp="1"/>
          </p:cNvSpPr>
          <p:nvPr/>
        </p:nvSpPr>
        <p:spPr>
          <a:xfrm>
            <a:off x="4591050" y="1924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qtype-head-1">
            <a:extLst>
              <a:ext uri="{FF2B5EF4-FFF2-40B4-BE49-F238E27FC236}">
                <a16:creationId xmlns:a16="http://schemas.microsoft.com/office/drawing/2014/main" id="{CAAA9E3F-D7E1-40DF-99AD-5E6A20ECD416}"/>
              </a:ext>
            </a:extLst>
          </p:cNvPr>
          <p:cNvSpPr>
            <a:spLocks noGrp="1"/>
          </p:cNvSpPr>
          <p:nvPr/>
        </p:nvSpPr>
        <p:spPr>
          <a:xfrm>
            <a:off x="4876800" y="21907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4" name="qtype-question-1">
            <a:extLst>
              <a:ext uri="{FF2B5EF4-FFF2-40B4-BE49-F238E27FC236}">
                <a16:creationId xmlns:a16="http://schemas.microsoft.com/office/drawing/2014/main" id="{50C7BE2D-149C-4013-93E3-9E6E73237E4F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目前有哪些研究？</a:t>
            </a:r>
          </a:p>
        </p:txBody>
      </p:sp>
      <p:sp>
        <p:nvSpPr>
          <p:cNvPr id="15" name="qtype-copy-1">
            <a:extLst>
              <a:ext uri="{FF2B5EF4-FFF2-40B4-BE49-F238E27FC236}">
                <a16:creationId xmlns:a16="http://schemas.microsoft.com/office/drawing/2014/main" id="{BEF7DD72-A3B9-40DE-9C9D-85FDE9CE75F7}"/>
              </a:ext>
            </a:extLst>
          </p:cNvPr>
          <p:cNvSpPr>
            <a:spLocks noGrp="1"/>
          </p:cNvSpPr>
          <p:nvPr/>
        </p:nvSpPr>
        <p:spPr>
          <a:xfrm>
            <a:off x="4876800" y="38481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要求來源完整與分類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 evidence landscape</a:t>
            </a:r>
          </a:p>
        </p:txBody>
      </p:sp>
      <p:sp>
        <p:nvSpPr>
          <p:cNvPr id="16" name="qtype-2">
            <a:extLst>
              <a:ext uri="{FF2B5EF4-FFF2-40B4-BE49-F238E27FC236}">
                <a16:creationId xmlns:a16="http://schemas.microsoft.com/office/drawing/2014/main" id="{CF840C17-EBDF-4034-A543-7B24BC5EA26B}"/>
              </a:ext>
            </a:extLst>
          </p:cNvPr>
          <p:cNvSpPr>
            <a:spLocks noGrp="1"/>
          </p:cNvSpPr>
          <p:nvPr/>
        </p:nvSpPr>
        <p:spPr>
          <a:xfrm>
            <a:off x="8267700" y="1924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qtype-head-2">
            <a:extLst>
              <a:ext uri="{FF2B5EF4-FFF2-40B4-BE49-F238E27FC236}">
                <a16:creationId xmlns:a16="http://schemas.microsoft.com/office/drawing/2014/main" id="{C87CE159-C23F-43C7-8748-09871367661D}"/>
              </a:ext>
            </a:extLst>
          </p:cNvPr>
          <p:cNvSpPr>
            <a:spLocks noGrp="1"/>
          </p:cNvSpPr>
          <p:nvPr/>
        </p:nvSpPr>
        <p:spPr>
          <a:xfrm>
            <a:off x="8553450" y="21907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8" name="qtype-question-2">
            <a:extLst>
              <a:ext uri="{FF2B5EF4-FFF2-40B4-BE49-F238E27FC236}">
                <a16:creationId xmlns:a16="http://schemas.microsoft.com/office/drawing/2014/main" id="{73D5C6B8-D5B7-445F-A3F9-2267A23E6369}"/>
              </a:ext>
            </a:extLst>
          </p:cNvPr>
          <p:cNvSpPr>
            <a:spLocks noGrp="1"/>
          </p:cNvSpPr>
          <p:nvPr/>
        </p:nvSpPr>
        <p:spPr>
          <a:xfrm>
            <a:off x="8553450" y="28575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證據足以支持決策嗎？</a:t>
            </a:r>
          </a:p>
        </p:txBody>
      </p:sp>
      <p:sp>
        <p:nvSpPr>
          <p:cNvPr id="19" name="qtype-copy-2">
            <a:extLst>
              <a:ext uri="{FF2B5EF4-FFF2-40B4-BE49-F238E27FC236}">
                <a16:creationId xmlns:a16="http://schemas.microsoft.com/office/drawing/2014/main" id="{688AB746-9A25-4C09-AE4D-53E8FFFEF89C}"/>
              </a:ext>
            </a:extLst>
          </p:cNvPr>
          <p:cNvSpPr>
            <a:spLocks noGrp="1"/>
          </p:cNvSpPr>
          <p:nvPr/>
        </p:nvSpPr>
        <p:spPr>
          <a:xfrm>
            <a:off x="8553450" y="38481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要求預先標準與風險評估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 review-ready synthesis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B753A258-C29B-40D6-9ABB-C410535D6E11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本課 Demo 是 Map 型問題；不應被誤用成臨床決策建議。</a:t>
            </a:r>
          </a:p>
        </p:txBody>
      </p:sp>
    </p:spTree>
    <p:extLst>
      <p:ext uri="{BB962C8B-B14F-4D97-AF65-F5344CB8AC3E}">
        <p14:creationId xmlns:p14="http://schemas.microsoft.com/office/powerpoint/2010/main" val="260311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ccent-rail-24">
            <a:extLst>
              <a:ext uri="{FF2B5EF4-FFF2-40B4-BE49-F238E27FC236}">
                <a16:creationId xmlns:a16="http://schemas.microsoft.com/office/drawing/2014/main" id="{EB0EDB44-36B9-4AC7-83E6-DAB0AEEC5A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4">
            <a:extLst>
              <a:ext uri="{FF2B5EF4-FFF2-40B4-BE49-F238E27FC236}">
                <a16:creationId xmlns:a16="http://schemas.microsoft.com/office/drawing/2014/main" id="{AB7C30A4-AE3E-489F-97AD-12A4CC13B8C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4">
            <a:extLst>
              <a:ext uri="{FF2B5EF4-FFF2-40B4-BE49-F238E27FC236}">
                <a16:creationId xmlns:a16="http://schemas.microsoft.com/office/drawing/2014/main" id="{78187F0F-3155-428E-BC2F-64AD7B6133FF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4">
            <a:extLst>
              <a:ext uri="{FF2B5EF4-FFF2-40B4-BE49-F238E27FC236}">
                <a16:creationId xmlns:a16="http://schemas.microsoft.com/office/drawing/2014/main" id="{1EA3D708-EA21-46A4-A9EA-0E5B3DE8B59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565910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7F278480-41BC-48AB-AE2A-AFF93946964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QUESTION FRAME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0C0A7B9-C722-45E5-923E-470C1903021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 PICO / PECO 當拆題鏡頭，不要把它當固定模板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2462BD4-1A44-4297-B80D-D99988490C3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24/40</a:t>
            </a:r>
          </a:p>
        </p:txBody>
      </p:sp>
      <p:sp>
        <p:nvSpPr>
          <p:cNvPr id="8" name="pico-0">
            <a:extLst>
              <a:ext uri="{FF2B5EF4-FFF2-40B4-BE49-F238E27FC236}">
                <a16:creationId xmlns:a16="http://schemas.microsoft.com/office/drawing/2014/main" id="{9C933BBD-02B6-47B2-8B83-817D5056CAA3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400300" cy="2381250"/>
          </a:xfrm>
          <a:prstGeom prst="roundRect">
            <a:avLst>
              <a:gd name="adj" fmla="val 320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ico-letter-0">
            <a:extLst>
              <a:ext uri="{FF2B5EF4-FFF2-40B4-BE49-F238E27FC236}">
                <a16:creationId xmlns:a16="http://schemas.microsoft.com/office/drawing/2014/main" id="{6958EEA7-CA6B-4DA0-BE57-7156F7F0EDDA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0" name="pico-head-0">
            <a:extLst>
              <a:ext uri="{FF2B5EF4-FFF2-40B4-BE49-F238E27FC236}">
                <a16:creationId xmlns:a16="http://schemas.microsoft.com/office/drawing/2014/main" id="{EFEEB767-D365-4E70-8A58-C32B299D0EF7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11" name="pico-copy-0">
            <a:extLst>
              <a:ext uri="{FF2B5EF4-FFF2-40B4-BE49-F238E27FC236}">
                <a16:creationId xmlns:a16="http://schemas.microsoft.com/office/drawing/2014/main" id="{D393371D-3DD4-4A8F-9386-83079230116E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advanced NSCLC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或 lung adenocarcinoma</a:t>
            </a:r>
          </a:p>
        </p:txBody>
      </p:sp>
      <p:sp>
        <p:nvSpPr>
          <p:cNvPr id="12" name="pico-1">
            <a:extLst>
              <a:ext uri="{FF2B5EF4-FFF2-40B4-BE49-F238E27FC236}">
                <a16:creationId xmlns:a16="http://schemas.microsoft.com/office/drawing/2014/main" id="{6E154424-6E8B-42E9-9352-D3C39CBE027B}"/>
              </a:ext>
            </a:extLst>
          </p:cNvPr>
          <p:cNvSpPr>
            <a:spLocks noGrp="1"/>
          </p:cNvSpPr>
          <p:nvPr/>
        </p:nvSpPr>
        <p:spPr>
          <a:xfrm>
            <a:off x="3657600" y="2019300"/>
            <a:ext cx="2400300" cy="2381250"/>
          </a:xfrm>
          <a:prstGeom prst="roundRect">
            <a:avLst>
              <a:gd name="adj" fmla="val 3200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pico-letter-1">
            <a:extLst>
              <a:ext uri="{FF2B5EF4-FFF2-40B4-BE49-F238E27FC236}">
                <a16:creationId xmlns:a16="http://schemas.microsoft.com/office/drawing/2014/main" id="{622362DB-AE5B-43B9-AEE3-557F361FBC9B}"/>
              </a:ext>
            </a:extLst>
          </p:cNvPr>
          <p:cNvSpPr>
            <a:spLocks noGrp="1"/>
          </p:cNvSpPr>
          <p:nvPr/>
        </p:nvSpPr>
        <p:spPr>
          <a:xfrm>
            <a:off x="3886200" y="2266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 / E</a:t>
            </a:r>
          </a:p>
        </p:txBody>
      </p:sp>
      <p:sp>
        <p:nvSpPr>
          <p:cNvPr id="14" name="pico-head-1">
            <a:extLst>
              <a:ext uri="{FF2B5EF4-FFF2-40B4-BE49-F238E27FC236}">
                <a16:creationId xmlns:a16="http://schemas.microsoft.com/office/drawing/2014/main" id="{5A465AB4-EDFF-4A55-943C-2FBCF5F03294}"/>
              </a:ext>
            </a:extLst>
          </p:cNvPr>
          <p:cNvSpPr>
            <a:spLocks noGrp="1"/>
          </p:cNvSpPr>
          <p:nvPr/>
        </p:nvSpPr>
        <p:spPr>
          <a:xfrm>
            <a:off x="3886200" y="29527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Intervention / Exposure</a:t>
            </a:r>
          </a:p>
        </p:txBody>
      </p:sp>
      <p:sp>
        <p:nvSpPr>
          <p:cNvPr id="15" name="pico-copy-1">
            <a:extLst>
              <a:ext uri="{FF2B5EF4-FFF2-40B4-BE49-F238E27FC236}">
                <a16:creationId xmlns:a16="http://schemas.microsoft.com/office/drawing/2014/main" id="{2362B9D3-DF8D-42E0-91AA-796FE1555E0D}"/>
              </a:ext>
            </a:extLst>
          </p:cNvPr>
          <p:cNvSpPr>
            <a:spLocks noGrp="1"/>
          </p:cNvSpPr>
          <p:nvPr/>
        </p:nvSpPr>
        <p:spPr>
          <a:xfrm>
            <a:off x="3886200" y="363855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osimertinib、crizotinib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或 gene alteration</a:t>
            </a:r>
          </a:p>
        </p:txBody>
      </p:sp>
      <p:sp>
        <p:nvSpPr>
          <p:cNvPr id="16" name="pico-2">
            <a:extLst>
              <a:ext uri="{FF2B5EF4-FFF2-40B4-BE49-F238E27FC236}">
                <a16:creationId xmlns:a16="http://schemas.microsoft.com/office/drawing/2014/main" id="{20140E12-8741-49FC-A7C2-89AB2910A275}"/>
              </a:ext>
            </a:extLst>
          </p:cNvPr>
          <p:cNvSpPr>
            <a:spLocks noGrp="1"/>
          </p:cNvSpPr>
          <p:nvPr/>
        </p:nvSpPr>
        <p:spPr>
          <a:xfrm>
            <a:off x="6515100" y="2019300"/>
            <a:ext cx="2400300" cy="238125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pico-letter-2">
            <a:extLst>
              <a:ext uri="{FF2B5EF4-FFF2-40B4-BE49-F238E27FC236}">
                <a16:creationId xmlns:a16="http://schemas.microsoft.com/office/drawing/2014/main" id="{A591D9B9-8E93-4382-8F7C-899F451F5144}"/>
              </a:ext>
            </a:extLst>
          </p:cNvPr>
          <p:cNvSpPr>
            <a:spLocks noGrp="1"/>
          </p:cNvSpPr>
          <p:nvPr/>
        </p:nvSpPr>
        <p:spPr>
          <a:xfrm>
            <a:off x="6743700" y="2266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pico-head-2">
            <a:extLst>
              <a:ext uri="{FF2B5EF4-FFF2-40B4-BE49-F238E27FC236}">
                <a16:creationId xmlns:a16="http://schemas.microsoft.com/office/drawing/2014/main" id="{B6A25964-2D89-4FFE-9667-D04FD63D5AC7}"/>
              </a:ext>
            </a:extLst>
          </p:cNvPr>
          <p:cNvSpPr>
            <a:spLocks noGrp="1"/>
          </p:cNvSpPr>
          <p:nvPr/>
        </p:nvSpPr>
        <p:spPr>
          <a:xfrm>
            <a:off x="6743700" y="29527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Comparator</a:t>
            </a:r>
          </a:p>
        </p:txBody>
      </p:sp>
      <p:sp>
        <p:nvSpPr>
          <p:cNvPr id="19" name="pico-copy-2">
            <a:extLst>
              <a:ext uri="{FF2B5EF4-FFF2-40B4-BE49-F238E27FC236}">
                <a16:creationId xmlns:a16="http://schemas.microsoft.com/office/drawing/2014/main" id="{4C8B4718-0770-49AC-9331-E328EFBA5647}"/>
              </a:ext>
            </a:extLst>
          </p:cNvPr>
          <p:cNvSpPr>
            <a:spLocks noGrp="1"/>
          </p:cNvSpPr>
          <p:nvPr/>
        </p:nvSpPr>
        <p:spPr>
          <a:xfrm>
            <a:off x="6743700" y="363855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standard EGFR-TKI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或 chemotherapy</a:t>
            </a:r>
          </a:p>
        </p:txBody>
      </p:sp>
      <p:sp>
        <p:nvSpPr>
          <p:cNvPr id="20" name="pico-3">
            <a:extLst>
              <a:ext uri="{FF2B5EF4-FFF2-40B4-BE49-F238E27FC236}">
                <a16:creationId xmlns:a16="http://schemas.microsoft.com/office/drawing/2014/main" id="{B81A4C8D-73D8-4053-8CA4-34CD8292F5BF}"/>
              </a:ext>
            </a:extLst>
          </p:cNvPr>
          <p:cNvSpPr>
            <a:spLocks noGrp="1"/>
          </p:cNvSpPr>
          <p:nvPr/>
        </p:nvSpPr>
        <p:spPr>
          <a:xfrm>
            <a:off x="9372600" y="2019300"/>
            <a:ext cx="2400300" cy="2381250"/>
          </a:xfrm>
          <a:prstGeom prst="roundRect">
            <a:avLst>
              <a:gd name="adj" fmla="val 3200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pico-letter-3">
            <a:extLst>
              <a:ext uri="{FF2B5EF4-FFF2-40B4-BE49-F238E27FC236}">
                <a16:creationId xmlns:a16="http://schemas.microsoft.com/office/drawing/2014/main" id="{E460D80C-6DF7-48A4-8F56-296AB99CA117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22" name="pico-head-3">
            <a:extLst>
              <a:ext uri="{FF2B5EF4-FFF2-40B4-BE49-F238E27FC236}">
                <a16:creationId xmlns:a16="http://schemas.microsoft.com/office/drawing/2014/main" id="{CCEB9930-61DB-42D2-9D50-A4E3D993F397}"/>
              </a:ext>
            </a:extLst>
          </p:cNvPr>
          <p:cNvSpPr>
            <a:spLocks noGrp="1"/>
          </p:cNvSpPr>
          <p:nvPr/>
        </p:nvSpPr>
        <p:spPr>
          <a:xfrm>
            <a:off x="9601200" y="29527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pico-copy-3">
            <a:extLst>
              <a:ext uri="{FF2B5EF4-FFF2-40B4-BE49-F238E27FC236}">
                <a16:creationId xmlns:a16="http://schemas.microsoft.com/office/drawing/2014/main" id="{0E780A6C-397E-482A-909F-3649589EA7C6}"/>
              </a:ext>
            </a:extLst>
          </p:cNvPr>
          <p:cNvSpPr>
            <a:spLocks noGrp="1"/>
          </p:cNvSpPr>
          <p:nvPr/>
        </p:nvSpPr>
        <p:spPr>
          <a:xfrm>
            <a:off x="9601200" y="363855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PFS、response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或 molecular context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481C33D4-71D8-4665-B8CF-7A4E731A61B3}"/>
              </a:ext>
            </a:extLst>
          </p:cNvPr>
          <p:cNvSpPr>
            <a:spLocks noGrp="1"/>
          </p:cNvSpPr>
          <p:nvPr/>
        </p:nvSpPr>
        <p:spPr>
          <a:xfrm>
            <a:off x="1466850" y="5219700"/>
            <a:ext cx="9258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對 molecular profiling 問題，I / C 可能不存在；不要硬填不存在的 comparator。</a:t>
            </a:r>
          </a:p>
        </p:txBody>
      </p:sp>
    </p:spTree>
    <p:extLst>
      <p:ext uri="{BB962C8B-B14F-4D97-AF65-F5344CB8AC3E}">
        <p14:creationId xmlns:p14="http://schemas.microsoft.com/office/powerpoint/2010/main" val="547809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rail-25">
            <a:extLst>
              <a:ext uri="{FF2B5EF4-FFF2-40B4-BE49-F238E27FC236}">
                <a16:creationId xmlns:a16="http://schemas.microsoft.com/office/drawing/2014/main" id="{BA104C63-4BD6-4752-B71D-05E72D1317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5">
            <a:extLst>
              <a:ext uri="{FF2B5EF4-FFF2-40B4-BE49-F238E27FC236}">
                <a16:creationId xmlns:a16="http://schemas.microsoft.com/office/drawing/2014/main" id="{2894D501-6622-40A3-90BD-F882CCD13C81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5">
            <a:extLst>
              <a:ext uri="{FF2B5EF4-FFF2-40B4-BE49-F238E27FC236}">
                <a16:creationId xmlns:a16="http://schemas.microsoft.com/office/drawing/2014/main" id="{04ABAED4-C519-4B7C-BADE-5B5AAF96BF47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5">
            <a:extLst>
              <a:ext uri="{FF2B5EF4-FFF2-40B4-BE49-F238E27FC236}">
                <a16:creationId xmlns:a16="http://schemas.microsoft.com/office/drawing/2014/main" id="{604A7EFA-CE34-46A5-B54F-C702717DCC68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631156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F7B9DDF-6381-48A9-8472-413D21031DA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QUERY LADDER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01976CB-8A01-4170-AE3D-F7A36A53754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不要追求一條神奇 query；建立可迭代的 query ladder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AE57001-48DE-4EA0-8095-B73CFEDC8E7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25/40</a:t>
            </a:r>
          </a:p>
        </p:txBody>
      </p:sp>
      <p:sp>
        <p:nvSpPr>
          <p:cNvPr id="8" name="ladder-head-0">
            <a:extLst>
              <a:ext uri="{FF2B5EF4-FFF2-40B4-BE49-F238E27FC236}">
                <a16:creationId xmlns:a16="http://schemas.microsoft.com/office/drawing/2014/main" id="{DF412AF1-187B-4FBD-9DB2-D53CE80E747F}"/>
              </a:ext>
            </a:extLst>
          </p:cNvPr>
          <p:cNvSpPr>
            <a:spLocks noGrp="1"/>
          </p:cNvSpPr>
          <p:nvPr/>
        </p:nvSpPr>
        <p:spPr>
          <a:xfrm>
            <a:off x="990600" y="1638300"/>
            <a:ext cx="2095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Q1  Broad</a:t>
            </a:r>
          </a:p>
        </p:txBody>
      </p:sp>
      <p:sp>
        <p:nvSpPr>
          <p:cNvPr id="9" name="ladder-query-bg-0">
            <a:extLst>
              <a:ext uri="{FF2B5EF4-FFF2-40B4-BE49-F238E27FC236}">
                <a16:creationId xmlns:a16="http://schemas.microsoft.com/office/drawing/2014/main" id="{37434579-D97C-4A9C-8665-B4EB72543571}"/>
              </a:ext>
            </a:extLst>
          </p:cNvPr>
          <p:cNvSpPr>
            <a:spLocks noGrp="1"/>
          </p:cNvSpPr>
          <p:nvPr/>
        </p:nvSpPr>
        <p:spPr>
          <a:xfrm>
            <a:off x="3429000" y="163830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ladder-query-0">
            <a:extLst>
              <a:ext uri="{FF2B5EF4-FFF2-40B4-BE49-F238E27FC236}">
                <a16:creationId xmlns:a16="http://schemas.microsoft.com/office/drawing/2014/main" id="{2E01F49C-A2FA-4C50-8F54-253F3CC67A80}"/>
              </a:ext>
            </a:extLst>
          </p:cNvPr>
          <p:cNvSpPr>
            <a:spLocks noGrp="1"/>
          </p:cNvSpPr>
          <p:nvPr/>
        </p:nvSpPr>
        <p:spPr>
          <a:xfrm>
            <a:off x="3657600" y="179070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NSCLC AND (EGFR OR ALK OR TP53)</a:t>
            </a:r>
          </a:p>
        </p:txBody>
      </p:sp>
      <p:sp>
        <p:nvSpPr>
          <p:cNvPr id="11" name="ladder-use-0">
            <a:extLst>
              <a:ext uri="{FF2B5EF4-FFF2-40B4-BE49-F238E27FC236}">
                <a16:creationId xmlns:a16="http://schemas.microsoft.com/office/drawing/2014/main" id="{C476CEA9-C235-45A2-BED5-00F95D857791}"/>
              </a:ext>
            </a:extLst>
          </p:cNvPr>
          <p:cNvSpPr>
            <a:spLocks noGrp="1"/>
          </p:cNvSpPr>
          <p:nvPr/>
        </p:nvSpPr>
        <p:spPr>
          <a:xfrm>
            <a:off x="8801100" y="1781175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盤點詞彙與研究類型</a:t>
            </a:r>
          </a:p>
        </p:txBody>
      </p:sp>
      <p:sp>
        <p:nvSpPr>
          <p:cNvPr id="12" name="ladder-line-1">
            <a:extLst>
              <a:ext uri="{FF2B5EF4-FFF2-40B4-BE49-F238E27FC236}">
                <a16:creationId xmlns:a16="http://schemas.microsoft.com/office/drawing/2014/main" id="{805B2AC7-2437-42B6-8EF2-C81064F70B2D}"/>
              </a:ext>
            </a:extLst>
          </p:cNvPr>
          <p:cNvSpPr>
            <a:spLocks noGrp="1"/>
          </p:cNvSpPr>
          <p:nvPr/>
        </p:nvSpPr>
        <p:spPr>
          <a:xfrm>
            <a:off x="2038350" y="2171700"/>
            <a:ext cx="0" cy="40005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adder-head-1">
            <a:extLst>
              <a:ext uri="{FF2B5EF4-FFF2-40B4-BE49-F238E27FC236}">
                <a16:creationId xmlns:a16="http://schemas.microsoft.com/office/drawing/2014/main" id="{E18CF68F-52D5-4907-A5DD-60FFBF5CEC4E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2095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Q2  Treatment</a:t>
            </a:r>
          </a:p>
        </p:txBody>
      </p:sp>
      <p:sp>
        <p:nvSpPr>
          <p:cNvPr id="14" name="ladder-query-bg-1">
            <a:extLst>
              <a:ext uri="{FF2B5EF4-FFF2-40B4-BE49-F238E27FC236}">
                <a16:creationId xmlns:a16="http://schemas.microsoft.com/office/drawing/2014/main" id="{BEDC1D29-CC93-4D86-8DDA-CDB9921095FB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adder-query-1">
            <a:extLst>
              <a:ext uri="{FF2B5EF4-FFF2-40B4-BE49-F238E27FC236}">
                <a16:creationId xmlns:a16="http://schemas.microsoft.com/office/drawing/2014/main" id="{5C023928-0CC4-402E-BF7C-06329BE94D31}"/>
              </a:ext>
            </a:extLst>
          </p:cNvPr>
          <p:cNvSpPr>
            <a:spLocks noGrp="1"/>
          </p:cNvSpPr>
          <p:nvPr/>
        </p:nvSpPr>
        <p:spPr>
          <a:xfrm>
            <a:off x="3657600" y="272415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NSCLC AND EGFR AND osimertinib AND trial</a:t>
            </a:r>
          </a:p>
        </p:txBody>
      </p:sp>
      <p:sp>
        <p:nvSpPr>
          <p:cNvPr id="16" name="ladder-use-1">
            <a:extLst>
              <a:ext uri="{FF2B5EF4-FFF2-40B4-BE49-F238E27FC236}">
                <a16:creationId xmlns:a16="http://schemas.microsoft.com/office/drawing/2014/main" id="{B7F27CC4-3699-4B06-8148-39E0AE5F3836}"/>
              </a:ext>
            </a:extLst>
          </p:cNvPr>
          <p:cNvSpPr>
            <a:spLocks noGrp="1"/>
          </p:cNvSpPr>
          <p:nvPr/>
        </p:nvSpPr>
        <p:spPr>
          <a:xfrm>
            <a:off x="8801100" y="2714625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定位治療效益研究</a:t>
            </a:r>
          </a:p>
        </p:txBody>
      </p:sp>
      <p:sp>
        <p:nvSpPr>
          <p:cNvPr id="17" name="ladder-line-2">
            <a:extLst>
              <a:ext uri="{FF2B5EF4-FFF2-40B4-BE49-F238E27FC236}">
                <a16:creationId xmlns:a16="http://schemas.microsoft.com/office/drawing/2014/main" id="{B31A70CA-9004-4CD0-B067-8ABCC83C9EEB}"/>
              </a:ext>
            </a:extLst>
          </p:cNvPr>
          <p:cNvSpPr>
            <a:spLocks noGrp="1"/>
          </p:cNvSpPr>
          <p:nvPr/>
        </p:nvSpPr>
        <p:spPr>
          <a:xfrm>
            <a:off x="2038350" y="3105150"/>
            <a:ext cx="0" cy="40005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adder-head-2">
            <a:extLst>
              <a:ext uri="{FF2B5EF4-FFF2-40B4-BE49-F238E27FC236}">
                <a16:creationId xmlns:a16="http://schemas.microsoft.com/office/drawing/2014/main" id="{82268F5F-EBAD-417A-8EC3-14788DBED918}"/>
              </a:ext>
            </a:extLst>
          </p:cNvPr>
          <p:cNvSpPr>
            <a:spLocks noGrp="1"/>
          </p:cNvSpPr>
          <p:nvPr/>
        </p:nvSpPr>
        <p:spPr>
          <a:xfrm>
            <a:off x="990600" y="3505200"/>
            <a:ext cx="2095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Q3  Molecular</a:t>
            </a:r>
          </a:p>
        </p:txBody>
      </p:sp>
      <p:sp>
        <p:nvSpPr>
          <p:cNvPr id="19" name="ladder-query-bg-2">
            <a:extLst>
              <a:ext uri="{FF2B5EF4-FFF2-40B4-BE49-F238E27FC236}">
                <a16:creationId xmlns:a16="http://schemas.microsoft.com/office/drawing/2014/main" id="{6DAEDEDB-AA8F-4C20-9A9B-852403327BEC}"/>
              </a:ext>
            </a:extLst>
          </p:cNvPr>
          <p:cNvSpPr>
            <a:spLocks noGrp="1"/>
          </p:cNvSpPr>
          <p:nvPr/>
        </p:nvSpPr>
        <p:spPr>
          <a:xfrm>
            <a:off x="3429000" y="350520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ladder-query-2">
            <a:extLst>
              <a:ext uri="{FF2B5EF4-FFF2-40B4-BE49-F238E27FC236}">
                <a16:creationId xmlns:a16="http://schemas.microsoft.com/office/drawing/2014/main" id="{FD2FDC5B-B005-445F-9F0B-557B1A041205}"/>
              </a:ext>
            </a:extLst>
          </p:cNvPr>
          <p:cNvSpPr>
            <a:spLocks noGrp="1"/>
          </p:cNvSpPr>
          <p:nvPr/>
        </p:nvSpPr>
        <p:spPr>
          <a:xfrm>
            <a:off x="3657600" y="365760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lung adenocarcinoma AND molecular profiling</a:t>
            </a:r>
          </a:p>
        </p:txBody>
      </p:sp>
      <p:sp>
        <p:nvSpPr>
          <p:cNvPr id="21" name="ladder-use-2">
            <a:extLst>
              <a:ext uri="{FF2B5EF4-FFF2-40B4-BE49-F238E27FC236}">
                <a16:creationId xmlns:a16="http://schemas.microsoft.com/office/drawing/2014/main" id="{DBF16F8B-7537-4E08-9B52-F71271ABABCD}"/>
              </a:ext>
            </a:extLst>
          </p:cNvPr>
          <p:cNvSpPr>
            <a:spLocks noGrp="1"/>
          </p:cNvSpPr>
          <p:nvPr/>
        </p:nvSpPr>
        <p:spPr>
          <a:xfrm>
            <a:off x="8801100" y="3648075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補足 molecular context</a:t>
            </a:r>
          </a:p>
        </p:txBody>
      </p:sp>
      <p:sp>
        <p:nvSpPr>
          <p:cNvPr id="22" name="ladder-line-3">
            <a:extLst>
              <a:ext uri="{FF2B5EF4-FFF2-40B4-BE49-F238E27FC236}">
                <a16:creationId xmlns:a16="http://schemas.microsoft.com/office/drawing/2014/main" id="{1355107B-A5CF-4BDB-81A3-3A2E018180E5}"/>
              </a:ext>
            </a:extLst>
          </p:cNvPr>
          <p:cNvSpPr>
            <a:spLocks noGrp="1"/>
          </p:cNvSpPr>
          <p:nvPr/>
        </p:nvSpPr>
        <p:spPr>
          <a:xfrm>
            <a:off x="2038350" y="4038600"/>
            <a:ext cx="0" cy="40005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ladder-head-3">
            <a:extLst>
              <a:ext uri="{FF2B5EF4-FFF2-40B4-BE49-F238E27FC236}">
                <a16:creationId xmlns:a16="http://schemas.microsoft.com/office/drawing/2014/main" id="{D46A24F4-7544-49FA-9B07-E83691BD5083}"/>
              </a:ext>
            </a:extLst>
          </p:cNvPr>
          <p:cNvSpPr>
            <a:spLocks noGrp="1"/>
          </p:cNvSpPr>
          <p:nvPr/>
        </p:nvSpPr>
        <p:spPr>
          <a:xfrm>
            <a:off x="990600" y="4438650"/>
            <a:ext cx="2095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Q4  Rescue</a:t>
            </a:r>
          </a:p>
        </p:txBody>
      </p:sp>
      <p:sp>
        <p:nvSpPr>
          <p:cNvPr id="24" name="ladder-query-bg-3">
            <a:extLst>
              <a:ext uri="{FF2B5EF4-FFF2-40B4-BE49-F238E27FC236}">
                <a16:creationId xmlns:a16="http://schemas.microsoft.com/office/drawing/2014/main" id="{6B197959-D8DD-4151-80F6-E5DD6D90735E}"/>
              </a:ext>
            </a:extLst>
          </p:cNvPr>
          <p:cNvSpPr>
            <a:spLocks noGrp="1"/>
          </p:cNvSpPr>
          <p:nvPr/>
        </p:nvSpPr>
        <p:spPr>
          <a:xfrm>
            <a:off x="3429000" y="443865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ladder-query-3">
            <a:extLst>
              <a:ext uri="{FF2B5EF4-FFF2-40B4-BE49-F238E27FC236}">
                <a16:creationId xmlns:a16="http://schemas.microsoft.com/office/drawing/2014/main" id="{D7864890-CD5A-4AC4-B50F-B793EAFA8DDA}"/>
              </a:ext>
            </a:extLst>
          </p:cNvPr>
          <p:cNvSpPr>
            <a:spLocks noGrp="1"/>
          </p:cNvSpPr>
          <p:nvPr/>
        </p:nvSpPr>
        <p:spPr>
          <a:xfrm>
            <a:off x="3657600" y="459105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TP53 AND NSCLC AND outcome AND targeted therapy</a:t>
            </a:r>
          </a:p>
        </p:txBody>
      </p:sp>
      <p:sp>
        <p:nvSpPr>
          <p:cNvPr id="26" name="ladder-use-3">
            <a:extLst>
              <a:ext uri="{FF2B5EF4-FFF2-40B4-BE49-F238E27FC236}">
                <a16:creationId xmlns:a16="http://schemas.microsoft.com/office/drawing/2014/main" id="{C64746C6-0EAE-4175-B540-6EA6792B120E}"/>
              </a:ext>
            </a:extLst>
          </p:cNvPr>
          <p:cNvSpPr>
            <a:spLocks noGrp="1"/>
          </p:cNvSpPr>
          <p:nvPr/>
        </p:nvSpPr>
        <p:spPr>
          <a:xfrm>
            <a:off x="8801100" y="4581525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針對 needs_source 缺口</a:t>
            </a:r>
          </a:p>
        </p:txBody>
      </p:sp>
      <p:sp>
        <p:nvSpPr>
          <p:cNvPr id="27" name="bottom">
            <a:extLst>
              <a:ext uri="{FF2B5EF4-FFF2-40B4-BE49-F238E27FC236}">
                <a16:creationId xmlns:a16="http://schemas.microsoft.com/office/drawing/2014/main" id="{D7375548-6BEB-49E8-AB6B-D8F78ED9C834}"/>
              </a:ext>
            </a:extLst>
          </p:cNvPr>
          <p:cNvSpPr>
            <a:spLocks noGrp="1"/>
          </p:cNvSpPr>
          <p:nvPr/>
        </p:nvSpPr>
        <p:spPr>
          <a:xfrm>
            <a:off x="1524000" y="5619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每次改 query 都要記錄：改了什麼、為什麼、結果是否更接近問題。</a:t>
            </a:r>
          </a:p>
        </p:txBody>
      </p:sp>
    </p:spTree>
    <p:extLst>
      <p:ext uri="{BB962C8B-B14F-4D97-AF65-F5344CB8AC3E}">
        <p14:creationId xmlns:p14="http://schemas.microsoft.com/office/powerpoint/2010/main" val="179255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ccent-rail-26">
            <a:extLst>
              <a:ext uri="{FF2B5EF4-FFF2-40B4-BE49-F238E27FC236}">
                <a16:creationId xmlns:a16="http://schemas.microsoft.com/office/drawing/2014/main" id="{07C2E396-1883-4A1A-9EDA-DEBFE3998D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6">
            <a:extLst>
              <a:ext uri="{FF2B5EF4-FFF2-40B4-BE49-F238E27FC236}">
                <a16:creationId xmlns:a16="http://schemas.microsoft.com/office/drawing/2014/main" id="{175622E3-0101-4785-BFFF-A8DF3CEB121E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6">
            <a:extLst>
              <a:ext uri="{FF2B5EF4-FFF2-40B4-BE49-F238E27FC236}">
                <a16:creationId xmlns:a16="http://schemas.microsoft.com/office/drawing/2014/main" id="{8FCB8F15-E97A-43DB-97E0-1E3973062DEF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6">
            <a:extLst>
              <a:ext uri="{FF2B5EF4-FFF2-40B4-BE49-F238E27FC236}">
                <a16:creationId xmlns:a16="http://schemas.microsoft.com/office/drawing/2014/main" id="{2E2D3AC7-4A2F-40FD-8339-ED23E674968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696402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5ED042F-30FF-4761-9984-818E60C17C8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ELIGIBILITY RULES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4F6FCEA-CB49-462E-9A02-E46E60638FD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納入與排除條件要在看結果之前先寫下來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4E85C2C-8D03-4963-85B9-37FB1532AAE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26/40</a:t>
            </a:r>
          </a:p>
        </p:txBody>
      </p:sp>
      <p:sp>
        <p:nvSpPr>
          <p:cNvPr id="8" name="eligibility-0">
            <a:extLst>
              <a:ext uri="{FF2B5EF4-FFF2-40B4-BE49-F238E27FC236}">
                <a16:creationId xmlns:a16="http://schemas.microsoft.com/office/drawing/2014/main" id="{A71D761C-9FBE-4C99-A98E-2E44FC23F92E}"/>
              </a:ext>
            </a:extLst>
          </p:cNvPr>
          <p:cNvSpPr>
            <a:spLocks noGrp="1"/>
          </p:cNvSpPr>
          <p:nvPr/>
        </p:nvSpPr>
        <p:spPr>
          <a:xfrm>
            <a:off x="1181100" y="1962150"/>
            <a:ext cx="4438650" cy="2895600"/>
          </a:xfrm>
          <a:prstGeom prst="roundRect">
            <a:avLst>
              <a:gd name="adj" fmla="val 2632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eligibility-head-0">
            <a:extLst>
              <a:ext uri="{FF2B5EF4-FFF2-40B4-BE49-F238E27FC236}">
                <a16:creationId xmlns:a16="http://schemas.microsoft.com/office/drawing/2014/main" id="{0F792C7F-E763-40E1-AC0D-02E701E80166}"/>
              </a:ext>
            </a:extLst>
          </p:cNvPr>
          <p:cNvSpPr>
            <a:spLocks noGrp="1"/>
          </p:cNvSpPr>
          <p:nvPr/>
        </p:nvSpPr>
        <p:spPr>
          <a:xfrm>
            <a:off x="1504950" y="2266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Include</a:t>
            </a:r>
          </a:p>
        </p:txBody>
      </p:sp>
      <p:sp>
        <p:nvSpPr>
          <p:cNvPr id="10" name="eligibility-items-0">
            <a:extLst>
              <a:ext uri="{FF2B5EF4-FFF2-40B4-BE49-F238E27FC236}">
                <a16:creationId xmlns:a16="http://schemas.microsoft.com/office/drawing/2014/main" id="{2BC08DF7-2C55-461C-8081-2B1F821C8256}"/>
              </a:ext>
            </a:extLst>
          </p:cNvPr>
          <p:cNvSpPr>
            <a:spLocks noGrp="1"/>
          </p:cNvSpPr>
          <p:nvPr/>
        </p:nvSpPr>
        <p:spPr>
          <a:xfrm>
            <a:off x="1790700" y="3009900"/>
            <a:ext cx="3352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NSCLC 或 lung adenocarcinoma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可回查 PMID / DOI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研究類型與問題相符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來源能支持至少一個 narrow claim</a:t>
            </a:r>
          </a:p>
        </p:txBody>
      </p:sp>
      <p:sp>
        <p:nvSpPr>
          <p:cNvPr id="11" name="eligibility-1">
            <a:extLst>
              <a:ext uri="{FF2B5EF4-FFF2-40B4-BE49-F238E27FC236}">
                <a16:creationId xmlns:a16="http://schemas.microsoft.com/office/drawing/2014/main" id="{4D10DD87-B976-4937-9F92-E4FB905A3B1E}"/>
              </a:ext>
            </a:extLst>
          </p:cNvPr>
          <p:cNvSpPr>
            <a:spLocks noGrp="1"/>
          </p:cNvSpPr>
          <p:nvPr/>
        </p:nvSpPr>
        <p:spPr>
          <a:xfrm>
            <a:off x="6610350" y="1962150"/>
            <a:ext cx="4438650" cy="2895600"/>
          </a:xfrm>
          <a:prstGeom prst="roundRect">
            <a:avLst>
              <a:gd name="adj" fmla="val 2632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eligibility-head-1">
            <a:extLst>
              <a:ext uri="{FF2B5EF4-FFF2-40B4-BE49-F238E27FC236}">
                <a16:creationId xmlns:a16="http://schemas.microsoft.com/office/drawing/2014/main" id="{86A1F5A3-6F95-4584-96CC-B7101AD290EC}"/>
              </a:ext>
            </a:extLst>
          </p:cNvPr>
          <p:cNvSpPr>
            <a:spLocks noGrp="1"/>
          </p:cNvSpPr>
          <p:nvPr/>
        </p:nvSpPr>
        <p:spPr>
          <a:xfrm>
            <a:off x="6934200" y="2266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Exclude / park</a:t>
            </a:r>
          </a:p>
        </p:txBody>
      </p:sp>
      <p:sp>
        <p:nvSpPr>
          <p:cNvPr id="13" name="eligibility-items-1">
            <a:extLst>
              <a:ext uri="{FF2B5EF4-FFF2-40B4-BE49-F238E27FC236}">
                <a16:creationId xmlns:a16="http://schemas.microsoft.com/office/drawing/2014/main" id="{911DDD1D-6557-4670-99EA-6E1D680D3F77}"/>
              </a:ext>
            </a:extLst>
          </p:cNvPr>
          <p:cNvSpPr>
            <a:spLocks noGrp="1"/>
          </p:cNvSpPr>
          <p:nvPr/>
        </p:nvSpPr>
        <p:spPr>
          <a:xfrm>
            <a:off x="7219950" y="3009900"/>
            <a:ext cx="3352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只有二手摘要且無原始來源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疾病或介入不在範圍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只有背景敘述、無可抽取結果</a:t>
            </a:r>
          </a:p>
          <a:p>
            <a:pPr marL="24" indent="-12">
              <a:lnSpc>
                <a:spcPct val="108000"/>
              </a:lnSpc>
              <a:spcAft>
                <a:spcPts val="9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同一研究重複報告，先標記 linkage</a:t>
            </a:r>
          </a:p>
        </p:txBody>
      </p:sp>
      <p:sp>
        <p:nvSpPr>
          <p:cNvPr id="14" name="bottom">
            <a:extLst>
              <a:ext uri="{FF2B5EF4-FFF2-40B4-BE49-F238E27FC236}">
                <a16:creationId xmlns:a16="http://schemas.microsoft.com/office/drawing/2014/main" id="{5E747D37-B701-4EE6-839F-2DC00F937C81}"/>
              </a:ext>
            </a:extLst>
          </p:cNvPr>
          <p:cNvSpPr>
            <a:spLocks noGrp="1"/>
          </p:cNvSpPr>
          <p:nvPr/>
        </p:nvSpPr>
        <p:spPr>
          <a:xfrm>
            <a:off x="1619250" y="53911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排除不是刪除：保留 reason，才能重跑、審查與解釋搜尋偏差。</a:t>
            </a:r>
          </a:p>
        </p:txBody>
      </p:sp>
    </p:spTree>
    <p:extLst>
      <p:ext uri="{BB962C8B-B14F-4D97-AF65-F5344CB8AC3E}">
        <p14:creationId xmlns:p14="http://schemas.microsoft.com/office/powerpoint/2010/main" val="100345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ccent-rail-27">
            <a:extLst>
              <a:ext uri="{FF2B5EF4-FFF2-40B4-BE49-F238E27FC236}">
                <a16:creationId xmlns:a16="http://schemas.microsoft.com/office/drawing/2014/main" id="{29B5C84E-A629-4996-9589-0DBF1E6E8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7">
            <a:extLst>
              <a:ext uri="{FF2B5EF4-FFF2-40B4-BE49-F238E27FC236}">
                <a16:creationId xmlns:a16="http://schemas.microsoft.com/office/drawing/2014/main" id="{3DE2BEAD-0A3F-4BD3-8E42-C3A22E258792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7">
            <a:extLst>
              <a:ext uri="{FF2B5EF4-FFF2-40B4-BE49-F238E27FC236}">
                <a16:creationId xmlns:a16="http://schemas.microsoft.com/office/drawing/2014/main" id="{610EC268-480F-4F5A-8330-CBA60733C29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7">
            <a:extLst>
              <a:ext uri="{FF2B5EF4-FFF2-40B4-BE49-F238E27FC236}">
                <a16:creationId xmlns:a16="http://schemas.microsoft.com/office/drawing/2014/main" id="{7B2A6E6D-0C9E-49DA-8ABF-24DAF11D65B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761649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10A23849-82F4-4CB6-A221-A5E4DA70C5B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SEARCH LOG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74EBB4D-B48A-4F34-8ACC-7747E64C04B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Search log 要留下決策，不只是複製 query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CE90FAA-E5CB-4FDA-B982-25AF49348F3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27/40</a:t>
            </a:r>
          </a:p>
        </p:txBody>
      </p:sp>
      <p:sp>
        <p:nvSpPr>
          <p:cNvPr id="8" name="table-head-run-0">
            <a:extLst>
              <a:ext uri="{FF2B5EF4-FFF2-40B4-BE49-F238E27FC236}">
                <a16:creationId xmlns:a16="http://schemas.microsoft.com/office/drawing/2014/main" id="{714E8CF9-3CF1-4C99-ADEB-13FD3B609FA4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9" name="table-head-query focus-1">
            <a:extLst>
              <a:ext uri="{FF2B5EF4-FFF2-40B4-BE49-F238E27FC236}">
                <a16:creationId xmlns:a16="http://schemas.microsoft.com/office/drawing/2014/main" id="{39BC1943-F74F-4816-B64C-FF67560AEEEE}"/>
              </a:ext>
            </a:extLst>
          </p:cNvPr>
          <p:cNvSpPr>
            <a:spLocks noGrp="1"/>
          </p:cNvSpPr>
          <p:nvPr/>
        </p:nvSpPr>
        <p:spPr>
          <a:xfrm>
            <a:off x="1752600" y="1695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query focus</a:t>
            </a:r>
          </a:p>
        </p:txBody>
      </p:sp>
      <p:sp>
        <p:nvSpPr>
          <p:cNvPr id="10" name="table-head-change-2">
            <a:extLst>
              <a:ext uri="{FF2B5EF4-FFF2-40B4-BE49-F238E27FC236}">
                <a16:creationId xmlns:a16="http://schemas.microsoft.com/office/drawing/2014/main" id="{84F2D473-B2C6-4039-B968-3B67C2BFE762}"/>
              </a:ext>
            </a:extLst>
          </p:cNvPr>
          <p:cNvSpPr>
            <a:spLocks noGrp="1"/>
          </p:cNvSpPr>
          <p:nvPr/>
        </p:nvSpPr>
        <p:spPr>
          <a:xfrm>
            <a:off x="4457700" y="16954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11" name="table-head-decision-3">
            <a:extLst>
              <a:ext uri="{FF2B5EF4-FFF2-40B4-BE49-F238E27FC236}">
                <a16:creationId xmlns:a16="http://schemas.microsoft.com/office/drawing/2014/main" id="{9AA9FD17-5627-4164-AD58-F812EBF20399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2" name="log-row-0">
            <a:extLst>
              <a:ext uri="{FF2B5EF4-FFF2-40B4-BE49-F238E27FC236}">
                <a16:creationId xmlns:a16="http://schemas.microsoft.com/office/drawing/2014/main" id="{C9BCBD6A-50A0-4DD8-A6FD-EAFACF51897A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10744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og-0-0">
            <a:extLst>
              <a:ext uri="{FF2B5EF4-FFF2-40B4-BE49-F238E27FC236}">
                <a16:creationId xmlns:a16="http://schemas.microsoft.com/office/drawing/2014/main" id="{2EBE4DDC-8258-4634-8366-C16F028335A9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log-0-1">
            <a:extLst>
              <a:ext uri="{FF2B5EF4-FFF2-40B4-BE49-F238E27FC236}">
                <a16:creationId xmlns:a16="http://schemas.microsoft.com/office/drawing/2014/main" id="{27F49B60-6181-4D51-B770-B9D5FEE5529D}"/>
              </a:ext>
            </a:extLst>
          </p:cNvPr>
          <p:cNvSpPr>
            <a:spLocks noGrp="1"/>
          </p:cNvSpPr>
          <p:nvPr/>
        </p:nvSpPr>
        <p:spPr>
          <a:xfrm>
            <a:off x="1752600" y="22002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broad gene map</a:t>
            </a:r>
          </a:p>
        </p:txBody>
      </p:sp>
      <p:sp>
        <p:nvSpPr>
          <p:cNvPr id="15" name="log-0-2">
            <a:extLst>
              <a:ext uri="{FF2B5EF4-FFF2-40B4-BE49-F238E27FC236}">
                <a16:creationId xmlns:a16="http://schemas.microsoft.com/office/drawing/2014/main" id="{5CDC33F3-F082-47EB-9B4C-D7431E5DD91E}"/>
              </a:ext>
            </a:extLst>
          </p:cNvPr>
          <p:cNvSpPr>
            <a:spLocks noGrp="1"/>
          </p:cNvSpPr>
          <p:nvPr/>
        </p:nvSpPr>
        <p:spPr>
          <a:xfrm>
            <a:off x="4457700" y="220027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baseline search</a:t>
            </a:r>
          </a:p>
        </p:txBody>
      </p:sp>
      <p:sp>
        <p:nvSpPr>
          <p:cNvPr id="16" name="log-0-3">
            <a:extLst>
              <a:ext uri="{FF2B5EF4-FFF2-40B4-BE49-F238E27FC236}">
                <a16:creationId xmlns:a16="http://schemas.microsoft.com/office/drawing/2014/main" id="{1B17E1D6-C45F-4CF6-97B3-58B0123EEAF3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保留常見詞彙與候選 study types</a:t>
            </a:r>
          </a:p>
        </p:txBody>
      </p:sp>
      <p:sp>
        <p:nvSpPr>
          <p:cNvPr id="17" name="log-row-1">
            <a:extLst>
              <a:ext uri="{FF2B5EF4-FFF2-40B4-BE49-F238E27FC236}">
                <a16:creationId xmlns:a16="http://schemas.microsoft.com/office/drawing/2014/main" id="{7EF1FB33-B534-4536-A298-8AD9F3AE76B0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10744200" cy="552450"/>
          </a:xfrm>
          <a:prstGeom prst="roundRect">
            <a:avLst>
              <a:gd name="adj" fmla="val 1379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og-1-0">
            <a:extLst>
              <a:ext uri="{FF2B5EF4-FFF2-40B4-BE49-F238E27FC236}">
                <a16:creationId xmlns:a16="http://schemas.microsoft.com/office/drawing/2014/main" id="{FD0B64CB-62D6-4A1C-AFFA-4E36C670825B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log-1-1">
            <a:extLst>
              <a:ext uri="{FF2B5EF4-FFF2-40B4-BE49-F238E27FC236}">
                <a16:creationId xmlns:a16="http://schemas.microsoft.com/office/drawing/2014/main" id="{35282286-2294-4EB3-B1AC-E7ABE37A5A10}"/>
              </a:ext>
            </a:extLst>
          </p:cNvPr>
          <p:cNvSpPr>
            <a:spLocks noGrp="1"/>
          </p:cNvSpPr>
          <p:nvPr/>
        </p:nvSpPr>
        <p:spPr>
          <a:xfrm>
            <a:off x="1752600" y="29241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EGFR treatment</a:t>
            </a:r>
          </a:p>
        </p:txBody>
      </p:sp>
      <p:sp>
        <p:nvSpPr>
          <p:cNvPr id="20" name="log-1-2">
            <a:extLst>
              <a:ext uri="{FF2B5EF4-FFF2-40B4-BE49-F238E27FC236}">
                <a16:creationId xmlns:a16="http://schemas.microsoft.com/office/drawing/2014/main" id="{895A4648-5684-4904-B8E5-5AC5C90C98FA}"/>
              </a:ext>
            </a:extLst>
          </p:cNvPr>
          <p:cNvSpPr>
            <a:spLocks noGrp="1"/>
          </p:cNvSpPr>
          <p:nvPr/>
        </p:nvSpPr>
        <p:spPr>
          <a:xfrm>
            <a:off x="4457700" y="292417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add drug + trial</a:t>
            </a:r>
          </a:p>
        </p:txBody>
      </p:sp>
      <p:sp>
        <p:nvSpPr>
          <p:cNvPr id="21" name="log-1-3">
            <a:extLst>
              <a:ext uri="{FF2B5EF4-FFF2-40B4-BE49-F238E27FC236}">
                <a16:creationId xmlns:a16="http://schemas.microsoft.com/office/drawing/2014/main" id="{CFFF47B5-FF33-4DE4-A130-30E1643C52BC}"/>
              </a:ext>
            </a:extLst>
          </p:cNvPr>
          <p:cNvSpPr>
            <a:spLocks noGrp="1"/>
          </p:cNvSpPr>
          <p:nvPr/>
        </p:nvSpPr>
        <p:spPr>
          <a:xfrm>
            <a:off x="7239000" y="292417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進入 treatment evidence inventory</a:t>
            </a:r>
          </a:p>
        </p:txBody>
      </p:sp>
      <p:sp>
        <p:nvSpPr>
          <p:cNvPr id="22" name="log-row-2">
            <a:extLst>
              <a:ext uri="{FF2B5EF4-FFF2-40B4-BE49-F238E27FC236}">
                <a16:creationId xmlns:a16="http://schemas.microsoft.com/office/drawing/2014/main" id="{BD3D5A22-625D-4A94-8BEB-E078143BAA2C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10744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log-2-0">
            <a:extLst>
              <a:ext uri="{FF2B5EF4-FFF2-40B4-BE49-F238E27FC236}">
                <a16:creationId xmlns:a16="http://schemas.microsoft.com/office/drawing/2014/main" id="{0B49903B-9172-4746-B7C8-766442534529}"/>
              </a:ext>
            </a:extLst>
          </p:cNvPr>
          <p:cNvSpPr>
            <a:spLocks noGrp="1"/>
          </p:cNvSpPr>
          <p:nvPr/>
        </p:nvSpPr>
        <p:spPr>
          <a:xfrm>
            <a:off x="876300" y="3648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log-2-1">
            <a:extLst>
              <a:ext uri="{FF2B5EF4-FFF2-40B4-BE49-F238E27FC236}">
                <a16:creationId xmlns:a16="http://schemas.microsoft.com/office/drawing/2014/main" id="{79FF63B1-CBCD-43D5-8C57-4DA582085213}"/>
              </a:ext>
            </a:extLst>
          </p:cNvPr>
          <p:cNvSpPr>
            <a:spLocks noGrp="1"/>
          </p:cNvSpPr>
          <p:nvPr/>
        </p:nvSpPr>
        <p:spPr>
          <a:xfrm>
            <a:off x="1752600" y="36480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ALK treatment</a:t>
            </a:r>
          </a:p>
        </p:txBody>
      </p:sp>
      <p:sp>
        <p:nvSpPr>
          <p:cNvPr id="25" name="log-2-2">
            <a:extLst>
              <a:ext uri="{FF2B5EF4-FFF2-40B4-BE49-F238E27FC236}">
                <a16:creationId xmlns:a16="http://schemas.microsoft.com/office/drawing/2014/main" id="{EE2CF0A9-E60D-4801-96D5-EBEECF4352B9}"/>
              </a:ext>
            </a:extLst>
          </p:cNvPr>
          <p:cNvSpPr>
            <a:spLocks noGrp="1"/>
          </p:cNvSpPr>
          <p:nvPr/>
        </p:nvSpPr>
        <p:spPr>
          <a:xfrm>
            <a:off x="4457700" y="364807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change gene + comparator</a:t>
            </a:r>
          </a:p>
        </p:txBody>
      </p:sp>
      <p:sp>
        <p:nvSpPr>
          <p:cNvPr id="26" name="log-2-3">
            <a:extLst>
              <a:ext uri="{FF2B5EF4-FFF2-40B4-BE49-F238E27FC236}">
                <a16:creationId xmlns:a16="http://schemas.microsoft.com/office/drawing/2014/main" id="{DA87E7FA-12D8-4EF4-BFE0-4F840883B288}"/>
              </a:ext>
            </a:extLst>
          </p:cNvPr>
          <p:cNvSpPr>
            <a:spLocks noGrp="1"/>
          </p:cNvSpPr>
          <p:nvPr/>
        </p:nvSpPr>
        <p:spPr>
          <a:xfrm>
            <a:off x="7239000" y="364807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檢查同類問題是否可重用 schema</a:t>
            </a:r>
          </a:p>
        </p:txBody>
      </p:sp>
      <p:sp>
        <p:nvSpPr>
          <p:cNvPr id="27" name="log-row-3">
            <a:extLst>
              <a:ext uri="{FF2B5EF4-FFF2-40B4-BE49-F238E27FC236}">
                <a16:creationId xmlns:a16="http://schemas.microsoft.com/office/drawing/2014/main" id="{8B5F7CDF-BED3-4A6A-9CF7-5A2B9E2D0DD2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10744200" cy="552450"/>
          </a:xfrm>
          <a:prstGeom prst="roundRect">
            <a:avLst>
              <a:gd name="adj" fmla="val 1379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log-3-0">
            <a:extLst>
              <a:ext uri="{FF2B5EF4-FFF2-40B4-BE49-F238E27FC236}">
                <a16:creationId xmlns:a16="http://schemas.microsoft.com/office/drawing/2014/main" id="{C51EE928-13EF-45F6-9018-772D1BAF42E3}"/>
              </a:ext>
            </a:extLst>
          </p:cNvPr>
          <p:cNvSpPr>
            <a:spLocks noGrp="1"/>
          </p:cNvSpPr>
          <p:nvPr/>
        </p:nvSpPr>
        <p:spPr>
          <a:xfrm>
            <a:off x="876300" y="43719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log-3-1">
            <a:extLst>
              <a:ext uri="{FF2B5EF4-FFF2-40B4-BE49-F238E27FC236}">
                <a16:creationId xmlns:a16="http://schemas.microsoft.com/office/drawing/2014/main" id="{2B9610C6-9F29-4032-98D9-EA04E1446559}"/>
              </a:ext>
            </a:extLst>
          </p:cNvPr>
          <p:cNvSpPr>
            <a:spLocks noGrp="1"/>
          </p:cNvSpPr>
          <p:nvPr/>
        </p:nvSpPr>
        <p:spPr>
          <a:xfrm>
            <a:off x="1752600" y="43719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TP53 rescue</a:t>
            </a:r>
          </a:p>
        </p:txBody>
      </p:sp>
      <p:sp>
        <p:nvSpPr>
          <p:cNvPr id="30" name="log-3-2">
            <a:extLst>
              <a:ext uri="{FF2B5EF4-FFF2-40B4-BE49-F238E27FC236}">
                <a16:creationId xmlns:a16="http://schemas.microsoft.com/office/drawing/2014/main" id="{BFF813B2-8D77-444A-96A6-39D9AD3C5BCF}"/>
              </a:ext>
            </a:extLst>
          </p:cNvPr>
          <p:cNvSpPr>
            <a:spLocks noGrp="1"/>
          </p:cNvSpPr>
          <p:nvPr/>
        </p:nvSpPr>
        <p:spPr>
          <a:xfrm>
            <a:off x="4457700" y="437197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add outcome terms</a:t>
            </a:r>
          </a:p>
        </p:txBody>
      </p:sp>
      <p:sp>
        <p:nvSpPr>
          <p:cNvPr id="31" name="log-3-3">
            <a:extLst>
              <a:ext uri="{FF2B5EF4-FFF2-40B4-BE49-F238E27FC236}">
                <a16:creationId xmlns:a16="http://schemas.microsoft.com/office/drawing/2014/main" id="{44F2F3CF-A303-4C10-BE05-DBFC11C02D7B}"/>
              </a:ext>
            </a:extLst>
          </p:cNvPr>
          <p:cNvSpPr>
            <a:spLocks noGrp="1"/>
          </p:cNvSpPr>
          <p:nvPr/>
        </p:nvSpPr>
        <p:spPr>
          <a:xfrm>
            <a:off x="7239000" y="437197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仍無 exact source 時回報 not_found</a:t>
            </a:r>
          </a:p>
        </p:txBody>
      </p:sp>
      <p:sp>
        <p:nvSpPr>
          <p:cNvPr id="32" name="stop">
            <a:extLst>
              <a:ext uri="{FF2B5EF4-FFF2-40B4-BE49-F238E27FC236}">
                <a16:creationId xmlns:a16="http://schemas.microsoft.com/office/drawing/2014/main" id="{5D28ADB5-A3F0-48CB-97D9-007A52F8A34A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Stop rule: 新 query 不再增加可驗證來源，或需要付費全文／專家判讀時停下來。</a:t>
            </a:r>
          </a:p>
        </p:txBody>
      </p:sp>
    </p:spTree>
    <p:extLst>
      <p:ext uri="{BB962C8B-B14F-4D97-AF65-F5344CB8AC3E}">
        <p14:creationId xmlns:p14="http://schemas.microsoft.com/office/powerpoint/2010/main" val="1219024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28">
            <a:extLst>
              <a:ext uri="{FF2B5EF4-FFF2-40B4-BE49-F238E27FC236}">
                <a16:creationId xmlns:a16="http://schemas.microsoft.com/office/drawing/2014/main" id="{B7250260-CDBE-4795-A897-B46947982F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8">
            <a:extLst>
              <a:ext uri="{FF2B5EF4-FFF2-40B4-BE49-F238E27FC236}">
                <a16:creationId xmlns:a16="http://schemas.microsoft.com/office/drawing/2014/main" id="{A16D5351-9F2B-4165-92B5-AC912273D6C8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8">
            <a:extLst>
              <a:ext uri="{FF2B5EF4-FFF2-40B4-BE49-F238E27FC236}">
                <a16:creationId xmlns:a16="http://schemas.microsoft.com/office/drawing/2014/main" id="{9412F3E9-029B-4E12-8A69-824B98D4E673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8">
            <a:extLst>
              <a:ext uri="{FF2B5EF4-FFF2-40B4-BE49-F238E27FC236}">
                <a16:creationId xmlns:a16="http://schemas.microsoft.com/office/drawing/2014/main" id="{F661AEDC-FA88-4F7F-877E-94681C147116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826895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68A891E-5D9C-478D-A2A0-D2B3E442818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 DEPTH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B5297F-1605-4DF5-9EE1-B7295B31719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不同來源層級能支持的欄位不同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5EFAB8E-550A-4EE9-9021-AA9222561EC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28/40</a:t>
            </a:r>
          </a:p>
        </p:txBody>
      </p:sp>
      <p:sp>
        <p:nvSpPr>
          <p:cNvPr id="8" name="source-depth-0">
            <a:extLst>
              <a:ext uri="{FF2B5EF4-FFF2-40B4-BE49-F238E27FC236}">
                <a16:creationId xmlns:a16="http://schemas.microsoft.com/office/drawing/2014/main" id="{9512ECEB-B3C5-4332-9D08-D3E0F0B23DC9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2038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9" name="source-fields-0">
            <a:extLst>
              <a:ext uri="{FF2B5EF4-FFF2-40B4-BE49-F238E27FC236}">
                <a16:creationId xmlns:a16="http://schemas.microsoft.com/office/drawing/2014/main" id="{9B78A1E2-4FFE-4E9D-B675-279AD31CAD7F}"/>
              </a:ext>
            </a:extLst>
          </p:cNvPr>
          <p:cNvSpPr>
            <a:spLocks noGrp="1"/>
          </p:cNvSpPr>
          <p:nvPr/>
        </p:nvSpPr>
        <p:spPr>
          <a:xfrm>
            <a:off x="3524250" y="17716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title / PMID / DOI / year</a:t>
            </a:r>
          </a:p>
        </p:txBody>
      </p:sp>
      <p:sp>
        <p:nvSpPr>
          <p:cNvPr id="10" name="source-role-0">
            <a:extLst>
              <a:ext uri="{FF2B5EF4-FFF2-40B4-BE49-F238E27FC236}">
                <a16:creationId xmlns:a16="http://schemas.microsoft.com/office/drawing/2014/main" id="{B448444A-ED73-4513-B4C0-2D4268275DE1}"/>
              </a:ext>
            </a:extLst>
          </p:cNvPr>
          <p:cNvSpPr>
            <a:spLocks noGrp="1"/>
          </p:cNvSpPr>
          <p:nvPr/>
        </p:nvSpPr>
        <p:spPr>
          <a:xfrm>
            <a:off x="7239000" y="18288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只能確認書目存在</a:t>
            </a:r>
          </a:p>
        </p:txBody>
      </p:sp>
      <p:sp>
        <p:nvSpPr>
          <p:cNvPr id="11" name="source-depth-1">
            <a:extLst>
              <a:ext uri="{FF2B5EF4-FFF2-40B4-BE49-F238E27FC236}">
                <a16:creationId xmlns:a16="http://schemas.microsoft.com/office/drawing/2014/main" id="{57B2DBE7-48A0-4F0E-A50D-42818F4F3213}"/>
              </a:ext>
            </a:extLst>
          </p:cNvPr>
          <p:cNvSpPr>
            <a:spLocks noGrp="1"/>
          </p:cNvSpPr>
          <p:nvPr/>
        </p:nvSpPr>
        <p:spPr>
          <a:xfrm>
            <a:off x="990600" y="2590800"/>
            <a:ext cx="2038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12" name="source-fields-1">
            <a:extLst>
              <a:ext uri="{FF2B5EF4-FFF2-40B4-BE49-F238E27FC236}">
                <a16:creationId xmlns:a16="http://schemas.microsoft.com/office/drawing/2014/main" id="{3DA23CD9-9346-4536-9CE1-7A887E258671}"/>
              </a:ext>
            </a:extLst>
          </p:cNvPr>
          <p:cNvSpPr>
            <a:spLocks noGrp="1"/>
          </p:cNvSpPr>
          <p:nvPr/>
        </p:nvSpPr>
        <p:spPr>
          <a:xfrm>
            <a:off x="3524250" y="26670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design / sample / main result</a:t>
            </a:r>
          </a:p>
        </p:txBody>
      </p:sp>
      <p:sp>
        <p:nvSpPr>
          <p:cNvPr id="13" name="source-role-1">
            <a:extLst>
              <a:ext uri="{FF2B5EF4-FFF2-40B4-BE49-F238E27FC236}">
                <a16:creationId xmlns:a16="http://schemas.microsoft.com/office/drawing/2014/main" id="{152DEC55-4D6D-4C6E-8097-104E8F7A87DB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適合初步 inventory</a:t>
            </a:r>
          </a:p>
        </p:txBody>
      </p:sp>
      <p:sp>
        <p:nvSpPr>
          <p:cNvPr id="14" name="source-depth-2">
            <a:extLst>
              <a:ext uri="{FF2B5EF4-FFF2-40B4-BE49-F238E27FC236}">
                <a16:creationId xmlns:a16="http://schemas.microsoft.com/office/drawing/2014/main" id="{DB71D83F-0F1E-44D1-9D1B-5B2C26F28E9C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2038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Full text</a:t>
            </a:r>
          </a:p>
        </p:txBody>
      </p:sp>
      <p:sp>
        <p:nvSpPr>
          <p:cNvPr id="15" name="source-fields-2">
            <a:extLst>
              <a:ext uri="{FF2B5EF4-FFF2-40B4-BE49-F238E27FC236}">
                <a16:creationId xmlns:a16="http://schemas.microsoft.com/office/drawing/2014/main" id="{E843704E-AFF9-4315-A33E-B6415AFCF81D}"/>
              </a:ext>
            </a:extLst>
          </p:cNvPr>
          <p:cNvSpPr>
            <a:spLocks noGrp="1"/>
          </p:cNvSpPr>
          <p:nvPr/>
        </p:nvSpPr>
        <p:spPr>
          <a:xfrm>
            <a:off x="3524250" y="3562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methods / subgroup / limitation</a:t>
            </a:r>
          </a:p>
        </p:txBody>
      </p:sp>
      <p:sp>
        <p:nvSpPr>
          <p:cNvPr id="16" name="source-role-2">
            <a:extLst>
              <a:ext uri="{FF2B5EF4-FFF2-40B4-BE49-F238E27FC236}">
                <a16:creationId xmlns:a16="http://schemas.microsoft.com/office/drawing/2014/main" id="{16BB828D-0886-4800-BF4C-039AD7FC5D6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用於 exact claim review</a:t>
            </a:r>
          </a:p>
        </p:txBody>
      </p:sp>
      <p:sp>
        <p:nvSpPr>
          <p:cNvPr id="17" name="source-depth-3">
            <a:extLst>
              <a:ext uri="{FF2B5EF4-FFF2-40B4-BE49-F238E27FC236}">
                <a16:creationId xmlns:a16="http://schemas.microsoft.com/office/drawing/2014/main" id="{8F37B96B-499C-480E-AFAB-5DF2B5AFD942}"/>
              </a:ext>
            </a:extLst>
          </p:cNvPr>
          <p:cNvSpPr>
            <a:spLocks noGrp="1"/>
          </p:cNvSpPr>
          <p:nvPr/>
        </p:nvSpPr>
        <p:spPr>
          <a:xfrm>
            <a:off x="990600" y="4381500"/>
            <a:ext cx="2038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Supplement / registry</a:t>
            </a:r>
          </a:p>
        </p:txBody>
      </p:sp>
      <p:sp>
        <p:nvSpPr>
          <p:cNvPr id="18" name="source-fields-3">
            <a:extLst>
              <a:ext uri="{FF2B5EF4-FFF2-40B4-BE49-F238E27FC236}">
                <a16:creationId xmlns:a16="http://schemas.microsoft.com/office/drawing/2014/main" id="{2505C111-347E-4282-A0F5-7038CE8B056C}"/>
              </a:ext>
            </a:extLst>
          </p:cNvPr>
          <p:cNvSpPr>
            <a:spLocks noGrp="1"/>
          </p:cNvSpPr>
          <p:nvPr/>
        </p:nvSpPr>
        <p:spPr>
          <a:xfrm>
            <a:off x="3524250" y="4457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protocol / endpoints / extra tables</a:t>
            </a:r>
          </a:p>
        </p:txBody>
      </p:sp>
      <p:sp>
        <p:nvSpPr>
          <p:cNvPr id="19" name="source-role-3">
            <a:extLst>
              <a:ext uri="{FF2B5EF4-FFF2-40B4-BE49-F238E27FC236}">
                <a16:creationId xmlns:a16="http://schemas.microsoft.com/office/drawing/2014/main" id="{FB5287E5-02CE-463E-868E-001352123191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解決 denominator 與版本問題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6BBEBBDD-EC0D-4BA2-AEB6-213A8F664CB2}"/>
              </a:ext>
            </a:extLst>
          </p:cNvPr>
          <p:cNvSpPr>
            <a:spLocks noGrp="1"/>
          </p:cNvSpPr>
          <p:nvPr/>
        </p:nvSpPr>
        <p:spPr>
          <a:xfrm>
            <a:off x="2095500" y="54864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不要讓 abstract-only workflow 產生 full-text 級別的確定語氣。</a:t>
            </a:r>
          </a:p>
        </p:txBody>
      </p:sp>
    </p:spTree>
    <p:extLst>
      <p:ext uri="{BB962C8B-B14F-4D97-AF65-F5344CB8AC3E}">
        <p14:creationId xmlns:p14="http://schemas.microsoft.com/office/powerpoint/2010/main" val="1265075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29">
            <a:extLst>
              <a:ext uri="{FF2B5EF4-FFF2-40B4-BE49-F238E27FC236}">
                <a16:creationId xmlns:a16="http://schemas.microsoft.com/office/drawing/2014/main" id="{8D111671-34E8-40F0-8EF7-A55E82318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9">
            <a:extLst>
              <a:ext uri="{FF2B5EF4-FFF2-40B4-BE49-F238E27FC236}">
                <a16:creationId xmlns:a16="http://schemas.microsoft.com/office/drawing/2014/main" id="{3F36D142-7205-4387-96B6-7D68290B46D6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SEARCH+</a:t>
            </a:r>
          </a:p>
        </p:txBody>
      </p:sp>
      <p:sp>
        <p:nvSpPr>
          <p:cNvPr id="3" name="progress-track-29">
            <a:extLst>
              <a:ext uri="{FF2B5EF4-FFF2-40B4-BE49-F238E27FC236}">
                <a16:creationId xmlns:a16="http://schemas.microsoft.com/office/drawing/2014/main" id="{22A61458-3E2D-406E-BEB0-DC2B8FBED1C3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9">
            <a:extLst>
              <a:ext uri="{FF2B5EF4-FFF2-40B4-BE49-F238E27FC236}">
                <a16:creationId xmlns:a16="http://schemas.microsoft.com/office/drawing/2014/main" id="{C6E08EA3-C712-47B2-9A46-266CF6247147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892141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6AFDA947-FCF4-4D38-9A9E-5FC77F22A85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SOURCE TRIAGE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8D61683-54C1-441B-BA76-3001EF47392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候選來源先看相關性與可驗證性，再決定下一步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A3D5682D-1019-4536-8A73-A9DF9E8FB20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29/40</a:t>
            </a:r>
          </a:p>
        </p:txBody>
      </p:sp>
      <p:sp>
        <p:nvSpPr>
          <p:cNvPr id="8" name="triage-0">
            <a:extLst>
              <a:ext uri="{FF2B5EF4-FFF2-40B4-BE49-F238E27FC236}">
                <a16:creationId xmlns:a16="http://schemas.microsoft.com/office/drawing/2014/main" id="{0C232B62-500F-4365-964D-FD87FDC7B82B}"/>
              </a:ext>
            </a:extLst>
          </p:cNvPr>
          <p:cNvSpPr>
            <a:spLocks noGrp="1"/>
          </p:cNvSpPr>
          <p:nvPr/>
        </p:nvSpPr>
        <p:spPr>
          <a:xfrm>
            <a:off x="1200150" y="1885950"/>
            <a:ext cx="4324350" cy="1257300"/>
          </a:xfrm>
          <a:prstGeom prst="roundRect">
            <a:avLst>
              <a:gd name="adj" fmla="val 6061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riage-head-0">
            <a:extLst>
              <a:ext uri="{FF2B5EF4-FFF2-40B4-BE49-F238E27FC236}">
                <a16:creationId xmlns:a16="http://schemas.microsoft.com/office/drawing/2014/main" id="{1CE57134-F748-42D4-9FE4-B85DCDFAAED1}"/>
              </a:ext>
            </a:extLst>
          </p:cNvPr>
          <p:cNvSpPr>
            <a:spLocks noGrp="1"/>
          </p:cNvSpPr>
          <p:nvPr/>
        </p:nvSpPr>
        <p:spPr>
          <a:xfrm>
            <a:off x="1466850" y="2095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HIGH relevance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HIGH verifiability</a:t>
            </a:r>
          </a:p>
        </p:txBody>
      </p:sp>
      <p:sp>
        <p:nvSpPr>
          <p:cNvPr id="10" name="triage-action-0">
            <a:extLst>
              <a:ext uri="{FF2B5EF4-FFF2-40B4-BE49-F238E27FC236}">
                <a16:creationId xmlns:a16="http://schemas.microsoft.com/office/drawing/2014/main" id="{5D07F253-80CD-42E5-A6FF-6BECF8887728}"/>
              </a:ext>
            </a:extLst>
          </p:cNvPr>
          <p:cNvSpPr>
            <a:spLocks noGrp="1"/>
          </p:cNvSpPr>
          <p:nvPr/>
        </p:nvSpPr>
        <p:spPr>
          <a:xfrm>
            <a:off x="3733800" y="2152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優先抽取</a:t>
            </a:r>
          </a:p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建立 evidence row</a:t>
            </a:r>
          </a:p>
        </p:txBody>
      </p:sp>
      <p:sp>
        <p:nvSpPr>
          <p:cNvPr id="11" name="triage-1">
            <a:extLst>
              <a:ext uri="{FF2B5EF4-FFF2-40B4-BE49-F238E27FC236}">
                <a16:creationId xmlns:a16="http://schemas.microsoft.com/office/drawing/2014/main" id="{FDB24A76-FD2B-4E82-BB09-68CDF12767FE}"/>
              </a:ext>
            </a:extLst>
          </p:cNvPr>
          <p:cNvSpPr>
            <a:spLocks noGrp="1"/>
          </p:cNvSpPr>
          <p:nvPr/>
        </p:nvSpPr>
        <p:spPr>
          <a:xfrm>
            <a:off x="6343650" y="1885950"/>
            <a:ext cx="4324350" cy="1257300"/>
          </a:xfrm>
          <a:prstGeom prst="roundRect">
            <a:avLst>
              <a:gd name="adj" fmla="val 6061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riage-head-1">
            <a:extLst>
              <a:ext uri="{FF2B5EF4-FFF2-40B4-BE49-F238E27FC236}">
                <a16:creationId xmlns:a16="http://schemas.microsoft.com/office/drawing/2014/main" id="{DCF237BE-EED4-42AD-A033-12C13B1A5CCC}"/>
              </a:ext>
            </a:extLst>
          </p:cNvPr>
          <p:cNvSpPr>
            <a:spLocks noGrp="1"/>
          </p:cNvSpPr>
          <p:nvPr/>
        </p:nvSpPr>
        <p:spPr>
          <a:xfrm>
            <a:off x="6610350" y="2095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HIGH relevance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LOW verifiability</a:t>
            </a:r>
          </a:p>
        </p:txBody>
      </p:sp>
      <p:sp>
        <p:nvSpPr>
          <p:cNvPr id="13" name="triage-action-1">
            <a:extLst>
              <a:ext uri="{FF2B5EF4-FFF2-40B4-BE49-F238E27FC236}">
                <a16:creationId xmlns:a16="http://schemas.microsoft.com/office/drawing/2014/main" id="{0F393BF2-FD14-4EF7-B65D-4F0DD5D43CC8}"/>
              </a:ext>
            </a:extLst>
          </p:cNvPr>
          <p:cNvSpPr>
            <a:spLocks noGrp="1"/>
          </p:cNvSpPr>
          <p:nvPr/>
        </p:nvSpPr>
        <p:spPr>
          <a:xfrm>
            <a:off x="8877300" y="2152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保留候選</a:t>
            </a:r>
          </a:p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尋找全文或替代來源</a:t>
            </a:r>
          </a:p>
        </p:txBody>
      </p:sp>
      <p:sp>
        <p:nvSpPr>
          <p:cNvPr id="14" name="triage-2">
            <a:extLst>
              <a:ext uri="{FF2B5EF4-FFF2-40B4-BE49-F238E27FC236}">
                <a16:creationId xmlns:a16="http://schemas.microsoft.com/office/drawing/2014/main" id="{97648A67-37F6-4C93-A0CF-C377C384AECB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4324350" cy="1257300"/>
          </a:xfrm>
          <a:prstGeom prst="roundRect">
            <a:avLst>
              <a:gd name="adj" fmla="val 6061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riage-head-2">
            <a:extLst>
              <a:ext uri="{FF2B5EF4-FFF2-40B4-BE49-F238E27FC236}">
                <a16:creationId xmlns:a16="http://schemas.microsoft.com/office/drawing/2014/main" id="{FED3E686-5EC4-4B3E-9E0A-90E64451F4C7}"/>
              </a:ext>
            </a:extLst>
          </p:cNvPr>
          <p:cNvSpPr>
            <a:spLocks noGrp="1"/>
          </p:cNvSpPr>
          <p:nvPr/>
        </p:nvSpPr>
        <p:spPr>
          <a:xfrm>
            <a:off x="1466850" y="37338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LOW relevance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HIGH verifiability</a:t>
            </a:r>
          </a:p>
        </p:txBody>
      </p:sp>
      <p:sp>
        <p:nvSpPr>
          <p:cNvPr id="16" name="triage-action-2">
            <a:extLst>
              <a:ext uri="{FF2B5EF4-FFF2-40B4-BE49-F238E27FC236}">
                <a16:creationId xmlns:a16="http://schemas.microsoft.com/office/drawing/2014/main" id="{B94F7C30-2506-4F8A-9C4D-D3807B61DE17}"/>
              </a:ext>
            </a:extLst>
          </p:cNvPr>
          <p:cNvSpPr>
            <a:spLocks noGrp="1"/>
          </p:cNvSpPr>
          <p:nvPr/>
        </p:nvSpPr>
        <p:spPr>
          <a:xfrm>
            <a:off x="3733800" y="37909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可作背景</a:t>
            </a:r>
          </a:p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不得升級成核心 claim</a:t>
            </a:r>
          </a:p>
        </p:txBody>
      </p:sp>
      <p:sp>
        <p:nvSpPr>
          <p:cNvPr id="17" name="triage-3">
            <a:extLst>
              <a:ext uri="{FF2B5EF4-FFF2-40B4-BE49-F238E27FC236}">
                <a16:creationId xmlns:a16="http://schemas.microsoft.com/office/drawing/2014/main" id="{24FEF600-DE8C-4956-B57C-F159E692A428}"/>
              </a:ext>
            </a:extLst>
          </p:cNvPr>
          <p:cNvSpPr>
            <a:spLocks noGrp="1"/>
          </p:cNvSpPr>
          <p:nvPr/>
        </p:nvSpPr>
        <p:spPr>
          <a:xfrm>
            <a:off x="6343650" y="3524250"/>
            <a:ext cx="4324350" cy="1257300"/>
          </a:xfrm>
          <a:prstGeom prst="roundRect">
            <a:avLst>
              <a:gd name="adj" fmla="val 6061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riage-head-3">
            <a:extLst>
              <a:ext uri="{FF2B5EF4-FFF2-40B4-BE49-F238E27FC236}">
                <a16:creationId xmlns:a16="http://schemas.microsoft.com/office/drawing/2014/main" id="{1916809D-F79B-4101-B425-A3F17FD4CAC2}"/>
              </a:ext>
            </a:extLst>
          </p:cNvPr>
          <p:cNvSpPr>
            <a:spLocks noGrp="1"/>
          </p:cNvSpPr>
          <p:nvPr/>
        </p:nvSpPr>
        <p:spPr>
          <a:xfrm>
            <a:off x="6610350" y="37338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LOW relevance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LOW verifiability</a:t>
            </a:r>
          </a:p>
        </p:txBody>
      </p:sp>
      <p:sp>
        <p:nvSpPr>
          <p:cNvPr id="19" name="triage-action-3">
            <a:extLst>
              <a:ext uri="{FF2B5EF4-FFF2-40B4-BE49-F238E27FC236}">
                <a16:creationId xmlns:a16="http://schemas.microsoft.com/office/drawing/2014/main" id="{099BAE7B-30ED-4030-AD87-62E60759681B}"/>
              </a:ext>
            </a:extLst>
          </p:cNvPr>
          <p:cNvSpPr>
            <a:spLocks noGrp="1"/>
          </p:cNvSpPr>
          <p:nvPr/>
        </p:nvSpPr>
        <p:spPr>
          <a:xfrm>
            <a:off x="8877300" y="37909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排除並記錄 reason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EE7D2A38-DD38-47A7-AA7E-82083AF1AD97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Triage 只決定處理順序，不等於研究品質評分。</a:t>
            </a:r>
          </a:p>
        </p:txBody>
      </p:sp>
    </p:spTree>
    <p:extLst>
      <p:ext uri="{BB962C8B-B14F-4D97-AF65-F5344CB8AC3E}">
        <p14:creationId xmlns:p14="http://schemas.microsoft.com/office/powerpoint/2010/main" val="56184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ccent-rail-30">
            <a:extLst>
              <a:ext uri="{FF2B5EF4-FFF2-40B4-BE49-F238E27FC236}">
                <a16:creationId xmlns:a16="http://schemas.microsoft.com/office/drawing/2014/main" id="{3B68F050-CC96-477A-828E-3EC8C71EF4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0">
            <a:extLst>
              <a:ext uri="{FF2B5EF4-FFF2-40B4-BE49-F238E27FC236}">
                <a16:creationId xmlns:a16="http://schemas.microsoft.com/office/drawing/2014/main" id="{29A3A98D-D8C9-4C58-94C2-1B98E96F0660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8C0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0">
            <a:extLst>
              <a:ext uri="{FF2B5EF4-FFF2-40B4-BE49-F238E27FC236}">
                <a16:creationId xmlns:a16="http://schemas.microsoft.com/office/drawing/2014/main" id="{8EFC4C3C-6A3E-46E5-B34F-A8D4255CDFF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0">
            <a:extLst>
              <a:ext uri="{FF2B5EF4-FFF2-40B4-BE49-F238E27FC236}">
                <a16:creationId xmlns:a16="http://schemas.microsoft.com/office/drawing/2014/main" id="{96F4504A-CDDE-49D1-84F5-ABB74D7086C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1957388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hapter">
            <a:extLst>
              <a:ext uri="{FF2B5EF4-FFF2-40B4-BE49-F238E27FC236}">
                <a16:creationId xmlns:a16="http://schemas.microsoft.com/office/drawing/2014/main" id="{AB8FA573-D6A2-4553-8572-59BC674267E9}"/>
              </a:ext>
            </a:extLst>
          </p:cNvPr>
          <p:cNvSpPr>
            <a:spLocks noGrp="1"/>
          </p:cNvSpPr>
          <p:nvPr/>
        </p:nvSpPr>
        <p:spPr>
          <a:xfrm>
            <a:off x="876300" y="9906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0C7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C765"/>
                </a:solidFill>
                <a:latin typeface="Aptos"/>
                <a:ea typeface="Aptos"/>
                <a:cs typeface="Aptos"/>
              </a:rPr>
              <a:t>DEEP DIVE 02</a:t>
            </a:r>
          </a:p>
        </p:txBody>
      </p:sp>
      <p:sp>
        <p:nvSpPr>
          <p:cNvPr id="6" name="chapter-number">
            <a:extLst>
              <a:ext uri="{FF2B5EF4-FFF2-40B4-BE49-F238E27FC236}">
                <a16:creationId xmlns:a16="http://schemas.microsoft.com/office/drawing/2014/main" id="{B3F0A6C1-1270-4B06-BE6F-B2D4EF68442C}"/>
              </a:ext>
            </a:extLst>
          </p:cNvPr>
          <p:cNvSpPr>
            <a:spLocks noGrp="1"/>
          </p:cNvSpPr>
          <p:nvPr/>
        </p:nvSpPr>
        <p:spPr>
          <a:xfrm>
            <a:off x="800100" y="1485900"/>
            <a:ext cx="1809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8400" b="1">
                <a:solidFill>
                  <a:srgbClr val="3B4B55"/>
                </a:solidFill>
                <a:latin typeface="Aptos"/>
                <a:ea typeface="Aptos"/>
                <a:cs typeface="Aptos"/>
              </a:defRPr>
            </a:pPr>
            <a:r>
              <a:rPr sz="8400" b="1">
                <a:solidFill>
                  <a:srgbClr val="3B4B5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5C68314-AD1B-4AF3-9DF5-93032ED1FBBF}"/>
              </a:ext>
            </a:extLst>
          </p:cNvPr>
          <p:cNvSpPr>
            <a:spLocks noGrp="1"/>
          </p:cNvSpPr>
          <p:nvPr/>
        </p:nvSpPr>
        <p:spPr>
          <a:xfrm>
            <a:off x="2647950" y="16764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each row defensible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36BD097A-7667-417B-9F05-20AB39CE24CD}"/>
              </a:ext>
            </a:extLst>
          </p:cNvPr>
          <p:cNvSpPr>
            <a:spLocks noGrp="1"/>
          </p:cNvSpPr>
          <p:nvPr/>
        </p:nvSpPr>
        <p:spPr>
          <a:xfrm>
            <a:off x="2705100" y="2514600"/>
            <a:ext cx="790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把長句拆成 atomic claim，再檢查 study type、sample_n、entity 與衝突證據</a:t>
            </a:r>
          </a:p>
        </p:txBody>
      </p:sp>
      <p:sp>
        <p:nvSpPr>
          <p:cNvPr id="9" name="deep-row-0">
            <a:extLst>
              <a:ext uri="{FF2B5EF4-FFF2-40B4-BE49-F238E27FC236}">
                <a16:creationId xmlns:a16="http://schemas.microsoft.com/office/drawing/2014/main" id="{EA83FD6C-74A4-40A8-B81B-99B192121462}"/>
              </a:ext>
            </a:extLst>
          </p:cNvPr>
          <p:cNvSpPr>
            <a:spLocks noGrp="1"/>
          </p:cNvSpPr>
          <p:nvPr/>
        </p:nvSpPr>
        <p:spPr>
          <a:xfrm>
            <a:off x="272415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atomic claim</a:t>
            </a:r>
          </a:p>
        </p:txBody>
      </p:sp>
      <p:sp>
        <p:nvSpPr>
          <p:cNvPr id="10" name="deep-row-1">
            <a:extLst>
              <a:ext uri="{FF2B5EF4-FFF2-40B4-BE49-F238E27FC236}">
                <a16:creationId xmlns:a16="http://schemas.microsoft.com/office/drawing/2014/main" id="{F1135824-AFF8-4D23-A360-8DA7BA805917}"/>
              </a:ext>
            </a:extLst>
          </p:cNvPr>
          <p:cNvSpPr>
            <a:spLocks noGrp="1"/>
          </p:cNvSpPr>
          <p:nvPr/>
        </p:nvSpPr>
        <p:spPr>
          <a:xfrm>
            <a:off x="533400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schema checks</a:t>
            </a:r>
          </a:p>
        </p:txBody>
      </p:sp>
      <p:sp>
        <p:nvSpPr>
          <p:cNvPr id="11" name="deep-row-2">
            <a:extLst>
              <a:ext uri="{FF2B5EF4-FFF2-40B4-BE49-F238E27FC236}">
                <a16:creationId xmlns:a16="http://schemas.microsoft.com/office/drawing/2014/main" id="{B6D39930-BCD9-4885-BDAC-A3FABE7D834C}"/>
              </a:ext>
            </a:extLst>
          </p:cNvPr>
          <p:cNvSpPr>
            <a:spLocks noGrp="1"/>
          </p:cNvSpPr>
          <p:nvPr/>
        </p:nvSpPr>
        <p:spPr>
          <a:xfrm>
            <a:off x="7943850" y="4000500"/>
            <a:ext cx="2114550" cy="57150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12" name="footer-dark">
            <a:extLst>
              <a:ext uri="{FF2B5EF4-FFF2-40B4-BE49-F238E27FC236}">
                <a16:creationId xmlns:a16="http://schemas.microsoft.com/office/drawing/2014/main" id="{E8134E22-8AC0-45C8-8D82-8B92D3A62FF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Desktop agent literature workflow  |  30/40</a:t>
            </a:r>
          </a:p>
        </p:txBody>
      </p:sp>
    </p:spTree>
    <p:extLst>
      <p:ext uri="{BB962C8B-B14F-4D97-AF65-F5344CB8AC3E}">
        <p14:creationId xmlns:p14="http://schemas.microsoft.com/office/powerpoint/2010/main" val="6378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ccent-rail-31">
            <a:extLst>
              <a:ext uri="{FF2B5EF4-FFF2-40B4-BE49-F238E27FC236}">
                <a16:creationId xmlns:a16="http://schemas.microsoft.com/office/drawing/2014/main" id="{83240BAE-860C-43CF-947D-68DAA1C16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1">
            <a:extLst>
              <a:ext uri="{FF2B5EF4-FFF2-40B4-BE49-F238E27FC236}">
                <a16:creationId xmlns:a16="http://schemas.microsoft.com/office/drawing/2014/main" id="{CFBCE570-315A-46E8-9785-67B3910397F9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1">
            <a:extLst>
              <a:ext uri="{FF2B5EF4-FFF2-40B4-BE49-F238E27FC236}">
                <a16:creationId xmlns:a16="http://schemas.microsoft.com/office/drawing/2014/main" id="{68A290F1-2385-4736-9196-72D810F7BA0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1">
            <a:extLst>
              <a:ext uri="{FF2B5EF4-FFF2-40B4-BE49-F238E27FC236}">
                <a16:creationId xmlns:a16="http://schemas.microsoft.com/office/drawing/2014/main" id="{3C6E1FDD-2CEF-459F-8976-67FCB39A625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022634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96C8A7F5-EA5F-4B4C-A441-6BD6FCC176B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ATOMIC CLAIM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8E808C2D-DB4F-47E2-8334-BD9FD2A21D5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一列只放一個可以被來源支持或否定的 claim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7153A31-3B3A-47C4-994E-458D4ABF24D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31/40</a:t>
            </a:r>
          </a:p>
        </p:txBody>
      </p:sp>
      <p:sp>
        <p:nvSpPr>
          <p:cNvPr id="8" name="claim-bad">
            <a:extLst>
              <a:ext uri="{FF2B5EF4-FFF2-40B4-BE49-F238E27FC236}">
                <a16:creationId xmlns:a16="http://schemas.microsoft.com/office/drawing/2014/main" id="{7B0282E2-D6EA-4843-9E37-59DBF1D318EC}"/>
              </a:ext>
            </a:extLst>
          </p:cNvPr>
          <p:cNvSpPr>
            <a:spLocks noGrp="1"/>
          </p:cNvSpPr>
          <p:nvPr/>
        </p:nvSpPr>
        <p:spPr>
          <a:xfrm>
            <a:off x="1066800" y="1714500"/>
            <a:ext cx="10058400" cy="876300"/>
          </a:xfrm>
          <a:prstGeom prst="roundRect">
            <a:avLst>
              <a:gd name="adj" fmla="val 8696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claim-bad-text">
            <a:extLst>
              <a:ext uri="{FF2B5EF4-FFF2-40B4-BE49-F238E27FC236}">
                <a16:creationId xmlns:a16="http://schemas.microsoft.com/office/drawing/2014/main" id="{5B1463D6-BE39-4B92-B9CC-38A3F4409EDD}"/>
              </a:ext>
            </a:extLst>
          </p:cNvPr>
          <p:cNvSpPr>
            <a:spLocks noGrp="1"/>
          </p:cNvSpPr>
          <p:nvPr/>
        </p:nvSpPr>
        <p:spPr>
          <a:xfrm>
            <a:off x="1428750" y="2000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EGFR、ALK 與 TP53 都和 NSCLC 有關，標靶治療有效，而且某些突變預後較差。</a:t>
            </a:r>
          </a:p>
        </p:txBody>
      </p:sp>
      <p:sp>
        <p:nvSpPr>
          <p:cNvPr id="10" name="atomic-label-0">
            <a:extLst>
              <a:ext uri="{FF2B5EF4-FFF2-40B4-BE49-F238E27FC236}">
                <a16:creationId xmlns:a16="http://schemas.microsoft.com/office/drawing/2014/main" id="{03479612-34B6-468B-B8CE-868A87D07A16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Claim A</a:t>
            </a:r>
          </a:p>
        </p:txBody>
      </p:sp>
      <p:sp>
        <p:nvSpPr>
          <p:cNvPr id="11" name="atomic-scope-0">
            <a:extLst>
              <a:ext uri="{FF2B5EF4-FFF2-40B4-BE49-F238E27FC236}">
                <a16:creationId xmlns:a16="http://schemas.microsoft.com/office/drawing/2014/main" id="{F8057937-8F3C-472E-9D85-D141B35E660E}"/>
              </a:ext>
            </a:extLst>
          </p:cNvPr>
          <p:cNvSpPr>
            <a:spLocks noGrp="1"/>
          </p:cNvSpPr>
          <p:nvPr/>
        </p:nvSpPr>
        <p:spPr>
          <a:xfrm>
            <a:off x="2914650" y="3295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EGFR-mutated advanced NSCLC</a:t>
            </a:r>
          </a:p>
        </p:txBody>
      </p:sp>
      <p:sp>
        <p:nvSpPr>
          <p:cNvPr id="12" name="atomic-claim-0">
            <a:extLst>
              <a:ext uri="{FF2B5EF4-FFF2-40B4-BE49-F238E27FC236}">
                <a16:creationId xmlns:a16="http://schemas.microsoft.com/office/drawing/2014/main" id="{6CC1D9C5-F1CD-4A6E-86D4-F35433A8DE08}"/>
              </a:ext>
            </a:extLst>
          </p:cNvPr>
          <p:cNvSpPr>
            <a:spLocks noGrp="1"/>
          </p:cNvSpPr>
          <p:nvPr/>
        </p:nvSpPr>
        <p:spPr>
          <a:xfrm>
            <a:off x="6477000" y="32956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osimertinib improves PFS vs comparator</a:t>
            </a:r>
          </a:p>
        </p:txBody>
      </p:sp>
      <p:sp>
        <p:nvSpPr>
          <p:cNvPr id="13" name="atomic-label-1">
            <a:extLst>
              <a:ext uri="{FF2B5EF4-FFF2-40B4-BE49-F238E27FC236}">
                <a16:creationId xmlns:a16="http://schemas.microsoft.com/office/drawing/2014/main" id="{DFDF3C69-AAE6-4538-B1A3-538E77F5BA37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Claim B</a:t>
            </a:r>
          </a:p>
        </p:txBody>
      </p:sp>
      <p:sp>
        <p:nvSpPr>
          <p:cNvPr id="14" name="atomic-scope-1">
            <a:extLst>
              <a:ext uri="{FF2B5EF4-FFF2-40B4-BE49-F238E27FC236}">
                <a16:creationId xmlns:a16="http://schemas.microsoft.com/office/drawing/2014/main" id="{4599774A-CB94-4EEB-92BB-04A189A82F32}"/>
              </a:ext>
            </a:extLst>
          </p:cNvPr>
          <p:cNvSpPr>
            <a:spLocks noGrp="1"/>
          </p:cNvSpPr>
          <p:nvPr/>
        </p:nvSpPr>
        <p:spPr>
          <a:xfrm>
            <a:off x="2914650" y="4019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ALK-positive advanced NSCLC</a:t>
            </a:r>
          </a:p>
        </p:txBody>
      </p:sp>
      <p:sp>
        <p:nvSpPr>
          <p:cNvPr id="15" name="atomic-claim-1">
            <a:extLst>
              <a:ext uri="{FF2B5EF4-FFF2-40B4-BE49-F238E27FC236}">
                <a16:creationId xmlns:a16="http://schemas.microsoft.com/office/drawing/2014/main" id="{D49FF879-A4E9-4879-92CD-27E1D9D15B86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crizotinib improves PFS vs chemotherapy</a:t>
            </a:r>
          </a:p>
        </p:txBody>
      </p:sp>
      <p:sp>
        <p:nvSpPr>
          <p:cNvPr id="16" name="atomic-label-2">
            <a:extLst>
              <a:ext uri="{FF2B5EF4-FFF2-40B4-BE49-F238E27FC236}">
                <a16:creationId xmlns:a16="http://schemas.microsoft.com/office/drawing/2014/main" id="{6F3CE54E-B7FD-4AAC-9037-C823C03B0169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Claim C</a:t>
            </a:r>
          </a:p>
        </p:txBody>
      </p:sp>
      <p:sp>
        <p:nvSpPr>
          <p:cNvPr id="17" name="atomic-scope-2">
            <a:extLst>
              <a:ext uri="{FF2B5EF4-FFF2-40B4-BE49-F238E27FC236}">
                <a16:creationId xmlns:a16="http://schemas.microsoft.com/office/drawing/2014/main" id="{EE97146F-BBAB-4DBA-B3EC-B305A3F69FFE}"/>
              </a:ext>
            </a:extLst>
          </p:cNvPr>
          <p:cNvSpPr>
            <a:spLocks noGrp="1"/>
          </p:cNvSpPr>
          <p:nvPr/>
        </p:nvSpPr>
        <p:spPr>
          <a:xfrm>
            <a:off x="2914650" y="4743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TP53 + targeted therapy outcome</a:t>
            </a:r>
          </a:p>
        </p:txBody>
      </p:sp>
      <p:sp>
        <p:nvSpPr>
          <p:cNvPr id="18" name="atomic-claim-2">
            <a:extLst>
              <a:ext uri="{FF2B5EF4-FFF2-40B4-BE49-F238E27FC236}">
                <a16:creationId xmlns:a16="http://schemas.microsoft.com/office/drawing/2014/main" id="{5478A60C-1306-4531-B048-3DF6413E9190}"/>
              </a:ext>
            </a:extLst>
          </p:cNvPr>
          <p:cNvSpPr>
            <a:spLocks noGrp="1"/>
          </p:cNvSpPr>
          <p:nvPr/>
        </p:nvSpPr>
        <p:spPr>
          <a:xfrm>
            <a:off x="6477000" y="47434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needs source; do not merge with A or B</a:t>
            </a:r>
          </a:p>
        </p:txBody>
      </p:sp>
    </p:spTree>
    <p:extLst>
      <p:ext uri="{BB962C8B-B14F-4D97-AF65-F5344CB8AC3E}">
        <p14:creationId xmlns:p14="http://schemas.microsoft.com/office/powerpoint/2010/main" val="6362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rail-32">
            <a:extLst>
              <a:ext uri="{FF2B5EF4-FFF2-40B4-BE49-F238E27FC236}">
                <a16:creationId xmlns:a16="http://schemas.microsoft.com/office/drawing/2014/main" id="{B0E48A7A-3F35-4008-9250-2A27F86232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2">
            <a:extLst>
              <a:ext uri="{FF2B5EF4-FFF2-40B4-BE49-F238E27FC236}">
                <a16:creationId xmlns:a16="http://schemas.microsoft.com/office/drawing/2014/main" id="{73E233B9-7333-4C42-940F-352DC7B5C4E6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2">
            <a:extLst>
              <a:ext uri="{FF2B5EF4-FFF2-40B4-BE49-F238E27FC236}">
                <a16:creationId xmlns:a16="http://schemas.microsoft.com/office/drawing/2014/main" id="{5CC1CE0B-AB83-49F3-A177-2B3E88CFFB83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2">
            <a:extLst>
              <a:ext uri="{FF2B5EF4-FFF2-40B4-BE49-F238E27FC236}">
                <a16:creationId xmlns:a16="http://schemas.microsoft.com/office/drawing/2014/main" id="{364F3059-04B0-4B28-9F73-563ED97F0C8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087880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D2E70743-CEEC-46AE-8611-7CE1B79C6AB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 TAXONOMY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9BC0F63-E956-4B70-8F15-554D8BF3D70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五種 evidence_kind 對應五種處理方式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963BF38-1BE3-4631-B8B8-F7B43ECC11E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32/40</a:t>
            </a:r>
          </a:p>
        </p:txBody>
      </p:sp>
      <p:sp>
        <p:nvSpPr>
          <p:cNvPr id="8" name="kind-0">
            <a:extLst>
              <a:ext uri="{FF2B5EF4-FFF2-40B4-BE49-F238E27FC236}">
                <a16:creationId xmlns:a16="http://schemas.microsoft.com/office/drawing/2014/main" id="{31CB4715-C2B7-463A-9FAE-BB4762E15768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3257550" cy="1352550"/>
          </a:xfrm>
          <a:prstGeom prst="roundRect">
            <a:avLst>
              <a:gd name="adj" fmla="val 5634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kind-name-0">
            <a:extLst>
              <a:ext uri="{FF2B5EF4-FFF2-40B4-BE49-F238E27FC236}">
                <a16:creationId xmlns:a16="http://schemas.microsoft.com/office/drawing/2014/main" id="{F2CC6E2F-1A87-4EA9-A88F-B5BB0B24D273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E8F88"/>
                </a:solidFill>
                <a:latin typeface="Menlo"/>
                <a:ea typeface="Menlo"/>
                <a:cs typeface="Menlo"/>
              </a:rPr>
              <a:t>literature_evidence</a:t>
            </a:r>
          </a:p>
        </p:txBody>
      </p:sp>
      <p:sp>
        <p:nvSpPr>
          <p:cNvPr id="10" name="kind-meaning-0">
            <a:extLst>
              <a:ext uri="{FF2B5EF4-FFF2-40B4-BE49-F238E27FC236}">
                <a16:creationId xmlns:a16="http://schemas.microsoft.com/office/drawing/2014/main" id="{DCDB050F-EB89-4B0C-BB8D-4B386C9C91E1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來源直接支持 exact claim</a:t>
            </a:r>
          </a:p>
        </p:txBody>
      </p:sp>
      <p:sp>
        <p:nvSpPr>
          <p:cNvPr id="11" name="kind-action-0">
            <a:extLst>
              <a:ext uri="{FF2B5EF4-FFF2-40B4-BE49-F238E27FC236}">
                <a16:creationId xmlns:a16="http://schemas.microsoft.com/office/drawing/2014/main" id="{7FBED08A-D1CB-484E-AD39-25A299FBA376}"/>
              </a:ext>
            </a:extLst>
          </p:cNvPr>
          <p:cNvSpPr>
            <a:spLocks noGrp="1"/>
          </p:cNvSpPr>
          <p:nvPr/>
        </p:nvSpPr>
        <p:spPr>
          <a:xfrm>
            <a:off x="895350" y="2952750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可進 synthesis</a:t>
            </a:r>
          </a:p>
        </p:txBody>
      </p:sp>
      <p:sp>
        <p:nvSpPr>
          <p:cNvPr id="12" name="kind-1">
            <a:extLst>
              <a:ext uri="{FF2B5EF4-FFF2-40B4-BE49-F238E27FC236}">
                <a16:creationId xmlns:a16="http://schemas.microsoft.com/office/drawing/2014/main" id="{0269AAD5-23FF-4285-8628-555EBF299009}"/>
              </a:ext>
            </a:extLst>
          </p:cNvPr>
          <p:cNvSpPr>
            <a:spLocks noGrp="1"/>
          </p:cNvSpPr>
          <p:nvPr/>
        </p:nvSpPr>
        <p:spPr>
          <a:xfrm>
            <a:off x="4476750" y="1924050"/>
            <a:ext cx="3257550" cy="1352550"/>
          </a:xfrm>
          <a:prstGeom prst="roundRect">
            <a:avLst>
              <a:gd name="adj" fmla="val 5634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kind-name-1">
            <a:extLst>
              <a:ext uri="{FF2B5EF4-FFF2-40B4-BE49-F238E27FC236}">
                <a16:creationId xmlns:a16="http://schemas.microsoft.com/office/drawing/2014/main" id="{47379CF5-F80D-403A-97CF-F1C0CA3E649B}"/>
              </a:ext>
            </a:extLst>
          </p:cNvPr>
          <p:cNvSpPr>
            <a:spLocks noGrp="1"/>
          </p:cNvSpPr>
          <p:nvPr/>
        </p:nvSpPr>
        <p:spPr>
          <a:xfrm>
            <a:off x="4686300" y="21336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446A8"/>
                </a:solidFill>
                <a:latin typeface="Menlo"/>
                <a:ea typeface="Menlo"/>
                <a:cs typeface="Menlo"/>
              </a:rPr>
              <a:t>molecular_context</a:t>
            </a:r>
          </a:p>
        </p:txBody>
      </p:sp>
      <p:sp>
        <p:nvSpPr>
          <p:cNvPr id="14" name="kind-meaning-1">
            <a:extLst>
              <a:ext uri="{FF2B5EF4-FFF2-40B4-BE49-F238E27FC236}">
                <a16:creationId xmlns:a16="http://schemas.microsoft.com/office/drawing/2014/main" id="{65B8444E-4657-4776-B318-CB20F9BCA7B9}"/>
              </a:ext>
            </a:extLst>
          </p:cNvPr>
          <p:cNvSpPr>
            <a:spLocks noGrp="1"/>
          </p:cNvSpPr>
          <p:nvPr/>
        </p:nvSpPr>
        <p:spPr>
          <a:xfrm>
            <a:off x="4705350" y="255270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支持生物背景，不支持療效</a:t>
            </a:r>
          </a:p>
        </p:txBody>
      </p:sp>
      <p:sp>
        <p:nvSpPr>
          <p:cNvPr id="15" name="kind-action-1">
            <a:extLst>
              <a:ext uri="{FF2B5EF4-FFF2-40B4-BE49-F238E27FC236}">
                <a16:creationId xmlns:a16="http://schemas.microsoft.com/office/drawing/2014/main" id="{AC22D9A3-7BE1-4459-90FC-F73DE5FB711E}"/>
              </a:ext>
            </a:extLst>
          </p:cNvPr>
          <p:cNvSpPr>
            <a:spLocks noGrp="1"/>
          </p:cNvSpPr>
          <p:nvPr/>
        </p:nvSpPr>
        <p:spPr>
          <a:xfrm>
            <a:off x="4705350" y="2952750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限制語氣</a:t>
            </a:r>
          </a:p>
        </p:txBody>
      </p:sp>
      <p:sp>
        <p:nvSpPr>
          <p:cNvPr id="16" name="kind-2">
            <a:extLst>
              <a:ext uri="{FF2B5EF4-FFF2-40B4-BE49-F238E27FC236}">
                <a16:creationId xmlns:a16="http://schemas.microsoft.com/office/drawing/2014/main" id="{A92E326B-DF4B-4607-A2D6-B1A1A1D4F85B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57550" cy="1352550"/>
          </a:xfrm>
          <a:prstGeom prst="roundRect">
            <a:avLst>
              <a:gd name="adj" fmla="val 5634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kind-name-2">
            <a:extLst>
              <a:ext uri="{FF2B5EF4-FFF2-40B4-BE49-F238E27FC236}">
                <a16:creationId xmlns:a16="http://schemas.microsoft.com/office/drawing/2014/main" id="{30582145-5D19-4FE3-9265-4A38E3942408}"/>
              </a:ext>
            </a:extLst>
          </p:cNvPr>
          <p:cNvSpPr>
            <a:spLocks noGrp="1"/>
          </p:cNvSpPr>
          <p:nvPr/>
        </p:nvSpPr>
        <p:spPr>
          <a:xfrm>
            <a:off x="8496300" y="21336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conflicting</a:t>
            </a:r>
          </a:p>
        </p:txBody>
      </p:sp>
      <p:sp>
        <p:nvSpPr>
          <p:cNvPr id="18" name="kind-meaning-2">
            <a:extLst>
              <a:ext uri="{FF2B5EF4-FFF2-40B4-BE49-F238E27FC236}">
                <a16:creationId xmlns:a16="http://schemas.microsoft.com/office/drawing/2014/main" id="{552F904C-C28F-4D92-BF41-03774521F9E1}"/>
              </a:ext>
            </a:extLst>
          </p:cNvPr>
          <p:cNvSpPr>
            <a:spLocks noGrp="1"/>
          </p:cNvSpPr>
          <p:nvPr/>
        </p:nvSpPr>
        <p:spPr>
          <a:xfrm>
            <a:off x="8515350" y="255270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來源間方向或條件不一致</a:t>
            </a:r>
          </a:p>
        </p:txBody>
      </p:sp>
      <p:sp>
        <p:nvSpPr>
          <p:cNvPr id="19" name="kind-action-2">
            <a:extLst>
              <a:ext uri="{FF2B5EF4-FFF2-40B4-BE49-F238E27FC236}">
                <a16:creationId xmlns:a16="http://schemas.microsoft.com/office/drawing/2014/main" id="{B0C8CBC7-B0B9-4A6A-8E3A-CE2D7EA2FC16}"/>
              </a:ext>
            </a:extLst>
          </p:cNvPr>
          <p:cNvSpPr>
            <a:spLocks noGrp="1"/>
          </p:cNvSpPr>
          <p:nvPr/>
        </p:nvSpPr>
        <p:spPr>
          <a:xfrm>
            <a:off x="8515350" y="2952750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保留並分層</a:t>
            </a:r>
          </a:p>
        </p:txBody>
      </p:sp>
      <p:sp>
        <p:nvSpPr>
          <p:cNvPr id="20" name="kind-3">
            <a:extLst>
              <a:ext uri="{FF2B5EF4-FFF2-40B4-BE49-F238E27FC236}">
                <a16:creationId xmlns:a16="http://schemas.microsoft.com/office/drawing/2014/main" id="{10B41A7F-6D31-4365-836B-A4ED802235BE}"/>
              </a:ext>
            </a:extLst>
          </p:cNvPr>
          <p:cNvSpPr>
            <a:spLocks noGrp="1"/>
          </p:cNvSpPr>
          <p:nvPr/>
        </p:nvSpPr>
        <p:spPr>
          <a:xfrm>
            <a:off x="2571750" y="3848100"/>
            <a:ext cx="3257550" cy="1352550"/>
          </a:xfrm>
          <a:prstGeom prst="roundRect">
            <a:avLst>
              <a:gd name="adj" fmla="val 5634"/>
            </a:avLst>
          </a:prstGeom>
          <a:solidFill>
            <a:srgbClr val="EEF1F2"/>
          </a:solidFill>
          <a:ln w="9525">
            <a:solidFill>
              <a:srgbClr val="5C66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kind-name-3">
            <a:extLst>
              <a:ext uri="{FF2B5EF4-FFF2-40B4-BE49-F238E27FC236}">
                <a16:creationId xmlns:a16="http://schemas.microsoft.com/office/drawing/2014/main" id="{886A4C85-2673-4109-AFF6-2C455B4CFCED}"/>
              </a:ext>
            </a:extLst>
          </p:cNvPr>
          <p:cNvSpPr>
            <a:spLocks noGrp="1"/>
          </p:cNvSpPr>
          <p:nvPr/>
        </p:nvSpPr>
        <p:spPr>
          <a:xfrm>
            <a:off x="2781300" y="40576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C6670"/>
                </a:solidFill>
                <a:latin typeface="Menlo"/>
                <a:ea typeface="Menlo"/>
                <a:cs typeface="Menlo"/>
              </a:rPr>
              <a:t>not_found</a:t>
            </a:r>
          </a:p>
        </p:txBody>
      </p:sp>
      <p:sp>
        <p:nvSpPr>
          <p:cNvPr id="22" name="kind-meaning-3">
            <a:extLst>
              <a:ext uri="{FF2B5EF4-FFF2-40B4-BE49-F238E27FC236}">
                <a16:creationId xmlns:a16="http://schemas.microsoft.com/office/drawing/2014/main" id="{3F988D54-1757-43F4-9475-A2D41A1B5D5B}"/>
              </a:ext>
            </a:extLst>
          </p:cNvPr>
          <p:cNvSpPr>
            <a:spLocks noGrp="1"/>
          </p:cNvSpPr>
          <p:nvPr/>
        </p:nvSpPr>
        <p:spPr>
          <a:xfrm>
            <a:off x="2800350" y="44767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完成合理搜尋仍無來源</a:t>
            </a:r>
          </a:p>
        </p:txBody>
      </p:sp>
      <p:sp>
        <p:nvSpPr>
          <p:cNvPr id="23" name="kind-action-3">
            <a:extLst>
              <a:ext uri="{FF2B5EF4-FFF2-40B4-BE49-F238E27FC236}">
                <a16:creationId xmlns:a16="http://schemas.microsoft.com/office/drawing/2014/main" id="{6FCC4959-4898-4DCE-A1F8-8031C938ED8F}"/>
              </a:ext>
            </a:extLst>
          </p:cNvPr>
          <p:cNvSpPr>
            <a:spLocks noGrp="1"/>
          </p:cNvSpPr>
          <p:nvPr/>
        </p:nvSpPr>
        <p:spPr>
          <a:xfrm>
            <a:off x="2800350" y="4876800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回報缺口</a:t>
            </a:r>
          </a:p>
        </p:txBody>
      </p:sp>
      <p:sp>
        <p:nvSpPr>
          <p:cNvPr id="24" name="kind-4">
            <a:extLst>
              <a:ext uri="{FF2B5EF4-FFF2-40B4-BE49-F238E27FC236}">
                <a16:creationId xmlns:a16="http://schemas.microsoft.com/office/drawing/2014/main" id="{885689C7-0372-4808-ADF4-7F74B79C7A3E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3257550" cy="1352550"/>
          </a:xfrm>
          <a:prstGeom prst="roundRect">
            <a:avLst>
              <a:gd name="adj" fmla="val 563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kind-name-4">
            <a:extLst>
              <a:ext uri="{FF2B5EF4-FFF2-40B4-BE49-F238E27FC236}">
                <a16:creationId xmlns:a16="http://schemas.microsoft.com/office/drawing/2014/main" id="{FEE1ACBE-0AC1-46E4-931F-2B31DEC99093}"/>
              </a:ext>
            </a:extLst>
          </p:cNvPr>
          <p:cNvSpPr>
            <a:spLocks noGrp="1"/>
          </p:cNvSpPr>
          <p:nvPr/>
        </p:nvSpPr>
        <p:spPr>
          <a:xfrm>
            <a:off x="6591300" y="40576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85A4A"/>
                </a:solidFill>
                <a:latin typeface="Menlo"/>
                <a:ea typeface="Menlo"/>
                <a:cs typeface="Menlo"/>
              </a:rPr>
              <a:t>model_inference</a:t>
            </a:r>
          </a:p>
        </p:txBody>
      </p:sp>
      <p:sp>
        <p:nvSpPr>
          <p:cNvPr id="26" name="kind-meaning-4">
            <a:extLst>
              <a:ext uri="{FF2B5EF4-FFF2-40B4-BE49-F238E27FC236}">
                <a16:creationId xmlns:a16="http://schemas.microsoft.com/office/drawing/2014/main" id="{637E3428-9DFA-4D72-B0D2-080492BDE82B}"/>
              </a:ext>
            </a:extLst>
          </p:cNvPr>
          <p:cNvSpPr>
            <a:spLocks noGrp="1"/>
          </p:cNvSpPr>
          <p:nvPr/>
        </p:nvSpPr>
        <p:spPr>
          <a:xfrm>
            <a:off x="6610350" y="44767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模型推測且無可查來源</a:t>
            </a:r>
          </a:p>
        </p:txBody>
      </p:sp>
      <p:sp>
        <p:nvSpPr>
          <p:cNvPr id="27" name="kind-action-4">
            <a:extLst>
              <a:ext uri="{FF2B5EF4-FFF2-40B4-BE49-F238E27FC236}">
                <a16:creationId xmlns:a16="http://schemas.microsoft.com/office/drawing/2014/main" id="{57AD2416-4664-4360-9A29-0236517F4915}"/>
              </a:ext>
            </a:extLst>
          </p:cNvPr>
          <p:cNvSpPr>
            <a:spLocks noGrp="1"/>
          </p:cNvSpPr>
          <p:nvPr/>
        </p:nvSpPr>
        <p:spPr>
          <a:xfrm>
            <a:off x="6610350" y="4876800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隔離、不可升級</a:t>
            </a:r>
          </a:p>
        </p:txBody>
      </p:sp>
    </p:spTree>
    <p:extLst>
      <p:ext uri="{BB962C8B-B14F-4D97-AF65-F5344CB8AC3E}">
        <p14:creationId xmlns:p14="http://schemas.microsoft.com/office/powerpoint/2010/main" val="134398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33">
            <a:extLst>
              <a:ext uri="{FF2B5EF4-FFF2-40B4-BE49-F238E27FC236}">
                <a16:creationId xmlns:a16="http://schemas.microsoft.com/office/drawing/2014/main" id="{2F834E1E-49A7-4CE7-BA82-64FBDAD72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3">
            <a:extLst>
              <a:ext uri="{FF2B5EF4-FFF2-40B4-BE49-F238E27FC236}">
                <a16:creationId xmlns:a16="http://schemas.microsoft.com/office/drawing/2014/main" id="{6B33572C-A8DA-40AC-8EA7-5CAA061A8A76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3">
            <a:extLst>
              <a:ext uri="{FF2B5EF4-FFF2-40B4-BE49-F238E27FC236}">
                <a16:creationId xmlns:a16="http://schemas.microsoft.com/office/drawing/2014/main" id="{AB01E223-A1DC-41AF-A7E6-2C191103E1E6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3">
            <a:extLst>
              <a:ext uri="{FF2B5EF4-FFF2-40B4-BE49-F238E27FC236}">
                <a16:creationId xmlns:a16="http://schemas.microsoft.com/office/drawing/2014/main" id="{F6AD2E4A-A078-4D56-9543-7F578B9413D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153126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8990A105-C28D-45C7-BFEB-6A25DE1BAA4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3BABFE1-CEF2-488B-8CCF-CB2CF42DB41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sample_n 最常見的錯誤，是抄對數字卻抄錯 denominator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02492BF-4214-4035-BE9B-13D41FF059A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33/40</a:t>
            </a:r>
          </a:p>
        </p:txBody>
      </p:sp>
      <p:sp>
        <p:nvSpPr>
          <p:cNvPr id="8" name="sample-stage-0">
            <a:extLst>
              <a:ext uri="{FF2B5EF4-FFF2-40B4-BE49-F238E27FC236}">
                <a16:creationId xmlns:a16="http://schemas.microsoft.com/office/drawing/2014/main" id="{DCF5CFA2-7155-4F4C-8ADF-8139F58A4078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1943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screened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 = ?</a:t>
            </a:r>
          </a:p>
        </p:txBody>
      </p:sp>
      <p:sp>
        <p:nvSpPr>
          <p:cNvPr id="9" name="sample-line-1">
            <a:extLst>
              <a:ext uri="{FF2B5EF4-FFF2-40B4-BE49-F238E27FC236}">
                <a16:creationId xmlns:a16="http://schemas.microsoft.com/office/drawing/2014/main" id="{EEDF7677-35DE-4A7C-808A-40BFA3A9D8F3}"/>
              </a:ext>
            </a:extLst>
          </p:cNvPr>
          <p:cNvSpPr>
            <a:spLocks noGrp="1"/>
          </p:cNvSpPr>
          <p:nvPr/>
        </p:nvSpPr>
        <p:spPr>
          <a:xfrm>
            <a:off x="2933700" y="2895600"/>
            <a:ext cx="7810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ample-stage-1">
            <a:extLst>
              <a:ext uri="{FF2B5EF4-FFF2-40B4-BE49-F238E27FC236}">
                <a16:creationId xmlns:a16="http://schemas.microsoft.com/office/drawing/2014/main" id="{A1D1CE6C-92E5-4416-A2B1-F0B8FADDBE28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1943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randomized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 = ?</a:t>
            </a:r>
          </a:p>
        </p:txBody>
      </p:sp>
      <p:sp>
        <p:nvSpPr>
          <p:cNvPr id="11" name="sample-line-2">
            <a:extLst>
              <a:ext uri="{FF2B5EF4-FFF2-40B4-BE49-F238E27FC236}">
                <a16:creationId xmlns:a16="http://schemas.microsoft.com/office/drawing/2014/main" id="{3EA80F8D-364F-4FB5-8A20-1E5F6D9A4FD7}"/>
              </a:ext>
            </a:extLst>
          </p:cNvPr>
          <p:cNvSpPr>
            <a:spLocks noGrp="1"/>
          </p:cNvSpPr>
          <p:nvPr/>
        </p:nvSpPr>
        <p:spPr>
          <a:xfrm>
            <a:off x="5657850" y="2895600"/>
            <a:ext cx="7810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ample-stage-2">
            <a:extLst>
              <a:ext uri="{FF2B5EF4-FFF2-40B4-BE49-F238E27FC236}">
                <a16:creationId xmlns:a16="http://schemas.microsoft.com/office/drawing/2014/main" id="{5B941A01-61E3-4E3B-8FDB-65F63C07FAAD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1943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treated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n = ?</a:t>
            </a:r>
          </a:p>
        </p:txBody>
      </p:sp>
      <p:sp>
        <p:nvSpPr>
          <p:cNvPr id="13" name="sample-line-3">
            <a:extLst>
              <a:ext uri="{FF2B5EF4-FFF2-40B4-BE49-F238E27FC236}">
                <a16:creationId xmlns:a16="http://schemas.microsoft.com/office/drawing/2014/main" id="{A432965C-A448-4D6D-802D-364E811D6A42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7810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ample-stage-3">
            <a:extLst>
              <a:ext uri="{FF2B5EF4-FFF2-40B4-BE49-F238E27FC236}">
                <a16:creationId xmlns:a16="http://schemas.microsoft.com/office/drawing/2014/main" id="{A3475972-0E49-4937-9049-8CBB95643C51}"/>
              </a:ext>
            </a:extLst>
          </p:cNvPr>
          <p:cNvSpPr>
            <a:spLocks noGrp="1"/>
          </p:cNvSpPr>
          <p:nvPr/>
        </p:nvSpPr>
        <p:spPr>
          <a:xfrm>
            <a:off x="9163050" y="2476500"/>
            <a:ext cx="1943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analyzed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 = ?</a:t>
            </a:r>
          </a:p>
        </p:txBody>
      </p:sp>
      <p:sp>
        <p:nvSpPr>
          <p:cNvPr id="15" name="sample-rule-head-0">
            <a:extLst>
              <a:ext uri="{FF2B5EF4-FFF2-40B4-BE49-F238E27FC236}">
                <a16:creationId xmlns:a16="http://schemas.microsoft.com/office/drawing/2014/main" id="{1DF651EE-A782-40C9-B4F0-F608BA1BF106}"/>
              </a:ext>
            </a:extLst>
          </p:cNvPr>
          <p:cNvSpPr>
            <a:spLocks noGrp="1"/>
          </p:cNvSpPr>
          <p:nvPr/>
        </p:nvSpPr>
        <p:spPr>
          <a:xfrm>
            <a:off x="1714500" y="38862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Outcome claim</a:t>
            </a:r>
          </a:p>
        </p:txBody>
      </p:sp>
      <p:sp>
        <p:nvSpPr>
          <p:cNvPr id="16" name="sample-rule-copy-0">
            <a:extLst>
              <a:ext uri="{FF2B5EF4-FFF2-40B4-BE49-F238E27FC236}">
                <a16:creationId xmlns:a16="http://schemas.microsoft.com/office/drawing/2014/main" id="{5FBBAFEA-1281-4239-B81B-984C5A3C8548}"/>
              </a:ext>
            </a:extLst>
          </p:cNvPr>
          <p:cNvSpPr>
            <a:spLocks noGrp="1"/>
          </p:cNvSpPr>
          <p:nvPr/>
        </p:nvSpPr>
        <p:spPr>
          <a:xfrm>
            <a:off x="4095750" y="38862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使用實際分析 population 的 denominator</a:t>
            </a:r>
          </a:p>
        </p:txBody>
      </p:sp>
      <p:sp>
        <p:nvSpPr>
          <p:cNvPr id="17" name="sample-rule-head-1">
            <a:extLst>
              <a:ext uri="{FF2B5EF4-FFF2-40B4-BE49-F238E27FC236}">
                <a16:creationId xmlns:a16="http://schemas.microsoft.com/office/drawing/2014/main" id="{45D353D1-3FD9-425B-A781-1E1E8422D27F}"/>
              </a:ext>
            </a:extLst>
          </p:cNvPr>
          <p:cNvSpPr>
            <a:spLocks noGrp="1"/>
          </p:cNvSpPr>
          <p:nvPr/>
        </p:nvSpPr>
        <p:spPr>
          <a:xfrm>
            <a:off x="1714500" y="4438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Trial description</a:t>
            </a:r>
          </a:p>
        </p:txBody>
      </p:sp>
      <p:sp>
        <p:nvSpPr>
          <p:cNvPr id="18" name="sample-rule-copy-1">
            <a:extLst>
              <a:ext uri="{FF2B5EF4-FFF2-40B4-BE49-F238E27FC236}">
                <a16:creationId xmlns:a16="http://schemas.microsoft.com/office/drawing/2014/main" id="{ED0C48DE-FB4A-4B4D-8E91-5A9B122ECF37}"/>
              </a:ext>
            </a:extLst>
          </p:cNvPr>
          <p:cNvSpPr>
            <a:spLocks noGrp="1"/>
          </p:cNvSpPr>
          <p:nvPr/>
        </p:nvSpPr>
        <p:spPr>
          <a:xfrm>
            <a:off x="4095750" y="44386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可記 randomized n，但要標清楚欄位語意</a:t>
            </a:r>
          </a:p>
        </p:txBody>
      </p:sp>
      <p:sp>
        <p:nvSpPr>
          <p:cNvPr id="19" name="sample-rule-head-2">
            <a:extLst>
              <a:ext uri="{FF2B5EF4-FFF2-40B4-BE49-F238E27FC236}">
                <a16:creationId xmlns:a16="http://schemas.microsoft.com/office/drawing/2014/main" id="{CEBA385E-AE22-4A28-BA6F-03DF40EDABC8}"/>
              </a:ext>
            </a:extLst>
          </p:cNvPr>
          <p:cNvSpPr>
            <a:spLocks noGrp="1"/>
          </p:cNvSpPr>
          <p:nvPr/>
        </p:nvSpPr>
        <p:spPr>
          <a:xfrm>
            <a:off x="1714500" y="49911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Abstract unclear</a:t>
            </a:r>
          </a:p>
        </p:txBody>
      </p:sp>
      <p:sp>
        <p:nvSpPr>
          <p:cNvPr id="20" name="sample-rule-copy-2">
            <a:extLst>
              <a:ext uri="{FF2B5EF4-FFF2-40B4-BE49-F238E27FC236}">
                <a16:creationId xmlns:a16="http://schemas.microsoft.com/office/drawing/2014/main" id="{0FABECCB-E191-4E43-B7FF-FEB01A78365D}"/>
              </a:ext>
            </a:extLst>
          </p:cNvPr>
          <p:cNvSpPr>
            <a:spLocks noGrp="1"/>
          </p:cNvSpPr>
          <p:nvPr/>
        </p:nvSpPr>
        <p:spPr>
          <a:xfrm>
            <a:off x="4095750" y="49911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sample_n = UNKNOWN，並在 source_note 記原因</a:t>
            </a:r>
          </a:p>
        </p:txBody>
      </p:sp>
    </p:spTree>
    <p:extLst>
      <p:ext uri="{BB962C8B-B14F-4D97-AF65-F5344CB8AC3E}">
        <p14:creationId xmlns:p14="http://schemas.microsoft.com/office/powerpoint/2010/main" val="190708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rail-34">
            <a:extLst>
              <a:ext uri="{FF2B5EF4-FFF2-40B4-BE49-F238E27FC236}">
                <a16:creationId xmlns:a16="http://schemas.microsoft.com/office/drawing/2014/main" id="{B12017E5-40A3-4214-8C6B-EF672E8221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4">
            <a:extLst>
              <a:ext uri="{FF2B5EF4-FFF2-40B4-BE49-F238E27FC236}">
                <a16:creationId xmlns:a16="http://schemas.microsoft.com/office/drawing/2014/main" id="{C8DF60EC-2672-4378-BED5-5C4AE8E76438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4">
            <a:extLst>
              <a:ext uri="{FF2B5EF4-FFF2-40B4-BE49-F238E27FC236}">
                <a16:creationId xmlns:a16="http://schemas.microsoft.com/office/drawing/2014/main" id="{80B14AC9-B894-4D40-A050-A947A317E94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4">
            <a:extLst>
              <a:ext uri="{FF2B5EF4-FFF2-40B4-BE49-F238E27FC236}">
                <a16:creationId xmlns:a16="http://schemas.microsoft.com/office/drawing/2014/main" id="{2F17A8A6-12B8-443C-979C-78C72BF59DF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218373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244CE05C-46AD-44B1-B385-EBA99239E36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STUDY TYPE MISMATCH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D688E434-E441-486D-A5B4-C1690A24158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研究設計決定 claim 能走多遠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C9E22C5-6881-42E7-91D5-19B78F2AF86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34/40</a:t>
            </a:r>
          </a:p>
        </p:txBody>
      </p:sp>
      <p:sp>
        <p:nvSpPr>
          <p:cNvPr id="8" name="table-head-study type-0">
            <a:extLst>
              <a:ext uri="{FF2B5EF4-FFF2-40B4-BE49-F238E27FC236}">
                <a16:creationId xmlns:a16="http://schemas.microsoft.com/office/drawing/2014/main" id="{8CC35B0E-BED1-40AF-99C3-EF8B5E6B3056}"/>
              </a:ext>
            </a:extLst>
          </p:cNvPr>
          <p:cNvSpPr>
            <a:spLocks noGrp="1"/>
          </p:cNvSpPr>
          <p:nvPr/>
        </p:nvSpPr>
        <p:spPr>
          <a:xfrm>
            <a:off x="990600" y="17335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study type</a:t>
            </a:r>
          </a:p>
        </p:txBody>
      </p:sp>
      <p:sp>
        <p:nvSpPr>
          <p:cNvPr id="9" name="table-head-what it measures-1">
            <a:extLst>
              <a:ext uri="{FF2B5EF4-FFF2-40B4-BE49-F238E27FC236}">
                <a16:creationId xmlns:a16="http://schemas.microsoft.com/office/drawing/2014/main" id="{DF4D6820-A576-4573-8CB6-9F39CDD36FD0}"/>
              </a:ext>
            </a:extLst>
          </p:cNvPr>
          <p:cNvSpPr>
            <a:spLocks noGrp="1"/>
          </p:cNvSpPr>
          <p:nvPr/>
        </p:nvSpPr>
        <p:spPr>
          <a:xfrm>
            <a:off x="3733800" y="17335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what it measures</a:t>
            </a:r>
          </a:p>
        </p:txBody>
      </p:sp>
      <p:sp>
        <p:nvSpPr>
          <p:cNvPr id="10" name="table-head-claim boundary-2">
            <a:extLst>
              <a:ext uri="{FF2B5EF4-FFF2-40B4-BE49-F238E27FC236}">
                <a16:creationId xmlns:a16="http://schemas.microsoft.com/office/drawing/2014/main" id="{C24BF4B7-8639-4719-BB42-321F9E6C3AA4}"/>
              </a:ext>
            </a:extLst>
          </p:cNvPr>
          <p:cNvSpPr>
            <a:spLocks noGrp="1"/>
          </p:cNvSpPr>
          <p:nvPr/>
        </p:nvSpPr>
        <p:spPr>
          <a:xfrm>
            <a:off x="6724650" y="1733550"/>
            <a:ext cx="440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claim boundary</a:t>
            </a:r>
          </a:p>
        </p:txBody>
      </p:sp>
      <p:sp>
        <p:nvSpPr>
          <p:cNvPr id="11" name="study-row-0">
            <a:extLst>
              <a:ext uri="{FF2B5EF4-FFF2-40B4-BE49-F238E27FC236}">
                <a16:creationId xmlns:a16="http://schemas.microsoft.com/office/drawing/2014/main" id="{47D3A7AB-FA4A-4826-92B8-DEEA2564986C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tudy-type-0">
            <a:extLst>
              <a:ext uri="{FF2B5EF4-FFF2-40B4-BE49-F238E27FC236}">
                <a16:creationId xmlns:a16="http://schemas.microsoft.com/office/drawing/2014/main" id="{EE93B3E4-DB22-4AEC-8EB9-F40C007F3AFB}"/>
              </a:ext>
            </a:extLst>
          </p:cNvPr>
          <p:cNvSpPr>
            <a:spLocks noGrp="1"/>
          </p:cNvSpPr>
          <p:nvPr/>
        </p:nvSpPr>
        <p:spPr>
          <a:xfrm>
            <a:off x="990600" y="22955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Randomized trial</a:t>
            </a:r>
          </a:p>
        </p:txBody>
      </p:sp>
      <p:sp>
        <p:nvSpPr>
          <p:cNvPr id="13" name="study-measures-0">
            <a:extLst>
              <a:ext uri="{FF2B5EF4-FFF2-40B4-BE49-F238E27FC236}">
                <a16:creationId xmlns:a16="http://schemas.microsoft.com/office/drawing/2014/main" id="{BD106E16-8A2E-420B-B6B5-2294DB4ECC53}"/>
              </a:ext>
            </a:extLst>
          </p:cNvPr>
          <p:cNvSpPr>
            <a:spLocks noGrp="1"/>
          </p:cNvSpPr>
          <p:nvPr/>
        </p:nvSpPr>
        <p:spPr>
          <a:xfrm>
            <a:off x="3733800" y="229552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比較介入結果</a:t>
            </a:r>
          </a:p>
        </p:txBody>
      </p:sp>
      <p:sp>
        <p:nvSpPr>
          <p:cNvPr id="14" name="study-boundary-0">
            <a:extLst>
              <a:ext uri="{FF2B5EF4-FFF2-40B4-BE49-F238E27FC236}">
                <a16:creationId xmlns:a16="http://schemas.microsoft.com/office/drawing/2014/main" id="{3F8A1400-3414-4C33-9FC3-FCE8E1477982}"/>
              </a:ext>
            </a:extLst>
          </p:cNvPr>
          <p:cNvSpPr>
            <a:spLocks noGrp="1"/>
          </p:cNvSpPr>
          <p:nvPr/>
        </p:nvSpPr>
        <p:spPr>
          <a:xfrm>
            <a:off x="6724650" y="2295525"/>
            <a:ext cx="434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可描述該研究中的 comparative outcome</a:t>
            </a:r>
          </a:p>
        </p:txBody>
      </p:sp>
      <p:sp>
        <p:nvSpPr>
          <p:cNvPr id="15" name="study-row-1">
            <a:extLst>
              <a:ext uri="{FF2B5EF4-FFF2-40B4-BE49-F238E27FC236}">
                <a16:creationId xmlns:a16="http://schemas.microsoft.com/office/drawing/2014/main" id="{0BF4A2A3-AF0B-4489-A2E6-59BADF777471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tudy-type-1">
            <a:extLst>
              <a:ext uri="{FF2B5EF4-FFF2-40B4-BE49-F238E27FC236}">
                <a16:creationId xmlns:a16="http://schemas.microsoft.com/office/drawing/2014/main" id="{607C4396-A561-4531-8ED2-CE87D846B8E8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Observational cohort</a:t>
            </a:r>
          </a:p>
        </p:txBody>
      </p:sp>
      <p:sp>
        <p:nvSpPr>
          <p:cNvPr id="17" name="study-measures-1">
            <a:extLst>
              <a:ext uri="{FF2B5EF4-FFF2-40B4-BE49-F238E27FC236}">
                <a16:creationId xmlns:a16="http://schemas.microsoft.com/office/drawing/2014/main" id="{A2060152-B2BC-46A2-9FF6-5CB99841356B}"/>
              </a:ext>
            </a:extLst>
          </p:cNvPr>
          <p:cNvSpPr>
            <a:spLocks noGrp="1"/>
          </p:cNvSpPr>
          <p:nvPr/>
        </p:nvSpPr>
        <p:spPr>
          <a:xfrm>
            <a:off x="3733800" y="307657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關聯與自然病程</a:t>
            </a:r>
          </a:p>
        </p:txBody>
      </p:sp>
      <p:sp>
        <p:nvSpPr>
          <p:cNvPr id="18" name="study-boundary-1">
            <a:extLst>
              <a:ext uri="{FF2B5EF4-FFF2-40B4-BE49-F238E27FC236}">
                <a16:creationId xmlns:a16="http://schemas.microsoft.com/office/drawing/2014/main" id="{FD867805-BE88-4D0C-92E2-A7EBF7A0CCFF}"/>
              </a:ext>
            </a:extLst>
          </p:cNvPr>
          <p:cNvSpPr>
            <a:spLocks noGrp="1"/>
          </p:cNvSpPr>
          <p:nvPr/>
        </p:nvSpPr>
        <p:spPr>
          <a:xfrm>
            <a:off x="6724650" y="3076575"/>
            <a:ext cx="434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不可自動改寫成因果療效</a:t>
            </a:r>
          </a:p>
        </p:txBody>
      </p:sp>
      <p:sp>
        <p:nvSpPr>
          <p:cNvPr id="19" name="study-row-2">
            <a:extLst>
              <a:ext uri="{FF2B5EF4-FFF2-40B4-BE49-F238E27FC236}">
                <a16:creationId xmlns:a16="http://schemas.microsoft.com/office/drawing/2014/main" id="{8750E32C-82D3-4229-B20E-967729731E1A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udy-type-2">
            <a:extLst>
              <a:ext uri="{FF2B5EF4-FFF2-40B4-BE49-F238E27FC236}">
                <a16:creationId xmlns:a16="http://schemas.microsoft.com/office/drawing/2014/main" id="{03FA9F56-9915-40B1-8366-EBBD0B96C8C9}"/>
              </a:ext>
            </a:extLst>
          </p:cNvPr>
          <p:cNvSpPr>
            <a:spLocks noGrp="1"/>
          </p:cNvSpPr>
          <p:nvPr/>
        </p:nvSpPr>
        <p:spPr>
          <a:xfrm>
            <a:off x="990600" y="38576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Molecular profiling</a:t>
            </a:r>
          </a:p>
        </p:txBody>
      </p:sp>
      <p:sp>
        <p:nvSpPr>
          <p:cNvPr id="21" name="study-measures-2">
            <a:extLst>
              <a:ext uri="{FF2B5EF4-FFF2-40B4-BE49-F238E27FC236}">
                <a16:creationId xmlns:a16="http://schemas.microsoft.com/office/drawing/2014/main" id="{317A0A85-931E-47E5-81C7-E7E3D28389AC}"/>
              </a:ext>
            </a:extLst>
          </p:cNvPr>
          <p:cNvSpPr>
            <a:spLocks noGrp="1"/>
          </p:cNvSpPr>
          <p:nvPr/>
        </p:nvSpPr>
        <p:spPr>
          <a:xfrm>
            <a:off x="3733800" y="385762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alteration landscape</a:t>
            </a:r>
          </a:p>
        </p:txBody>
      </p:sp>
      <p:sp>
        <p:nvSpPr>
          <p:cNvPr id="22" name="study-boundary-2">
            <a:extLst>
              <a:ext uri="{FF2B5EF4-FFF2-40B4-BE49-F238E27FC236}">
                <a16:creationId xmlns:a16="http://schemas.microsoft.com/office/drawing/2014/main" id="{ADA628E9-9E31-4800-8D13-CE603637BC7D}"/>
              </a:ext>
            </a:extLst>
          </p:cNvPr>
          <p:cNvSpPr>
            <a:spLocks noGrp="1"/>
          </p:cNvSpPr>
          <p:nvPr/>
        </p:nvSpPr>
        <p:spPr>
          <a:xfrm>
            <a:off x="6724650" y="3857625"/>
            <a:ext cx="434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不可直接產生 treatment recommendation</a:t>
            </a:r>
          </a:p>
        </p:txBody>
      </p:sp>
      <p:sp>
        <p:nvSpPr>
          <p:cNvPr id="23" name="study-row-3">
            <a:extLst>
              <a:ext uri="{FF2B5EF4-FFF2-40B4-BE49-F238E27FC236}">
                <a16:creationId xmlns:a16="http://schemas.microsoft.com/office/drawing/2014/main" id="{A1711B42-834B-4F7B-A004-D5B8F3C6093E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tudy-type-3">
            <a:extLst>
              <a:ext uri="{FF2B5EF4-FFF2-40B4-BE49-F238E27FC236}">
                <a16:creationId xmlns:a16="http://schemas.microsoft.com/office/drawing/2014/main" id="{3008407D-5C90-4C70-9A40-F11B915E04C0}"/>
              </a:ext>
            </a:extLst>
          </p:cNvPr>
          <p:cNvSpPr>
            <a:spLocks noGrp="1"/>
          </p:cNvSpPr>
          <p:nvPr/>
        </p:nvSpPr>
        <p:spPr>
          <a:xfrm>
            <a:off x="990600" y="46386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Narrative review</a:t>
            </a:r>
          </a:p>
        </p:txBody>
      </p:sp>
      <p:sp>
        <p:nvSpPr>
          <p:cNvPr id="25" name="study-measures-3">
            <a:extLst>
              <a:ext uri="{FF2B5EF4-FFF2-40B4-BE49-F238E27FC236}">
                <a16:creationId xmlns:a16="http://schemas.microsoft.com/office/drawing/2014/main" id="{E91F7E20-B4B9-4D0A-9E2F-2B7D85F49620}"/>
              </a:ext>
            </a:extLst>
          </p:cNvPr>
          <p:cNvSpPr>
            <a:spLocks noGrp="1"/>
          </p:cNvSpPr>
          <p:nvPr/>
        </p:nvSpPr>
        <p:spPr>
          <a:xfrm>
            <a:off x="3733800" y="463867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背景與線索</a:t>
            </a:r>
          </a:p>
        </p:txBody>
      </p:sp>
      <p:sp>
        <p:nvSpPr>
          <p:cNvPr id="26" name="study-boundary-3">
            <a:extLst>
              <a:ext uri="{FF2B5EF4-FFF2-40B4-BE49-F238E27FC236}">
                <a16:creationId xmlns:a16="http://schemas.microsoft.com/office/drawing/2014/main" id="{293ADB8E-CC4B-4F9F-87E9-F7AB129114A5}"/>
              </a:ext>
            </a:extLst>
          </p:cNvPr>
          <p:cNvSpPr>
            <a:spLocks noGrp="1"/>
          </p:cNvSpPr>
          <p:nvPr/>
        </p:nvSpPr>
        <p:spPr>
          <a:xfrm>
            <a:off x="6724650" y="4638675"/>
            <a:ext cx="434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回到 primary source 再建立核心 row</a:t>
            </a:r>
          </a:p>
        </p:txBody>
      </p:sp>
      <p:sp>
        <p:nvSpPr>
          <p:cNvPr id="27" name="bottom">
            <a:extLst>
              <a:ext uri="{FF2B5EF4-FFF2-40B4-BE49-F238E27FC236}">
                <a16:creationId xmlns:a16="http://schemas.microsoft.com/office/drawing/2014/main" id="{19751977-B179-4D83-8E8B-17DC23D6EDD6}"/>
              </a:ext>
            </a:extLst>
          </p:cNvPr>
          <p:cNvSpPr>
            <a:spLocks noGrp="1"/>
          </p:cNvSpPr>
          <p:nvPr/>
        </p:nvSpPr>
        <p:spPr>
          <a:xfrm>
            <a:off x="2952750" y="546735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先判 study type，再讓 agent 寫 conclusion。</a:t>
            </a:r>
          </a:p>
        </p:txBody>
      </p:sp>
    </p:spTree>
    <p:extLst>
      <p:ext uri="{BB962C8B-B14F-4D97-AF65-F5344CB8AC3E}">
        <p14:creationId xmlns:p14="http://schemas.microsoft.com/office/powerpoint/2010/main" val="115736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rail-35">
            <a:extLst>
              <a:ext uri="{FF2B5EF4-FFF2-40B4-BE49-F238E27FC236}">
                <a16:creationId xmlns:a16="http://schemas.microsoft.com/office/drawing/2014/main" id="{C017F7C2-4B8F-479C-A2C4-E21038539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5">
            <a:extLst>
              <a:ext uri="{FF2B5EF4-FFF2-40B4-BE49-F238E27FC236}">
                <a16:creationId xmlns:a16="http://schemas.microsoft.com/office/drawing/2014/main" id="{5585D999-DAD3-404B-8847-72D5EEEA7AD5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5">
            <a:extLst>
              <a:ext uri="{FF2B5EF4-FFF2-40B4-BE49-F238E27FC236}">
                <a16:creationId xmlns:a16="http://schemas.microsoft.com/office/drawing/2014/main" id="{F5DCC332-A437-4434-9C38-7A90C433D004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5">
            <a:extLst>
              <a:ext uri="{FF2B5EF4-FFF2-40B4-BE49-F238E27FC236}">
                <a16:creationId xmlns:a16="http://schemas.microsoft.com/office/drawing/2014/main" id="{C71C64DA-653E-4EE1-8B1B-05E0069F97EA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283619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26741C99-78C9-4D25-A696-6894A4561A6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ENTITY NORMALIZATION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47655CF-FD47-4E71-A1BE-314210BB328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保留原文，同時建立可比較的 normalized 欄位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F9C7E8D-CE17-4381-A5F1-BAEE97D87FB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35/40</a:t>
            </a:r>
          </a:p>
        </p:txBody>
      </p:sp>
      <p:sp>
        <p:nvSpPr>
          <p:cNvPr id="8" name="table-head-raw text-0">
            <a:extLst>
              <a:ext uri="{FF2B5EF4-FFF2-40B4-BE49-F238E27FC236}">
                <a16:creationId xmlns:a16="http://schemas.microsoft.com/office/drawing/2014/main" id="{CB71C471-0116-483D-9DE9-56905819C4B3}"/>
              </a:ext>
            </a:extLst>
          </p:cNvPr>
          <p:cNvSpPr>
            <a:spLocks noGrp="1"/>
          </p:cNvSpPr>
          <p:nvPr/>
        </p:nvSpPr>
        <p:spPr>
          <a:xfrm>
            <a:off x="1009650" y="17526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raw text</a:t>
            </a:r>
          </a:p>
        </p:txBody>
      </p:sp>
      <p:sp>
        <p:nvSpPr>
          <p:cNvPr id="9" name="table-head-normalized field-1">
            <a:extLst>
              <a:ext uri="{FF2B5EF4-FFF2-40B4-BE49-F238E27FC236}">
                <a16:creationId xmlns:a16="http://schemas.microsoft.com/office/drawing/2014/main" id="{92F62498-E435-42A1-9F22-8D8EC320B6DB}"/>
              </a:ext>
            </a:extLst>
          </p:cNvPr>
          <p:cNvSpPr>
            <a:spLocks noGrp="1"/>
          </p:cNvSpPr>
          <p:nvPr/>
        </p:nvSpPr>
        <p:spPr>
          <a:xfrm>
            <a:off x="4000500" y="175260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normalized field</a:t>
            </a:r>
          </a:p>
        </p:txBody>
      </p:sp>
      <p:sp>
        <p:nvSpPr>
          <p:cNvPr id="10" name="table-head-review note-2">
            <a:extLst>
              <a:ext uri="{FF2B5EF4-FFF2-40B4-BE49-F238E27FC236}">
                <a16:creationId xmlns:a16="http://schemas.microsoft.com/office/drawing/2014/main" id="{41A54E64-2405-4680-9794-83D24A8245DA}"/>
              </a:ext>
            </a:extLst>
          </p:cNvPr>
          <p:cNvSpPr>
            <a:spLocks noGrp="1"/>
          </p:cNvSpPr>
          <p:nvPr/>
        </p:nvSpPr>
        <p:spPr>
          <a:xfrm>
            <a:off x="7353300" y="1752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review note</a:t>
            </a:r>
          </a:p>
        </p:txBody>
      </p:sp>
      <p:sp>
        <p:nvSpPr>
          <p:cNvPr id="11" name="norm-row-0">
            <a:extLst>
              <a:ext uri="{FF2B5EF4-FFF2-40B4-BE49-F238E27FC236}">
                <a16:creationId xmlns:a16="http://schemas.microsoft.com/office/drawing/2014/main" id="{8D5FE179-B4C8-4EA3-80BE-BEA5A63C7F35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norm-0-0">
            <a:extLst>
              <a:ext uri="{FF2B5EF4-FFF2-40B4-BE49-F238E27FC236}">
                <a16:creationId xmlns:a16="http://schemas.microsoft.com/office/drawing/2014/main" id="{B19CF70B-B9E6-4522-83AC-095EDB8C1B2B}"/>
              </a:ext>
            </a:extLst>
          </p:cNvPr>
          <p:cNvSpPr>
            <a:spLocks noGrp="1"/>
          </p:cNvSpPr>
          <p:nvPr/>
        </p:nvSpPr>
        <p:spPr>
          <a:xfrm>
            <a:off x="1009650" y="23145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P53</a:t>
            </a:r>
          </a:p>
        </p:txBody>
      </p:sp>
      <p:sp>
        <p:nvSpPr>
          <p:cNvPr id="13" name="norm-0-1">
            <a:extLst>
              <a:ext uri="{FF2B5EF4-FFF2-40B4-BE49-F238E27FC236}">
                <a16:creationId xmlns:a16="http://schemas.microsoft.com/office/drawing/2014/main" id="{B419C56E-5FE0-4D0F-8EC6-FBF17DBA85AF}"/>
              </a:ext>
            </a:extLst>
          </p:cNvPr>
          <p:cNvSpPr>
            <a:spLocks noGrp="1"/>
          </p:cNvSpPr>
          <p:nvPr/>
        </p:nvSpPr>
        <p:spPr>
          <a:xfrm>
            <a:off x="4000500" y="231457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gene_symbol = TP53</a:t>
            </a:r>
          </a:p>
        </p:txBody>
      </p:sp>
      <p:sp>
        <p:nvSpPr>
          <p:cNvPr id="14" name="norm-0-2">
            <a:extLst>
              <a:ext uri="{FF2B5EF4-FFF2-40B4-BE49-F238E27FC236}">
                <a16:creationId xmlns:a16="http://schemas.microsoft.com/office/drawing/2014/main" id="{FAAFAEF4-2ABE-41D5-A776-C42C6A2D4672}"/>
              </a:ext>
            </a:extLst>
          </p:cNvPr>
          <p:cNvSpPr>
            <a:spLocks noGrp="1"/>
          </p:cNvSpPr>
          <p:nvPr/>
        </p:nvSpPr>
        <p:spPr>
          <a:xfrm>
            <a:off x="7353300" y="231457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 raw text，避免 silently rewrite</a:t>
            </a:r>
          </a:p>
        </p:txBody>
      </p:sp>
      <p:sp>
        <p:nvSpPr>
          <p:cNvPr id="15" name="norm-row-1">
            <a:extLst>
              <a:ext uri="{FF2B5EF4-FFF2-40B4-BE49-F238E27FC236}">
                <a16:creationId xmlns:a16="http://schemas.microsoft.com/office/drawing/2014/main" id="{AA592D18-F62F-4CFD-A154-12B213E9E6C5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norm-1-0">
            <a:extLst>
              <a:ext uri="{FF2B5EF4-FFF2-40B4-BE49-F238E27FC236}">
                <a16:creationId xmlns:a16="http://schemas.microsoft.com/office/drawing/2014/main" id="{131AEB34-7A69-4D9C-80A0-AB325B820274}"/>
              </a:ext>
            </a:extLst>
          </p:cNvPr>
          <p:cNvSpPr>
            <a:spLocks noGrp="1"/>
          </p:cNvSpPr>
          <p:nvPr/>
        </p:nvSpPr>
        <p:spPr>
          <a:xfrm>
            <a:off x="1009650" y="3095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lung cancer</a:t>
            </a:r>
          </a:p>
        </p:txBody>
      </p:sp>
      <p:sp>
        <p:nvSpPr>
          <p:cNvPr id="17" name="norm-1-1">
            <a:extLst>
              <a:ext uri="{FF2B5EF4-FFF2-40B4-BE49-F238E27FC236}">
                <a16:creationId xmlns:a16="http://schemas.microsoft.com/office/drawing/2014/main" id="{CB81A185-C2DE-42DA-AE07-CE1E39B851D7}"/>
              </a:ext>
            </a:extLst>
          </p:cNvPr>
          <p:cNvSpPr>
            <a:spLocks noGrp="1"/>
          </p:cNvSpPr>
          <p:nvPr/>
        </p:nvSpPr>
        <p:spPr>
          <a:xfrm>
            <a:off x="4000500" y="30956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disease_scope = NSCLC?</a:t>
            </a:r>
          </a:p>
        </p:txBody>
      </p:sp>
      <p:sp>
        <p:nvSpPr>
          <p:cNvPr id="18" name="norm-1-2">
            <a:extLst>
              <a:ext uri="{FF2B5EF4-FFF2-40B4-BE49-F238E27FC236}">
                <a16:creationId xmlns:a16="http://schemas.microsoft.com/office/drawing/2014/main" id="{305041D6-6068-428E-8B28-8BE062D3F6B6}"/>
              </a:ext>
            </a:extLst>
          </p:cNvPr>
          <p:cNvSpPr>
            <a:spLocks noGrp="1"/>
          </p:cNvSpPr>
          <p:nvPr/>
        </p:nvSpPr>
        <p:spPr>
          <a:xfrm>
            <a:off x="7353300" y="309562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來源未指明時標 needs_review</a:t>
            </a:r>
          </a:p>
        </p:txBody>
      </p:sp>
      <p:sp>
        <p:nvSpPr>
          <p:cNvPr id="19" name="norm-row-2">
            <a:extLst>
              <a:ext uri="{FF2B5EF4-FFF2-40B4-BE49-F238E27FC236}">
                <a16:creationId xmlns:a16="http://schemas.microsoft.com/office/drawing/2014/main" id="{4E9EED48-FE53-4D3B-91D6-DA5FEEBC97DB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norm-2-0">
            <a:extLst>
              <a:ext uri="{FF2B5EF4-FFF2-40B4-BE49-F238E27FC236}">
                <a16:creationId xmlns:a16="http://schemas.microsoft.com/office/drawing/2014/main" id="{52BF90A7-7BB0-482E-93F7-CF6DBC003E65}"/>
              </a:ext>
            </a:extLst>
          </p:cNvPr>
          <p:cNvSpPr>
            <a:spLocks noGrp="1"/>
          </p:cNvSpPr>
          <p:nvPr/>
        </p:nvSpPr>
        <p:spPr>
          <a:xfrm>
            <a:off x="1009650" y="38766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EGFR-TKI</a:t>
            </a:r>
          </a:p>
        </p:txBody>
      </p:sp>
      <p:sp>
        <p:nvSpPr>
          <p:cNvPr id="21" name="norm-2-1">
            <a:extLst>
              <a:ext uri="{FF2B5EF4-FFF2-40B4-BE49-F238E27FC236}">
                <a16:creationId xmlns:a16="http://schemas.microsoft.com/office/drawing/2014/main" id="{6CDB0234-76CF-4D02-B7CF-8B26560D6246}"/>
              </a:ext>
            </a:extLst>
          </p:cNvPr>
          <p:cNvSpPr>
            <a:spLocks noGrp="1"/>
          </p:cNvSpPr>
          <p:nvPr/>
        </p:nvSpPr>
        <p:spPr>
          <a:xfrm>
            <a:off x="4000500" y="387667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drug_class = EGFR-TKI</a:t>
            </a:r>
          </a:p>
        </p:txBody>
      </p:sp>
      <p:sp>
        <p:nvSpPr>
          <p:cNvPr id="22" name="norm-2-2">
            <a:extLst>
              <a:ext uri="{FF2B5EF4-FFF2-40B4-BE49-F238E27FC236}">
                <a16:creationId xmlns:a16="http://schemas.microsoft.com/office/drawing/2014/main" id="{9BE2E4E9-3010-4CB4-934C-9A2F41EE00A0}"/>
              </a:ext>
            </a:extLst>
          </p:cNvPr>
          <p:cNvSpPr>
            <a:spLocks noGrp="1"/>
          </p:cNvSpPr>
          <p:nvPr/>
        </p:nvSpPr>
        <p:spPr>
          <a:xfrm>
            <a:off x="7353300" y="387667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不要猜成特定藥物</a:t>
            </a:r>
          </a:p>
        </p:txBody>
      </p:sp>
      <p:sp>
        <p:nvSpPr>
          <p:cNvPr id="23" name="norm-row-3">
            <a:extLst>
              <a:ext uri="{FF2B5EF4-FFF2-40B4-BE49-F238E27FC236}">
                <a16:creationId xmlns:a16="http://schemas.microsoft.com/office/drawing/2014/main" id="{51231A38-7C7C-4F9E-BE32-E8E425414A8F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10668000" cy="590550"/>
          </a:xfrm>
          <a:prstGeom prst="roundRect">
            <a:avLst>
              <a:gd name="adj" fmla="val 12903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norm-3-0">
            <a:extLst>
              <a:ext uri="{FF2B5EF4-FFF2-40B4-BE49-F238E27FC236}">
                <a16:creationId xmlns:a16="http://schemas.microsoft.com/office/drawing/2014/main" id="{602E393F-CBF0-400B-938D-61434AB18CAB}"/>
              </a:ext>
            </a:extLst>
          </p:cNvPr>
          <p:cNvSpPr>
            <a:spLocks noGrp="1"/>
          </p:cNvSpPr>
          <p:nvPr/>
        </p:nvSpPr>
        <p:spPr>
          <a:xfrm>
            <a:off x="1009650" y="46577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 exon 19 deletion</a:t>
            </a:r>
          </a:p>
        </p:txBody>
      </p:sp>
      <p:sp>
        <p:nvSpPr>
          <p:cNvPr id="25" name="norm-3-1">
            <a:extLst>
              <a:ext uri="{FF2B5EF4-FFF2-40B4-BE49-F238E27FC236}">
                <a16:creationId xmlns:a16="http://schemas.microsoft.com/office/drawing/2014/main" id="{C1EC1117-C493-4610-83B0-E0E4F6C5E402}"/>
              </a:ext>
            </a:extLst>
          </p:cNvPr>
          <p:cNvSpPr>
            <a:spLocks noGrp="1"/>
          </p:cNvSpPr>
          <p:nvPr/>
        </p:nvSpPr>
        <p:spPr>
          <a:xfrm>
            <a:off x="4000500" y="46577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variant_text + normalized term</a:t>
            </a:r>
          </a:p>
        </p:txBody>
      </p:sp>
      <p:sp>
        <p:nvSpPr>
          <p:cNvPr id="26" name="norm-3-2">
            <a:extLst>
              <a:ext uri="{FF2B5EF4-FFF2-40B4-BE49-F238E27FC236}">
                <a16:creationId xmlns:a16="http://schemas.microsoft.com/office/drawing/2014/main" id="{DDBBF0AC-9B9A-42F9-9A20-F4D9F33846B4}"/>
              </a:ext>
            </a:extLst>
          </p:cNvPr>
          <p:cNvSpPr>
            <a:spLocks noGrp="1"/>
          </p:cNvSpPr>
          <p:nvPr/>
        </p:nvSpPr>
        <p:spPr>
          <a:xfrm>
            <a:off x="7353300" y="465772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版本與轉錄本另欄處理</a:t>
            </a:r>
          </a:p>
        </p:txBody>
      </p:sp>
      <p:sp>
        <p:nvSpPr>
          <p:cNvPr id="27" name="bottom">
            <a:extLst>
              <a:ext uri="{FF2B5EF4-FFF2-40B4-BE49-F238E27FC236}">
                <a16:creationId xmlns:a16="http://schemas.microsoft.com/office/drawing/2014/main" id="{99835259-28FE-47A6-AA48-E54D66CD3D3F}"/>
              </a:ext>
            </a:extLst>
          </p:cNvPr>
          <p:cNvSpPr>
            <a:spLocks noGrp="1"/>
          </p:cNvSpPr>
          <p:nvPr/>
        </p:nvSpPr>
        <p:spPr>
          <a:xfrm>
            <a:off x="2095500" y="54673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Normalization 是新增欄位，不是抹掉來源中的原始表述。</a:t>
            </a:r>
          </a:p>
        </p:txBody>
      </p:sp>
    </p:spTree>
    <p:extLst>
      <p:ext uri="{BB962C8B-B14F-4D97-AF65-F5344CB8AC3E}">
        <p14:creationId xmlns:p14="http://schemas.microsoft.com/office/powerpoint/2010/main" val="11241606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ccent-rail-36">
            <a:extLst>
              <a:ext uri="{FF2B5EF4-FFF2-40B4-BE49-F238E27FC236}">
                <a16:creationId xmlns:a16="http://schemas.microsoft.com/office/drawing/2014/main" id="{746A5D8B-7F6B-4039-B538-72262642A3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6">
            <a:extLst>
              <a:ext uri="{FF2B5EF4-FFF2-40B4-BE49-F238E27FC236}">
                <a16:creationId xmlns:a16="http://schemas.microsoft.com/office/drawing/2014/main" id="{6830D5DD-3C37-4557-8C5F-D070DDB11B75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6">
            <a:extLst>
              <a:ext uri="{FF2B5EF4-FFF2-40B4-BE49-F238E27FC236}">
                <a16:creationId xmlns:a16="http://schemas.microsoft.com/office/drawing/2014/main" id="{372EF8DE-7740-4D38-8AE4-AFECA6629A2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6">
            <a:extLst>
              <a:ext uri="{FF2B5EF4-FFF2-40B4-BE49-F238E27FC236}">
                <a16:creationId xmlns:a16="http://schemas.microsoft.com/office/drawing/2014/main" id="{B12C0C60-02F8-4716-9A98-4BE1E5A9ACA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348865" cy="0"/>
          </a:xfrm>
          <a:prstGeom prst="line">
            <a:avLst/>
          </a:prstGeom>
          <a:noFill/>
          <a:ln w="2857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E86BC7E-DF32-4869-A4C0-D0CC2A106CD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CONFLICTING EVIDENCE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C586CB8-EBC5-443D-B48C-A8BE818D7B5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衝突證據不要平均掉；先找出差異在哪裡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2D526E2-493F-4CE7-BBE9-17BC98916E9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36/40</a:t>
            </a:r>
          </a:p>
        </p:txBody>
      </p:sp>
      <p:sp>
        <p:nvSpPr>
          <p:cNvPr id="8" name="conflict-step-0">
            <a:extLst>
              <a:ext uri="{FF2B5EF4-FFF2-40B4-BE49-F238E27FC236}">
                <a16:creationId xmlns:a16="http://schemas.microsoft.com/office/drawing/2014/main" id="{B13891EA-4118-4D8C-9BE7-E5940211DCAA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Keep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保留兩列</a:t>
            </a:r>
          </a:p>
        </p:txBody>
      </p:sp>
      <p:sp>
        <p:nvSpPr>
          <p:cNvPr id="9" name="conflict-line-1">
            <a:extLst>
              <a:ext uri="{FF2B5EF4-FFF2-40B4-BE49-F238E27FC236}">
                <a16:creationId xmlns:a16="http://schemas.microsoft.com/office/drawing/2014/main" id="{256F59CE-CF48-4584-BCA0-67E5E2576E6A}"/>
              </a:ext>
            </a:extLst>
          </p:cNvPr>
          <p:cNvSpPr>
            <a:spLocks noGrp="1"/>
          </p:cNvSpPr>
          <p:nvPr/>
        </p:nvSpPr>
        <p:spPr>
          <a:xfrm>
            <a:off x="2533650" y="3162300"/>
            <a:ext cx="53340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nflict-step-1">
            <a:extLst>
              <a:ext uri="{FF2B5EF4-FFF2-40B4-BE49-F238E27FC236}">
                <a16:creationId xmlns:a16="http://schemas.microsoft.com/office/drawing/2014/main" id="{BA31585B-341F-4085-AF7D-6379A536F59D}"/>
              </a:ext>
            </a:extLst>
          </p:cNvPr>
          <p:cNvSpPr>
            <a:spLocks noGrp="1"/>
          </p:cNvSpPr>
          <p:nvPr/>
        </p:nvSpPr>
        <p:spPr>
          <a:xfrm>
            <a:off x="3067050" y="26670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Compare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population / design</a:t>
            </a:r>
          </a:p>
        </p:txBody>
      </p:sp>
      <p:sp>
        <p:nvSpPr>
          <p:cNvPr id="11" name="conflict-line-2">
            <a:extLst>
              <a:ext uri="{FF2B5EF4-FFF2-40B4-BE49-F238E27FC236}">
                <a16:creationId xmlns:a16="http://schemas.microsoft.com/office/drawing/2014/main" id="{5D3F7DC0-F44A-4B46-9C86-D02641DC5432}"/>
              </a:ext>
            </a:extLst>
          </p:cNvPr>
          <p:cNvSpPr>
            <a:spLocks noGrp="1"/>
          </p:cNvSpPr>
          <p:nvPr/>
        </p:nvSpPr>
        <p:spPr>
          <a:xfrm>
            <a:off x="4648200" y="3162300"/>
            <a:ext cx="53340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nflict-step-2">
            <a:extLst>
              <a:ext uri="{FF2B5EF4-FFF2-40B4-BE49-F238E27FC236}">
                <a16:creationId xmlns:a16="http://schemas.microsoft.com/office/drawing/2014/main" id="{04A242DA-FF3F-4663-BF0A-78E9C1E228B7}"/>
              </a:ext>
            </a:extLst>
          </p:cNvPr>
          <p:cNvSpPr>
            <a:spLocks noGrp="1"/>
          </p:cNvSpPr>
          <p:nvPr/>
        </p:nvSpPr>
        <p:spPr>
          <a:xfrm>
            <a:off x="5181600" y="26670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Stratify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outcome / subgroup</a:t>
            </a:r>
          </a:p>
        </p:txBody>
      </p:sp>
      <p:sp>
        <p:nvSpPr>
          <p:cNvPr id="13" name="conflict-line-3">
            <a:extLst>
              <a:ext uri="{FF2B5EF4-FFF2-40B4-BE49-F238E27FC236}">
                <a16:creationId xmlns:a16="http://schemas.microsoft.com/office/drawing/2014/main" id="{BF831A3A-0724-4170-AEB9-FC976A093925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53340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conflict-step-3">
            <a:extLst>
              <a:ext uri="{FF2B5EF4-FFF2-40B4-BE49-F238E27FC236}">
                <a16:creationId xmlns:a16="http://schemas.microsoft.com/office/drawing/2014/main" id="{2DB1AEA7-E889-4BB9-9439-4927065A1337}"/>
              </a:ext>
            </a:extLst>
          </p:cNvPr>
          <p:cNvSpPr>
            <a:spLocks noGrp="1"/>
          </p:cNvSpPr>
          <p:nvPr/>
        </p:nvSpPr>
        <p:spPr>
          <a:xfrm>
            <a:off x="7296150" y="26670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Explain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可能的差異來源</a:t>
            </a:r>
          </a:p>
        </p:txBody>
      </p:sp>
      <p:sp>
        <p:nvSpPr>
          <p:cNvPr id="15" name="conflict-line-4">
            <a:extLst>
              <a:ext uri="{FF2B5EF4-FFF2-40B4-BE49-F238E27FC236}">
                <a16:creationId xmlns:a16="http://schemas.microsoft.com/office/drawing/2014/main" id="{4EA23BD5-749E-4DCA-A55C-BB577C9E0AD0}"/>
              </a:ext>
            </a:extLst>
          </p:cNvPr>
          <p:cNvSpPr>
            <a:spLocks noGrp="1"/>
          </p:cNvSpPr>
          <p:nvPr/>
        </p:nvSpPr>
        <p:spPr>
          <a:xfrm>
            <a:off x="8877300" y="3162300"/>
            <a:ext cx="53340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conflict-step-4">
            <a:extLst>
              <a:ext uri="{FF2B5EF4-FFF2-40B4-BE49-F238E27FC236}">
                <a16:creationId xmlns:a16="http://schemas.microsoft.com/office/drawing/2014/main" id="{079BD7FD-3EC5-4A99-B3BB-17442A27CD54}"/>
              </a:ext>
            </a:extLst>
          </p:cNvPr>
          <p:cNvSpPr>
            <a:spLocks noGrp="1"/>
          </p:cNvSpPr>
          <p:nvPr/>
        </p:nvSpPr>
        <p:spPr>
          <a:xfrm>
            <a:off x="9410700" y="26670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Escalate</a:t>
            </a:r>
          </a:p>
          <a:p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needs expert review</a:t>
            </a:r>
          </a:p>
        </p:txBody>
      </p:sp>
      <p:sp>
        <p:nvSpPr>
          <p:cNvPr id="17" name="conflict-example">
            <a:extLst>
              <a:ext uri="{FF2B5EF4-FFF2-40B4-BE49-F238E27FC236}">
                <a16:creationId xmlns:a16="http://schemas.microsoft.com/office/drawing/2014/main" id="{DFCAFF27-B5CE-4B12-B12B-5DF67B0DBE8D}"/>
              </a:ext>
            </a:extLst>
          </p:cNvPr>
          <p:cNvSpPr>
            <a:spLocks noGrp="1"/>
          </p:cNvSpPr>
          <p:nvPr/>
        </p:nvSpPr>
        <p:spPr>
          <a:xfrm>
            <a:off x="1447800" y="4362450"/>
            <a:ext cx="9296400" cy="876300"/>
          </a:xfrm>
          <a:prstGeom prst="roundRect">
            <a:avLst>
              <a:gd name="adj" fmla="val 8696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conflict-example-text">
            <a:extLst>
              <a:ext uri="{FF2B5EF4-FFF2-40B4-BE49-F238E27FC236}">
                <a16:creationId xmlns:a16="http://schemas.microsoft.com/office/drawing/2014/main" id="{3FF5D249-998B-4625-92A0-C873AD0120FE}"/>
              </a:ext>
            </a:extLst>
          </p:cNvPr>
          <p:cNvSpPr>
            <a:spLocks noGrp="1"/>
          </p:cNvSpPr>
          <p:nvPr/>
        </p:nvSpPr>
        <p:spPr>
          <a:xfrm>
            <a:off x="1828800" y="4667250"/>
            <a:ext cx="853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conflict_note: outcome definition、line of therapy、follow-up 或 subgroup 不同；目前不能合併成單一結論。</a:t>
            </a:r>
          </a:p>
        </p:txBody>
      </p:sp>
    </p:spTree>
    <p:extLst>
      <p:ext uri="{BB962C8B-B14F-4D97-AF65-F5344CB8AC3E}">
        <p14:creationId xmlns:p14="http://schemas.microsoft.com/office/powerpoint/2010/main" val="6746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37">
            <a:extLst>
              <a:ext uri="{FF2B5EF4-FFF2-40B4-BE49-F238E27FC236}">
                <a16:creationId xmlns:a16="http://schemas.microsoft.com/office/drawing/2014/main" id="{6AAD18EB-CA1E-44B4-BF07-9270DEDF09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7">
            <a:extLst>
              <a:ext uri="{FF2B5EF4-FFF2-40B4-BE49-F238E27FC236}">
                <a16:creationId xmlns:a16="http://schemas.microsoft.com/office/drawing/2014/main" id="{14A7542A-A315-4E1A-A133-B77736D8AABD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7">
            <a:extLst>
              <a:ext uri="{FF2B5EF4-FFF2-40B4-BE49-F238E27FC236}">
                <a16:creationId xmlns:a16="http://schemas.microsoft.com/office/drawing/2014/main" id="{EE95EE73-4FFA-43FA-9F14-4117FECD33F2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7">
            <a:extLst>
              <a:ext uri="{FF2B5EF4-FFF2-40B4-BE49-F238E27FC236}">
                <a16:creationId xmlns:a16="http://schemas.microsoft.com/office/drawing/2014/main" id="{B367D981-C5FA-4A9B-8EC7-CC7A41CC77D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414111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67DE5B8-A6AF-478E-BE87-8D1D2BB899C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NOT FOUND RULE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9254B0B-F62A-4333-9611-2AF6F03A8CA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找不到不是空白，也不是要求模型補完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9DA5717-7E39-4E9B-B287-359F452FBEF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37/40</a:t>
            </a:r>
          </a:p>
        </p:txBody>
      </p:sp>
      <p:sp>
        <p:nvSpPr>
          <p:cNvPr id="8" name="notfound-0">
            <a:extLst>
              <a:ext uri="{FF2B5EF4-FFF2-40B4-BE49-F238E27FC236}">
                <a16:creationId xmlns:a16="http://schemas.microsoft.com/office/drawing/2014/main" id="{5F92E22B-E951-45F2-BA74-73B698D71CF2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3257550" cy="2266950"/>
          </a:xfrm>
          <a:prstGeom prst="roundRect">
            <a:avLst>
              <a:gd name="adj" fmla="val 3361"/>
            </a:avLst>
          </a:prstGeom>
          <a:solidFill>
            <a:srgbClr val="EEF1F2"/>
          </a:solidFill>
          <a:ln w="9525">
            <a:solidFill>
              <a:srgbClr val="5C66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notfound-state-0">
            <a:extLst>
              <a:ext uri="{FF2B5EF4-FFF2-40B4-BE49-F238E27FC236}">
                <a16:creationId xmlns:a16="http://schemas.microsoft.com/office/drawing/2014/main" id="{A262F68D-7004-472B-92D5-A8F0035A3857}"/>
              </a:ext>
            </a:extLst>
          </p:cNvPr>
          <p:cNvSpPr>
            <a:spLocks noGrp="1"/>
          </p:cNvSpPr>
          <p:nvPr/>
        </p:nvSpPr>
        <p:spPr>
          <a:xfrm>
            <a:off x="1123950" y="2400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C6670"/>
                </a:solidFill>
                <a:latin typeface="Menlo"/>
                <a:ea typeface="Menlo"/>
                <a:cs typeface="Menlo"/>
              </a:rPr>
              <a:t>not_searched</a:t>
            </a:r>
          </a:p>
        </p:txBody>
      </p:sp>
      <p:sp>
        <p:nvSpPr>
          <p:cNvPr id="10" name="notfound-meaning-0">
            <a:extLst>
              <a:ext uri="{FF2B5EF4-FFF2-40B4-BE49-F238E27FC236}">
                <a16:creationId xmlns:a16="http://schemas.microsoft.com/office/drawing/2014/main" id="{6E2C92E4-E423-47CE-B402-9A3A8F53C730}"/>
              </a:ext>
            </a:extLst>
          </p:cNvPr>
          <p:cNvSpPr>
            <a:spLocks noGrp="1"/>
          </p:cNvSpPr>
          <p:nvPr/>
        </p:nvSpPr>
        <p:spPr>
          <a:xfrm>
            <a:off x="1181100" y="31051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尚未執行足夠搜尋</a:t>
            </a:r>
          </a:p>
        </p:txBody>
      </p:sp>
      <p:sp>
        <p:nvSpPr>
          <p:cNvPr id="11" name="notfound-action-0">
            <a:extLst>
              <a:ext uri="{FF2B5EF4-FFF2-40B4-BE49-F238E27FC236}">
                <a16:creationId xmlns:a16="http://schemas.microsoft.com/office/drawing/2014/main" id="{A082FAED-515C-43C9-BED2-4B617B107DAC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2647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建立下一個 query task</a:t>
            </a:r>
          </a:p>
        </p:txBody>
      </p:sp>
      <p:sp>
        <p:nvSpPr>
          <p:cNvPr id="12" name="notfound-1">
            <a:extLst>
              <a:ext uri="{FF2B5EF4-FFF2-40B4-BE49-F238E27FC236}">
                <a16:creationId xmlns:a16="http://schemas.microsoft.com/office/drawing/2014/main" id="{38825319-A0C4-404C-8B1E-48AB01E589CA}"/>
              </a:ext>
            </a:extLst>
          </p:cNvPr>
          <p:cNvSpPr>
            <a:spLocks noGrp="1"/>
          </p:cNvSpPr>
          <p:nvPr/>
        </p:nvSpPr>
        <p:spPr>
          <a:xfrm>
            <a:off x="4667250" y="2133600"/>
            <a:ext cx="3257550" cy="2266950"/>
          </a:xfrm>
          <a:prstGeom prst="roundRect">
            <a:avLst>
              <a:gd name="adj" fmla="val 3361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notfound-state-1">
            <a:extLst>
              <a:ext uri="{FF2B5EF4-FFF2-40B4-BE49-F238E27FC236}">
                <a16:creationId xmlns:a16="http://schemas.microsoft.com/office/drawing/2014/main" id="{98D40128-5383-4131-9C7C-7E075F3DF47E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not_found</a:t>
            </a:r>
          </a:p>
        </p:txBody>
      </p:sp>
      <p:sp>
        <p:nvSpPr>
          <p:cNvPr id="14" name="notfound-meaning-1">
            <a:extLst>
              <a:ext uri="{FF2B5EF4-FFF2-40B4-BE49-F238E27FC236}">
                <a16:creationId xmlns:a16="http://schemas.microsoft.com/office/drawing/2014/main" id="{35AA93E5-7E17-42A2-940E-3BC3CA26016B}"/>
              </a:ext>
            </a:extLst>
          </p:cNvPr>
          <p:cNvSpPr>
            <a:spLocks noGrp="1"/>
          </p:cNvSpPr>
          <p:nvPr/>
        </p:nvSpPr>
        <p:spPr>
          <a:xfrm>
            <a:off x="4972050" y="31051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依目前 strategy 未找到來源</a:t>
            </a:r>
          </a:p>
        </p:txBody>
      </p:sp>
      <p:sp>
        <p:nvSpPr>
          <p:cNvPr id="15" name="notfound-action-1">
            <a:extLst>
              <a:ext uri="{FF2B5EF4-FFF2-40B4-BE49-F238E27FC236}">
                <a16:creationId xmlns:a16="http://schemas.microsoft.com/office/drawing/2014/main" id="{977AFC16-09F9-432C-8A4E-37C16EB7BE89}"/>
              </a:ext>
            </a:extLst>
          </p:cNvPr>
          <p:cNvSpPr>
            <a:spLocks noGrp="1"/>
          </p:cNvSpPr>
          <p:nvPr/>
        </p:nvSpPr>
        <p:spPr>
          <a:xfrm>
            <a:off x="4972050" y="3905250"/>
            <a:ext cx="2647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回報範圍、日期與限制</a:t>
            </a:r>
          </a:p>
        </p:txBody>
      </p:sp>
      <p:sp>
        <p:nvSpPr>
          <p:cNvPr id="16" name="notfound-2">
            <a:extLst>
              <a:ext uri="{FF2B5EF4-FFF2-40B4-BE49-F238E27FC236}">
                <a16:creationId xmlns:a16="http://schemas.microsoft.com/office/drawing/2014/main" id="{3D3DE911-9936-40CA-AEBC-2151C763D931}"/>
              </a:ext>
            </a:extLst>
          </p:cNvPr>
          <p:cNvSpPr>
            <a:spLocks noGrp="1"/>
          </p:cNvSpPr>
          <p:nvPr/>
        </p:nvSpPr>
        <p:spPr>
          <a:xfrm>
            <a:off x="8458200" y="2133600"/>
            <a:ext cx="3257550" cy="2266950"/>
          </a:xfrm>
          <a:prstGeom prst="roundRect">
            <a:avLst>
              <a:gd name="adj" fmla="val 3361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notfound-state-2">
            <a:extLst>
              <a:ext uri="{FF2B5EF4-FFF2-40B4-BE49-F238E27FC236}">
                <a16:creationId xmlns:a16="http://schemas.microsoft.com/office/drawing/2014/main" id="{BE55BC80-7C2B-433C-B775-843B4A694F8C}"/>
              </a:ext>
            </a:extLst>
          </p:cNvPr>
          <p:cNvSpPr>
            <a:spLocks noGrp="1"/>
          </p:cNvSpPr>
          <p:nvPr/>
        </p:nvSpPr>
        <p:spPr>
          <a:xfrm>
            <a:off x="8705850" y="2400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C85A4A"/>
                </a:solidFill>
                <a:latin typeface="Menlo"/>
                <a:ea typeface="Menlo"/>
                <a:cs typeface="Menlo"/>
              </a:rPr>
              <a:t>not_accessible</a:t>
            </a:r>
          </a:p>
        </p:txBody>
      </p:sp>
      <p:sp>
        <p:nvSpPr>
          <p:cNvPr id="18" name="notfound-meaning-2">
            <a:extLst>
              <a:ext uri="{FF2B5EF4-FFF2-40B4-BE49-F238E27FC236}">
                <a16:creationId xmlns:a16="http://schemas.microsoft.com/office/drawing/2014/main" id="{8CCF973E-0772-4390-9BA7-3CD0B5E9D2AA}"/>
              </a:ext>
            </a:extLst>
          </p:cNvPr>
          <p:cNvSpPr>
            <a:spLocks noGrp="1"/>
          </p:cNvSpPr>
          <p:nvPr/>
        </p:nvSpPr>
        <p:spPr>
          <a:xfrm>
            <a:off x="8763000" y="31051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知道來源存在但無法檢查</a:t>
            </a:r>
          </a:p>
        </p:txBody>
      </p:sp>
      <p:sp>
        <p:nvSpPr>
          <p:cNvPr id="19" name="notfound-action-2">
            <a:extLst>
              <a:ext uri="{FF2B5EF4-FFF2-40B4-BE49-F238E27FC236}">
                <a16:creationId xmlns:a16="http://schemas.microsoft.com/office/drawing/2014/main" id="{6CA8A26F-B621-4E24-B5F5-0D50B433EDDD}"/>
              </a:ext>
            </a:extLst>
          </p:cNvPr>
          <p:cNvSpPr>
            <a:spLocks noGrp="1"/>
          </p:cNvSpPr>
          <p:nvPr/>
        </p:nvSpPr>
        <p:spPr>
          <a:xfrm>
            <a:off x="8763000" y="3905250"/>
            <a:ext cx="2647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不要宣稱來源支持 claim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23566F61-9ED4-40C2-914A-FD6CA445BD12}"/>
              </a:ext>
            </a:extLst>
          </p:cNvPr>
          <p:cNvSpPr>
            <a:spLocks noGrp="1"/>
          </p:cNvSpPr>
          <p:nvPr/>
        </p:nvSpPr>
        <p:spPr>
          <a:xfrm>
            <a:off x="1524000" y="53530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空白欄位會被下游誤讀；明確 status 才能讓 workflow 正確停止。</a:t>
            </a:r>
          </a:p>
        </p:txBody>
      </p:sp>
    </p:spTree>
    <p:extLst>
      <p:ext uri="{BB962C8B-B14F-4D97-AF65-F5344CB8AC3E}">
        <p14:creationId xmlns:p14="http://schemas.microsoft.com/office/powerpoint/2010/main" val="106101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-rail-38">
            <a:extLst>
              <a:ext uri="{FF2B5EF4-FFF2-40B4-BE49-F238E27FC236}">
                <a16:creationId xmlns:a16="http://schemas.microsoft.com/office/drawing/2014/main" id="{C6779F14-7E75-453D-82A3-F61DC30955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8">
            <a:extLst>
              <a:ext uri="{FF2B5EF4-FFF2-40B4-BE49-F238E27FC236}">
                <a16:creationId xmlns:a16="http://schemas.microsoft.com/office/drawing/2014/main" id="{9E6EF9F2-9692-4E85-A2A5-2782776740C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8">
            <a:extLst>
              <a:ext uri="{FF2B5EF4-FFF2-40B4-BE49-F238E27FC236}">
                <a16:creationId xmlns:a16="http://schemas.microsoft.com/office/drawing/2014/main" id="{A81CCA8A-CD2C-441F-94A8-7C7CCB7626C5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8">
            <a:extLst>
              <a:ext uri="{FF2B5EF4-FFF2-40B4-BE49-F238E27FC236}">
                <a16:creationId xmlns:a16="http://schemas.microsoft.com/office/drawing/2014/main" id="{10B1C1F9-F105-4558-A09F-0946A281ECC5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479357" cy="0"/>
          </a:xfrm>
          <a:prstGeom prst="line">
            <a:avLst/>
          </a:prstGeom>
          <a:noFill/>
          <a:ln w="2857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5D2003E9-3069-449D-AF1B-24CBAC35A89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D2AB66A1-0B3A-4463-A71A-68ED4CFFFCE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網頁與 PDF 也是不可信輸入；agent 不能照單全收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EA33681-CC05-4ADC-9ADE-663D5AD8DD77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38/40</a:t>
            </a:r>
          </a:p>
        </p:txBody>
      </p:sp>
      <p:sp>
        <p:nvSpPr>
          <p:cNvPr id="8" name="risk-0">
            <a:extLst>
              <a:ext uri="{FF2B5EF4-FFF2-40B4-BE49-F238E27FC236}">
                <a16:creationId xmlns:a16="http://schemas.microsoft.com/office/drawing/2014/main" id="{D44D6E2A-C029-46CB-88A2-1EAD483518E9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3257550" cy="2857500"/>
          </a:xfrm>
          <a:prstGeom prst="roundRect">
            <a:avLst>
              <a:gd name="adj" fmla="val 266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isk-head-0">
            <a:extLst>
              <a:ext uri="{FF2B5EF4-FFF2-40B4-BE49-F238E27FC236}">
                <a16:creationId xmlns:a16="http://schemas.microsoft.com/office/drawing/2014/main" id="{74F0AFC6-641A-40A8-A30A-4DDF584AE543}"/>
              </a:ext>
            </a:extLst>
          </p:cNvPr>
          <p:cNvSpPr>
            <a:spLocks noGrp="1"/>
          </p:cNvSpPr>
          <p:nvPr/>
        </p:nvSpPr>
        <p:spPr>
          <a:xfrm>
            <a:off x="1143000" y="22669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Prompt injection</a:t>
            </a:r>
          </a:p>
        </p:txBody>
      </p:sp>
      <p:sp>
        <p:nvSpPr>
          <p:cNvPr id="10" name="risk-copy-0">
            <a:extLst>
              <a:ext uri="{FF2B5EF4-FFF2-40B4-BE49-F238E27FC236}">
                <a16:creationId xmlns:a16="http://schemas.microsoft.com/office/drawing/2014/main" id="{1C397A5D-A240-4F9A-BB5B-6D964CEFBDAE}"/>
              </a:ext>
            </a:extLst>
          </p:cNvPr>
          <p:cNvSpPr>
            <a:spLocks noGrp="1"/>
          </p:cNvSpPr>
          <p:nvPr/>
        </p:nvSpPr>
        <p:spPr>
          <a:xfrm>
            <a:off x="1181100" y="3028950"/>
            <a:ext cx="2647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來源文字要求忽略任務、改規則或外傳資料</a:t>
            </a:r>
          </a:p>
        </p:txBody>
      </p:sp>
      <p:sp>
        <p:nvSpPr>
          <p:cNvPr id="11" name="risk-control-0">
            <a:extLst>
              <a:ext uri="{FF2B5EF4-FFF2-40B4-BE49-F238E27FC236}">
                <a16:creationId xmlns:a16="http://schemas.microsoft.com/office/drawing/2014/main" id="{ECC42FBC-5FC8-4E6D-AF50-4D9F504EE557}"/>
              </a:ext>
            </a:extLst>
          </p:cNvPr>
          <p:cNvSpPr>
            <a:spLocks noGrp="1"/>
          </p:cNvSpPr>
          <p:nvPr/>
        </p:nvSpPr>
        <p:spPr>
          <a:xfrm>
            <a:off x="1181100" y="4095750"/>
            <a:ext cx="2647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只把來源當 data；系統規則優先</a:t>
            </a:r>
          </a:p>
        </p:txBody>
      </p:sp>
      <p:sp>
        <p:nvSpPr>
          <p:cNvPr id="12" name="risk-1">
            <a:extLst>
              <a:ext uri="{FF2B5EF4-FFF2-40B4-BE49-F238E27FC236}">
                <a16:creationId xmlns:a16="http://schemas.microsoft.com/office/drawing/2014/main" id="{CC91DB30-30AE-46BA-8CD2-F83D3EFC498A}"/>
              </a:ext>
            </a:extLst>
          </p:cNvPr>
          <p:cNvSpPr>
            <a:spLocks noGrp="1"/>
          </p:cNvSpPr>
          <p:nvPr/>
        </p:nvSpPr>
        <p:spPr>
          <a:xfrm>
            <a:off x="4667250" y="1981200"/>
            <a:ext cx="3257550" cy="2857500"/>
          </a:xfrm>
          <a:prstGeom prst="roundRect">
            <a:avLst>
              <a:gd name="adj" fmla="val 2667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isk-head-1">
            <a:extLst>
              <a:ext uri="{FF2B5EF4-FFF2-40B4-BE49-F238E27FC236}">
                <a16:creationId xmlns:a16="http://schemas.microsoft.com/office/drawing/2014/main" id="{A21FB380-DDF6-48FD-A3BC-F9AC27220A0E}"/>
              </a:ext>
            </a:extLst>
          </p:cNvPr>
          <p:cNvSpPr>
            <a:spLocks noGrp="1"/>
          </p:cNvSpPr>
          <p:nvPr/>
        </p:nvSpPr>
        <p:spPr>
          <a:xfrm>
            <a:off x="4933950" y="22669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Sensitive data</a:t>
            </a:r>
          </a:p>
        </p:txBody>
      </p:sp>
      <p:sp>
        <p:nvSpPr>
          <p:cNvPr id="14" name="risk-copy-1">
            <a:extLst>
              <a:ext uri="{FF2B5EF4-FFF2-40B4-BE49-F238E27FC236}">
                <a16:creationId xmlns:a16="http://schemas.microsoft.com/office/drawing/2014/main" id="{5CECF881-6A1D-447A-A016-0DD82E441DCA}"/>
              </a:ext>
            </a:extLst>
          </p:cNvPr>
          <p:cNvSpPr>
            <a:spLocks noGrp="1"/>
          </p:cNvSpPr>
          <p:nvPr/>
        </p:nvSpPr>
        <p:spPr>
          <a:xfrm>
            <a:off x="4972050" y="3028950"/>
            <a:ext cx="2647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病歷、未公開結果、帳號或 token 被放進 prompt</a:t>
            </a:r>
          </a:p>
        </p:txBody>
      </p:sp>
      <p:sp>
        <p:nvSpPr>
          <p:cNvPr id="15" name="risk-control-1">
            <a:extLst>
              <a:ext uri="{FF2B5EF4-FFF2-40B4-BE49-F238E27FC236}">
                <a16:creationId xmlns:a16="http://schemas.microsoft.com/office/drawing/2014/main" id="{BCABE3B0-509B-4F86-BB7A-C24B050D534B}"/>
              </a:ext>
            </a:extLst>
          </p:cNvPr>
          <p:cNvSpPr>
            <a:spLocks noGrp="1"/>
          </p:cNvSpPr>
          <p:nvPr/>
        </p:nvSpPr>
        <p:spPr>
          <a:xfrm>
            <a:off x="4972050" y="4095750"/>
            <a:ext cx="2647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使用去識別資料與最小必要權限</a:t>
            </a:r>
          </a:p>
        </p:txBody>
      </p:sp>
      <p:sp>
        <p:nvSpPr>
          <p:cNvPr id="16" name="risk-2">
            <a:extLst>
              <a:ext uri="{FF2B5EF4-FFF2-40B4-BE49-F238E27FC236}">
                <a16:creationId xmlns:a16="http://schemas.microsoft.com/office/drawing/2014/main" id="{9D84573E-FEAD-432D-81AE-A76F8E83E34F}"/>
              </a:ext>
            </a:extLst>
          </p:cNvPr>
          <p:cNvSpPr>
            <a:spLocks noGrp="1"/>
          </p:cNvSpPr>
          <p:nvPr/>
        </p:nvSpPr>
        <p:spPr>
          <a:xfrm>
            <a:off x="8458200" y="1981200"/>
            <a:ext cx="3257550" cy="2857500"/>
          </a:xfrm>
          <a:prstGeom prst="roundRect">
            <a:avLst>
              <a:gd name="adj" fmla="val 2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isk-head-2">
            <a:extLst>
              <a:ext uri="{FF2B5EF4-FFF2-40B4-BE49-F238E27FC236}">
                <a16:creationId xmlns:a16="http://schemas.microsoft.com/office/drawing/2014/main" id="{F2445B45-F4EA-4291-9F07-C29561369792}"/>
              </a:ext>
            </a:extLst>
          </p:cNvPr>
          <p:cNvSpPr>
            <a:spLocks noGrp="1"/>
          </p:cNvSpPr>
          <p:nvPr/>
        </p:nvSpPr>
        <p:spPr>
          <a:xfrm>
            <a:off x="8724900" y="22669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Scope creep</a:t>
            </a:r>
          </a:p>
        </p:txBody>
      </p:sp>
      <p:sp>
        <p:nvSpPr>
          <p:cNvPr id="18" name="risk-copy-2">
            <a:extLst>
              <a:ext uri="{FF2B5EF4-FFF2-40B4-BE49-F238E27FC236}">
                <a16:creationId xmlns:a16="http://schemas.microsoft.com/office/drawing/2014/main" id="{72BAAE12-3BBF-4F1A-AF5E-0AA24ED7B83C}"/>
              </a:ext>
            </a:extLst>
          </p:cNvPr>
          <p:cNvSpPr>
            <a:spLocks noGrp="1"/>
          </p:cNvSpPr>
          <p:nvPr/>
        </p:nvSpPr>
        <p:spPr>
          <a:xfrm>
            <a:off x="8763000" y="3028950"/>
            <a:ext cx="2647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搜尋工具開始寫檔、寄信或啟動外部工作</a:t>
            </a:r>
          </a:p>
        </p:txBody>
      </p:sp>
      <p:sp>
        <p:nvSpPr>
          <p:cNvPr id="19" name="risk-control-2">
            <a:extLst>
              <a:ext uri="{FF2B5EF4-FFF2-40B4-BE49-F238E27FC236}">
                <a16:creationId xmlns:a16="http://schemas.microsoft.com/office/drawing/2014/main" id="{BF9853E8-7EE1-4557-81CF-BA81979F97E0}"/>
              </a:ext>
            </a:extLst>
          </p:cNvPr>
          <p:cNvSpPr>
            <a:spLocks noGrp="1"/>
          </p:cNvSpPr>
          <p:nvPr/>
        </p:nvSpPr>
        <p:spPr>
          <a:xfrm>
            <a:off x="8763000" y="4095750"/>
            <a:ext cx="2647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每種 action 都要明確 approval gate</a:t>
            </a:r>
          </a:p>
        </p:txBody>
      </p:sp>
      <p:sp>
        <p:nvSpPr>
          <p:cNvPr id="20" name="bottom">
            <a:extLst>
              <a:ext uri="{FF2B5EF4-FFF2-40B4-BE49-F238E27FC236}">
                <a16:creationId xmlns:a16="http://schemas.microsoft.com/office/drawing/2014/main" id="{FF64105B-4548-489C-A498-9C85308A2D19}"/>
              </a:ext>
            </a:extLst>
          </p:cNvPr>
          <p:cNvSpPr>
            <a:spLocks noGrp="1"/>
          </p:cNvSpPr>
          <p:nvPr/>
        </p:nvSpPr>
        <p:spPr>
          <a:xfrm>
            <a:off x="3143250" y="54483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Read permission 不等於 execute permission。</a:t>
            </a:r>
          </a:p>
        </p:txBody>
      </p:sp>
    </p:spTree>
    <p:extLst>
      <p:ext uri="{BB962C8B-B14F-4D97-AF65-F5344CB8AC3E}">
        <p14:creationId xmlns:p14="http://schemas.microsoft.com/office/powerpoint/2010/main" val="533129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ccent-rail-39">
            <a:extLst>
              <a:ext uri="{FF2B5EF4-FFF2-40B4-BE49-F238E27FC236}">
                <a16:creationId xmlns:a16="http://schemas.microsoft.com/office/drawing/2014/main" id="{F44CCEEC-6180-4947-803A-795CF19091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9">
            <a:extLst>
              <a:ext uri="{FF2B5EF4-FFF2-40B4-BE49-F238E27FC236}">
                <a16:creationId xmlns:a16="http://schemas.microsoft.com/office/drawing/2014/main" id="{900D3B82-E77C-46AC-B9B1-E9D83E30375E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3" name="progress-track-39">
            <a:extLst>
              <a:ext uri="{FF2B5EF4-FFF2-40B4-BE49-F238E27FC236}">
                <a16:creationId xmlns:a16="http://schemas.microsoft.com/office/drawing/2014/main" id="{1AFACC37-5C42-4D00-B878-20CE686BDD1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9">
            <a:extLst>
              <a:ext uri="{FF2B5EF4-FFF2-40B4-BE49-F238E27FC236}">
                <a16:creationId xmlns:a16="http://schemas.microsoft.com/office/drawing/2014/main" id="{82C123EB-7C88-4879-BB56-082628E1DC5D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544604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47DDB821-2537-44E1-B156-337B6066A54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REPRODUCIBILITY BUNDLE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ED04729-5685-421F-A631-58223468F73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交付的不只是答案，而是一個能重跑與審查的 bundle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F29B469-CA2D-4855-8FB8-863382B1C9D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39/40</a:t>
            </a:r>
          </a:p>
        </p:txBody>
      </p:sp>
      <p:sp>
        <p:nvSpPr>
          <p:cNvPr id="8" name="bundle-num-0">
            <a:extLst>
              <a:ext uri="{FF2B5EF4-FFF2-40B4-BE49-F238E27FC236}">
                <a16:creationId xmlns:a16="http://schemas.microsoft.com/office/drawing/2014/main" id="{E434F41B-DA58-459E-9B82-03043370C143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bundle-file-0">
            <a:extLst>
              <a:ext uri="{FF2B5EF4-FFF2-40B4-BE49-F238E27FC236}">
                <a16:creationId xmlns:a16="http://schemas.microsoft.com/office/drawing/2014/main" id="{432524EB-89FA-427D-BB9A-8F19FE075236}"/>
              </a:ext>
            </a:extLst>
          </p:cNvPr>
          <p:cNvSpPr>
            <a:spLocks noGrp="1"/>
          </p:cNvSpPr>
          <p:nvPr/>
        </p:nvSpPr>
        <p:spPr>
          <a:xfrm>
            <a:off x="1771650" y="17335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task_spec.md</a:t>
            </a:r>
          </a:p>
        </p:txBody>
      </p:sp>
      <p:sp>
        <p:nvSpPr>
          <p:cNvPr id="10" name="bundle-purpose-0">
            <a:extLst>
              <a:ext uri="{FF2B5EF4-FFF2-40B4-BE49-F238E27FC236}">
                <a16:creationId xmlns:a16="http://schemas.microsoft.com/office/drawing/2014/main" id="{33E6F8FC-CADE-46D3-8E7C-7225FE31E165}"/>
              </a:ext>
            </a:extLst>
          </p:cNvPr>
          <p:cNvSpPr>
            <a:spLocks noGrp="1"/>
          </p:cNvSpPr>
          <p:nvPr/>
        </p:nvSpPr>
        <p:spPr>
          <a:xfrm>
            <a:off x="5219700" y="17335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範圍與驗收標準</a:t>
            </a:r>
          </a:p>
        </p:txBody>
      </p:sp>
      <p:sp>
        <p:nvSpPr>
          <p:cNvPr id="11" name="bundle-num-1">
            <a:extLst>
              <a:ext uri="{FF2B5EF4-FFF2-40B4-BE49-F238E27FC236}">
                <a16:creationId xmlns:a16="http://schemas.microsoft.com/office/drawing/2014/main" id="{891AA429-398F-46F6-BFC0-2F67C1A15E67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bundle-file-1">
            <a:extLst>
              <a:ext uri="{FF2B5EF4-FFF2-40B4-BE49-F238E27FC236}">
                <a16:creationId xmlns:a16="http://schemas.microsoft.com/office/drawing/2014/main" id="{84EB9FB5-5F7B-4AC0-AA69-3025BDF2CEDD}"/>
              </a:ext>
            </a:extLst>
          </p:cNvPr>
          <p:cNvSpPr>
            <a:spLocks noGrp="1"/>
          </p:cNvSpPr>
          <p:nvPr/>
        </p:nvSpPr>
        <p:spPr>
          <a:xfrm>
            <a:off x="1771650" y="23622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query_log.demo.md</a:t>
            </a:r>
          </a:p>
        </p:txBody>
      </p:sp>
      <p:sp>
        <p:nvSpPr>
          <p:cNvPr id="13" name="bundle-purpose-1">
            <a:extLst>
              <a:ext uri="{FF2B5EF4-FFF2-40B4-BE49-F238E27FC236}">
                <a16:creationId xmlns:a16="http://schemas.microsoft.com/office/drawing/2014/main" id="{FD19CC67-D668-48AA-B5DC-EC099A9F248E}"/>
              </a:ext>
            </a:extLst>
          </p:cNvPr>
          <p:cNvSpPr>
            <a:spLocks noGrp="1"/>
          </p:cNvSpPr>
          <p:nvPr/>
        </p:nvSpPr>
        <p:spPr>
          <a:xfrm>
            <a:off x="5219700" y="2362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搜尋決策與停止規則</a:t>
            </a:r>
          </a:p>
        </p:txBody>
      </p:sp>
      <p:sp>
        <p:nvSpPr>
          <p:cNvPr id="14" name="bundle-num-2">
            <a:extLst>
              <a:ext uri="{FF2B5EF4-FFF2-40B4-BE49-F238E27FC236}">
                <a16:creationId xmlns:a16="http://schemas.microsoft.com/office/drawing/2014/main" id="{49FEF991-CD04-4A48-9FA5-700DBAF37914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bundle-file-2">
            <a:extLst>
              <a:ext uri="{FF2B5EF4-FFF2-40B4-BE49-F238E27FC236}">
                <a16:creationId xmlns:a16="http://schemas.microsoft.com/office/drawing/2014/main" id="{3FF1AFD8-D639-485B-A83B-EA8E32B1E774}"/>
              </a:ext>
            </a:extLst>
          </p:cNvPr>
          <p:cNvSpPr>
            <a:spLocks noGrp="1"/>
          </p:cNvSpPr>
          <p:nvPr/>
        </p:nvSpPr>
        <p:spPr>
          <a:xfrm>
            <a:off x="1771650" y="29908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source_inventory.csv</a:t>
            </a:r>
          </a:p>
        </p:txBody>
      </p:sp>
      <p:sp>
        <p:nvSpPr>
          <p:cNvPr id="16" name="bundle-purpose-2">
            <a:extLst>
              <a:ext uri="{FF2B5EF4-FFF2-40B4-BE49-F238E27FC236}">
                <a16:creationId xmlns:a16="http://schemas.microsoft.com/office/drawing/2014/main" id="{7D31A8B6-6E60-4D7A-8FB1-E93B3F015F4F}"/>
              </a:ext>
            </a:extLst>
          </p:cNvPr>
          <p:cNvSpPr>
            <a:spLocks noGrp="1"/>
          </p:cNvSpPr>
          <p:nvPr/>
        </p:nvSpPr>
        <p:spPr>
          <a:xfrm>
            <a:off x="5219700" y="2990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候選來源與驗證狀態</a:t>
            </a:r>
          </a:p>
        </p:txBody>
      </p:sp>
      <p:sp>
        <p:nvSpPr>
          <p:cNvPr id="17" name="bundle-num-3">
            <a:extLst>
              <a:ext uri="{FF2B5EF4-FFF2-40B4-BE49-F238E27FC236}">
                <a16:creationId xmlns:a16="http://schemas.microsoft.com/office/drawing/2014/main" id="{B4A5CB78-6390-4C04-A437-091FE279878B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bundle-file-3">
            <a:extLst>
              <a:ext uri="{FF2B5EF4-FFF2-40B4-BE49-F238E27FC236}">
                <a16:creationId xmlns:a16="http://schemas.microsoft.com/office/drawing/2014/main" id="{65ED108A-1559-42F7-B97C-DFBFE0D69D0C}"/>
              </a:ext>
            </a:extLst>
          </p:cNvPr>
          <p:cNvSpPr>
            <a:spLocks noGrp="1"/>
          </p:cNvSpPr>
          <p:nvPr/>
        </p:nvSpPr>
        <p:spPr>
          <a:xfrm>
            <a:off x="1771650" y="3619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evidence_table.demo.csv</a:t>
            </a:r>
          </a:p>
        </p:txBody>
      </p:sp>
      <p:sp>
        <p:nvSpPr>
          <p:cNvPr id="19" name="bundle-purpose-3">
            <a:extLst>
              <a:ext uri="{FF2B5EF4-FFF2-40B4-BE49-F238E27FC236}">
                <a16:creationId xmlns:a16="http://schemas.microsoft.com/office/drawing/2014/main" id="{0D5D822F-D053-483D-BDA2-F6D2104A68D1}"/>
              </a:ext>
            </a:extLst>
          </p:cNvPr>
          <p:cNvSpPr>
            <a:spLocks noGrp="1"/>
          </p:cNvSpPr>
          <p:nvPr/>
        </p:nvSpPr>
        <p:spPr>
          <a:xfrm>
            <a:off x="5219700" y="3619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atomic claims 與 evidence_kind</a:t>
            </a:r>
          </a:p>
        </p:txBody>
      </p:sp>
      <p:sp>
        <p:nvSpPr>
          <p:cNvPr id="20" name="bundle-num-4">
            <a:extLst>
              <a:ext uri="{FF2B5EF4-FFF2-40B4-BE49-F238E27FC236}">
                <a16:creationId xmlns:a16="http://schemas.microsoft.com/office/drawing/2014/main" id="{2839C1C2-EEF5-4B23-9F8C-52ECD2C4C8F5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bundle-file-4">
            <a:extLst>
              <a:ext uri="{FF2B5EF4-FFF2-40B4-BE49-F238E27FC236}">
                <a16:creationId xmlns:a16="http://schemas.microsoft.com/office/drawing/2014/main" id="{5C578E63-B9B7-4CCA-8326-B88D83A57FD9}"/>
              </a:ext>
            </a:extLst>
          </p:cNvPr>
          <p:cNvSpPr>
            <a:spLocks noGrp="1"/>
          </p:cNvSpPr>
          <p:nvPr/>
        </p:nvSpPr>
        <p:spPr>
          <a:xfrm>
            <a:off x="1771650" y="42481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evidence_review.demo.md</a:t>
            </a:r>
          </a:p>
        </p:txBody>
      </p:sp>
      <p:sp>
        <p:nvSpPr>
          <p:cNvPr id="22" name="bundle-purpose-4">
            <a:extLst>
              <a:ext uri="{FF2B5EF4-FFF2-40B4-BE49-F238E27FC236}">
                <a16:creationId xmlns:a16="http://schemas.microsoft.com/office/drawing/2014/main" id="{361EC7D2-5BCF-4480-857F-D8F5ABD93CDB}"/>
              </a:ext>
            </a:extLst>
          </p:cNvPr>
          <p:cNvSpPr>
            <a:spLocks noGrp="1"/>
          </p:cNvSpPr>
          <p:nvPr/>
        </p:nvSpPr>
        <p:spPr>
          <a:xfrm>
            <a:off x="5219700" y="4248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逐列查證與修正</a:t>
            </a:r>
          </a:p>
        </p:txBody>
      </p:sp>
      <p:sp>
        <p:nvSpPr>
          <p:cNvPr id="23" name="bundle-num-5">
            <a:extLst>
              <a:ext uri="{FF2B5EF4-FFF2-40B4-BE49-F238E27FC236}">
                <a16:creationId xmlns:a16="http://schemas.microsoft.com/office/drawing/2014/main" id="{2813CC92-4A4E-46C0-ACF8-3F7AB7755C45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bundle-file-5">
            <a:extLst>
              <a:ext uri="{FF2B5EF4-FFF2-40B4-BE49-F238E27FC236}">
                <a16:creationId xmlns:a16="http://schemas.microsoft.com/office/drawing/2014/main" id="{7B376943-B64C-4B48-ACE7-15817B368986}"/>
              </a:ext>
            </a:extLst>
          </p:cNvPr>
          <p:cNvSpPr>
            <a:spLocks noGrp="1"/>
          </p:cNvSpPr>
          <p:nvPr/>
        </p:nvSpPr>
        <p:spPr>
          <a:xfrm>
            <a:off x="1771650" y="48768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research_note.demo.md</a:t>
            </a:r>
          </a:p>
        </p:txBody>
      </p:sp>
      <p:sp>
        <p:nvSpPr>
          <p:cNvPr id="25" name="bundle-purpose-5">
            <a:extLst>
              <a:ext uri="{FF2B5EF4-FFF2-40B4-BE49-F238E27FC236}">
                <a16:creationId xmlns:a16="http://schemas.microsoft.com/office/drawing/2014/main" id="{9E8105AF-4E4B-4C1E-9DD4-C52D26C4A671}"/>
              </a:ext>
            </a:extLst>
          </p:cNvPr>
          <p:cNvSpPr>
            <a:spLocks noGrp="1"/>
          </p:cNvSpPr>
          <p:nvPr/>
        </p:nvSpPr>
        <p:spPr>
          <a:xfrm>
            <a:off x="5219700" y="4876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限制、缺口與下一步</a:t>
            </a:r>
          </a:p>
        </p:txBody>
      </p:sp>
      <p:sp>
        <p:nvSpPr>
          <p:cNvPr id="26" name="exit-gate">
            <a:extLst>
              <a:ext uri="{FF2B5EF4-FFF2-40B4-BE49-F238E27FC236}">
                <a16:creationId xmlns:a16="http://schemas.microsoft.com/office/drawing/2014/main" id="{88F22B38-039C-4D8C-A185-416C69880E57}"/>
              </a:ext>
            </a:extLst>
          </p:cNvPr>
          <p:cNvSpPr>
            <a:spLocks noGrp="1"/>
          </p:cNvSpPr>
          <p:nvPr/>
        </p:nvSpPr>
        <p:spPr>
          <a:xfrm>
            <a:off x="8667750" y="1676400"/>
            <a:ext cx="2724150" cy="3695700"/>
          </a:xfrm>
          <a:prstGeom prst="roundRect">
            <a:avLst>
              <a:gd name="adj" fmla="val 2797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exit-title">
            <a:extLst>
              <a:ext uri="{FF2B5EF4-FFF2-40B4-BE49-F238E27FC236}">
                <a16:creationId xmlns:a16="http://schemas.microsoft.com/office/drawing/2014/main" id="{EF7588FD-A645-4798-BE0C-5BC987C9C1A4}"/>
              </a:ext>
            </a:extLst>
          </p:cNvPr>
          <p:cNvSpPr>
            <a:spLocks noGrp="1"/>
          </p:cNvSpPr>
          <p:nvPr/>
        </p:nvSpPr>
        <p:spPr>
          <a:xfrm>
            <a:off x="8972550" y="19812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Exit gate</a:t>
            </a:r>
          </a:p>
        </p:txBody>
      </p:sp>
      <p:sp>
        <p:nvSpPr>
          <p:cNvPr id="28" name="exit-items">
            <a:extLst>
              <a:ext uri="{FF2B5EF4-FFF2-40B4-BE49-F238E27FC236}">
                <a16:creationId xmlns:a16="http://schemas.microsoft.com/office/drawing/2014/main" id="{D0826D2B-6BCD-48C6-A6FC-D7E6680007D2}"/>
              </a:ext>
            </a:extLst>
          </p:cNvPr>
          <p:cNvSpPr>
            <a:spLocks noGrp="1"/>
          </p:cNvSpPr>
          <p:nvPr/>
        </p:nvSpPr>
        <p:spPr>
          <a:xfrm>
            <a:off x="9163050" y="2819400"/>
            <a:ext cx="17526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每列可回查來源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sample_n 有語意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推測被隔離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not_found 有範圍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 review 有紀錄</a:t>
            </a:r>
          </a:p>
        </p:txBody>
      </p:sp>
    </p:spTree>
    <p:extLst>
      <p:ext uri="{BB962C8B-B14F-4D97-AF65-F5344CB8AC3E}">
        <p14:creationId xmlns:p14="http://schemas.microsoft.com/office/powerpoint/2010/main" val="193662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cent-rail-40">
            <a:extLst>
              <a:ext uri="{FF2B5EF4-FFF2-40B4-BE49-F238E27FC236}">
                <a16:creationId xmlns:a16="http://schemas.microsoft.com/office/drawing/2014/main" id="{BB34BBEC-FD08-42AD-A6F3-00EC4C292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40">
            <a:extLst>
              <a:ext uri="{FF2B5EF4-FFF2-40B4-BE49-F238E27FC236}">
                <a16:creationId xmlns:a16="http://schemas.microsoft.com/office/drawing/2014/main" id="{3A8A0645-3D28-4747-9462-00FE9073CB5D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8C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" name="progress-track-40">
            <a:extLst>
              <a:ext uri="{FF2B5EF4-FFF2-40B4-BE49-F238E27FC236}">
                <a16:creationId xmlns:a16="http://schemas.microsoft.com/office/drawing/2014/main" id="{5A01DFA5-2022-4A4B-9B7F-C48DAF9ED8BB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40">
            <a:extLst>
              <a:ext uri="{FF2B5EF4-FFF2-40B4-BE49-F238E27FC236}">
                <a16:creationId xmlns:a16="http://schemas.microsoft.com/office/drawing/2014/main" id="{828BC8A5-FDEB-4CCE-8D2B-6EA99D9EB9F3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61FF262-D226-4436-BFC6-0A6F6290FDAA}"/>
              </a:ext>
            </a:extLst>
          </p:cNvPr>
          <p:cNvSpPr>
            <a:spLocks noGrp="1"/>
          </p:cNvSpPr>
          <p:nvPr/>
        </p:nvSpPr>
        <p:spPr>
          <a:xfrm>
            <a:off x="1123950" y="12382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build and validate your own table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397411C-575A-4F10-B7BB-E0A5F6788B90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下一堂會把 PubMed / browser / CSV / validation script 接進 hands-on workflow</a:t>
            </a:r>
          </a:p>
        </p:txBody>
      </p:sp>
      <p:sp>
        <p:nvSpPr>
          <p:cNvPr id="7" name="next-Spec">
            <a:extLst>
              <a:ext uri="{FF2B5EF4-FFF2-40B4-BE49-F238E27FC236}">
                <a16:creationId xmlns:a16="http://schemas.microsoft.com/office/drawing/2014/main" id="{E5BEEEF8-049E-4120-81A5-18122C6D29A4}"/>
              </a:ext>
            </a:extLst>
          </p:cNvPr>
          <p:cNvSpPr>
            <a:spLocks noGrp="1"/>
          </p:cNvSpPr>
          <p:nvPr/>
        </p:nvSpPr>
        <p:spPr>
          <a:xfrm>
            <a:off x="2190750" y="390525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8" name="next-line-1">
            <a:extLst>
              <a:ext uri="{FF2B5EF4-FFF2-40B4-BE49-F238E27FC236}">
                <a16:creationId xmlns:a16="http://schemas.microsoft.com/office/drawing/2014/main" id="{0D88A58D-F2C1-461B-B0E5-85DDEB80DF72}"/>
              </a:ext>
            </a:extLst>
          </p:cNvPr>
          <p:cNvSpPr>
            <a:spLocks noGrp="1"/>
          </p:cNvSpPr>
          <p:nvPr/>
        </p:nvSpPr>
        <p:spPr>
          <a:xfrm>
            <a:off x="3448050" y="4171950"/>
            <a:ext cx="647700" cy="0"/>
          </a:xfrm>
          <a:prstGeom prst="line">
            <a:avLst/>
          </a:prstGeom>
          <a:noFill/>
          <a:ln w="14288">
            <a:solidFill>
              <a:srgbClr val="8FA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next-Sources">
            <a:extLst>
              <a:ext uri="{FF2B5EF4-FFF2-40B4-BE49-F238E27FC236}">
                <a16:creationId xmlns:a16="http://schemas.microsoft.com/office/drawing/2014/main" id="{8449CC70-4644-4796-92AF-A65C854E6817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0" name="next-line-2">
            <a:extLst>
              <a:ext uri="{FF2B5EF4-FFF2-40B4-BE49-F238E27FC236}">
                <a16:creationId xmlns:a16="http://schemas.microsoft.com/office/drawing/2014/main" id="{D6B3F5BB-4EB8-4FBD-9E21-E238FAFF5453}"/>
              </a:ext>
            </a:extLst>
          </p:cNvPr>
          <p:cNvSpPr>
            <a:spLocks noGrp="1"/>
          </p:cNvSpPr>
          <p:nvPr/>
        </p:nvSpPr>
        <p:spPr>
          <a:xfrm>
            <a:off x="5353050" y="4171950"/>
            <a:ext cx="762000" cy="0"/>
          </a:xfrm>
          <a:prstGeom prst="line">
            <a:avLst/>
          </a:prstGeom>
          <a:noFill/>
          <a:ln w="14288">
            <a:solidFill>
              <a:srgbClr val="8FA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next-Table">
            <a:extLst>
              <a:ext uri="{FF2B5EF4-FFF2-40B4-BE49-F238E27FC236}">
                <a16:creationId xmlns:a16="http://schemas.microsoft.com/office/drawing/2014/main" id="{EB89A8E0-DDEC-4156-A3B1-C89D61C1C22D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2" name="next-line-3">
            <a:extLst>
              <a:ext uri="{FF2B5EF4-FFF2-40B4-BE49-F238E27FC236}">
                <a16:creationId xmlns:a16="http://schemas.microsoft.com/office/drawing/2014/main" id="{4E27B0C6-05E2-444B-A13D-C1CF402CE4F2}"/>
              </a:ext>
            </a:extLst>
          </p:cNvPr>
          <p:cNvSpPr>
            <a:spLocks noGrp="1"/>
          </p:cNvSpPr>
          <p:nvPr/>
        </p:nvSpPr>
        <p:spPr>
          <a:xfrm>
            <a:off x="7372350" y="4171950"/>
            <a:ext cx="647700" cy="0"/>
          </a:xfrm>
          <a:prstGeom prst="line">
            <a:avLst/>
          </a:prstGeom>
          <a:noFill/>
          <a:ln w="14288">
            <a:solidFill>
              <a:srgbClr val="8FA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next-Review">
            <a:extLst>
              <a:ext uri="{FF2B5EF4-FFF2-40B4-BE49-F238E27FC236}">
                <a16:creationId xmlns:a16="http://schemas.microsoft.com/office/drawing/2014/main" id="{62B5A9EB-5DE3-463F-B4A8-72C0B9EABD56}"/>
              </a:ext>
            </a:extLst>
          </p:cNvPr>
          <p:cNvSpPr>
            <a:spLocks noGrp="1"/>
          </p:cNvSpPr>
          <p:nvPr/>
        </p:nvSpPr>
        <p:spPr>
          <a:xfrm>
            <a:off x="8020050" y="390525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4" name="wrap">
            <a:extLst>
              <a:ext uri="{FF2B5EF4-FFF2-40B4-BE49-F238E27FC236}">
                <a16:creationId xmlns:a16="http://schemas.microsoft.com/office/drawing/2014/main" id="{0F558D21-AC3E-4883-B15F-F6CAA7780C57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Lesson 04 看完整示範；Lesson 05 開始自己做，並用檢查規則讓表格能被信任。</a:t>
            </a:r>
          </a:p>
        </p:txBody>
      </p:sp>
      <p:sp>
        <p:nvSpPr>
          <p:cNvPr id="15" name="footer-dark">
            <a:extLst>
              <a:ext uri="{FF2B5EF4-FFF2-40B4-BE49-F238E27FC236}">
                <a16:creationId xmlns:a16="http://schemas.microsoft.com/office/drawing/2014/main" id="{8DCAC391-8EF1-47CD-B690-2B9C9B24B82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Desktop agent literature workflow  |  40/40</a:t>
            </a:r>
          </a:p>
        </p:txBody>
      </p:sp>
    </p:spTree>
    <p:extLst>
      <p:ext uri="{BB962C8B-B14F-4D97-AF65-F5344CB8AC3E}">
        <p14:creationId xmlns:p14="http://schemas.microsoft.com/office/powerpoint/2010/main" val="1048258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242cf33b-d1ac-4324-a4b3-b1888b1e51d7"/>
  <p:tag name="SLIDO_EVENT_UUID" val="e2d9f7ff-f85e-4ab0-8890-6578286c9a55"/>
  <p:tag name="SLIDO_EVENT_SECTION_UUID" val="e8fdda0e-adda-4622-ba61-bbebd386af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Q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2736</Words>
  <Application>Microsoft Macintosh PowerPoint</Application>
  <DocSecurity>0</DocSecurity>
  <PresentationFormat>寬螢幕</PresentationFormat>
  <Paragraphs>717</Paragraphs>
  <Slides>41</Slides>
  <Notes>40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6" baseType="lpstr">
      <vt:lpstr>PingFang TC</vt:lpstr>
      <vt:lpstr>Aptos</vt:lpstr>
      <vt:lpstr>Calibri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Michael Nostalgie Chiu</cp:lastModifiedBy>
  <cp:revision>2</cp:revision>
  <dcterms:created xsi:type="dcterms:W3CDTF">2026-07-10T01:25:05Z</dcterms:created>
  <dcterms:modified xsi:type="dcterms:W3CDTF">2026-07-11T03:52:18Z</dcterms:modified>
</cp:coreProperties>
</file>