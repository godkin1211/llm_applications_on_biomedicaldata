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6af439140440c5" /><Relationship Type="http://schemas.openxmlformats.org/officeDocument/2006/relationships/extended-properties" Target="/docProps/app.xml" Id="Rb93e0aeb86954657" /><Relationship Type="http://schemas.openxmlformats.org/officeDocument/2006/relationships/officeDocument" Target="/ppt/presentation.xml" Id="R7c03ed95af804e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29b1e7d7684d88"/>
  </p:sldMasterIdLst>
  <p:notesMasterIdLst>
    <p:notesMasterId xmlns:r="http://schemas.openxmlformats.org/officeDocument/2006/relationships" r:id="Rd91d7608b4a84a0b"/>
  </p:notesMasterIdLst>
  <p:sldIdLst>
    <p:sldId xmlns:r="http://schemas.openxmlformats.org/officeDocument/2006/relationships" id="256" r:id="Rab8f583997c245db"/>
    <p:sldId xmlns:r="http://schemas.openxmlformats.org/officeDocument/2006/relationships" id="257" r:id="R00ff531942e34e2b"/>
    <p:sldId xmlns:r="http://schemas.openxmlformats.org/officeDocument/2006/relationships" id="258" r:id="R7121f5bc389c457d"/>
    <p:sldId xmlns:r="http://schemas.openxmlformats.org/officeDocument/2006/relationships" id="259" r:id="Rc51a4435fb5f4b3f"/>
    <p:sldId xmlns:r="http://schemas.openxmlformats.org/officeDocument/2006/relationships" id="260" r:id="Rf3430ef7ee6849ad"/>
    <p:sldId xmlns:r="http://schemas.openxmlformats.org/officeDocument/2006/relationships" id="261" r:id="Rfaad3c64258e49f3"/>
    <p:sldId xmlns:r="http://schemas.openxmlformats.org/officeDocument/2006/relationships" id="262" r:id="R49bb0ddda88e4bbe"/>
    <p:sldId xmlns:r="http://schemas.openxmlformats.org/officeDocument/2006/relationships" id="263" r:id="Ra1cc51609d69418d"/>
    <p:sldId xmlns:r="http://schemas.openxmlformats.org/officeDocument/2006/relationships" id="264" r:id="Rc51c03f8f0214397"/>
    <p:sldId xmlns:r="http://schemas.openxmlformats.org/officeDocument/2006/relationships" id="265" r:id="R08b0026b21804248"/>
    <p:sldId xmlns:r="http://schemas.openxmlformats.org/officeDocument/2006/relationships" id="266" r:id="Rafb91e9baf9442be"/>
    <p:sldId xmlns:r="http://schemas.openxmlformats.org/officeDocument/2006/relationships" id="267" r:id="R3df73ad5d9da43d8"/>
    <p:sldId xmlns:r="http://schemas.openxmlformats.org/officeDocument/2006/relationships" id="268" r:id="R6006cfd0c6344ccf"/>
    <p:sldId xmlns:r="http://schemas.openxmlformats.org/officeDocument/2006/relationships" id="269" r:id="R9253f43fb1b949ca"/>
    <p:sldId xmlns:r="http://schemas.openxmlformats.org/officeDocument/2006/relationships" id="270" r:id="Rafaf55b21ca54114"/>
    <p:sldId xmlns:r="http://schemas.openxmlformats.org/officeDocument/2006/relationships" id="271" r:id="R1fb993e8e22b49f8"/>
    <p:sldId xmlns:r="http://schemas.openxmlformats.org/officeDocument/2006/relationships" id="272" r:id="Rd320f194c5124076"/>
    <p:sldId xmlns:r="http://schemas.openxmlformats.org/officeDocument/2006/relationships" id="273" r:id="R665483f904b84520"/>
    <p:sldId xmlns:r="http://schemas.openxmlformats.org/officeDocument/2006/relationships" id="274" r:id="R58812768ebf7433e"/>
    <p:sldId xmlns:r="http://schemas.openxmlformats.org/officeDocument/2006/relationships" id="275" r:id="Ra1c1f72705ab4e2b"/>
    <p:sldId xmlns:r="http://schemas.openxmlformats.org/officeDocument/2006/relationships" id="276" r:id="Rc15262ecda894cd9"/>
    <p:sldId xmlns:r="http://schemas.openxmlformats.org/officeDocument/2006/relationships" id="277" r:id="Rf513ab021d0847a6"/>
    <p:sldId xmlns:r="http://schemas.openxmlformats.org/officeDocument/2006/relationships" id="278" r:id="R2d118d6e8ec34c66"/>
    <p:sldId xmlns:r="http://schemas.openxmlformats.org/officeDocument/2006/relationships" id="279" r:id="Rc5fc9eaf2d874d76"/>
    <p:sldId xmlns:r="http://schemas.openxmlformats.org/officeDocument/2006/relationships" id="280" r:id="R02d481b4ea7c442f"/>
    <p:sldId xmlns:r="http://schemas.openxmlformats.org/officeDocument/2006/relationships" id="281" r:id="Rae7338b5de744f47"/>
    <p:sldId xmlns:r="http://schemas.openxmlformats.org/officeDocument/2006/relationships" id="282" r:id="R49f2d828762846c7"/>
    <p:sldId xmlns:r="http://schemas.openxmlformats.org/officeDocument/2006/relationships" id="283" r:id="Rc03a6e7e94514fe7"/>
    <p:sldId xmlns:r="http://schemas.openxmlformats.org/officeDocument/2006/relationships" id="284" r:id="Ra711b31961f44ef0"/>
    <p:sldId xmlns:r="http://schemas.openxmlformats.org/officeDocument/2006/relationships" id="285" r:id="R42f547aa3fc540ce"/>
    <p:sldId xmlns:r="http://schemas.openxmlformats.org/officeDocument/2006/relationships" id="286" r:id="Rca96a047e8374ebd"/>
    <p:sldId xmlns:r="http://schemas.openxmlformats.org/officeDocument/2006/relationships" id="287" r:id="R7e96961040f7476b"/>
    <p:sldId xmlns:r="http://schemas.openxmlformats.org/officeDocument/2006/relationships" id="288" r:id="Rd322c33e93cd44d4"/>
    <p:sldId xmlns:r="http://schemas.openxmlformats.org/officeDocument/2006/relationships" id="289" r:id="R6a3058f88e1c4b90"/>
    <p:sldId xmlns:r="http://schemas.openxmlformats.org/officeDocument/2006/relationships" id="290" r:id="Re43895e6d12a4fc8"/>
    <p:sldId xmlns:r="http://schemas.openxmlformats.org/officeDocument/2006/relationships" id="291" r:id="Rc00d4c5681684160"/>
    <p:sldId xmlns:r="http://schemas.openxmlformats.org/officeDocument/2006/relationships" id="292" r:id="R11de10784b194347"/>
    <p:sldId xmlns:r="http://schemas.openxmlformats.org/officeDocument/2006/relationships" id="293" r:id="Rdd85b0f886b141e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9d4f0854df451d" /><Relationship Type="http://schemas.openxmlformats.org/officeDocument/2006/relationships/slideMaster" Target="/ppt/slideMasters/slideMaster1.xml" Id="R2f29b1e7d7684d88" /><Relationship Type="http://schemas.openxmlformats.org/officeDocument/2006/relationships/notesMaster" Target="/ppt/notesMasters/notesMaster1.xml" Id="Rd91d7608b4a84a0b" /><Relationship Type="http://schemas.openxmlformats.org/officeDocument/2006/relationships/presProps" Target="/ppt/presProps.xml" Id="Re1e5dd76838949a3" /><Relationship Type="http://schemas.openxmlformats.org/officeDocument/2006/relationships/tableStyles" Target="/ppt/tableStyles.xml" Id="R98fcdba00a044ee7" /><Relationship Type="http://schemas.openxmlformats.org/officeDocument/2006/relationships/slide" Target="/ppt/slides/slide1.xml" Id="Rab8f583997c245db" /><Relationship Type="http://schemas.openxmlformats.org/officeDocument/2006/relationships/slide" Target="/ppt/slides/slide2.xml" Id="R00ff531942e34e2b" /><Relationship Type="http://schemas.openxmlformats.org/officeDocument/2006/relationships/slide" Target="/ppt/slides/slide3.xml" Id="R7121f5bc389c457d" /><Relationship Type="http://schemas.openxmlformats.org/officeDocument/2006/relationships/slide" Target="/ppt/slides/slide4.xml" Id="Rc51a4435fb5f4b3f" /><Relationship Type="http://schemas.openxmlformats.org/officeDocument/2006/relationships/slide" Target="/ppt/slides/slide5.xml" Id="Rf3430ef7ee6849ad" /><Relationship Type="http://schemas.openxmlformats.org/officeDocument/2006/relationships/slide" Target="/ppt/slides/slide6.xml" Id="Rfaad3c64258e49f3" /><Relationship Type="http://schemas.openxmlformats.org/officeDocument/2006/relationships/slide" Target="/ppt/slides/slide7.xml" Id="R49bb0ddda88e4bbe" /><Relationship Type="http://schemas.openxmlformats.org/officeDocument/2006/relationships/slide" Target="/ppt/slides/slide8.xml" Id="Ra1cc51609d69418d" /><Relationship Type="http://schemas.openxmlformats.org/officeDocument/2006/relationships/slide" Target="/ppt/slides/slide9.xml" Id="Rc51c03f8f0214397" /><Relationship Type="http://schemas.openxmlformats.org/officeDocument/2006/relationships/slide" Target="/ppt/slides/slide10.xml" Id="R08b0026b21804248" /><Relationship Type="http://schemas.openxmlformats.org/officeDocument/2006/relationships/slide" Target="/ppt/slides/slide11.xml" Id="Rafb91e9baf9442be" /><Relationship Type="http://schemas.openxmlformats.org/officeDocument/2006/relationships/slide" Target="/ppt/slides/slide12.xml" Id="R3df73ad5d9da43d8" /><Relationship Type="http://schemas.openxmlformats.org/officeDocument/2006/relationships/slide" Target="/ppt/slides/slide13.xml" Id="R6006cfd0c6344ccf" /><Relationship Type="http://schemas.openxmlformats.org/officeDocument/2006/relationships/slide" Target="/ppt/slides/slide14.xml" Id="R9253f43fb1b949ca" /><Relationship Type="http://schemas.openxmlformats.org/officeDocument/2006/relationships/slide" Target="/ppt/slides/slide15.xml" Id="Rafaf55b21ca54114" /><Relationship Type="http://schemas.openxmlformats.org/officeDocument/2006/relationships/slide" Target="/ppt/slides/slide16.xml" Id="R1fb993e8e22b49f8" /><Relationship Type="http://schemas.openxmlformats.org/officeDocument/2006/relationships/slide" Target="/ppt/slides/slide17.xml" Id="Rd320f194c5124076" /><Relationship Type="http://schemas.openxmlformats.org/officeDocument/2006/relationships/slide" Target="/ppt/slides/slide18.xml" Id="R665483f904b84520" /><Relationship Type="http://schemas.openxmlformats.org/officeDocument/2006/relationships/slide" Target="/ppt/slides/slide19.xml" Id="R58812768ebf7433e" /><Relationship Type="http://schemas.openxmlformats.org/officeDocument/2006/relationships/slide" Target="/ppt/slides/slide20.xml" Id="Ra1c1f72705ab4e2b" /><Relationship Type="http://schemas.openxmlformats.org/officeDocument/2006/relationships/slide" Target="/ppt/slides/slide21.xml" Id="Rc15262ecda894cd9" /><Relationship Type="http://schemas.openxmlformats.org/officeDocument/2006/relationships/slide" Target="/ppt/slides/slide22.xml" Id="Rf513ab021d0847a6" /><Relationship Type="http://schemas.openxmlformats.org/officeDocument/2006/relationships/slide" Target="/ppt/slides/slide23.xml" Id="R2d118d6e8ec34c66" /><Relationship Type="http://schemas.openxmlformats.org/officeDocument/2006/relationships/slide" Target="/ppt/slides/slide24.xml" Id="Rc5fc9eaf2d874d76" /><Relationship Type="http://schemas.openxmlformats.org/officeDocument/2006/relationships/slide" Target="/ppt/slides/slide25.xml" Id="R02d481b4ea7c442f" /><Relationship Type="http://schemas.openxmlformats.org/officeDocument/2006/relationships/slide" Target="/ppt/slides/slide26.xml" Id="Rae7338b5de744f47" /><Relationship Type="http://schemas.openxmlformats.org/officeDocument/2006/relationships/slide" Target="/ppt/slides/slide27.xml" Id="R49f2d828762846c7" /><Relationship Type="http://schemas.openxmlformats.org/officeDocument/2006/relationships/slide" Target="/ppt/slides/slide28.xml" Id="Rc03a6e7e94514fe7" /><Relationship Type="http://schemas.openxmlformats.org/officeDocument/2006/relationships/slide" Target="/ppt/slides/slide29.xml" Id="Ra711b31961f44ef0" /><Relationship Type="http://schemas.openxmlformats.org/officeDocument/2006/relationships/slide" Target="/ppt/slides/slide30.xml" Id="R42f547aa3fc540ce" /><Relationship Type="http://schemas.openxmlformats.org/officeDocument/2006/relationships/slide" Target="/ppt/slides/slide31.xml" Id="Rca96a047e8374ebd" /><Relationship Type="http://schemas.openxmlformats.org/officeDocument/2006/relationships/slide" Target="/ppt/slides/slide32.xml" Id="R7e96961040f7476b" /><Relationship Type="http://schemas.openxmlformats.org/officeDocument/2006/relationships/slide" Target="/ppt/slides/slide33.xml" Id="Rd322c33e93cd44d4" /><Relationship Type="http://schemas.openxmlformats.org/officeDocument/2006/relationships/slide" Target="/ppt/slides/slide34.xml" Id="R6a3058f88e1c4b90" /><Relationship Type="http://schemas.openxmlformats.org/officeDocument/2006/relationships/slide" Target="/ppt/slides/slide35.xml" Id="Re43895e6d12a4fc8" /><Relationship Type="http://schemas.openxmlformats.org/officeDocument/2006/relationships/slide" Target="/ppt/slides/slide36.xml" Id="Rc00d4c5681684160" /><Relationship Type="http://schemas.openxmlformats.org/officeDocument/2006/relationships/slide" Target="/ppt/slides/slide37.xml" Id="R11de10784b194347" /><Relationship Type="http://schemas.openxmlformats.org/officeDocument/2006/relationships/slide" Target="/ppt/slides/slide38.xml" Id="Rdd85b0f886b141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32ff11241a4c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601478635a44c6" /><Relationship Type="http://schemas.openxmlformats.org/officeDocument/2006/relationships/notesMaster" Target="/ppt/notesMasters/notesMaster1.xml" Id="Rb646ac7206d64b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5621fb4b834281" /><Relationship Type="http://schemas.openxmlformats.org/officeDocument/2006/relationships/notesMaster" Target="/ppt/notesMasters/notesMaster1.xml" Id="R58f3ef57ab5640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3b729e958e4278" /><Relationship Type="http://schemas.openxmlformats.org/officeDocument/2006/relationships/notesMaster" Target="/ppt/notesMasters/notesMaster1.xml" Id="Re66fce120b764d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120232e59d49e4" /><Relationship Type="http://schemas.openxmlformats.org/officeDocument/2006/relationships/notesMaster" Target="/ppt/notesMasters/notesMaster1.xml" Id="Rfbf14d3be20a4c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56881102a24093" /><Relationship Type="http://schemas.openxmlformats.org/officeDocument/2006/relationships/notesMaster" Target="/ppt/notesMasters/notesMaster1.xml" Id="Rb138d3e0796a41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dbc2f9f822457c" /><Relationship Type="http://schemas.openxmlformats.org/officeDocument/2006/relationships/notesMaster" Target="/ppt/notesMasters/notesMaster1.xml" Id="R56ef2f30bd1f45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f56a4c37bf4468e" /><Relationship Type="http://schemas.openxmlformats.org/officeDocument/2006/relationships/notesMaster" Target="/ppt/notesMasters/notesMaster1.xml" Id="Rb37b98c55b5944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afcf72e33b4f7e" /><Relationship Type="http://schemas.openxmlformats.org/officeDocument/2006/relationships/notesMaster" Target="/ppt/notesMasters/notesMaster1.xml" Id="R061495811e2344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a2d00235624c7d" /><Relationship Type="http://schemas.openxmlformats.org/officeDocument/2006/relationships/notesMaster" Target="/ppt/notesMasters/notesMaster1.xml" Id="R7409ab172ed54a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b65337a99e4713" /><Relationship Type="http://schemas.openxmlformats.org/officeDocument/2006/relationships/notesMaster" Target="/ppt/notesMasters/notesMaster1.xml" Id="R900a81cb786843b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4b70b3279554bf1" /><Relationship Type="http://schemas.openxmlformats.org/officeDocument/2006/relationships/notesMaster" Target="/ppt/notesMasters/notesMaster1.xml" Id="R6b1d4dbf5e93429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e8e79d4d9b74176" /><Relationship Type="http://schemas.openxmlformats.org/officeDocument/2006/relationships/notesMaster" Target="/ppt/notesMasters/notesMaster1.xml" Id="R46dc54849ccc494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3da33c1e320426d" /><Relationship Type="http://schemas.openxmlformats.org/officeDocument/2006/relationships/notesMaster" Target="/ppt/notesMasters/notesMaster1.xml" Id="R3bbc19b5badf4cd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890b67a56d84a0e" /><Relationship Type="http://schemas.openxmlformats.org/officeDocument/2006/relationships/notesMaster" Target="/ppt/notesMasters/notesMaster1.xml" Id="R5277af44738a426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553acd107534a93" /><Relationship Type="http://schemas.openxmlformats.org/officeDocument/2006/relationships/notesMaster" Target="/ppt/notesMasters/notesMaster1.xml" Id="Red542d17d76b422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d78fa683d724b9b" /><Relationship Type="http://schemas.openxmlformats.org/officeDocument/2006/relationships/notesMaster" Target="/ppt/notesMasters/notesMaster1.xml" Id="R49849dfb64984f8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2a4cda9ff1043b8" /><Relationship Type="http://schemas.openxmlformats.org/officeDocument/2006/relationships/notesMaster" Target="/ppt/notesMasters/notesMaster1.xml" Id="R6737527cfeb2415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83341457b5d4273" /><Relationship Type="http://schemas.openxmlformats.org/officeDocument/2006/relationships/notesMaster" Target="/ppt/notesMasters/notesMaster1.xml" Id="R56a8c9135d7244a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04af98c81b04a71" /><Relationship Type="http://schemas.openxmlformats.org/officeDocument/2006/relationships/notesMaster" Target="/ppt/notesMasters/notesMaster1.xml" Id="R0068412a29e74bb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678c2769c1c4187" /><Relationship Type="http://schemas.openxmlformats.org/officeDocument/2006/relationships/notesMaster" Target="/ppt/notesMasters/notesMaster1.xml" Id="R86a514aac30b49e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7e00a3f8de2400d" /><Relationship Type="http://schemas.openxmlformats.org/officeDocument/2006/relationships/notesMaster" Target="/ppt/notesMasters/notesMaster1.xml" Id="R64d754a41f1c42f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a96dcbf2bc14184" /><Relationship Type="http://schemas.openxmlformats.org/officeDocument/2006/relationships/notesMaster" Target="/ppt/notesMasters/notesMaster1.xml" Id="Ree01235ae654401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0b5eea12e764a43" /><Relationship Type="http://schemas.openxmlformats.org/officeDocument/2006/relationships/notesMaster" Target="/ppt/notesMasters/notesMaster1.xml" Id="Rccb005551e604bf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08bd4005f764384" /><Relationship Type="http://schemas.openxmlformats.org/officeDocument/2006/relationships/notesMaster" Target="/ppt/notesMasters/notesMaster1.xml" Id="R64ea467e26a84fc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0e29554a3b84e11" /><Relationship Type="http://schemas.openxmlformats.org/officeDocument/2006/relationships/notesMaster" Target="/ppt/notesMasters/notesMaster1.xml" Id="R1aa3d4b00b0f43b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e8b3a4613514ee2" /><Relationship Type="http://schemas.openxmlformats.org/officeDocument/2006/relationships/notesMaster" Target="/ppt/notesMasters/notesMaster1.xml" Id="Rc2782755e097454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ce2595d77054ed2" /><Relationship Type="http://schemas.openxmlformats.org/officeDocument/2006/relationships/notesMaster" Target="/ppt/notesMasters/notesMaster1.xml" Id="Rb914e1e1feb5406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27b559e4fae4ee7" /><Relationship Type="http://schemas.openxmlformats.org/officeDocument/2006/relationships/notesMaster" Target="/ppt/notesMasters/notesMaster1.xml" Id="Rca060f3609da4a3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0be2a163a864adb" /><Relationship Type="http://schemas.openxmlformats.org/officeDocument/2006/relationships/notesMaster" Target="/ppt/notesMasters/notesMaster1.xml" Id="R56b767cf21e241c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a60a0ee64594e81" /><Relationship Type="http://schemas.openxmlformats.org/officeDocument/2006/relationships/notesMaster" Target="/ppt/notesMasters/notesMaster1.xml" Id="R1fe4252d600f47c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fe0e219f20b4541" /><Relationship Type="http://schemas.openxmlformats.org/officeDocument/2006/relationships/notesMaster" Target="/ppt/notesMasters/notesMaster1.xml" Id="Rd0381f47da66490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cbe7db3c0ce4fee" /><Relationship Type="http://schemas.openxmlformats.org/officeDocument/2006/relationships/notesMaster" Target="/ppt/notesMasters/notesMaster1.xml" Id="R4f1d59d80d71457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2e64f5369894c69" /><Relationship Type="http://schemas.openxmlformats.org/officeDocument/2006/relationships/notesMaster" Target="/ppt/notesMasters/notesMaster1.xml" Id="R9eac3e5268cf486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77c5e21d80d43ec" /><Relationship Type="http://schemas.openxmlformats.org/officeDocument/2006/relationships/notesMaster" Target="/ppt/notesMasters/notesMaster1.xml" Id="Rf3ccaabf17a142a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48216bc823e49f3" /><Relationship Type="http://schemas.openxmlformats.org/officeDocument/2006/relationships/notesMaster" Target="/ppt/notesMasters/notesMaster1.xml" Id="Ra47f438db563435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b4bb9bc43654047" /><Relationship Type="http://schemas.openxmlformats.org/officeDocument/2006/relationships/notesMaster" Target="/ppt/notesMasters/notesMaster1.xml" Id="Re857a6aa4d90444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cff694103a84732" /><Relationship Type="http://schemas.openxmlformats.org/officeDocument/2006/relationships/notesMaster" Target="/ppt/notesMasters/notesMaster1.xml" Id="R20fe07f33c76401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795f3ff347245ab" /><Relationship Type="http://schemas.openxmlformats.org/officeDocument/2006/relationships/notesMaster" Target="/ppt/notesMasters/notesMaster1.xml" Id="R1130a2b6628240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這堂課是實作課。學生要做出 evidence table，並且學會檢查 citation、claim、confidence 和人工修正。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這堂課安排兩段示範和兩段學生實作。老師要提醒：初版 table 不算完成，review 後才算。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這張建立全課流程。Agent draft 只是初稿，不是結果。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提醒學生縮小問題，避免太大題目讓 agent 生成空泛摘要。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Hands-on 課最常見錯誤：prompt 太大、欄位太少、沒有驗證規則。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Task spec 是這堂 lab 的實驗 protocol。不要說：幫我整理。</a:t>
            </a:r>
          </a:p>
          <a:p xmlns:a="http://schemas.openxmlformats.org/drawingml/2006/main">
            <a:r>
              <a:t>要說：照規格建表。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這一頁讓學生先填，不要讓 agent 猜你的作業規格。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欄位設計是安全設計。讓學生知道 schema 不是行政表格，而是錯誤偵測工具。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欄位多一點不是為了漂亮，是為了讓錯誤比較難躲起來。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Confidence 不是心情，是 evidence 規則。逐列說明欄位和檢查方式。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Codex 適合讀寫資料夾、產生 CSV、跑檢查程式、根據 reviewer correction 修改檔案。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資料夾就是 workflow 的記憶。每一步輸出都留下來。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先把 scope 寫死，否則 agent 很容易把題目越做越大。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這個 prompt 的重點是：先讀規格、先用來源、缺證據就停止。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修正階段要把人工 review 當權威，不要讓 agent 自己再發揮一次。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先檢查表格結構，再討論內容品質。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程式檢查抓格式，人工檢查抓真假。兩個都要。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Gemini 可以當資料探索和初步整理範例，但 citation 仍然要人工打開確認。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Gemini 這一步只做 source discovery，不急著讓它下結論。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Gemini 初稿可以快，但每個 PMID / DOI 仍要自己點開查。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兩條路都可以；最後都必須回到人工驗證。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現在開始不是看老師表演，是讓 agent 替你產生可檢查的初稿。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先選題，再縮小 scope。題目越小，</a:t>
            </a:r>
          </a:p>
          <a:p xmlns:a="http://schemas.openxmlformats.org/drawingml/2006/main">
            <a:r>
              <a:t>越能驗證。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 task spec 交給 agent，而不是交給命運。規格越清楚，</a:t>
            </a:r>
          </a:p>
          <a:p xmlns:a="http://schemas.openxmlformats.org/drawingml/2006/main">
            <a:r>
              <a:t>AI 越少亂補。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讓 agent 產生初版，不要急著相信。初版只是草稿，</a:t>
            </a:r>
          </a:p>
          <a:p xmlns:a="http://schemas.openxmlformats.org/drawingml/2006/main">
            <a:r>
              <a:t>不是成果。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每列都要能被人打開來源檢查；不能只是一句漂亮摘要。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這是整堂課最重要的地方：抓出 agent 看起來很會、其實沒查好的地方。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這張是 review checklist，可以要求學生實際對每列 table 勾選。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人工 review 常會抓到這些錯。逐列說明欄位和檢查方式。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讓學生把人工檢查寫下來，不要只在心裡覺得有看過。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summary 要反映 review 後的結果，不是 agent 初稿的興奮程度。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最後 8 分鐘收斂成果：能不能交出可查、可改、可重現的 table。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這堂 hands-on 要看的是 workflow，不是誰問得最華麗。逐列說明欄位和檢查方式。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老師示範時可以故意讓 agent 犯一次錯。抓錯比產生更有教育價值。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學生卡住時，先問是哪一層壞掉。卡住不是失敗，</a:t>
            </a:r>
          </a:p>
          <a:p xmlns:a="http://schemas.openxmlformats.org/drawingml/2006/main">
            <a:r>
              <a:t>是 workflow 在提醒你檢查。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學生慌掉時，用 audit prompt 把 agent 拉回檢查模式。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今天學到的不是做表格，是做可驗證的 AI workflow。AI 加速整理，</a:t>
            </a:r>
          </a:p>
          <a:p xmlns:a="http://schemas.openxmlformats.org/drawingml/2006/main">
            <a:r>
              <a:t>人負責可信度。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收束：學生最後交的是 human-reviewed artifact。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423a6385fe42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a1e1d9ea114851" /><Relationship Type="http://schemas.openxmlformats.org/officeDocument/2006/relationships/slideLayout" Target="/ppt/slideLayouts/slideLayout1.xml" Id="R32466f37021c46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466f37021c46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0b2618b878498a" /><Relationship Type="http://schemas.openxmlformats.org/officeDocument/2006/relationships/notesSlide" Target="/ppt/notesSlides/notesSlide1.xml" Id="R45ca590e4c0448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67b0151b94c9f" /><Relationship Type="http://schemas.openxmlformats.org/officeDocument/2006/relationships/notesSlide" Target="/ppt/notesSlides/notesSlide2.xml" Id="R5fd31fe9e4aa4c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2f77a757854d55" /><Relationship Type="http://schemas.openxmlformats.org/officeDocument/2006/relationships/notesSlide" Target="/ppt/notesSlides/notesSlide3.xml" Id="Rf526d88d3a8a48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2f39cb82540e4" /><Relationship Type="http://schemas.openxmlformats.org/officeDocument/2006/relationships/notesSlide" Target="/ppt/notesSlides/notesSlide4.xml" Id="R22ac74fdd2d646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01c7b95f8a45f0" /><Relationship Type="http://schemas.openxmlformats.org/officeDocument/2006/relationships/notesSlide" Target="/ppt/notesSlides/notesSlide5.xml" Id="Rdb7932523a0040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4284eed8144f8c" /><Relationship Type="http://schemas.openxmlformats.org/officeDocument/2006/relationships/notesSlide" Target="/ppt/notesSlides/notesSlide6.xml" Id="R4d00cebf2b434c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64a59b0daf40ce" /><Relationship Type="http://schemas.openxmlformats.org/officeDocument/2006/relationships/notesSlide" Target="/ppt/notesSlides/notesSlide7.xml" Id="R612047e585eb4e9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cb4a17e1954bef" /><Relationship Type="http://schemas.openxmlformats.org/officeDocument/2006/relationships/notesSlide" Target="/ppt/notesSlides/notesSlide8.xml" Id="R21980a7ea93f494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e6502e5e3c4c40" /><Relationship Type="http://schemas.openxmlformats.org/officeDocument/2006/relationships/notesSlide" Target="/ppt/notesSlides/notesSlide9.xml" Id="Rc61f99e5b776469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8b79c92dc4ff0" /><Relationship Type="http://schemas.openxmlformats.org/officeDocument/2006/relationships/notesSlide" Target="/ppt/notesSlides/notesSlide10.xml" Id="R286895886a9443e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e249bb6e3845ac" /><Relationship Type="http://schemas.openxmlformats.org/officeDocument/2006/relationships/notesSlide" Target="/ppt/notesSlides/notesSlide11.xml" Id="R2eff8daf2353436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9e7eb126e043ea" /><Relationship Type="http://schemas.openxmlformats.org/officeDocument/2006/relationships/notesSlide" Target="/ppt/notesSlides/notesSlide12.xml" Id="R08e63ace53ce44e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c3132118045fb" /><Relationship Type="http://schemas.openxmlformats.org/officeDocument/2006/relationships/notesSlide" Target="/ppt/notesSlides/notesSlide13.xml" Id="R368e6105d924420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4e2ae8d6d243c7" /><Relationship Type="http://schemas.openxmlformats.org/officeDocument/2006/relationships/notesSlide" Target="/ppt/notesSlides/notesSlide14.xml" Id="R7c4cd0201e294a5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6a1403cca4264" /><Relationship Type="http://schemas.openxmlformats.org/officeDocument/2006/relationships/notesSlide" Target="/ppt/notesSlides/notesSlide15.xml" Id="R0c0f27bcc8054ae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0676734044df4" /><Relationship Type="http://schemas.openxmlformats.org/officeDocument/2006/relationships/notesSlide" Target="/ppt/notesSlides/notesSlide16.xml" Id="R1c429580b6d74dd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efb54b35a4501" /><Relationship Type="http://schemas.openxmlformats.org/officeDocument/2006/relationships/notesSlide" Target="/ppt/notesSlides/notesSlide17.xml" Id="Re8f2bb02ce90424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442008f3d34bc0" /><Relationship Type="http://schemas.openxmlformats.org/officeDocument/2006/relationships/notesSlide" Target="/ppt/notesSlides/notesSlide18.xml" Id="R810e06b7fef8405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3b69f7ca964fd4" /><Relationship Type="http://schemas.openxmlformats.org/officeDocument/2006/relationships/notesSlide" Target="/ppt/notesSlides/notesSlide19.xml" Id="Rfa87166db91f46e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8d8e0dc7224883" /><Relationship Type="http://schemas.openxmlformats.org/officeDocument/2006/relationships/notesSlide" Target="/ppt/notesSlides/notesSlide20.xml" Id="R95aa43feed94416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6d510bda2b440f" /><Relationship Type="http://schemas.openxmlformats.org/officeDocument/2006/relationships/notesSlide" Target="/ppt/notesSlides/notesSlide21.xml" Id="R555aff30f1394df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ae90e14d8040c0" /><Relationship Type="http://schemas.openxmlformats.org/officeDocument/2006/relationships/notesSlide" Target="/ppt/notesSlides/notesSlide22.xml" Id="R1e9e40dd471b4ab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91dea2055345aa" /><Relationship Type="http://schemas.openxmlformats.org/officeDocument/2006/relationships/notesSlide" Target="/ppt/notesSlides/notesSlide23.xml" Id="R14ab6ece99fb41d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098f8c40a4e17" /><Relationship Type="http://schemas.openxmlformats.org/officeDocument/2006/relationships/notesSlide" Target="/ppt/notesSlides/notesSlide24.xml" Id="Rc0f5424ef39d40c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6bc668868a4b9e" /><Relationship Type="http://schemas.openxmlformats.org/officeDocument/2006/relationships/notesSlide" Target="/ppt/notesSlides/notesSlide25.xml" Id="R9e47fbea3a4f456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ed49209dc4a16" /><Relationship Type="http://schemas.openxmlformats.org/officeDocument/2006/relationships/notesSlide" Target="/ppt/notesSlides/notesSlide26.xml" Id="Rc3f100411eb3444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d5f44a5a05440b" /><Relationship Type="http://schemas.openxmlformats.org/officeDocument/2006/relationships/notesSlide" Target="/ppt/notesSlides/notesSlide27.xml" Id="R6deb4007aea4477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8b133652be487a" /><Relationship Type="http://schemas.openxmlformats.org/officeDocument/2006/relationships/notesSlide" Target="/ppt/notesSlides/notesSlide28.xml" Id="Rf58a9460f0c3427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fc692e06f84358" /><Relationship Type="http://schemas.openxmlformats.org/officeDocument/2006/relationships/notesSlide" Target="/ppt/notesSlides/notesSlide29.xml" Id="Rfb21f993bb3747a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9614405f294aba" /><Relationship Type="http://schemas.openxmlformats.org/officeDocument/2006/relationships/notesSlide" Target="/ppt/notesSlides/notesSlide30.xml" Id="R107ac34486ba41d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b1f5941ab4fe7" /><Relationship Type="http://schemas.openxmlformats.org/officeDocument/2006/relationships/notesSlide" Target="/ppt/notesSlides/notesSlide31.xml" Id="R4483e53338654a7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085bcdd8cd4167" /><Relationship Type="http://schemas.openxmlformats.org/officeDocument/2006/relationships/notesSlide" Target="/ppt/notesSlides/notesSlide32.xml" Id="Rd795732595c2470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4ce892ca2f41fc" /><Relationship Type="http://schemas.openxmlformats.org/officeDocument/2006/relationships/notesSlide" Target="/ppt/notesSlides/notesSlide33.xml" Id="R4ca383f56a084ef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f934b4ba2341fc" /><Relationship Type="http://schemas.openxmlformats.org/officeDocument/2006/relationships/notesSlide" Target="/ppt/notesSlides/notesSlide34.xml" Id="Rfe8be1b789554f4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f5ced8c5e04d26" /><Relationship Type="http://schemas.openxmlformats.org/officeDocument/2006/relationships/notesSlide" Target="/ppt/notesSlides/notesSlide35.xml" Id="R51efc45b88b4443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373911d5f84aaf" /><Relationship Type="http://schemas.openxmlformats.org/officeDocument/2006/relationships/notesSlide" Target="/ppt/notesSlides/notesSlide36.xml" Id="R6c3356e4c10745b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099c893794f2f" /><Relationship Type="http://schemas.openxmlformats.org/officeDocument/2006/relationships/notesSlide" Target="/ppt/notesSlides/notesSlide37.xml" Id="R0dfe4260a4b645c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b9fa1f3f8341fd" /><Relationship Type="http://schemas.openxmlformats.org/officeDocument/2006/relationships/notesSlide" Target="/ppt/notesSlides/notesSlide38.xml" Id="R4a2c75aa33324f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39AAAE5D-0A49-4E80-8455-CAAAF361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LESSON 05  |  HANDS-ON LAB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EBFC66F-26C7-4B1A-B04D-9AD98F83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477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Biomedical evidence table with AI agents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177D331-DCD5-47CA-A5C0-8A56F5D3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選一個 gene / drug / disease 問題，讓 agent 建表，再人工檢查與修正</a:t>
            </a:r>
          </a:p>
        </p:txBody>
      </p:sp>
      <p:sp>
        <p:nvSpPr>
          <p:cNvPr id="4" name="output-box">
            <a:extLst xmlns:a="http://schemas.openxmlformats.org/drawingml/2006/main">
              <a:ext uri="{FF2B5EF4-FFF2-40B4-BE49-F238E27FC236}">
                <a16:creationId xmlns:a16="http://schemas.microsoft.com/office/drawing/2014/main" id="{CC5B2C39-DD85-4E11-801F-C56D68A3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44196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</p:sp>
      <p:sp>
        <p:nvSpPr>
          <p:cNvPr id="5" name="output-title">
            <a:extLst xmlns:a="http://schemas.openxmlformats.org/drawingml/2006/main">
              <a:ext uri="{FF2B5EF4-FFF2-40B4-BE49-F238E27FC236}">
                <a16:creationId xmlns:a16="http://schemas.microsoft.com/office/drawing/2014/main" id="{F1BFD959-99D5-474C-A900-0790B1E5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00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今天要產出的東西</a:t>
            </a:r>
          </a:p>
        </p:txBody>
      </p:sp>
      <p:sp>
        <p:nvSpPr>
          <p:cNvPr id="6" name="outputs">
            <a:extLst xmlns:a="http://schemas.openxmlformats.org/drawingml/2006/main">
              <a:ext uri="{FF2B5EF4-FFF2-40B4-BE49-F238E27FC236}">
                <a16:creationId xmlns:a16="http://schemas.microsoft.com/office/drawing/2014/main" id="{EAE0E2C4-2F15-4C5B-AC96-7876726A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957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8"/>
              </a:spcAft>
              <a:buNone/>
              <a:defRPr sz="165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7202A"/>
                </a:solidFill>
                <a:latin typeface="Aptos"/>
                <a:ea typeface="Aptos"/>
                <a:cs typeface="Aptos"/>
              </a:rPr>
              <a:t>evidence_table.csv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8"/>
              </a:spcAft>
              <a:buNone/>
              <a:defRPr sz="165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7202A"/>
                </a:solidFill>
                <a:latin typeface="Aptos"/>
                <a:ea typeface="Aptos"/>
                <a:cs typeface="Aptos"/>
              </a:rPr>
              <a:t>review_checklist.md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8"/>
              </a:spcAft>
              <a:buNone/>
              <a:defRPr sz="165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7202A"/>
                </a:solidFill>
                <a:latin typeface="Aptos"/>
                <a:ea typeface="Aptos"/>
                <a:cs typeface="Aptos"/>
              </a:rPr>
              <a:t>final_summary.md</a:t>
            </a:r>
          </a:p>
        </p:txBody>
      </p:sp>
      <p:sp>
        <p:nvSpPr>
          <p:cNvPr id="7" name="rule-box">
            <a:extLst xmlns:a="http://schemas.openxmlformats.org/drawingml/2006/main">
              <a:ext uri="{FF2B5EF4-FFF2-40B4-BE49-F238E27FC236}">
                <a16:creationId xmlns:a16="http://schemas.microsoft.com/office/drawing/2014/main" id="{B1D4A60B-9458-44F6-BFEA-BAA5F314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76600"/>
            <a:ext cx="4095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8" name="rule-title">
            <a:extLst xmlns:a="http://schemas.openxmlformats.org/drawingml/2006/main">
              <a:ext uri="{FF2B5EF4-FFF2-40B4-BE49-F238E27FC236}">
                <a16:creationId xmlns:a16="http://schemas.microsoft.com/office/drawing/2014/main" id="{A2F2AA6E-4160-41F2-B1DA-7AE81B78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004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今天的鐵律</a:t>
            </a:r>
          </a:p>
        </p:txBody>
      </p:sp>
      <p:sp>
        <p:nvSpPr>
          <p:cNvPr id="9" name="rule-copy">
            <a:extLst xmlns:a="http://schemas.openxmlformats.org/drawingml/2006/main">
              <a:ext uri="{FF2B5EF4-FFF2-40B4-BE49-F238E27FC236}">
                <a16:creationId xmlns:a16="http://schemas.microsoft.com/office/drawing/2014/main" id="{37B0A5A9-B6F4-4864-8958-6DAC76FA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11480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7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AI 原始輸出不能直接交。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7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最後要交 human-reviewed table。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DDD55B9D-DC3D-4BBA-841D-3BC3913B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Hands-on lab: biomedical evidence table  |  1/38</a:t>
            </a:r>
          </a:p>
        </p:txBody>
      </p:sp>
    </p:spTree>
    <p:extLst>
      <p:ext uri="{BB962C8B-B14F-4D97-AF65-F5344CB8AC3E}">
        <p14:creationId xmlns:p14="http://schemas.microsoft.com/office/powerpoint/2010/main" val="12980941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8B07A702-3461-43D6-B224-43468BBA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90-MINUTE LAB FLOW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AB57BAB-2E44-406C-86D8-25C3B539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90 分鐘要做出一份可檢查 evidence table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E44E08C3-F8BB-4CEE-9F0A-84208D6B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Hands-on lab: biomedical evidence table  |  2/38</a:t>
            </a:r>
          </a:p>
        </p:txBody>
      </p:sp>
      <p:sp>
        <p:nvSpPr>
          <p:cNvPr id="4" name="time-0">
            <a:extLst xmlns:a="http://schemas.openxmlformats.org/drawingml/2006/main">
              <a:ext uri="{FF2B5EF4-FFF2-40B4-BE49-F238E27FC236}">
                <a16:creationId xmlns:a16="http://schemas.microsoft.com/office/drawing/2014/main" id="{3AE1F1A6-7B2C-476D-89DA-567AF22E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57350"/>
            <a:ext cx="12001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0-10 min</a:t>
            </a:r>
          </a:p>
        </p:txBody>
      </p:sp>
      <p:sp>
        <p:nvSpPr>
          <p:cNvPr id="5" name="role-0">
            <a:extLst xmlns:a="http://schemas.openxmlformats.org/drawingml/2006/main">
              <a:ext uri="{FF2B5EF4-FFF2-40B4-BE49-F238E27FC236}">
                <a16:creationId xmlns:a16="http://schemas.microsoft.com/office/drawing/2014/main" id="{8E9FD36C-9B32-4C71-9991-8ACDB615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859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任務與評分標準</a:t>
            </a:r>
          </a:p>
        </p:txBody>
      </p:sp>
      <p:sp>
        <p:nvSpPr>
          <p:cNvPr id="6" name="copy-0">
            <a:extLst xmlns:a="http://schemas.openxmlformats.org/drawingml/2006/main">
              <a:ext uri="{FF2B5EF4-FFF2-40B4-BE49-F238E27FC236}">
                <a16:creationId xmlns:a16="http://schemas.microsoft.com/office/drawing/2014/main" id="{23A8398F-044D-4371-AFC1-40E05D52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145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知道 evidence table 長什麼樣。</a:t>
            </a:r>
          </a:p>
        </p:txBody>
      </p:sp>
      <p:sp>
        <p:nvSpPr>
          <p:cNvPr id="7" name="time-1">
            <a:extLst xmlns:a="http://schemas.openxmlformats.org/drawingml/2006/main">
              <a:ext uri="{FF2B5EF4-FFF2-40B4-BE49-F238E27FC236}">
                <a16:creationId xmlns:a16="http://schemas.microsoft.com/office/drawing/2014/main" id="{BF59686C-5DFC-4788-A295-88A55CBE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12001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10-25 min</a:t>
            </a:r>
          </a:p>
        </p:txBody>
      </p:sp>
      <p:sp>
        <p:nvSpPr>
          <p:cNvPr id="8" name="role-1">
            <a:extLst xmlns:a="http://schemas.openxmlformats.org/drawingml/2006/main">
              <a:ext uri="{FF2B5EF4-FFF2-40B4-BE49-F238E27FC236}">
                <a16:creationId xmlns:a16="http://schemas.microsoft.com/office/drawing/2014/main" id="{B1BA3D36-41C3-434A-942D-865C4DCB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3336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設計 task spec 和 schema</a:t>
            </a:r>
          </a:p>
        </p:txBody>
      </p:sp>
      <p:sp>
        <p:nvSpPr>
          <p:cNvPr id="9" name="copy-1">
            <a:extLst xmlns:a="http://schemas.openxmlformats.org/drawingml/2006/main">
              <a:ext uri="{FF2B5EF4-FFF2-40B4-BE49-F238E27FC236}">
                <a16:creationId xmlns:a16="http://schemas.microsoft.com/office/drawing/2014/main" id="{FAB5CE12-9585-4124-89AE-F543E551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622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先定義欄位，不急著問 AI。</a:t>
            </a:r>
          </a:p>
        </p:txBody>
      </p:sp>
      <p:sp>
        <p:nvSpPr>
          <p:cNvPr id="10" name="time-2">
            <a:extLst xmlns:a="http://schemas.openxmlformats.org/drawingml/2006/main">
              <a:ext uri="{FF2B5EF4-FFF2-40B4-BE49-F238E27FC236}">
                <a16:creationId xmlns:a16="http://schemas.microsoft.com/office/drawing/2014/main" id="{F8165054-A4DD-4F46-89D0-A3C8C7B2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52750"/>
            <a:ext cx="12001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25-40 min</a:t>
            </a:r>
          </a:p>
        </p:txBody>
      </p:sp>
      <p:sp>
        <p:nvSpPr>
          <p:cNvPr id="11" name="role-2">
            <a:extLst xmlns:a="http://schemas.openxmlformats.org/drawingml/2006/main">
              <a:ext uri="{FF2B5EF4-FFF2-40B4-BE49-F238E27FC236}">
                <a16:creationId xmlns:a16="http://schemas.microsoft.com/office/drawing/2014/main" id="{C14CAECD-6AB7-435B-A16D-8449BED4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9813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Codex / Gemini 示範</a:t>
            </a:r>
          </a:p>
        </p:txBody>
      </p:sp>
      <p:sp>
        <p:nvSpPr>
          <p:cNvPr id="12" name="copy-2">
            <a:extLst xmlns:a="http://schemas.openxmlformats.org/drawingml/2006/main">
              <a:ext uri="{FF2B5EF4-FFF2-40B4-BE49-F238E27FC236}">
                <a16:creationId xmlns:a16="http://schemas.microsoft.com/office/drawing/2014/main" id="{A001CEDC-3E92-4FD1-B32F-C79F1721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099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看兩種 agent workflow。</a:t>
            </a:r>
          </a:p>
        </p:txBody>
      </p:sp>
      <p:sp>
        <p:nvSpPr>
          <p:cNvPr id="13" name="time-3">
            <a:extLst xmlns:a="http://schemas.openxmlformats.org/drawingml/2006/main">
              <a:ext uri="{FF2B5EF4-FFF2-40B4-BE49-F238E27FC236}">
                <a16:creationId xmlns:a16="http://schemas.microsoft.com/office/drawing/2014/main" id="{CC19E8D9-0319-4D4A-AE61-8D1C29E8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00450"/>
            <a:ext cx="12001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40-62 min</a:t>
            </a:r>
          </a:p>
        </p:txBody>
      </p:sp>
      <p:sp>
        <p:nvSpPr>
          <p:cNvPr id="14" name="role-3">
            <a:extLst xmlns:a="http://schemas.openxmlformats.org/drawingml/2006/main">
              <a:ext uri="{FF2B5EF4-FFF2-40B4-BE49-F238E27FC236}">
                <a16:creationId xmlns:a16="http://schemas.microsoft.com/office/drawing/2014/main" id="{907D97DD-FDA3-41AB-8DDF-1460B1B0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290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學生建立初版 table</a:t>
            </a:r>
          </a:p>
        </p:txBody>
      </p:sp>
      <p:sp>
        <p:nvSpPr>
          <p:cNvPr id="15" name="copy-3">
            <a:extLst xmlns:a="http://schemas.openxmlformats.org/drawingml/2006/main">
              <a:ext uri="{FF2B5EF4-FFF2-40B4-BE49-F238E27FC236}">
                <a16:creationId xmlns:a16="http://schemas.microsoft.com/office/drawing/2014/main" id="{76887FF6-2B82-4E2A-8320-FFB6DE99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57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讓 agent 找候選來源與抽取 claim。</a:t>
            </a:r>
          </a:p>
        </p:txBody>
      </p:sp>
      <p:sp>
        <p:nvSpPr>
          <p:cNvPr id="16" name="time-4">
            <a:extLst xmlns:a="http://schemas.openxmlformats.org/drawingml/2006/main">
              <a:ext uri="{FF2B5EF4-FFF2-40B4-BE49-F238E27FC236}">
                <a16:creationId xmlns:a16="http://schemas.microsoft.com/office/drawing/2014/main" id="{34A15FA4-1EF9-4563-8F1A-94FFDC97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48150"/>
            <a:ext cx="12001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62-82 min</a:t>
            </a:r>
          </a:p>
        </p:txBody>
      </p:sp>
      <p:sp>
        <p:nvSpPr>
          <p:cNvPr id="17" name="role-4">
            <a:extLst xmlns:a="http://schemas.openxmlformats.org/drawingml/2006/main">
              <a:ext uri="{FF2B5EF4-FFF2-40B4-BE49-F238E27FC236}">
                <a16:creationId xmlns:a16="http://schemas.microsoft.com/office/drawing/2014/main" id="{94FF6E2C-6205-4331-9BC6-C4A03F20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2767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人工檢查與修正</a:t>
            </a:r>
          </a:p>
        </p:txBody>
      </p:sp>
      <p:sp>
        <p:nvSpPr>
          <p:cNvPr id="18" name="copy-4">
            <a:extLst xmlns:a="http://schemas.openxmlformats.org/drawingml/2006/main">
              <a:ext uri="{FF2B5EF4-FFF2-40B4-BE49-F238E27FC236}">
                <a16:creationId xmlns:a16="http://schemas.microsoft.com/office/drawing/2014/main" id="{7AB2A26A-CFDC-4752-8AE1-6DC32B6B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053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PMID、quote、claim、confidence。</a:t>
            </a:r>
          </a:p>
        </p:txBody>
      </p:sp>
      <p:sp>
        <p:nvSpPr>
          <p:cNvPr id="19" name="time-5">
            <a:extLst xmlns:a="http://schemas.openxmlformats.org/drawingml/2006/main">
              <a:ext uri="{FF2B5EF4-FFF2-40B4-BE49-F238E27FC236}">
                <a16:creationId xmlns:a16="http://schemas.microsoft.com/office/drawing/2014/main" id="{22EE64AA-0F7F-4273-8494-84969FAC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95850"/>
            <a:ext cx="12001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82-90 min</a:t>
            </a:r>
          </a:p>
        </p:txBody>
      </p:sp>
      <p:sp>
        <p:nvSpPr>
          <p:cNvPr id="20" name="role-5">
            <a:extLst xmlns:a="http://schemas.openxmlformats.org/drawingml/2006/main">
              <a:ext uri="{FF2B5EF4-FFF2-40B4-BE49-F238E27FC236}">
                <a16:creationId xmlns:a16="http://schemas.microsoft.com/office/drawing/2014/main" id="{0A283AFE-F546-428D-B829-4B857095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9244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交付與回顧</a:t>
            </a:r>
          </a:p>
        </p:txBody>
      </p:sp>
      <p:sp>
        <p:nvSpPr>
          <p:cNvPr id="21" name="copy-5">
            <a:extLst xmlns:a="http://schemas.openxmlformats.org/drawingml/2006/main">
              <a:ext uri="{FF2B5EF4-FFF2-40B4-BE49-F238E27FC236}">
                <a16:creationId xmlns:a16="http://schemas.microsoft.com/office/drawing/2014/main" id="{1580BA95-63AA-4D6F-9520-DF35B38D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交 CSV、checklist、summary。</a:t>
            </a:r>
          </a:p>
        </p:txBody>
      </p:sp>
    </p:spTree>
    <p:extLst>
      <p:ext uri="{BB962C8B-B14F-4D97-AF65-F5344CB8AC3E}">
        <p14:creationId xmlns:p14="http://schemas.microsoft.com/office/powerpoint/2010/main" val="17096003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3446316A-D22F-44CC-B519-832535A6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LAB WORKFLOW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859CB41-B387-4DCC-9A1B-6E214A26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今天的 workflow：AI 先整理，人再驗證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01D38159-8CC7-4D18-A20A-6B27B2D8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Hands-on lab: biomedical evidence table  |  3/38</a:t>
            </a:r>
          </a:p>
        </p:txBody>
      </p:sp>
      <p:sp>
        <p:nvSpPr>
          <p:cNvPr id="4" name="node-0">
            <a:extLst xmlns:a="http://schemas.openxmlformats.org/drawingml/2006/main">
              <a:ext uri="{FF2B5EF4-FFF2-40B4-BE49-F238E27FC236}">
                <a16:creationId xmlns:a16="http://schemas.microsoft.com/office/drawing/2014/main" id="{C288A6B1-2D1E-4E48-87B8-7717EF85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1314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5" name="node-1">
            <a:extLst xmlns:a="http://schemas.openxmlformats.org/drawingml/2006/main">
              <a:ext uri="{FF2B5EF4-FFF2-40B4-BE49-F238E27FC236}">
                <a16:creationId xmlns:a16="http://schemas.microsoft.com/office/drawing/2014/main" id="{28BCCCFC-D1F8-4EBC-BA96-64661B09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09900"/>
            <a:ext cx="1314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Task spec</a:t>
            </a:r>
          </a:p>
        </p:txBody>
      </p:sp>
      <p:sp>
        <p:nvSpPr>
          <p:cNvPr id="6" name="line-1">
            <a:extLst xmlns:a="http://schemas.openxmlformats.org/drawingml/2006/main">
              <a:ext uri="{FF2B5EF4-FFF2-40B4-BE49-F238E27FC236}">
                <a16:creationId xmlns:a16="http://schemas.microsoft.com/office/drawing/2014/main" id="{E6198F84-60D5-40DA-A0AE-DB0979B6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8612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4DADD"/>
            </a:solidFill>
            <a:prstDash val="solid"/>
          </a:ln>
        </p:spPr>
      </p:sp>
      <p:sp>
        <p:nvSpPr>
          <p:cNvPr id="7" name="node-2">
            <a:extLst xmlns:a="http://schemas.openxmlformats.org/drawingml/2006/main">
              <a:ext uri="{FF2B5EF4-FFF2-40B4-BE49-F238E27FC236}">
                <a16:creationId xmlns:a16="http://schemas.microsoft.com/office/drawing/2014/main" id="{FA488C29-B355-401B-9E81-B5C20C65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09900"/>
            <a:ext cx="1314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Agent draft</a:t>
            </a:r>
          </a:p>
        </p:txBody>
      </p:sp>
      <p:sp>
        <p:nvSpPr>
          <p:cNvPr id="8" name="line-2">
            <a:extLst xmlns:a="http://schemas.openxmlformats.org/drawingml/2006/main">
              <a:ext uri="{FF2B5EF4-FFF2-40B4-BE49-F238E27FC236}">
                <a16:creationId xmlns:a16="http://schemas.microsoft.com/office/drawing/2014/main" id="{590F329F-B6AE-4DC2-9EF4-5063B3BA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28612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4DADD"/>
            </a:solidFill>
            <a:prstDash val="solid"/>
          </a:ln>
        </p:spPr>
      </p:sp>
      <p:sp>
        <p:nvSpPr>
          <p:cNvPr id="9" name="node-3">
            <a:extLst xmlns:a="http://schemas.openxmlformats.org/drawingml/2006/main">
              <a:ext uri="{FF2B5EF4-FFF2-40B4-BE49-F238E27FC236}">
                <a16:creationId xmlns:a16="http://schemas.microsoft.com/office/drawing/2014/main" id="{C978DA5B-0C30-4544-B6ED-2C64145B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9900"/>
            <a:ext cx="1314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Source check</a:t>
            </a:r>
          </a:p>
        </p:txBody>
      </p:sp>
      <p:sp>
        <p:nvSpPr>
          <p:cNvPr id="10" name="line-3">
            <a:extLst xmlns:a="http://schemas.openxmlformats.org/drawingml/2006/main">
              <a:ext uri="{FF2B5EF4-FFF2-40B4-BE49-F238E27FC236}">
                <a16:creationId xmlns:a16="http://schemas.microsoft.com/office/drawing/2014/main" id="{A5D16DE7-4800-4D84-83FA-397CFAE5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8612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4DADD"/>
            </a:solidFill>
            <a:prstDash val="solid"/>
          </a:ln>
        </p:spPr>
      </p:sp>
      <p:sp>
        <p:nvSpPr>
          <p:cNvPr id="11" name="node-4">
            <a:extLst xmlns:a="http://schemas.openxmlformats.org/drawingml/2006/main">
              <a:ext uri="{FF2B5EF4-FFF2-40B4-BE49-F238E27FC236}">
                <a16:creationId xmlns:a16="http://schemas.microsoft.com/office/drawing/2014/main" id="{AE93ECC9-D627-4A3B-90FF-8EDD4FFD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09900"/>
            <a:ext cx="1314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Human fix</a:t>
            </a:r>
          </a:p>
        </p:txBody>
      </p:sp>
      <p:sp>
        <p:nvSpPr>
          <p:cNvPr id="12" name="line-4">
            <a:extLst xmlns:a="http://schemas.openxmlformats.org/drawingml/2006/main">
              <a:ext uri="{FF2B5EF4-FFF2-40B4-BE49-F238E27FC236}">
                <a16:creationId xmlns:a16="http://schemas.microsoft.com/office/drawing/2014/main" id="{8BE44C37-0953-4B2F-9ABB-CAF8BABD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8612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4DADD"/>
            </a:solidFill>
            <a:prstDash val="solid"/>
          </a:ln>
        </p:spPr>
      </p:sp>
      <p:sp>
        <p:nvSpPr>
          <p:cNvPr id="13" name="node-5">
            <a:extLst xmlns:a="http://schemas.openxmlformats.org/drawingml/2006/main">
              <a:ext uri="{FF2B5EF4-FFF2-40B4-BE49-F238E27FC236}">
                <a16:creationId xmlns:a16="http://schemas.microsoft.com/office/drawing/2014/main" id="{9F04325A-C849-4F3A-9202-E6C71503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009900"/>
            <a:ext cx="1314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DF8EE"/>
          </a:solidFill>
          <a:ln xmlns:a="http://schemas.openxmlformats.org/drawingml/2006/main" w="9525">
            <a:solidFill>
              <a:srgbClr val="438D4A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1">
                <a:solidFill>
                  <a:srgbClr val="438D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38D4A"/>
                </a:solidFill>
                <a:latin typeface="Aptos"/>
                <a:ea typeface="Aptos"/>
                <a:cs typeface="Aptos"/>
              </a:rPr>
              <a:t>Final table</a:t>
            </a:r>
          </a:p>
        </p:txBody>
      </p:sp>
      <p:sp>
        <p:nvSpPr>
          <p:cNvPr id="14" name="line-5">
            <a:extLst xmlns:a="http://schemas.openxmlformats.org/drawingml/2006/main">
              <a:ext uri="{FF2B5EF4-FFF2-40B4-BE49-F238E27FC236}">
                <a16:creationId xmlns:a16="http://schemas.microsoft.com/office/drawing/2014/main" id="{460EF95A-AC26-47C9-8AAD-539FAAD1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8612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4DADD"/>
            </a:solidFill>
            <a:prstDash val="solid"/>
          </a:ln>
        </p:spPr>
      </p:sp>
      <p:sp>
        <p:nvSpPr>
          <p:cNvPr id="15" name="bottom">
            <a:extLst xmlns:a="http://schemas.openxmlformats.org/drawingml/2006/main">
              <a:ext uri="{FF2B5EF4-FFF2-40B4-BE49-F238E27FC236}">
                <a16:creationId xmlns:a16="http://schemas.microsoft.com/office/drawing/2014/main" id="{8D7F4508-217B-4628-89E0-2CA2269B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關鍵不是產生表格，而是留下 evidence trail 和 reviewer correction。</a:t>
            </a:r>
          </a:p>
        </p:txBody>
      </p:sp>
    </p:spTree>
    <p:extLst>
      <p:ext uri="{BB962C8B-B14F-4D97-AF65-F5344CB8AC3E}">
        <p14:creationId xmlns:p14="http://schemas.microsoft.com/office/powerpoint/2010/main" val="10752250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EF30D63D-57D2-463D-8892-D9A237E4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CHOOSE A QUESTION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24EB6E4-5257-4222-AA09-EFA547C0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每組選一個問題，不要選整個宇宙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B15C0AE7-9A3A-42D8-906E-22AC5821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Hands-on lab: biomedical evidence table  |  4/38</a:t>
            </a:r>
          </a:p>
        </p:txBody>
      </p:sp>
      <p:sp>
        <p:nvSpPr>
          <p:cNvPr id="4" name="card-0">
            <a:extLst xmlns:a="http://schemas.openxmlformats.org/drawingml/2006/main">
              <a:ext uri="{FF2B5EF4-FFF2-40B4-BE49-F238E27FC236}">
                <a16:creationId xmlns:a16="http://schemas.microsoft.com/office/drawing/2014/main" id="{2D444253-0433-434A-9DEE-68328D45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5" name="label-0">
            <a:extLst xmlns:a="http://schemas.openxmlformats.org/drawingml/2006/main">
              <a:ext uri="{FF2B5EF4-FFF2-40B4-BE49-F238E27FC236}">
                <a16:creationId xmlns:a16="http://schemas.microsoft.com/office/drawing/2014/main" id="{949BFFD2-D28A-4E6B-AA0F-5576D30C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336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Gene</a:t>
            </a:r>
          </a:p>
        </p:txBody>
      </p:sp>
      <p:sp>
        <p:nvSpPr>
          <p:cNvPr id="6" name="copy-0">
            <a:extLst xmlns:a="http://schemas.openxmlformats.org/drawingml/2006/main">
              <a:ext uri="{FF2B5EF4-FFF2-40B4-BE49-F238E27FC236}">
                <a16:creationId xmlns:a16="http://schemas.microsoft.com/office/drawing/2014/main" id="{E01C7BD6-A8BA-4ED3-976F-D3729CDB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38500"/>
            <a:ext cx="209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EGFR exon 19 deletion 和 NSCLC 治療反應有什麼證據？</a:t>
            </a:r>
          </a:p>
        </p:txBody>
      </p:sp>
      <p:sp>
        <p:nvSpPr>
          <p:cNvPr id="7" name="card-1">
            <a:extLst xmlns:a="http://schemas.openxmlformats.org/drawingml/2006/main">
              <a:ext uri="{FF2B5EF4-FFF2-40B4-BE49-F238E27FC236}">
                <a16:creationId xmlns:a16="http://schemas.microsoft.com/office/drawing/2014/main" id="{097E4E7E-368B-48EE-BEC2-A163F81B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90750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</p:sp>
      <p:sp>
        <p:nvSpPr>
          <p:cNvPr id="8" name="label-1">
            <a:extLst xmlns:a="http://schemas.openxmlformats.org/drawingml/2006/main">
              <a:ext uri="{FF2B5EF4-FFF2-40B4-BE49-F238E27FC236}">
                <a16:creationId xmlns:a16="http://schemas.microsoft.com/office/drawing/2014/main" id="{DAF8BC78-9C5E-4F93-A588-F1FFFEB5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336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Drug</a:t>
            </a:r>
          </a:p>
        </p:txBody>
      </p:sp>
      <p:sp>
        <p:nvSpPr>
          <p:cNvPr id="9" name="copy-1">
            <a:extLst xmlns:a="http://schemas.openxmlformats.org/drawingml/2006/main">
              <a:ext uri="{FF2B5EF4-FFF2-40B4-BE49-F238E27FC236}">
                <a16:creationId xmlns:a16="http://schemas.microsoft.com/office/drawing/2014/main" id="{773AF72F-2033-41A9-8EBE-E38233A6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238500"/>
            <a:ext cx="209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Metformin 和 Alzheimer’s disease 風險是否有關？</a:t>
            </a:r>
          </a:p>
        </p:txBody>
      </p:sp>
      <p:sp>
        <p:nvSpPr>
          <p:cNvPr id="10" name="card-2">
            <a:extLst xmlns:a="http://schemas.openxmlformats.org/drawingml/2006/main">
              <a:ext uri="{FF2B5EF4-FFF2-40B4-BE49-F238E27FC236}">
                <a16:creationId xmlns:a16="http://schemas.microsoft.com/office/drawing/2014/main" id="{1478A93F-F4B7-4F96-8274-81EB45D4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</p:sp>
      <p:sp>
        <p:nvSpPr>
          <p:cNvPr id="11" name="label-2">
            <a:extLst xmlns:a="http://schemas.openxmlformats.org/drawingml/2006/main">
              <a:ext uri="{FF2B5EF4-FFF2-40B4-BE49-F238E27FC236}">
                <a16:creationId xmlns:a16="http://schemas.microsoft.com/office/drawing/2014/main" id="{808D0EBC-5CBB-4629-93AC-0354949F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336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Disease</a:t>
            </a:r>
          </a:p>
        </p:txBody>
      </p:sp>
      <p:sp>
        <p:nvSpPr>
          <p:cNvPr id="12" name="copy-2">
            <a:extLst xmlns:a="http://schemas.openxmlformats.org/drawingml/2006/main">
              <a:ext uri="{FF2B5EF4-FFF2-40B4-BE49-F238E27FC236}">
                <a16:creationId xmlns:a16="http://schemas.microsoft.com/office/drawing/2014/main" id="{F763A8B2-B6C5-4B8D-9B94-C07FF5B7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38500"/>
            <a:ext cx="209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APOE ε4 和 Alzheimer’s disease 的證據強度是什麼？</a:t>
            </a:r>
          </a:p>
        </p:txBody>
      </p:sp>
      <p:sp>
        <p:nvSpPr>
          <p:cNvPr id="13" name="note">
            <a:extLst xmlns:a="http://schemas.openxmlformats.org/drawingml/2006/main">
              <a:ext uri="{FF2B5EF4-FFF2-40B4-BE49-F238E27FC236}">
                <a16:creationId xmlns:a16="http://schemas.microsoft.com/office/drawing/2014/main" id="{98ED4B48-3A0B-4DEC-A5A0-E0BE8780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5816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問題越小，table 越可靠；問題越大，AI 越會開始表演。</a:t>
            </a:r>
          </a:p>
        </p:txBody>
      </p:sp>
    </p:spTree>
    <p:extLst>
      <p:ext uri="{BB962C8B-B14F-4D97-AF65-F5344CB8AC3E}">
        <p14:creationId xmlns:p14="http://schemas.microsoft.com/office/powerpoint/2010/main" val="3779413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EF1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0AD35FEC-75BD-499B-836B-23127BAE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PART 1</a:t>
            </a:r>
          </a:p>
        </p:txBody>
      </p:sp>
      <p:sp>
        <p:nvSpPr>
          <p:cNvPr id="2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7F2E0D6E-7B72-4729-98A4-3ADBA338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933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22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322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先設計任務，不要一開始就叫 AI 開工</a:t>
            </a:r>
          </a:p>
        </p:txBody>
      </p:sp>
      <p:sp>
        <p:nvSpPr>
          <p:cNvPr id="3" name="section-subtitle">
            <a:extLst xmlns:a="http://schemas.openxmlformats.org/drawingml/2006/main">
              <a:ext uri="{FF2B5EF4-FFF2-40B4-BE49-F238E27FC236}">
                <a16:creationId xmlns:a16="http://schemas.microsoft.com/office/drawing/2014/main" id="{BF317718-5093-41ED-A27B-980F8921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Hands-on 課最常見錯誤：prompt 太大、欄位太少、沒有驗證規則。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FE77DBC-5FA5-4E6C-85A0-C9203D1C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Hands-on lab: biomedical evidence table  |  5/38</a:t>
            </a:r>
          </a:p>
        </p:txBody>
      </p:sp>
    </p:spTree>
    <p:extLst>
      <p:ext uri="{BB962C8B-B14F-4D97-AF65-F5344CB8AC3E}">
        <p14:creationId xmlns:p14="http://schemas.microsoft.com/office/powerpoint/2010/main" val="12187789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95399F62-24B7-457B-8227-A150E41E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TASK SPEC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4453976-D3C0-407E-B721-7801A864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Task spec 是這堂 lab 的實驗 protocol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242AD4E8-80A4-4145-A6E2-2CEA78E6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Hands-on lab: biomedical evidence table  |  6/38</a:t>
            </a:r>
          </a:p>
        </p:txBody>
      </p:sp>
      <p:sp>
        <p:nvSpPr>
          <p:cNvPr id="4" name="bullets">
            <a:extLst xmlns:a="http://schemas.openxmlformats.org/drawingml/2006/main">
              <a:ext uri="{FF2B5EF4-FFF2-40B4-BE49-F238E27FC236}">
                <a16:creationId xmlns:a16="http://schemas.microsoft.com/office/drawing/2014/main" id="{FCB99B59-7363-4827-B5E5-92C038F1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38350"/>
            <a:ext cx="56769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研究問題要小到可以在 90 分鐘內檢查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指定 entity、來源類型、輸出欄位、停止規則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先定義完成標準，再讓 agent 產生初稿</a:t>
            </a:r>
          </a:p>
        </p:txBody>
      </p:sp>
      <p:sp>
        <p:nvSpPr>
          <p:cNvPr id="5" name="callout">
            <a:extLst xmlns:a="http://schemas.openxmlformats.org/drawingml/2006/main">
              <a:ext uri="{FF2B5EF4-FFF2-40B4-BE49-F238E27FC236}">
                <a16:creationId xmlns:a16="http://schemas.microsoft.com/office/drawing/2014/main" id="{FA1BD57C-0AE4-4B67-8C7B-9C58BE77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05050"/>
            <a:ext cx="33147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6" name="callout-text">
            <a:extLst xmlns:a="http://schemas.openxmlformats.org/drawingml/2006/main">
              <a:ext uri="{FF2B5EF4-FFF2-40B4-BE49-F238E27FC236}">
                <a16:creationId xmlns:a16="http://schemas.microsoft.com/office/drawing/2014/main" id="{243B48FD-1F57-497F-BA63-8EADA71B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81300"/>
            <a:ext cx="2590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8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不要說：幫我整理。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 sz="18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要說：照規格建表。</a:t>
            </a:r>
          </a:p>
        </p:txBody>
      </p:sp>
    </p:spTree>
    <p:extLst>
      <p:ext uri="{BB962C8B-B14F-4D97-AF65-F5344CB8AC3E}">
        <p14:creationId xmlns:p14="http://schemas.microsoft.com/office/powerpoint/2010/main" val="14467402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9767A0B0-03F7-416A-8444-42D53B6B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TASK SPEC TEMPLATE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F3D7259-E56C-4638-A117-2EB9EA47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學生先填這份 task spec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EB12A2C8-9972-42B8-84A1-7C862AD3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Hands-on lab: biomedical evidence table  |  7/38</a:t>
            </a:r>
          </a:p>
        </p:txBody>
      </p:sp>
      <p:sp>
        <p:nvSpPr>
          <p:cNvPr id="4" name="code-box">
            <a:extLst xmlns:a="http://schemas.openxmlformats.org/drawingml/2006/main">
              <a:ext uri="{FF2B5EF4-FFF2-40B4-BE49-F238E27FC236}">
                <a16:creationId xmlns:a16="http://schemas.microsoft.com/office/drawing/2014/main" id="{1A75D82D-0417-438B-9373-F665EEB6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10439400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9525">
            <a:solidFill>
              <a:srgbClr val="42515E"/>
            </a:solidFill>
            <a:prstDash val="solid"/>
          </a:ln>
        </p:spPr>
      </p:sp>
      <p:sp>
        <p:nvSpPr>
          <p:cNvPr id="5" name="code">
            <a:extLst xmlns:a="http://schemas.openxmlformats.org/drawingml/2006/main">
              <a:ext uri="{FF2B5EF4-FFF2-40B4-BE49-F238E27FC236}">
                <a16:creationId xmlns:a16="http://schemas.microsoft.com/office/drawing/2014/main" id="{D03730FF-4926-4E48-A120-E101DEB0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14550"/>
            <a:ext cx="98298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question: &lt;one focused biomedical question&gt;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entity_type: gene | drug | disease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entity: &lt;approved name&gt;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allowed_sources: PubMed, DOI, guideline, database page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output_file: evidence_table.csv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not_found_rule: write "not_found"; do not invent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review_boundary: clinical claim must be human-reviewed</a:t>
            </a:r>
          </a:p>
        </p:txBody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90BDEF75-D049-4AD7-8EC8-83CF255A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8165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這一頁讓學生先填，不要讓 agent 猜你的作業規格。</a:t>
            </a:r>
          </a:p>
        </p:txBody>
      </p:sp>
    </p:spTree>
    <p:extLst>
      <p:ext uri="{BB962C8B-B14F-4D97-AF65-F5344CB8AC3E}">
        <p14:creationId xmlns:p14="http://schemas.microsoft.com/office/powerpoint/2010/main" val="5419050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FB89B48B-7D65-4D19-9077-47C564B5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EVIDENCE TABLE SCHEMA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02809DE-F789-4F2D-9B86-EED23480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Evidence table 欄位要讓錯誤露出來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EC8AE3E5-D295-4BC8-BD3F-0445710A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Hands-on lab: biomedical evidence table  |  8/38</a:t>
            </a:r>
          </a:p>
        </p:txBody>
      </p:sp>
      <p:sp>
        <p:nvSpPr>
          <p:cNvPr id="4" name="field-0">
            <a:extLst xmlns:a="http://schemas.openxmlformats.org/drawingml/2006/main">
              <a:ext uri="{FF2B5EF4-FFF2-40B4-BE49-F238E27FC236}">
                <a16:creationId xmlns:a16="http://schemas.microsoft.com/office/drawing/2014/main" id="{9EF9A5E8-128C-47B6-9625-F827F82F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21526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5" name="field-copy-0">
            <a:extLst xmlns:a="http://schemas.openxmlformats.org/drawingml/2006/main">
              <a:ext uri="{FF2B5EF4-FFF2-40B4-BE49-F238E27FC236}">
                <a16:creationId xmlns:a16="http://schemas.microsoft.com/office/drawing/2014/main" id="{C01312A7-94B2-4F0D-9C78-9DE66ACD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研究問題</a:t>
            </a:r>
          </a:p>
        </p:txBody>
      </p:sp>
      <p:sp>
        <p:nvSpPr>
          <p:cNvPr id="6" name="field-1">
            <a:extLst xmlns:a="http://schemas.openxmlformats.org/drawingml/2006/main">
              <a:ext uri="{FF2B5EF4-FFF2-40B4-BE49-F238E27FC236}">
                <a16:creationId xmlns:a16="http://schemas.microsoft.com/office/drawing/2014/main" id="{67BE4E6E-C5FC-4B01-A19A-CB28553D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90700"/>
            <a:ext cx="21526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entity_type</a:t>
            </a:r>
          </a:p>
        </p:txBody>
      </p:sp>
      <p:sp>
        <p:nvSpPr>
          <p:cNvPr id="7" name="field-copy-1">
            <a:extLst xmlns:a="http://schemas.openxmlformats.org/drawingml/2006/main">
              <a:ext uri="{FF2B5EF4-FFF2-40B4-BE49-F238E27FC236}">
                <a16:creationId xmlns:a16="http://schemas.microsoft.com/office/drawing/2014/main" id="{61682219-2886-4F08-82D9-4F96D9F9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2885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gene / drug / disease</a:t>
            </a:r>
          </a:p>
        </p:txBody>
      </p:sp>
      <p:sp>
        <p:nvSpPr>
          <p:cNvPr id="8" name="field-2">
            <a:extLst xmlns:a="http://schemas.openxmlformats.org/drawingml/2006/main">
              <a:ext uri="{FF2B5EF4-FFF2-40B4-BE49-F238E27FC236}">
                <a16:creationId xmlns:a16="http://schemas.microsoft.com/office/drawing/2014/main" id="{2DB604E8-FD3A-4C8D-A7F8-A2498C23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90700"/>
            <a:ext cx="21526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entity</a:t>
            </a:r>
          </a:p>
        </p:txBody>
      </p:sp>
      <p:sp>
        <p:nvSpPr>
          <p:cNvPr id="9" name="field-copy-2">
            <a:extLst xmlns:a="http://schemas.openxmlformats.org/drawingml/2006/main">
              <a:ext uri="{FF2B5EF4-FFF2-40B4-BE49-F238E27FC236}">
                <a16:creationId xmlns:a16="http://schemas.microsoft.com/office/drawing/2014/main" id="{E4E1C24D-375D-4CFA-96FD-0075A398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2885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EGFR / metformin / AD</a:t>
            </a:r>
          </a:p>
        </p:txBody>
      </p:sp>
      <p:sp>
        <p:nvSpPr>
          <p:cNvPr id="10" name="field-3">
            <a:extLst xmlns:a="http://schemas.openxmlformats.org/drawingml/2006/main">
              <a:ext uri="{FF2B5EF4-FFF2-40B4-BE49-F238E27FC236}">
                <a16:creationId xmlns:a16="http://schemas.microsoft.com/office/drawing/2014/main" id="{761FF9F1-C25D-49CA-9EF3-C292AC3A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21526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claim</a:t>
            </a:r>
          </a:p>
        </p:txBody>
      </p:sp>
      <p:sp>
        <p:nvSpPr>
          <p:cNvPr id="11" name="field-copy-3">
            <a:extLst xmlns:a="http://schemas.openxmlformats.org/drawingml/2006/main">
              <a:ext uri="{FF2B5EF4-FFF2-40B4-BE49-F238E27FC236}">
                <a16:creationId xmlns:a16="http://schemas.microsoft.com/office/drawing/2014/main" id="{CBCD3BF2-76A8-4489-8184-8C264822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可被檢查的一句話</a:t>
            </a:r>
          </a:p>
        </p:txBody>
      </p:sp>
      <p:sp>
        <p:nvSpPr>
          <p:cNvPr id="12" name="field-4">
            <a:extLst xmlns:a="http://schemas.openxmlformats.org/drawingml/2006/main">
              <a:ext uri="{FF2B5EF4-FFF2-40B4-BE49-F238E27FC236}">
                <a16:creationId xmlns:a16="http://schemas.microsoft.com/office/drawing/2014/main" id="{BE521E1C-8F54-40F6-A906-E3C12554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90800"/>
            <a:ext cx="21526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evidence_type</a:t>
            </a:r>
          </a:p>
        </p:txBody>
      </p:sp>
      <p:sp>
        <p:nvSpPr>
          <p:cNvPr id="13" name="field-copy-4">
            <a:extLst xmlns:a="http://schemas.openxmlformats.org/drawingml/2006/main">
              <a:ext uri="{FF2B5EF4-FFF2-40B4-BE49-F238E27FC236}">
                <a16:creationId xmlns:a16="http://schemas.microsoft.com/office/drawing/2014/main" id="{BA876BE5-6D6E-4DDD-82B1-51944106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2895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study / guideline / database</a:t>
            </a:r>
          </a:p>
        </p:txBody>
      </p:sp>
      <p:sp>
        <p:nvSpPr>
          <p:cNvPr id="14" name="field-5">
            <a:extLst xmlns:a="http://schemas.openxmlformats.org/drawingml/2006/main">
              <a:ext uri="{FF2B5EF4-FFF2-40B4-BE49-F238E27FC236}">
                <a16:creationId xmlns:a16="http://schemas.microsoft.com/office/drawing/2014/main" id="{01CFF0C4-CDF3-4576-91A3-4C4B0FCE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90800"/>
            <a:ext cx="21526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source_id</a:t>
            </a:r>
          </a:p>
        </p:txBody>
      </p:sp>
      <p:sp>
        <p:nvSpPr>
          <p:cNvPr id="15" name="field-copy-5">
            <a:extLst xmlns:a="http://schemas.openxmlformats.org/drawingml/2006/main">
              <a:ext uri="{FF2B5EF4-FFF2-40B4-BE49-F238E27FC236}">
                <a16:creationId xmlns:a16="http://schemas.microsoft.com/office/drawing/2014/main" id="{498E1DBC-4667-4CB0-95CC-3953081F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2895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PMID / DOI / URL</a:t>
            </a:r>
          </a:p>
        </p:txBody>
      </p:sp>
      <p:sp>
        <p:nvSpPr>
          <p:cNvPr id="16" name="field-6">
            <a:extLst xmlns:a="http://schemas.openxmlformats.org/drawingml/2006/main">
              <a:ext uri="{FF2B5EF4-FFF2-40B4-BE49-F238E27FC236}">
                <a16:creationId xmlns:a16="http://schemas.microsoft.com/office/drawing/2014/main" id="{5F735EEC-D5EF-48A1-AA4F-EFA773AC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21526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quoted_evidence</a:t>
            </a:r>
          </a:p>
        </p:txBody>
      </p:sp>
      <p:sp>
        <p:nvSpPr>
          <p:cNvPr id="17" name="field-copy-6">
            <a:extLst xmlns:a="http://schemas.openxmlformats.org/drawingml/2006/main">
              <a:ext uri="{FF2B5EF4-FFF2-40B4-BE49-F238E27FC236}">
                <a16:creationId xmlns:a16="http://schemas.microsoft.com/office/drawing/2014/main" id="{4A322FE4-2D2B-4E12-BD10-0D0C8E61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原文短引證</a:t>
            </a:r>
          </a:p>
        </p:txBody>
      </p:sp>
      <p:sp>
        <p:nvSpPr>
          <p:cNvPr id="18" name="field-7">
            <a:extLst xmlns:a="http://schemas.openxmlformats.org/drawingml/2006/main">
              <a:ext uri="{FF2B5EF4-FFF2-40B4-BE49-F238E27FC236}">
                <a16:creationId xmlns:a16="http://schemas.microsoft.com/office/drawing/2014/main" id="{26C55549-BF20-49E5-ADAB-5E325E48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90900"/>
            <a:ext cx="21526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agent_summary</a:t>
            </a:r>
          </a:p>
        </p:txBody>
      </p:sp>
      <p:sp>
        <p:nvSpPr>
          <p:cNvPr id="19" name="field-copy-7">
            <a:extLst xmlns:a="http://schemas.openxmlformats.org/drawingml/2006/main">
              <a:ext uri="{FF2B5EF4-FFF2-40B4-BE49-F238E27FC236}">
                <a16:creationId xmlns:a16="http://schemas.microsoft.com/office/drawing/2014/main" id="{A7AF54AC-1F7C-43E0-8DCC-2A453392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2905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agent 摘要</a:t>
            </a:r>
          </a:p>
        </p:txBody>
      </p:sp>
      <p:sp>
        <p:nvSpPr>
          <p:cNvPr id="20" name="field-8">
            <a:extLst xmlns:a="http://schemas.openxmlformats.org/drawingml/2006/main">
              <a:ext uri="{FF2B5EF4-FFF2-40B4-BE49-F238E27FC236}">
                <a16:creationId xmlns:a16="http://schemas.microsoft.com/office/drawing/2014/main" id="{808D63E7-9FD4-46C5-A63A-DD545E53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390900"/>
            <a:ext cx="21526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1" name="field-copy-8">
            <a:extLst xmlns:a="http://schemas.openxmlformats.org/drawingml/2006/main">
              <a:ext uri="{FF2B5EF4-FFF2-40B4-BE49-F238E27FC236}">
                <a16:creationId xmlns:a16="http://schemas.microsoft.com/office/drawing/2014/main" id="{580028B5-1754-4D89-8881-846C5420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2905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high / medium / low</a:t>
            </a:r>
          </a:p>
        </p:txBody>
      </p:sp>
      <p:sp>
        <p:nvSpPr>
          <p:cNvPr id="22" name="field-9">
            <a:extLst xmlns:a="http://schemas.openxmlformats.org/drawingml/2006/main">
              <a:ext uri="{FF2B5EF4-FFF2-40B4-BE49-F238E27FC236}">
                <a16:creationId xmlns:a16="http://schemas.microsoft.com/office/drawing/2014/main" id="{E5511702-4649-4041-88D8-9854E05A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21526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needs_human_review</a:t>
            </a:r>
          </a:p>
        </p:txBody>
      </p:sp>
      <p:sp>
        <p:nvSpPr>
          <p:cNvPr id="23" name="field-copy-9">
            <a:extLst xmlns:a="http://schemas.openxmlformats.org/drawingml/2006/main">
              <a:ext uri="{FF2B5EF4-FFF2-40B4-BE49-F238E27FC236}">
                <a16:creationId xmlns:a16="http://schemas.microsoft.com/office/drawing/2014/main" id="{246C4625-023C-4F1D-9E8F-3E8477AB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TRUE / FALSE</a:t>
            </a:r>
          </a:p>
        </p:txBody>
      </p:sp>
      <p:sp>
        <p:nvSpPr>
          <p:cNvPr id="24" name="field-10">
            <a:extLst xmlns:a="http://schemas.openxmlformats.org/drawingml/2006/main">
              <a:ext uri="{FF2B5EF4-FFF2-40B4-BE49-F238E27FC236}">
                <a16:creationId xmlns:a16="http://schemas.microsoft.com/office/drawing/2014/main" id="{775C660A-19B7-4781-8105-494487B6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191000"/>
            <a:ext cx="21526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reviewer_correction</a:t>
            </a:r>
          </a:p>
        </p:txBody>
      </p:sp>
      <p:sp>
        <p:nvSpPr>
          <p:cNvPr id="25" name="field-copy-10">
            <a:extLst xmlns:a="http://schemas.openxmlformats.org/drawingml/2006/main">
              <a:ext uri="{FF2B5EF4-FFF2-40B4-BE49-F238E27FC236}">
                <a16:creationId xmlns:a16="http://schemas.microsoft.com/office/drawing/2014/main" id="{567FAE27-81EC-4465-A11A-B7222BCE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2915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人工修正</a:t>
            </a:r>
          </a:p>
        </p:txBody>
      </p:sp>
      <p:sp>
        <p:nvSpPr>
          <p:cNvPr id="26" name="field-11">
            <a:extLst xmlns:a="http://schemas.openxmlformats.org/drawingml/2006/main">
              <a:ext uri="{FF2B5EF4-FFF2-40B4-BE49-F238E27FC236}">
                <a16:creationId xmlns:a16="http://schemas.microsoft.com/office/drawing/2014/main" id="{7681E7BC-4999-4B17-B81F-042CC088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191000"/>
            <a:ext cx="21526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limitation</a:t>
            </a:r>
          </a:p>
        </p:txBody>
      </p:sp>
      <p:sp>
        <p:nvSpPr>
          <p:cNvPr id="27" name="field-copy-11">
            <a:extLst xmlns:a="http://schemas.openxmlformats.org/drawingml/2006/main">
              <a:ext uri="{FF2B5EF4-FFF2-40B4-BE49-F238E27FC236}">
                <a16:creationId xmlns:a16="http://schemas.microsoft.com/office/drawing/2014/main" id="{8D7F3766-5421-4190-B23C-A1356522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2915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限制和不確定性</a:t>
            </a:r>
          </a:p>
        </p:txBody>
      </p:sp>
      <p:sp>
        <p:nvSpPr>
          <p:cNvPr id="28" name="note">
            <a:extLst xmlns:a="http://schemas.openxmlformats.org/drawingml/2006/main">
              <a:ext uri="{FF2B5EF4-FFF2-40B4-BE49-F238E27FC236}">
                <a16:creationId xmlns:a16="http://schemas.microsoft.com/office/drawing/2014/main" id="{FDD24FC5-B7AF-4772-AA9D-787F2A1B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1975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不要只要摘要欄位；沒有 citation、quote、review 欄位，就很難抓錯。</a:t>
            </a:r>
          </a:p>
        </p:txBody>
      </p:sp>
    </p:spTree>
    <p:extLst>
      <p:ext uri="{BB962C8B-B14F-4D97-AF65-F5344CB8AC3E}">
        <p14:creationId xmlns:p14="http://schemas.microsoft.com/office/powerpoint/2010/main" val="9702427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D4DB2CC8-4118-4FD2-8932-2E2B7DA1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CSV HEADER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46C9335-6CF4-40AE-B38A-BF76D7DA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Evidence table CSV 欄位範本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1031848D-ECAB-4A1C-B94C-E2C7B35E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Hands-on lab: biomedical evidence table  |  9/38</a:t>
            </a:r>
          </a:p>
        </p:txBody>
      </p:sp>
      <p:sp>
        <p:nvSpPr>
          <p:cNvPr id="4" name="code-box">
            <a:extLst xmlns:a="http://schemas.openxmlformats.org/drawingml/2006/main">
              <a:ext uri="{FF2B5EF4-FFF2-40B4-BE49-F238E27FC236}">
                <a16:creationId xmlns:a16="http://schemas.microsoft.com/office/drawing/2014/main" id="{46A00100-5E83-4389-B130-2D59715D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10439400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9525">
            <a:solidFill>
              <a:srgbClr val="42515E"/>
            </a:solidFill>
            <a:prstDash val="solid"/>
          </a:ln>
        </p:spPr>
      </p:sp>
      <p:sp>
        <p:nvSpPr>
          <p:cNvPr id="5" name="code">
            <a:extLst xmlns:a="http://schemas.openxmlformats.org/drawingml/2006/main">
              <a:ext uri="{FF2B5EF4-FFF2-40B4-BE49-F238E27FC236}">
                <a16:creationId xmlns:a16="http://schemas.microsoft.com/office/drawing/2014/main" id="{CFD1474D-4EDC-40B8-ACE0-03A16A1CA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14550"/>
            <a:ext cx="98298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question,entity_type,entity,claim,evidence_type,source_title,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source_id,PMID_or_DOI,year,quoted_evidence,agent_summary,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confidence,limitation,needs_human_review,reviewer_correction</a:t>
            </a:r>
          </a:p>
        </p:txBody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804F9EB9-04EB-42A3-957D-A476F8D6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8165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欄位多一點不是為了漂亮，是為了讓錯誤比較難躲起來。</a:t>
            </a:r>
          </a:p>
        </p:txBody>
      </p:sp>
    </p:spTree>
    <p:extLst>
      <p:ext uri="{BB962C8B-B14F-4D97-AF65-F5344CB8AC3E}">
        <p14:creationId xmlns:p14="http://schemas.microsoft.com/office/powerpoint/2010/main" val="13712508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487FADFB-E4DE-463A-B19A-02F81B46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CONFIDENCE RUBRIC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8FBD36E-8984-4B21-B62E-0B20B0AB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Confidence 不是心情，是 evidence 規則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5E7D1572-2480-4ADF-9E80-4DF9ABA2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Hands-on lab: biomedical evidence table  |  10/38</a:t>
            </a:r>
          </a:p>
        </p:txBody>
      </p:sp>
      <p:sp>
        <p:nvSpPr>
          <p:cNvPr id="4" name="head-0">
            <a:extLst xmlns:a="http://schemas.openxmlformats.org/drawingml/2006/main">
              <a:ext uri="{FF2B5EF4-FFF2-40B4-BE49-F238E27FC236}">
                <a16:creationId xmlns:a16="http://schemas.microsoft.com/office/drawing/2014/main" id="{B1F98074-BF9C-4B12-863A-4048A22B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09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Label</a:t>
            </a:r>
          </a:p>
        </p:txBody>
      </p:sp>
      <p:sp>
        <p:nvSpPr>
          <p:cNvPr id="5" name="head-1">
            <a:extLst xmlns:a="http://schemas.openxmlformats.org/drawingml/2006/main">
              <a:ext uri="{FF2B5EF4-FFF2-40B4-BE49-F238E27FC236}">
                <a16:creationId xmlns:a16="http://schemas.microsoft.com/office/drawing/2014/main" id="{0B66276B-7FD4-4DDF-BBA5-4D4BB504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809750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Use when</a:t>
            </a:r>
          </a:p>
        </p:txBody>
      </p:sp>
      <p:sp>
        <p:nvSpPr>
          <p:cNvPr id="6" name="head-2">
            <a:extLst xmlns:a="http://schemas.openxmlformats.org/drawingml/2006/main">
              <a:ext uri="{FF2B5EF4-FFF2-40B4-BE49-F238E27FC236}">
                <a16:creationId xmlns:a16="http://schemas.microsoft.com/office/drawing/2014/main" id="{A4BF55D0-096C-4D5B-90CA-DB7E9049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09750"/>
            <a:ext cx="377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Do not use when</a:t>
            </a:r>
          </a:p>
        </p:txBody>
      </p:sp>
      <p:sp>
        <p:nvSpPr>
          <p:cNvPr id="7" name="r0c0">
            <a:extLst xmlns:a="http://schemas.openxmlformats.org/drawingml/2006/main">
              <a:ext uri="{FF2B5EF4-FFF2-40B4-BE49-F238E27FC236}">
                <a16:creationId xmlns:a16="http://schemas.microsoft.com/office/drawing/2014/main" id="{24426707-1B8D-4978-87EC-B05A9BB7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526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8" name="r0c1">
            <a:extLst xmlns:a="http://schemas.openxmlformats.org/drawingml/2006/main">
              <a:ext uri="{FF2B5EF4-FFF2-40B4-BE49-F238E27FC236}">
                <a16:creationId xmlns:a16="http://schemas.microsoft.com/office/drawing/2014/main" id="{33B24503-262D-4AEC-B7BC-2EFE058A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52675"/>
            <a:ext cx="335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85A4A"/>
                </a:solidFill>
                <a:latin typeface="Aptos"/>
                <a:ea typeface="Aptos"/>
                <a:cs typeface="Aptos"/>
              </a:rPr>
              <a:t>claim 有明確 primary source 或 guideline 支持</a:t>
            </a:r>
          </a:p>
        </p:txBody>
      </p:sp>
      <p:sp>
        <p:nvSpPr>
          <p:cNvPr id="9" name="r0c2">
            <a:extLst xmlns:a="http://schemas.openxmlformats.org/drawingml/2006/main">
              <a:ext uri="{FF2B5EF4-FFF2-40B4-BE49-F238E27FC236}">
                <a16:creationId xmlns:a16="http://schemas.microsoft.com/office/drawing/2014/main" id="{9B019B0B-F66E-4975-9A0E-E4D7D47A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526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E8F88"/>
                </a:solidFill>
                <a:latin typeface="Aptos"/>
                <a:ea typeface="Aptos"/>
                <a:cs typeface="Aptos"/>
              </a:rPr>
              <a:t>只有 review 泛泛提到</a:t>
            </a:r>
          </a:p>
        </p:txBody>
      </p:sp>
      <p:sp>
        <p:nvSpPr>
          <p:cNvPr id="10" name="rowline-0">
            <a:extLst xmlns:a="http://schemas.openxmlformats.org/drawingml/2006/main">
              <a:ext uri="{FF2B5EF4-FFF2-40B4-BE49-F238E27FC236}">
                <a16:creationId xmlns:a16="http://schemas.microsoft.com/office/drawing/2014/main" id="{CADFB224-23C2-415C-85AD-73119A3C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1" name="r1c0">
            <a:extLst xmlns:a="http://schemas.openxmlformats.org/drawingml/2006/main">
              <a:ext uri="{FF2B5EF4-FFF2-40B4-BE49-F238E27FC236}">
                <a16:creationId xmlns:a16="http://schemas.microsoft.com/office/drawing/2014/main" id="{B867A09F-D543-406B-993C-53062430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622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12" name="r1c1">
            <a:extLst xmlns:a="http://schemas.openxmlformats.org/drawingml/2006/main">
              <a:ext uri="{FF2B5EF4-FFF2-40B4-BE49-F238E27FC236}">
                <a16:creationId xmlns:a16="http://schemas.microsoft.com/office/drawing/2014/main" id="{EDD27C11-25E3-42B4-910A-E2A4A7C6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62275"/>
            <a:ext cx="335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85A4A"/>
                </a:solidFill>
                <a:latin typeface="Aptos"/>
                <a:ea typeface="Aptos"/>
                <a:cs typeface="Aptos"/>
              </a:rPr>
              <a:t>有相關證據，但 population / endpoint 不完全符合</a:t>
            </a:r>
          </a:p>
        </p:txBody>
      </p:sp>
      <p:sp>
        <p:nvSpPr>
          <p:cNvPr id="13" name="r1c2">
            <a:extLst xmlns:a="http://schemas.openxmlformats.org/drawingml/2006/main">
              <a:ext uri="{FF2B5EF4-FFF2-40B4-BE49-F238E27FC236}">
                <a16:creationId xmlns:a16="http://schemas.microsoft.com/office/drawing/2014/main" id="{74331CBC-EED1-497E-90A8-330B673D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622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模型自己推論出來</a:t>
            </a:r>
          </a:p>
        </p:txBody>
      </p:sp>
      <p:sp>
        <p:nvSpPr>
          <p:cNvPr id="14" name="rowline-1">
            <a:extLst xmlns:a="http://schemas.openxmlformats.org/drawingml/2006/main">
              <a:ext uri="{FF2B5EF4-FFF2-40B4-BE49-F238E27FC236}">
                <a16:creationId xmlns:a16="http://schemas.microsoft.com/office/drawing/2014/main" id="{3AFDC900-3AB0-4618-A88A-8CB8E726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5" name="r2c0">
            <a:extLst xmlns:a="http://schemas.openxmlformats.org/drawingml/2006/main">
              <a:ext uri="{FF2B5EF4-FFF2-40B4-BE49-F238E27FC236}">
                <a16:creationId xmlns:a16="http://schemas.microsoft.com/office/drawing/2014/main" id="{1C299739-5F91-4C47-9EAA-FF837952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718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Low</a:t>
            </a:r>
          </a:p>
        </p:txBody>
      </p:sp>
      <p:sp>
        <p:nvSpPr>
          <p:cNvPr id="16" name="r2c1">
            <a:extLst xmlns:a="http://schemas.openxmlformats.org/drawingml/2006/main">
              <a:ext uri="{FF2B5EF4-FFF2-40B4-BE49-F238E27FC236}">
                <a16:creationId xmlns:a16="http://schemas.microsoft.com/office/drawing/2014/main" id="{B04755EE-D00F-4512-A96C-04975139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571875"/>
            <a:ext cx="335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只有間接證據或來源品質弱</a:t>
            </a:r>
          </a:p>
        </p:txBody>
      </p:sp>
      <p:sp>
        <p:nvSpPr>
          <p:cNvPr id="17" name="r2c2">
            <a:extLst xmlns:a="http://schemas.openxmlformats.org/drawingml/2006/main">
              <a:ext uri="{FF2B5EF4-FFF2-40B4-BE49-F238E27FC236}">
                <a16:creationId xmlns:a16="http://schemas.microsoft.com/office/drawing/2014/main" id="{AC2895D2-8FEB-48CE-8C67-22B79B72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718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其實找不到來源</a:t>
            </a:r>
          </a:p>
        </p:txBody>
      </p:sp>
      <p:sp>
        <p:nvSpPr>
          <p:cNvPr id="18" name="rowline-2">
            <a:extLst xmlns:a="http://schemas.openxmlformats.org/drawingml/2006/main">
              <a:ext uri="{FF2B5EF4-FFF2-40B4-BE49-F238E27FC236}">
                <a16:creationId xmlns:a16="http://schemas.microsoft.com/office/drawing/2014/main" id="{61B7AE07-BAFF-439E-B9DB-EAD29769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9" name="r3c0">
            <a:extLst xmlns:a="http://schemas.openxmlformats.org/drawingml/2006/main">
              <a:ext uri="{FF2B5EF4-FFF2-40B4-BE49-F238E27FC236}">
                <a16:creationId xmlns:a16="http://schemas.microsoft.com/office/drawing/2014/main" id="{A78EA25F-C1A2-4E4F-9FDE-DEE2A30B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814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Not found</a:t>
            </a:r>
          </a:p>
        </p:txBody>
      </p:sp>
      <p:sp>
        <p:nvSpPr>
          <p:cNvPr id="20" name="r3c1">
            <a:extLst xmlns:a="http://schemas.openxmlformats.org/drawingml/2006/main">
              <a:ext uri="{FF2B5EF4-FFF2-40B4-BE49-F238E27FC236}">
                <a16:creationId xmlns:a16="http://schemas.microsoft.com/office/drawing/2014/main" id="{2C4AFF13-2776-459D-B83F-F2BFD2A2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181475"/>
            <a:ext cx="335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85A4A"/>
                </a:solidFill>
                <a:latin typeface="Aptos"/>
                <a:ea typeface="Aptos"/>
                <a:cs typeface="Aptos"/>
              </a:rPr>
              <a:t>查不到支持該 claim 的來源</a:t>
            </a:r>
          </a:p>
        </p:txBody>
      </p:sp>
      <p:sp>
        <p:nvSpPr>
          <p:cNvPr id="21" name="r3c2">
            <a:extLst xmlns:a="http://schemas.openxmlformats.org/drawingml/2006/main">
              <a:ext uri="{FF2B5EF4-FFF2-40B4-BE49-F238E27FC236}">
                <a16:creationId xmlns:a16="http://schemas.microsoft.com/office/drawing/2014/main" id="{E8476DA6-F44C-4C25-A4E2-6FD8DFE0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814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為了交作業硬填</a:t>
            </a:r>
          </a:p>
        </p:txBody>
      </p:sp>
      <p:sp>
        <p:nvSpPr>
          <p:cNvPr id="22" name="rowline-3">
            <a:extLst xmlns:a="http://schemas.openxmlformats.org/drawingml/2006/main">
              <a:ext uri="{FF2B5EF4-FFF2-40B4-BE49-F238E27FC236}">
                <a16:creationId xmlns:a16="http://schemas.microsoft.com/office/drawing/2014/main" id="{B3D58430-5F4B-4E42-9411-A01DCE077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1010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D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572770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CFF6AFE5-2CD1-4174-A963-B1E28C61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PART 2</a:t>
            </a:r>
          </a:p>
        </p:txBody>
      </p:sp>
      <p:sp>
        <p:nvSpPr>
          <p:cNvPr id="2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4A1311BC-816B-4424-A682-01554DDE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933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225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3225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Codex 示範：檔案型 workflow</a:t>
            </a:r>
          </a:p>
        </p:txBody>
      </p:sp>
      <p:sp>
        <p:nvSpPr>
          <p:cNvPr id="3" name="section-subtitle">
            <a:extLst xmlns:a="http://schemas.openxmlformats.org/drawingml/2006/main">
              <a:ext uri="{FF2B5EF4-FFF2-40B4-BE49-F238E27FC236}">
                <a16:creationId xmlns:a16="http://schemas.microsoft.com/office/drawing/2014/main" id="{956A60C7-E649-486A-A2E1-A08621DF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Codex 適合讀寫資料夾、產生 CSV、跑檢查程式、根據 reviewer correction 修改檔案。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5A84B30-1DBE-4978-AA79-3BA19898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Hands-on lab: biomedical evidence table  |  11/38</a:t>
            </a:r>
          </a:p>
        </p:txBody>
      </p:sp>
    </p:spTree>
    <p:extLst>
      <p:ext uri="{BB962C8B-B14F-4D97-AF65-F5344CB8AC3E}">
        <p14:creationId xmlns:p14="http://schemas.microsoft.com/office/powerpoint/2010/main" val="15589014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72262101-EB40-43D5-AD66-DEAD483E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STARTER FOLDER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D1B4E7A-BBD2-44F4-9242-E1444E9A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Codex lab folder 建議長這樣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8671A27E-4A31-4D53-9ADB-7671F10E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Hands-on lab: biomedical evidence table  |  12/38</a:t>
            </a:r>
          </a:p>
        </p:txBody>
      </p:sp>
      <p:sp>
        <p:nvSpPr>
          <p:cNvPr id="4" name="code-box">
            <a:extLst xmlns:a="http://schemas.openxmlformats.org/drawingml/2006/main">
              <a:ext uri="{FF2B5EF4-FFF2-40B4-BE49-F238E27FC236}">
                <a16:creationId xmlns:a16="http://schemas.microsoft.com/office/drawing/2014/main" id="{B2E8861B-1923-4402-A671-4F25ADA7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10439400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9525">
            <a:solidFill>
              <a:srgbClr val="42515E"/>
            </a:solidFill>
            <a:prstDash val="solid"/>
          </a:ln>
        </p:spPr>
      </p:sp>
      <p:sp>
        <p:nvSpPr>
          <p:cNvPr id="5" name="code">
            <a:extLst xmlns:a="http://schemas.openxmlformats.org/drawingml/2006/main">
              <a:ext uri="{FF2B5EF4-FFF2-40B4-BE49-F238E27FC236}">
                <a16:creationId xmlns:a16="http://schemas.microsoft.com/office/drawing/2014/main" id="{E9CBC33F-0BD5-45DC-9F2C-ADB17B32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14550"/>
            <a:ext cx="98298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lesson-05-lab/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  question.md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  task_spec.md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  sources/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  evidence_table.csv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  review_checklist.md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  final_summary.md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  scripts/check_table.py</a:t>
            </a:r>
          </a:p>
        </p:txBody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F183A64C-6D77-4D9E-882A-301E6DB5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8165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資料夾就是 workflow 的記憶。每一步輸出都留下來。</a:t>
            </a:r>
          </a:p>
        </p:txBody>
      </p:sp>
    </p:spTree>
    <p:extLst>
      <p:ext uri="{BB962C8B-B14F-4D97-AF65-F5344CB8AC3E}">
        <p14:creationId xmlns:p14="http://schemas.microsoft.com/office/powerpoint/2010/main" val="196802353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D7845A9B-8CCA-4297-BC1E-F2AE526E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QUESTION.MD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C3F9DB6-05EF-4FF0-B799-2D4F540A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question.md 範例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ED85BB07-22DF-492E-B5A9-49B5653A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Hands-on lab: biomedical evidence table  |  13/38</a:t>
            </a:r>
          </a:p>
        </p:txBody>
      </p:sp>
      <p:sp>
        <p:nvSpPr>
          <p:cNvPr id="4" name="code-box">
            <a:extLst xmlns:a="http://schemas.openxmlformats.org/drawingml/2006/main">
              <a:ext uri="{FF2B5EF4-FFF2-40B4-BE49-F238E27FC236}">
                <a16:creationId xmlns:a16="http://schemas.microsoft.com/office/drawing/2014/main" id="{D97CBCF4-8FE2-4655-93B3-2F02F1A6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10439400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9525">
            <a:solidFill>
              <a:srgbClr val="42515E"/>
            </a:solidFill>
            <a:prstDash val="solid"/>
          </a:ln>
        </p:spPr>
      </p:sp>
      <p:sp>
        <p:nvSpPr>
          <p:cNvPr id="5" name="code">
            <a:extLst xmlns:a="http://schemas.openxmlformats.org/drawingml/2006/main">
              <a:ext uri="{FF2B5EF4-FFF2-40B4-BE49-F238E27FC236}">
                <a16:creationId xmlns:a16="http://schemas.microsoft.com/office/drawing/2014/main" id="{D82C7E6D-C6DA-44BA-9CA2-114834FA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14550"/>
            <a:ext cx="98298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# Research question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What evidence supports the association between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EGFR exon 19 deletion and response to EGFR-TKI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therapy in non-small cell lung cancer?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Scope: human NSCLC only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Do not make patient-specific treatment advice.</a:t>
            </a:r>
          </a:p>
        </p:txBody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783763BD-09C7-427E-B99C-19919112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8165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先把 scope 寫死，否則 agent 很容易把題目越做越大。</a:t>
            </a:r>
          </a:p>
        </p:txBody>
      </p:sp>
    </p:spTree>
    <p:extLst>
      <p:ext uri="{BB962C8B-B14F-4D97-AF65-F5344CB8AC3E}">
        <p14:creationId xmlns:p14="http://schemas.microsoft.com/office/powerpoint/2010/main" val="30643544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10266ED5-3A84-4593-B021-B5A7D559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CODEX PROMPT 1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5156EC8-FE43-498D-9BA9-D57AC6A4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Codex demo prompt：建立初版 table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24989AFA-3D03-45D3-879A-42C11171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Hands-on lab: biomedical evidence table  |  14/38</a:t>
            </a:r>
          </a:p>
        </p:txBody>
      </p:sp>
      <p:sp>
        <p:nvSpPr>
          <p:cNvPr id="4" name="code-box">
            <a:extLst xmlns:a="http://schemas.openxmlformats.org/drawingml/2006/main">
              <a:ext uri="{FF2B5EF4-FFF2-40B4-BE49-F238E27FC236}">
                <a16:creationId xmlns:a16="http://schemas.microsoft.com/office/drawing/2014/main" id="{761FB2E8-1F30-4B96-9506-F2F51EE2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10439400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9525">
            <a:solidFill>
              <a:srgbClr val="42515E"/>
            </a:solidFill>
            <a:prstDash val="solid"/>
          </a:ln>
        </p:spPr>
      </p:sp>
      <p:sp>
        <p:nvSpPr>
          <p:cNvPr id="5" name="code">
            <a:extLst xmlns:a="http://schemas.openxmlformats.org/drawingml/2006/main">
              <a:ext uri="{FF2B5EF4-FFF2-40B4-BE49-F238E27FC236}">
                <a16:creationId xmlns:a16="http://schemas.microsoft.com/office/drawing/2014/main" id="{0EB958E1-A993-434F-857C-33E3E1D2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14550"/>
            <a:ext cx="98298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Read question.md and task_spec.md.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Create evidence_table.csv using the required columns.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Find candidate evidence from sources/ first.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For each claim, include source_id, PMID_or_DOI,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quoted_evidence, confidence, and needs_human_review.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If evidence is missing, write not_found.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Do not invent citations.</a:t>
            </a:r>
          </a:p>
        </p:txBody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441A0CCC-46E9-4365-80AD-B6ED3F96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8165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這個 prompt 的重點是：先讀規格、先用來源、缺證據就停止。</a:t>
            </a:r>
          </a:p>
        </p:txBody>
      </p:sp>
    </p:spTree>
    <p:extLst>
      <p:ext uri="{BB962C8B-B14F-4D97-AF65-F5344CB8AC3E}">
        <p14:creationId xmlns:p14="http://schemas.microsoft.com/office/powerpoint/2010/main" val="1285191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F7BC38EF-560E-4851-9C57-DB152F9F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CODEX PROMPT 2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0F7E28-CC8C-40DB-AA57-094B97A3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Codex demo prompt：根據人工檢查修正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A63CCBD4-FE8F-47AB-848C-E65F1E5B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Hands-on lab: biomedical evidence table  |  15/38</a:t>
            </a:r>
          </a:p>
        </p:txBody>
      </p:sp>
      <p:sp>
        <p:nvSpPr>
          <p:cNvPr id="4" name="code-box">
            <a:extLst xmlns:a="http://schemas.openxmlformats.org/drawingml/2006/main">
              <a:ext uri="{FF2B5EF4-FFF2-40B4-BE49-F238E27FC236}">
                <a16:creationId xmlns:a16="http://schemas.microsoft.com/office/drawing/2014/main" id="{2F26EA3C-A727-4FD1-A180-AE1DE419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10439400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9525">
            <a:solidFill>
              <a:srgbClr val="42515E"/>
            </a:solidFill>
            <a:prstDash val="solid"/>
          </a:ln>
        </p:spPr>
      </p:sp>
      <p:sp>
        <p:nvSpPr>
          <p:cNvPr id="5" name="code">
            <a:extLst xmlns:a="http://schemas.openxmlformats.org/drawingml/2006/main">
              <a:ext uri="{FF2B5EF4-FFF2-40B4-BE49-F238E27FC236}">
                <a16:creationId xmlns:a16="http://schemas.microsoft.com/office/drawing/2014/main" id="{F212C500-A234-4368-AF87-67720BAA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14550"/>
            <a:ext cx="98298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Read review_checklist.md and evidence_table.csv.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Apply reviewer corrections only where the checklist says so.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Do not add new claims unless a source_id is provided.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Keep old content in reviewer_correction when a row changes.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Then update final_summary.md in 5-8 sentences.</a:t>
            </a:r>
          </a:p>
        </p:txBody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E24E2D2C-BE08-4938-97E9-9CD587C4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8165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修正階段要把人工 review 當權威，不要讓 agent 自己再發揮一次。</a:t>
            </a:r>
          </a:p>
        </p:txBody>
      </p:sp>
    </p:spTree>
    <p:extLst>
      <p:ext uri="{BB962C8B-B14F-4D97-AF65-F5344CB8AC3E}">
        <p14:creationId xmlns:p14="http://schemas.microsoft.com/office/powerpoint/2010/main" val="78180056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941A0D05-1FFD-4914-9AF9-4C073ED0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CHECK SCRIPT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C102AD1-99A4-482A-9C7D-8D560FAD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Python 檢查：欄位是否完整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AAA1FBC6-6D6D-46C0-93C5-90EB4D3E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Hands-on lab: biomedical evidence table  |  16/38</a:t>
            </a:r>
          </a:p>
        </p:txBody>
      </p:sp>
      <p:sp>
        <p:nvSpPr>
          <p:cNvPr id="4" name="code-box">
            <a:extLst xmlns:a="http://schemas.openxmlformats.org/drawingml/2006/main">
              <a:ext uri="{FF2B5EF4-FFF2-40B4-BE49-F238E27FC236}">
                <a16:creationId xmlns:a16="http://schemas.microsoft.com/office/drawing/2014/main" id="{E8EF0813-A57F-49FD-B56B-77F752A9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10439400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9525">
            <a:solidFill>
              <a:srgbClr val="42515E"/>
            </a:solidFill>
            <a:prstDash val="solid"/>
          </a:ln>
        </p:spPr>
      </p:sp>
      <p:sp>
        <p:nvSpPr>
          <p:cNvPr id="5" name="code">
            <a:extLst xmlns:a="http://schemas.openxmlformats.org/drawingml/2006/main">
              <a:ext uri="{FF2B5EF4-FFF2-40B4-BE49-F238E27FC236}">
                <a16:creationId xmlns:a16="http://schemas.microsoft.com/office/drawing/2014/main" id="{D2575238-EB82-433D-AD7B-B19B1D85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14550"/>
            <a:ext cx="98298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import csv, sys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required = ["claim", "source_id", "PMID_or_DOI",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            "quoted_evidence", "confidence",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            "needs_human_review"]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with open("evidence_table.csv", newline="") as f: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    rows = list(csv.DictReader(f))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missing = [c for c in required if c not in rows[0]]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if missing: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    sys.exit("Missing columns: " + ", ".join(missing))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print(f"OK: {len(rows)} evidence rows")</a:t>
            </a:r>
          </a:p>
        </p:txBody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FA116389-19AC-41C6-9101-7245274C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8165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先檢查表格結構，再討論內容品質。</a:t>
            </a:r>
          </a:p>
        </p:txBody>
      </p:sp>
    </p:spTree>
    <p:extLst>
      <p:ext uri="{BB962C8B-B14F-4D97-AF65-F5344CB8AC3E}">
        <p14:creationId xmlns:p14="http://schemas.microsoft.com/office/powerpoint/2010/main" val="209054786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2C89ABFB-D6A2-41AC-AC12-BEB05E5D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CHECK SCRIPT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57CCBC6-F798-45FA-B809-18FA4BA2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Python 檢查：不能有空 citation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A7136E99-A884-480C-80B4-8E137089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Hands-on lab: biomedical evidence table  |  17/38</a:t>
            </a:r>
          </a:p>
        </p:txBody>
      </p:sp>
      <p:sp>
        <p:nvSpPr>
          <p:cNvPr id="4" name="code-box">
            <a:extLst xmlns:a="http://schemas.openxmlformats.org/drawingml/2006/main">
              <a:ext uri="{FF2B5EF4-FFF2-40B4-BE49-F238E27FC236}">
                <a16:creationId xmlns:a16="http://schemas.microsoft.com/office/drawing/2014/main" id="{1C404FD3-CBB9-4D0F-93A3-CC38631E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10439400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9525">
            <a:solidFill>
              <a:srgbClr val="42515E"/>
            </a:solidFill>
            <a:prstDash val="solid"/>
          </a:ln>
        </p:spPr>
      </p:sp>
      <p:sp>
        <p:nvSpPr>
          <p:cNvPr id="5" name="code">
            <a:extLst xmlns:a="http://schemas.openxmlformats.org/drawingml/2006/main">
              <a:ext uri="{FF2B5EF4-FFF2-40B4-BE49-F238E27FC236}">
                <a16:creationId xmlns:a16="http://schemas.microsoft.com/office/drawing/2014/main" id="{8552EAAF-43FE-45B5-8E63-616C2E0C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14550"/>
            <a:ext cx="98298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bad = []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for i, row in enumerate(rows, start=2):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    if row["PMID_or_DOI"].strip() in ["", "TBD", "unknown"]: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        bad.append((i, row["claim"]))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    if row["quoted_evidence"].strip() == "":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        bad.append((i, "missing quote"))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if bad: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    for line, problem in bad: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        print(f"Line {line}: {problem}")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    sys.exit("Fix citation / quote fields")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print("OK: citation fields are filled")</a:t>
            </a:r>
          </a:p>
        </p:txBody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1835EA49-1773-4BA8-9070-B19BAD1C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8165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程式檢查抓格式，人工檢查抓真假。兩個都要。</a:t>
            </a:r>
          </a:p>
        </p:txBody>
      </p:sp>
    </p:spTree>
    <p:extLst>
      <p:ext uri="{BB962C8B-B14F-4D97-AF65-F5344CB8AC3E}">
        <p14:creationId xmlns:p14="http://schemas.microsoft.com/office/powerpoint/2010/main" val="115528913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9B1EC1E6-92B0-4661-ADA8-F88D29E7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PART 3</a:t>
            </a:r>
          </a:p>
        </p:txBody>
      </p:sp>
      <p:sp>
        <p:nvSpPr>
          <p:cNvPr id="2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F3BB3427-C18A-449C-8053-283E3FA4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933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225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3225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Gemini 示範：source discovery + 初步整理</a:t>
            </a:r>
          </a:p>
        </p:txBody>
      </p:sp>
      <p:sp>
        <p:nvSpPr>
          <p:cNvPr id="3" name="section-subtitle">
            <a:extLst xmlns:a="http://schemas.openxmlformats.org/drawingml/2006/main">
              <a:ext uri="{FF2B5EF4-FFF2-40B4-BE49-F238E27FC236}">
                <a16:creationId xmlns:a16="http://schemas.microsoft.com/office/drawing/2014/main" id="{24980E2C-FC7E-402F-A9F6-63E6D4D8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Gemini 可以當資料探索和初步整理範例，但 citation 仍然要人工打開確認。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F228450-E56C-4226-BEE6-F9A1C98D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Hands-on lab: biomedical evidence table  |  18/38</a:t>
            </a:r>
          </a:p>
        </p:txBody>
      </p:sp>
    </p:spTree>
    <p:extLst>
      <p:ext uri="{BB962C8B-B14F-4D97-AF65-F5344CB8AC3E}">
        <p14:creationId xmlns:p14="http://schemas.microsoft.com/office/powerpoint/2010/main" val="163189931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CBD8EEA7-7926-4B21-8683-30CD1A00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GEMINI PROMPT 1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F348F64-0738-4C85-A347-E5D8931A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Gemini demo prompt：找候選來源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1EF871C2-59EB-4F21-8D58-E5CCA660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Hands-on lab: biomedical evidence table  |  19/38</a:t>
            </a:r>
          </a:p>
        </p:txBody>
      </p:sp>
      <p:sp>
        <p:nvSpPr>
          <p:cNvPr id="4" name="code-box">
            <a:extLst xmlns:a="http://schemas.openxmlformats.org/drawingml/2006/main">
              <a:ext uri="{FF2B5EF4-FFF2-40B4-BE49-F238E27FC236}">
                <a16:creationId xmlns:a16="http://schemas.microsoft.com/office/drawing/2014/main" id="{2193C7C0-F1A2-4FFB-8111-E62D7540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10439400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9525">
            <a:solidFill>
              <a:srgbClr val="42515E"/>
            </a:solidFill>
            <a:prstDash val="solid"/>
          </a:ln>
        </p:spPr>
      </p:sp>
      <p:sp>
        <p:nvSpPr>
          <p:cNvPr id="5" name="code">
            <a:extLst xmlns:a="http://schemas.openxmlformats.org/drawingml/2006/main">
              <a:ext uri="{FF2B5EF4-FFF2-40B4-BE49-F238E27FC236}">
                <a16:creationId xmlns:a16="http://schemas.microsoft.com/office/drawing/2014/main" id="{82AD6F28-E810-41AF-A79B-88FA9EBD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14550"/>
            <a:ext cx="98298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I am building a biomedical evidence table.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Question: &lt;paste one focused question&gt;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Find candidate sources only.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Return a table with: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- source title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- PMID or DOI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- one-sentence relevance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- why it may be useful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- what must be manually checked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Do not make final claims yet.</a:t>
            </a:r>
          </a:p>
        </p:txBody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089E9247-9E82-43E8-A83C-590741B9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8165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Gemini 這一步只做 source discovery，不急著讓它下結論。</a:t>
            </a:r>
          </a:p>
        </p:txBody>
      </p:sp>
    </p:spTree>
    <p:extLst>
      <p:ext uri="{BB962C8B-B14F-4D97-AF65-F5344CB8AC3E}">
        <p14:creationId xmlns:p14="http://schemas.microsoft.com/office/powerpoint/2010/main" val="156143435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0A2F44CC-C16C-481C-BF48-192A4ADE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GEMINI PROMPT 2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C96B941-18A5-41DA-93D4-8FC48522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Gemini demo prompt：把候選來源變成 draft rows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09D9F499-4373-401E-AD42-F74954B9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Hands-on lab: biomedical evidence table  |  20/38</a:t>
            </a:r>
          </a:p>
        </p:txBody>
      </p:sp>
      <p:sp>
        <p:nvSpPr>
          <p:cNvPr id="4" name="code-box">
            <a:extLst xmlns:a="http://schemas.openxmlformats.org/drawingml/2006/main">
              <a:ext uri="{FF2B5EF4-FFF2-40B4-BE49-F238E27FC236}">
                <a16:creationId xmlns:a16="http://schemas.microsoft.com/office/drawing/2014/main" id="{B331878D-FB4E-4167-8C38-8CB9DF8F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10439400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9525">
            <a:solidFill>
              <a:srgbClr val="42515E"/>
            </a:solidFill>
            <a:prstDash val="solid"/>
          </a:ln>
        </p:spPr>
      </p:sp>
      <p:sp>
        <p:nvSpPr>
          <p:cNvPr id="5" name="code">
            <a:extLst xmlns:a="http://schemas.openxmlformats.org/drawingml/2006/main">
              <a:ext uri="{FF2B5EF4-FFF2-40B4-BE49-F238E27FC236}">
                <a16:creationId xmlns:a16="http://schemas.microsoft.com/office/drawing/2014/main" id="{A39B0841-4789-4952-ABC9-3A54D12A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14550"/>
            <a:ext cx="98298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Using only the candidate sources above,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draft evidence_table rows with these fields: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claim, evidence_type, source_id, PMID_or_DOI,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quoted_evidence, agent_summary, confidence,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limitation, needs_human_review.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If a source does not clearly support the claim,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write confidence=low and needs_human_review=TRUE.</a:t>
            </a:r>
          </a:p>
        </p:txBody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7EF972D4-9366-4724-8DB2-002D6A93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8165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Gemini 初稿可以快，但每個 PMID / DOI 仍要自己點開查。</a:t>
            </a:r>
          </a:p>
        </p:txBody>
      </p:sp>
    </p:spTree>
    <p:extLst>
      <p:ext uri="{BB962C8B-B14F-4D97-AF65-F5344CB8AC3E}">
        <p14:creationId xmlns:p14="http://schemas.microsoft.com/office/powerpoint/2010/main" val="37650645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4D5F97A1-C0E3-4654-99D0-5FF6933E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CODEX VS GEMINI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181518D-B60E-4652-80A8-41E72882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兩個 agent 在這堂 lab 的角色不同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948D32BF-61EA-46D2-9E05-36E5894B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Hands-on lab: biomedical evidence table  |  21/38</a:t>
            </a:r>
          </a:p>
        </p:txBody>
      </p:sp>
      <p:sp>
        <p:nvSpPr>
          <p:cNvPr id="4" name="left-box">
            <a:extLst xmlns:a="http://schemas.openxmlformats.org/drawingml/2006/main">
              <a:ext uri="{FF2B5EF4-FFF2-40B4-BE49-F238E27FC236}">
                <a16:creationId xmlns:a16="http://schemas.microsoft.com/office/drawing/2014/main" id="{36EF0316-630B-473A-9CBE-40B8724F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57400"/>
            <a:ext cx="457200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</p:sp>
      <p:sp>
        <p:nvSpPr>
          <p:cNvPr id="5" name="left-title">
            <a:extLst xmlns:a="http://schemas.openxmlformats.org/drawingml/2006/main">
              <a:ext uri="{FF2B5EF4-FFF2-40B4-BE49-F238E27FC236}">
                <a16:creationId xmlns:a16="http://schemas.microsoft.com/office/drawing/2014/main" id="{9532EA08-DE30-4A09-A0F6-F3B22E07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812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Codex route</a:t>
            </a:r>
          </a:p>
        </p:txBody>
      </p:sp>
      <p:sp>
        <p:nvSpPr>
          <p:cNvPr id="6" name="left-list">
            <a:extLst xmlns:a="http://schemas.openxmlformats.org/drawingml/2006/main">
              <a:ext uri="{FF2B5EF4-FFF2-40B4-BE49-F238E27FC236}">
                <a16:creationId xmlns:a16="http://schemas.microsoft.com/office/drawing/2014/main" id="{1517BED4-70F1-46BE-AC5E-42F7A837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48000"/>
            <a:ext cx="3333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9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檔案型 workflow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9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CSV / Markdown 產出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9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跑 Python 檢查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9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依 reviewer correction 修改</a:t>
            </a:r>
          </a:p>
        </p:txBody>
      </p:sp>
      <p:sp>
        <p:nvSpPr>
          <p:cNvPr id="7" name="right-box">
            <a:extLst xmlns:a="http://schemas.openxmlformats.org/drawingml/2006/main">
              <a:ext uri="{FF2B5EF4-FFF2-40B4-BE49-F238E27FC236}">
                <a16:creationId xmlns:a16="http://schemas.microsoft.com/office/drawing/2014/main" id="{D98588D2-B9BD-422A-ADEF-5A74D77F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57400"/>
            <a:ext cx="457200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</p:sp>
      <p:sp>
        <p:nvSpPr>
          <p:cNvPr id="8" name="right-title">
            <a:extLst xmlns:a="http://schemas.openxmlformats.org/drawingml/2006/main">
              <a:ext uri="{FF2B5EF4-FFF2-40B4-BE49-F238E27FC236}">
                <a16:creationId xmlns:a16="http://schemas.microsoft.com/office/drawing/2014/main" id="{7919D1AD-55F2-424A-B268-1E8CDD1B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812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Gemini route</a:t>
            </a:r>
          </a:p>
        </p:txBody>
      </p:sp>
      <p:sp>
        <p:nvSpPr>
          <p:cNvPr id="9" name="right-list">
            <a:extLst xmlns:a="http://schemas.openxmlformats.org/drawingml/2006/main">
              <a:ext uri="{FF2B5EF4-FFF2-40B4-BE49-F238E27FC236}">
                <a16:creationId xmlns:a16="http://schemas.microsoft.com/office/drawing/2014/main" id="{D9279510-50EE-4979-AC0C-4F1230C4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48000"/>
            <a:ext cx="3333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9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source discovery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9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快速比較候選文獻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9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產生初版 rows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9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列出人工確認點</a:t>
            </a:r>
          </a:p>
        </p:txBody>
      </p:sp>
      <p:sp>
        <p:nvSpPr>
          <p:cNvPr id="10" name="note">
            <a:extLst xmlns:a="http://schemas.openxmlformats.org/drawingml/2006/main">
              <a:ext uri="{FF2B5EF4-FFF2-40B4-BE49-F238E27FC236}">
                <a16:creationId xmlns:a16="http://schemas.microsoft.com/office/drawing/2014/main" id="{D4AC76DD-8F07-472A-8A42-600250B8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81650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兩條路都可以；最後都必須回到人工驗證。</a:t>
            </a:r>
          </a:p>
        </p:txBody>
      </p:sp>
    </p:spTree>
    <p:extLst>
      <p:ext uri="{BB962C8B-B14F-4D97-AF65-F5344CB8AC3E}">
        <p14:creationId xmlns:p14="http://schemas.microsoft.com/office/powerpoint/2010/main" val="31279633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EA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042B57F7-D571-4902-B14D-6C111638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PART 4</a:t>
            </a:r>
          </a:p>
        </p:txBody>
      </p:sp>
      <p:sp>
        <p:nvSpPr>
          <p:cNvPr id="2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D1C91769-17B1-417D-8219-7B573C25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933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225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3225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學生實作：建立初版 evidence table</a:t>
            </a:r>
          </a:p>
        </p:txBody>
      </p:sp>
      <p:sp>
        <p:nvSpPr>
          <p:cNvPr id="3" name="section-subtitle">
            <a:extLst xmlns:a="http://schemas.openxmlformats.org/drawingml/2006/main">
              <a:ext uri="{FF2B5EF4-FFF2-40B4-BE49-F238E27FC236}">
                <a16:creationId xmlns:a16="http://schemas.microsoft.com/office/drawing/2014/main" id="{8DE265C6-346B-4E97-94C0-38B8E5AA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現在開始不是看老師表演，是讓 agent 替你產生可檢查的初稿。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41E36E9-F06D-4499-98EA-693E7258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Hands-on lab: biomedical evidence table  |  22/38</a:t>
            </a:r>
          </a:p>
        </p:txBody>
      </p:sp>
    </p:spTree>
    <p:extLst>
      <p:ext uri="{BB962C8B-B14F-4D97-AF65-F5344CB8AC3E}">
        <p14:creationId xmlns:p14="http://schemas.microsoft.com/office/powerpoint/2010/main" val="208438116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D19A3D7D-CAF9-48C7-A2E5-B457747E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STUDENT STEP 1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E3AB368-B1BA-4FA0-B0B9-1850CF9F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先選題，再縮小 scope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A1AE4ADC-E2BA-46CC-9735-7D1D0829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Hands-on lab: biomedical evidence table  |  23/38</a:t>
            </a:r>
          </a:p>
        </p:txBody>
      </p:sp>
      <p:sp>
        <p:nvSpPr>
          <p:cNvPr id="4" name="bullets">
            <a:extLst xmlns:a="http://schemas.openxmlformats.org/drawingml/2006/main">
              <a:ext uri="{FF2B5EF4-FFF2-40B4-BE49-F238E27FC236}">
                <a16:creationId xmlns:a16="http://schemas.microsoft.com/office/drawing/2014/main" id="{59C78AB3-5759-4DBF-922A-8CA13450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38350"/>
            <a:ext cx="56769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只能選一個 gene / drug / disease 問題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指定 disease subtype、population、endpoint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避開「整理所有證據」這種會爆炸的題目</a:t>
            </a:r>
          </a:p>
        </p:txBody>
      </p:sp>
      <p:sp>
        <p:nvSpPr>
          <p:cNvPr id="5" name="callout">
            <a:extLst xmlns:a="http://schemas.openxmlformats.org/drawingml/2006/main">
              <a:ext uri="{FF2B5EF4-FFF2-40B4-BE49-F238E27FC236}">
                <a16:creationId xmlns:a16="http://schemas.microsoft.com/office/drawing/2014/main" id="{BA32531E-F195-41B6-AE3C-15D497EA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05050"/>
            <a:ext cx="33147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</p:sp>
      <p:sp>
        <p:nvSpPr>
          <p:cNvPr id="6" name="callout-text">
            <a:extLst xmlns:a="http://schemas.openxmlformats.org/drawingml/2006/main">
              <a:ext uri="{FF2B5EF4-FFF2-40B4-BE49-F238E27FC236}">
                <a16:creationId xmlns:a16="http://schemas.microsoft.com/office/drawing/2014/main" id="{389B7494-8C97-4897-BC5D-17363B25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81300"/>
            <a:ext cx="2590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875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題目越小，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 sz="1875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越能驗證。</a:t>
            </a:r>
          </a:p>
        </p:txBody>
      </p:sp>
    </p:spTree>
    <p:extLst>
      <p:ext uri="{BB962C8B-B14F-4D97-AF65-F5344CB8AC3E}">
        <p14:creationId xmlns:p14="http://schemas.microsoft.com/office/powerpoint/2010/main" val="55479004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4D330337-FFD0-4335-B1AE-E9CE53ED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STUDENT STEP 2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3D268BB-A6B9-47DD-9A0C-2F434893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把 task spec 交給 agent，而不是交給命運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DAC10084-2A32-4BF6-AF54-3C455DC6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Hands-on lab: biomedical evidence table  |  24/38</a:t>
            </a:r>
          </a:p>
        </p:txBody>
      </p:sp>
      <p:sp>
        <p:nvSpPr>
          <p:cNvPr id="4" name="bullets">
            <a:extLst xmlns:a="http://schemas.openxmlformats.org/drawingml/2006/main">
              <a:ext uri="{FF2B5EF4-FFF2-40B4-BE49-F238E27FC236}">
                <a16:creationId xmlns:a16="http://schemas.microsoft.com/office/drawing/2014/main" id="{BA40EB0E-96F2-412E-9747-8715BFA7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38350"/>
            <a:ext cx="56769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貼上 task_spec.md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指定 evidence table 欄位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指定 not_found_rule 和 human_review_boundary</a:t>
            </a:r>
          </a:p>
        </p:txBody>
      </p:sp>
      <p:sp>
        <p:nvSpPr>
          <p:cNvPr id="5" name="callout">
            <a:extLst xmlns:a="http://schemas.openxmlformats.org/drawingml/2006/main">
              <a:ext uri="{FF2B5EF4-FFF2-40B4-BE49-F238E27FC236}">
                <a16:creationId xmlns:a16="http://schemas.microsoft.com/office/drawing/2014/main" id="{B19517A9-738E-4136-A058-F77BB2E8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05050"/>
            <a:ext cx="33147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</p:sp>
      <p:sp>
        <p:nvSpPr>
          <p:cNvPr id="6" name="callout-text">
            <a:extLst xmlns:a="http://schemas.openxmlformats.org/drawingml/2006/main">
              <a:ext uri="{FF2B5EF4-FFF2-40B4-BE49-F238E27FC236}">
                <a16:creationId xmlns:a16="http://schemas.microsoft.com/office/drawing/2014/main" id="{2B7BB518-1CE6-4B6A-B36B-81A5B415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81300"/>
            <a:ext cx="2590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875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規格越清楚，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 sz="1875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AI 越少亂補。</a:t>
            </a:r>
          </a:p>
        </p:txBody>
      </p:sp>
    </p:spTree>
    <p:extLst>
      <p:ext uri="{BB962C8B-B14F-4D97-AF65-F5344CB8AC3E}">
        <p14:creationId xmlns:p14="http://schemas.microsoft.com/office/powerpoint/2010/main" val="2301228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7474EAA0-BA5C-40DB-A956-8F50D5F3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STUDENT STEP 3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E5216B6-C00A-4F6C-91EC-ADDE254D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讓 agent 產生初版，不要急著相信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2E6974E8-F5BA-487F-BE58-DF78951E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Hands-on lab: biomedical evidence table  |  25/38</a:t>
            </a:r>
          </a:p>
        </p:txBody>
      </p:sp>
      <p:sp>
        <p:nvSpPr>
          <p:cNvPr id="4" name="bullets">
            <a:extLst xmlns:a="http://schemas.openxmlformats.org/drawingml/2006/main">
              <a:ext uri="{FF2B5EF4-FFF2-40B4-BE49-F238E27FC236}">
                <a16:creationId xmlns:a16="http://schemas.microsoft.com/office/drawing/2014/main" id="{CAA862C9-0047-4677-B8AA-79AB69B4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38350"/>
            <a:ext cx="56769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初版 table 至少 5-8 rows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每列必須有 claim、source_id、quote、confidence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沒有來源的 row 要標 not_found 或刪除</a:t>
            </a:r>
          </a:p>
        </p:txBody>
      </p:sp>
      <p:sp>
        <p:nvSpPr>
          <p:cNvPr id="5" name="callout">
            <a:extLst xmlns:a="http://schemas.openxmlformats.org/drawingml/2006/main">
              <a:ext uri="{FF2B5EF4-FFF2-40B4-BE49-F238E27FC236}">
                <a16:creationId xmlns:a16="http://schemas.microsoft.com/office/drawing/2014/main" id="{67D62CFA-02CC-4BD4-B232-0BED5035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05050"/>
            <a:ext cx="33147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</p:sp>
      <p:sp>
        <p:nvSpPr>
          <p:cNvPr id="6" name="callout-text">
            <a:extLst xmlns:a="http://schemas.openxmlformats.org/drawingml/2006/main">
              <a:ext uri="{FF2B5EF4-FFF2-40B4-BE49-F238E27FC236}">
                <a16:creationId xmlns:a16="http://schemas.microsoft.com/office/drawing/2014/main" id="{3305A588-264F-4069-827C-C3BF6125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81300"/>
            <a:ext cx="2590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875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初版只是草稿，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 sz="1875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不是成果。</a:t>
            </a:r>
          </a:p>
        </p:txBody>
      </p:sp>
    </p:spTree>
    <p:extLst>
      <p:ext uri="{BB962C8B-B14F-4D97-AF65-F5344CB8AC3E}">
        <p14:creationId xmlns:p14="http://schemas.microsoft.com/office/powerpoint/2010/main" val="176262491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548052A4-B6F8-4EE6-BE1F-6C9BB090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MINIMUM TABLE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DA42173-613A-438A-BC73-55743377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最小可接受 evidence row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71EF1FFD-F7EA-4FEE-BC2B-43E478EF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Hands-on lab: biomedical evidence table  |  26/38</a:t>
            </a:r>
          </a:p>
        </p:txBody>
      </p:sp>
      <p:sp>
        <p:nvSpPr>
          <p:cNvPr id="4" name="code-box">
            <a:extLst xmlns:a="http://schemas.openxmlformats.org/drawingml/2006/main">
              <a:ext uri="{FF2B5EF4-FFF2-40B4-BE49-F238E27FC236}">
                <a16:creationId xmlns:a16="http://schemas.microsoft.com/office/drawing/2014/main" id="{26D44265-278B-42D6-8162-A319F0AE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10439400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9525">
            <a:solidFill>
              <a:srgbClr val="42515E"/>
            </a:solidFill>
            <a:prstDash val="solid"/>
          </a:ln>
        </p:spPr>
      </p:sp>
      <p:sp>
        <p:nvSpPr>
          <p:cNvPr id="5" name="code">
            <a:extLst xmlns:a="http://schemas.openxmlformats.org/drawingml/2006/main">
              <a:ext uri="{FF2B5EF4-FFF2-40B4-BE49-F238E27FC236}">
                <a16:creationId xmlns:a16="http://schemas.microsoft.com/office/drawing/2014/main" id="{5059EF3A-8490-40F4-9A99-B025F927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14550"/>
            <a:ext cx="98298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claim: EGFR exon 19 deletion predicts response to EGFR-TKI in NSCLC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evidence_type: clinical study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PMID_or_DOI: &lt;must be verified&gt;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quoted_evidence: "&lt;short quote from source&gt;"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agent_summary: one-sentence interpretation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confidence: medium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limitation: population / endpoint / study design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needs_human_review: TRUE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reviewer_correction: &lt;filled after checking&gt;</a:t>
            </a:r>
          </a:p>
        </p:txBody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E5EA004F-678D-4F0F-AE54-7F36AB5F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8165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每列都要能被人打開來源檢查；不能只是一句漂亮摘要。</a:t>
            </a:r>
          </a:p>
        </p:txBody>
      </p:sp>
    </p:spTree>
    <p:extLst>
      <p:ext uri="{BB962C8B-B14F-4D97-AF65-F5344CB8AC3E}">
        <p14:creationId xmlns:p14="http://schemas.microsoft.com/office/powerpoint/2010/main" val="157048791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DED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B645365C-F934-4632-A45D-596136EC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PART 5</a:t>
            </a:r>
          </a:p>
        </p:txBody>
      </p:sp>
      <p:sp>
        <p:nvSpPr>
          <p:cNvPr id="2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B2F80F5A-D65B-4C87-A999-69C225C2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933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225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3225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人工檢查與修正</a:t>
            </a:r>
          </a:p>
        </p:txBody>
      </p:sp>
      <p:sp>
        <p:nvSpPr>
          <p:cNvPr id="3" name="section-subtitle">
            <a:extLst xmlns:a="http://schemas.openxmlformats.org/drawingml/2006/main">
              <a:ext uri="{FF2B5EF4-FFF2-40B4-BE49-F238E27FC236}">
                <a16:creationId xmlns:a16="http://schemas.microsoft.com/office/drawing/2014/main" id="{197F895A-83D6-4E4B-AE74-75CEA200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這是整堂課最重要的地方：抓出 agent 看起來很會、其實沒查好的地方。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5AAE2B7-157A-4E43-B861-CF765827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Hands-on lab: biomedical evidence table  |  27/38</a:t>
            </a:r>
          </a:p>
        </p:txBody>
      </p:sp>
    </p:spTree>
    <p:extLst>
      <p:ext uri="{BB962C8B-B14F-4D97-AF65-F5344CB8AC3E}">
        <p14:creationId xmlns:p14="http://schemas.microsoft.com/office/powerpoint/2010/main" val="209061723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245B5EE9-2921-45F6-AF9F-C5D1CB9D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MANUAL REVIEW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1CEE626-D195-4F55-8418-58B102C4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人工檢查不是補儀式，是抓 AI 最會犯的錯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7162EB94-656C-4DF3-AAB2-A29C2DCF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Hands-on lab: biomedical evidence table  |  28/38</a:t>
            </a:r>
          </a:p>
        </p:txBody>
      </p:sp>
      <p:sp>
        <p:nvSpPr>
          <p:cNvPr id="4" name="num-0">
            <a:extLst xmlns:a="http://schemas.openxmlformats.org/drawingml/2006/main">
              <a:ext uri="{FF2B5EF4-FFF2-40B4-BE49-F238E27FC236}">
                <a16:creationId xmlns:a16="http://schemas.microsoft.com/office/drawing/2014/main" id="{E0A1373D-892D-4F10-8C50-C345304F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859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" name="check-0">
            <a:extLst xmlns:a="http://schemas.openxmlformats.org/drawingml/2006/main">
              <a:ext uri="{FF2B5EF4-FFF2-40B4-BE49-F238E27FC236}">
                <a16:creationId xmlns:a16="http://schemas.microsoft.com/office/drawing/2014/main" id="{AD809F73-1C35-4230-94A9-A682DF36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933575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PMID / DOI 是否真的存在？</a:t>
            </a:r>
          </a:p>
        </p:txBody>
      </p:sp>
      <p:sp>
        <p:nvSpPr>
          <p:cNvPr id="6" name="num-1">
            <a:extLst xmlns:a="http://schemas.openxmlformats.org/drawingml/2006/main">
              <a:ext uri="{FF2B5EF4-FFF2-40B4-BE49-F238E27FC236}">
                <a16:creationId xmlns:a16="http://schemas.microsoft.com/office/drawing/2014/main" id="{181CF896-E783-4401-8C95-E5FD5ECB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859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7" name="check-1">
            <a:extLst xmlns:a="http://schemas.openxmlformats.org/drawingml/2006/main">
              <a:ext uri="{FF2B5EF4-FFF2-40B4-BE49-F238E27FC236}">
                <a16:creationId xmlns:a16="http://schemas.microsoft.com/office/drawing/2014/main" id="{8C08CF96-0EE1-477E-9200-80784AE7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33575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quoted_evidence 是否真的支持 claim？</a:t>
            </a:r>
          </a:p>
        </p:txBody>
      </p:sp>
      <p:sp>
        <p:nvSpPr>
          <p:cNvPr id="8" name="num-2">
            <a:extLst xmlns:a="http://schemas.openxmlformats.org/drawingml/2006/main">
              <a:ext uri="{FF2B5EF4-FFF2-40B4-BE49-F238E27FC236}">
                <a16:creationId xmlns:a16="http://schemas.microsoft.com/office/drawing/2014/main" id="{0A93E156-B80D-4F72-B359-7CD90576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9" name="check-2">
            <a:extLst xmlns:a="http://schemas.openxmlformats.org/drawingml/2006/main">
              <a:ext uri="{FF2B5EF4-FFF2-40B4-BE49-F238E27FC236}">
                <a16:creationId xmlns:a16="http://schemas.microsoft.com/office/drawing/2014/main" id="{98C8E608-CABE-40AB-B336-198CCE1D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962275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是否把 association 講成 causation？</a:t>
            </a:r>
          </a:p>
        </p:txBody>
      </p:sp>
      <p:sp>
        <p:nvSpPr>
          <p:cNvPr id="10" name="num-3">
            <a:extLst xmlns:a="http://schemas.openxmlformats.org/drawingml/2006/main">
              <a:ext uri="{FF2B5EF4-FFF2-40B4-BE49-F238E27FC236}">
                <a16:creationId xmlns:a16="http://schemas.microsoft.com/office/drawing/2014/main" id="{038E2AE0-85BF-424A-815F-8ECC82D9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146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1" name="check-3">
            <a:extLst xmlns:a="http://schemas.openxmlformats.org/drawingml/2006/main">
              <a:ext uri="{FF2B5EF4-FFF2-40B4-BE49-F238E27FC236}">
                <a16:creationId xmlns:a16="http://schemas.microsoft.com/office/drawing/2014/main" id="{939BB189-7F26-4287-9773-861F52EC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62275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gene symbol / drug name / disease subtype 是否正確？</a:t>
            </a:r>
          </a:p>
        </p:txBody>
      </p:sp>
      <p:sp>
        <p:nvSpPr>
          <p:cNvPr id="12" name="num-4">
            <a:extLst xmlns:a="http://schemas.openxmlformats.org/drawingml/2006/main">
              <a:ext uri="{FF2B5EF4-FFF2-40B4-BE49-F238E27FC236}">
                <a16:creationId xmlns:a16="http://schemas.microsoft.com/office/drawing/2014/main" id="{E8035B09-B475-4D3D-9AEB-AFF0F7F2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433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3" name="check-4">
            <a:extLst xmlns:a="http://schemas.openxmlformats.org/drawingml/2006/main">
              <a:ext uri="{FF2B5EF4-FFF2-40B4-BE49-F238E27FC236}">
                <a16:creationId xmlns:a16="http://schemas.microsoft.com/office/drawing/2014/main" id="{093E24A6-B2D4-45A9-9AE9-9861D328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990975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資料庫或 guideline 是否有版本與日期？</a:t>
            </a:r>
          </a:p>
        </p:txBody>
      </p:sp>
      <p:sp>
        <p:nvSpPr>
          <p:cNvPr id="14" name="num-5">
            <a:extLst xmlns:a="http://schemas.openxmlformats.org/drawingml/2006/main">
              <a:ext uri="{FF2B5EF4-FFF2-40B4-BE49-F238E27FC236}">
                <a16:creationId xmlns:a16="http://schemas.microsoft.com/office/drawing/2014/main" id="{A6F2C0F2-BAA6-4BFE-9BF7-ECEC310C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433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5" name="check-5">
            <a:extLst xmlns:a="http://schemas.openxmlformats.org/drawingml/2006/main">
              <a:ext uri="{FF2B5EF4-FFF2-40B4-BE49-F238E27FC236}">
                <a16:creationId xmlns:a16="http://schemas.microsoft.com/office/drawing/2014/main" id="{5563B88B-4E1C-45BA-AFED-16AE1824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990975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confidence 是否太樂觀？</a:t>
            </a:r>
          </a:p>
        </p:txBody>
      </p:sp>
    </p:spTree>
    <p:extLst>
      <p:ext uri="{BB962C8B-B14F-4D97-AF65-F5344CB8AC3E}">
        <p14:creationId xmlns:p14="http://schemas.microsoft.com/office/powerpoint/2010/main" val="111041427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913BB8EF-A476-4A69-B11B-093A394E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REVIEW FAILURE MODES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9E1E9C5-F35E-496F-AE6E-01AF558F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人工 review 常會抓到這些錯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95AAADE0-6B82-479E-A526-FF687DA6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Hands-on lab: biomedical evidence table  |  29/38</a:t>
            </a:r>
          </a:p>
        </p:txBody>
      </p:sp>
      <p:sp>
        <p:nvSpPr>
          <p:cNvPr id="4" name="head-0">
            <a:extLst xmlns:a="http://schemas.openxmlformats.org/drawingml/2006/main">
              <a:ext uri="{FF2B5EF4-FFF2-40B4-BE49-F238E27FC236}">
                <a16:creationId xmlns:a16="http://schemas.microsoft.com/office/drawing/2014/main" id="{E8C6C4F5-5F90-48D6-B7FC-1AE8C212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09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Failure</a:t>
            </a:r>
          </a:p>
        </p:txBody>
      </p:sp>
      <p:sp>
        <p:nvSpPr>
          <p:cNvPr id="5" name="head-1">
            <a:extLst xmlns:a="http://schemas.openxmlformats.org/drawingml/2006/main">
              <a:ext uri="{FF2B5EF4-FFF2-40B4-BE49-F238E27FC236}">
                <a16:creationId xmlns:a16="http://schemas.microsoft.com/office/drawing/2014/main" id="{F634B2FD-CC42-4BDD-8A0F-69DB457A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809750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Typical symptom</a:t>
            </a:r>
          </a:p>
        </p:txBody>
      </p:sp>
      <p:sp>
        <p:nvSpPr>
          <p:cNvPr id="6" name="head-2">
            <a:extLst xmlns:a="http://schemas.openxmlformats.org/drawingml/2006/main">
              <a:ext uri="{FF2B5EF4-FFF2-40B4-BE49-F238E27FC236}">
                <a16:creationId xmlns:a16="http://schemas.microsoft.com/office/drawing/2014/main" id="{D745C729-5406-4D07-A786-6B7762B9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09750"/>
            <a:ext cx="377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Fix</a:t>
            </a:r>
          </a:p>
        </p:txBody>
      </p:sp>
      <p:sp>
        <p:nvSpPr>
          <p:cNvPr id="7" name="r0c0">
            <a:extLst xmlns:a="http://schemas.openxmlformats.org/drawingml/2006/main">
              <a:ext uri="{FF2B5EF4-FFF2-40B4-BE49-F238E27FC236}">
                <a16:creationId xmlns:a16="http://schemas.microsoft.com/office/drawing/2014/main" id="{45CE7537-0FC7-4A85-900B-2F8591A4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526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Fake citation</a:t>
            </a:r>
          </a:p>
        </p:txBody>
      </p:sp>
      <p:sp>
        <p:nvSpPr>
          <p:cNvPr id="8" name="r0c1">
            <a:extLst xmlns:a="http://schemas.openxmlformats.org/drawingml/2006/main">
              <a:ext uri="{FF2B5EF4-FFF2-40B4-BE49-F238E27FC236}">
                <a16:creationId xmlns:a16="http://schemas.microsoft.com/office/drawing/2014/main" id="{7B6470C3-A99F-4BB5-87BD-06B2A412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52675"/>
            <a:ext cx="335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85A4A"/>
                </a:solidFill>
                <a:latin typeface="Aptos"/>
                <a:ea typeface="Aptos"/>
                <a:cs typeface="Aptos"/>
              </a:rPr>
              <a:t>PMID 存在但不支持 claim</a:t>
            </a:r>
          </a:p>
        </p:txBody>
      </p:sp>
      <p:sp>
        <p:nvSpPr>
          <p:cNvPr id="9" name="r0c2">
            <a:extLst xmlns:a="http://schemas.openxmlformats.org/drawingml/2006/main">
              <a:ext uri="{FF2B5EF4-FFF2-40B4-BE49-F238E27FC236}">
                <a16:creationId xmlns:a16="http://schemas.microsoft.com/office/drawing/2014/main" id="{3ACEFCC2-08AB-4D94-8CE1-861FE77D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526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E8F88"/>
                </a:solidFill>
                <a:latin typeface="Aptos"/>
                <a:ea typeface="Aptos"/>
                <a:cs typeface="Aptos"/>
              </a:rPr>
              <a:t>replace claim or source</a:t>
            </a:r>
          </a:p>
        </p:txBody>
      </p:sp>
      <p:sp>
        <p:nvSpPr>
          <p:cNvPr id="10" name="rowline-0">
            <a:extLst xmlns:a="http://schemas.openxmlformats.org/drawingml/2006/main">
              <a:ext uri="{FF2B5EF4-FFF2-40B4-BE49-F238E27FC236}">
                <a16:creationId xmlns:a16="http://schemas.microsoft.com/office/drawing/2014/main" id="{91CC547F-A4C8-41D9-AFDB-6822FF32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1" name="r1c0">
            <a:extLst xmlns:a="http://schemas.openxmlformats.org/drawingml/2006/main">
              <a:ext uri="{FF2B5EF4-FFF2-40B4-BE49-F238E27FC236}">
                <a16:creationId xmlns:a16="http://schemas.microsoft.com/office/drawing/2014/main" id="{7F37F124-D4CB-4417-8A3D-33F24976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622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Quote mismatch</a:t>
            </a:r>
          </a:p>
        </p:txBody>
      </p:sp>
      <p:sp>
        <p:nvSpPr>
          <p:cNvPr id="12" name="r1c1">
            <a:extLst xmlns:a="http://schemas.openxmlformats.org/drawingml/2006/main">
              <a:ext uri="{FF2B5EF4-FFF2-40B4-BE49-F238E27FC236}">
                <a16:creationId xmlns:a16="http://schemas.microsoft.com/office/drawing/2014/main" id="{051B26AC-EAA2-42C5-B1FC-82932EC9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62275"/>
            <a:ext cx="335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85A4A"/>
                </a:solidFill>
                <a:latin typeface="Aptos"/>
                <a:ea typeface="Aptos"/>
                <a:cs typeface="Aptos"/>
              </a:rPr>
              <a:t>quote 和 summary 意思不同</a:t>
            </a:r>
          </a:p>
        </p:txBody>
      </p:sp>
      <p:sp>
        <p:nvSpPr>
          <p:cNvPr id="13" name="r1c2">
            <a:extLst xmlns:a="http://schemas.openxmlformats.org/drawingml/2006/main">
              <a:ext uri="{FF2B5EF4-FFF2-40B4-BE49-F238E27FC236}">
                <a16:creationId xmlns:a16="http://schemas.microsoft.com/office/drawing/2014/main" id="{1C7CDE65-D95D-45B1-BB64-A1BA0BD3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622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E8F88"/>
                </a:solidFill>
                <a:latin typeface="Aptos"/>
                <a:ea typeface="Aptos"/>
                <a:cs typeface="Aptos"/>
              </a:rPr>
              <a:t>rewrite summary</a:t>
            </a:r>
          </a:p>
        </p:txBody>
      </p:sp>
      <p:sp>
        <p:nvSpPr>
          <p:cNvPr id="14" name="rowline-1">
            <a:extLst xmlns:a="http://schemas.openxmlformats.org/drawingml/2006/main">
              <a:ext uri="{FF2B5EF4-FFF2-40B4-BE49-F238E27FC236}">
                <a16:creationId xmlns:a16="http://schemas.microsoft.com/office/drawing/2014/main" id="{467AD478-4017-4EDB-BCE2-54F18B7C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5" name="r2c0">
            <a:extLst xmlns:a="http://schemas.openxmlformats.org/drawingml/2006/main">
              <a:ext uri="{FF2B5EF4-FFF2-40B4-BE49-F238E27FC236}">
                <a16:creationId xmlns:a16="http://schemas.microsoft.com/office/drawing/2014/main" id="{08CACBF2-C7EB-43F2-8EEC-54C2E7CA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718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Overclaim</a:t>
            </a:r>
          </a:p>
        </p:txBody>
      </p:sp>
      <p:sp>
        <p:nvSpPr>
          <p:cNvPr id="16" name="r2c1">
            <a:extLst xmlns:a="http://schemas.openxmlformats.org/drawingml/2006/main">
              <a:ext uri="{FF2B5EF4-FFF2-40B4-BE49-F238E27FC236}">
                <a16:creationId xmlns:a16="http://schemas.microsoft.com/office/drawing/2014/main" id="{8B3F6A60-F90D-439A-8694-A8641AE8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571875"/>
            <a:ext cx="335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85A4A"/>
                </a:solidFill>
                <a:latin typeface="Aptos"/>
                <a:ea typeface="Aptos"/>
                <a:cs typeface="Aptos"/>
              </a:rPr>
              <a:t>association 被講成 treatment advice</a:t>
            </a:r>
          </a:p>
        </p:txBody>
      </p:sp>
      <p:sp>
        <p:nvSpPr>
          <p:cNvPr id="17" name="r2c2">
            <a:extLst xmlns:a="http://schemas.openxmlformats.org/drawingml/2006/main">
              <a:ext uri="{FF2B5EF4-FFF2-40B4-BE49-F238E27FC236}">
                <a16:creationId xmlns:a16="http://schemas.microsoft.com/office/drawing/2014/main" id="{0932DE09-73AE-4200-AB63-80B2A8C1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718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E8F88"/>
                </a:solidFill>
                <a:latin typeface="Aptos"/>
                <a:ea typeface="Aptos"/>
                <a:cs typeface="Aptos"/>
              </a:rPr>
              <a:t>lower confidence</a:t>
            </a:r>
          </a:p>
        </p:txBody>
      </p:sp>
      <p:sp>
        <p:nvSpPr>
          <p:cNvPr id="18" name="rowline-2">
            <a:extLst xmlns:a="http://schemas.openxmlformats.org/drawingml/2006/main">
              <a:ext uri="{FF2B5EF4-FFF2-40B4-BE49-F238E27FC236}">
                <a16:creationId xmlns:a16="http://schemas.microsoft.com/office/drawing/2014/main" id="{67626914-CF56-4A2F-A5DC-DD81C138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9" name="r3c0">
            <a:extLst xmlns:a="http://schemas.openxmlformats.org/drawingml/2006/main">
              <a:ext uri="{FF2B5EF4-FFF2-40B4-BE49-F238E27FC236}">
                <a16:creationId xmlns:a16="http://schemas.microsoft.com/office/drawing/2014/main" id="{A1D07A6C-F483-450B-A53A-792E0534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814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Wrong entity</a:t>
            </a:r>
          </a:p>
        </p:txBody>
      </p:sp>
      <p:sp>
        <p:nvSpPr>
          <p:cNvPr id="20" name="r3c1">
            <a:extLst xmlns:a="http://schemas.openxmlformats.org/drawingml/2006/main">
              <a:ext uri="{FF2B5EF4-FFF2-40B4-BE49-F238E27FC236}">
                <a16:creationId xmlns:a16="http://schemas.microsoft.com/office/drawing/2014/main" id="{A8B5976C-6494-41E7-A8E5-DDB2ACB7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181475"/>
            <a:ext cx="335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85A4A"/>
                </a:solidFill>
                <a:latin typeface="Aptos"/>
                <a:ea typeface="Aptos"/>
                <a:cs typeface="Aptos"/>
              </a:rPr>
              <a:t>gene alias / disease subtype 混淆</a:t>
            </a:r>
          </a:p>
        </p:txBody>
      </p:sp>
      <p:sp>
        <p:nvSpPr>
          <p:cNvPr id="21" name="r3c2">
            <a:extLst xmlns:a="http://schemas.openxmlformats.org/drawingml/2006/main">
              <a:ext uri="{FF2B5EF4-FFF2-40B4-BE49-F238E27FC236}">
                <a16:creationId xmlns:a16="http://schemas.microsoft.com/office/drawing/2014/main" id="{B246D677-6516-4566-8251-D17DEA9E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814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E8F88"/>
                </a:solidFill>
                <a:latin typeface="Aptos"/>
                <a:ea typeface="Aptos"/>
                <a:cs typeface="Aptos"/>
              </a:rPr>
              <a:t>correct entity</a:t>
            </a:r>
          </a:p>
        </p:txBody>
      </p:sp>
      <p:sp>
        <p:nvSpPr>
          <p:cNvPr id="22" name="rowline-3">
            <a:extLst xmlns:a="http://schemas.openxmlformats.org/drawingml/2006/main">
              <a:ext uri="{FF2B5EF4-FFF2-40B4-BE49-F238E27FC236}">
                <a16:creationId xmlns:a16="http://schemas.microsoft.com/office/drawing/2014/main" id="{CD33249A-818E-4DD3-8378-586F2917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1010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3" name="r4c0">
            <a:extLst xmlns:a="http://schemas.openxmlformats.org/drawingml/2006/main">
              <a:ext uri="{FF2B5EF4-FFF2-40B4-BE49-F238E27FC236}">
                <a16:creationId xmlns:a16="http://schemas.microsoft.com/office/drawing/2014/main" id="{5BC389EC-5D2C-4B6B-A76F-853F8A04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910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Version issue</a:t>
            </a:r>
          </a:p>
        </p:txBody>
      </p:sp>
      <p:sp>
        <p:nvSpPr>
          <p:cNvPr id="24" name="r4c1">
            <a:extLst xmlns:a="http://schemas.openxmlformats.org/drawingml/2006/main">
              <a:ext uri="{FF2B5EF4-FFF2-40B4-BE49-F238E27FC236}">
                <a16:creationId xmlns:a16="http://schemas.microsoft.com/office/drawing/2014/main" id="{42423617-A0DB-4095-958E-44C3363F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791075"/>
            <a:ext cx="335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85A4A"/>
                </a:solidFill>
                <a:latin typeface="Aptos"/>
                <a:ea typeface="Aptos"/>
                <a:cs typeface="Aptos"/>
              </a:rPr>
              <a:t>database page 沒日期</a:t>
            </a:r>
          </a:p>
        </p:txBody>
      </p:sp>
      <p:sp>
        <p:nvSpPr>
          <p:cNvPr id="25" name="r4c2">
            <a:extLst xmlns:a="http://schemas.openxmlformats.org/drawingml/2006/main">
              <a:ext uri="{FF2B5EF4-FFF2-40B4-BE49-F238E27FC236}">
                <a16:creationId xmlns:a16="http://schemas.microsoft.com/office/drawing/2014/main" id="{B6109B2A-38EE-4D6C-86CF-94D966E1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910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E8F88"/>
                </a:solidFill>
                <a:latin typeface="Aptos"/>
                <a:ea typeface="Aptos"/>
                <a:cs typeface="Aptos"/>
              </a:rPr>
              <a:t>add version/date</a:t>
            </a:r>
          </a:p>
        </p:txBody>
      </p:sp>
      <p:sp>
        <p:nvSpPr>
          <p:cNvPr id="26" name="rowline-4">
            <a:extLst xmlns:a="http://schemas.openxmlformats.org/drawingml/2006/main">
              <a:ext uri="{FF2B5EF4-FFF2-40B4-BE49-F238E27FC236}">
                <a16:creationId xmlns:a16="http://schemas.microsoft.com/office/drawing/2014/main" id="{8AA36ACE-95E1-4CF9-96F9-8AD43F6B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D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8410911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41E1E26D-8FC8-4F43-8AE2-DF2F1FE8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REVIEW CHECKLIST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18ECB57-B6DC-40DE-A18F-2DE34A08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review_checklist.md 範本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7238C011-3603-400B-B0F2-C69563DA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Hands-on lab: biomedical evidence table  |  30/38</a:t>
            </a:r>
          </a:p>
        </p:txBody>
      </p:sp>
      <p:sp>
        <p:nvSpPr>
          <p:cNvPr id="4" name="code-box">
            <a:extLst xmlns:a="http://schemas.openxmlformats.org/drawingml/2006/main">
              <a:ext uri="{FF2B5EF4-FFF2-40B4-BE49-F238E27FC236}">
                <a16:creationId xmlns:a16="http://schemas.microsoft.com/office/drawing/2014/main" id="{EE62F7BC-620E-48B7-AB9A-CB3A4C32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10439400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9525">
            <a:solidFill>
              <a:srgbClr val="42515E"/>
            </a:solidFill>
            <a:prstDash val="solid"/>
          </a:ln>
        </p:spPr>
      </p:sp>
      <p:sp>
        <p:nvSpPr>
          <p:cNvPr id="5" name="code">
            <a:extLst xmlns:a="http://schemas.openxmlformats.org/drawingml/2006/main">
              <a:ext uri="{FF2B5EF4-FFF2-40B4-BE49-F238E27FC236}">
                <a16:creationId xmlns:a16="http://schemas.microsoft.com/office/drawing/2014/main" id="{5AD37CBD-2C78-4810-9433-AE2A02AF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14550"/>
            <a:ext cx="98298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# Manual review checklist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Row ID: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Source opened: yes / no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PMID_or_DOI valid: yes / no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Quote supports claim: yes / no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Overclaim risk: yes / no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Entity names checked: yes / no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Reviewer correction: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Decision: keep / revise / delete</a:t>
            </a:r>
          </a:p>
        </p:txBody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DAE8576F-6373-47A0-B962-E56FEAEE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8165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讓學生把人工檢查寫下來，不要只在心裡覺得有看過。</a:t>
            </a:r>
          </a:p>
        </p:txBody>
      </p:sp>
    </p:spTree>
    <p:extLst>
      <p:ext uri="{BB962C8B-B14F-4D97-AF65-F5344CB8AC3E}">
        <p14:creationId xmlns:p14="http://schemas.microsoft.com/office/powerpoint/2010/main" val="37635940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3A246CEB-6607-4D3A-A580-875EF66A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FINAL SUMMARY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5A10E3A-81AE-4EF3-AE15-9AD028BE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final_summary.md 範本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D71EF937-480B-4735-B903-6E541065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Hands-on lab: biomedical evidence table  |  31/38</a:t>
            </a:r>
          </a:p>
        </p:txBody>
      </p:sp>
      <p:sp>
        <p:nvSpPr>
          <p:cNvPr id="4" name="code-box">
            <a:extLst xmlns:a="http://schemas.openxmlformats.org/drawingml/2006/main">
              <a:ext uri="{FF2B5EF4-FFF2-40B4-BE49-F238E27FC236}">
                <a16:creationId xmlns:a16="http://schemas.microsoft.com/office/drawing/2014/main" id="{25564A1E-C164-47B6-AF18-C6C9B3B1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10439400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9525">
            <a:solidFill>
              <a:srgbClr val="42515E"/>
            </a:solidFill>
            <a:prstDash val="solid"/>
          </a:ln>
        </p:spPr>
      </p:sp>
      <p:sp>
        <p:nvSpPr>
          <p:cNvPr id="5" name="code">
            <a:extLst xmlns:a="http://schemas.openxmlformats.org/drawingml/2006/main">
              <a:ext uri="{FF2B5EF4-FFF2-40B4-BE49-F238E27FC236}">
                <a16:creationId xmlns:a16="http://schemas.microsoft.com/office/drawing/2014/main" id="{EBA26291-6458-4F39-8C16-E93C452E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14550"/>
            <a:ext cx="98298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# Final summary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Question: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Number of evidence rows: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Strongest supported claim: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Weakest or uncertain claim: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Rows deleted after review: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Main limitation: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What should be checked by a domain expert: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Conclusion: &lt;5-8 sentences&gt;</a:t>
            </a:r>
          </a:p>
        </p:txBody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70B55EFE-50F9-4831-A843-092A8493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8165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summary 要反映 review 後的結果，不是 agent 初稿的興奮程度。</a:t>
            </a:r>
          </a:p>
        </p:txBody>
      </p:sp>
    </p:spTree>
    <p:extLst>
      <p:ext uri="{BB962C8B-B14F-4D97-AF65-F5344CB8AC3E}">
        <p14:creationId xmlns:p14="http://schemas.microsoft.com/office/powerpoint/2010/main" val="57653918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EEF1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7A8C70D3-8ADB-4B2B-8208-4CB8AD99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PART 6</a:t>
            </a:r>
          </a:p>
        </p:txBody>
      </p:sp>
      <p:sp>
        <p:nvSpPr>
          <p:cNvPr id="2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084A3DD2-7020-4B96-95B0-3E976E7C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933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22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322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交付、評分、回顧</a:t>
            </a:r>
          </a:p>
        </p:txBody>
      </p:sp>
      <p:sp>
        <p:nvSpPr>
          <p:cNvPr id="3" name="section-subtitle">
            <a:extLst xmlns:a="http://schemas.openxmlformats.org/drawingml/2006/main">
              <a:ext uri="{FF2B5EF4-FFF2-40B4-BE49-F238E27FC236}">
                <a16:creationId xmlns:a16="http://schemas.microsoft.com/office/drawing/2014/main" id="{531ACD1E-09B2-403A-AA2F-CC4E4419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最後 8 分鐘收斂成果：能不能交出可查、可改、可重現的 table。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EC95B19-9B1C-4697-8D51-09AECCE4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Hands-on lab: biomedical evidence table  |  32/38</a:t>
            </a:r>
          </a:p>
        </p:txBody>
      </p:sp>
    </p:spTree>
    <p:extLst>
      <p:ext uri="{BB962C8B-B14F-4D97-AF65-F5344CB8AC3E}">
        <p14:creationId xmlns:p14="http://schemas.microsoft.com/office/powerpoint/2010/main" val="72113132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FD6ECA1C-A333-4554-969C-48342FCC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GRADING RUBRIC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519EB9F-679F-431C-824C-7514AD4A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這堂 hands-on 要看的是 workflow，不是誰問得最華麗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C94DA25B-E238-4F94-8B5B-9F66C608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Hands-on lab: biomedical evidence table  |  33/38</a:t>
            </a:r>
          </a:p>
        </p:txBody>
      </p:sp>
      <p:sp>
        <p:nvSpPr>
          <p:cNvPr id="4" name="head-0">
            <a:extLst xmlns:a="http://schemas.openxmlformats.org/drawingml/2006/main">
              <a:ext uri="{FF2B5EF4-FFF2-40B4-BE49-F238E27FC236}">
                <a16:creationId xmlns:a16="http://schemas.microsoft.com/office/drawing/2014/main" id="{9A3BE7EB-B1CC-427C-9550-08470BF7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09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Item</a:t>
            </a:r>
          </a:p>
        </p:txBody>
      </p:sp>
      <p:sp>
        <p:nvSpPr>
          <p:cNvPr id="5" name="head-1">
            <a:extLst xmlns:a="http://schemas.openxmlformats.org/drawingml/2006/main">
              <a:ext uri="{FF2B5EF4-FFF2-40B4-BE49-F238E27FC236}">
                <a16:creationId xmlns:a16="http://schemas.microsoft.com/office/drawing/2014/main" id="{D7C38303-E6EC-4432-AE7A-99FF4243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809750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Full credit</a:t>
            </a:r>
          </a:p>
        </p:txBody>
      </p:sp>
      <p:sp>
        <p:nvSpPr>
          <p:cNvPr id="6" name="head-2">
            <a:extLst xmlns:a="http://schemas.openxmlformats.org/drawingml/2006/main">
              <a:ext uri="{FF2B5EF4-FFF2-40B4-BE49-F238E27FC236}">
                <a16:creationId xmlns:a16="http://schemas.microsoft.com/office/drawing/2014/main" id="{4A73B44A-A46C-463D-ADFF-5F6C1C45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09750"/>
            <a:ext cx="377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Common miss</a:t>
            </a:r>
          </a:p>
        </p:txBody>
      </p:sp>
      <p:sp>
        <p:nvSpPr>
          <p:cNvPr id="7" name="r0c0">
            <a:extLst xmlns:a="http://schemas.openxmlformats.org/drawingml/2006/main">
              <a:ext uri="{FF2B5EF4-FFF2-40B4-BE49-F238E27FC236}">
                <a16:creationId xmlns:a16="http://schemas.microsoft.com/office/drawing/2014/main" id="{7E4DA2C8-8958-4F57-BFD7-5EC9CED1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526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Task spec</a:t>
            </a:r>
          </a:p>
        </p:txBody>
      </p:sp>
      <p:sp>
        <p:nvSpPr>
          <p:cNvPr id="8" name="r0c1">
            <a:extLst xmlns:a="http://schemas.openxmlformats.org/drawingml/2006/main">
              <a:ext uri="{FF2B5EF4-FFF2-40B4-BE49-F238E27FC236}">
                <a16:creationId xmlns:a16="http://schemas.microsoft.com/office/drawing/2014/main" id="{62631529-D0A9-46E5-A5B9-08668410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52675"/>
            <a:ext cx="335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85A4A"/>
                </a:solidFill>
                <a:latin typeface="Aptos"/>
                <a:ea typeface="Aptos"/>
                <a:cs typeface="Aptos"/>
              </a:rPr>
              <a:t>scope 清楚，欄位和停止規則完整</a:t>
            </a:r>
          </a:p>
        </p:txBody>
      </p:sp>
      <p:sp>
        <p:nvSpPr>
          <p:cNvPr id="9" name="r0c2">
            <a:extLst xmlns:a="http://schemas.openxmlformats.org/drawingml/2006/main">
              <a:ext uri="{FF2B5EF4-FFF2-40B4-BE49-F238E27FC236}">
                <a16:creationId xmlns:a16="http://schemas.microsoft.com/office/drawing/2014/main" id="{5247A8CD-8788-4B6B-A489-2303E59B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526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題目太大</a:t>
            </a:r>
          </a:p>
        </p:txBody>
      </p:sp>
      <p:sp>
        <p:nvSpPr>
          <p:cNvPr id="10" name="rowline-0">
            <a:extLst xmlns:a="http://schemas.openxmlformats.org/drawingml/2006/main">
              <a:ext uri="{FF2B5EF4-FFF2-40B4-BE49-F238E27FC236}">
                <a16:creationId xmlns:a16="http://schemas.microsoft.com/office/drawing/2014/main" id="{4EE06D8F-0E4E-418D-B911-8C6F13D4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1" name="r1c0">
            <a:extLst xmlns:a="http://schemas.openxmlformats.org/drawingml/2006/main">
              <a:ext uri="{FF2B5EF4-FFF2-40B4-BE49-F238E27FC236}">
                <a16:creationId xmlns:a16="http://schemas.microsoft.com/office/drawing/2014/main" id="{21D84B0A-1806-49AD-BF73-920FCFBE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622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Evidence table</a:t>
            </a:r>
          </a:p>
        </p:txBody>
      </p:sp>
      <p:sp>
        <p:nvSpPr>
          <p:cNvPr id="12" name="r1c1">
            <a:extLst xmlns:a="http://schemas.openxmlformats.org/drawingml/2006/main">
              <a:ext uri="{FF2B5EF4-FFF2-40B4-BE49-F238E27FC236}">
                <a16:creationId xmlns:a16="http://schemas.microsoft.com/office/drawing/2014/main" id="{10BDCD1D-A0A1-493E-954A-238FC203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62275"/>
            <a:ext cx="335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85A4A"/>
                </a:solidFill>
                <a:latin typeface="Aptos"/>
                <a:ea typeface="Aptos"/>
                <a:cs typeface="Aptos"/>
              </a:rPr>
              <a:t>每列有 source、quote、confidence</a:t>
            </a:r>
          </a:p>
        </p:txBody>
      </p:sp>
      <p:sp>
        <p:nvSpPr>
          <p:cNvPr id="13" name="r1c2">
            <a:extLst xmlns:a="http://schemas.openxmlformats.org/drawingml/2006/main">
              <a:ext uri="{FF2B5EF4-FFF2-40B4-BE49-F238E27FC236}">
                <a16:creationId xmlns:a16="http://schemas.microsoft.com/office/drawing/2014/main" id="{1165B32E-0BA6-4099-ABE6-4EF6BFCF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622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只有摘要</a:t>
            </a:r>
          </a:p>
        </p:txBody>
      </p:sp>
      <p:sp>
        <p:nvSpPr>
          <p:cNvPr id="14" name="rowline-1">
            <a:extLst xmlns:a="http://schemas.openxmlformats.org/drawingml/2006/main">
              <a:ext uri="{FF2B5EF4-FFF2-40B4-BE49-F238E27FC236}">
                <a16:creationId xmlns:a16="http://schemas.microsoft.com/office/drawing/2014/main" id="{E0172198-42CF-44F7-A82A-79E5EACA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5" name="r2c0">
            <a:extLst xmlns:a="http://schemas.openxmlformats.org/drawingml/2006/main">
              <a:ext uri="{FF2B5EF4-FFF2-40B4-BE49-F238E27FC236}">
                <a16:creationId xmlns:a16="http://schemas.microsoft.com/office/drawing/2014/main" id="{D2F37897-C024-4C92-9FDC-5C295137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718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Citation check</a:t>
            </a:r>
          </a:p>
        </p:txBody>
      </p:sp>
      <p:sp>
        <p:nvSpPr>
          <p:cNvPr id="16" name="r2c1">
            <a:extLst xmlns:a="http://schemas.openxmlformats.org/drawingml/2006/main">
              <a:ext uri="{FF2B5EF4-FFF2-40B4-BE49-F238E27FC236}">
                <a16:creationId xmlns:a16="http://schemas.microsoft.com/office/drawing/2014/main" id="{6B72E3E9-69CB-496F-B20A-6CD62A96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571875"/>
            <a:ext cx="335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85A4A"/>
                </a:solidFill>
                <a:latin typeface="Aptos"/>
                <a:ea typeface="Aptos"/>
                <a:cs typeface="Aptos"/>
              </a:rPr>
              <a:t>PMID / DOI 已人工確認</a:t>
            </a:r>
          </a:p>
        </p:txBody>
      </p:sp>
      <p:sp>
        <p:nvSpPr>
          <p:cNvPr id="17" name="r2c2">
            <a:extLst xmlns:a="http://schemas.openxmlformats.org/drawingml/2006/main">
              <a:ext uri="{FF2B5EF4-FFF2-40B4-BE49-F238E27FC236}">
                <a16:creationId xmlns:a16="http://schemas.microsoft.com/office/drawing/2014/main" id="{1E5054E5-2C8C-43E9-BB5C-4E929410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718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E8F88"/>
                </a:solidFill>
                <a:latin typeface="Aptos"/>
                <a:ea typeface="Aptos"/>
                <a:cs typeface="Aptos"/>
              </a:rPr>
              <a:t>citation 未開啟</a:t>
            </a:r>
          </a:p>
        </p:txBody>
      </p:sp>
      <p:sp>
        <p:nvSpPr>
          <p:cNvPr id="18" name="rowline-2">
            <a:extLst xmlns:a="http://schemas.openxmlformats.org/drawingml/2006/main">
              <a:ext uri="{FF2B5EF4-FFF2-40B4-BE49-F238E27FC236}">
                <a16:creationId xmlns:a16="http://schemas.microsoft.com/office/drawing/2014/main" id="{BD69AFDA-F017-4D35-B097-015E5B5F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9" name="r3c0">
            <a:extLst xmlns:a="http://schemas.openxmlformats.org/drawingml/2006/main">
              <a:ext uri="{FF2B5EF4-FFF2-40B4-BE49-F238E27FC236}">
                <a16:creationId xmlns:a16="http://schemas.microsoft.com/office/drawing/2014/main" id="{5DF20F38-A583-4199-A66F-0449A98C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814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Review log</a:t>
            </a:r>
          </a:p>
        </p:txBody>
      </p:sp>
      <p:sp>
        <p:nvSpPr>
          <p:cNvPr id="20" name="r3c1">
            <a:extLst xmlns:a="http://schemas.openxmlformats.org/drawingml/2006/main">
              <a:ext uri="{FF2B5EF4-FFF2-40B4-BE49-F238E27FC236}">
                <a16:creationId xmlns:a16="http://schemas.microsoft.com/office/drawing/2014/main" id="{58326138-094D-4869-9A26-59548D16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181475"/>
            <a:ext cx="335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85A4A"/>
                </a:solidFill>
                <a:latin typeface="Aptos"/>
                <a:ea typeface="Aptos"/>
                <a:cs typeface="Aptos"/>
              </a:rPr>
              <a:t>有 reviewer correction</a:t>
            </a:r>
          </a:p>
        </p:txBody>
      </p:sp>
      <p:sp>
        <p:nvSpPr>
          <p:cNvPr id="21" name="r3c2">
            <a:extLst xmlns:a="http://schemas.openxmlformats.org/drawingml/2006/main">
              <a:ext uri="{FF2B5EF4-FFF2-40B4-BE49-F238E27FC236}">
                <a16:creationId xmlns:a16="http://schemas.microsoft.com/office/drawing/2014/main" id="{B3E02EFD-8B7D-48A4-9478-E029C5A1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814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E8F88"/>
                </a:solidFill>
                <a:latin typeface="Aptos"/>
                <a:ea typeface="Aptos"/>
                <a:cs typeface="Aptos"/>
              </a:rPr>
              <a:t>只交 AI 原始輸出</a:t>
            </a:r>
          </a:p>
        </p:txBody>
      </p:sp>
      <p:sp>
        <p:nvSpPr>
          <p:cNvPr id="22" name="rowline-3">
            <a:extLst xmlns:a="http://schemas.openxmlformats.org/drawingml/2006/main">
              <a:ext uri="{FF2B5EF4-FFF2-40B4-BE49-F238E27FC236}">
                <a16:creationId xmlns:a16="http://schemas.microsoft.com/office/drawing/2014/main" id="{6FA578FB-7961-469E-A93E-72B40EC2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1010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3" name="r4c0">
            <a:extLst xmlns:a="http://schemas.openxmlformats.org/drawingml/2006/main">
              <a:ext uri="{FF2B5EF4-FFF2-40B4-BE49-F238E27FC236}">
                <a16:creationId xmlns:a16="http://schemas.microsoft.com/office/drawing/2014/main" id="{993B546C-EA18-4624-88E3-B8DE0985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910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Summary</a:t>
            </a:r>
          </a:p>
        </p:txBody>
      </p:sp>
      <p:sp>
        <p:nvSpPr>
          <p:cNvPr id="24" name="r4c1">
            <a:extLst xmlns:a="http://schemas.openxmlformats.org/drawingml/2006/main">
              <a:ext uri="{FF2B5EF4-FFF2-40B4-BE49-F238E27FC236}">
                <a16:creationId xmlns:a16="http://schemas.microsoft.com/office/drawing/2014/main" id="{6546375C-6340-459C-A76D-0D1A8F14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791075"/>
            <a:ext cx="335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有講限制和不確定性</a:t>
            </a:r>
          </a:p>
        </p:txBody>
      </p:sp>
      <p:sp>
        <p:nvSpPr>
          <p:cNvPr id="25" name="r4c2">
            <a:extLst xmlns:a="http://schemas.openxmlformats.org/drawingml/2006/main">
              <a:ext uri="{FF2B5EF4-FFF2-40B4-BE49-F238E27FC236}">
                <a16:creationId xmlns:a16="http://schemas.microsoft.com/office/drawing/2014/main" id="{23120C29-60F5-424D-81EB-364B7A88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910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過度下結論</a:t>
            </a:r>
          </a:p>
        </p:txBody>
      </p:sp>
      <p:sp>
        <p:nvSpPr>
          <p:cNvPr id="26" name="rowline-4">
            <a:extLst xmlns:a="http://schemas.openxmlformats.org/drawingml/2006/main">
              <a:ext uri="{FF2B5EF4-FFF2-40B4-BE49-F238E27FC236}">
                <a16:creationId xmlns:a16="http://schemas.microsoft.com/office/drawing/2014/main" id="{4B2715BB-5E31-4132-B12D-B2C6C0C4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D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1527564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1E608114-B2DC-4BBA-8D1C-115E28E2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TEACHER LIVE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6EADACE-F209-480A-B7D3-C6CDD323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老師示範時可以故意讓 agent 犯一次錯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47856C11-12BE-45FB-90DF-FF28DABF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Hands-on lab: biomedical evidence table  |  34/38</a:t>
            </a:r>
          </a:p>
        </p:txBody>
      </p:sp>
      <p:sp>
        <p:nvSpPr>
          <p:cNvPr id="4" name="bullets">
            <a:extLst xmlns:a="http://schemas.openxmlformats.org/drawingml/2006/main">
              <a:ext uri="{FF2B5EF4-FFF2-40B4-BE49-F238E27FC236}">
                <a16:creationId xmlns:a16="http://schemas.microsoft.com/office/drawing/2014/main" id="{A3E661C7-1B39-43BE-BE86-41A4BAA2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38350"/>
            <a:ext cx="56769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讓 agent 產生一個 citation，現場打開查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示範 quote 不支持 claim 時如何修正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示範 confidence 從 high 降到 low</a:t>
            </a:r>
          </a:p>
        </p:txBody>
      </p:sp>
      <p:sp>
        <p:nvSpPr>
          <p:cNvPr id="5" name="callout">
            <a:extLst xmlns:a="http://schemas.openxmlformats.org/drawingml/2006/main">
              <a:ext uri="{FF2B5EF4-FFF2-40B4-BE49-F238E27FC236}">
                <a16:creationId xmlns:a16="http://schemas.microsoft.com/office/drawing/2014/main" id="{37F873F6-E71D-4E4E-9F30-CEDAC713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05050"/>
            <a:ext cx="33147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6" name="callout-text">
            <a:extLst xmlns:a="http://schemas.openxmlformats.org/drawingml/2006/main">
              <a:ext uri="{FF2B5EF4-FFF2-40B4-BE49-F238E27FC236}">
                <a16:creationId xmlns:a16="http://schemas.microsoft.com/office/drawing/2014/main" id="{37B5769E-858A-4CCF-A84F-0BA41C37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81300"/>
            <a:ext cx="2590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875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抓錯比產生更有教育價值。</a:t>
            </a:r>
          </a:p>
        </p:txBody>
      </p:sp>
    </p:spTree>
    <p:extLst>
      <p:ext uri="{BB962C8B-B14F-4D97-AF65-F5344CB8AC3E}">
        <p14:creationId xmlns:p14="http://schemas.microsoft.com/office/powerpoint/2010/main" val="70377384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4228A61B-0685-4B61-9EB7-61782A6B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STUDENT TROUBLESHOOTING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3133E6D-79E4-49AB-9EA9-A8A359EA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學生卡住時，先問是哪一層壞掉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D1441E8F-19E8-4C34-8D5E-202B3E4A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Hands-on lab: biomedical evidence table  |  35/38</a:t>
            </a:r>
          </a:p>
        </p:txBody>
      </p:sp>
      <p:sp>
        <p:nvSpPr>
          <p:cNvPr id="4" name="bullets">
            <a:extLst xmlns:a="http://schemas.openxmlformats.org/drawingml/2006/main">
              <a:ext uri="{FF2B5EF4-FFF2-40B4-BE49-F238E27FC236}">
                <a16:creationId xmlns:a16="http://schemas.microsoft.com/office/drawing/2014/main" id="{E3115106-20CB-40D1-8E7F-13FBFA18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38350"/>
            <a:ext cx="56769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沒有來源：縮小問題或改成 source discovery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table 太空：schema 太嚴或來源不足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claim 太浮誇：要求 evidence quote 和 limitation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citation 很怪：回到人工 lookup</a:t>
            </a:r>
          </a:p>
        </p:txBody>
      </p:sp>
      <p:sp>
        <p:nvSpPr>
          <p:cNvPr id="5" name="callout">
            <a:extLst xmlns:a="http://schemas.openxmlformats.org/drawingml/2006/main">
              <a:ext uri="{FF2B5EF4-FFF2-40B4-BE49-F238E27FC236}">
                <a16:creationId xmlns:a16="http://schemas.microsoft.com/office/drawing/2014/main" id="{7F0AA307-0E48-4244-A96E-B06C2C91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05050"/>
            <a:ext cx="33147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</p:sp>
      <p:sp>
        <p:nvSpPr>
          <p:cNvPr id="6" name="callout-text">
            <a:extLst xmlns:a="http://schemas.openxmlformats.org/drawingml/2006/main">
              <a:ext uri="{FF2B5EF4-FFF2-40B4-BE49-F238E27FC236}">
                <a16:creationId xmlns:a16="http://schemas.microsoft.com/office/drawing/2014/main" id="{D1B0515C-ACF9-4053-8AF3-AA8A75B5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81300"/>
            <a:ext cx="2590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875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卡住不是失敗，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 sz="1875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是 workflow 在提醒你檢查。</a:t>
            </a:r>
          </a:p>
        </p:txBody>
      </p:sp>
    </p:spTree>
    <p:extLst>
      <p:ext uri="{BB962C8B-B14F-4D97-AF65-F5344CB8AC3E}">
        <p14:creationId xmlns:p14="http://schemas.microsoft.com/office/powerpoint/2010/main" val="179122536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E5BAAA7A-F9E9-4738-BE7D-2ED08722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ONE-PROMPT RESCUE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170C0A4-73E6-4A1A-B9D8-3C0C51DD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救援 prompt：當 agent 開始亂飛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2E1DC7E4-8C6D-4B4F-B436-5B08CF25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Hands-on lab: biomedical evidence table  |  36/38</a:t>
            </a:r>
          </a:p>
        </p:txBody>
      </p:sp>
      <p:sp>
        <p:nvSpPr>
          <p:cNvPr id="4" name="code-box">
            <a:extLst xmlns:a="http://schemas.openxmlformats.org/drawingml/2006/main">
              <a:ext uri="{FF2B5EF4-FFF2-40B4-BE49-F238E27FC236}">
                <a16:creationId xmlns:a16="http://schemas.microsoft.com/office/drawing/2014/main" id="{3FB602CC-33A5-46BF-B4A9-65DA0253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10439400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9525">
            <a:solidFill>
              <a:srgbClr val="42515E"/>
            </a:solidFill>
            <a:prstDash val="solid"/>
          </a:ln>
        </p:spPr>
      </p:sp>
      <p:sp>
        <p:nvSpPr>
          <p:cNvPr id="5" name="code">
            <a:extLst xmlns:a="http://schemas.openxmlformats.org/drawingml/2006/main">
              <a:ext uri="{FF2B5EF4-FFF2-40B4-BE49-F238E27FC236}">
                <a16:creationId xmlns:a16="http://schemas.microsoft.com/office/drawing/2014/main" id="{2840A7E0-E1C4-4EA8-94D0-5B8357DC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14550"/>
            <a:ext cx="98298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Stop and audit the table.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For each row, mark one of: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- supported_by_quote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- citation_not_checked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- quote_does_not_support_claim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- overclaim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- not_found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Do not add new evidence.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6EDF3"/>
                </a:solidFill>
                <a:latin typeface="Menlo"/>
                <a:ea typeface="Menlo"/>
                <a:cs typeface="Menlo"/>
              </a:rPr>
              <a:t>Only classify existing rows and suggest fixes.</a:t>
            </a:r>
          </a:p>
        </p:txBody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7E6F117C-DC65-4364-9521-9080CF3A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8165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學生慌掉時，用 audit prompt 把 agent 拉回檢查模式。</a:t>
            </a:r>
          </a:p>
        </p:txBody>
      </p:sp>
    </p:spTree>
    <p:extLst>
      <p:ext uri="{BB962C8B-B14F-4D97-AF65-F5344CB8AC3E}">
        <p14:creationId xmlns:p14="http://schemas.microsoft.com/office/powerpoint/2010/main" val="93486871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3563A651-A69F-4D56-8E7B-4B7C4200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WHAT STUDENTS SHOULD LEARN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CF9F34B-948F-445C-92C5-DD530BA1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今天學到的不是做表格，是做可驗證的 AI workflow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6F403C30-E737-4196-A1DD-EB2BEAF3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Hands-on lab: biomedical evidence table  |  37/38</a:t>
            </a:r>
          </a:p>
        </p:txBody>
      </p:sp>
      <p:sp>
        <p:nvSpPr>
          <p:cNvPr id="4" name="bullets">
            <a:extLst xmlns:a="http://schemas.openxmlformats.org/drawingml/2006/main">
              <a:ext uri="{FF2B5EF4-FFF2-40B4-BE49-F238E27FC236}">
                <a16:creationId xmlns:a16="http://schemas.microsoft.com/office/drawing/2014/main" id="{1AEFC12F-635F-484B-B021-FA5BF94F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38350"/>
            <a:ext cx="56769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先定義問題與 schema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讓 agent 產生可檢查初稿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用程式抓格式問題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用人工 review 抓 biomedical 問題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留下修正紀錄和限制</a:t>
            </a:r>
          </a:p>
        </p:txBody>
      </p:sp>
      <p:sp>
        <p:nvSpPr>
          <p:cNvPr id="5" name="callout">
            <a:extLst xmlns:a="http://schemas.openxmlformats.org/drawingml/2006/main">
              <a:ext uri="{FF2B5EF4-FFF2-40B4-BE49-F238E27FC236}">
                <a16:creationId xmlns:a16="http://schemas.microsoft.com/office/drawing/2014/main" id="{8880006C-601E-4B8A-8FF2-4E0BAC4A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05050"/>
            <a:ext cx="33147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</p:sp>
      <p:sp>
        <p:nvSpPr>
          <p:cNvPr id="6" name="callout-text">
            <a:extLst xmlns:a="http://schemas.openxmlformats.org/drawingml/2006/main">
              <a:ext uri="{FF2B5EF4-FFF2-40B4-BE49-F238E27FC236}">
                <a16:creationId xmlns:a16="http://schemas.microsoft.com/office/drawing/2014/main" id="{8A00C9E4-1869-4FEB-B1F6-0F5C7F41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81300"/>
            <a:ext cx="2590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875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AI 加速整理，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 sz="1875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人負責可信度。</a:t>
            </a:r>
          </a:p>
        </p:txBody>
      </p:sp>
    </p:spTree>
    <p:extLst>
      <p:ext uri="{BB962C8B-B14F-4D97-AF65-F5344CB8AC3E}">
        <p14:creationId xmlns:p14="http://schemas.microsoft.com/office/powerpoint/2010/main" val="201775469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1720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D657D2AE-7593-4636-87D8-E5C9139F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最後交付：不是 AI 做的表，是你審過的 evidence table</a:t>
            </a:r>
          </a:p>
        </p:txBody>
      </p:sp>
      <p:sp>
        <p:nvSpPr>
          <p:cNvPr id="2" name="file-0">
            <a:extLst xmlns:a="http://schemas.openxmlformats.org/drawingml/2006/main">
              <a:ext uri="{FF2B5EF4-FFF2-40B4-BE49-F238E27FC236}">
                <a16:creationId xmlns:a16="http://schemas.microsoft.com/office/drawing/2014/main" id="{EDA36A23-4018-4104-AF95-8790E907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66950"/>
            <a:ext cx="2857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5313A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evidence_table.csv</a:t>
            </a:r>
          </a:p>
        </p:txBody>
      </p:sp>
      <p:sp>
        <p:nvSpPr>
          <p:cNvPr id="3" name="desc-0">
            <a:extLst xmlns:a="http://schemas.openxmlformats.org/drawingml/2006/main">
              <a:ext uri="{FF2B5EF4-FFF2-40B4-BE49-F238E27FC236}">
                <a16:creationId xmlns:a16="http://schemas.microsoft.com/office/drawing/2014/main" id="{47DE3323-733B-44BA-9CE2-D06D094F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6220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DE4E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DDE4E8"/>
                </a:solidFill>
                <a:latin typeface="PingFang TC"/>
                <a:ea typeface="PingFang TC"/>
                <a:cs typeface="PingFang TC"/>
              </a:rPr>
              <a:t>含來源、引用、confidence、review 欄位</a:t>
            </a:r>
          </a:p>
        </p:txBody>
      </p:sp>
      <p:sp>
        <p:nvSpPr>
          <p:cNvPr id="4" name="file-1">
            <a:extLst xmlns:a="http://schemas.openxmlformats.org/drawingml/2006/main">
              <a:ext uri="{FF2B5EF4-FFF2-40B4-BE49-F238E27FC236}">
                <a16:creationId xmlns:a16="http://schemas.microsoft.com/office/drawing/2014/main" id="{7DF4C389-7C62-492F-A2AA-CBE0E42B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33750"/>
            <a:ext cx="2857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5313A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review_checklist.md</a:t>
            </a:r>
          </a:p>
        </p:txBody>
      </p:sp>
      <p:sp>
        <p:nvSpPr>
          <p:cNvPr id="5" name="desc-1">
            <a:extLst xmlns:a="http://schemas.openxmlformats.org/drawingml/2006/main">
              <a:ext uri="{FF2B5EF4-FFF2-40B4-BE49-F238E27FC236}">
                <a16:creationId xmlns:a16="http://schemas.microsoft.com/office/drawing/2014/main" id="{8A093389-0B4D-49D6-9CFB-ED309257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42900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DE4E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DDE4E8"/>
                </a:solidFill>
                <a:latin typeface="PingFang TC"/>
                <a:ea typeface="PingFang TC"/>
                <a:cs typeface="PingFang TC"/>
              </a:rPr>
              <a:t>列出你查過什麼、修正什麼</a:t>
            </a:r>
          </a:p>
        </p:txBody>
      </p:sp>
      <p:sp>
        <p:nvSpPr>
          <p:cNvPr id="6" name="file-2">
            <a:extLst xmlns:a="http://schemas.openxmlformats.org/drawingml/2006/main">
              <a:ext uri="{FF2B5EF4-FFF2-40B4-BE49-F238E27FC236}">
                <a16:creationId xmlns:a16="http://schemas.microsoft.com/office/drawing/2014/main" id="{C1974F0B-806F-4E57-A31D-D5AAA37A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00550"/>
            <a:ext cx="2857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5313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final_summary.md</a:t>
            </a:r>
          </a:p>
        </p:txBody>
      </p:sp>
      <p:sp>
        <p:nvSpPr>
          <p:cNvPr id="7" name="desc-2">
            <a:extLst xmlns:a="http://schemas.openxmlformats.org/drawingml/2006/main">
              <a:ext uri="{FF2B5EF4-FFF2-40B4-BE49-F238E27FC236}">
                <a16:creationId xmlns:a16="http://schemas.microsoft.com/office/drawing/2014/main" id="{61844D02-F25E-4574-9B2C-67774C14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9580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DE4E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DDE4E8"/>
                </a:solidFill>
                <a:latin typeface="PingFang TC"/>
                <a:ea typeface="PingFang TC"/>
                <a:cs typeface="PingFang TC"/>
              </a:rPr>
              <a:t>用 5-8 句總結 evidence strength</a:t>
            </a:r>
          </a:p>
        </p:txBody>
      </p:sp>
      <p:sp>
        <p:nvSpPr>
          <p:cNvPr id="8" name="bottom">
            <a:extLst xmlns:a="http://schemas.openxmlformats.org/drawingml/2006/main">
              <a:ext uri="{FF2B5EF4-FFF2-40B4-BE49-F238E27FC236}">
                <a16:creationId xmlns:a16="http://schemas.microsoft.com/office/drawing/2014/main" id="{EF367C8C-AF6C-42FB-BDFB-7790DC9F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19750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FD98A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FFD98A"/>
                </a:solidFill>
                <a:latin typeface="PingFang TC"/>
                <a:ea typeface="PingFang TC"/>
                <a:cs typeface="PingFang TC"/>
              </a:rPr>
              <a:t>今天的重點：agent 幫你加速，review 讓成果可信。</a:t>
            </a:r>
          </a:p>
        </p:txBody>
      </p:sp>
      <p:sp>
        <p:nvSpPr>
          <p:cNvPr id="9" name="footer-dark">
            <a:extLst xmlns:a="http://schemas.openxmlformats.org/drawingml/2006/main">
              <a:ext uri="{FF2B5EF4-FFF2-40B4-BE49-F238E27FC236}">
                <a16:creationId xmlns:a16="http://schemas.microsoft.com/office/drawing/2014/main" id="{86177F91-FB44-4DC6-9CEB-D35E44F1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B7C0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C0C7"/>
                </a:solidFill>
                <a:latin typeface="Aptos"/>
                <a:ea typeface="Aptos"/>
                <a:cs typeface="Aptos"/>
              </a:rPr>
              <a:t>Hands-on lab: biomedical evidence table  |  38/38</a:t>
            </a:r>
          </a:p>
        </p:txBody>
      </p:sp>
    </p:spTree>
    <p:extLst>
      <p:ext uri="{BB962C8B-B14F-4D97-AF65-F5344CB8AC3E}">
        <p14:creationId xmlns:p14="http://schemas.microsoft.com/office/powerpoint/2010/main" val="4161366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2026-07-05T08:21:29.2070000Z</dcterms:created>
  <dcterms:modified xsi:type="dcterms:W3CDTF">2026-07-05T08:21:29.2070000Z</dcterms:modified>
</coreProperties>
</file>