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4809774ef54baa" /><Relationship Type="http://schemas.openxmlformats.org/officeDocument/2006/relationships/extended-properties" Target="/docProps/app.xml" Id="Re548d6a2ac444022" /><Relationship Type="http://schemas.openxmlformats.org/officeDocument/2006/relationships/officeDocument" Target="/ppt/presentation.xml" Id="R17c7a6b81d8e47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339ba76c9a4e6c"/>
  </p:sldMasterIdLst>
  <p:notesMasterIdLst>
    <p:notesMasterId xmlns:r="http://schemas.openxmlformats.org/officeDocument/2006/relationships" r:id="Rd660dc33a65542d6"/>
  </p:notesMasterIdLst>
  <p:sldIdLst>
    <p:sldId xmlns:r="http://schemas.openxmlformats.org/officeDocument/2006/relationships" id="256" r:id="R12970625f30f44e4"/>
    <p:sldId xmlns:r="http://schemas.openxmlformats.org/officeDocument/2006/relationships" id="257" r:id="R4c765fae2f484a2e"/>
    <p:sldId xmlns:r="http://schemas.openxmlformats.org/officeDocument/2006/relationships" id="258" r:id="R1d4e1186b1374dcd"/>
    <p:sldId xmlns:r="http://schemas.openxmlformats.org/officeDocument/2006/relationships" id="259" r:id="Rd79fa8b4ed154b37"/>
    <p:sldId xmlns:r="http://schemas.openxmlformats.org/officeDocument/2006/relationships" id="260" r:id="R0dd4f0534c654e4a"/>
    <p:sldId xmlns:r="http://schemas.openxmlformats.org/officeDocument/2006/relationships" id="261" r:id="R7963fd89ca7b4b98"/>
    <p:sldId xmlns:r="http://schemas.openxmlformats.org/officeDocument/2006/relationships" id="262" r:id="Rc0b490d458f74ad3"/>
    <p:sldId xmlns:r="http://schemas.openxmlformats.org/officeDocument/2006/relationships" id="263" r:id="Rde377be7b3fe4a12"/>
    <p:sldId xmlns:r="http://schemas.openxmlformats.org/officeDocument/2006/relationships" id="264" r:id="R51fe217774bb4730"/>
    <p:sldId xmlns:r="http://schemas.openxmlformats.org/officeDocument/2006/relationships" id="265" r:id="R7660728d8b944943"/>
    <p:sldId xmlns:r="http://schemas.openxmlformats.org/officeDocument/2006/relationships" id="266" r:id="R277009797c084f3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c9bb4c3d52466b" /><Relationship Type="http://schemas.openxmlformats.org/officeDocument/2006/relationships/slideMaster" Target="/ppt/slideMasters/slideMaster1.xml" Id="Rfc339ba76c9a4e6c" /><Relationship Type="http://schemas.openxmlformats.org/officeDocument/2006/relationships/notesMaster" Target="/ppt/notesMasters/notesMaster1.xml" Id="Rd660dc33a65542d6" /><Relationship Type="http://schemas.openxmlformats.org/officeDocument/2006/relationships/presProps" Target="/ppt/presProps.xml" Id="R6ea0eada255441e5" /><Relationship Type="http://schemas.openxmlformats.org/officeDocument/2006/relationships/tableStyles" Target="/ppt/tableStyles.xml" Id="R5c926d59d1b0496d" /><Relationship Type="http://schemas.openxmlformats.org/officeDocument/2006/relationships/slide" Target="/ppt/slides/slide1.xml" Id="R12970625f30f44e4" /><Relationship Type="http://schemas.openxmlformats.org/officeDocument/2006/relationships/slide" Target="/ppt/slides/slide2.xml" Id="R4c765fae2f484a2e" /><Relationship Type="http://schemas.openxmlformats.org/officeDocument/2006/relationships/slide" Target="/ppt/slides/slide3.xml" Id="R1d4e1186b1374dcd" /><Relationship Type="http://schemas.openxmlformats.org/officeDocument/2006/relationships/slide" Target="/ppt/slides/slide4.xml" Id="Rd79fa8b4ed154b37" /><Relationship Type="http://schemas.openxmlformats.org/officeDocument/2006/relationships/slide" Target="/ppt/slides/slide5.xml" Id="R0dd4f0534c654e4a" /><Relationship Type="http://schemas.openxmlformats.org/officeDocument/2006/relationships/slide" Target="/ppt/slides/slide6.xml" Id="R7963fd89ca7b4b98" /><Relationship Type="http://schemas.openxmlformats.org/officeDocument/2006/relationships/slide" Target="/ppt/slides/slide7.xml" Id="Rc0b490d458f74ad3" /><Relationship Type="http://schemas.openxmlformats.org/officeDocument/2006/relationships/slide" Target="/ppt/slides/slide8.xml" Id="Rde377be7b3fe4a12" /><Relationship Type="http://schemas.openxmlformats.org/officeDocument/2006/relationships/slide" Target="/ppt/slides/slide9.xml" Id="R51fe217774bb4730" /><Relationship Type="http://schemas.openxmlformats.org/officeDocument/2006/relationships/slide" Target="/ppt/slides/slide10.xml" Id="R7660728d8b944943" /><Relationship Type="http://schemas.openxmlformats.org/officeDocument/2006/relationships/slide" Target="/ppt/slides/slide11.xml" Id="R277009797c084f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c6542384344a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5866eef5494937" /><Relationship Type="http://schemas.openxmlformats.org/officeDocument/2006/relationships/notesMaster" Target="/ppt/notesMasters/notesMaster1.xml" Id="Rcc1d2734721d4a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136cf0f76141b1" /><Relationship Type="http://schemas.openxmlformats.org/officeDocument/2006/relationships/notesMaster" Target="/ppt/notesMasters/notesMaster1.xml" Id="Rfbf1961a7a7046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9f2a281a4846ee" /><Relationship Type="http://schemas.openxmlformats.org/officeDocument/2006/relationships/notesMaster" Target="/ppt/notesMasters/notesMaster1.xml" Id="Rdc1157671ec04f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af84e28ab647dd" /><Relationship Type="http://schemas.openxmlformats.org/officeDocument/2006/relationships/notesMaster" Target="/ppt/notesMasters/notesMaster1.xml" Id="R74c16083624243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61c7b5e97a43b2" /><Relationship Type="http://schemas.openxmlformats.org/officeDocument/2006/relationships/notesMaster" Target="/ppt/notesMasters/notesMaster1.xml" Id="Rdaa73ce7e39d45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301c46f14f45df" /><Relationship Type="http://schemas.openxmlformats.org/officeDocument/2006/relationships/notesMaster" Target="/ppt/notesMasters/notesMaster1.xml" Id="Re01183f87e9748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0179b81b2941ea" /><Relationship Type="http://schemas.openxmlformats.org/officeDocument/2006/relationships/notesMaster" Target="/ppt/notesMasters/notesMaster1.xml" Id="R8cd29210b1e847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0e9b3f5ce64223" /><Relationship Type="http://schemas.openxmlformats.org/officeDocument/2006/relationships/notesMaster" Target="/ppt/notesMasters/notesMaster1.xml" Id="R7f940e92329942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57658756354ed5" /><Relationship Type="http://schemas.openxmlformats.org/officeDocument/2006/relationships/notesMaster" Target="/ppt/notesMasters/notesMaster1.xml" Id="Ra8feb622940e46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811a85c4744070" /><Relationship Type="http://schemas.openxmlformats.org/officeDocument/2006/relationships/notesMaster" Target="/ppt/notesMasters/notesMaster1.xml" Id="R1acaf46571e34e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6715fc06e542a9" /><Relationship Type="http://schemas.openxmlformats.org/officeDocument/2006/relationships/notesMaster" Target="/ppt/notesMasters/notesMaster1.xml" Id="R357b9bf38f9d4d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開場先定位第二堂課：不是介紹工具，也不是 prompt 技巧，而是建立 agent workflow 的操作框架。學生要開始學會判斷哪些研究任務能被拆成可檢查、可重現的流程。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用四段 roadmap 建立本堂課結構。這堂從 agent 概念進到 vibe coding，再到 desktop utilities，最後回到 biomedical workflow。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用簡單對比建立核心概念。Chatbot 像互動式文字介面；agent 則像可以拿資料、查資料庫、寫程式、跑檢查、修正輸出的流程執行者。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介紹 agent 不是單一模型，而是系統組合。Model 只是其中一部分；真正影響品質的是 context 是否完整、tools 是否可靠、state 是否能追蹤、輸出是否能被驗證。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這張是本堂課的核心圖。Agent workflow 不是一次輸入、一次輸出，而是 plan-action-observe-verify loop。生醫任務尤其需要 verification，因為錯 citation、錯 database ID、錯分析假設都可能造成嚴重後果。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強調可檢查是 agent workflow 的核心，不是附加功能。Evidence table 要能追到 PMID/DOI；分析腳本要能重跑；資料庫查詢要記錄 query 與版本；citation 要檢查是否真的支持該句。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Vibe coding 不是不用寫程式，而是用 agent 加速從想法到可跑原型。它適合低風險、可驗證、範圍清楚的任務，例如轉檔、整理表格、畫初步圖、產生分析腳本草稿。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Vibe coding 最大問題不是 syntax error，而是 silent wrongness。程式可能能跑，但欄位對錯、樣本過濾、normalization、統計檢定、citation 對應都可能有問題。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Desktop utilities 不是產品展示。重點是它們讓 agent 能接觸研究者每天真的在做的事情：PDF、Excel/CSV、資料夾、圖表、script、reference manager。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互動活動。可給學生範例：整理 EGFR mutation 與肺癌標靶治療反應的 evidence table。請他們拆成目標、輸入資料、工具、每步輸出、檢查方式、哪些地方不能完全交給 agent。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自然收束到下一堂課。這堂建立 agent 的外層系統觀；下一堂打開 model 本身，理解 LLM 為什麼有效、為什麼會錯、context 如何影響輸出、hallucination 為何發生。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1296cb26e146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09b4c538344a1c" /><Relationship Type="http://schemas.openxmlformats.org/officeDocument/2006/relationships/slideLayout" Target="/ppt/slideLayouts/slideLayout1.xml" Id="Ra4744b4291f943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744b4291f943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c03dc87cd4c5a" /><Relationship Type="http://schemas.openxmlformats.org/officeDocument/2006/relationships/notesSlide" Target="/ppt/notesSlides/notesSlide1.xml" Id="R9e15b3ba446940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b2ed5557d4a20" /><Relationship Type="http://schemas.openxmlformats.org/officeDocument/2006/relationships/notesSlide" Target="/ppt/notesSlides/notesSlide2.xml" Id="Rd65b137ea04945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88db6474940bf" /><Relationship Type="http://schemas.openxmlformats.org/officeDocument/2006/relationships/notesSlide" Target="/ppt/notesSlides/notesSlide3.xml" Id="R43cd6de79b5e44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71ba032e848bd" /><Relationship Type="http://schemas.openxmlformats.org/officeDocument/2006/relationships/notesSlide" Target="/ppt/notesSlides/notesSlide4.xml" Id="R34475702026143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4b9c8de7e497f" /><Relationship Type="http://schemas.openxmlformats.org/officeDocument/2006/relationships/notesSlide" Target="/ppt/notesSlides/notesSlide5.xml" Id="Rf4da66388c0142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118d4c0ea4951" /><Relationship Type="http://schemas.openxmlformats.org/officeDocument/2006/relationships/notesSlide" Target="/ppt/notesSlides/notesSlide6.xml" Id="Rd561a8ebc46441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ecda5476141d8" /><Relationship Type="http://schemas.openxmlformats.org/officeDocument/2006/relationships/notesSlide" Target="/ppt/notesSlides/notesSlide7.xml" Id="Rd52c808c1e9742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bdac000844426" /><Relationship Type="http://schemas.openxmlformats.org/officeDocument/2006/relationships/notesSlide" Target="/ppt/notesSlides/notesSlide8.xml" Id="R73468a385ac649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be28473fc4b42" /><Relationship Type="http://schemas.openxmlformats.org/officeDocument/2006/relationships/notesSlide" Target="/ppt/notesSlides/notesSlide9.xml" Id="Re0fd7a387e6e47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7a75ff6374bfe" /><Relationship Type="http://schemas.openxmlformats.org/officeDocument/2006/relationships/notesSlide" Target="/ppt/notesSlides/notesSlide10.xml" Id="Re3422c05166649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496bcd46242b3" /><Relationship Type="http://schemas.openxmlformats.org/officeDocument/2006/relationships/notesSlide" Target="/ppt/notesSlides/notesSlide11.xml" Id="R7ea209cb6a234f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A45D5FE-DDA9-432E-9680-E63B318B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LESSON 02</a:t>
            </a:r>
          </a:p>
        </p:txBody>
      </p:sp>
      <p:sp>
        <p:nvSpPr>
          <p:cNvPr id="2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1D7225C8-A702-427D-BC89-ECA8DA4D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7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Introduction to AI agents,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7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vibe coding, and desktop utilities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068DCD6-A8A8-4AC6-B261-D5D10B8D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581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從聊天，進到可執行、可檢查的研究流程</a:t>
            </a:r>
          </a:p>
        </p:txBody>
      </p:sp>
      <p:sp>
        <p:nvSpPr>
          <p:cNvPr id="4" name="questions">
            <a:extLst xmlns:a="http://schemas.openxmlformats.org/drawingml/2006/main">
              <a:ext uri="{FF2B5EF4-FFF2-40B4-BE49-F238E27FC236}">
                <a16:creationId xmlns:a16="http://schemas.microsoft.com/office/drawing/2014/main" id="{D049DD65-E4C7-4D08-A2CF-2366DE02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552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4"/>
              </a:spcAft>
              <a:buNone/>
              <a:def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AI agent 比 chatbot 多了什麼？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4"/>
              </a:spcAft>
              <a:buNone/>
              <a:def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vibe coding 適合解決什麼問題？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4"/>
              </a:spcAft>
              <a:buNone/>
              <a:def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desktop utilities 如何接進研究流程？</a:t>
            </a:r>
          </a:p>
        </p:txBody>
      </p:sp>
      <p:sp>
        <p:nvSpPr>
          <p:cNvPr id="5" name="flow-0">
            <a:extLst xmlns:a="http://schemas.openxmlformats.org/drawingml/2006/main">
              <a:ext uri="{FF2B5EF4-FFF2-40B4-BE49-F238E27FC236}">
                <a16:creationId xmlns:a16="http://schemas.microsoft.com/office/drawing/2014/main" id="{FC3E7DF8-3AC5-4F5A-B787-0D498797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Ask</a:t>
            </a:r>
          </a:p>
        </p:txBody>
      </p:sp>
      <p:sp>
        <p:nvSpPr>
          <p:cNvPr id="6" name="flow-1">
            <a:extLst xmlns:a="http://schemas.openxmlformats.org/drawingml/2006/main">
              <a:ext uri="{FF2B5EF4-FFF2-40B4-BE49-F238E27FC236}">
                <a16:creationId xmlns:a16="http://schemas.microsoft.com/office/drawing/2014/main" id="{68AA93C6-68EF-4BAC-AF47-621FB3ED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480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48550" y="2619375"/>
            <a:ext cx="13335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46A8"/>
            </a:solidFill>
            <a:prstDash val="solid"/>
            <a:tailEnd type="arrow" w="sm" len="sm"/>
          </a:ln>
        </p:spPr>
      </p:cxnSp>
      <p:sp>
        <p:nvSpPr>
          <p:cNvPr id="8" name="flow-2">
            <a:extLst xmlns:a="http://schemas.openxmlformats.org/drawingml/2006/main">
              <a:ext uri="{FF2B5EF4-FFF2-40B4-BE49-F238E27FC236}">
                <a16:creationId xmlns:a16="http://schemas.microsoft.com/office/drawing/2014/main" id="{09B9A591-434D-4895-B8F7-F33B654E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Use tools</a:t>
            </a:r>
          </a:p>
        </p:txBody>
      </p: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8362950" y="2619375"/>
            <a:ext cx="13335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46A8"/>
            </a:solidFill>
            <a:prstDash val="solid"/>
            <a:tailEnd type="arrow" w="sm" len="sm"/>
          </a:ln>
        </p:spPr>
      </p:cxnSp>
      <p:sp>
        <p:nvSpPr>
          <p:cNvPr id="10" name="flow-3">
            <a:extLst xmlns:a="http://schemas.openxmlformats.org/drawingml/2006/main">
              <a:ext uri="{FF2B5EF4-FFF2-40B4-BE49-F238E27FC236}">
                <a16:creationId xmlns:a16="http://schemas.microsoft.com/office/drawing/2014/main" id="{37CF6969-5E00-44C1-8001-2B8F46B4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4800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333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cxnSp>
        <p:nvCxnSpPr>
          <p:cNvPr id="26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277350" y="2619375"/>
            <a:ext cx="13335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D89A16"/>
            </a:solidFill>
            <a:prstDash val="solid"/>
            <a:tailEnd type="arrow" w="sm" len="sm"/>
          </a:ln>
        </p:spPr>
      </p:cxnSp>
      <p:sp>
        <p:nvSpPr>
          <p:cNvPr id="12" name="flow-4">
            <a:extLst xmlns:a="http://schemas.openxmlformats.org/drawingml/2006/main">
              <a:ext uri="{FF2B5EF4-FFF2-40B4-BE49-F238E27FC236}">
                <a16:creationId xmlns:a16="http://schemas.microsoft.com/office/drawing/2014/main" id="{19ECEDB9-5FD1-4B34-978E-C527E7F4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381250"/>
            <a:ext cx="78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Deliver</a:t>
            </a:r>
          </a:p>
        </p:txBody>
      </p:sp>
      <p:cxnSp>
        <p:nvCxnSpPr>
          <p:cNvPr id="28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10191750" y="2619375"/>
            <a:ext cx="13335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46A8"/>
            </a:solidFill>
            <a:prstDash val="solid"/>
            <a:tailEnd type="arrow" w="sm" len="sm"/>
          </a:ln>
        </p:spPr>
      </p:cxnSp>
      <p:sp>
        <p:nvSpPr>
          <p:cNvPr id="14" name="right-note">
            <a:extLst xmlns:a="http://schemas.openxmlformats.org/drawingml/2006/main">
              <a:ext uri="{FF2B5EF4-FFF2-40B4-BE49-F238E27FC236}">
                <a16:creationId xmlns:a16="http://schemas.microsoft.com/office/drawing/2014/main" id="{9482C165-2DC2-4238-B3D6-DF605276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434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workflow = goal + tools + checks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5DA6C331-BE73-4409-90E2-2FA10A29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1/11</a:t>
            </a:r>
          </a:p>
        </p:txBody>
      </p:sp>
    </p:spTree>
    <p:extLst>
      <p:ext uri="{BB962C8B-B14F-4D97-AF65-F5344CB8AC3E}">
        <p14:creationId xmlns:p14="http://schemas.microsoft.com/office/powerpoint/2010/main" val="10583233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94E8A07-6068-4D79-B9A5-136B6389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LESSON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012F27-69B3-4E3D-9ED9-70EB70C5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本堂課把 agent 放進研究者每天會遇到的工作流</a:t>
            </a:r>
          </a:p>
        </p:txBody>
      </p:sp>
      <p:sp>
        <p:nvSpPr>
          <p:cNvPr id="3" name="module-0">
            <a:extLst xmlns:a="http://schemas.openxmlformats.org/drawingml/2006/main">
              <a:ext uri="{FF2B5EF4-FFF2-40B4-BE49-F238E27FC236}">
                <a16:creationId xmlns:a16="http://schemas.microsoft.com/office/drawing/2014/main" id="{9790D254-E539-4A39-A623-6AAF252F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4" name="module-copy-0">
            <a:extLst xmlns:a="http://schemas.openxmlformats.org/drawingml/2006/main">
              <a:ext uri="{FF2B5EF4-FFF2-40B4-BE49-F238E27FC236}">
                <a16:creationId xmlns:a16="http://schemas.microsoft.com/office/drawing/2014/main" id="{EAAE1E5E-246C-46E3-9CC7-4B46479F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201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從回答問題到執行任務</a:t>
            </a:r>
          </a:p>
        </p:txBody>
      </p:sp>
      <p:sp>
        <p:nvSpPr>
          <p:cNvPr id="5" name="module-line-0">
            <a:extLst xmlns:a="http://schemas.openxmlformats.org/drawingml/2006/main">
              <a:ext uri="{FF2B5EF4-FFF2-40B4-BE49-F238E27FC236}">
                <a16:creationId xmlns:a16="http://schemas.microsoft.com/office/drawing/2014/main" id="{3B037247-D1AB-4C24-9D70-1C936CB6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76525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4DADD"/>
            </a:solidFill>
            <a:prstDash val="solid"/>
          </a:ln>
        </p:spPr>
      </p:sp>
      <p:sp>
        <p:nvSpPr>
          <p:cNvPr id="6" name="module-1">
            <a:extLst xmlns:a="http://schemas.openxmlformats.org/drawingml/2006/main">
              <a:ext uri="{FF2B5EF4-FFF2-40B4-BE49-F238E27FC236}">
                <a16:creationId xmlns:a16="http://schemas.microsoft.com/office/drawing/2014/main" id="{404ADBAE-589F-4BE3-8B4A-8389948D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812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Vibe coding</a:t>
            </a:r>
          </a:p>
        </p:txBody>
      </p:sp>
      <p:sp>
        <p:nvSpPr>
          <p:cNvPr id="7" name="module-copy-1">
            <a:extLst xmlns:a="http://schemas.openxmlformats.org/drawingml/2006/main">
              <a:ext uri="{FF2B5EF4-FFF2-40B4-BE49-F238E27FC236}">
                <a16:creationId xmlns:a16="http://schemas.microsoft.com/office/drawing/2014/main" id="{D0DB9245-6AA7-47FD-A049-99ED62EA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81350"/>
            <a:ext cx="201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快速做出可測試原型</a:t>
            </a:r>
          </a:p>
        </p:txBody>
      </p:sp>
      <p:sp>
        <p:nvSpPr>
          <p:cNvPr id="8" name="module-line-1">
            <a:extLst xmlns:a="http://schemas.openxmlformats.org/drawingml/2006/main">
              <a:ext uri="{FF2B5EF4-FFF2-40B4-BE49-F238E27FC236}">
                <a16:creationId xmlns:a16="http://schemas.microsoft.com/office/drawing/2014/main" id="{28886610-A62D-4DCE-A615-6CCFE690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76525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4DADD"/>
            </a:solidFill>
            <a:prstDash val="solid"/>
          </a:ln>
        </p:spPr>
      </p:sp>
      <p:sp>
        <p:nvSpPr>
          <p:cNvPr id="9" name="module-2">
            <a:extLst xmlns:a="http://schemas.openxmlformats.org/drawingml/2006/main">
              <a:ext uri="{FF2B5EF4-FFF2-40B4-BE49-F238E27FC236}">
                <a16:creationId xmlns:a16="http://schemas.microsoft.com/office/drawing/2014/main" id="{2D487946-9B10-4899-96ED-3A59502A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Desktop utilities</a:t>
            </a:r>
          </a:p>
        </p:txBody>
      </p:sp>
      <p:sp>
        <p:nvSpPr>
          <p:cNvPr id="10" name="module-copy-2">
            <a:extLst xmlns:a="http://schemas.openxmlformats.org/drawingml/2006/main">
              <a:ext uri="{FF2B5EF4-FFF2-40B4-BE49-F238E27FC236}">
                <a16:creationId xmlns:a16="http://schemas.microsoft.com/office/drawing/2014/main" id="{757FEDF6-9D9F-40A2-8E69-21E95776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81350"/>
            <a:ext cx="201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連接檔案、瀏覽器與腳本</a:t>
            </a:r>
          </a:p>
        </p:txBody>
      </p:sp>
      <p:sp>
        <p:nvSpPr>
          <p:cNvPr id="11" name="module-line-2">
            <a:extLst xmlns:a="http://schemas.openxmlformats.org/drawingml/2006/main">
              <a:ext uri="{FF2B5EF4-FFF2-40B4-BE49-F238E27FC236}">
                <a16:creationId xmlns:a16="http://schemas.microsoft.com/office/drawing/2014/main" id="{82F232D3-B97E-4612-A168-DB93166A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76525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4DADD"/>
            </a:solidFill>
            <a:prstDash val="solid"/>
          </a:ln>
        </p:spPr>
      </p:sp>
      <p:sp>
        <p:nvSpPr>
          <p:cNvPr id="12" name="module-3">
            <a:extLst xmlns:a="http://schemas.openxmlformats.org/drawingml/2006/main">
              <a:ext uri="{FF2B5EF4-FFF2-40B4-BE49-F238E27FC236}">
                <a16:creationId xmlns:a16="http://schemas.microsoft.com/office/drawing/2014/main" id="{C37B44AA-2677-4B68-8B31-A7A4C2BE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812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Biomedical workflow</a:t>
            </a:r>
          </a:p>
        </p:txBody>
      </p:sp>
      <p:sp>
        <p:nvSpPr>
          <p:cNvPr id="13" name="module-copy-3">
            <a:extLst xmlns:a="http://schemas.openxmlformats.org/drawingml/2006/main">
              <a:ext uri="{FF2B5EF4-FFF2-40B4-BE49-F238E27FC236}">
                <a16:creationId xmlns:a16="http://schemas.microsoft.com/office/drawing/2014/main" id="{A8747739-7A79-435F-9176-67E85D11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81350"/>
            <a:ext cx="201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讓 evidence 可以被追溯</a:t>
            </a:r>
          </a:p>
        </p:txBody>
      </p:sp>
      <p:sp>
        <p:nvSpPr>
          <p:cNvPr id="14" name="bottom-note">
            <a:extLst xmlns:a="http://schemas.openxmlformats.org/drawingml/2006/main">
              <a:ext uri="{FF2B5EF4-FFF2-40B4-BE49-F238E27FC236}">
                <a16:creationId xmlns:a16="http://schemas.microsoft.com/office/drawing/2014/main" id="{88A4A911-C20D-45E5-94BA-6EBD9576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863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這一堂的目標：學會判斷 agent 能做什麼、如何做、怎麼檢查。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B442CE7B-DCE2-448D-9931-99C33A16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2/11</a:t>
            </a:r>
          </a:p>
        </p:txBody>
      </p:sp>
    </p:spTree>
    <p:extLst>
      <p:ext uri="{BB962C8B-B14F-4D97-AF65-F5344CB8AC3E}">
        <p14:creationId xmlns:p14="http://schemas.microsoft.com/office/powerpoint/2010/main" val="6098386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A2C5298-5C8D-4E1B-9FDA-DC591C4F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CHATBOT VS AGENT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3EB00BE-2063-4C86-997A-95819359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Chatbot 回答問題；agent 在目標下執行並檢查</a:t>
            </a:r>
          </a:p>
        </p:txBody>
      </p:sp>
      <p:sp>
        <p:nvSpPr>
          <p:cNvPr id="3" name="chatbot-surface">
            <a:extLst xmlns:a="http://schemas.openxmlformats.org/drawingml/2006/main">
              <a:ext uri="{FF2B5EF4-FFF2-40B4-BE49-F238E27FC236}">
                <a16:creationId xmlns:a16="http://schemas.microsoft.com/office/drawing/2014/main" id="{3D2F4180-55B1-40D7-BB4E-9D692D12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47625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4" name="chatbot-head">
            <a:extLst xmlns:a="http://schemas.openxmlformats.org/drawingml/2006/main">
              <a:ext uri="{FF2B5EF4-FFF2-40B4-BE49-F238E27FC236}">
                <a16:creationId xmlns:a16="http://schemas.microsoft.com/office/drawing/2014/main" id="{4241A6D0-A416-4DA4-8749-F58AEF35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Chatbot</a:t>
            </a:r>
          </a:p>
        </p:txBody>
      </p:sp>
      <p:sp>
        <p:nvSpPr>
          <p:cNvPr id="5" name="prompt">
            <a:extLst xmlns:a="http://schemas.openxmlformats.org/drawingml/2006/main">
              <a:ext uri="{FF2B5EF4-FFF2-40B4-BE49-F238E27FC236}">
                <a16:creationId xmlns:a16="http://schemas.microsoft.com/office/drawing/2014/main" id="{EF88523E-4172-4616-93C1-133D76B7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43250"/>
            <a:ext cx="1257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6" name="response">
            <a:extLst xmlns:a="http://schemas.openxmlformats.org/drawingml/2006/main">
              <a:ext uri="{FF2B5EF4-FFF2-40B4-BE49-F238E27FC236}">
                <a16:creationId xmlns:a16="http://schemas.microsoft.com/office/drawing/2014/main" id="{4FD66E1E-3FA8-458C-8E70-B80962B4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43250"/>
            <a:ext cx="13525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28900" y="3400425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C6670"/>
            </a:solidFill>
            <a:prstDash val="solid"/>
            <a:tailEnd type="arrow" w="sm" len="sm"/>
          </a:ln>
        </p:spPr>
      </p:cxnSp>
      <p:sp>
        <p:nvSpPr>
          <p:cNvPr id="8" name="chatbot-copy">
            <a:extLst xmlns:a="http://schemas.openxmlformats.org/drawingml/2006/main">
              <a:ext uri="{FF2B5EF4-FFF2-40B4-BE49-F238E27FC236}">
                <a16:creationId xmlns:a16="http://schemas.microsoft.com/office/drawing/2014/main" id="{949C7BC2-B498-4D17-9CE1-C181D382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14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單步互動，主要產出文字。</a:t>
            </a:r>
          </a:p>
        </p:txBody>
      </p:sp>
      <p:sp>
        <p:nvSpPr>
          <p:cNvPr id="9" name="agent-surface">
            <a:extLst xmlns:a="http://schemas.openxmlformats.org/drawingml/2006/main">
              <a:ext uri="{FF2B5EF4-FFF2-40B4-BE49-F238E27FC236}">
                <a16:creationId xmlns:a16="http://schemas.microsoft.com/office/drawing/2014/main" id="{06C928D9-8635-49FB-AE3F-E2538C01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0" name="agent-head">
            <a:extLst xmlns:a="http://schemas.openxmlformats.org/drawingml/2006/main">
              <a:ext uri="{FF2B5EF4-FFF2-40B4-BE49-F238E27FC236}">
                <a16:creationId xmlns:a16="http://schemas.microsoft.com/office/drawing/2014/main" id="{2CE4CB6C-1873-4D1C-AA0D-2B8186EF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52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AI Agent</a:t>
            </a:r>
          </a:p>
        </p:txBody>
      </p:sp>
      <p:sp>
        <p:nvSpPr>
          <p:cNvPr id="11" name="goal">
            <a:extLst xmlns:a="http://schemas.openxmlformats.org/drawingml/2006/main">
              <a:ext uri="{FF2B5EF4-FFF2-40B4-BE49-F238E27FC236}">
                <a16:creationId xmlns:a16="http://schemas.microsoft.com/office/drawing/2014/main" id="{A66A4116-6E72-43B9-9ACF-36729C25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28950"/>
            <a:ext cx="895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12" name="plan">
            <a:extLst xmlns:a="http://schemas.openxmlformats.org/drawingml/2006/main">
              <a:ext uri="{FF2B5EF4-FFF2-40B4-BE49-F238E27FC236}">
                <a16:creationId xmlns:a16="http://schemas.microsoft.com/office/drawing/2014/main" id="{FD777351-5E80-479E-9C6F-FFA5E8B8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28950"/>
            <a:ext cx="895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13" name="tools">
            <a:extLst xmlns:a="http://schemas.openxmlformats.org/drawingml/2006/main">
              <a:ext uri="{FF2B5EF4-FFF2-40B4-BE49-F238E27FC236}">
                <a16:creationId xmlns:a16="http://schemas.microsoft.com/office/drawing/2014/main" id="{A0826364-2C44-435E-900C-BAF97E78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895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14" name="verify">
            <a:extLst xmlns:a="http://schemas.openxmlformats.org/drawingml/2006/main">
              <a:ext uri="{FF2B5EF4-FFF2-40B4-BE49-F238E27FC236}">
                <a16:creationId xmlns:a16="http://schemas.microsoft.com/office/drawing/2014/main" id="{3F8B9CC4-5BA4-47F3-AE9F-2EC3F7CE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43350"/>
            <a:ext cx="895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333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15" name="output">
            <a:extLst xmlns:a="http://schemas.openxmlformats.org/drawingml/2006/main">
              <a:ext uri="{FF2B5EF4-FFF2-40B4-BE49-F238E27FC236}">
                <a16:creationId xmlns:a16="http://schemas.microsoft.com/office/drawing/2014/main" id="{0C3DA75A-24DE-4781-BE93-7B9961EA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895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cxnSp>
        <p:nvCxnSpPr>
          <p:cNvPr id="39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753350" y="32575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46A8"/>
            </a:solidFill>
            <a:prstDash val="solid"/>
            <a:tailEnd type="arrow" w="sm" len="sm"/>
          </a:ln>
        </p:spPr>
      </p:cxnSp>
      <p:cxnSp>
        <p:nvCxnSpPr>
          <p:cNvPr id="40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991600" y="32575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46A8"/>
            </a:solidFill>
            <a:prstDash val="solid"/>
            <a:tailEnd type="arrow" w="sm" len="sm"/>
          </a:ln>
        </p:spPr>
      </p:cxnSp>
      <p:cxnSp>
        <p:nvCxnSpPr>
          <p:cNvPr id="41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9782175" y="34861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89A16"/>
            </a:solidFill>
            <a:prstDash val="soli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991600" y="41719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D89A16"/>
            </a:solidFill>
            <a:prstDash val="solid"/>
            <a:tailEnd type="arrow" w="sm" len="sm"/>
          </a:ln>
        </p:spPr>
      </p:cxnSp>
      <p:sp>
        <p:nvSpPr>
          <p:cNvPr id="20" name="agent-return-line">
            <a:extLst xmlns:a="http://schemas.openxmlformats.org/drawingml/2006/main">
              <a:ext uri="{FF2B5EF4-FFF2-40B4-BE49-F238E27FC236}">
                <a16:creationId xmlns:a16="http://schemas.microsoft.com/office/drawing/2014/main" id="{FC6B0793-80EB-4684-AE4B-74C95D40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-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9A16"/>
            </a:solidFill>
            <a:prstDash val="dash"/>
          </a:ln>
        </p:spPr>
      </p:sp>
      <p:sp>
        <p:nvSpPr>
          <p:cNvPr id="21" name="agent-return-up">
            <a:extLst xmlns:a="http://schemas.openxmlformats.org/drawingml/2006/main">
              <a:ext uri="{FF2B5EF4-FFF2-40B4-BE49-F238E27FC236}">
                <a16:creationId xmlns:a16="http://schemas.microsoft.com/office/drawing/2014/main" id="{DDC287E6-8899-4B5A-99CB-DA654043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71950"/>
            <a:ext cx="0" cy="-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9A16"/>
            </a:solidFill>
            <a:prstDash val="dash"/>
          </a:ln>
        </p:spPr>
      </p:sp>
      <p:sp>
        <p:nvSpPr>
          <p:cNvPr id="22" name="agent-copy">
            <a:extLst xmlns:a="http://schemas.openxmlformats.org/drawingml/2006/main">
              <a:ext uri="{FF2B5EF4-FFF2-40B4-BE49-F238E27FC236}">
                <a16:creationId xmlns:a16="http://schemas.microsoft.com/office/drawing/2014/main" id="{56155BC5-4D19-4884-9587-AAA50833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67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多步流程，包含工具、狀態與檢查。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CC0DEACB-6B1E-4D13-8111-BD704C3D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3/11</a:t>
            </a:r>
          </a:p>
        </p:txBody>
      </p:sp>
    </p:spTree>
    <p:extLst>
      <p:ext uri="{BB962C8B-B14F-4D97-AF65-F5344CB8AC3E}">
        <p14:creationId xmlns:p14="http://schemas.microsoft.com/office/powerpoint/2010/main" val="9895573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9C58D1A-FA99-47EF-8711-5CE3A37B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AGENT COMPONENTS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2018F0-385A-4D78-B015-E7C16A06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Agent 是一組可組合元件，不只是模型</a:t>
            </a:r>
          </a:p>
        </p:txBody>
      </p:sp>
      <p:sp>
        <p:nvSpPr>
          <p:cNvPr id="3" name="model">
            <a:extLst xmlns:a="http://schemas.openxmlformats.org/drawingml/2006/main">
              <a:ext uri="{FF2B5EF4-FFF2-40B4-BE49-F238E27FC236}">
                <a16:creationId xmlns:a16="http://schemas.microsoft.com/office/drawing/2014/main" id="{46EEA320-E1D8-4012-A04B-BAFAD15A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24200"/>
            <a:ext cx="1752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Model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推理與生成</a:t>
            </a:r>
          </a:p>
        </p:txBody>
      </p:sp>
      <p:sp>
        <p:nvSpPr>
          <p:cNvPr id="4" name="component-Context">
            <a:extLst xmlns:a="http://schemas.openxmlformats.org/drawingml/2006/main">
              <a:ext uri="{FF2B5EF4-FFF2-40B4-BE49-F238E27FC236}">
                <a16:creationId xmlns:a16="http://schemas.microsoft.com/office/drawing/2014/main" id="{1A6E5137-4A12-4DF1-AF19-6213721F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90750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Context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任務、資料、限制</a:t>
            </a:r>
          </a:p>
        </p:txBody>
      </p:sp>
      <p:cxnSp>
        <p:nvCxnSpPr>
          <p:cNvPr id="21" name=""/>
          <p:cNvCxnSpPr>
            <a:stCxn xmlns:a="http://schemas.openxmlformats.org/drawingml/2006/main" id="3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 flipV="1">
            <a:off x="4152900" y="2486025"/>
            <a:ext cx="106680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4DADD"/>
            </a:solidFill>
            <a:prstDash val="solid"/>
          </a:ln>
        </p:spPr>
      </p:cxnSp>
      <p:sp>
        <p:nvSpPr>
          <p:cNvPr id="6" name="component-Tools">
            <a:extLst xmlns:a="http://schemas.openxmlformats.org/drawingml/2006/main">
              <a:ext uri="{FF2B5EF4-FFF2-40B4-BE49-F238E27FC236}">
                <a16:creationId xmlns:a16="http://schemas.microsoft.com/office/drawing/2014/main" id="{7AACB5EE-1930-4329-8C0F-2C41C843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Tools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搜尋、讀檔、查 DB</a:t>
            </a:r>
          </a:p>
        </p:txBody>
      </p:sp>
      <p:cxnSp>
        <p:nvCxnSpPr>
          <p:cNvPr id="23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6972300" y="2486025"/>
            <a:ext cx="83820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4DADD"/>
            </a:solidFill>
            <a:prstDash val="solid"/>
          </a:ln>
        </p:spPr>
      </p:cxnSp>
      <p:sp>
        <p:nvSpPr>
          <p:cNvPr id="8" name="component-Memory / state">
            <a:extLst xmlns:a="http://schemas.openxmlformats.org/drawingml/2006/main">
              <a:ext uri="{FF2B5EF4-FFF2-40B4-BE49-F238E27FC236}">
                <a16:creationId xmlns:a16="http://schemas.microsoft.com/office/drawing/2014/main" id="{B501F1C9-2D3B-4111-BA0C-FEC51963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48150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Memory / state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進度與中間結果</a:t>
            </a:r>
          </a:p>
        </p:txBody>
      </p:sp>
      <p:cxnSp>
        <p:nvCxnSpPr>
          <p:cNvPr id="25" name=""/>
          <p:cNvCxnSpPr>
            <a:stCxn xmlns:a="http://schemas.openxmlformats.org/drawingml/2006/main" id="3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4076700" y="3514725"/>
            <a:ext cx="114300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4DADD"/>
            </a:solidFill>
            <a:prstDash val="solid"/>
          </a:ln>
        </p:spPr>
      </p:cxnSp>
      <p:sp>
        <p:nvSpPr>
          <p:cNvPr id="10" name="component-Plan">
            <a:extLst xmlns:a="http://schemas.openxmlformats.org/drawingml/2006/main">
              <a:ext uri="{FF2B5EF4-FFF2-40B4-BE49-F238E27FC236}">
                <a16:creationId xmlns:a16="http://schemas.microsoft.com/office/drawing/2014/main" id="{B90C7DC0-43BC-44CE-9497-96FC6570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48150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Plan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拆解任務</a:t>
            </a:r>
          </a:p>
        </p:txBody>
      </p:sp>
      <p:cxnSp>
        <p:nvCxnSpPr>
          <p:cNvPr id="27" name=""/>
          <p:cNvCxnSpPr>
            <a:stCxn xmlns:a="http://schemas.openxmlformats.org/drawingml/2006/main" id="3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972300" y="3514725"/>
            <a:ext cx="102870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4DADD"/>
            </a:solidFill>
            <a:prstDash val="solid"/>
          </a:ln>
        </p:spPr>
      </p:cxnSp>
      <p:sp>
        <p:nvSpPr>
          <p:cNvPr id="12" name="component-Action loop">
            <a:extLst xmlns:a="http://schemas.openxmlformats.org/drawingml/2006/main">
              <a:ext uri="{FF2B5EF4-FFF2-40B4-BE49-F238E27FC236}">
                <a16:creationId xmlns:a16="http://schemas.microsoft.com/office/drawing/2014/main" id="{228C3C9A-E40D-4825-BC3E-D6A5DE0A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90700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Action loop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執行與觀察</a:t>
            </a:r>
          </a:p>
        </p:txBody>
      </p:sp>
      <p:cxnSp>
        <p:nvCxnSpPr>
          <p:cNvPr id="29" name=""/>
          <p:cNvCxnSpPr>
            <a:stCxn xmlns:a="http://schemas.openxmlformats.org/drawingml/2006/main" id="3" idx="0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 flipV="1">
            <a:off x="6076950" y="2085975"/>
            <a:ext cx="19050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4DADD"/>
            </a:solidFill>
            <a:prstDash val="solid"/>
          </a:ln>
        </p:spPr>
      </p:cxnSp>
      <p:sp>
        <p:nvSpPr>
          <p:cNvPr id="14" name="component-Verification">
            <a:extLst xmlns:a="http://schemas.openxmlformats.org/drawingml/2006/main">
              <a:ext uri="{FF2B5EF4-FFF2-40B4-BE49-F238E27FC236}">
                <a16:creationId xmlns:a16="http://schemas.microsoft.com/office/drawing/2014/main" id="{71D3FBAC-732F-4F56-9323-C43F0355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62550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333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Verification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檢查與停止條件</a:t>
            </a:r>
          </a:p>
        </p:txBody>
      </p:sp>
      <p:cxnSp>
        <p:nvCxnSpPr>
          <p:cNvPr id="31" name=""/>
          <p:cNvCxnSpPr>
            <a:stCxn xmlns:a="http://schemas.openxmlformats.org/drawingml/2006/main" id="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5362575" y="3905250"/>
            <a:ext cx="733425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4DADD"/>
            </a:solidFill>
            <a:prstDash val="solid"/>
          </a:ln>
        </p:spPr>
      </p:cxn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4A895310-F3C8-42BD-A9F2-5389A176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4/11</a:t>
            </a:r>
          </a:p>
        </p:txBody>
      </p:sp>
    </p:spTree>
    <p:extLst>
      <p:ext uri="{BB962C8B-B14F-4D97-AF65-F5344CB8AC3E}">
        <p14:creationId xmlns:p14="http://schemas.microsoft.com/office/powerpoint/2010/main" val="2442447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FA2D331-6537-4400-AE5B-313774AF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AGENT LOOP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35F9E81-89DC-4252-AF44-F9655F1D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Agent 的核心是一個可檢查的工作循環</a:t>
            </a:r>
          </a:p>
        </p:txBody>
      </p:sp>
      <p:sp>
        <p:nvSpPr>
          <p:cNvPr id="3" name="goal">
            <a:extLst xmlns:a="http://schemas.openxmlformats.org/drawingml/2006/main">
              <a:ext uri="{FF2B5EF4-FFF2-40B4-BE49-F238E27FC236}">
                <a16:creationId xmlns:a16="http://schemas.microsoft.com/office/drawing/2014/main" id="{ACE97531-925E-47C0-900C-503CCCAE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76550"/>
            <a:ext cx="11049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4" name="plan">
            <a:extLst xmlns:a="http://schemas.openxmlformats.org/drawingml/2006/main">
              <a:ext uri="{FF2B5EF4-FFF2-40B4-BE49-F238E27FC236}">
                <a16:creationId xmlns:a16="http://schemas.microsoft.com/office/drawing/2014/main" id="{BD2C88EA-054B-49AB-AA84-09976A19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24050"/>
            <a:ext cx="11049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5" name="act">
            <a:extLst xmlns:a="http://schemas.openxmlformats.org/drawingml/2006/main">
              <a:ext uri="{FF2B5EF4-FFF2-40B4-BE49-F238E27FC236}">
                <a16:creationId xmlns:a16="http://schemas.microsoft.com/office/drawing/2014/main" id="{996FFBDB-077F-42F5-AC0D-CF87573A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924050"/>
            <a:ext cx="1314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Act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with tools</a:t>
            </a:r>
          </a:p>
        </p:txBody>
      </p:sp>
      <p:sp>
        <p:nvSpPr>
          <p:cNvPr id="6" name="observe">
            <a:extLst xmlns:a="http://schemas.openxmlformats.org/drawingml/2006/main">
              <a:ext uri="{FF2B5EF4-FFF2-40B4-BE49-F238E27FC236}">
                <a16:creationId xmlns:a16="http://schemas.microsoft.com/office/drawing/2014/main" id="{2EAF3036-17FC-43C1-9B58-6AA0068A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76550"/>
            <a:ext cx="1219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7" name="verify">
            <a:extLst xmlns:a="http://schemas.openxmlformats.org/drawingml/2006/main">
              <a:ext uri="{FF2B5EF4-FFF2-40B4-BE49-F238E27FC236}">
                <a16:creationId xmlns:a16="http://schemas.microsoft.com/office/drawing/2014/main" id="{343EA453-092E-43E1-A7E1-0B4ADC5D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438650"/>
            <a:ext cx="1314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333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8" name="state">
            <a:extLst xmlns:a="http://schemas.openxmlformats.org/drawingml/2006/main">
              <a:ext uri="{FF2B5EF4-FFF2-40B4-BE49-F238E27FC236}">
                <a16:creationId xmlns:a16="http://schemas.microsoft.com/office/drawing/2014/main" id="{7BAA456B-C51F-4DDD-B4A9-6E8AD061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38650"/>
            <a:ext cx="1104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Update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state</a:t>
            </a:r>
          </a:p>
        </p:txBody>
      </p:sp>
      <p:cxnSp>
        <p:nvCxnSpPr>
          <p:cNvPr id="27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2647950" y="2190750"/>
            <a:ext cx="609600" cy="952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3446A8"/>
            </a:solidFill>
            <a:prstDash val="solid"/>
            <a:tailEnd type="arrow" w="sm" len="sm"/>
          </a:ln>
        </p:spPr>
      </p:cxn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362450" y="2190750"/>
            <a:ext cx="11811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46A8"/>
            </a:solidFill>
            <a:prstDash val="solid"/>
            <a:tailEnd type="arrow" w="sm" len="sm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858000" y="2228850"/>
            <a:ext cx="971550" cy="914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0E8F88"/>
            </a:solidFill>
            <a:prstDash val="solid"/>
            <a:tailEnd type="arrow" w="sm" len="sm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H="1">
            <a:off x="5314950" y="3143250"/>
            <a:ext cx="3962400" cy="1600200"/>
          </a:xfrm>
          <a:prstGeom xmlns:a="http://schemas.openxmlformats.org/drawingml/2006/main" prst="bentConnector4">
            <a:avLst/>
          </a:prstGeom>
          <a:ln xmlns:a="http://schemas.openxmlformats.org/drawingml/2006/main" w="15240">
            <a:solidFill>
              <a:srgbClr val="D89A16"/>
            </a:solidFill>
            <a:prstDash val="solid"/>
            <a:tailEnd type="arrow" w="sm" len="sm"/>
          </a:ln>
        </p:spPr>
      </p:cxnSp>
      <p:sp>
        <p:nvSpPr>
          <p:cNvPr id="13" name="verify-state-clean">
            <a:extLst xmlns:a="http://schemas.openxmlformats.org/drawingml/2006/main">
              <a:ext uri="{FF2B5EF4-FFF2-40B4-BE49-F238E27FC236}">
                <a16:creationId xmlns:a16="http://schemas.microsoft.com/office/drawing/2014/main" id="{5B03B1E0-105C-4019-8A32-D9E36840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43450"/>
            <a:ext cx="118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9A16"/>
            </a:solidFill>
            <a:prstDash val="solid"/>
          </a:ln>
        </p:spPr>
      </p: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 flipH="1" flipV="1">
            <a:off x="1314450" y="3143250"/>
            <a:ext cx="3276600" cy="1600200"/>
          </a:xfrm>
          <a:prstGeom xmlns:a="http://schemas.openxmlformats.org/drawingml/2006/main" prst="bentConnector4">
            <a:avLst/>
          </a:prstGeom>
          <a:ln xmlns:a="http://schemas.openxmlformats.org/drawingml/2006/main" w="15240">
            <a:solidFill>
              <a:srgbClr val="5C6670"/>
            </a:solidFill>
            <a:prstDash val="dash"/>
            <a:tailEnd type="arrow" w="sm" len="sm"/>
          </a:ln>
        </p:spPr>
      </p:cxnSp>
      <p:sp>
        <p:nvSpPr>
          <p:cNvPr id="15" name="human-gate">
            <a:extLst xmlns:a="http://schemas.openxmlformats.org/drawingml/2006/main">
              <a:ext uri="{FF2B5EF4-FFF2-40B4-BE49-F238E27FC236}">
                <a16:creationId xmlns:a16="http://schemas.microsoft.com/office/drawing/2014/main" id="{F2F714A7-0A74-4410-B24B-D60B9C6A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38650"/>
            <a:ext cx="1600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333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Human review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16" name="human-review-link">
            <a:extLst xmlns:a="http://schemas.openxmlformats.org/drawingml/2006/main">
              <a:ext uri="{FF2B5EF4-FFF2-40B4-BE49-F238E27FC236}">
                <a16:creationId xmlns:a16="http://schemas.microsoft.com/office/drawing/2014/main" id="{3C857FA1-6466-4BD7-89DC-8BEF4D72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434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9A16"/>
            </a:solidFill>
            <a:prstDash val="dash"/>
          </a:ln>
        </p:spPr>
      </p:sp>
      <p:sp>
        <p:nvSpPr>
          <p:cNvPr id="17" name="loop-note">
            <a:extLst xmlns:a="http://schemas.openxmlformats.org/drawingml/2006/main">
              <a:ext uri="{FF2B5EF4-FFF2-40B4-BE49-F238E27FC236}">
                <a16:creationId xmlns:a16="http://schemas.microsoft.com/office/drawing/2014/main" id="{5C764E3E-2173-4802-8C31-3174FD2A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57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不是一次輸入、一次輸出，而是在約束內反覆觀察、修正、停止。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00B82C67-0F7D-4CD0-B819-7618629F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5/11</a:t>
            </a:r>
          </a:p>
        </p:txBody>
      </p:sp>
    </p:spTree>
    <p:extLst>
      <p:ext uri="{BB962C8B-B14F-4D97-AF65-F5344CB8AC3E}">
        <p14:creationId xmlns:p14="http://schemas.microsoft.com/office/powerpoint/2010/main" val="3118600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153D744-250E-4B94-8B5E-6ADE6B3F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VERIFICATION BY DESIGN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7125F4E-2E9C-43D0-9E01-6D6028E8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Verification 不是最後一步，而是 workflow 設計的一部分</a:t>
            </a:r>
          </a:p>
        </p:txBody>
      </p:sp>
      <p:sp>
        <p:nvSpPr>
          <p:cNvPr id="3" name="artifact-0">
            <a:extLst xmlns:a="http://schemas.openxmlformats.org/drawingml/2006/main">
              <a:ext uri="{FF2B5EF4-FFF2-40B4-BE49-F238E27FC236}">
                <a16:creationId xmlns:a16="http://schemas.microsoft.com/office/drawing/2014/main" id="{97905492-7CA5-45D8-943D-F451A96C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2190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Evidence table</a:t>
            </a:r>
          </a:p>
        </p:txBody>
      </p:sp>
      <p:sp>
        <p:nvSpPr>
          <p:cNvPr id="4" name="check-0">
            <a:extLst xmlns:a="http://schemas.openxmlformats.org/drawingml/2006/main">
              <a:ext uri="{FF2B5EF4-FFF2-40B4-BE49-F238E27FC236}">
                <a16:creationId xmlns:a16="http://schemas.microsoft.com/office/drawing/2014/main" id="{3D027252-CFDB-498D-9D95-946F6328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05200"/>
            <a:ext cx="1885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PMID / DOI</a:t>
            </a:r>
          </a:p>
        </p:txBody>
      </p:sp>
      <p:cxnSp>
        <p:nvCxnSpPr>
          <p:cNvPr id="18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2238375" y="285750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E8F88"/>
            </a:solidFill>
            <a:prstDash val="dash"/>
            <a:tailEnd type="arrow" w="sm" len="sm"/>
          </a:ln>
        </p:spPr>
      </p:cxnSp>
      <p:sp>
        <p:nvSpPr>
          <p:cNvPr id="6" name="artifact-1">
            <a:extLst xmlns:a="http://schemas.openxmlformats.org/drawingml/2006/main">
              <a:ext uri="{FF2B5EF4-FFF2-40B4-BE49-F238E27FC236}">
                <a16:creationId xmlns:a16="http://schemas.microsoft.com/office/drawing/2014/main" id="{E677CD3E-8F9F-49E4-87AE-FFF1F545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66950"/>
            <a:ext cx="2190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Analysis script</a:t>
            </a:r>
          </a:p>
        </p:txBody>
      </p:sp>
      <p:sp>
        <p:nvSpPr>
          <p:cNvPr id="7" name="check-1">
            <a:extLst xmlns:a="http://schemas.openxmlformats.org/drawingml/2006/main">
              <a:ext uri="{FF2B5EF4-FFF2-40B4-BE49-F238E27FC236}">
                <a16:creationId xmlns:a16="http://schemas.microsoft.com/office/drawing/2014/main" id="{8624D53F-54F3-4A04-8273-CC49088D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05200"/>
            <a:ext cx="1885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input / output / log</a:t>
            </a:r>
          </a:p>
        </p:txBody>
      </p:sp>
      <p:cxnSp>
        <p:nvCxnSpPr>
          <p:cNvPr id="21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5667375" y="285750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446A8"/>
            </a:solidFill>
            <a:prstDash val="dash"/>
            <a:tailEnd type="arrow" w="sm" len="sm"/>
          </a:ln>
        </p:spPr>
      </p:cxnSp>
      <p:sp>
        <p:nvSpPr>
          <p:cNvPr id="9" name="artifact-2">
            <a:extLst xmlns:a="http://schemas.openxmlformats.org/drawingml/2006/main">
              <a:ext uri="{FF2B5EF4-FFF2-40B4-BE49-F238E27FC236}">
                <a16:creationId xmlns:a16="http://schemas.microsoft.com/office/drawing/2014/main" id="{33C00129-497C-46B9-92B2-098BD0F4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2190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Citation</a:t>
            </a:r>
          </a:p>
        </p:txBody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32F7A040-3C9D-4D5E-B146-D422C684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05200"/>
            <a:ext cx="1885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333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回到原文段落</a:t>
            </a:r>
          </a:p>
        </p:txBody>
      </p:sp>
      <p:cxnSp>
        <p:nvCxnSpPr>
          <p:cNvPr id="24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096375" y="285750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89A16"/>
            </a:solidFill>
            <a:prstDash val="dash"/>
            <a:tailEnd type="arrow" w="sm" len="sm"/>
          </a:ln>
        </p:spPr>
      </p:cxnSp>
      <p:sp>
        <p:nvSpPr>
          <p:cNvPr id="12" name="stop">
            <a:extLst xmlns:a="http://schemas.openxmlformats.org/drawingml/2006/main">
              <a:ext uri="{FF2B5EF4-FFF2-40B4-BE49-F238E27FC236}">
                <a16:creationId xmlns:a16="http://schemas.microsoft.com/office/drawing/2014/main" id="{BDFA914A-D867-4FD3-A8BC-77088EB2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292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Stop condition：什麼情況可以交付？什麼情況必須回到人工檢查？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5B364E21-00DA-4EE4-9E46-36C83599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6/11</a:t>
            </a:r>
          </a:p>
        </p:txBody>
      </p:sp>
    </p:spTree>
    <p:extLst>
      <p:ext uri="{BB962C8B-B14F-4D97-AF65-F5344CB8AC3E}">
        <p14:creationId xmlns:p14="http://schemas.microsoft.com/office/powerpoint/2010/main" val="4751498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97FDC38-726B-4F8B-ACC8-3223C696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VIBE CODING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0FAA9C8-258F-431C-9375-C8E6E931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Vibe coding 是快速探索，不是把責任交給模型</a:t>
            </a:r>
          </a:p>
        </p:txBody>
      </p:sp>
      <p:sp>
        <p:nvSpPr>
          <p:cNvPr id="3" name="stage-0">
            <a:extLst xmlns:a="http://schemas.openxmlformats.org/drawingml/2006/main">
              <a:ext uri="{FF2B5EF4-FFF2-40B4-BE49-F238E27FC236}">
                <a16:creationId xmlns:a16="http://schemas.microsoft.com/office/drawing/2014/main" id="{4828FCF2-403F-440B-A72A-BA56DA66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Precise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4" name="stage-sub-0">
            <a:extLst xmlns:a="http://schemas.openxmlformats.org/drawingml/2006/main">
              <a:ext uri="{FF2B5EF4-FFF2-40B4-BE49-F238E27FC236}">
                <a16:creationId xmlns:a16="http://schemas.microsoft.com/office/drawing/2014/main" id="{38A92669-A259-40AD-8129-90C62FFB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24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人主導細節</a:t>
            </a:r>
          </a:p>
        </p:txBody>
      </p:sp>
      <p:sp>
        <p:nvSpPr>
          <p:cNvPr id="5" name="stage-1">
            <a:extLst xmlns:a="http://schemas.openxmlformats.org/drawingml/2006/main">
              <a:ext uri="{FF2B5EF4-FFF2-40B4-BE49-F238E27FC236}">
                <a16:creationId xmlns:a16="http://schemas.microsoft.com/office/drawing/2014/main" id="{63C64743-6E9F-4ED8-B2FB-574DAAF8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Assisted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iteration</a:t>
            </a:r>
          </a:p>
        </p:txBody>
      </p:sp>
      <p:sp>
        <p:nvSpPr>
          <p:cNvPr id="6" name="stage-sub-1">
            <a:extLst xmlns:a="http://schemas.openxmlformats.org/drawingml/2006/main">
              <a:ext uri="{FF2B5EF4-FFF2-40B4-BE49-F238E27FC236}">
                <a16:creationId xmlns:a16="http://schemas.microsoft.com/office/drawing/2014/main" id="{A84050FE-6755-4736-8A36-EC85E9AD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agent 協助修改</a:t>
            </a:r>
          </a:p>
        </p:txBody>
      </p:sp>
      <p:cxnSp>
        <p:nvCxnSpPr>
          <p:cNvPr id="19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14750" y="29146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46A8"/>
            </a:solidFill>
            <a:prstDash val="solid"/>
            <a:tailEnd type="arrow" w="sm" len="sm"/>
          </a:ln>
        </p:spPr>
      </p:cxnSp>
      <p:sp>
        <p:nvSpPr>
          <p:cNvPr id="8" name="stage-2">
            <a:extLst xmlns:a="http://schemas.openxmlformats.org/drawingml/2006/main">
              <a:ext uri="{FF2B5EF4-FFF2-40B4-BE49-F238E27FC236}">
                <a16:creationId xmlns:a16="http://schemas.microsoft.com/office/drawing/2014/main" id="{F889DF63-0F62-422C-8DE5-4FEAA372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Natural-language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9" name="stage-sub-2">
            <a:extLst xmlns:a="http://schemas.openxmlformats.org/drawingml/2006/main">
              <a:ext uri="{FF2B5EF4-FFF2-40B4-BE49-F238E27FC236}">
                <a16:creationId xmlns:a16="http://schemas.microsoft.com/office/drawing/2014/main" id="{5DD048A3-94B8-4815-B52C-06ADA947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用語言快速原型</a:t>
            </a:r>
          </a:p>
        </p:txBody>
      </p: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858000" y="29146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446A8"/>
            </a:solidFill>
            <a:prstDash val="solid"/>
            <a:tailEnd type="arrow" w="sm" len="sm"/>
          </a:ln>
        </p:spPr>
      </p:cxnSp>
      <p:sp>
        <p:nvSpPr>
          <p:cNvPr id="11" name="fast-checks">
            <a:extLst xmlns:a="http://schemas.openxmlformats.org/drawingml/2006/main">
              <a:ext uri="{FF2B5EF4-FFF2-40B4-BE49-F238E27FC236}">
                <a16:creationId xmlns:a16="http://schemas.microsoft.com/office/drawing/2014/main" id="{0DBB8770-A669-4DF6-8523-C5CB408F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006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Fast iteration requires explicit checks.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D07CE7B3-7A24-4991-83DA-37173545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7/11</a:t>
            </a:r>
          </a:p>
        </p:txBody>
      </p:sp>
    </p:spTree>
    <p:extLst>
      <p:ext uri="{BB962C8B-B14F-4D97-AF65-F5344CB8AC3E}">
        <p14:creationId xmlns:p14="http://schemas.microsoft.com/office/powerpoint/2010/main" val="11012645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3E7B06D-144A-4743-BED6-9185F409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RISK MATRIX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F565AD8-0862-4133-90B0-992933C3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Vibe coding 適合低模糊、低風險且可驗證的任務</a:t>
            </a:r>
          </a:p>
        </p:txBody>
      </p:sp>
      <p:sp>
        <p:nvSpPr>
          <p:cNvPr id="3" name="matrix">
            <a:extLst xmlns:a="http://schemas.openxmlformats.org/drawingml/2006/main">
              <a:ext uri="{FF2B5EF4-FFF2-40B4-BE49-F238E27FC236}">
                <a16:creationId xmlns:a16="http://schemas.microsoft.com/office/drawing/2014/main" id="{D0046821-59CE-4DFE-834D-9E9E1A7E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81200"/>
            <a:ext cx="7429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4" name="vline">
            <a:extLst xmlns:a="http://schemas.openxmlformats.org/drawingml/2006/main">
              <a:ext uri="{FF2B5EF4-FFF2-40B4-BE49-F238E27FC236}">
                <a16:creationId xmlns:a16="http://schemas.microsoft.com/office/drawing/2014/main" id="{D55C97E6-CE2F-45F4-A3F4-55B87C1E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812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5" name="hline">
            <a:extLst xmlns:a="http://schemas.openxmlformats.org/drawingml/2006/main">
              <a:ext uri="{FF2B5EF4-FFF2-40B4-BE49-F238E27FC236}">
                <a16:creationId xmlns:a16="http://schemas.microsoft.com/office/drawing/2014/main" id="{37EE7FA9-0C0D-4A61-AF6F-0ACFABCE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95700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6" name="axis-x">
            <a:extLst xmlns:a="http://schemas.openxmlformats.org/drawingml/2006/main">
              <a:ext uri="{FF2B5EF4-FFF2-40B4-BE49-F238E27FC236}">
                <a16:creationId xmlns:a16="http://schemas.microsoft.com/office/drawing/2014/main" id="{76724BF6-425D-4FAF-BE31-1383335D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524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Task ambiguity</a:t>
            </a:r>
          </a:p>
        </p:txBody>
      </p:sp>
      <p:sp>
        <p:nvSpPr>
          <p:cNvPr id="7" name="axis-y">
            <a:extLst xmlns:a="http://schemas.openxmlformats.org/drawingml/2006/main">
              <a:ext uri="{FF2B5EF4-FFF2-40B4-BE49-F238E27FC236}">
                <a16:creationId xmlns:a16="http://schemas.microsoft.com/office/drawing/2014/main" id="{A27C6A22-726F-457E-B2D0-39765C39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909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Impact / risk</a:t>
            </a:r>
          </a:p>
        </p:txBody>
      </p:sp>
      <p:sp>
        <p:nvSpPr>
          <p:cNvPr id="8" name="q1">
            <a:extLst xmlns:a="http://schemas.openxmlformats.org/drawingml/2006/main">
              <a:ext uri="{FF2B5EF4-FFF2-40B4-BE49-F238E27FC236}">
                <a16:creationId xmlns:a16="http://schemas.microsoft.com/office/drawing/2014/main" id="{DD7430F2-62F8-4759-8940-31D69920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719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Parsing script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Report draft</a:t>
            </a:r>
          </a:p>
        </p:txBody>
      </p:sp>
      <p:sp>
        <p:nvSpPr>
          <p:cNvPr id="9" name="q2">
            <a:extLst xmlns:a="http://schemas.openxmlformats.org/drawingml/2006/main">
              <a:ext uri="{FF2B5EF4-FFF2-40B4-BE49-F238E27FC236}">
                <a16:creationId xmlns:a16="http://schemas.microsoft.com/office/drawing/2014/main" id="{630728F7-8C76-4670-BFC3-17B6969D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719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Exploratory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prototype</a:t>
            </a:r>
          </a:p>
        </p:txBody>
      </p:sp>
      <p:sp>
        <p:nvSpPr>
          <p:cNvPr id="10" name="q3">
            <a:extLst xmlns:a="http://schemas.openxmlformats.org/drawingml/2006/main">
              <a:ext uri="{FF2B5EF4-FFF2-40B4-BE49-F238E27FC236}">
                <a16:creationId xmlns:a16="http://schemas.microsoft.com/office/drawing/2014/main" id="{39F71671-1AF3-41AA-949B-2351AE0A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955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Validated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analysis tool</a:t>
            </a:r>
          </a:p>
        </p:txBody>
      </p:sp>
      <p:sp>
        <p:nvSpPr>
          <p:cNvPr id="11" name="q4">
            <a:extLst xmlns:a="http://schemas.openxmlformats.org/drawingml/2006/main">
              <a:ext uri="{FF2B5EF4-FFF2-40B4-BE49-F238E27FC236}">
                <a16:creationId xmlns:a16="http://schemas.microsoft.com/office/drawing/2014/main" id="{FF4F2FBE-21EF-4F12-BA97-271D4557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Clinical claim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Unverified statistic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Citation-sensitive summary</a:t>
            </a:r>
          </a:p>
        </p:txBody>
      </p:sp>
      <p:sp>
        <p:nvSpPr>
          <p:cNvPr id="12" name="matrix-note">
            <a:extLst xmlns:a="http://schemas.openxmlformats.org/drawingml/2006/main">
              <a:ext uri="{FF2B5EF4-FFF2-40B4-BE49-F238E27FC236}">
                <a16:creationId xmlns:a16="http://schemas.microsoft.com/office/drawing/2014/main" id="{454BE67F-64B5-46A3-8E45-DD74FFBA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905500"/>
            <a:ext cx="744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能跑不是標準；可追溯、可測試、可解釋才是標準。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14CE7EA7-B00C-46C1-A5DB-96FC8BB0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8/11</a:t>
            </a:r>
          </a:p>
        </p:txBody>
      </p:sp>
    </p:spTree>
    <p:extLst>
      <p:ext uri="{BB962C8B-B14F-4D97-AF65-F5344CB8AC3E}">
        <p14:creationId xmlns:p14="http://schemas.microsoft.com/office/powerpoint/2010/main" val="10467542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9A228E0-0266-46DD-B169-42722C0C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DESKTOP UTILITIES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A7DB195-0FA7-430D-BC14-D048D01C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Desktop utilities 把日常研究任務接進 agent workflow</a:t>
            </a:r>
          </a:p>
        </p:txBody>
      </p:sp>
      <p:sp>
        <p:nvSpPr>
          <p:cNvPr id="3" name="lane-label-0">
            <a:extLst xmlns:a="http://schemas.openxmlformats.org/drawingml/2006/main">
              <a:ext uri="{FF2B5EF4-FFF2-40B4-BE49-F238E27FC236}">
                <a16:creationId xmlns:a16="http://schemas.microsoft.com/office/drawing/2014/main" id="{8D3860BF-AD07-4713-9EAC-3C1D4215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Researcher</a:t>
            </a:r>
          </a:p>
        </p:txBody>
      </p:sp>
      <p:sp>
        <p:nvSpPr>
          <p:cNvPr id="4" name="lane-line-0">
            <a:extLst xmlns:a="http://schemas.openxmlformats.org/drawingml/2006/main">
              <a:ext uri="{FF2B5EF4-FFF2-40B4-BE49-F238E27FC236}">
                <a16:creationId xmlns:a16="http://schemas.microsoft.com/office/drawing/2014/main" id="{0A3BEBA0-3B7B-43B8-A509-5098DB2A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86000"/>
            <a:ext cx="777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5" name="lane-a-0">
            <a:extLst xmlns:a="http://schemas.openxmlformats.org/drawingml/2006/main">
              <a:ext uri="{FF2B5EF4-FFF2-40B4-BE49-F238E27FC236}">
                <a16:creationId xmlns:a16="http://schemas.microsoft.com/office/drawing/2014/main" id="{7F8C73C5-782B-4C72-ABF1-EBCF23F4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81200"/>
            <a:ext cx="152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333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define goal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review output</a:t>
            </a:r>
          </a:p>
        </p:txBody>
      </p:sp>
      <p:sp>
        <p:nvSpPr>
          <p:cNvPr id="6" name="lane-label-1">
            <a:extLst xmlns:a="http://schemas.openxmlformats.org/drawingml/2006/main">
              <a:ext uri="{FF2B5EF4-FFF2-40B4-BE49-F238E27FC236}">
                <a16:creationId xmlns:a16="http://schemas.microsoft.com/office/drawing/2014/main" id="{01836A4F-B27B-4AAF-A93A-D4B99D32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Desktop agent</a:t>
            </a:r>
          </a:p>
        </p:txBody>
      </p:sp>
      <p:sp>
        <p:nvSpPr>
          <p:cNvPr id="7" name="lane-line-1">
            <a:extLst xmlns:a="http://schemas.openxmlformats.org/drawingml/2006/main">
              <a:ext uri="{FF2B5EF4-FFF2-40B4-BE49-F238E27FC236}">
                <a16:creationId xmlns:a16="http://schemas.microsoft.com/office/drawing/2014/main" id="{A73647E2-A9E9-4049-9A7E-FB3352BC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24200"/>
            <a:ext cx="777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8" name="lane-a-1">
            <a:extLst xmlns:a="http://schemas.openxmlformats.org/drawingml/2006/main">
              <a:ext uri="{FF2B5EF4-FFF2-40B4-BE49-F238E27FC236}">
                <a16:creationId xmlns:a16="http://schemas.microsoft.com/office/drawing/2014/main" id="{276FFB6A-1CF1-452E-B132-014C659F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19400"/>
            <a:ext cx="152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plan actions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coordinate tools</a:t>
            </a:r>
          </a:p>
        </p:txBody>
      </p:sp>
      <p:sp>
        <p:nvSpPr>
          <p:cNvPr id="9" name="lane-label-2">
            <a:extLst xmlns:a="http://schemas.openxmlformats.org/drawingml/2006/main">
              <a:ext uri="{FF2B5EF4-FFF2-40B4-BE49-F238E27FC236}">
                <a16:creationId xmlns:a16="http://schemas.microsoft.com/office/drawing/2014/main" id="{AAA6CE69-F4FB-49A1-867A-25EDFF9D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Local files / tools</a:t>
            </a:r>
          </a:p>
        </p:txBody>
      </p:sp>
      <p:sp>
        <p:nvSpPr>
          <p:cNvPr id="10" name="lane-line-2">
            <a:extLst xmlns:a="http://schemas.openxmlformats.org/drawingml/2006/main">
              <a:ext uri="{FF2B5EF4-FFF2-40B4-BE49-F238E27FC236}">
                <a16:creationId xmlns:a16="http://schemas.microsoft.com/office/drawing/2014/main" id="{71A3DA6E-49F8-488C-9E0F-5C65698D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62400"/>
            <a:ext cx="777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1" name="lane-label-3">
            <a:extLst xmlns:a="http://schemas.openxmlformats.org/drawingml/2006/main">
              <a:ext uri="{FF2B5EF4-FFF2-40B4-BE49-F238E27FC236}">
                <a16:creationId xmlns:a16="http://schemas.microsoft.com/office/drawing/2014/main" id="{DA2AC089-FB03-4A2D-80A4-3BD60C33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External sources</a:t>
            </a:r>
          </a:p>
        </p:txBody>
      </p:sp>
      <p:sp>
        <p:nvSpPr>
          <p:cNvPr id="12" name="lane-line-3">
            <a:extLst xmlns:a="http://schemas.openxmlformats.org/drawingml/2006/main">
              <a:ext uri="{FF2B5EF4-FFF2-40B4-BE49-F238E27FC236}">
                <a16:creationId xmlns:a16="http://schemas.microsoft.com/office/drawing/2014/main" id="{B9C8D6B6-60EA-4736-B8CA-E2701720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00600"/>
            <a:ext cx="777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3" name="pdf">
            <a:extLst xmlns:a="http://schemas.openxmlformats.org/drawingml/2006/main">
              <a:ext uri="{FF2B5EF4-FFF2-40B4-BE49-F238E27FC236}">
                <a16:creationId xmlns:a16="http://schemas.microsoft.com/office/drawing/2014/main" id="{6FCFEE8C-4EDF-40FD-BE4D-C0C1CA30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62350"/>
            <a:ext cx="12001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Read PDF</a:t>
            </a:r>
          </a:p>
        </p:txBody>
      </p:sp>
      <p:sp>
        <p:nvSpPr>
          <p:cNvPr id="14" name="csv">
            <a:extLst xmlns:a="http://schemas.openxmlformats.org/drawingml/2006/main">
              <a:ext uri="{FF2B5EF4-FFF2-40B4-BE49-F238E27FC236}">
                <a16:creationId xmlns:a16="http://schemas.microsoft.com/office/drawing/2014/main" id="{73DA76C2-067F-448B-9143-DD0EC083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62350"/>
            <a:ext cx="12001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Clean CSV</a:t>
            </a:r>
          </a:p>
        </p:txBody>
      </p:sp>
      <p:sp>
        <p:nvSpPr>
          <p:cNvPr id="15" name="script">
            <a:extLst xmlns:a="http://schemas.openxmlformats.org/drawingml/2006/main">
              <a:ext uri="{FF2B5EF4-FFF2-40B4-BE49-F238E27FC236}">
                <a16:creationId xmlns:a16="http://schemas.microsoft.com/office/drawing/2014/main" id="{8CA0E0C1-EABA-4E13-9B46-52D75DD6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62350"/>
            <a:ext cx="12001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Run script</a:t>
            </a:r>
          </a:p>
        </p:txBody>
      </p:sp>
      <p:sp>
        <p:nvSpPr>
          <p:cNvPr id="16" name="browser-db">
            <a:extLst xmlns:a="http://schemas.openxmlformats.org/drawingml/2006/main">
              <a:ext uri="{FF2B5EF4-FFF2-40B4-BE49-F238E27FC236}">
                <a16:creationId xmlns:a16="http://schemas.microsoft.com/office/drawing/2014/main" id="{472C7F64-D114-4D98-A161-F2990984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00550"/>
            <a:ext cx="1485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Browser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biomedical DB</a:t>
            </a:r>
          </a:p>
        </p:txBody>
      </p:sp>
      <p:sp>
        <p:nvSpPr>
          <p:cNvPr id="17" name="browser">
            <a:extLst xmlns:a="http://schemas.openxmlformats.org/drawingml/2006/main">
              <a:ext uri="{FF2B5EF4-FFF2-40B4-BE49-F238E27FC236}">
                <a16:creationId xmlns:a16="http://schemas.microsoft.com/office/drawing/2014/main" id="{81D3A7E6-2B6A-47AF-87F2-4D2A7327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00550"/>
            <a:ext cx="1333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Check source</a:t>
            </a:r>
          </a:p>
        </p:txBody>
      </p:sp>
      <p:cxnSp>
        <p:nvCxnSpPr>
          <p:cNvPr id="41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895850" y="37909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C6670"/>
            </a:solidFill>
            <a:prstDash val="soli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591300" y="37909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C6670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H="1">
            <a:off x="6800850" y="3790950"/>
            <a:ext cx="1714500" cy="885825"/>
          </a:xfrm>
          <a:prstGeom xmlns:a="http://schemas.openxmlformats.org/drawingml/2006/main" prst="bentConnector4">
            <a:avLst/>
          </a:prstGeom>
          <a:ln xmlns:a="http://schemas.openxmlformats.org/drawingml/2006/main" w="15240">
            <a:solidFill>
              <a:srgbClr val="0E8F88"/>
            </a:solidFill>
            <a:prstDash val="dash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8515350" y="4629150"/>
            <a:ext cx="4953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E8F88"/>
            </a:solidFill>
            <a:prstDash val="solid"/>
            <a:tailEnd type="arrow" w="sm" len="sm"/>
          </a:ln>
        </p:spPr>
      </p:cxnSp>
      <p:sp>
        <p:nvSpPr>
          <p:cNvPr id="22" name="utility-note">
            <a:extLst xmlns:a="http://schemas.openxmlformats.org/drawingml/2006/main">
              <a:ext uri="{FF2B5EF4-FFF2-40B4-BE49-F238E27FC236}">
                <a16:creationId xmlns:a16="http://schemas.microsoft.com/office/drawing/2014/main" id="{5791F583-4041-4A1C-A21B-F15CC94B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769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不是神奇工具；它的價值是減少手動搬運與遺漏。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A04502D6-DF3D-4966-B1BB-C085FAF0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9/11</a:t>
            </a:r>
          </a:p>
        </p:txBody>
      </p:sp>
    </p:spTree>
    <p:extLst>
      <p:ext uri="{BB962C8B-B14F-4D97-AF65-F5344CB8AC3E}">
        <p14:creationId xmlns:p14="http://schemas.microsoft.com/office/powerpoint/2010/main" val="7176562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3EE9714-1D7C-447C-9659-02F144B3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MINI EXERCISE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2B9CD87-BA41-4827-84E6-A2F0C54E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把一個研究任務改寫成 agent-ready workflow</a:t>
            </a:r>
          </a:p>
        </p:txBody>
      </p:sp>
      <p:sp>
        <p:nvSpPr>
          <p:cNvPr id="3" name="exercise-task">
            <a:extLst xmlns:a="http://schemas.openxmlformats.org/drawingml/2006/main">
              <a:ext uri="{FF2B5EF4-FFF2-40B4-BE49-F238E27FC236}">
                <a16:creationId xmlns:a16="http://schemas.microsoft.com/office/drawing/2014/main" id="{F508076F-24A7-473B-ACF7-C7FBABF7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526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任務：整理某主題的 biomarker evidence</a:t>
            </a:r>
          </a:p>
        </p:txBody>
      </p:sp>
      <p:sp>
        <p:nvSpPr>
          <p:cNvPr id="4" name="worksheet-0">
            <a:extLst xmlns:a="http://schemas.openxmlformats.org/drawingml/2006/main">
              <a:ext uri="{FF2B5EF4-FFF2-40B4-BE49-F238E27FC236}">
                <a16:creationId xmlns:a16="http://schemas.microsoft.com/office/drawing/2014/main" id="{1E487F86-C5B3-412C-A322-B2BB35D3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17526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5" name="worksheet-head-0">
            <a:extLst xmlns:a="http://schemas.openxmlformats.org/drawingml/2006/main">
              <a:ext uri="{FF2B5EF4-FFF2-40B4-BE49-F238E27FC236}">
                <a16:creationId xmlns:a16="http://schemas.microsoft.com/office/drawing/2014/main" id="{B6092FF3-BFC8-40CE-B928-B68689F0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6" name="worksheet-sub-0">
            <a:extLst xmlns:a="http://schemas.openxmlformats.org/drawingml/2006/main">
              <a:ext uri="{FF2B5EF4-FFF2-40B4-BE49-F238E27FC236}">
                <a16:creationId xmlns:a16="http://schemas.microsoft.com/office/drawing/2014/main" id="{A062595B-6963-4C04-851F-AFCF41DC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1485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要回答什麼？</a:t>
            </a:r>
          </a:p>
        </p:txBody>
      </p:sp>
      <p:sp>
        <p:nvSpPr>
          <p:cNvPr id="7" name="worksheet-1">
            <a:extLst xmlns:a="http://schemas.openxmlformats.org/drawingml/2006/main">
              <a:ext uri="{FF2B5EF4-FFF2-40B4-BE49-F238E27FC236}">
                <a16:creationId xmlns:a16="http://schemas.microsoft.com/office/drawing/2014/main" id="{C5FF96BF-3C60-45BE-AE62-FDF785AC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81300"/>
            <a:ext cx="17526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8" name="worksheet-head-1">
            <a:extLst xmlns:a="http://schemas.openxmlformats.org/drawingml/2006/main">
              <a:ext uri="{FF2B5EF4-FFF2-40B4-BE49-F238E27FC236}">
                <a16:creationId xmlns:a16="http://schemas.microsoft.com/office/drawing/2014/main" id="{A98FDA01-8252-4AEF-B162-F0612807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908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9" name="worksheet-sub-1">
            <a:extLst xmlns:a="http://schemas.openxmlformats.org/drawingml/2006/main">
              <a:ext uri="{FF2B5EF4-FFF2-40B4-BE49-F238E27FC236}">
                <a16:creationId xmlns:a16="http://schemas.microsoft.com/office/drawing/2014/main" id="{F756C5B2-5253-4767-A5CF-EA877381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48050"/>
            <a:ext cx="1485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文獻、資料庫、檔案</a:t>
            </a:r>
          </a:p>
        </p:txBody>
      </p:sp>
      <p:sp>
        <p:nvSpPr>
          <p:cNvPr id="10" name="worksheet-2">
            <a:extLst xmlns:a="http://schemas.openxmlformats.org/drawingml/2006/main">
              <a:ext uri="{FF2B5EF4-FFF2-40B4-BE49-F238E27FC236}">
                <a16:creationId xmlns:a16="http://schemas.microsoft.com/office/drawing/2014/main" id="{82AADDE3-9CBA-41D6-80FC-FABA7F87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81300"/>
            <a:ext cx="17526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1" name="worksheet-head-2">
            <a:extLst xmlns:a="http://schemas.openxmlformats.org/drawingml/2006/main">
              <a:ext uri="{FF2B5EF4-FFF2-40B4-BE49-F238E27FC236}">
                <a16:creationId xmlns:a16="http://schemas.microsoft.com/office/drawing/2014/main" id="{67677499-5983-4E2E-A3D7-AFD10671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908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12" name="worksheet-sub-2">
            <a:extLst xmlns:a="http://schemas.openxmlformats.org/drawingml/2006/main">
              <a:ext uri="{FF2B5EF4-FFF2-40B4-BE49-F238E27FC236}">
                <a16:creationId xmlns:a16="http://schemas.microsoft.com/office/drawing/2014/main" id="{6C10ED39-9F37-4CC0-A5FE-6AA9E4C3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48050"/>
            <a:ext cx="1485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搜尋、讀檔、查詢、腳本</a:t>
            </a:r>
          </a:p>
        </p:txBody>
      </p:sp>
      <p:sp>
        <p:nvSpPr>
          <p:cNvPr id="13" name="worksheet-3">
            <a:extLst xmlns:a="http://schemas.openxmlformats.org/drawingml/2006/main">
              <a:ext uri="{FF2B5EF4-FFF2-40B4-BE49-F238E27FC236}">
                <a16:creationId xmlns:a16="http://schemas.microsoft.com/office/drawing/2014/main" id="{3719A1EC-3F98-4CF4-A613-ABF178B3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81300"/>
            <a:ext cx="17526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4" name="worksheet-head-3">
            <a:extLst xmlns:a="http://schemas.openxmlformats.org/drawingml/2006/main">
              <a:ext uri="{FF2B5EF4-FFF2-40B4-BE49-F238E27FC236}">
                <a16:creationId xmlns:a16="http://schemas.microsoft.com/office/drawing/2014/main" id="{1DEA7332-B20D-4BCE-BFE2-431188E6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908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Failure modes</a:t>
            </a:r>
          </a:p>
        </p:txBody>
      </p:sp>
      <p:sp>
        <p:nvSpPr>
          <p:cNvPr id="15" name="worksheet-sub-3">
            <a:extLst xmlns:a="http://schemas.openxmlformats.org/drawingml/2006/main">
              <a:ext uri="{FF2B5EF4-FFF2-40B4-BE49-F238E27FC236}">
                <a16:creationId xmlns:a16="http://schemas.microsoft.com/office/drawing/2014/main" id="{BF635EEC-7093-4ACA-BA24-0956D4CE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48050"/>
            <a:ext cx="1485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可能錯在哪裡？</a:t>
            </a:r>
          </a:p>
        </p:txBody>
      </p:sp>
      <p:sp>
        <p:nvSpPr>
          <p:cNvPr id="16" name="worksheet-4">
            <a:extLst xmlns:a="http://schemas.openxmlformats.org/drawingml/2006/main">
              <a:ext uri="{FF2B5EF4-FFF2-40B4-BE49-F238E27FC236}">
                <a16:creationId xmlns:a16="http://schemas.microsoft.com/office/drawing/2014/main" id="{2463FADD-E30B-42DF-879F-FF5754B3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7526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17" name="worksheet-head-4">
            <a:extLst xmlns:a="http://schemas.openxmlformats.org/drawingml/2006/main">
              <a:ext uri="{FF2B5EF4-FFF2-40B4-BE49-F238E27FC236}">
                <a16:creationId xmlns:a16="http://schemas.microsoft.com/office/drawing/2014/main" id="{451BBD0C-0DB1-4C89-B396-FE3040B2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908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18" name="worksheet-sub-4">
            <a:extLst xmlns:a="http://schemas.openxmlformats.org/drawingml/2006/main">
              <a:ext uri="{FF2B5EF4-FFF2-40B4-BE49-F238E27FC236}">
                <a16:creationId xmlns:a16="http://schemas.microsoft.com/office/drawing/2014/main" id="{633A3ABC-AA1C-4525-B147-098B0B74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8050"/>
            <a:ext cx="1485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怎麼檢查？</a:t>
            </a:r>
          </a:p>
        </p:txBody>
      </p:sp>
      <p:sp>
        <p:nvSpPr>
          <p:cNvPr id="19" name="timebox">
            <a:extLst xmlns:a="http://schemas.openxmlformats.org/drawingml/2006/main">
              <a:ext uri="{FF2B5EF4-FFF2-40B4-BE49-F238E27FC236}">
                <a16:creationId xmlns:a16="http://schemas.microsoft.com/office/drawing/2014/main" id="{747B5A88-CD5D-4E9E-8D79-027E4959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197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5-8 分鐘，小組討論；標出哪些地方必須 human-in-the-loop。</a:t>
            </a:r>
          </a:p>
        </p:txBody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2A2D267F-E6B5-45E0-BD2D-B4E9EBC0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10/11</a:t>
            </a:r>
          </a:p>
        </p:txBody>
      </p:sp>
    </p:spTree>
    <p:extLst>
      <p:ext uri="{BB962C8B-B14F-4D97-AF65-F5344CB8AC3E}">
        <p14:creationId xmlns:p14="http://schemas.microsoft.com/office/powerpoint/2010/main" val="1987218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20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ransition-title">
            <a:extLst xmlns:a="http://schemas.openxmlformats.org/drawingml/2006/main">
              <a:ext uri="{FF2B5EF4-FFF2-40B4-BE49-F238E27FC236}">
                <a16:creationId xmlns:a16="http://schemas.microsoft.com/office/drawing/2014/main" id="{5F3E6C15-53F5-468C-86C1-453CDDE6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16205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Next: LLM basics</a:t>
            </a:r>
          </a:p>
        </p:txBody>
      </p:sp>
      <p:sp>
        <p:nvSpPr>
          <p:cNvPr id="2" name="transition-subtitle">
            <a:extLst xmlns:a="http://schemas.openxmlformats.org/drawingml/2006/main">
              <a:ext uri="{FF2B5EF4-FFF2-40B4-BE49-F238E27FC236}">
                <a16:creationId xmlns:a16="http://schemas.microsoft.com/office/drawing/2014/main" id="{533902B1-467F-42FA-B58B-5C5E9532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DDE4E8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了解 model，才能設計好的 agent workflow</a:t>
            </a:r>
          </a:p>
        </p:txBody>
      </p:sp>
      <p:sp>
        <p:nvSpPr>
          <p:cNvPr id="3" name="model-highlight">
            <a:extLst xmlns:a="http://schemas.openxmlformats.org/drawingml/2006/main">
              <a:ext uri="{FF2B5EF4-FFF2-40B4-BE49-F238E27FC236}">
                <a16:creationId xmlns:a16="http://schemas.microsoft.com/office/drawing/2014/main" id="{B4E0384C-6555-4452-81BB-680755CE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95550"/>
            <a:ext cx="161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4" name="context-dim">
            <a:extLst xmlns:a="http://schemas.openxmlformats.org/drawingml/2006/main">
              <a:ext uri="{FF2B5EF4-FFF2-40B4-BE49-F238E27FC236}">
                <a16:creationId xmlns:a16="http://schemas.microsoft.com/office/drawing/2014/main" id="{5A31F696-C816-4AEE-827E-2AFADB89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57600"/>
            <a:ext cx="1238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6313A"/>
          </a:solidFill>
          <a:ln xmlns:a="http://schemas.openxmlformats.org/drawingml/2006/main" w="13335">
            <a:solidFill>
              <a:srgbClr val="8C98A1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5" name="tools-dim">
            <a:extLst xmlns:a="http://schemas.openxmlformats.org/drawingml/2006/main">
              <a:ext uri="{FF2B5EF4-FFF2-40B4-BE49-F238E27FC236}">
                <a16:creationId xmlns:a16="http://schemas.microsoft.com/office/drawing/2014/main" id="{538484D3-F1FE-43F2-AB88-19638D57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57600"/>
            <a:ext cx="1143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6313A"/>
          </a:solidFill>
          <a:ln xmlns:a="http://schemas.openxmlformats.org/drawingml/2006/main" w="13335">
            <a:solidFill>
              <a:srgbClr val="8C98A1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6" name="verify-dim">
            <a:extLst xmlns:a="http://schemas.openxmlformats.org/drawingml/2006/main">
              <a:ext uri="{FF2B5EF4-FFF2-40B4-BE49-F238E27FC236}">
                <a16:creationId xmlns:a16="http://schemas.microsoft.com/office/drawing/2014/main" id="{01EB4210-0D2C-41A3-8F5A-F798B034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1257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6313A"/>
          </a:solidFill>
          <a:ln xmlns:a="http://schemas.openxmlformats.org/drawingml/2006/main" w="13335">
            <a:solidFill>
              <a:srgbClr val="8C98A1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cxnSp>
        <p:nvCxnSpPr>
          <p:cNvPr id="18" name=""/>
          <p:cNvCxnSpPr>
            <a:stCxn xmlns:a="http://schemas.openxmlformats.org/drawingml/2006/main" id="3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6705600" y="2828925"/>
            <a:ext cx="381000" cy="10572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52616D"/>
            </a:solidFill>
            <a:prstDash val="solid"/>
          </a:ln>
        </p:spPr>
      </p:cxnSp>
      <p:cxnSp>
        <p:nvCxnSpPr>
          <p:cNvPr id="19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705850" y="2828925"/>
            <a:ext cx="342900" cy="10572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52616D"/>
            </a:solidFill>
            <a:prstDash val="solid"/>
          </a:ln>
        </p:spPr>
      </p:cxnSp>
      <p:cxnSp>
        <p:nvCxnSpPr>
          <p:cNvPr id="20" name=""/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7867650" y="3162300"/>
            <a:ext cx="28575" cy="16002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52616D"/>
            </a:solidFill>
            <a:prstDash val="solid"/>
          </a:ln>
        </p:spPr>
      </p:cxnSp>
      <p:sp>
        <p:nvSpPr>
          <p:cNvPr id="10" name="next-bullets">
            <a:extLst xmlns:a="http://schemas.openxmlformats.org/drawingml/2006/main">
              <a:ext uri="{FF2B5EF4-FFF2-40B4-BE49-F238E27FC236}">
                <a16:creationId xmlns:a16="http://schemas.microsoft.com/office/drawing/2014/main" id="{EF039BB2-897F-406F-9E87-3CB3C31D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4381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800">
                <a:solidFill>
                  <a:srgbClr val="DDE4E8"/>
                </a:solidFill>
                <a:latin typeface="PingFang TC"/>
                <a:ea typeface="PingFang TC"/>
                <a:cs typeface="PingFang TC"/>
              </a:defRPr>
            </a:pPr>
            <a:r>
              <a:rPr sz="1800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tokens 與 context window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800">
                <a:solidFill>
                  <a:srgbClr val="DDE4E8"/>
                </a:solidFill>
                <a:latin typeface="PingFang TC"/>
                <a:ea typeface="PingFang TC"/>
                <a:cs typeface="PingFang TC"/>
              </a:defRPr>
            </a:pPr>
            <a:r>
              <a:rPr sz="1800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reasoning 與 hallucination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800">
                <a:solidFill>
                  <a:srgbClr val="DDE4E8"/>
                </a:solidFill>
                <a:latin typeface="PingFang TC"/>
                <a:ea typeface="PingFang TC"/>
                <a:cs typeface="PingFang TC"/>
              </a:defRPr>
            </a:pPr>
            <a:r>
              <a:rPr sz="1800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為什麼 agent 會有效，也會錯</a:t>
            </a:r>
          </a:p>
        </p:txBody>
      </p:sp>
      <p:sp>
        <p:nvSpPr>
          <p:cNvPr id="11" name="footer-dark">
            <a:extLst xmlns:a="http://schemas.openxmlformats.org/drawingml/2006/main">
              <a:ext uri="{FF2B5EF4-FFF2-40B4-BE49-F238E27FC236}">
                <a16:creationId xmlns:a16="http://schemas.microsoft.com/office/drawing/2014/main" id="{1013F3F2-B599-4DDA-8DE3-83CB33FC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B7C0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C7"/>
                </a:solidFill>
                <a:latin typeface="Aptos"/>
                <a:ea typeface="Aptos"/>
                <a:cs typeface="Aptos"/>
              </a:rPr>
              <a:t>AI agents, vibe coding, desktop utilities  |  11/11</a:t>
            </a:r>
          </a:p>
        </p:txBody>
      </p:sp>
    </p:spTree>
    <p:extLst>
      <p:ext uri="{BB962C8B-B14F-4D97-AF65-F5344CB8AC3E}">
        <p14:creationId xmlns:p14="http://schemas.microsoft.com/office/powerpoint/2010/main" val="4309190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2026-07-01T14:59:31.8910000Z</dcterms:created>
  <dcterms:modified xsi:type="dcterms:W3CDTF">2026-07-01T14:59:31.8910000Z</dcterms:modified>
</coreProperties>
</file>