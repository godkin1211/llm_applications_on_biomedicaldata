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4851bba3d674627" /><Relationship Type="http://schemas.openxmlformats.org/officeDocument/2006/relationships/extended-properties" Target="/docProps/app.xml" Id="R045b3885a8074e9d" /><Relationship Type="http://schemas.openxmlformats.org/officeDocument/2006/relationships/officeDocument" Target="/ppt/presentation.xml" Id="R9fa53357346e45e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ada4d4937814238"/>
  </p:sldMasterIdLst>
  <p:notesMasterIdLst>
    <p:notesMasterId xmlns:r="http://schemas.openxmlformats.org/officeDocument/2006/relationships" r:id="R461a33010828479e"/>
  </p:notesMasterIdLst>
  <p:sldIdLst>
    <p:sldId xmlns:r="http://schemas.openxmlformats.org/officeDocument/2006/relationships" id="256" r:id="R62813ca323554f41"/>
    <p:sldId xmlns:r="http://schemas.openxmlformats.org/officeDocument/2006/relationships" id="257" r:id="R1d4c747f5c8f42f1"/>
    <p:sldId xmlns:r="http://schemas.openxmlformats.org/officeDocument/2006/relationships" id="258" r:id="Rcda81d33fd424752"/>
    <p:sldId xmlns:r="http://schemas.openxmlformats.org/officeDocument/2006/relationships" id="259" r:id="Rc22000e3cdce4c67"/>
    <p:sldId xmlns:r="http://schemas.openxmlformats.org/officeDocument/2006/relationships" id="260" r:id="R8a328b7cbd8b4a37"/>
    <p:sldId xmlns:r="http://schemas.openxmlformats.org/officeDocument/2006/relationships" id="261" r:id="Rf2873fad7b4b4849"/>
    <p:sldId xmlns:r="http://schemas.openxmlformats.org/officeDocument/2006/relationships" id="262" r:id="R13e94762de374575"/>
    <p:sldId xmlns:r="http://schemas.openxmlformats.org/officeDocument/2006/relationships" id="263" r:id="R8d2799dd62df4eb4"/>
    <p:sldId xmlns:r="http://schemas.openxmlformats.org/officeDocument/2006/relationships" id="264" r:id="R93ae836c47fa4d3e"/>
    <p:sldId xmlns:r="http://schemas.openxmlformats.org/officeDocument/2006/relationships" id="265" r:id="Re1e899a20a1848a4"/>
    <p:sldId xmlns:r="http://schemas.openxmlformats.org/officeDocument/2006/relationships" id="266" r:id="Rcd3b546e6d80490c"/>
    <p:sldId xmlns:r="http://schemas.openxmlformats.org/officeDocument/2006/relationships" id="267" r:id="R7f3ff7142e3a4125"/>
    <p:sldId xmlns:r="http://schemas.openxmlformats.org/officeDocument/2006/relationships" id="268" r:id="R3b144c64ccf74eab"/>
    <p:sldId xmlns:r="http://schemas.openxmlformats.org/officeDocument/2006/relationships" id="269" r:id="R25b695d090b44dcf"/>
    <p:sldId xmlns:r="http://schemas.openxmlformats.org/officeDocument/2006/relationships" id="270" r:id="Raee292ae4c6e42f6"/>
    <p:sldId xmlns:r="http://schemas.openxmlformats.org/officeDocument/2006/relationships" id="271" r:id="R639533dfcbb2421f"/>
    <p:sldId xmlns:r="http://schemas.openxmlformats.org/officeDocument/2006/relationships" id="272" r:id="Rcae41582a0ed425f"/>
    <p:sldId xmlns:r="http://schemas.openxmlformats.org/officeDocument/2006/relationships" id="273" r:id="R93d80be81b994b45"/>
    <p:sldId xmlns:r="http://schemas.openxmlformats.org/officeDocument/2006/relationships" id="274" r:id="Ra4312cf63bd94d42"/>
    <p:sldId xmlns:r="http://schemas.openxmlformats.org/officeDocument/2006/relationships" id="275" r:id="R9ef7e71dd4d8499d"/>
    <p:sldId xmlns:r="http://schemas.openxmlformats.org/officeDocument/2006/relationships" id="276" r:id="R793f1572371f46ed"/>
    <p:sldId xmlns:r="http://schemas.openxmlformats.org/officeDocument/2006/relationships" id="277" r:id="R296e7c5fe8464ca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74f7dc326c24aba" /><Relationship Type="http://schemas.openxmlformats.org/officeDocument/2006/relationships/slideMaster" Target="/ppt/slideMasters/slideMaster1.xml" Id="R7ada4d4937814238" /><Relationship Type="http://schemas.openxmlformats.org/officeDocument/2006/relationships/notesMaster" Target="/ppt/notesMasters/notesMaster1.xml" Id="R461a33010828479e" /><Relationship Type="http://schemas.openxmlformats.org/officeDocument/2006/relationships/presProps" Target="/ppt/presProps.xml" Id="R2dd19637f8c84a44" /><Relationship Type="http://schemas.openxmlformats.org/officeDocument/2006/relationships/tableStyles" Target="/ppt/tableStyles.xml" Id="Rd04a99a76c144d19" /><Relationship Type="http://schemas.openxmlformats.org/officeDocument/2006/relationships/slide" Target="/ppt/slides/slide1.xml" Id="R62813ca323554f41" /><Relationship Type="http://schemas.openxmlformats.org/officeDocument/2006/relationships/slide" Target="/ppt/slides/slide2.xml" Id="R1d4c747f5c8f42f1" /><Relationship Type="http://schemas.openxmlformats.org/officeDocument/2006/relationships/slide" Target="/ppt/slides/slide3.xml" Id="Rcda81d33fd424752" /><Relationship Type="http://schemas.openxmlformats.org/officeDocument/2006/relationships/slide" Target="/ppt/slides/slide4.xml" Id="Rc22000e3cdce4c67" /><Relationship Type="http://schemas.openxmlformats.org/officeDocument/2006/relationships/slide" Target="/ppt/slides/slide5.xml" Id="R8a328b7cbd8b4a37" /><Relationship Type="http://schemas.openxmlformats.org/officeDocument/2006/relationships/slide" Target="/ppt/slides/slide6.xml" Id="Rf2873fad7b4b4849" /><Relationship Type="http://schemas.openxmlformats.org/officeDocument/2006/relationships/slide" Target="/ppt/slides/slide7.xml" Id="R13e94762de374575" /><Relationship Type="http://schemas.openxmlformats.org/officeDocument/2006/relationships/slide" Target="/ppt/slides/slide8.xml" Id="R8d2799dd62df4eb4" /><Relationship Type="http://schemas.openxmlformats.org/officeDocument/2006/relationships/slide" Target="/ppt/slides/slide9.xml" Id="R93ae836c47fa4d3e" /><Relationship Type="http://schemas.openxmlformats.org/officeDocument/2006/relationships/slide" Target="/ppt/slides/slide10.xml" Id="Re1e899a20a1848a4" /><Relationship Type="http://schemas.openxmlformats.org/officeDocument/2006/relationships/slide" Target="/ppt/slides/slide11.xml" Id="Rcd3b546e6d80490c" /><Relationship Type="http://schemas.openxmlformats.org/officeDocument/2006/relationships/slide" Target="/ppt/slides/slide12.xml" Id="R7f3ff7142e3a4125" /><Relationship Type="http://schemas.openxmlformats.org/officeDocument/2006/relationships/slide" Target="/ppt/slides/slide13.xml" Id="R3b144c64ccf74eab" /><Relationship Type="http://schemas.openxmlformats.org/officeDocument/2006/relationships/slide" Target="/ppt/slides/slide14.xml" Id="R25b695d090b44dcf" /><Relationship Type="http://schemas.openxmlformats.org/officeDocument/2006/relationships/slide" Target="/ppt/slides/slide15.xml" Id="Raee292ae4c6e42f6" /><Relationship Type="http://schemas.openxmlformats.org/officeDocument/2006/relationships/slide" Target="/ppt/slides/slide16.xml" Id="R639533dfcbb2421f" /><Relationship Type="http://schemas.openxmlformats.org/officeDocument/2006/relationships/slide" Target="/ppt/slides/slide17.xml" Id="Rcae41582a0ed425f" /><Relationship Type="http://schemas.openxmlformats.org/officeDocument/2006/relationships/slide" Target="/ppt/slides/slide18.xml" Id="R93d80be81b994b45" /><Relationship Type="http://schemas.openxmlformats.org/officeDocument/2006/relationships/slide" Target="/ppt/slides/slide19.xml" Id="Ra4312cf63bd94d42" /><Relationship Type="http://schemas.openxmlformats.org/officeDocument/2006/relationships/slide" Target="/ppt/slides/slide20.xml" Id="R9ef7e71dd4d8499d" /><Relationship Type="http://schemas.openxmlformats.org/officeDocument/2006/relationships/slide" Target="/ppt/slides/slide21.xml" Id="R793f1572371f46ed" /><Relationship Type="http://schemas.openxmlformats.org/officeDocument/2006/relationships/slide" Target="/ppt/slides/slide22.xml" Id="R296e7c5fe8464ca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b50abfb02334ba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20b1ffb7cb94ca6" /><Relationship Type="http://schemas.openxmlformats.org/officeDocument/2006/relationships/notesMaster" Target="/ppt/notesMasters/notesMaster1.xml" Id="R8c6fbbc7ba8b49f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5867522249f4ce2" /><Relationship Type="http://schemas.openxmlformats.org/officeDocument/2006/relationships/notesMaster" Target="/ppt/notesMasters/notesMaster1.xml" Id="R8b0fb1eb3ca7430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aa2e9ebf5d44f40" /><Relationship Type="http://schemas.openxmlformats.org/officeDocument/2006/relationships/notesMaster" Target="/ppt/notesMasters/notesMaster1.xml" Id="R53547da1099d46b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b8aafc0790a4e73" /><Relationship Type="http://schemas.openxmlformats.org/officeDocument/2006/relationships/notesMaster" Target="/ppt/notesMasters/notesMaster1.xml" Id="R541d7a6f0b64410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2397585840e4c10" /><Relationship Type="http://schemas.openxmlformats.org/officeDocument/2006/relationships/notesMaster" Target="/ppt/notesMasters/notesMaster1.xml" Id="Rda542c5f6d594c1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da5e0b5377f4bac" /><Relationship Type="http://schemas.openxmlformats.org/officeDocument/2006/relationships/notesMaster" Target="/ppt/notesMasters/notesMaster1.xml" Id="R2ce92ed07a3d4be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c5032fa9f0f49e3" /><Relationship Type="http://schemas.openxmlformats.org/officeDocument/2006/relationships/notesMaster" Target="/ppt/notesMasters/notesMaster1.xml" Id="Rb564c609cb8c48c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5a3d6fd3b7d4845" /><Relationship Type="http://schemas.openxmlformats.org/officeDocument/2006/relationships/notesMaster" Target="/ppt/notesMasters/notesMaster1.xml" Id="R085ac83d9eed42d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82b361b49c84b6f" /><Relationship Type="http://schemas.openxmlformats.org/officeDocument/2006/relationships/notesMaster" Target="/ppt/notesMasters/notesMaster1.xml" Id="R3ffa16ddef8a4fa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13cda83055245fd" /><Relationship Type="http://schemas.openxmlformats.org/officeDocument/2006/relationships/notesMaster" Target="/ppt/notesMasters/notesMaster1.xml" Id="Rb086201caba44c7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991d7db7ebf42d2" /><Relationship Type="http://schemas.openxmlformats.org/officeDocument/2006/relationships/notesMaster" Target="/ppt/notesMasters/notesMaster1.xml" Id="R0afa91c6f3ba443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cdbcc9c71f04ddc" /><Relationship Type="http://schemas.openxmlformats.org/officeDocument/2006/relationships/notesMaster" Target="/ppt/notesMasters/notesMaster1.xml" Id="Rb7d8ffb1bf47487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3dbae0de6304e4c" /><Relationship Type="http://schemas.openxmlformats.org/officeDocument/2006/relationships/notesMaster" Target="/ppt/notesMasters/notesMaster1.xml" Id="R73aa7b4b44ae4e5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5b03560d25c4e76" /><Relationship Type="http://schemas.openxmlformats.org/officeDocument/2006/relationships/notesMaster" Target="/ppt/notesMasters/notesMaster1.xml" Id="R25c5d1fa533f472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66733f58cef457f" /><Relationship Type="http://schemas.openxmlformats.org/officeDocument/2006/relationships/notesMaster" Target="/ppt/notesMasters/notesMaster1.xml" Id="R4ab68f4b84cb470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81e352e973f4e5b" /><Relationship Type="http://schemas.openxmlformats.org/officeDocument/2006/relationships/notesMaster" Target="/ppt/notesMasters/notesMaster1.xml" Id="R43f8fbf0c0a04ca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3a94bba108245b3" /><Relationship Type="http://schemas.openxmlformats.org/officeDocument/2006/relationships/notesMaster" Target="/ppt/notesMasters/notesMaster1.xml" Id="R95f9f4f5f7f9435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649e83018844ef9" /><Relationship Type="http://schemas.openxmlformats.org/officeDocument/2006/relationships/notesMaster" Target="/ppt/notesMasters/notesMaster1.xml" Id="R28a38a6800d8494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6c4d879ba6f4180" /><Relationship Type="http://schemas.openxmlformats.org/officeDocument/2006/relationships/notesMaster" Target="/ppt/notesMasters/notesMaster1.xml" Id="R66b9a6667c9e4ba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64b9e2200eb43cd" /><Relationship Type="http://schemas.openxmlformats.org/officeDocument/2006/relationships/notesMaster" Target="/ppt/notesMasters/notesMaster1.xml" Id="R3f91041d9422487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d7cea8d62504ff2" /><Relationship Type="http://schemas.openxmlformats.org/officeDocument/2006/relationships/notesMaster" Target="/ppt/notesMasters/notesMaster1.xml" Id="R0cb51afb88c84f5f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b0afd3a319674266" /><Relationship Type="http://schemas.openxmlformats.org/officeDocument/2006/relationships/notesMaster" Target="/ppt/notesMasters/notesMaster1.xml" Id="R7eb2f3d61138491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新版 Lesson 02 的重心是判斷與拆解。學生要知道 agent 不是比較會聊天的模型，而是能和工具、檔案、資料來源、驗證規則一起工作的研究流程。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這張吸收原 Lesson 01 的技術定位，但避開行政課程介紹。負責老師開場後，這張把學生拉到本課的核心：工具只是入口，workflow 才是學習目標。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這張承接原 Lesson 01 的最終產出。讓學生一開始知道，這堂課不是孤立概念，而是在建立後續 spec、harness、loop、hackathon 的共同語言。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補回課綱原本要談的工具使用場景比較。不要把工具講成排名，而是讓學生能依任務選入口：搜尋、長文整理、repo 修改或 IDE 即時輔助。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把工具比較接回 agent workflow。每種工具都要對應到 artifact 與檢查點，否則學生只會知道工具名稱，不會知道如何安全使用。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 EGFR、ALK、TP53 的 evidence table 做貫穿案例。這個任務有文獻、資料庫、表格、citation 和 review，足以展示 agent workflow，但範圍仍可控制。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學生常把 agent 想成一個產品名稱。這張把它拆成成熟度光譜，讓學生知道我們要學的是可檢查的 tool-using 與 workflow agent。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把原本 chatbot vs agent 的概念再拉到 artifact。研究工作不是要得到一段話，而是要得到可檢查、可重跑、可交接的產物。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這張保留原本元件圖，但更強調元件與邊界。模型只是其中一個節點，workflow 品質還取決於 context、tools、state 與 verification。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這張是本堂課的核心。Agent workflow 要能在工具輸出後觀察與驗證，必要時更新 state 或停止，而不是一直生成。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這張是新版的重要補強。學生要理解 agent workflow 的可追溯性來自 artifact，而不是來自模型宣稱自己做了什麼。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這是學生最需要的判斷框架。不要從工具出發，而是先看任務是否有清楚輸入、固定輸出、外部來源與可發現的錯誤。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生醫安全要變成規則。這些輸出可以由 agent 協助整理背景資料，但不能讓 agent 做 final call。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保留 vibe coding，但補上責任邊界。快速不是讓模型負責，而是讓人更快得到可檢查原型。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這張是操作型 slide。學生可以照這個 loop 使用 coding agent 或 desktop agent：先讀真實檔案、先規劃、小範圍改、跑檢查、看 diff。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保留原本風險矩陣。這張讓學生把 vibe coding 放在任務風險和模糊度之中，而不是把它當成萬用工作法。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這張把 desktop utilities 的抽象能力映射到 biomedical 工作內容。重點是工具鏈，而不是產品清單。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 tool use 講成 lifecycle。重要的是每次工具呼叫都要有 input、output、validation 與 log，否則 agent 做過什麼很難被審查。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這張是新版重點之一。Lesson 03 會談 hallucination，這裡先談 workflow-level failure。學生要學會預先把失敗模式寫進規格和檢查。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 mini exercise 改成三案例判斷。這會讓學生主動使用 suitability、red lines、verification 和 artifacts 的框架。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這是課堂輸出。學生不是只回答問題，而是交出一張 agent-ready workflow worksheet，讓下一堂 LLM basics 和後面的 hands-on lab 可以接上。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自然收束到 Lesson 03。這堂已經建立 agent workflow 判斷框架，下一堂再看 model 層為什麼有效、為什麼會錯。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9a790857e74e8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1485c759e6f4844" /><Relationship Type="http://schemas.openxmlformats.org/officeDocument/2006/relationships/slideLayout" Target="/ppt/slideLayouts/slideLayout1.xml" Id="R58b24930f12b4b6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8b24930f12b4b6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748cfd778345bc" /><Relationship Type="http://schemas.openxmlformats.org/officeDocument/2006/relationships/notesSlide" Target="/ppt/notesSlides/notesSlide1.xml" Id="R7f38b6e3bf75437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761e6dd0e44eb9" /><Relationship Type="http://schemas.openxmlformats.org/officeDocument/2006/relationships/notesSlide" Target="/ppt/notesSlides/notesSlide2.xml" Id="R97cb9c1b76754ca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9b963d466140ca" /><Relationship Type="http://schemas.openxmlformats.org/officeDocument/2006/relationships/notesSlide" Target="/ppt/notesSlides/notesSlide3.xml" Id="R6e12928d7c18444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b69e3773774444" /><Relationship Type="http://schemas.openxmlformats.org/officeDocument/2006/relationships/notesSlide" Target="/ppt/notesSlides/notesSlide4.xml" Id="R478c8de401a6432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8ba5f4dbb94057" /><Relationship Type="http://schemas.openxmlformats.org/officeDocument/2006/relationships/notesSlide" Target="/ppt/notesSlides/notesSlide5.xml" Id="R6b5ea429eb25480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1d5c9dc101401c" /><Relationship Type="http://schemas.openxmlformats.org/officeDocument/2006/relationships/notesSlide" Target="/ppt/notesSlides/notesSlide6.xml" Id="R7f1ae4da64fa415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abb22466d64814" /><Relationship Type="http://schemas.openxmlformats.org/officeDocument/2006/relationships/notesSlide" Target="/ppt/notesSlides/notesSlide7.xml" Id="Rf50ee64f230941b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ff7826eedb4f71" /><Relationship Type="http://schemas.openxmlformats.org/officeDocument/2006/relationships/notesSlide" Target="/ppt/notesSlides/notesSlide8.xml" Id="Rab786e9760164a0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ceb8b10e584511" /><Relationship Type="http://schemas.openxmlformats.org/officeDocument/2006/relationships/notesSlide" Target="/ppt/notesSlides/notesSlide9.xml" Id="R0098c01d48884be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72452a26d54a38" /><Relationship Type="http://schemas.openxmlformats.org/officeDocument/2006/relationships/notesSlide" Target="/ppt/notesSlides/notesSlide10.xml" Id="R3227db091e684e6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3148a3f2474034" /><Relationship Type="http://schemas.openxmlformats.org/officeDocument/2006/relationships/notesSlide" Target="/ppt/notesSlides/notesSlide11.xml" Id="R4de9206eed3841d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4c101955f049f9" /><Relationship Type="http://schemas.openxmlformats.org/officeDocument/2006/relationships/notesSlide" Target="/ppt/notesSlides/notesSlide12.xml" Id="Re742a75cb2f141d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9d88e6d7b9455b" /><Relationship Type="http://schemas.openxmlformats.org/officeDocument/2006/relationships/notesSlide" Target="/ppt/notesSlides/notesSlide13.xml" Id="Re4917e4b3e9e44c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389dae87324953" /><Relationship Type="http://schemas.openxmlformats.org/officeDocument/2006/relationships/notesSlide" Target="/ppt/notesSlides/notesSlide14.xml" Id="Rcf3e640dfc02469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ae08df27c64aad" /><Relationship Type="http://schemas.openxmlformats.org/officeDocument/2006/relationships/notesSlide" Target="/ppt/notesSlides/notesSlide15.xml" Id="Rfcb343188a784f3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9f779bf36a46f0" /><Relationship Type="http://schemas.openxmlformats.org/officeDocument/2006/relationships/notesSlide" Target="/ppt/notesSlides/notesSlide16.xml" Id="R056569451806491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106a5487be46e8" /><Relationship Type="http://schemas.openxmlformats.org/officeDocument/2006/relationships/notesSlide" Target="/ppt/notesSlides/notesSlide17.xml" Id="Re3edb50a68ad488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3e908813fd4d34" /><Relationship Type="http://schemas.openxmlformats.org/officeDocument/2006/relationships/notesSlide" Target="/ppt/notesSlides/notesSlide18.xml" Id="R085bbf6bbb154e4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d0a5b675a043fe" /><Relationship Type="http://schemas.openxmlformats.org/officeDocument/2006/relationships/notesSlide" Target="/ppt/notesSlides/notesSlide19.xml" Id="R538773fb739447c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e8be7e7bc04576" /><Relationship Type="http://schemas.openxmlformats.org/officeDocument/2006/relationships/notesSlide" Target="/ppt/notesSlides/notesSlide20.xml" Id="Rcb7ec88217cf4af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b606f6cbfe44c4" /><Relationship Type="http://schemas.openxmlformats.org/officeDocument/2006/relationships/notesSlide" Target="/ppt/notesSlides/notesSlide21.xml" Id="Rbd2a4967b0e042b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5766acbd6f4547" /><Relationship Type="http://schemas.openxmlformats.org/officeDocument/2006/relationships/notesSlide" Target="/ppt/notesSlides/notesSlide22.xml" Id="Rd0ba8c6c52d34db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5696CA92-3DB3-4B8A-9458-C89A76FCF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LESSON 02</a:t>
            </a:r>
          </a:p>
        </p:txBody>
      </p:sp>
      <p:sp>
        <p:nvSpPr>
          <p:cNvPr id="2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0C8EB971-DFC7-444D-9754-4D0213C9D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43000"/>
            <a:ext cx="6477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1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AI agent 是可檢查的研究工作流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11F98910-D8B6-47DC-8B58-A4E4E440A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14600"/>
            <a:ext cx="647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從聊天，進到能讀檔、查資料、跑工具、留下證據的流程</a:t>
            </a:r>
          </a:p>
        </p:txBody>
      </p:sp>
      <p:sp>
        <p:nvSpPr>
          <p:cNvPr id="4" name="questions">
            <a:extLst xmlns:a="http://schemas.openxmlformats.org/drawingml/2006/main">
              <a:ext uri="{FF2B5EF4-FFF2-40B4-BE49-F238E27FC236}">
                <a16:creationId xmlns:a16="http://schemas.microsoft.com/office/drawing/2014/main" id="{85185093-A228-4BA3-B94F-B3BD063C4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619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2" indent="-10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什麼任務適合交給 agent？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vibe coding 要怎麼用才不失控？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desktop utilities 如何接進 biomedical workflow？</a:t>
            </a:r>
          </a:p>
        </p:txBody>
      </p:sp>
      <p:sp>
        <p:nvSpPr>
          <p:cNvPr id="5" name="flow-line-1">
            <a:extLst xmlns:a="http://schemas.openxmlformats.org/drawingml/2006/main">
              <a:ext uri="{FF2B5EF4-FFF2-40B4-BE49-F238E27FC236}">
                <a16:creationId xmlns:a16="http://schemas.microsoft.com/office/drawing/2014/main" id="{4F6C686A-87EE-4F90-8334-9F15CD127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381250"/>
            <a:ext cx="3000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6" name="flow-line-2">
            <a:extLst xmlns:a="http://schemas.openxmlformats.org/drawingml/2006/main">
              <a:ext uri="{FF2B5EF4-FFF2-40B4-BE49-F238E27FC236}">
                <a16:creationId xmlns:a16="http://schemas.microsoft.com/office/drawing/2014/main" id="{B6A16B5B-F309-46D8-885F-9D562E52A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2381250"/>
            <a:ext cx="0" cy="1771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7" name="flow-line-3">
            <a:extLst xmlns:a="http://schemas.openxmlformats.org/drawingml/2006/main">
              <a:ext uri="{FF2B5EF4-FFF2-40B4-BE49-F238E27FC236}">
                <a16:creationId xmlns:a16="http://schemas.microsoft.com/office/drawing/2014/main" id="{F1F6EF3F-7257-4EF3-9EE4-FAC866550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152900"/>
            <a:ext cx="3000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8" name="ask">
            <a:extLst xmlns:a="http://schemas.openxmlformats.org/drawingml/2006/main">
              <a:ext uri="{FF2B5EF4-FFF2-40B4-BE49-F238E27FC236}">
                <a16:creationId xmlns:a16="http://schemas.microsoft.com/office/drawing/2014/main" id="{4AFE9967-0483-4081-A5E1-05C01D7FE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14550"/>
            <a:ext cx="8953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Ask</a:t>
            </a:r>
          </a:p>
        </p:txBody>
      </p:sp>
      <p:sp>
        <p:nvSpPr>
          <p:cNvPr id="9" name="plan">
            <a:extLst xmlns:a="http://schemas.openxmlformats.org/drawingml/2006/main">
              <a:ext uri="{FF2B5EF4-FFF2-40B4-BE49-F238E27FC236}">
                <a16:creationId xmlns:a16="http://schemas.microsoft.com/office/drawing/2014/main" id="{6CE631E5-8B1E-4D7B-BEE4-27A30C345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114550"/>
            <a:ext cx="8953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10" name="tools">
            <a:extLst xmlns:a="http://schemas.openxmlformats.org/drawingml/2006/main">
              <a:ext uri="{FF2B5EF4-FFF2-40B4-BE49-F238E27FC236}">
                <a16:creationId xmlns:a16="http://schemas.microsoft.com/office/drawing/2014/main" id="{6AEA8F44-13B3-45B1-943D-B5636794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114550"/>
            <a:ext cx="9906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11" name="verify">
            <a:extLst xmlns:a="http://schemas.openxmlformats.org/drawingml/2006/main">
              <a:ext uri="{FF2B5EF4-FFF2-40B4-BE49-F238E27FC236}">
                <a16:creationId xmlns:a16="http://schemas.microsoft.com/office/drawing/2014/main" id="{43E63888-9E75-451F-AD8B-16414D279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886200"/>
            <a:ext cx="12954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12" name="deliver">
            <a:extLst xmlns:a="http://schemas.openxmlformats.org/drawingml/2006/main">
              <a:ext uri="{FF2B5EF4-FFF2-40B4-BE49-F238E27FC236}">
                <a16:creationId xmlns:a16="http://schemas.microsoft.com/office/drawing/2014/main" id="{1E515448-4530-4590-9200-4563692D4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86200"/>
            <a:ext cx="12954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Deliver</a:t>
            </a:r>
          </a:p>
        </p:txBody>
      </p:sp>
      <p:sp>
        <p:nvSpPr>
          <p:cNvPr id="13" name="right-note">
            <a:extLst xmlns:a="http://schemas.openxmlformats.org/drawingml/2006/main">
              <a:ext uri="{FF2B5EF4-FFF2-40B4-BE49-F238E27FC236}">
                <a16:creationId xmlns:a16="http://schemas.microsoft.com/office/drawing/2014/main" id="{77147B4A-0D3D-43F0-855E-C2E8C2C0A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086350"/>
            <a:ext cx="3619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goal + tools + state + checks</a:t>
            </a:r>
          </a:p>
        </p:txBody>
      </p:sp>
      <p:sp>
        <p:nvSpPr>
          <p:cNvPr id="14" name="footer">
            <a:extLst xmlns:a="http://schemas.openxmlformats.org/drawingml/2006/main">
              <a:ext uri="{FF2B5EF4-FFF2-40B4-BE49-F238E27FC236}">
                <a16:creationId xmlns:a16="http://schemas.microsoft.com/office/drawing/2014/main" id="{066E6DE3-5510-46FE-B501-90C2D5FC1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1/22</a:t>
            </a:r>
          </a:p>
        </p:txBody>
      </p:sp>
    </p:spTree>
    <p:extLst>
      <p:ext uri="{BB962C8B-B14F-4D97-AF65-F5344CB8AC3E}">
        <p14:creationId xmlns:p14="http://schemas.microsoft.com/office/powerpoint/2010/main" val="6451490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4C0436D4-DDFC-4A08-B8C4-70B97426F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WHY THIS LESSON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971E57F-AEA7-48DA-9876-68B117AC2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這門課要訓練的是 workflow 判斷，不是工具背誦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F0FECC72-FFE9-40DC-8039-A76E62307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2/22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9ACAF6C0-9CA8-4609-9E23-EACE47637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752600"/>
            <a:ext cx="895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AI 工具真正有用的地方，是把研究任務拆成可執行、可檢查、可交接的步驟。</a:t>
            </a:r>
          </a:p>
        </p:txBody>
      </p:sp>
      <p:sp>
        <p:nvSpPr>
          <p:cNvPr id="5" name="surface-0">
            <a:extLst xmlns:a="http://schemas.openxmlformats.org/drawingml/2006/main">
              <a:ext uri="{FF2B5EF4-FFF2-40B4-BE49-F238E27FC236}">
                <a16:creationId xmlns:a16="http://schemas.microsoft.com/office/drawing/2014/main" id="{4B25D5D9-F588-41D2-A0C8-C48F30E97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86050"/>
            <a:ext cx="40005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6" name="head-0">
            <a:extLst xmlns:a="http://schemas.openxmlformats.org/drawingml/2006/main">
              <a:ext uri="{FF2B5EF4-FFF2-40B4-BE49-F238E27FC236}">
                <a16:creationId xmlns:a16="http://schemas.microsoft.com/office/drawing/2014/main" id="{9275A8B2-E0D9-4346-A0FE-357B3B0B9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0289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2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不是</a:t>
            </a:r>
          </a:p>
        </p:txBody>
      </p:sp>
      <p:sp>
        <p:nvSpPr>
          <p:cNvPr id="7" name="list-0">
            <a:extLst xmlns:a="http://schemas.openxmlformats.org/drawingml/2006/main">
              <a:ext uri="{FF2B5EF4-FFF2-40B4-BE49-F238E27FC236}">
                <a16:creationId xmlns:a16="http://schemas.microsoft.com/office/drawing/2014/main" id="{BFAEA6B0-C8A5-4044-9507-627377F33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676650"/>
            <a:ext cx="257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工具清單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prompt 技巧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看起來完整的答案</a:t>
            </a:r>
          </a:p>
        </p:txBody>
      </p:sp>
      <p:sp>
        <p:nvSpPr>
          <p:cNvPr id="8" name="surface-1">
            <a:extLst xmlns:a="http://schemas.openxmlformats.org/drawingml/2006/main">
              <a:ext uri="{FF2B5EF4-FFF2-40B4-BE49-F238E27FC236}">
                <a16:creationId xmlns:a16="http://schemas.microsoft.com/office/drawing/2014/main" id="{9896659C-9E14-4561-AEE0-B81425DFB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686050"/>
            <a:ext cx="40005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9" name="head-1">
            <a:extLst xmlns:a="http://schemas.openxmlformats.org/drawingml/2006/main">
              <a:ext uri="{FF2B5EF4-FFF2-40B4-BE49-F238E27FC236}">
                <a16:creationId xmlns:a16="http://schemas.microsoft.com/office/drawing/2014/main" id="{3CE5DA79-D352-4E69-ADA8-4E4B50095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0289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2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而是</a:t>
            </a:r>
          </a:p>
        </p:txBody>
      </p:sp>
      <p:sp>
        <p:nvSpPr>
          <p:cNvPr id="10" name="list-1">
            <a:extLst xmlns:a="http://schemas.openxmlformats.org/drawingml/2006/main">
              <a:ext uri="{FF2B5EF4-FFF2-40B4-BE49-F238E27FC236}">
                <a16:creationId xmlns:a16="http://schemas.microsoft.com/office/drawing/2014/main" id="{7887AD70-48FB-48DF-A915-2A2205A03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676650"/>
            <a:ext cx="257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任務規格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證據與檢查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能重跑的流程</a:t>
            </a:r>
          </a:p>
        </p:txBody>
      </p:sp>
      <p:sp>
        <p:nvSpPr>
          <p:cNvPr id="11" name="bottom">
            <a:extLst xmlns:a="http://schemas.openxmlformats.org/drawingml/2006/main">
              <a:ext uri="{FF2B5EF4-FFF2-40B4-BE49-F238E27FC236}">
                <a16:creationId xmlns:a16="http://schemas.microsoft.com/office/drawing/2014/main" id="{CE9B65F4-1BFD-40C4-AED9-F79715F79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5816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今天會把 agent 放回 biomedical research 的資料、工具、證據與風險裡。</a:t>
            </a:r>
          </a:p>
        </p:txBody>
      </p:sp>
    </p:spTree>
    <p:extLst>
      <p:ext uri="{BB962C8B-B14F-4D97-AF65-F5344CB8AC3E}">
        <p14:creationId xmlns:p14="http://schemas.microsoft.com/office/powerpoint/2010/main" val="4137421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D08DEFB3-9C54-49BF-BA64-7CE977D74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COURSE OUTCOME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124C612E-57BD-4C3A-8BB9-BFC2A51A9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最後要留下的是可審核的 biomedical agent workflow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C6889770-1FF8-40CA-9264-60D33DB8D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3/22</a:t>
            </a:r>
          </a:p>
        </p:txBody>
      </p:sp>
      <p:sp>
        <p:nvSpPr>
          <p:cNvPr id="4" name="stack-0">
            <a:extLst xmlns:a="http://schemas.openxmlformats.org/drawingml/2006/main">
              <a:ext uri="{FF2B5EF4-FFF2-40B4-BE49-F238E27FC236}">
                <a16:creationId xmlns:a16="http://schemas.microsoft.com/office/drawing/2014/main" id="{2EFB92B9-29CF-4ED5-A466-19F294F37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714500"/>
            <a:ext cx="3619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5" name="stack-name-0">
            <a:extLst xmlns:a="http://schemas.openxmlformats.org/drawingml/2006/main">
              <a:ext uri="{FF2B5EF4-FFF2-40B4-BE49-F238E27FC236}">
                <a16:creationId xmlns:a16="http://schemas.microsoft.com/office/drawing/2014/main" id="{B4EA3CE3-F336-4F28-80E1-172AA7640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1847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task_spec.md</a:t>
            </a:r>
          </a:p>
        </p:txBody>
      </p:sp>
      <p:sp>
        <p:nvSpPr>
          <p:cNvPr id="6" name="stack-copy-0">
            <a:extLst xmlns:a="http://schemas.openxmlformats.org/drawingml/2006/main">
              <a:ext uri="{FF2B5EF4-FFF2-40B4-BE49-F238E27FC236}">
                <a16:creationId xmlns:a16="http://schemas.microsoft.com/office/drawing/2014/main" id="{EF9DA0C3-263D-4A6E-BC84-3D9C413CC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8383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任務、輸入、輸出、限制</a:t>
            </a:r>
          </a:p>
        </p:txBody>
      </p:sp>
      <p:sp>
        <p:nvSpPr>
          <p:cNvPr id="7" name="stack-line-0">
            <a:extLst xmlns:a="http://schemas.openxmlformats.org/drawingml/2006/main">
              <a:ext uri="{FF2B5EF4-FFF2-40B4-BE49-F238E27FC236}">
                <a16:creationId xmlns:a16="http://schemas.microsoft.com/office/drawing/2014/main" id="{B8E6A109-79B7-47D5-B5AD-B074BCEA9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97167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8" name="stack-1">
            <a:extLst xmlns:a="http://schemas.openxmlformats.org/drawingml/2006/main">
              <a:ext uri="{FF2B5EF4-FFF2-40B4-BE49-F238E27FC236}">
                <a16:creationId xmlns:a16="http://schemas.microsoft.com/office/drawing/2014/main" id="{8624CC3C-D0AA-4FE0-AD93-7150462F1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419350"/>
            <a:ext cx="3619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9" name="stack-name-1">
            <a:extLst xmlns:a="http://schemas.openxmlformats.org/drawingml/2006/main">
              <a:ext uri="{FF2B5EF4-FFF2-40B4-BE49-F238E27FC236}">
                <a16:creationId xmlns:a16="http://schemas.microsoft.com/office/drawing/2014/main" id="{42C9F9D1-6DFA-423B-9FEC-A1D0CF67E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552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evidence_table</a:t>
            </a:r>
          </a:p>
        </p:txBody>
      </p:sp>
      <p:sp>
        <p:nvSpPr>
          <p:cNvPr id="10" name="stack-copy-1">
            <a:extLst xmlns:a="http://schemas.openxmlformats.org/drawingml/2006/main">
              <a:ext uri="{FF2B5EF4-FFF2-40B4-BE49-F238E27FC236}">
                <a16:creationId xmlns:a16="http://schemas.microsoft.com/office/drawing/2014/main" id="{3ED8496F-D80F-4768-AE67-08ADCDE63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54317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claim、source、status</a:t>
            </a:r>
          </a:p>
        </p:txBody>
      </p:sp>
      <p:sp>
        <p:nvSpPr>
          <p:cNvPr id="11" name="stack-line-1">
            <a:extLst xmlns:a="http://schemas.openxmlformats.org/drawingml/2006/main">
              <a:ext uri="{FF2B5EF4-FFF2-40B4-BE49-F238E27FC236}">
                <a16:creationId xmlns:a16="http://schemas.microsoft.com/office/drawing/2014/main" id="{FAE3C6F1-E1FF-4062-A1E5-77D5F710B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67652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2" name="stack-2">
            <a:extLst xmlns:a="http://schemas.openxmlformats.org/drawingml/2006/main">
              <a:ext uri="{FF2B5EF4-FFF2-40B4-BE49-F238E27FC236}">
                <a16:creationId xmlns:a16="http://schemas.microsoft.com/office/drawing/2014/main" id="{C54EEECE-F3E0-4274-9132-F1071FFF0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124200"/>
            <a:ext cx="3619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5C6670"/>
            </a:solidFill>
            <a:prstDash val="solid"/>
          </a:ln>
        </p:spPr>
      </p:sp>
      <p:sp>
        <p:nvSpPr>
          <p:cNvPr id="13" name="stack-name-2">
            <a:extLst xmlns:a="http://schemas.openxmlformats.org/drawingml/2006/main">
              <a:ext uri="{FF2B5EF4-FFF2-40B4-BE49-F238E27FC236}">
                <a16:creationId xmlns:a16="http://schemas.microsoft.com/office/drawing/2014/main" id="{8BB57048-C6E9-499A-A7F2-5F2E88948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2575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tool_log</a:t>
            </a:r>
          </a:p>
        </p:txBody>
      </p:sp>
      <p:sp>
        <p:nvSpPr>
          <p:cNvPr id="14" name="stack-copy-2">
            <a:extLst xmlns:a="http://schemas.openxmlformats.org/drawingml/2006/main">
              <a:ext uri="{FF2B5EF4-FFF2-40B4-BE49-F238E27FC236}">
                <a16:creationId xmlns:a16="http://schemas.microsoft.com/office/drawing/2014/main" id="{14C66B71-5918-4973-86FE-D894044E2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2480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工具輸入、輸出、錯誤</a:t>
            </a:r>
          </a:p>
        </p:txBody>
      </p:sp>
      <p:sp>
        <p:nvSpPr>
          <p:cNvPr id="15" name="stack-line-2">
            <a:extLst xmlns:a="http://schemas.openxmlformats.org/drawingml/2006/main">
              <a:ext uri="{FF2B5EF4-FFF2-40B4-BE49-F238E27FC236}">
                <a16:creationId xmlns:a16="http://schemas.microsoft.com/office/drawing/2014/main" id="{AE2DB77C-41F3-4A84-90F9-89D9DE679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38137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6" name="stack-3">
            <a:extLst xmlns:a="http://schemas.openxmlformats.org/drawingml/2006/main">
              <a:ext uri="{FF2B5EF4-FFF2-40B4-BE49-F238E27FC236}">
                <a16:creationId xmlns:a16="http://schemas.microsoft.com/office/drawing/2014/main" id="{98C025B9-0E58-4ACE-8C80-895605111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829050"/>
            <a:ext cx="3619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17" name="stack-name-3">
            <a:extLst xmlns:a="http://schemas.openxmlformats.org/drawingml/2006/main">
              <a:ext uri="{FF2B5EF4-FFF2-40B4-BE49-F238E27FC236}">
                <a16:creationId xmlns:a16="http://schemas.microsoft.com/office/drawing/2014/main" id="{62D40B7F-A463-491A-A598-778D5F010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9624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check_report</a:t>
            </a:r>
          </a:p>
        </p:txBody>
      </p:sp>
      <p:sp>
        <p:nvSpPr>
          <p:cNvPr id="18" name="stack-copy-3">
            <a:extLst xmlns:a="http://schemas.openxmlformats.org/drawingml/2006/main">
              <a:ext uri="{FF2B5EF4-FFF2-40B4-BE49-F238E27FC236}">
                <a16:creationId xmlns:a16="http://schemas.microsoft.com/office/drawing/2014/main" id="{0E8D2BAC-839D-48CE-BC9A-3871B4641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95287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通過、失敗、needs review</a:t>
            </a:r>
          </a:p>
        </p:txBody>
      </p:sp>
      <p:sp>
        <p:nvSpPr>
          <p:cNvPr id="19" name="stack-line-3">
            <a:extLst xmlns:a="http://schemas.openxmlformats.org/drawingml/2006/main">
              <a:ext uri="{FF2B5EF4-FFF2-40B4-BE49-F238E27FC236}">
                <a16:creationId xmlns:a16="http://schemas.microsoft.com/office/drawing/2014/main" id="{8EDCD33B-315F-4931-8AB2-11A8D9B3D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08622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20" name="stack-4">
            <a:extLst xmlns:a="http://schemas.openxmlformats.org/drawingml/2006/main">
              <a:ext uri="{FF2B5EF4-FFF2-40B4-BE49-F238E27FC236}">
                <a16:creationId xmlns:a16="http://schemas.microsoft.com/office/drawing/2014/main" id="{47E66EF6-8E1C-4215-AF9A-E4A5233C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533900"/>
            <a:ext cx="3619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21" name="stack-name-4">
            <a:extLst xmlns:a="http://schemas.openxmlformats.org/drawingml/2006/main">
              <a:ext uri="{FF2B5EF4-FFF2-40B4-BE49-F238E27FC236}">
                <a16:creationId xmlns:a16="http://schemas.microsoft.com/office/drawing/2014/main" id="{D32F92F9-D2BB-4ED7-91B0-1A3C72873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6672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demo_notes</a:t>
            </a:r>
          </a:p>
        </p:txBody>
      </p:sp>
      <p:sp>
        <p:nvSpPr>
          <p:cNvPr id="22" name="stack-copy-4">
            <a:extLst xmlns:a="http://schemas.openxmlformats.org/drawingml/2006/main">
              <a:ext uri="{FF2B5EF4-FFF2-40B4-BE49-F238E27FC236}">
                <a16:creationId xmlns:a16="http://schemas.microsoft.com/office/drawing/2014/main" id="{31052713-FD42-4EE2-AC1C-3D3D4BEB6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6577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限制、風險、下一步</a:t>
            </a:r>
          </a:p>
        </p:txBody>
      </p:sp>
      <p:sp>
        <p:nvSpPr>
          <p:cNvPr id="23" name="stack-line-4">
            <a:extLst xmlns:a="http://schemas.openxmlformats.org/drawingml/2006/main">
              <a:ext uri="{FF2B5EF4-FFF2-40B4-BE49-F238E27FC236}">
                <a16:creationId xmlns:a16="http://schemas.microsoft.com/office/drawing/2014/main" id="{CC12F3AB-9C64-4864-B9B9-DBC5BCBA2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79107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24" name="goal-box">
            <a:extLst xmlns:a="http://schemas.openxmlformats.org/drawingml/2006/main">
              <a:ext uri="{FF2B5EF4-FFF2-40B4-BE49-F238E27FC236}">
                <a16:creationId xmlns:a16="http://schemas.microsoft.com/office/drawing/2014/main" id="{4982E869-B6F1-48E4-979C-D301EC366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524500"/>
            <a:ext cx="76581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5" name="goal-text">
            <a:extLst xmlns:a="http://schemas.openxmlformats.org/drawingml/2006/main">
              <a:ext uri="{FF2B5EF4-FFF2-40B4-BE49-F238E27FC236}">
                <a16:creationId xmlns:a16="http://schemas.microsoft.com/office/drawing/2014/main" id="{BA366726-234D-48D9-869B-D23826FBD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5695950"/>
            <a:ext cx="695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Lesson 02 先建立外框；後面課程會逐步補上 model、tools、spec、harness 與 loop。</a:t>
            </a:r>
          </a:p>
        </p:txBody>
      </p:sp>
    </p:spTree>
    <p:extLst>
      <p:ext uri="{BB962C8B-B14F-4D97-AF65-F5344CB8AC3E}">
        <p14:creationId xmlns:p14="http://schemas.microsoft.com/office/powerpoint/2010/main" val="210664538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07DC4191-C348-40F5-80BD-C031B8570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 LANDSCAPE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19D4FBC-4401-4B97-8EA6-3B3A39C31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先用任務型態選工具，不要只記工具名稱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9620AD8F-D8C0-413B-9CB0-D6AC6F5EC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4/22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4609B807-32E7-4A74-8FF0-76FE19F81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76400"/>
            <a:ext cx="990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Claude、Codex、Copilot、Perplexity 類工具功能會重疊；課堂上用它們建立使用場景判斷。</a:t>
            </a:r>
          </a:p>
        </p:txBody>
      </p:sp>
      <p:sp>
        <p:nvSpPr>
          <p:cNvPr id="5" name="tool-card-0">
            <a:extLst xmlns:a="http://schemas.openxmlformats.org/drawingml/2006/main">
              <a:ext uri="{FF2B5EF4-FFF2-40B4-BE49-F238E27FC236}">
                <a16:creationId xmlns:a16="http://schemas.microsoft.com/office/drawing/2014/main" id="{DE955A3E-6DDD-4C1F-8689-B42354C4C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57450"/>
            <a:ext cx="2381250" cy="266700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6" name="tool-name-0">
            <a:extLst xmlns:a="http://schemas.openxmlformats.org/drawingml/2006/main">
              <a:ext uri="{FF2B5EF4-FFF2-40B4-BE49-F238E27FC236}">
                <a16:creationId xmlns:a16="http://schemas.microsoft.com/office/drawing/2014/main" id="{A13203CD-D8A1-45F1-AF06-E075E4F40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24150"/>
            <a:ext cx="1962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Claude 類</a:t>
            </a:r>
          </a:p>
        </p:txBody>
      </p:sp>
      <p:sp>
        <p:nvSpPr>
          <p:cNvPr id="7" name="tool-role-0">
            <a:extLst xmlns:a="http://schemas.openxmlformats.org/drawingml/2006/main">
              <a:ext uri="{FF2B5EF4-FFF2-40B4-BE49-F238E27FC236}">
                <a16:creationId xmlns:a16="http://schemas.microsoft.com/office/drawing/2014/main" id="{624B8BFA-7C18-4CB0-A692-23FC5D9E8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162300"/>
            <a:ext cx="1962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長文推理與文件整理</a:t>
            </a:r>
          </a:p>
        </p:txBody>
      </p:sp>
      <p:sp>
        <p:nvSpPr>
          <p:cNvPr id="8" name="tool-uses-0">
            <a:extLst xmlns:a="http://schemas.openxmlformats.org/drawingml/2006/main">
              <a:ext uri="{FF2B5EF4-FFF2-40B4-BE49-F238E27FC236}">
                <a16:creationId xmlns:a16="http://schemas.microsoft.com/office/drawing/2014/main" id="{D1613AA2-1337-4A65-B838-DC3557BB6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90950"/>
            <a:ext cx="18478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18" indent="-8">
              <a:lnSpc>
                <a:spcPct val="102000"/>
              </a:lnSpc>
              <a:spcAft>
                <a:spcPts val="4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讀長篇背景材料</a:t>
            </a:r>
          </a:p>
          <a:p xmlns:a="http://schemas.openxmlformats.org/drawingml/2006/main">
            <a:pPr marL="18" indent="-8">
              <a:lnSpc>
                <a:spcPct val="102000"/>
              </a:lnSpc>
              <a:spcAft>
                <a:spcPts val="4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整理研究筆記</a:t>
            </a:r>
          </a:p>
          <a:p xmlns:a="http://schemas.openxmlformats.org/drawingml/2006/main">
            <a:pPr marL="18" indent="-8">
              <a:lnSpc>
                <a:spcPct val="102000"/>
              </a:lnSpc>
              <a:spcAft>
                <a:spcPts val="4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草擬分析說明</a:t>
            </a:r>
          </a:p>
        </p:txBody>
      </p:sp>
      <p:sp>
        <p:nvSpPr>
          <p:cNvPr id="9" name="tool-caution-0">
            <a:extLst xmlns:a="http://schemas.openxmlformats.org/drawingml/2006/main">
              <a:ext uri="{FF2B5EF4-FFF2-40B4-BE49-F238E27FC236}">
                <a16:creationId xmlns:a16="http://schemas.microsoft.com/office/drawing/2014/main" id="{9CFC9979-EE11-4D5A-AB66-98420C859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743450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仍要回查來源</a:t>
            </a:r>
          </a:p>
        </p:txBody>
      </p:sp>
      <p:sp>
        <p:nvSpPr>
          <p:cNvPr id="10" name="tool-card-1">
            <a:extLst xmlns:a="http://schemas.openxmlformats.org/drawingml/2006/main">
              <a:ext uri="{FF2B5EF4-FFF2-40B4-BE49-F238E27FC236}">
                <a16:creationId xmlns:a16="http://schemas.microsoft.com/office/drawing/2014/main" id="{5A53EBDF-6EAC-4412-B50A-170F2BA36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457450"/>
            <a:ext cx="2381250" cy="266700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11" name="tool-name-1">
            <a:extLst xmlns:a="http://schemas.openxmlformats.org/drawingml/2006/main">
              <a:ext uri="{FF2B5EF4-FFF2-40B4-BE49-F238E27FC236}">
                <a16:creationId xmlns:a16="http://schemas.microsoft.com/office/drawing/2014/main" id="{E6EDE9C0-3646-4D56-8C05-7A8CE766E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724150"/>
            <a:ext cx="1962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Codex 類</a:t>
            </a:r>
          </a:p>
        </p:txBody>
      </p:sp>
      <p:sp>
        <p:nvSpPr>
          <p:cNvPr id="12" name="tool-role-1">
            <a:extLst xmlns:a="http://schemas.openxmlformats.org/drawingml/2006/main">
              <a:ext uri="{FF2B5EF4-FFF2-40B4-BE49-F238E27FC236}">
                <a16:creationId xmlns:a16="http://schemas.microsoft.com/office/drawing/2014/main" id="{E227D27A-2373-4CB9-8E47-FF9850130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162300"/>
            <a:ext cx="1962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repo-grounded 修改與測試</a:t>
            </a:r>
          </a:p>
        </p:txBody>
      </p:sp>
      <p:sp>
        <p:nvSpPr>
          <p:cNvPr id="13" name="tool-uses-1">
            <a:extLst xmlns:a="http://schemas.openxmlformats.org/drawingml/2006/main">
              <a:ext uri="{FF2B5EF4-FFF2-40B4-BE49-F238E27FC236}">
                <a16:creationId xmlns:a16="http://schemas.microsoft.com/office/drawing/2014/main" id="{A49E4BEC-E419-47B5-BBF8-B26C24583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790950"/>
            <a:ext cx="18478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18" indent="-8">
              <a:lnSpc>
                <a:spcPct val="102000"/>
              </a:lnSpc>
              <a:spcAft>
                <a:spcPts val="4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讀實際程式碼</a:t>
            </a:r>
          </a:p>
          <a:p xmlns:a="http://schemas.openxmlformats.org/drawingml/2006/main">
            <a:pPr marL="18" indent="-8">
              <a:lnSpc>
                <a:spcPct val="102000"/>
              </a:lnSpc>
              <a:spcAft>
                <a:spcPts val="4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小步修改腳本</a:t>
            </a:r>
          </a:p>
          <a:p xmlns:a="http://schemas.openxmlformats.org/drawingml/2006/main">
            <a:pPr marL="18" indent="-8">
              <a:lnSpc>
                <a:spcPct val="102000"/>
              </a:lnSpc>
              <a:spcAft>
                <a:spcPts val="4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跑測試與看 diff</a:t>
            </a:r>
          </a:p>
        </p:txBody>
      </p:sp>
      <p:sp>
        <p:nvSpPr>
          <p:cNvPr id="14" name="tool-caution-1">
            <a:extLst xmlns:a="http://schemas.openxmlformats.org/drawingml/2006/main">
              <a:ext uri="{FF2B5EF4-FFF2-40B4-BE49-F238E27FC236}">
                <a16:creationId xmlns:a16="http://schemas.microsoft.com/office/drawing/2014/main" id="{A9294FCF-C374-4A0D-91FB-28B83DAE0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743450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不能跳過 review</a:t>
            </a:r>
          </a:p>
        </p:txBody>
      </p:sp>
      <p:sp>
        <p:nvSpPr>
          <p:cNvPr id="15" name="tool-card-2">
            <a:extLst xmlns:a="http://schemas.openxmlformats.org/drawingml/2006/main">
              <a:ext uri="{FF2B5EF4-FFF2-40B4-BE49-F238E27FC236}">
                <a16:creationId xmlns:a16="http://schemas.microsoft.com/office/drawing/2014/main" id="{C5F0894E-16C9-4017-B958-F735E0660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57450"/>
            <a:ext cx="2381250" cy="266700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16" name="tool-name-2">
            <a:extLst xmlns:a="http://schemas.openxmlformats.org/drawingml/2006/main">
              <a:ext uri="{FF2B5EF4-FFF2-40B4-BE49-F238E27FC236}">
                <a16:creationId xmlns:a16="http://schemas.microsoft.com/office/drawing/2014/main" id="{9C7E272C-4E67-4334-9D18-D5A085392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24150"/>
            <a:ext cx="1962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Copilot 類</a:t>
            </a:r>
          </a:p>
        </p:txBody>
      </p:sp>
      <p:sp>
        <p:nvSpPr>
          <p:cNvPr id="17" name="tool-role-2">
            <a:extLst xmlns:a="http://schemas.openxmlformats.org/drawingml/2006/main">
              <a:ext uri="{FF2B5EF4-FFF2-40B4-BE49-F238E27FC236}">
                <a16:creationId xmlns:a16="http://schemas.microsoft.com/office/drawing/2014/main" id="{60802A4D-CD70-42E7-9B74-1496B4696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162300"/>
            <a:ext cx="1962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IDE 內即時開發輔助</a:t>
            </a:r>
          </a:p>
        </p:txBody>
      </p:sp>
      <p:sp>
        <p:nvSpPr>
          <p:cNvPr id="18" name="tool-uses-2">
            <a:extLst xmlns:a="http://schemas.openxmlformats.org/drawingml/2006/main">
              <a:ext uri="{FF2B5EF4-FFF2-40B4-BE49-F238E27FC236}">
                <a16:creationId xmlns:a16="http://schemas.microsoft.com/office/drawing/2014/main" id="{7A6DB927-0364-4BB1-9A66-182DB1038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790950"/>
            <a:ext cx="18478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18" indent="-8">
              <a:lnSpc>
                <a:spcPct val="102000"/>
              </a:lnSpc>
              <a:spcAft>
                <a:spcPts val="4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補完常用程式片段</a:t>
            </a:r>
          </a:p>
          <a:p xmlns:a="http://schemas.openxmlformats.org/drawingml/2006/main">
            <a:pPr marL="18" indent="-8">
              <a:lnSpc>
                <a:spcPct val="102000"/>
              </a:lnSpc>
              <a:spcAft>
                <a:spcPts val="4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重構局部函式</a:t>
            </a:r>
          </a:p>
          <a:p xmlns:a="http://schemas.openxmlformats.org/drawingml/2006/main">
            <a:pPr marL="18" indent="-8">
              <a:lnSpc>
                <a:spcPct val="102000"/>
              </a:lnSpc>
              <a:spcAft>
                <a:spcPts val="4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邊寫邊查 API</a:t>
            </a:r>
          </a:p>
        </p:txBody>
      </p:sp>
      <p:sp>
        <p:nvSpPr>
          <p:cNvPr id="19" name="tool-caution-2">
            <a:extLst xmlns:a="http://schemas.openxmlformats.org/drawingml/2006/main">
              <a:ext uri="{FF2B5EF4-FFF2-40B4-BE49-F238E27FC236}">
                <a16:creationId xmlns:a16="http://schemas.microsoft.com/office/drawing/2014/main" id="{BDE48DAF-B9A0-4608-9208-4382B5823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43450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容易局部正確</a:t>
            </a:r>
          </a:p>
        </p:txBody>
      </p:sp>
      <p:sp>
        <p:nvSpPr>
          <p:cNvPr id="20" name="tool-card-3">
            <a:extLst xmlns:a="http://schemas.openxmlformats.org/drawingml/2006/main">
              <a:ext uri="{FF2B5EF4-FFF2-40B4-BE49-F238E27FC236}">
                <a16:creationId xmlns:a16="http://schemas.microsoft.com/office/drawing/2014/main" id="{D3F3BCCE-21EB-4206-83E9-B65E041BB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457450"/>
            <a:ext cx="2381250" cy="266700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21" name="tool-name-3">
            <a:extLst xmlns:a="http://schemas.openxmlformats.org/drawingml/2006/main">
              <a:ext uri="{FF2B5EF4-FFF2-40B4-BE49-F238E27FC236}">
                <a16:creationId xmlns:a16="http://schemas.microsoft.com/office/drawing/2014/main" id="{D23F770A-39FC-478A-8FF5-2C6944938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724150"/>
            <a:ext cx="1962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Perplexity 類</a:t>
            </a:r>
          </a:p>
        </p:txBody>
      </p:sp>
      <p:sp>
        <p:nvSpPr>
          <p:cNvPr id="22" name="tool-role-3">
            <a:extLst xmlns:a="http://schemas.openxmlformats.org/drawingml/2006/main">
              <a:ext uri="{FF2B5EF4-FFF2-40B4-BE49-F238E27FC236}">
                <a16:creationId xmlns:a16="http://schemas.microsoft.com/office/drawing/2014/main" id="{6C3A35F1-B923-4E1B-8D8D-F90914A87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162300"/>
            <a:ext cx="1962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web-grounded 搜尋與來源追蹤</a:t>
            </a:r>
          </a:p>
        </p:txBody>
      </p:sp>
      <p:sp>
        <p:nvSpPr>
          <p:cNvPr id="23" name="tool-uses-3">
            <a:extLst xmlns:a="http://schemas.openxmlformats.org/drawingml/2006/main">
              <a:ext uri="{FF2B5EF4-FFF2-40B4-BE49-F238E27FC236}">
                <a16:creationId xmlns:a16="http://schemas.microsoft.com/office/drawing/2014/main" id="{BDC930BA-D717-4287-9E6F-85890A522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790950"/>
            <a:ext cx="18478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18" indent="-8">
              <a:lnSpc>
                <a:spcPct val="102000"/>
              </a:lnSpc>
              <a:spcAft>
                <a:spcPts val="4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找文獻線索</a:t>
            </a:r>
          </a:p>
          <a:p xmlns:a="http://schemas.openxmlformats.org/drawingml/2006/main">
            <a:pPr marL="18" indent="-8">
              <a:lnSpc>
                <a:spcPct val="102000"/>
              </a:lnSpc>
              <a:spcAft>
                <a:spcPts val="4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追 citation</a:t>
            </a:r>
          </a:p>
          <a:p xmlns:a="http://schemas.openxmlformats.org/drawingml/2006/main">
            <a:pPr marL="18" indent="-8">
              <a:lnSpc>
                <a:spcPct val="102000"/>
              </a:lnSpc>
              <a:spcAft>
                <a:spcPts val="4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比較資料來源</a:t>
            </a:r>
          </a:p>
        </p:txBody>
      </p:sp>
      <p:sp>
        <p:nvSpPr>
          <p:cNvPr id="24" name="tool-caution-3">
            <a:extLst xmlns:a="http://schemas.openxmlformats.org/drawingml/2006/main">
              <a:ext uri="{FF2B5EF4-FFF2-40B4-BE49-F238E27FC236}">
                <a16:creationId xmlns:a16="http://schemas.microsoft.com/office/drawing/2014/main" id="{0B7AC9F8-7C2F-487D-93FD-FB389677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743450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摘要不能當證據</a:t>
            </a:r>
          </a:p>
        </p:txBody>
      </p:sp>
      <p:sp>
        <p:nvSpPr>
          <p:cNvPr id="25" name="bottom">
            <a:extLst xmlns:a="http://schemas.openxmlformats.org/drawingml/2006/main">
              <a:ext uri="{FF2B5EF4-FFF2-40B4-BE49-F238E27FC236}">
                <a16:creationId xmlns:a16="http://schemas.microsoft.com/office/drawing/2014/main" id="{D3AB4A27-7540-41BD-9EB7-63E493DEF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6388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同一個 biomedical task 常需要串兩種以上工具；比較的重點是輸入、輸出、證據和風險。</a:t>
            </a:r>
          </a:p>
        </p:txBody>
      </p:sp>
    </p:spTree>
    <p:extLst>
      <p:ext uri="{BB962C8B-B14F-4D97-AF65-F5344CB8AC3E}">
        <p14:creationId xmlns:p14="http://schemas.microsoft.com/office/powerpoint/2010/main" val="157320996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3EC8B96C-68B2-4BEC-B7C7-172B5989F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SCENARIO FIT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8D136BA-4012-48CA-AA34-C70B46F71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不同工具要接到不同的 workflow 檢查點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B7C105FA-4009-466C-8605-C7A5E85FF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5/22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C85EFED1-7E08-4921-B7D9-887D22BAC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76400"/>
            <a:ext cx="933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選工具時先問：它會產生什麼 artifact？那個 artifact 要怎麼被檢查？</a:t>
            </a:r>
          </a:p>
        </p:txBody>
      </p:sp>
      <p:sp>
        <p:nvSpPr>
          <p:cNvPr id="5" name="head-0">
            <a:extLst xmlns:a="http://schemas.openxmlformats.org/drawingml/2006/main">
              <a:ext uri="{FF2B5EF4-FFF2-40B4-BE49-F238E27FC236}">
                <a16:creationId xmlns:a16="http://schemas.microsoft.com/office/drawing/2014/main" id="{ED54D79F-CE29-4246-ABCB-A2AA8EFDE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765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工具入口</a:t>
            </a:r>
          </a:p>
        </p:txBody>
      </p:sp>
      <p:sp>
        <p:nvSpPr>
          <p:cNvPr id="6" name="head-1">
            <a:extLst xmlns:a="http://schemas.openxmlformats.org/drawingml/2006/main">
              <a:ext uri="{FF2B5EF4-FFF2-40B4-BE49-F238E27FC236}">
                <a16:creationId xmlns:a16="http://schemas.microsoft.com/office/drawing/2014/main" id="{7B2B9D43-3459-4833-9604-6B6ECD58A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4765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適合交付</a:t>
            </a:r>
          </a:p>
        </p:txBody>
      </p:sp>
      <p:sp>
        <p:nvSpPr>
          <p:cNvPr id="7" name="head-2">
            <a:extLst xmlns:a="http://schemas.openxmlformats.org/drawingml/2006/main">
              <a:ext uri="{FF2B5EF4-FFF2-40B4-BE49-F238E27FC236}">
                <a16:creationId xmlns:a16="http://schemas.microsoft.com/office/drawing/2014/main" id="{E826F603-4151-41F2-9B16-A6EECAAF9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7650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必要檢查</a:t>
            </a:r>
          </a:p>
        </p:txBody>
      </p:sp>
      <p:sp>
        <p:nvSpPr>
          <p:cNvPr id="8" name="row-bg-0">
            <a:extLst xmlns:a="http://schemas.openxmlformats.org/drawingml/2006/main">
              <a:ext uri="{FF2B5EF4-FFF2-40B4-BE49-F238E27FC236}">
                <a16:creationId xmlns:a16="http://schemas.microsoft.com/office/drawing/2014/main" id="{10A5B3A4-9D35-4BD1-A588-ABB79F0FF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38450"/>
            <a:ext cx="10439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9" name="tool-0">
            <a:extLst xmlns:a="http://schemas.openxmlformats.org/drawingml/2006/main">
              <a:ext uri="{FF2B5EF4-FFF2-40B4-BE49-F238E27FC236}">
                <a16:creationId xmlns:a16="http://schemas.microsoft.com/office/drawing/2014/main" id="{8ECD95C8-4230-4452-8100-948AFFBB1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718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Perplexity 類</a:t>
            </a:r>
          </a:p>
        </p:txBody>
      </p:sp>
      <p:sp>
        <p:nvSpPr>
          <p:cNvPr id="10" name="artifact-0">
            <a:extLst xmlns:a="http://schemas.openxmlformats.org/drawingml/2006/main">
              <a:ext uri="{FF2B5EF4-FFF2-40B4-BE49-F238E27FC236}">
                <a16:creationId xmlns:a16="http://schemas.microsoft.com/office/drawing/2014/main" id="{E6457C02-BE6D-4BF1-8EC8-5748759FE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9527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搜尋策略、候選文獻、來源連結</a:t>
            </a:r>
          </a:p>
        </p:txBody>
      </p:sp>
      <p:sp>
        <p:nvSpPr>
          <p:cNvPr id="11" name="check-0">
            <a:extLst xmlns:a="http://schemas.openxmlformats.org/drawingml/2006/main">
              <a:ext uri="{FF2B5EF4-FFF2-40B4-BE49-F238E27FC236}">
                <a16:creationId xmlns:a16="http://schemas.microsoft.com/office/drawing/2014/main" id="{7FD0A77B-C89C-4774-97ED-4B5C7443D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5275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查 PMID / DOI / database record</a:t>
            </a:r>
          </a:p>
        </p:txBody>
      </p:sp>
      <p:sp>
        <p:nvSpPr>
          <p:cNvPr id="12" name="row-bg-1">
            <a:extLst xmlns:a="http://schemas.openxmlformats.org/drawingml/2006/main">
              <a:ext uri="{FF2B5EF4-FFF2-40B4-BE49-F238E27FC236}">
                <a16:creationId xmlns:a16="http://schemas.microsoft.com/office/drawing/2014/main" id="{7092432C-88EB-4452-88D4-FF182A18E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10439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3" name="tool-1">
            <a:extLst xmlns:a="http://schemas.openxmlformats.org/drawingml/2006/main">
              <a:ext uri="{FF2B5EF4-FFF2-40B4-BE49-F238E27FC236}">
                <a16:creationId xmlns:a16="http://schemas.microsoft.com/office/drawing/2014/main" id="{E23AEA46-7CB8-42F0-BE10-1D804451D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3855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Claude 類</a:t>
            </a:r>
          </a:p>
        </p:txBody>
      </p:sp>
      <p:sp>
        <p:nvSpPr>
          <p:cNvPr id="14" name="artifact-1">
            <a:extLst xmlns:a="http://schemas.openxmlformats.org/drawingml/2006/main">
              <a:ext uri="{FF2B5EF4-FFF2-40B4-BE49-F238E27FC236}">
                <a16:creationId xmlns:a16="http://schemas.microsoft.com/office/drawing/2014/main" id="{783A64F8-E592-4982-8F02-F55E77284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61950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摘要、比較表、研究筆記初稿</a:t>
            </a:r>
          </a:p>
        </p:txBody>
      </p:sp>
      <p:sp>
        <p:nvSpPr>
          <p:cNvPr id="15" name="check-1">
            <a:extLst xmlns:a="http://schemas.openxmlformats.org/drawingml/2006/main">
              <a:ext uri="{FF2B5EF4-FFF2-40B4-BE49-F238E27FC236}">
                <a16:creationId xmlns:a16="http://schemas.microsoft.com/office/drawing/2014/main" id="{101DEABE-3FE9-4C81-ADEF-008C79237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6195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逐段對來源與欄位定義</a:t>
            </a:r>
          </a:p>
        </p:txBody>
      </p:sp>
      <p:sp>
        <p:nvSpPr>
          <p:cNvPr id="16" name="row-bg-2">
            <a:extLst xmlns:a="http://schemas.openxmlformats.org/drawingml/2006/main">
              <a:ext uri="{FF2B5EF4-FFF2-40B4-BE49-F238E27FC236}">
                <a16:creationId xmlns:a16="http://schemas.microsoft.com/office/drawing/2014/main" id="{6E9E1C2E-8FDB-4216-BA25-6898E57CC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71950"/>
            <a:ext cx="10439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7" name="tool-2">
            <a:extLst xmlns:a="http://schemas.openxmlformats.org/drawingml/2006/main">
              <a:ext uri="{FF2B5EF4-FFF2-40B4-BE49-F238E27FC236}">
                <a16:creationId xmlns:a16="http://schemas.microsoft.com/office/drawing/2014/main" id="{A14C6450-3BD2-43E7-9747-8386025FD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053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Codex 類</a:t>
            </a:r>
          </a:p>
        </p:txBody>
      </p:sp>
      <p:sp>
        <p:nvSpPr>
          <p:cNvPr id="18" name="artifact-2">
            <a:extLst xmlns:a="http://schemas.openxmlformats.org/drawingml/2006/main">
              <a:ext uri="{FF2B5EF4-FFF2-40B4-BE49-F238E27FC236}">
                <a16:creationId xmlns:a16="http://schemas.microsoft.com/office/drawing/2014/main" id="{5836132E-F58A-49CF-B2C3-914694E6E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2862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腳本修改、資料處理程式、測試結果</a:t>
            </a:r>
          </a:p>
        </p:txBody>
      </p:sp>
      <p:sp>
        <p:nvSpPr>
          <p:cNvPr id="19" name="check-2">
            <a:extLst xmlns:a="http://schemas.openxmlformats.org/drawingml/2006/main">
              <a:ext uri="{FF2B5EF4-FFF2-40B4-BE49-F238E27FC236}">
                <a16:creationId xmlns:a16="http://schemas.microsoft.com/office/drawing/2014/main" id="{74C8B11C-F091-4804-A686-719684D36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8625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看 diff、跑 test、檢查輸出檔</a:t>
            </a:r>
          </a:p>
        </p:txBody>
      </p:sp>
      <p:sp>
        <p:nvSpPr>
          <p:cNvPr id="20" name="row-bg-3">
            <a:extLst xmlns:a="http://schemas.openxmlformats.org/drawingml/2006/main">
              <a:ext uri="{FF2B5EF4-FFF2-40B4-BE49-F238E27FC236}">
                <a16:creationId xmlns:a16="http://schemas.microsoft.com/office/drawing/2014/main" id="{6A86C0BC-9381-43DC-9A8D-8007306F8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38700"/>
            <a:ext cx="10439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1" name="tool-3">
            <a:extLst xmlns:a="http://schemas.openxmlformats.org/drawingml/2006/main">
              <a:ext uri="{FF2B5EF4-FFF2-40B4-BE49-F238E27FC236}">
                <a16:creationId xmlns:a16="http://schemas.microsoft.com/office/drawing/2014/main" id="{1F5AE1C9-A206-48EB-9711-5C4E71DA5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7205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Copilot 類</a:t>
            </a:r>
          </a:p>
        </p:txBody>
      </p:sp>
      <p:sp>
        <p:nvSpPr>
          <p:cNvPr id="22" name="artifact-3">
            <a:extLst xmlns:a="http://schemas.openxmlformats.org/drawingml/2006/main">
              <a:ext uri="{FF2B5EF4-FFF2-40B4-BE49-F238E27FC236}">
                <a16:creationId xmlns:a16="http://schemas.microsoft.com/office/drawing/2014/main" id="{E5F037AC-A322-4029-AF69-E7CC8E9C0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95300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局部程式碼片段、函式補完</a:t>
            </a:r>
          </a:p>
        </p:txBody>
      </p:sp>
      <p:sp>
        <p:nvSpPr>
          <p:cNvPr id="23" name="check-3">
            <a:extLst xmlns:a="http://schemas.openxmlformats.org/drawingml/2006/main">
              <a:ext uri="{FF2B5EF4-FFF2-40B4-BE49-F238E27FC236}">
                <a16:creationId xmlns:a16="http://schemas.microsoft.com/office/drawing/2014/main" id="{893E5C56-11B2-4624-B5F2-4BCEE4976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530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用 lint、unit test、review 限縮風險</a:t>
            </a:r>
          </a:p>
        </p:txBody>
      </p:sp>
      <p:sp>
        <p:nvSpPr>
          <p:cNvPr id="24" name="bottom">
            <a:extLst xmlns:a="http://schemas.openxmlformats.org/drawingml/2006/main">
              <a:ext uri="{FF2B5EF4-FFF2-40B4-BE49-F238E27FC236}">
                <a16:creationId xmlns:a16="http://schemas.microsoft.com/office/drawing/2014/main" id="{3A90E2AD-88F0-479F-858C-DC831BCD3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829300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工具選擇不是品牌偏好，而是 workflow 設計的一部分。</a:t>
            </a:r>
          </a:p>
        </p:txBody>
      </p:sp>
    </p:spTree>
    <p:extLst>
      <p:ext uri="{BB962C8B-B14F-4D97-AF65-F5344CB8AC3E}">
        <p14:creationId xmlns:p14="http://schemas.microsoft.com/office/powerpoint/2010/main" val="43986469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B40DA6FC-8205-480E-A86B-AFB47B9FC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RUNNING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34AC286-A32D-4BE8-AB8E-6AC781D31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用同一個 biomedical 任務貫穿整堂課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701A4B35-696A-4DA6-9728-8FBAA09D6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6/22</a:t>
            </a:r>
          </a:p>
        </p:txBody>
      </p:sp>
      <p:sp>
        <p:nvSpPr>
          <p:cNvPr id="4" name="scenario">
            <a:extLst xmlns:a="http://schemas.openxmlformats.org/drawingml/2006/main">
              <a:ext uri="{FF2B5EF4-FFF2-40B4-BE49-F238E27FC236}">
                <a16:creationId xmlns:a16="http://schemas.microsoft.com/office/drawing/2014/main" id="{747C8591-5549-41C4-A48A-698549C03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09750"/>
            <a:ext cx="933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任務：整理 EGFR、ALK、TP53 與肺癌治療或研究關聯的 evidence table</a:t>
            </a:r>
          </a:p>
        </p:txBody>
      </p:sp>
      <p:sp>
        <p:nvSpPr>
          <p:cNvPr id="5" name="row-head-0">
            <a:extLst xmlns:a="http://schemas.openxmlformats.org/drawingml/2006/main">
              <a:ext uri="{FF2B5EF4-FFF2-40B4-BE49-F238E27FC236}">
                <a16:creationId xmlns:a16="http://schemas.microsoft.com/office/drawing/2014/main" id="{EAFE8E84-298E-454F-8E60-00FA7B1AE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86050"/>
            <a:ext cx="1619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Entities</a:t>
            </a:r>
          </a:p>
        </p:txBody>
      </p:sp>
      <p:sp>
        <p:nvSpPr>
          <p:cNvPr id="6" name="row-copy-0">
            <a:extLst xmlns:a="http://schemas.openxmlformats.org/drawingml/2006/main">
              <a:ext uri="{FF2B5EF4-FFF2-40B4-BE49-F238E27FC236}">
                <a16:creationId xmlns:a16="http://schemas.microsoft.com/office/drawing/2014/main" id="{D0DFC5D9-7248-4A31-9AEC-E66045417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9082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gene / disease / drug / variant</a:t>
            </a:r>
          </a:p>
        </p:txBody>
      </p:sp>
      <p:sp>
        <p:nvSpPr>
          <p:cNvPr id="7" name="row-line-0">
            <a:extLst xmlns:a="http://schemas.openxmlformats.org/drawingml/2006/main">
              <a:ext uri="{FF2B5EF4-FFF2-40B4-BE49-F238E27FC236}">
                <a16:creationId xmlns:a16="http://schemas.microsoft.com/office/drawing/2014/main" id="{0103E886-84F7-48B1-BAF4-7632DD66A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91465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8" name="row-head-1">
            <a:extLst xmlns:a="http://schemas.openxmlformats.org/drawingml/2006/main">
              <a:ext uri="{FF2B5EF4-FFF2-40B4-BE49-F238E27FC236}">
                <a16:creationId xmlns:a16="http://schemas.microsoft.com/office/drawing/2014/main" id="{0B402782-5778-48FE-8C56-2B0130DB6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371850"/>
            <a:ext cx="1619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9" name="row-copy-1">
            <a:extLst xmlns:a="http://schemas.openxmlformats.org/drawingml/2006/main">
              <a:ext uri="{FF2B5EF4-FFF2-40B4-BE49-F238E27FC236}">
                <a16:creationId xmlns:a16="http://schemas.microsoft.com/office/drawing/2014/main" id="{7BF1BC10-FD77-486E-A1DF-B46F575D1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7662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claim / PMID / DOI / source span</a:t>
            </a:r>
          </a:p>
        </p:txBody>
      </p:sp>
      <p:sp>
        <p:nvSpPr>
          <p:cNvPr id="10" name="row-line-1">
            <a:extLst xmlns:a="http://schemas.openxmlformats.org/drawingml/2006/main">
              <a:ext uri="{FF2B5EF4-FFF2-40B4-BE49-F238E27FC236}">
                <a16:creationId xmlns:a16="http://schemas.microsoft.com/office/drawing/2014/main" id="{67F9D9FC-C5F6-4545-90D6-EF98E72A4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60045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1" name="row-head-2">
            <a:extLst xmlns:a="http://schemas.openxmlformats.org/drawingml/2006/main">
              <a:ext uri="{FF2B5EF4-FFF2-40B4-BE49-F238E27FC236}">
                <a16:creationId xmlns:a16="http://schemas.microsoft.com/office/drawing/2014/main" id="{58E70A24-1A49-4449-BFF6-539C77034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57650"/>
            <a:ext cx="1619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12" name="row-copy-2">
            <a:extLst xmlns:a="http://schemas.openxmlformats.org/drawingml/2006/main">
              <a:ext uri="{FF2B5EF4-FFF2-40B4-BE49-F238E27FC236}">
                <a16:creationId xmlns:a16="http://schemas.microsoft.com/office/drawing/2014/main" id="{CDEF6005-7E83-4503-BBD2-A54AAC5B2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16242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gene symbol / citation / guideline / review</a:t>
            </a:r>
          </a:p>
        </p:txBody>
      </p:sp>
      <p:sp>
        <p:nvSpPr>
          <p:cNvPr id="13" name="row-line-2">
            <a:extLst xmlns:a="http://schemas.openxmlformats.org/drawingml/2006/main">
              <a:ext uri="{FF2B5EF4-FFF2-40B4-BE49-F238E27FC236}">
                <a16:creationId xmlns:a16="http://schemas.microsoft.com/office/drawing/2014/main" id="{D93ECD92-4936-46A6-B261-D3FC7F89C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28625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4" name="row-head-3">
            <a:extLst xmlns:a="http://schemas.openxmlformats.org/drawingml/2006/main">
              <a:ext uri="{FF2B5EF4-FFF2-40B4-BE49-F238E27FC236}">
                <a16:creationId xmlns:a16="http://schemas.microsoft.com/office/drawing/2014/main" id="{9ADE5D06-ECF3-4919-AAE7-A99DDBAF3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43450"/>
            <a:ext cx="1619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5" name="row-copy-3">
            <a:extLst xmlns:a="http://schemas.openxmlformats.org/drawingml/2006/main">
              <a:ext uri="{FF2B5EF4-FFF2-40B4-BE49-F238E27FC236}">
                <a16:creationId xmlns:a16="http://schemas.microsoft.com/office/drawing/2014/main" id="{CCF211B3-B8CA-45F4-ACB2-1366854BD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4822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table + research note + limitations</a:t>
            </a:r>
          </a:p>
        </p:txBody>
      </p:sp>
      <p:sp>
        <p:nvSpPr>
          <p:cNvPr id="16" name="row-line-3">
            <a:extLst xmlns:a="http://schemas.openxmlformats.org/drawingml/2006/main">
              <a:ext uri="{FF2B5EF4-FFF2-40B4-BE49-F238E27FC236}">
                <a16:creationId xmlns:a16="http://schemas.microsoft.com/office/drawing/2014/main" id="{C49AE236-8874-46B2-87DF-457BA9ED7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97205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7" name="note">
            <a:extLst xmlns:a="http://schemas.openxmlformats.org/drawingml/2006/main">
              <a:ext uri="{FF2B5EF4-FFF2-40B4-BE49-F238E27FC236}">
                <a16:creationId xmlns:a16="http://schemas.microsoft.com/office/drawing/2014/main" id="{161B8E70-952E-41ED-9068-94AC89190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7340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這堂課不追求一次產出完整答案，而是學會把任務拆成可檢查步驟。</a:t>
            </a:r>
          </a:p>
        </p:txBody>
      </p:sp>
    </p:spTree>
    <p:extLst>
      <p:ext uri="{BB962C8B-B14F-4D97-AF65-F5344CB8AC3E}">
        <p14:creationId xmlns:p14="http://schemas.microsoft.com/office/powerpoint/2010/main" val="117906355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CB792E8B-93E6-4A79-B401-D61D2CFBB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MATURITY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DFE6B78-4DA1-4725-8CB1-C19037526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不是單一型態，而是自動化程度的光譜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94465A97-E207-4DE6-8C17-6BB0C9A5B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7/22</a:t>
            </a:r>
          </a:p>
        </p:txBody>
      </p:sp>
      <p:sp>
        <p:nvSpPr>
          <p:cNvPr id="4" name="ladder-line">
            <a:extLst xmlns:a="http://schemas.openxmlformats.org/drawingml/2006/main">
              <a:ext uri="{FF2B5EF4-FFF2-40B4-BE49-F238E27FC236}">
                <a16:creationId xmlns:a16="http://schemas.microsoft.com/office/drawing/2014/main" id="{5BD9E812-5DCC-475D-943B-2999C2D74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314700"/>
            <a:ext cx="9448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5" name="level-0">
            <a:extLst xmlns:a="http://schemas.openxmlformats.org/drawingml/2006/main">
              <a:ext uri="{FF2B5EF4-FFF2-40B4-BE49-F238E27FC236}">
                <a16:creationId xmlns:a16="http://schemas.microsoft.com/office/drawing/2014/main" id="{EFFAE30A-DCA7-447C-A124-0BD3FCE0A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Chatbot</a:t>
            </a:r>
          </a:p>
        </p:txBody>
      </p:sp>
      <p:sp>
        <p:nvSpPr>
          <p:cNvPr id="6" name="level-copy-0">
            <a:extLst xmlns:a="http://schemas.openxmlformats.org/drawingml/2006/main">
              <a:ext uri="{FF2B5EF4-FFF2-40B4-BE49-F238E27FC236}">
                <a16:creationId xmlns:a16="http://schemas.microsoft.com/office/drawing/2014/main" id="{22145540-3BEA-45A1-9006-6817C5F04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76650"/>
            <a:ext cx="1638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回答問題</a:t>
            </a:r>
          </a:p>
        </p:txBody>
      </p:sp>
      <p:sp>
        <p:nvSpPr>
          <p:cNvPr id="7" name="level-1">
            <a:extLst xmlns:a="http://schemas.openxmlformats.org/drawingml/2006/main">
              <a:ext uri="{FF2B5EF4-FFF2-40B4-BE49-F238E27FC236}">
                <a16:creationId xmlns:a16="http://schemas.microsoft.com/office/drawing/2014/main" id="{0617F769-D001-4B50-87D0-758656CDA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55270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Assistant</a:t>
            </a:r>
          </a:p>
        </p:txBody>
      </p:sp>
      <p:sp>
        <p:nvSpPr>
          <p:cNvPr id="8" name="level-copy-1">
            <a:extLst xmlns:a="http://schemas.openxmlformats.org/drawingml/2006/main">
              <a:ext uri="{FF2B5EF4-FFF2-40B4-BE49-F238E27FC236}">
                <a16:creationId xmlns:a16="http://schemas.microsoft.com/office/drawing/2014/main" id="{A285FE66-5065-465C-9131-814015459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676650"/>
            <a:ext cx="1638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摘要與整理</a:t>
            </a:r>
          </a:p>
        </p:txBody>
      </p:sp>
      <p:sp>
        <p:nvSpPr>
          <p:cNvPr id="9" name="level-2">
            <a:extLst xmlns:a="http://schemas.openxmlformats.org/drawingml/2006/main">
              <a:ext uri="{FF2B5EF4-FFF2-40B4-BE49-F238E27FC236}">
                <a16:creationId xmlns:a16="http://schemas.microsoft.com/office/drawing/2014/main" id="{42D60CAF-0238-4E14-B76A-BB9C0E12A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55270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 user</a:t>
            </a:r>
          </a:p>
        </p:txBody>
      </p:sp>
      <p:sp>
        <p:nvSpPr>
          <p:cNvPr id="10" name="level-copy-2">
            <a:extLst xmlns:a="http://schemas.openxmlformats.org/drawingml/2006/main">
              <a:ext uri="{FF2B5EF4-FFF2-40B4-BE49-F238E27FC236}">
                <a16:creationId xmlns:a16="http://schemas.microsoft.com/office/drawing/2014/main" id="{9FB9BA74-DAE4-43DB-9F67-866D3F2A2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676650"/>
            <a:ext cx="1638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查資料、讀檔、跑工具</a:t>
            </a:r>
          </a:p>
        </p:txBody>
      </p:sp>
      <p:sp>
        <p:nvSpPr>
          <p:cNvPr id="11" name="level-3">
            <a:extLst xmlns:a="http://schemas.openxmlformats.org/drawingml/2006/main">
              <a:ext uri="{FF2B5EF4-FFF2-40B4-BE49-F238E27FC236}">
                <a16:creationId xmlns:a16="http://schemas.microsoft.com/office/drawing/2014/main" id="{19A7E410-AABE-4318-8825-C38CC6C9E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55270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Workflow agent</a:t>
            </a:r>
          </a:p>
        </p:txBody>
      </p:sp>
      <p:sp>
        <p:nvSpPr>
          <p:cNvPr id="12" name="level-copy-3">
            <a:extLst xmlns:a="http://schemas.openxmlformats.org/drawingml/2006/main">
              <a:ext uri="{FF2B5EF4-FFF2-40B4-BE49-F238E27FC236}">
                <a16:creationId xmlns:a16="http://schemas.microsoft.com/office/drawing/2014/main" id="{7A5053F9-B324-4A83-89DC-C4DE44E36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676650"/>
            <a:ext cx="1638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多步驟執行與檢查</a:t>
            </a:r>
          </a:p>
        </p:txBody>
      </p:sp>
      <p:sp>
        <p:nvSpPr>
          <p:cNvPr id="13" name="level-4">
            <a:extLst xmlns:a="http://schemas.openxmlformats.org/drawingml/2006/main">
              <a:ext uri="{FF2B5EF4-FFF2-40B4-BE49-F238E27FC236}">
                <a16:creationId xmlns:a16="http://schemas.microsoft.com/office/drawing/2014/main" id="{FA2DB73B-19EC-4131-90F2-6D47BD2AE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55270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12859">
            <a:solidFill>
              <a:srgbClr val="C85A4A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Autonomous</a:t>
            </a:r>
          </a:p>
        </p:txBody>
      </p:sp>
      <p:sp>
        <p:nvSpPr>
          <p:cNvPr id="14" name="level-copy-4">
            <a:extLst xmlns:a="http://schemas.openxmlformats.org/drawingml/2006/main">
              <a:ext uri="{FF2B5EF4-FFF2-40B4-BE49-F238E27FC236}">
                <a16:creationId xmlns:a16="http://schemas.microsoft.com/office/drawing/2014/main" id="{15343A78-DB3B-4E32-8D19-2755A2D51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676650"/>
            <a:ext cx="1638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長時間自行操作</a:t>
            </a:r>
          </a:p>
        </p:txBody>
      </p:sp>
      <p:sp>
        <p:nvSpPr>
          <p:cNvPr id="15" name="takeaway">
            <a:extLst xmlns:a="http://schemas.openxmlformats.org/drawingml/2006/main">
              <a:ext uri="{FF2B5EF4-FFF2-40B4-BE49-F238E27FC236}">
                <a16:creationId xmlns:a16="http://schemas.microsoft.com/office/drawing/2014/main" id="{9E7560C3-3085-496E-AEB5-D181F535C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25780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本課程的重點在 tool-using 與 workflow agent，不鼓勵無監督 autonomous use。</a:t>
            </a:r>
          </a:p>
        </p:txBody>
      </p:sp>
    </p:spTree>
    <p:extLst>
      <p:ext uri="{BB962C8B-B14F-4D97-AF65-F5344CB8AC3E}">
        <p14:creationId xmlns:p14="http://schemas.microsoft.com/office/powerpoint/2010/main" val="120859805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468EF856-01F6-4A80-8DAA-437E02A09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CHATBOT VS AGENT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0367BB6-7926-4EA9-A48D-5F071350B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Chatbot 產生回答；agent 交付可檢查 artifact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6E11C8F9-7317-42AE-8CB9-2307AB521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8/22</a:t>
            </a:r>
          </a:p>
        </p:txBody>
      </p:sp>
      <p:sp>
        <p:nvSpPr>
          <p:cNvPr id="4" name="left">
            <a:extLst xmlns:a="http://schemas.openxmlformats.org/drawingml/2006/main">
              <a:ext uri="{FF2B5EF4-FFF2-40B4-BE49-F238E27FC236}">
                <a16:creationId xmlns:a16="http://schemas.microsoft.com/office/drawing/2014/main" id="{D32C00EC-93BD-4954-9BD8-0FF32A115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43100"/>
            <a:ext cx="4572000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5" name="right">
            <a:extLst xmlns:a="http://schemas.openxmlformats.org/drawingml/2006/main">
              <a:ext uri="{FF2B5EF4-FFF2-40B4-BE49-F238E27FC236}">
                <a16:creationId xmlns:a16="http://schemas.microsoft.com/office/drawing/2014/main" id="{35BE6529-C0C2-4710-A9B9-C74DE3034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943100"/>
            <a:ext cx="4572000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6" name="left-title">
            <a:extLst xmlns:a="http://schemas.openxmlformats.org/drawingml/2006/main">
              <a:ext uri="{FF2B5EF4-FFF2-40B4-BE49-F238E27FC236}">
                <a16:creationId xmlns:a16="http://schemas.microsoft.com/office/drawing/2014/main" id="{4E7413B3-A2C2-40D1-80C8-4E064F7B7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20980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Chatbot answer</a:t>
            </a:r>
          </a:p>
        </p:txBody>
      </p:sp>
      <p:sp>
        <p:nvSpPr>
          <p:cNvPr id="7" name="right-title">
            <a:extLst xmlns:a="http://schemas.openxmlformats.org/drawingml/2006/main">
              <a:ext uri="{FF2B5EF4-FFF2-40B4-BE49-F238E27FC236}">
                <a16:creationId xmlns:a16="http://schemas.microsoft.com/office/drawing/2014/main" id="{7EFA1294-3319-4861-A606-995DC7FF3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20980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workflow</a:t>
            </a:r>
          </a:p>
        </p:txBody>
      </p:sp>
      <p:sp>
        <p:nvSpPr>
          <p:cNvPr id="8" name="prompt">
            <a:extLst xmlns:a="http://schemas.openxmlformats.org/drawingml/2006/main">
              <a:ext uri="{FF2B5EF4-FFF2-40B4-BE49-F238E27FC236}">
                <a16:creationId xmlns:a16="http://schemas.microsoft.com/office/drawing/2014/main" id="{D955F545-AD49-4154-BB49-9A272B3D2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181350"/>
            <a:ext cx="12573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Prompt</a:t>
            </a:r>
          </a:p>
        </p:txBody>
      </p:sp>
      <p:sp>
        <p:nvSpPr>
          <p:cNvPr id="9" name="response">
            <a:extLst xmlns:a="http://schemas.openxmlformats.org/drawingml/2006/main">
              <a:ext uri="{FF2B5EF4-FFF2-40B4-BE49-F238E27FC236}">
                <a16:creationId xmlns:a16="http://schemas.microsoft.com/office/drawing/2014/main" id="{0A45F129-897C-4A5A-ACBD-B3CDF6A91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181350"/>
            <a:ext cx="13525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Response</a:t>
            </a:r>
          </a:p>
        </p:txBody>
      </p:sp>
      <p:sp>
        <p:nvSpPr>
          <p:cNvPr id="10" name="chat-line">
            <a:extLst xmlns:a="http://schemas.openxmlformats.org/drawingml/2006/main">
              <a:ext uri="{FF2B5EF4-FFF2-40B4-BE49-F238E27FC236}">
                <a16:creationId xmlns:a16="http://schemas.microsoft.com/office/drawing/2014/main" id="{21354906-17A0-4C57-9451-AAA451208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438525"/>
            <a:ext cx="1028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5C6670"/>
            </a:solidFill>
            <a:prstDash val="solid"/>
          </a:ln>
        </p:spPr>
      </p:sp>
      <p:sp>
        <p:nvSpPr>
          <p:cNvPr id="11" name="left-copy">
            <a:extLst xmlns:a="http://schemas.openxmlformats.org/drawingml/2006/main">
              <a:ext uri="{FF2B5EF4-FFF2-40B4-BE49-F238E27FC236}">
                <a16:creationId xmlns:a16="http://schemas.microsoft.com/office/drawing/2014/main" id="{0F91F212-85F9-4DB8-B87C-D42B36E10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100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看起來完整，但來源、欄位與限制常不清楚。</a:t>
            </a:r>
          </a:p>
        </p:txBody>
      </p:sp>
      <p:sp>
        <p:nvSpPr>
          <p:cNvPr id="12" name="a1">
            <a:extLst xmlns:a="http://schemas.openxmlformats.org/drawingml/2006/main">
              <a:ext uri="{FF2B5EF4-FFF2-40B4-BE49-F238E27FC236}">
                <a16:creationId xmlns:a16="http://schemas.microsoft.com/office/drawing/2014/main" id="{A5740EE4-3F0F-4FBD-8637-A858A4760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257550"/>
            <a:ext cx="514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446A8"/>
            </a:solidFill>
            <a:prstDash val="solid"/>
          </a:ln>
        </p:spPr>
      </p:sp>
      <p:sp>
        <p:nvSpPr>
          <p:cNvPr id="13" name="a2">
            <a:extLst xmlns:a="http://schemas.openxmlformats.org/drawingml/2006/main">
              <a:ext uri="{FF2B5EF4-FFF2-40B4-BE49-F238E27FC236}">
                <a16:creationId xmlns:a16="http://schemas.microsoft.com/office/drawing/2014/main" id="{AE58E75E-96DE-4630-A092-2A264F4BF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257550"/>
            <a:ext cx="514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E8F88"/>
            </a:solidFill>
            <a:prstDash val="solid"/>
          </a:ln>
        </p:spPr>
      </p:sp>
      <p:sp>
        <p:nvSpPr>
          <p:cNvPr id="14" name="a3">
            <a:extLst xmlns:a="http://schemas.openxmlformats.org/drawingml/2006/main">
              <a:ext uri="{FF2B5EF4-FFF2-40B4-BE49-F238E27FC236}">
                <a16:creationId xmlns:a16="http://schemas.microsoft.com/office/drawing/2014/main" id="{66C0A219-692D-422E-AEA1-B1FCFAC22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543300"/>
            <a:ext cx="0" cy="457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5" name="a4">
            <a:extLst xmlns:a="http://schemas.openxmlformats.org/drawingml/2006/main">
              <a:ext uri="{FF2B5EF4-FFF2-40B4-BE49-F238E27FC236}">
                <a16:creationId xmlns:a16="http://schemas.microsoft.com/office/drawing/2014/main" id="{EFE12EB4-99C9-4B95-A8AF-E8B7C9643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2291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6" name="agent-Goal">
            <a:extLst xmlns:a="http://schemas.openxmlformats.org/drawingml/2006/main">
              <a:ext uri="{FF2B5EF4-FFF2-40B4-BE49-F238E27FC236}">
                <a16:creationId xmlns:a16="http://schemas.microsoft.com/office/drawing/2014/main" id="{1A7705F7-2F1C-40E5-B0D3-91EDEC601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028950"/>
            <a:ext cx="10287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17" name="agent-Tools">
            <a:extLst xmlns:a="http://schemas.openxmlformats.org/drawingml/2006/main">
              <a:ext uri="{FF2B5EF4-FFF2-40B4-BE49-F238E27FC236}">
                <a16:creationId xmlns:a16="http://schemas.microsoft.com/office/drawing/2014/main" id="{CEA45830-3EC2-4038-800E-9E8503033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28950"/>
            <a:ext cx="10287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18" name="agent-Evidence">
            <a:extLst xmlns:a="http://schemas.openxmlformats.org/drawingml/2006/main">
              <a:ext uri="{FF2B5EF4-FFF2-40B4-BE49-F238E27FC236}">
                <a16:creationId xmlns:a16="http://schemas.microsoft.com/office/drawing/2014/main" id="{80C09FBA-0332-4C7D-8B63-D8CAC988D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028950"/>
            <a:ext cx="10287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19" name="agent-Verify">
            <a:extLst xmlns:a="http://schemas.openxmlformats.org/drawingml/2006/main">
              <a:ext uri="{FF2B5EF4-FFF2-40B4-BE49-F238E27FC236}">
                <a16:creationId xmlns:a16="http://schemas.microsoft.com/office/drawing/2014/main" id="{D66971A7-9C5B-4817-8942-3690C448D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000500"/>
            <a:ext cx="10287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20" name="agent-Artifact">
            <a:extLst xmlns:a="http://schemas.openxmlformats.org/drawingml/2006/main">
              <a:ext uri="{FF2B5EF4-FFF2-40B4-BE49-F238E27FC236}">
                <a16:creationId xmlns:a16="http://schemas.microsoft.com/office/drawing/2014/main" id="{2557F1C5-A7A7-4D5B-BE60-06C1438A8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000500"/>
            <a:ext cx="10287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Artifact</a:t>
            </a:r>
          </a:p>
        </p:txBody>
      </p:sp>
      <p:sp>
        <p:nvSpPr>
          <p:cNvPr id="21" name="right-copy">
            <a:extLst xmlns:a="http://schemas.openxmlformats.org/drawingml/2006/main">
              <a:ext uri="{FF2B5EF4-FFF2-40B4-BE49-F238E27FC236}">
                <a16:creationId xmlns:a16="http://schemas.microsoft.com/office/drawing/2014/main" id="{07C370A0-26C4-46A0-A7EB-D1E8D52D8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0673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重點不是更像人，而是能留下可審核輸出。</a:t>
            </a:r>
          </a:p>
        </p:txBody>
      </p:sp>
    </p:spTree>
    <p:extLst>
      <p:ext uri="{BB962C8B-B14F-4D97-AF65-F5344CB8AC3E}">
        <p14:creationId xmlns:p14="http://schemas.microsoft.com/office/powerpoint/2010/main" val="210621463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55954012-AC8F-47F3-A603-C98C699CD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AGENT COMPONENTS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F04A72A-31E4-4A8C-B58F-D96288A4E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可靠 agent 由元件與邊界組成，不只是一個模型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AB5AE7DA-4E17-41BB-B6EC-1FAED1EA4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9/22</a:t>
            </a:r>
          </a:p>
        </p:txBody>
      </p:sp>
      <p:sp>
        <p:nvSpPr>
          <p:cNvPr id="4" name="workflow-boundary">
            <a:extLst xmlns:a="http://schemas.openxmlformats.org/drawingml/2006/main">
              <a:ext uri="{FF2B5EF4-FFF2-40B4-BE49-F238E27FC236}">
                <a16:creationId xmlns:a16="http://schemas.microsoft.com/office/drawing/2014/main" id="{1CBA5792-6F13-47F8-9C28-F36A07329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924050"/>
            <a:ext cx="9829800" cy="4057650"/>
          </a:xfrm>
          <a:prstGeom xmlns:a="http://schemas.openxmlformats.org/drawingml/2006/main" prst="roundRect">
            <a:avLst>
              <a:gd name="adj" fmla="val 1878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dash"/>
          </a:ln>
        </p:spPr>
      </p:sp>
      <p:sp>
        <p:nvSpPr>
          <p:cNvPr id="5" name="boundary-label">
            <a:extLst xmlns:a="http://schemas.openxmlformats.org/drawingml/2006/main">
              <a:ext uri="{FF2B5EF4-FFF2-40B4-BE49-F238E27FC236}">
                <a16:creationId xmlns:a16="http://schemas.microsoft.com/office/drawing/2014/main" id="{E44AF515-69A8-4F29-AA81-7F8E3E5A3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0193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workflow boundary</a:t>
            </a:r>
          </a:p>
        </p:txBody>
      </p:sp>
      <p:sp>
        <p:nvSpPr>
          <p:cNvPr id="6" name="goal-to-model">
            <a:extLst xmlns:a="http://schemas.openxmlformats.org/drawingml/2006/main">
              <a:ext uri="{FF2B5EF4-FFF2-40B4-BE49-F238E27FC236}">
                <a16:creationId xmlns:a16="http://schemas.microsoft.com/office/drawing/2014/main" id="{49765D16-DAFE-4813-8CDC-7C63AA1F9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67000"/>
            <a:ext cx="0" cy="36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4DADD"/>
            </a:solidFill>
            <a:prstDash val="solid"/>
          </a:ln>
        </p:spPr>
      </p:sp>
      <p:sp>
        <p:nvSpPr>
          <p:cNvPr id="7" name="context-to-model">
            <a:extLst xmlns:a="http://schemas.openxmlformats.org/drawingml/2006/main">
              <a:ext uri="{FF2B5EF4-FFF2-40B4-BE49-F238E27FC236}">
                <a16:creationId xmlns:a16="http://schemas.microsoft.com/office/drawing/2014/main" id="{18E891AF-D4A0-4DCA-8AF7-13A0E94D1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390900"/>
            <a:ext cx="110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4DADD"/>
            </a:solidFill>
            <a:prstDash val="solid"/>
          </a:ln>
        </p:spPr>
      </p:sp>
      <p:sp>
        <p:nvSpPr>
          <p:cNvPr id="8" name="model-to-tools">
            <a:extLst xmlns:a="http://schemas.openxmlformats.org/drawingml/2006/main">
              <a:ext uri="{FF2B5EF4-FFF2-40B4-BE49-F238E27FC236}">
                <a16:creationId xmlns:a16="http://schemas.microsoft.com/office/drawing/2014/main" id="{01DFFF9A-632F-4169-85BD-6CDAFD1AE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390900"/>
            <a:ext cx="110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4DADD"/>
            </a:solidFill>
            <a:prstDash val="solid"/>
          </a:ln>
        </p:spPr>
      </p:sp>
      <p:sp>
        <p:nvSpPr>
          <p:cNvPr id="9" name="model-to-state">
            <a:extLst xmlns:a="http://schemas.openxmlformats.org/drawingml/2006/main">
              <a:ext uri="{FF2B5EF4-FFF2-40B4-BE49-F238E27FC236}">
                <a16:creationId xmlns:a16="http://schemas.microsoft.com/office/drawing/2014/main" id="{86D9E2CF-8E09-4779-9107-3601D4BCD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752850"/>
            <a:ext cx="0" cy="457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4DADD"/>
            </a:solidFill>
            <a:prstDash val="solid"/>
          </a:ln>
        </p:spPr>
      </p:sp>
      <p:sp>
        <p:nvSpPr>
          <p:cNvPr id="10" name="state-to-verify">
            <a:extLst xmlns:a="http://schemas.openxmlformats.org/drawingml/2006/main">
              <a:ext uri="{FF2B5EF4-FFF2-40B4-BE49-F238E27FC236}">
                <a16:creationId xmlns:a16="http://schemas.microsoft.com/office/drawing/2014/main" id="{608CA03F-C575-459C-B3FE-D7F8E760B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800600"/>
            <a:ext cx="0" cy="36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4DADD"/>
            </a:solidFill>
            <a:prstDash val="solid"/>
          </a:ln>
        </p:spPr>
      </p:sp>
      <p:sp>
        <p:nvSpPr>
          <p:cNvPr id="11" name="node-Goal">
            <a:extLst xmlns:a="http://schemas.openxmlformats.org/drawingml/2006/main">
              <a:ext uri="{FF2B5EF4-FFF2-40B4-BE49-F238E27FC236}">
                <a16:creationId xmlns:a16="http://schemas.microsoft.com/office/drawing/2014/main" id="{5E7E5CEB-2A67-4B01-96B3-921DC55DD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076450"/>
            <a:ext cx="1981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Goal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成功條件</a:t>
            </a:r>
          </a:p>
        </p:txBody>
      </p:sp>
      <p:sp>
        <p:nvSpPr>
          <p:cNvPr id="12" name="node-Context">
            <a:extLst xmlns:a="http://schemas.openxmlformats.org/drawingml/2006/main">
              <a:ext uri="{FF2B5EF4-FFF2-40B4-BE49-F238E27FC236}">
                <a16:creationId xmlns:a16="http://schemas.microsoft.com/office/drawing/2014/main" id="{9DA29113-D792-4BC8-8C15-71B8C9968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086100"/>
            <a:ext cx="22098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Context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任務、資料、限制</a:t>
            </a:r>
          </a:p>
        </p:txBody>
      </p:sp>
      <p:sp>
        <p:nvSpPr>
          <p:cNvPr id="13" name="model">
            <a:extLst xmlns:a="http://schemas.openxmlformats.org/drawingml/2006/main">
              <a:ext uri="{FF2B5EF4-FFF2-40B4-BE49-F238E27FC236}">
                <a16:creationId xmlns:a16="http://schemas.microsoft.com/office/drawing/2014/main" id="{FD0D4871-3522-4399-AC8F-CA35D4A1F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028950"/>
            <a:ext cx="19812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Model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推理與生成</a:t>
            </a:r>
          </a:p>
        </p:txBody>
      </p:sp>
      <p:sp>
        <p:nvSpPr>
          <p:cNvPr id="14" name="node-Tools">
            <a:extLst xmlns:a="http://schemas.openxmlformats.org/drawingml/2006/main">
              <a:ext uri="{FF2B5EF4-FFF2-40B4-BE49-F238E27FC236}">
                <a16:creationId xmlns:a16="http://schemas.microsoft.com/office/drawing/2014/main" id="{7DDAD963-22BA-433A-BADF-BD19C2291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086100"/>
            <a:ext cx="22098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Tools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搜尋、讀檔、查 DB</a:t>
            </a:r>
          </a:p>
        </p:txBody>
      </p:sp>
      <p:sp>
        <p:nvSpPr>
          <p:cNvPr id="15" name="node-State">
            <a:extLst xmlns:a="http://schemas.openxmlformats.org/drawingml/2006/main">
              <a:ext uri="{FF2B5EF4-FFF2-40B4-BE49-F238E27FC236}">
                <a16:creationId xmlns:a16="http://schemas.microsoft.com/office/drawing/2014/main" id="{C928F52B-2F72-406D-891F-10C4FB109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210050"/>
            <a:ext cx="1981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State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進度與中間結果</a:t>
            </a:r>
          </a:p>
        </p:txBody>
      </p:sp>
      <p:sp>
        <p:nvSpPr>
          <p:cNvPr id="16" name="node-Verification">
            <a:extLst xmlns:a="http://schemas.openxmlformats.org/drawingml/2006/main">
              <a:ext uri="{FF2B5EF4-FFF2-40B4-BE49-F238E27FC236}">
                <a16:creationId xmlns:a16="http://schemas.microsoft.com/office/drawing/2014/main" id="{93D8FED5-D543-4C50-97E2-95B2EA467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162550"/>
            <a:ext cx="1981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Verification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檢查與停止條件</a:t>
            </a:r>
          </a:p>
        </p:txBody>
      </p:sp>
    </p:spTree>
    <p:extLst>
      <p:ext uri="{BB962C8B-B14F-4D97-AF65-F5344CB8AC3E}">
        <p14:creationId xmlns:p14="http://schemas.microsoft.com/office/powerpoint/2010/main" val="122559231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CD3A54BE-BF4F-4945-9E46-FFE4CDAD3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LOOP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38B97DF-EB4F-4CF2-8981-EBF5A62A1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的核心是一個會觀察、修正與停止的循環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CA325D84-5789-4731-9154-9D7BA8654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10/22</a:t>
            </a:r>
          </a:p>
        </p:txBody>
      </p:sp>
      <p:sp>
        <p:nvSpPr>
          <p:cNvPr id="4" name="goal-plan-a">
            <a:extLst xmlns:a="http://schemas.openxmlformats.org/drawingml/2006/main">
              <a:ext uri="{FF2B5EF4-FFF2-40B4-BE49-F238E27FC236}">
                <a16:creationId xmlns:a16="http://schemas.microsoft.com/office/drawing/2014/main" id="{66042FB9-8A9C-4F45-8C51-645DE4530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670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446A8"/>
            </a:solidFill>
            <a:prstDash val="solid"/>
          </a:ln>
        </p:spPr>
      </p:sp>
      <p:sp>
        <p:nvSpPr>
          <p:cNvPr id="5" name="goal-plan-b">
            <a:extLst xmlns:a="http://schemas.openxmlformats.org/drawingml/2006/main">
              <a:ext uri="{FF2B5EF4-FFF2-40B4-BE49-F238E27FC236}">
                <a16:creationId xmlns:a16="http://schemas.microsoft.com/office/drawing/2014/main" id="{5011D647-67F9-47FA-BF13-396127057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190750"/>
            <a:ext cx="0" cy="876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446A8"/>
            </a:solidFill>
            <a:prstDash val="solid"/>
          </a:ln>
        </p:spPr>
      </p:sp>
      <p:sp>
        <p:nvSpPr>
          <p:cNvPr id="6" name="goal-plan-c">
            <a:extLst xmlns:a="http://schemas.openxmlformats.org/drawingml/2006/main">
              <a:ext uri="{FF2B5EF4-FFF2-40B4-BE49-F238E27FC236}">
                <a16:creationId xmlns:a16="http://schemas.microsoft.com/office/drawing/2014/main" id="{8A8FC629-16D9-4256-93EF-166B516AB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190750"/>
            <a:ext cx="22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446A8"/>
            </a:solidFill>
            <a:prstDash val="solid"/>
          </a:ln>
        </p:spPr>
      </p:sp>
      <p:sp>
        <p:nvSpPr>
          <p:cNvPr id="7" name="plan-act">
            <a:extLst xmlns:a="http://schemas.openxmlformats.org/drawingml/2006/main">
              <a:ext uri="{FF2B5EF4-FFF2-40B4-BE49-F238E27FC236}">
                <a16:creationId xmlns:a16="http://schemas.microsoft.com/office/drawing/2014/main" id="{2BA92D9F-D613-4D7B-B457-0925D678C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190750"/>
            <a:ext cx="1200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446A8"/>
            </a:solidFill>
            <a:prstDash val="solid"/>
          </a:ln>
        </p:spPr>
      </p:sp>
      <p:sp>
        <p:nvSpPr>
          <p:cNvPr id="8" name="act-observe-a">
            <a:extLst xmlns:a="http://schemas.openxmlformats.org/drawingml/2006/main">
              <a:ext uri="{FF2B5EF4-FFF2-40B4-BE49-F238E27FC236}">
                <a16:creationId xmlns:a16="http://schemas.microsoft.com/office/drawing/2014/main" id="{54DC4FA0-9756-498B-BE18-436C15788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190750"/>
            <a:ext cx="533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E8F88"/>
            </a:solidFill>
            <a:prstDash val="solid"/>
          </a:ln>
        </p:spPr>
      </p:sp>
      <p:sp>
        <p:nvSpPr>
          <p:cNvPr id="9" name="act-observe-b">
            <a:extLst xmlns:a="http://schemas.openxmlformats.org/drawingml/2006/main">
              <a:ext uri="{FF2B5EF4-FFF2-40B4-BE49-F238E27FC236}">
                <a16:creationId xmlns:a16="http://schemas.microsoft.com/office/drawing/2014/main" id="{833DEE4D-6D77-4A1C-86DB-7F347FDDC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190750"/>
            <a:ext cx="0" cy="876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E8F88"/>
            </a:solidFill>
            <a:prstDash val="solid"/>
          </a:ln>
        </p:spPr>
      </p:sp>
      <p:sp>
        <p:nvSpPr>
          <p:cNvPr id="10" name="act-observe-c">
            <a:extLst xmlns:a="http://schemas.openxmlformats.org/drawingml/2006/main">
              <a:ext uri="{FF2B5EF4-FFF2-40B4-BE49-F238E27FC236}">
                <a16:creationId xmlns:a16="http://schemas.microsoft.com/office/drawing/2014/main" id="{A53C7312-72DC-46F0-A999-766458A23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0670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E8F88"/>
            </a:solidFill>
            <a:prstDash val="solid"/>
          </a:ln>
        </p:spPr>
      </p:sp>
      <p:sp>
        <p:nvSpPr>
          <p:cNvPr id="11" name="observe-verify-a">
            <a:extLst xmlns:a="http://schemas.openxmlformats.org/drawingml/2006/main">
              <a:ext uri="{FF2B5EF4-FFF2-40B4-BE49-F238E27FC236}">
                <a16:creationId xmlns:a16="http://schemas.microsoft.com/office/drawing/2014/main" id="{FBF50682-5654-4856-B756-EB53A9833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333750"/>
            <a:ext cx="0" cy="666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2" name="observe-verify-b">
            <a:extLst xmlns:a="http://schemas.openxmlformats.org/drawingml/2006/main">
              <a:ext uri="{FF2B5EF4-FFF2-40B4-BE49-F238E27FC236}">
                <a16:creationId xmlns:a16="http://schemas.microsoft.com/office/drawing/2014/main" id="{AC9DC02D-B833-48C8-8377-89416BCBD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4000500"/>
            <a:ext cx="2238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3" name="observe-verify-c">
            <a:extLst xmlns:a="http://schemas.openxmlformats.org/drawingml/2006/main">
              <a:ext uri="{FF2B5EF4-FFF2-40B4-BE49-F238E27FC236}">
                <a16:creationId xmlns:a16="http://schemas.microsoft.com/office/drawing/2014/main" id="{C47B8582-FB80-4E4D-901A-A521CC91B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4000500"/>
            <a:ext cx="0" cy="438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4" name="verify-state">
            <a:extLst xmlns:a="http://schemas.openxmlformats.org/drawingml/2006/main">
              <a:ext uri="{FF2B5EF4-FFF2-40B4-BE49-F238E27FC236}">
                <a16:creationId xmlns:a16="http://schemas.microsoft.com/office/drawing/2014/main" id="{070C177B-4C7B-45C5-86BE-3DE811244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743450"/>
            <a:ext cx="114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5" name="state-goal-a">
            <a:extLst xmlns:a="http://schemas.openxmlformats.org/drawingml/2006/main">
              <a:ext uri="{FF2B5EF4-FFF2-40B4-BE49-F238E27FC236}">
                <a16:creationId xmlns:a16="http://schemas.microsoft.com/office/drawing/2014/main" id="{ED7E6827-940E-4DD6-BDD4-7ED397C97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4345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5C6670"/>
            </a:solidFill>
            <a:prstDash val="dash"/>
          </a:ln>
        </p:spPr>
      </p:sp>
      <p:sp>
        <p:nvSpPr>
          <p:cNvPr id="16" name="state-goal-b">
            <a:extLst xmlns:a="http://schemas.openxmlformats.org/drawingml/2006/main">
              <a:ext uri="{FF2B5EF4-FFF2-40B4-BE49-F238E27FC236}">
                <a16:creationId xmlns:a16="http://schemas.microsoft.com/office/drawing/2014/main" id="{E732C75B-2E38-4255-A566-6A52466F4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67050"/>
            <a:ext cx="0" cy="1676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5C6670"/>
            </a:solidFill>
            <a:prstDash val="dash"/>
          </a:ln>
        </p:spPr>
      </p:sp>
      <p:sp>
        <p:nvSpPr>
          <p:cNvPr id="17" name="state-goal-c">
            <a:extLst xmlns:a="http://schemas.openxmlformats.org/drawingml/2006/main">
              <a:ext uri="{FF2B5EF4-FFF2-40B4-BE49-F238E27FC236}">
                <a16:creationId xmlns:a16="http://schemas.microsoft.com/office/drawing/2014/main" id="{74F01B9E-7B08-4324-9F3E-6A62068F9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67050"/>
            <a:ext cx="38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5C6670"/>
            </a:solidFill>
            <a:prstDash val="dash"/>
          </a:ln>
        </p:spPr>
      </p:sp>
      <p:sp>
        <p:nvSpPr>
          <p:cNvPr id="18" name="goal">
            <a:extLst xmlns:a="http://schemas.openxmlformats.org/drawingml/2006/main">
              <a:ext uri="{FF2B5EF4-FFF2-40B4-BE49-F238E27FC236}">
                <a16:creationId xmlns:a16="http://schemas.microsoft.com/office/drawing/2014/main" id="{7E6901FA-C3FA-49F9-BD67-EF1EC269E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800350"/>
            <a:ext cx="11049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4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19" name="plan">
            <a:extLst xmlns:a="http://schemas.openxmlformats.org/drawingml/2006/main">
              <a:ext uri="{FF2B5EF4-FFF2-40B4-BE49-F238E27FC236}">
                <a16:creationId xmlns:a16="http://schemas.microsoft.com/office/drawing/2014/main" id="{DFE55F85-1F74-4710-B5C3-5A76736D0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924050"/>
            <a:ext cx="11049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20" name="act">
            <a:extLst xmlns:a="http://schemas.openxmlformats.org/drawingml/2006/main">
              <a:ext uri="{FF2B5EF4-FFF2-40B4-BE49-F238E27FC236}">
                <a16:creationId xmlns:a16="http://schemas.microsoft.com/office/drawing/2014/main" id="{078C9B3A-B4B9-4F51-ADF5-A1EEF8595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885950"/>
            <a:ext cx="13144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Act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with tools</a:t>
            </a:r>
          </a:p>
        </p:txBody>
      </p:sp>
      <p:sp>
        <p:nvSpPr>
          <p:cNvPr id="21" name="observe">
            <a:extLst xmlns:a="http://schemas.openxmlformats.org/drawingml/2006/main">
              <a:ext uri="{FF2B5EF4-FFF2-40B4-BE49-F238E27FC236}">
                <a16:creationId xmlns:a16="http://schemas.microsoft.com/office/drawing/2014/main" id="{60B44C33-367E-41EA-8D09-D35B45643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800350"/>
            <a:ext cx="12192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Observe</a:t>
            </a:r>
          </a:p>
        </p:txBody>
      </p:sp>
      <p:sp>
        <p:nvSpPr>
          <p:cNvPr id="22" name="verify">
            <a:extLst xmlns:a="http://schemas.openxmlformats.org/drawingml/2006/main">
              <a:ext uri="{FF2B5EF4-FFF2-40B4-BE49-F238E27FC236}">
                <a16:creationId xmlns:a16="http://schemas.microsoft.com/office/drawing/2014/main" id="{5BFD9C79-D7B2-4919-972B-B7285060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438650"/>
            <a:ext cx="13144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23" name="state">
            <a:extLst xmlns:a="http://schemas.openxmlformats.org/drawingml/2006/main">
              <a:ext uri="{FF2B5EF4-FFF2-40B4-BE49-F238E27FC236}">
                <a16:creationId xmlns:a16="http://schemas.microsoft.com/office/drawing/2014/main" id="{FACAA41F-93B4-4FCF-B473-5635CB4D6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438650"/>
            <a:ext cx="11811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Update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state</a:t>
            </a:r>
          </a:p>
        </p:txBody>
      </p:sp>
      <p:sp>
        <p:nvSpPr>
          <p:cNvPr id="24" name="human">
            <a:extLst xmlns:a="http://schemas.openxmlformats.org/drawingml/2006/main">
              <a:ext uri="{FF2B5EF4-FFF2-40B4-BE49-F238E27FC236}">
                <a16:creationId xmlns:a16="http://schemas.microsoft.com/office/drawing/2014/main" id="{5999C951-1F84-45CA-B69B-01ED2411F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438650"/>
            <a:ext cx="16002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Human review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gate</a:t>
            </a:r>
          </a:p>
        </p:txBody>
      </p:sp>
      <p:sp>
        <p:nvSpPr>
          <p:cNvPr id="25" name="human-link">
            <a:extLst xmlns:a="http://schemas.openxmlformats.org/drawingml/2006/main">
              <a:ext uri="{FF2B5EF4-FFF2-40B4-BE49-F238E27FC236}">
                <a16:creationId xmlns:a16="http://schemas.microsoft.com/office/drawing/2014/main" id="{C45C8DE2-2581-4361-9EE9-541A13265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74345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dash"/>
          </a:ln>
        </p:spPr>
      </p:sp>
      <p:sp>
        <p:nvSpPr>
          <p:cNvPr id="26" name="loop-note">
            <a:extLst xmlns:a="http://schemas.openxmlformats.org/drawingml/2006/main">
              <a:ext uri="{FF2B5EF4-FFF2-40B4-BE49-F238E27FC236}">
                <a16:creationId xmlns:a16="http://schemas.microsoft.com/office/drawing/2014/main" id="{CDA4A254-CC2D-4A98-BB2A-B88E72001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65785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不是一次輸入、一次輸出；可靠性來自檢查點與停止條件。</a:t>
            </a:r>
          </a:p>
        </p:txBody>
      </p:sp>
    </p:spTree>
    <p:extLst>
      <p:ext uri="{BB962C8B-B14F-4D97-AF65-F5344CB8AC3E}">
        <p14:creationId xmlns:p14="http://schemas.microsoft.com/office/powerpoint/2010/main" val="72850028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C46EEDDD-DEC7-4D41-B082-DB7D5E44F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WORKFLOW ARTIFACTS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C5EA95D-1236-4B09-94E3-B384C34EC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每一步都應留下之後能檢查的東西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4302B47C-7FBB-48CD-8717-9E9503F98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11/22</a:t>
            </a:r>
          </a:p>
        </p:txBody>
      </p:sp>
      <p:sp>
        <p:nvSpPr>
          <p:cNvPr id="4" name="table-bg">
            <a:extLst xmlns:a="http://schemas.openxmlformats.org/drawingml/2006/main">
              <a:ext uri="{FF2B5EF4-FFF2-40B4-BE49-F238E27FC236}">
                <a16:creationId xmlns:a16="http://schemas.microsoft.com/office/drawing/2014/main" id="{FBD84C41-0D19-4349-BF35-F89E93658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52600"/>
            <a:ext cx="10363200" cy="3676650"/>
          </a:xfrm>
          <a:prstGeom xmlns:a="http://schemas.openxmlformats.org/drawingml/2006/main" prst="roundRect">
            <a:avLst>
              <a:gd name="adj" fmla="val 20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5" name="h-0">
            <a:extLst xmlns:a="http://schemas.openxmlformats.org/drawingml/2006/main">
              <a:ext uri="{FF2B5EF4-FFF2-40B4-BE49-F238E27FC236}">
                <a16:creationId xmlns:a16="http://schemas.microsoft.com/office/drawing/2014/main" id="{3C4E7CCC-F862-4F97-B2BD-60744DE70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0574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Step</a:t>
            </a:r>
          </a:p>
        </p:txBody>
      </p:sp>
      <p:sp>
        <p:nvSpPr>
          <p:cNvPr id="6" name="h-1">
            <a:extLst xmlns:a="http://schemas.openxmlformats.org/drawingml/2006/main">
              <a:ext uri="{FF2B5EF4-FFF2-40B4-BE49-F238E27FC236}">
                <a16:creationId xmlns:a16="http://schemas.microsoft.com/office/drawing/2014/main" id="{D20D4FC9-F576-462C-A51F-F27B4E10B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0574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Artifact</a:t>
            </a:r>
          </a:p>
        </p:txBody>
      </p:sp>
      <p:sp>
        <p:nvSpPr>
          <p:cNvPr id="7" name="h-2">
            <a:extLst xmlns:a="http://schemas.openxmlformats.org/drawingml/2006/main">
              <a:ext uri="{FF2B5EF4-FFF2-40B4-BE49-F238E27FC236}">
                <a16:creationId xmlns:a16="http://schemas.microsoft.com/office/drawing/2014/main" id="{A99431E4-5F6C-4C44-819F-E0B6FDD96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574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8" name="step-0">
            <a:extLst xmlns:a="http://schemas.openxmlformats.org/drawingml/2006/main">
              <a:ext uri="{FF2B5EF4-FFF2-40B4-BE49-F238E27FC236}">
                <a16:creationId xmlns:a16="http://schemas.microsoft.com/office/drawing/2014/main" id="{CDAF4A6A-84CC-4AF2-874E-0B9F5A936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955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9" name="artifact-0">
            <a:extLst xmlns:a="http://schemas.openxmlformats.org/drawingml/2006/main">
              <a:ext uri="{FF2B5EF4-FFF2-40B4-BE49-F238E27FC236}">
                <a16:creationId xmlns:a16="http://schemas.microsoft.com/office/drawing/2014/main" id="{1CA207BB-B214-4E7D-BA0E-B053E700D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4955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89A16"/>
                </a:solidFill>
                <a:latin typeface="Aptos"/>
                <a:ea typeface="Aptos"/>
                <a:cs typeface="Aptos"/>
              </a:rPr>
              <a:t>task_spec.md</a:t>
            </a:r>
          </a:p>
        </p:txBody>
      </p:sp>
      <p:sp>
        <p:nvSpPr>
          <p:cNvPr id="10" name="why-0">
            <a:extLst xmlns:a="http://schemas.openxmlformats.org/drawingml/2006/main">
              <a:ext uri="{FF2B5EF4-FFF2-40B4-BE49-F238E27FC236}">
                <a16:creationId xmlns:a16="http://schemas.microsoft.com/office/drawing/2014/main" id="{B3F8B667-575A-40A7-8208-904C458FC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955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任務、輸入、輸出與限制</a:t>
            </a:r>
          </a:p>
        </p:txBody>
      </p:sp>
      <p:sp>
        <p:nvSpPr>
          <p:cNvPr id="11" name="row-0">
            <a:extLst xmlns:a="http://schemas.openxmlformats.org/drawingml/2006/main">
              <a:ext uri="{FF2B5EF4-FFF2-40B4-BE49-F238E27FC236}">
                <a16:creationId xmlns:a16="http://schemas.microsoft.com/office/drawing/2014/main" id="{A75E027D-D60D-4930-9C2B-3FE725198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57500"/>
            <a:ext cx="979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2" name="step-1">
            <a:extLst xmlns:a="http://schemas.openxmlformats.org/drawingml/2006/main">
              <a:ext uri="{FF2B5EF4-FFF2-40B4-BE49-F238E27FC236}">
                <a16:creationId xmlns:a16="http://schemas.microsoft.com/office/drawing/2014/main" id="{A51BF98E-58ED-401B-9BB1-00DC2C20B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Search</a:t>
            </a:r>
          </a:p>
        </p:txBody>
      </p:sp>
      <p:sp>
        <p:nvSpPr>
          <p:cNvPr id="13" name="artifact-1">
            <a:extLst xmlns:a="http://schemas.openxmlformats.org/drawingml/2006/main">
              <a:ext uri="{FF2B5EF4-FFF2-40B4-BE49-F238E27FC236}">
                <a16:creationId xmlns:a16="http://schemas.microsoft.com/office/drawing/2014/main" id="{A0BE01D8-C1B7-494F-8F8D-4DAED9670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0480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89A16"/>
                </a:solidFill>
                <a:latin typeface="Aptos"/>
                <a:ea typeface="Aptos"/>
                <a:cs typeface="Aptos"/>
              </a:rPr>
              <a:t>query log</a:t>
            </a:r>
          </a:p>
        </p:txBody>
      </p:sp>
      <p:sp>
        <p:nvSpPr>
          <p:cNvPr id="14" name="why-1">
            <a:extLst xmlns:a="http://schemas.openxmlformats.org/drawingml/2006/main">
              <a:ext uri="{FF2B5EF4-FFF2-40B4-BE49-F238E27FC236}">
                <a16:creationId xmlns:a16="http://schemas.microsoft.com/office/drawing/2014/main" id="{2BCD7590-5C21-4F4B-92AE-D039BFBC0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4800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關鍵字、日期、來源清單</a:t>
            </a:r>
          </a:p>
        </p:txBody>
      </p:sp>
      <p:sp>
        <p:nvSpPr>
          <p:cNvPr id="15" name="row-1">
            <a:extLst xmlns:a="http://schemas.openxmlformats.org/drawingml/2006/main">
              <a:ext uri="{FF2B5EF4-FFF2-40B4-BE49-F238E27FC236}">
                <a16:creationId xmlns:a16="http://schemas.microsoft.com/office/drawing/2014/main" id="{BF4537C4-90D5-478C-9174-E052F4CEC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09950"/>
            <a:ext cx="979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6" name="step-2">
            <a:extLst xmlns:a="http://schemas.openxmlformats.org/drawingml/2006/main">
              <a:ext uri="{FF2B5EF4-FFF2-40B4-BE49-F238E27FC236}">
                <a16:creationId xmlns:a16="http://schemas.microsoft.com/office/drawing/2014/main" id="{4461D356-7D86-40AD-B91C-49F65BEB2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004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Extract</a:t>
            </a:r>
          </a:p>
        </p:txBody>
      </p:sp>
      <p:sp>
        <p:nvSpPr>
          <p:cNvPr id="17" name="artifact-2">
            <a:extLst xmlns:a="http://schemas.openxmlformats.org/drawingml/2006/main">
              <a:ext uri="{FF2B5EF4-FFF2-40B4-BE49-F238E27FC236}">
                <a16:creationId xmlns:a16="http://schemas.microsoft.com/office/drawing/2014/main" id="{5637BADC-1948-44FB-8A95-DE7712248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6004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89A16"/>
                </a:solidFill>
                <a:latin typeface="Aptos"/>
                <a:ea typeface="Aptos"/>
                <a:cs typeface="Aptos"/>
              </a:rPr>
              <a:t>evidence table</a:t>
            </a:r>
          </a:p>
        </p:txBody>
      </p:sp>
      <p:sp>
        <p:nvSpPr>
          <p:cNvPr id="18" name="why-2">
            <a:extLst xmlns:a="http://schemas.openxmlformats.org/drawingml/2006/main">
              <a:ext uri="{FF2B5EF4-FFF2-40B4-BE49-F238E27FC236}">
                <a16:creationId xmlns:a16="http://schemas.microsoft.com/office/drawing/2014/main" id="{05D54762-A55C-4164-BC64-1262E594D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6004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claim、source、status</a:t>
            </a:r>
          </a:p>
        </p:txBody>
      </p:sp>
      <p:sp>
        <p:nvSpPr>
          <p:cNvPr id="19" name="row-2">
            <a:extLst xmlns:a="http://schemas.openxmlformats.org/drawingml/2006/main">
              <a:ext uri="{FF2B5EF4-FFF2-40B4-BE49-F238E27FC236}">
                <a16:creationId xmlns:a16="http://schemas.microsoft.com/office/drawing/2014/main" id="{74EBA50D-4F2E-4105-A0BC-520AAECD6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62400"/>
            <a:ext cx="979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0" name="step-3">
            <a:extLst xmlns:a="http://schemas.openxmlformats.org/drawingml/2006/main">
              <a:ext uri="{FF2B5EF4-FFF2-40B4-BE49-F238E27FC236}">
                <a16:creationId xmlns:a16="http://schemas.microsoft.com/office/drawing/2014/main" id="{D58DE1BA-EB74-40F3-A8D5-BBBEE1DA3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1529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 use</a:t>
            </a:r>
          </a:p>
        </p:txBody>
      </p:sp>
      <p:sp>
        <p:nvSpPr>
          <p:cNvPr id="21" name="artifact-3">
            <a:extLst xmlns:a="http://schemas.openxmlformats.org/drawingml/2006/main">
              <a:ext uri="{FF2B5EF4-FFF2-40B4-BE49-F238E27FC236}">
                <a16:creationId xmlns:a16="http://schemas.microsoft.com/office/drawing/2014/main" id="{1C8D6559-74F2-4387-8F04-A08DFFE82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1529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89A16"/>
                </a:solidFill>
                <a:latin typeface="Aptos"/>
                <a:ea typeface="Aptos"/>
                <a:cs typeface="Aptos"/>
              </a:rPr>
              <a:t>tool log</a:t>
            </a:r>
          </a:p>
        </p:txBody>
      </p:sp>
      <p:sp>
        <p:nvSpPr>
          <p:cNvPr id="22" name="why-3">
            <a:extLst xmlns:a="http://schemas.openxmlformats.org/drawingml/2006/main">
              <a:ext uri="{FF2B5EF4-FFF2-40B4-BE49-F238E27FC236}">
                <a16:creationId xmlns:a16="http://schemas.microsoft.com/office/drawing/2014/main" id="{E43DF5A3-1AF1-494F-AC3C-83AF3E1EF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5290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input、output、error</a:t>
            </a:r>
          </a:p>
        </p:txBody>
      </p:sp>
      <p:sp>
        <p:nvSpPr>
          <p:cNvPr id="23" name="row-3">
            <a:extLst xmlns:a="http://schemas.openxmlformats.org/drawingml/2006/main">
              <a:ext uri="{FF2B5EF4-FFF2-40B4-BE49-F238E27FC236}">
                <a16:creationId xmlns:a16="http://schemas.microsoft.com/office/drawing/2014/main" id="{AC008554-BB3E-46F1-A5C1-A0F3F9B21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514850"/>
            <a:ext cx="979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4" name="step-4">
            <a:extLst xmlns:a="http://schemas.openxmlformats.org/drawingml/2006/main">
              <a:ext uri="{FF2B5EF4-FFF2-40B4-BE49-F238E27FC236}">
                <a16:creationId xmlns:a16="http://schemas.microsoft.com/office/drawing/2014/main" id="{14D1E5F6-64AE-4BBA-88C4-C65FD8D20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053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25" name="artifact-4">
            <a:extLst xmlns:a="http://schemas.openxmlformats.org/drawingml/2006/main">
              <a:ext uri="{FF2B5EF4-FFF2-40B4-BE49-F238E27FC236}">
                <a16:creationId xmlns:a16="http://schemas.microsoft.com/office/drawing/2014/main" id="{04012767-590A-444C-861B-4B16E9E0A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7053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89A16"/>
                </a:solidFill>
                <a:latin typeface="Aptos"/>
                <a:ea typeface="Aptos"/>
                <a:cs typeface="Aptos"/>
              </a:rPr>
              <a:t>check report</a:t>
            </a:r>
          </a:p>
        </p:txBody>
      </p:sp>
      <p:sp>
        <p:nvSpPr>
          <p:cNvPr id="26" name="why-4">
            <a:extLst xmlns:a="http://schemas.openxmlformats.org/drawingml/2006/main">
              <a:ext uri="{FF2B5EF4-FFF2-40B4-BE49-F238E27FC236}">
                <a16:creationId xmlns:a16="http://schemas.microsoft.com/office/drawing/2014/main" id="{812B1559-6F4B-4CC8-851D-BF71CBCEF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7053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通過、失敗、needs review</a:t>
            </a:r>
          </a:p>
        </p:txBody>
      </p:sp>
      <p:sp>
        <p:nvSpPr>
          <p:cNvPr id="27" name="row-4">
            <a:extLst xmlns:a="http://schemas.openxmlformats.org/drawingml/2006/main">
              <a:ext uri="{FF2B5EF4-FFF2-40B4-BE49-F238E27FC236}">
                <a16:creationId xmlns:a16="http://schemas.microsoft.com/office/drawing/2014/main" id="{BA9FEEA6-69C4-42B3-B7FD-48E43D5DA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67300"/>
            <a:ext cx="979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8" name="bottom">
            <a:extLst xmlns:a="http://schemas.openxmlformats.org/drawingml/2006/main">
              <a:ext uri="{FF2B5EF4-FFF2-40B4-BE49-F238E27FC236}">
                <a16:creationId xmlns:a16="http://schemas.microsoft.com/office/drawing/2014/main" id="{09945105-B7A8-4E74-83E1-444E521BC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73405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沒有 artifact，就很難 debug、重跑或交接。</a:t>
            </a:r>
          </a:p>
        </p:txBody>
      </p:sp>
    </p:spTree>
    <p:extLst>
      <p:ext uri="{BB962C8B-B14F-4D97-AF65-F5344CB8AC3E}">
        <p14:creationId xmlns:p14="http://schemas.microsoft.com/office/powerpoint/2010/main" val="111918188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5A5A70FB-0954-4735-B5CF-501378274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TASK SUITABILITY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4F59A9A-9935-4B87-892D-0AA9377AC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適合 agent 的任務通常能被清楚驗證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0CB70630-707D-4470-8B2B-92D496487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12/22</a:t>
            </a:r>
          </a:p>
        </p:txBody>
      </p:sp>
      <p:sp>
        <p:nvSpPr>
          <p:cNvPr id="4" name="good">
            <a:extLst xmlns:a="http://schemas.openxmlformats.org/drawingml/2006/main">
              <a:ext uri="{FF2B5EF4-FFF2-40B4-BE49-F238E27FC236}">
                <a16:creationId xmlns:a16="http://schemas.microsoft.com/office/drawing/2014/main" id="{E914D6D8-7D79-4FEE-8D94-A408858EB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57400"/>
            <a:ext cx="4324350" cy="3067050"/>
          </a:xfrm>
          <a:prstGeom xmlns:a="http://schemas.openxmlformats.org/drawingml/2006/main" prst="roundRect">
            <a:avLst>
              <a:gd name="adj" fmla="val 2484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5" name="bad">
            <a:extLst xmlns:a="http://schemas.openxmlformats.org/drawingml/2006/main">
              <a:ext uri="{FF2B5EF4-FFF2-40B4-BE49-F238E27FC236}">
                <a16:creationId xmlns:a16="http://schemas.microsoft.com/office/drawing/2014/main" id="{E453F0D2-4E52-4D50-8CD9-59D8B6ED0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057400"/>
            <a:ext cx="4324350" cy="3067050"/>
          </a:xfrm>
          <a:prstGeom xmlns:a="http://schemas.openxmlformats.org/drawingml/2006/main" prst="roundRect">
            <a:avLst>
              <a:gd name="adj" fmla="val 2484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6" name="good-title">
            <a:extLst xmlns:a="http://schemas.openxmlformats.org/drawingml/2006/main">
              <a:ext uri="{FF2B5EF4-FFF2-40B4-BE49-F238E27FC236}">
                <a16:creationId xmlns:a16="http://schemas.microsoft.com/office/drawing/2014/main" id="{444B0112-0B63-41A0-8FED-373343110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003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Good fit</a:t>
            </a:r>
          </a:p>
        </p:txBody>
      </p:sp>
      <p:sp>
        <p:nvSpPr>
          <p:cNvPr id="7" name="bad-title">
            <a:extLst xmlns:a="http://schemas.openxmlformats.org/drawingml/2006/main">
              <a:ext uri="{FF2B5EF4-FFF2-40B4-BE49-F238E27FC236}">
                <a16:creationId xmlns:a16="http://schemas.microsoft.com/office/drawing/2014/main" id="{E4CDFFE7-046F-42AB-A017-3F06A6FE5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4003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Bad fit</a:t>
            </a:r>
          </a:p>
        </p:txBody>
      </p:sp>
      <p:sp>
        <p:nvSpPr>
          <p:cNvPr id="8" name="good-list">
            <a:extLst xmlns:a="http://schemas.openxmlformats.org/drawingml/2006/main">
              <a:ext uri="{FF2B5EF4-FFF2-40B4-BE49-F238E27FC236}">
                <a16:creationId xmlns:a16="http://schemas.microsoft.com/office/drawing/2014/main" id="{902E5E39-7DE9-4162-84B3-D0E094EF7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086100"/>
            <a:ext cx="31432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輸入資料明確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輸出格式固定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可用外部來源檢查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錯誤能早期發現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不直接造成臨床行動</a:t>
            </a:r>
          </a:p>
        </p:txBody>
      </p:sp>
      <p:sp>
        <p:nvSpPr>
          <p:cNvPr id="9" name="bad-list">
            <a:extLst xmlns:a="http://schemas.openxmlformats.org/drawingml/2006/main">
              <a:ext uri="{FF2B5EF4-FFF2-40B4-BE49-F238E27FC236}">
                <a16:creationId xmlns:a16="http://schemas.microsoft.com/office/drawing/2014/main" id="{2334EE80-4A3C-453C-8AEF-5197146DA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86100"/>
            <a:ext cx="31432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目標模糊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只有主觀判斷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缺少可查來源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錯了不容易發現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涉及治療或診斷決策</a:t>
            </a:r>
          </a:p>
        </p:txBody>
      </p:sp>
      <p:sp>
        <p:nvSpPr>
          <p:cNvPr id="10" name="bottom">
            <a:extLst xmlns:a="http://schemas.openxmlformats.org/drawingml/2006/main">
              <a:ext uri="{FF2B5EF4-FFF2-40B4-BE49-F238E27FC236}">
                <a16:creationId xmlns:a16="http://schemas.microsoft.com/office/drawing/2014/main" id="{A8578FE7-E469-4304-91CC-48B0F3349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619750"/>
            <a:ext cx="790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先判斷任務能否驗證，再決定要不要讓 agent 參與。</a:t>
            </a:r>
          </a:p>
        </p:txBody>
      </p:sp>
    </p:spTree>
    <p:extLst>
      <p:ext uri="{BB962C8B-B14F-4D97-AF65-F5344CB8AC3E}">
        <p14:creationId xmlns:p14="http://schemas.microsoft.com/office/powerpoint/2010/main" val="118025123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CEBFE5DA-1F6C-4FA2-88EC-155E74E2B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BIOMEDICAL RED LINES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317CC67-6EDF-4984-8501-CC1E94C03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有些 biomedical 輸出只能協助整理，不能直接定案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6E037D01-A365-4294-A7E0-98046B143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13/22</a:t>
            </a:r>
          </a:p>
        </p:txBody>
      </p:sp>
      <p:sp>
        <p:nvSpPr>
          <p:cNvPr id="4" name="risk-0">
            <a:extLst xmlns:a="http://schemas.openxmlformats.org/drawingml/2006/main">
              <a:ext uri="{FF2B5EF4-FFF2-40B4-BE49-F238E27FC236}">
                <a16:creationId xmlns:a16="http://schemas.microsoft.com/office/drawing/2014/main" id="{6B972C74-42F6-435F-90B3-C1468721B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95500"/>
            <a:ext cx="38862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5" name="risk-title-0">
            <a:extLst xmlns:a="http://schemas.openxmlformats.org/drawingml/2006/main">
              <a:ext uri="{FF2B5EF4-FFF2-40B4-BE49-F238E27FC236}">
                <a16:creationId xmlns:a16="http://schemas.microsoft.com/office/drawing/2014/main" id="{04941666-8E72-40F9-A703-323A1F695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3050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Diagnosis</a:t>
            </a:r>
          </a:p>
        </p:txBody>
      </p:sp>
      <p:sp>
        <p:nvSpPr>
          <p:cNvPr id="6" name="risk-copy-0">
            <a:extLst xmlns:a="http://schemas.openxmlformats.org/drawingml/2006/main">
              <a:ext uri="{FF2B5EF4-FFF2-40B4-BE49-F238E27FC236}">
                <a16:creationId xmlns:a16="http://schemas.microsoft.com/office/drawing/2014/main" id="{A20DF0D2-10E4-49D3-9992-C0F5BCF51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32410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診斷或治療建議</a:t>
            </a:r>
          </a:p>
        </p:txBody>
      </p:sp>
      <p:sp>
        <p:nvSpPr>
          <p:cNvPr id="7" name="risk-1">
            <a:extLst xmlns:a="http://schemas.openxmlformats.org/drawingml/2006/main">
              <a:ext uri="{FF2B5EF4-FFF2-40B4-BE49-F238E27FC236}">
                <a16:creationId xmlns:a16="http://schemas.microsoft.com/office/drawing/2014/main" id="{E2083001-406A-4F4E-9DB2-0EB55E3C4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095500"/>
            <a:ext cx="38862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8" name="risk-title-1">
            <a:extLst xmlns:a="http://schemas.openxmlformats.org/drawingml/2006/main">
              <a:ext uri="{FF2B5EF4-FFF2-40B4-BE49-F238E27FC236}">
                <a16:creationId xmlns:a16="http://schemas.microsoft.com/office/drawing/2014/main" id="{0897AF81-3CF9-4101-82BB-455262094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3050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Dosage</a:t>
            </a:r>
          </a:p>
        </p:txBody>
      </p:sp>
      <p:sp>
        <p:nvSpPr>
          <p:cNvPr id="9" name="risk-copy-1">
            <a:extLst xmlns:a="http://schemas.openxmlformats.org/drawingml/2006/main">
              <a:ext uri="{FF2B5EF4-FFF2-40B4-BE49-F238E27FC236}">
                <a16:creationId xmlns:a16="http://schemas.microsoft.com/office/drawing/2014/main" id="{0C16133F-7FAC-4947-9005-C6CD66142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2410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藥物劑量</a:t>
            </a:r>
          </a:p>
        </p:txBody>
      </p:sp>
      <p:sp>
        <p:nvSpPr>
          <p:cNvPr id="10" name="risk-2">
            <a:extLst xmlns:a="http://schemas.openxmlformats.org/drawingml/2006/main">
              <a:ext uri="{FF2B5EF4-FFF2-40B4-BE49-F238E27FC236}">
                <a16:creationId xmlns:a16="http://schemas.microsoft.com/office/drawing/2014/main" id="{C71024D4-0769-42F2-BD0C-AB1F2AB3A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448050"/>
            <a:ext cx="38862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11" name="risk-title-2">
            <a:extLst xmlns:a="http://schemas.openxmlformats.org/drawingml/2006/main">
              <a:ext uri="{FF2B5EF4-FFF2-40B4-BE49-F238E27FC236}">
                <a16:creationId xmlns:a16="http://schemas.microsoft.com/office/drawing/2014/main" id="{E04D80F1-B331-4366-A3E9-75AA071B7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6576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Variant</a:t>
            </a:r>
          </a:p>
        </p:txBody>
      </p:sp>
      <p:sp>
        <p:nvSpPr>
          <p:cNvPr id="12" name="risk-copy-2">
            <a:extLst xmlns:a="http://schemas.openxmlformats.org/drawingml/2006/main">
              <a:ext uri="{FF2B5EF4-FFF2-40B4-BE49-F238E27FC236}">
                <a16:creationId xmlns:a16="http://schemas.microsoft.com/office/drawing/2014/main" id="{ACF3F7ED-6A59-410C-9251-FF718A005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67665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pathogenicity final call</a:t>
            </a:r>
          </a:p>
        </p:txBody>
      </p:sp>
      <p:sp>
        <p:nvSpPr>
          <p:cNvPr id="13" name="risk-3">
            <a:extLst xmlns:a="http://schemas.openxmlformats.org/drawingml/2006/main">
              <a:ext uri="{FF2B5EF4-FFF2-40B4-BE49-F238E27FC236}">
                <a16:creationId xmlns:a16="http://schemas.microsoft.com/office/drawing/2014/main" id="{7EF6C069-9148-4D9A-9E06-785295E3D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448050"/>
            <a:ext cx="38862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14" name="risk-title-3">
            <a:extLst xmlns:a="http://schemas.openxmlformats.org/drawingml/2006/main">
              <a:ext uri="{FF2B5EF4-FFF2-40B4-BE49-F238E27FC236}">
                <a16:creationId xmlns:a16="http://schemas.microsoft.com/office/drawing/2014/main" id="{68497AA6-3F19-4FA9-8B84-70C18AA08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6576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Clinical action</a:t>
            </a:r>
          </a:p>
        </p:txBody>
      </p:sp>
      <p:sp>
        <p:nvSpPr>
          <p:cNvPr id="15" name="risk-copy-3">
            <a:extLst xmlns:a="http://schemas.openxmlformats.org/drawingml/2006/main">
              <a:ext uri="{FF2B5EF4-FFF2-40B4-BE49-F238E27FC236}">
                <a16:creationId xmlns:a16="http://schemas.microsoft.com/office/drawing/2014/main" id="{F36D1AFA-E427-42DE-B617-A8C6C8B99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67665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臨床處置建議</a:t>
            </a:r>
          </a:p>
        </p:txBody>
      </p:sp>
      <p:sp>
        <p:nvSpPr>
          <p:cNvPr id="16" name="gate">
            <a:extLst xmlns:a="http://schemas.openxmlformats.org/drawingml/2006/main">
              <a:ext uri="{FF2B5EF4-FFF2-40B4-BE49-F238E27FC236}">
                <a16:creationId xmlns:a16="http://schemas.microsoft.com/office/drawing/2014/main" id="{3820D58D-5EAB-48E6-AFB8-CBBCA7770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143500"/>
            <a:ext cx="36576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Human review required</a:t>
            </a:r>
          </a:p>
        </p:txBody>
      </p:sp>
    </p:spTree>
    <p:extLst>
      <p:ext uri="{BB962C8B-B14F-4D97-AF65-F5344CB8AC3E}">
        <p14:creationId xmlns:p14="http://schemas.microsoft.com/office/powerpoint/2010/main" val="182611527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1AAD10FA-036B-434B-9691-F5DC5F075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VIBE CODING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8B5B528-623C-44F4-97EB-9DBB1334E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Vibe coding 是快速探索，不是把責任交給模型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67D1B644-E978-4745-93FB-6E9D84B6C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14/22</a:t>
            </a:r>
          </a:p>
        </p:txBody>
      </p:sp>
      <p:sp>
        <p:nvSpPr>
          <p:cNvPr id="4" name="stage-line">
            <a:extLst xmlns:a="http://schemas.openxmlformats.org/drawingml/2006/main">
              <a:ext uri="{FF2B5EF4-FFF2-40B4-BE49-F238E27FC236}">
                <a16:creationId xmlns:a16="http://schemas.microsoft.com/office/drawing/2014/main" id="{C6CE64EC-52BF-4400-8E49-43111431B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24200"/>
            <a:ext cx="8515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D4DADD"/>
            </a:solidFill>
            <a:prstDash val="solid"/>
          </a:ln>
        </p:spPr>
      </p:sp>
      <p:sp>
        <p:nvSpPr>
          <p:cNvPr id="5" name="stage-0">
            <a:extLst xmlns:a="http://schemas.openxmlformats.org/drawingml/2006/main">
              <a:ext uri="{FF2B5EF4-FFF2-40B4-BE49-F238E27FC236}">
                <a16:creationId xmlns:a16="http://schemas.microsoft.com/office/drawing/2014/main" id="{9B2B06AB-409E-4D55-8E31-224DBBF6C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28900"/>
            <a:ext cx="1466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Idea</a:t>
            </a:r>
          </a:p>
        </p:txBody>
      </p:sp>
      <p:sp>
        <p:nvSpPr>
          <p:cNvPr id="6" name="stage-copy-0">
            <a:extLst xmlns:a="http://schemas.openxmlformats.org/drawingml/2006/main">
              <a:ext uri="{FF2B5EF4-FFF2-40B4-BE49-F238E27FC236}">
                <a16:creationId xmlns:a16="http://schemas.microsoft.com/office/drawing/2014/main" id="{40C3369C-88AE-400D-B7B3-971498106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242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想法與資料</a:t>
            </a:r>
          </a:p>
        </p:txBody>
      </p:sp>
      <p:sp>
        <p:nvSpPr>
          <p:cNvPr id="7" name="stage-1">
            <a:extLst xmlns:a="http://schemas.openxmlformats.org/drawingml/2006/main">
              <a:ext uri="{FF2B5EF4-FFF2-40B4-BE49-F238E27FC236}">
                <a16:creationId xmlns:a16="http://schemas.microsoft.com/office/drawing/2014/main" id="{DB983737-952E-4569-A566-B38513148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628900"/>
            <a:ext cx="1466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Prototype</a:t>
            </a:r>
          </a:p>
        </p:txBody>
      </p:sp>
      <p:sp>
        <p:nvSpPr>
          <p:cNvPr id="8" name="stage-copy-1">
            <a:extLst xmlns:a="http://schemas.openxmlformats.org/drawingml/2006/main">
              <a:ext uri="{FF2B5EF4-FFF2-40B4-BE49-F238E27FC236}">
                <a16:creationId xmlns:a16="http://schemas.microsoft.com/office/drawing/2014/main" id="{408F9CC4-22CC-45DF-8C94-D1547369D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5242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快速草擬</a:t>
            </a:r>
          </a:p>
        </p:txBody>
      </p:sp>
      <p:sp>
        <p:nvSpPr>
          <p:cNvPr id="9" name="stage-2">
            <a:extLst xmlns:a="http://schemas.openxmlformats.org/drawingml/2006/main">
              <a:ext uri="{FF2B5EF4-FFF2-40B4-BE49-F238E27FC236}">
                <a16:creationId xmlns:a16="http://schemas.microsoft.com/office/drawing/2014/main" id="{FD6DA16F-E5C5-4832-98EB-F6D9F61B6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628900"/>
            <a:ext cx="1466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Run</a:t>
            </a:r>
          </a:p>
        </p:txBody>
      </p:sp>
      <p:sp>
        <p:nvSpPr>
          <p:cNvPr id="10" name="stage-copy-2">
            <a:extLst xmlns:a="http://schemas.openxmlformats.org/drawingml/2006/main">
              <a:ext uri="{FF2B5EF4-FFF2-40B4-BE49-F238E27FC236}">
                <a16:creationId xmlns:a16="http://schemas.microsoft.com/office/drawing/2014/main" id="{CF8CD224-6829-4D17-B08B-C065116F3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5242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真的執行</a:t>
            </a:r>
          </a:p>
        </p:txBody>
      </p:sp>
      <p:sp>
        <p:nvSpPr>
          <p:cNvPr id="11" name="stage-3">
            <a:extLst xmlns:a="http://schemas.openxmlformats.org/drawingml/2006/main">
              <a:ext uri="{FF2B5EF4-FFF2-40B4-BE49-F238E27FC236}">
                <a16:creationId xmlns:a16="http://schemas.microsoft.com/office/drawing/2014/main" id="{0F6B89D1-3C2A-464F-AA9F-59ECC8589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628900"/>
            <a:ext cx="1466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Inspect</a:t>
            </a:r>
          </a:p>
        </p:txBody>
      </p:sp>
      <p:sp>
        <p:nvSpPr>
          <p:cNvPr id="12" name="stage-copy-3">
            <a:extLst xmlns:a="http://schemas.openxmlformats.org/drawingml/2006/main">
              <a:ext uri="{FF2B5EF4-FFF2-40B4-BE49-F238E27FC236}">
                <a16:creationId xmlns:a16="http://schemas.microsoft.com/office/drawing/2014/main" id="{AF7E3C13-8C75-49BC-B3FA-8E853698B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5242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看 diff 與輸出</a:t>
            </a:r>
          </a:p>
        </p:txBody>
      </p:sp>
      <p:sp>
        <p:nvSpPr>
          <p:cNvPr id="13" name="stage-4">
            <a:extLst xmlns:a="http://schemas.openxmlformats.org/drawingml/2006/main">
              <a:ext uri="{FF2B5EF4-FFF2-40B4-BE49-F238E27FC236}">
                <a16:creationId xmlns:a16="http://schemas.microsoft.com/office/drawing/2014/main" id="{C0AE6BCA-4963-4DA6-9907-662FF0F22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628900"/>
            <a:ext cx="1466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Decide</a:t>
            </a:r>
          </a:p>
        </p:txBody>
      </p:sp>
      <p:sp>
        <p:nvSpPr>
          <p:cNvPr id="14" name="stage-copy-4">
            <a:extLst xmlns:a="http://schemas.openxmlformats.org/drawingml/2006/main">
              <a:ext uri="{FF2B5EF4-FFF2-40B4-BE49-F238E27FC236}">
                <a16:creationId xmlns:a16="http://schemas.microsoft.com/office/drawing/2014/main" id="{5A244B83-CEFE-4E2C-BE8A-D83F5E083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5242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保留或重做</a:t>
            </a:r>
          </a:p>
        </p:txBody>
      </p:sp>
      <p:sp>
        <p:nvSpPr>
          <p:cNvPr id="15" name="bottom">
            <a:extLst xmlns:a="http://schemas.openxmlformats.org/drawingml/2006/main">
              <a:ext uri="{FF2B5EF4-FFF2-40B4-BE49-F238E27FC236}">
                <a16:creationId xmlns:a16="http://schemas.microsoft.com/office/drawing/2014/main" id="{9E29A3A8-CDDA-4368-AD47-756741E3A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219700"/>
            <a:ext cx="609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速度來自短迭代；安全來自明確檢查。</a:t>
            </a:r>
          </a:p>
        </p:txBody>
      </p:sp>
    </p:spTree>
    <p:extLst>
      <p:ext uri="{BB962C8B-B14F-4D97-AF65-F5344CB8AC3E}">
        <p14:creationId xmlns:p14="http://schemas.microsoft.com/office/powerpoint/2010/main" val="18140448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28FBBEB3-7EAE-4743-B818-9053F7E12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SAFE VIBE LOOP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E0F888A-B3F7-4E7C-86B7-A2A3EB658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安全的 vibe coding 一次只推進一個小步驟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1653EA9A-BA9F-433E-8A1F-CA6A284D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15/22</a:t>
            </a:r>
          </a:p>
        </p:txBody>
      </p:sp>
      <p:sp>
        <p:nvSpPr>
          <p:cNvPr id="4" name="line-0">
            <a:extLst xmlns:a="http://schemas.openxmlformats.org/drawingml/2006/main">
              <a:ext uri="{FF2B5EF4-FFF2-40B4-BE49-F238E27FC236}">
                <a16:creationId xmlns:a16="http://schemas.microsoft.com/office/drawing/2014/main" id="{2D497C02-C0D8-4DBA-AD92-F609450BF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1623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5" name="line-1">
            <a:extLst xmlns:a="http://schemas.openxmlformats.org/drawingml/2006/main">
              <a:ext uri="{FF2B5EF4-FFF2-40B4-BE49-F238E27FC236}">
                <a16:creationId xmlns:a16="http://schemas.microsoft.com/office/drawing/2014/main" id="{938401FF-A10E-4126-975C-B90AF49CE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1623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6" name="line-2">
            <a:extLst xmlns:a="http://schemas.openxmlformats.org/drawingml/2006/main">
              <a:ext uri="{FF2B5EF4-FFF2-40B4-BE49-F238E27FC236}">
                <a16:creationId xmlns:a16="http://schemas.microsoft.com/office/drawing/2014/main" id="{5E8FC54D-5A26-474C-808C-5EA1B3746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1623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7" name="line-3">
            <a:extLst xmlns:a="http://schemas.openxmlformats.org/drawingml/2006/main">
              <a:ext uri="{FF2B5EF4-FFF2-40B4-BE49-F238E27FC236}">
                <a16:creationId xmlns:a16="http://schemas.microsoft.com/office/drawing/2014/main" id="{654DC448-F2A0-44CF-89C9-45FB225DF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1623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8" name="line-4">
            <a:extLst xmlns:a="http://schemas.openxmlformats.org/drawingml/2006/main">
              <a:ext uri="{FF2B5EF4-FFF2-40B4-BE49-F238E27FC236}">
                <a16:creationId xmlns:a16="http://schemas.microsoft.com/office/drawing/2014/main" id="{AFAD2849-B6D1-4FC7-8638-3424E43B6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1623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9" name="num-0">
            <a:extLst xmlns:a="http://schemas.openxmlformats.org/drawingml/2006/main">
              <a:ext uri="{FF2B5EF4-FFF2-40B4-BE49-F238E27FC236}">
                <a16:creationId xmlns:a16="http://schemas.microsoft.com/office/drawing/2014/main" id="{8F9FDA6B-3DEB-4117-B0A4-728B4DD2F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step-0">
            <a:extLst xmlns:a="http://schemas.openxmlformats.org/drawingml/2006/main">
              <a:ext uri="{FF2B5EF4-FFF2-40B4-BE49-F238E27FC236}">
                <a16:creationId xmlns:a16="http://schemas.microsoft.com/office/drawing/2014/main" id="{6F942C36-68A7-4EA3-AD04-1FFE22017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Specify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small task</a:t>
            </a:r>
          </a:p>
        </p:txBody>
      </p:sp>
      <p:sp>
        <p:nvSpPr>
          <p:cNvPr id="11" name="num-1">
            <a:extLst xmlns:a="http://schemas.openxmlformats.org/drawingml/2006/main">
              <a:ext uri="{FF2B5EF4-FFF2-40B4-BE49-F238E27FC236}">
                <a16:creationId xmlns:a16="http://schemas.microsoft.com/office/drawing/2014/main" id="{74751AFF-7642-456A-BD61-56C3571A6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step-1">
            <a:extLst xmlns:a="http://schemas.openxmlformats.org/drawingml/2006/main">
              <a:ext uri="{FF2B5EF4-FFF2-40B4-BE49-F238E27FC236}">
                <a16:creationId xmlns:a16="http://schemas.microsoft.com/office/drawing/2014/main" id="{54517C30-03A7-4D26-B8DB-1D744E1A3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Read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real files</a:t>
            </a:r>
          </a:p>
        </p:txBody>
      </p:sp>
      <p:sp>
        <p:nvSpPr>
          <p:cNvPr id="13" name="num-2">
            <a:extLst xmlns:a="http://schemas.openxmlformats.org/drawingml/2006/main">
              <a:ext uri="{FF2B5EF4-FFF2-40B4-BE49-F238E27FC236}">
                <a16:creationId xmlns:a16="http://schemas.microsoft.com/office/drawing/2014/main" id="{2C9B0798-1CDD-4CE3-B940-467088A58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4" name="step-2">
            <a:extLst xmlns:a="http://schemas.openxmlformats.org/drawingml/2006/main">
              <a:ext uri="{FF2B5EF4-FFF2-40B4-BE49-F238E27FC236}">
                <a16:creationId xmlns:a16="http://schemas.microsoft.com/office/drawing/2014/main" id="{1A31736B-8766-49FD-A951-2BD4EF40F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Plan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before edit</a:t>
            </a:r>
          </a:p>
        </p:txBody>
      </p:sp>
      <p:sp>
        <p:nvSpPr>
          <p:cNvPr id="15" name="num-3">
            <a:extLst xmlns:a="http://schemas.openxmlformats.org/drawingml/2006/main">
              <a:ext uri="{FF2B5EF4-FFF2-40B4-BE49-F238E27FC236}">
                <a16:creationId xmlns:a16="http://schemas.microsoft.com/office/drawing/2014/main" id="{5377A0FB-1E6E-4335-8E06-AE06EB3BF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4D0A72E3-DD79-409E-8F5F-A20FEEEEC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Change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small scope</a:t>
            </a:r>
          </a:p>
        </p:txBody>
      </p:sp>
      <p:sp>
        <p:nvSpPr>
          <p:cNvPr id="17" name="num-4">
            <a:extLst xmlns:a="http://schemas.openxmlformats.org/drawingml/2006/main">
              <a:ext uri="{FF2B5EF4-FFF2-40B4-BE49-F238E27FC236}">
                <a16:creationId xmlns:a16="http://schemas.microsoft.com/office/drawing/2014/main" id="{F87591C8-C93C-4187-8339-E7C714340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8" name="step-4">
            <a:extLst xmlns:a="http://schemas.openxmlformats.org/drawingml/2006/main">
              <a:ext uri="{FF2B5EF4-FFF2-40B4-BE49-F238E27FC236}">
                <a16:creationId xmlns:a16="http://schemas.microsoft.com/office/drawing/2014/main" id="{70246403-7301-4AB0-A32D-7F0FB1717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Run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19" name="num-5">
            <a:extLst xmlns:a="http://schemas.openxmlformats.org/drawingml/2006/main">
              <a:ext uri="{FF2B5EF4-FFF2-40B4-BE49-F238E27FC236}">
                <a16:creationId xmlns:a16="http://schemas.microsoft.com/office/drawing/2014/main" id="{045B60F0-D2FD-4A95-9D38-AA49445FA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20" name="step-5">
            <a:extLst xmlns:a="http://schemas.openxmlformats.org/drawingml/2006/main">
              <a:ext uri="{FF2B5EF4-FFF2-40B4-BE49-F238E27FC236}">
                <a16:creationId xmlns:a16="http://schemas.microsoft.com/office/drawing/2014/main" id="{9E8DC56C-D8E9-4F8C-95B2-7F685D39F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Inspect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diff</a:t>
            </a:r>
          </a:p>
        </p:txBody>
      </p:sp>
      <p:sp>
        <p:nvSpPr>
          <p:cNvPr id="21" name="rule">
            <a:extLst xmlns:a="http://schemas.openxmlformats.org/drawingml/2006/main">
              <a:ext uri="{FF2B5EF4-FFF2-40B4-BE49-F238E27FC236}">
                <a16:creationId xmlns:a16="http://schemas.microsoft.com/office/drawing/2014/main" id="{BD2C66AC-C650-497B-B08E-51566966C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686300"/>
            <a:ext cx="78486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2" name="rule-text">
            <a:extLst xmlns:a="http://schemas.openxmlformats.org/drawingml/2006/main">
              <a:ext uri="{FF2B5EF4-FFF2-40B4-BE49-F238E27FC236}">
                <a16:creationId xmlns:a16="http://schemas.microsoft.com/office/drawing/2014/main" id="{A104958E-97A1-47BE-900C-FE94EDBE2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9339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Rule: no broad rewrite, no hidden file changes, no unverified final claim.</a:t>
            </a:r>
          </a:p>
        </p:txBody>
      </p:sp>
    </p:spTree>
    <p:extLst>
      <p:ext uri="{BB962C8B-B14F-4D97-AF65-F5344CB8AC3E}">
        <p14:creationId xmlns:p14="http://schemas.microsoft.com/office/powerpoint/2010/main" val="133467835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45696276-6FF3-40BB-BA45-6DA871180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RISK MATRIX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8DCEA80-7B7B-4CCA-B448-140F29D66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Vibe coding 適合低模糊、低風險且可驗證的任務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A8817848-95AF-4FD7-92AF-9B4EADF5F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16/22</a:t>
            </a:r>
          </a:p>
        </p:txBody>
      </p:sp>
      <p:sp>
        <p:nvSpPr>
          <p:cNvPr id="4" name="matrix">
            <a:extLst xmlns:a="http://schemas.openxmlformats.org/drawingml/2006/main">
              <a:ext uri="{FF2B5EF4-FFF2-40B4-BE49-F238E27FC236}">
                <a16:creationId xmlns:a16="http://schemas.microsoft.com/office/drawing/2014/main" id="{CA03366B-7819-45BE-B9D5-7F6FDD720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1981200"/>
            <a:ext cx="7429500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5" name="vline">
            <a:extLst xmlns:a="http://schemas.openxmlformats.org/drawingml/2006/main">
              <a:ext uri="{FF2B5EF4-FFF2-40B4-BE49-F238E27FC236}">
                <a16:creationId xmlns:a16="http://schemas.microsoft.com/office/drawing/2014/main" id="{3D107ECC-3567-41FD-B70D-203D23AC7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198120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6" name="hline">
            <a:extLst xmlns:a="http://schemas.openxmlformats.org/drawingml/2006/main">
              <a:ext uri="{FF2B5EF4-FFF2-40B4-BE49-F238E27FC236}">
                <a16:creationId xmlns:a16="http://schemas.microsoft.com/office/drawing/2014/main" id="{241F60C3-1F49-4F94-9C4B-9058FF545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695700"/>
            <a:ext cx="742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7" name="axis-x">
            <a:extLst xmlns:a="http://schemas.openxmlformats.org/drawingml/2006/main">
              <a:ext uri="{FF2B5EF4-FFF2-40B4-BE49-F238E27FC236}">
                <a16:creationId xmlns:a16="http://schemas.microsoft.com/office/drawing/2014/main" id="{44B6A34F-5C6D-44D5-9026-0BFCE03FF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5245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Task ambiguity</a:t>
            </a:r>
          </a:p>
        </p:txBody>
      </p:sp>
      <p:sp>
        <p:nvSpPr>
          <p:cNvPr id="8" name="axis-y">
            <a:extLst xmlns:a="http://schemas.openxmlformats.org/drawingml/2006/main">
              <a:ext uri="{FF2B5EF4-FFF2-40B4-BE49-F238E27FC236}">
                <a16:creationId xmlns:a16="http://schemas.microsoft.com/office/drawing/2014/main" id="{39BBA432-655A-4BF7-B53A-642479C6C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390900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Impact / risk</a:t>
            </a:r>
          </a:p>
        </p:txBody>
      </p:sp>
      <p:sp>
        <p:nvSpPr>
          <p:cNvPr id="9" name="q1">
            <a:extLst xmlns:a="http://schemas.openxmlformats.org/drawingml/2006/main">
              <a:ext uri="{FF2B5EF4-FFF2-40B4-BE49-F238E27FC236}">
                <a16:creationId xmlns:a16="http://schemas.microsoft.com/office/drawing/2014/main" id="{3252626E-6AE4-4188-AF9A-2A542DB60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71950"/>
            <a:ext cx="2571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Parsing script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Report draft</a:t>
            </a:r>
          </a:p>
        </p:txBody>
      </p:sp>
      <p:sp>
        <p:nvSpPr>
          <p:cNvPr id="10" name="q2">
            <a:extLst xmlns:a="http://schemas.openxmlformats.org/drawingml/2006/main">
              <a:ext uri="{FF2B5EF4-FFF2-40B4-BE49-F238E27FC236}">
                <a16:creationId xmlns:a16="http://schemas.microsoft.com/office/drawing/2014/main" id="{9CA3FDF7-6553-4253-BC20-123E97E10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71950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Exploratory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prototype</a:t>
            </a:r>
          </a:p>
        </p:txBody>
      </p:sp>
      <p:sp>
        <p:nvSpPr>
          <p:cNvPr id="11" name="q3">
            <a:extLst xmlns:a="http://schemas.openxmlformats.org/drawingml/2006/main">
              <a:ext uri="{FF2B5EF4-FFF2-40B4-BE49-F238E27FC236}">
                <a16:creationId xmlns:a16="http://schemas.microsoft.com/office/drawing/2014/main" id="{515BBCAD-92C1-4E75-B40F-8ECE5618F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495550"/>
            <a:ext cx="2571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Validated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analysis tool</a:t>
            </a:r>
          </a:p>
        </p:txBody>
      </p:sp>
      <p:sp>
        <p:nvSpPr>
          <p:cNvPr id="12" name="q4">
            <a:extLst xmlns:a="http://schemas.openxmlformats.org/drawingml/2006/main">
              <a:ext uri="{FF2B5EF4-FFF2-40B4-BE49-F238E27FC236}">
                <a16:creationId xmlns:a16="http://schemas.microsoft.com/office/drawing/2014/main" id="{0D16EA71-EDF2-4D35-A7CB-0C6E98856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43150"/>
            <a:ext cx="285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Clinical claim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Unverified statistic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Citation-sensitive summary</a:t>
            </a:r>
          </a:p>
        </p:txBody>
      </p:sp>
      <p:sp>
        <p:nvSpPr>
          <p:cNvPr id="13" name="matrix-note">
            <a:extLst xmlns:a="http://schemas.openxmlformats.org/drawingml/2006/main">
              <a:ext uri="{FF2B5EF4-FFF2-40B4-BE49-F238E27FC236}">
                <a16:creationId xmlns:a16="http://schemas.microsoft.com/office/drawing/2014/main" id="{136418FD-13F6-4BAA-97D7-4994FF819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905500"/>
            <a:ext cx="7448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能跑不是標準；可追溯、可測試、可解釋才是標準。</a:t>
            </a:r>
          </a:p>
        </p:txBody>
      </p:sp>
    </p:spTree>
    <p:extLst>
      <p:ext uri="{BB962C8B-B14F-4D97-AF65-F5344CB8AC3E}">
        <p14:creationId xmlns:p14="http://schemas.microsoft.com/office/powerpoint/2010/main" val="143173300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85D59E1A-A132-4EC0-B594-AE0237AB0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DESKTOP UTILITIES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D01936A-EFAE-48BD-BB18-7C65FAFDE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Desktop utilities 把研究者的日常材料接進 workflow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C614FB71-07B4-4487-A80D-141D5123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17/22</a:t>
            </a:r>
          </a:p>
        </p:txBody>
      </p:sp>
      <p:sp>
        <p:nvSpPr>
          <p:cNvPr id="4" name="tool-0">
            <a:extLst xmlns:a="http://schemas.openxmlformats.org/drawingml/2006/main">
              <a:ext uri="{FF2B5EF4-FFF2-40B4-BE49-F238E27FC236}">
                <a16:creationId xmlns:a16="http://schemas.microsoft.com/office/drawing/2014/main" id="{A7E89C94-47A4-4435-92A0-17FCECBF9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962150"/>
            <a:ext cx="1695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Browser</a:t>
            </a:r>
          </a:p>
        </p:txBody>
      </p:sp>
      <p:sp>
        <p:nvSpPr>
          <p:cNvPr id="5" name="use-0">
            <a:extLst xmlns:a="http://schemas.openxmlformats.org/drawingml/2006/main">
              <a:ext uri="{FF2B5EF4-FFF2-40B4-BE49-F238E27FC236}">
                <a16:creationId xmlns:a16="http://schemas.microsoft.com/office/drawing/2014/main" id="{A0C4B330-3FF5-4834-AD68-D82A602C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05740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PubMed / guideline / database</a:t>
            </a:r>
          </a:p>
        </p:txBody>
      </p:sp>
      <p:sp>
        <p:nvSpPr>
          <p:cNvPr id="6" name="link-0">
            <a:extLst xmlns:a="http://schemas.openxmlformats.org/drawingml/2006/main">
              <a:ext uri="{FF2B5EF4-FFF2-40B4-BE49-F238E27FC236}">
                <a16:creationId xmlns:a16="http://schemas.microsoft.com/office/drawing/2014/main" id="{D7CFC5E3-CB97-42FB-988F-1D92C1B4A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1907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7" name="tool-1">
            <a:extLst xmlns:a="http://schemas.openxmlformats.org/drawingml/2006/main">
              <a:ext uri="{FF2B5EF4-FFF2-40B4-BE49-F238E27FC236}">
                <a16:creationId xmlns:a16="http://schemas.microsoft.com/office/drawing/2014/main" id="{64CE78E6-0531-4F75-86A0-598D051EC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09850"/>
            <a:ext cx="1695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Files</a:t>
            </a:r>
          </a:p>
        </p:txBody>
      </p:sp>
      <p:sp>
        <p:nvSpPr>
          <p:cNvPr id="8" name="use-1">
            <a:extLst xmlns:a="http://schemas.openxmlformats.org/drawingml/2006/main">
              <a:ext uri="{FF2B5EF4-FFF2-40B4-BE49-F238E27FC236}">
                <a16:creationId xmlns:a16="http://schemas.microsoft.com/office/drawing/2014/main" id="{EEF7A8F5-ADA5-4CA5-B161-ED14DD9ED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70510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PDF / CSV / Excel / notes</a:t>
            </a:r>
          </a:p>
        </p:txBody>
      </p:sp>
      <p:sp>
        <p:nvSpPr>
          <p:cNvPr id="9" name="link-1">
            <a:extLst xmlns:a="http://schemas.openxmlformats.org/drawingml/2006/main">
              <a:ext uri="{FF2B5EF4-FFF2-40B4-BE49-F238E27FC236}">
                <a16:creationId xmlns:a16="http://schemas.microsoft.com/office/drawing/2014/main" id="{448D58B6-E626-46F7-8C78-5160A7821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8384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0" name="tool-2">
            <a:extLst xmlns:a="http://schemas.openxmlformats.org/drawingml/2006/main">
              <a:ext uri="{FF2B5EF4-FFF2-40B4-BE49-F238E27FC236}">
                <a16:creationId xmlns:a16="http://schemas.microsoft.com/office/drawing/2014/main" id="{82536C11-D239-4BC2-80A3-7D4EA0384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257550"/>
            <a:ext cx="1695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Terminal</a:t>
            </a:r>
          </a:p>
        </p:txBody>
      </p:sp>
      <p:sp>
        <p:nvSpPr>
          <p:cNvPr id="11" name="use-2">
            <a:extLst xmlns:a="http://schemas.openxmlformats.org/drawingml/2006/main">
              <a:ext uri="{FF2B5EF4-FFF2-40B4-BE49-F238E27FC236}">
                <a16:creationId xmlns:a16="http://schemas.microsoft.com/office/drawing/2014/main" id="{832DBDB9-9D4C-481E-83A7-8B848DB97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35280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轉檔、檢查欄位、跑 script</a:t>
            </a:r>
          </a:p>
        </p:txBody>
      </p:sp>
      <p:sp>
        <p:nvSpPr>
          <p:cNvPr id="12" name="link-2">
            <a:extLst xmlns:a="http://schemas.openxmlformats.org/drawingml/2006/main">
              <a:ext uri="{FF2B5EF4-FFF2-40B4-BE49-F238E27FC236}">
                <a16:creationId xmlns:a16="http://schemas.microsoft.com/office/drawing/2014/main" id="{BDCFB45A-350B-4FDD-B1A1-EF4B16017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4861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3" name="tool-3">
            <a:extLst xmlns:a="http://schemas.openxmlformats.org/drawingml/2006/main">
              <a:ext uri="{FF2B5EF4-FFF2-40B4-BE49-F238E27FC236}">
                <a16:creationId xmlns:a16="http://schemas.microsoft.com/office/drawing/2014/main" id="{FCF6D8BE-C356-42C6-86DF-B9551C62C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905250"/>
            <a:ext cx="1695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Spreadsheet</a:t>
            </a:r>
          </a:p>
        </p:txBody>
      </p:sp>
      <p:sp>
        <p:nvSpPr>
          <p:cNvPr id="14" name="use-3">
            <a:extLst xmlns:a="http://schemas.openxmlformats.org/drawingml/2006/main">
              <a:ext uri="{FF2B5EF4-FFF2-40B4-BE49-F238E27FC236}">
                <a16:creationId xmlns:a16="http://schemas.microsoft.com/office/drawing/2014/main" id="{EF389987-C681-43B3-8A3D-70CD90A75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00050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evidence table 與人工 review</a:t>
            </a:r>
          </a:p>
        </p:txBody>
      </p:sp>
      <p:sp>
        <p:nvSpPr>
          <p:cNvPr id="15" name="link-3">
            <a:extLst xmlns:a="http://schemas.openxmlformats.org/drawingml/2006/main">
              <a:ext uri="{FF2B5EF4-FFF2-40B4-BE49-F238E27FC236}">
                <a16:creationId xmlns:a16="http://schemas.microsoft.com/office/drawing/2014/main" id="{F66FCDC7-8D85-4B00-9953-FAE206195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1338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6" name="tool-4">
            <a:extLst xmlns:a="http://schemas.openxmlformats.org/drawingml/2006/main">
              <a:ext uri="{FF2B5EF4-FFF2-40B4-BE49-F238E27FC236}">
                <a16:creationId xmlns:a16="http://schemas.microsoft.com/office/drawing/2014/main" id="{1A02A3CE-301E-4893-A361-E8593D841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552950"/>
            <a:ext cx="1695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Notes</a:t>
            </a:r>
          </a:p>
        </p:txBody>
      </p:sp>
      <p:sp>
        <p:nvSpPr>
          <p:cNvPr id="17" name="use-4">
            <a:extLst xmlns:a="http://schemas.openxmlformats.org/drawingml/2006/main">
              <a:ext uri="{FF2B5EF4-FFF2-40B4-BE49-F238E27FC236}">
                <a16:creationId xmlns:a16="http://schemas.microsoft.com/office/drawing/2014/main" id="{AE1DAB81-DC1D-43F0-9509-5D8A23E2A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64820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research log 與 limitations</a:t>
            </a:r>
          </a:p>
        </p:txBody>
      </p:sp>
      <p:sp>
        <p:nvSpPr>
          <p:cNvPr id="18" name="link-4">
            <a:extLst xmlns:a="http://schemas.openxmlformats.org/drawingml/2006/main">
              <a:ext uri="{FF2B5EF4-FFF2-40B4-BE49-F238E27FC236}">
                <a16:creationId xmlns:a16="http://schemas.microsoft.com/office/drawing/2014/main" id="{4AD74D92-23C5-4DBD-9883-A246372B6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7815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9" name="bottom">
            <a:extLst xmlns:a="http://schemas.openxmlformats.org/drawingml/2006/main">
              <a:ext uri="{FF2B5EF4-FFF2-40B4-BE49-F238E27FC236}">
                <a16:creationId xmlns:a16="http://schemas.microsoft.com/office/drawing/2014/main" id="{628E71AE-022C-4CDD-9EF5-9D4A75B71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5816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價值不是神奇自動化，而是減少手動搬運、遺漏與不可追溯。</a:t>
            </a:r>
          </a:p>
        </p:txBody>
      </p:sp>
    </p:spTree>
    <p:extLst>
      <p:ext uri="{BB962C8B-B14F-4D97-AF65-F5344CB8AC3E}">
        <p14:creationId xmlns:p14="http://schemas.microsoft.com/office/powerpoint/2010/main" val="104617667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0A634C0C-5601-4DF3-A324-6B215061A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TOOL-USE LIFECYCLE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48199B8-2B0A-49AF-AE73-23A86FEA7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每次工具呼叫都要能被觀察與記錄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BB85A6F8-7B1E-4A41-AF2E-0F9898E79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18/22</a:t>
            </a:r>
          </a:p>
        </p:txBody>
      </p:sp>
      <p:sp>
        <p:nvSpPr>
          <p:cNvPr id="4" name="flow">
            <a:extLst xmlns:a="http://schemas.openxmlformats.org/drawingml/2006/main">
              <a:ext uri="{FF2B5EF4-FFF2-40B4-BE49-F238E27FC236}">
                <a16:creationId xmlns:a16="http://schemas.microsoft.com/office/drawing/2014/main" id="{3CA72339-79E3-4B2A-8086-915AFC135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219450"/>
            <a:ext cx="800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D4DADD"/>
            </a:solidFill>
            <a:prstDash val="solid"/>
          </a:ln>
        </p:spPr>
      </p:sp>
      <p:sp>
        <p:nvSpPr>
          <p:cNvPr id="5" name="step-0">
            <a:extLst xmlns:a="http://schemas.openxmlformats.org/drawingml/2006/main">
              <a:ext uri="{FF2B5EF4-FFF2-40B4-BE49-F238E27FC236}">
                <a16:creationId xmlns:a16="http://schemas.microsoft.com/office/drawing/2014/main" id="{F3FEC798-A844-4C60-824B-6A43691AD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724150"/>
            <a:ext cx="1619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Call</a:t>
            </a:r>
          </a:p>
        </p:txBody>
      </p:sp>
      <p:sp>
        <p:nvSpPr>
          <p:cNvPr id="6" name="copy-0">
            <a:extLst xmlns:a="http://schemas.openxmlformats.org/drawingml/2006/main">
              <a:ext uri="{FF2B5EF4-FFF2-40B4-BE49-F238E27FC236}">
                <a16:creationId xmlns:a16="http://schemas.microsoft.com/office/drawing/2014/main" id="{3CF13221-678A-4E93-B993-3212A01DE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195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structured input</a:t>
            </a:r>
          </a:p>
        </p:txBody>
      </p:sp>
      <p:sp>
        <p:nvSpPr>
          <p:cNvPr id="7" name="step-1">
            <a:extLst xmlns:a="http://schemas.openxmlformats.org/drawingml/2006/main">
              <a:ext uri="{FF2B5EF4-FFF2-40B4-BE49-F238E27FC236}">
                <a16:creationId xmlns:a16="http://schemas.microsoft.com/office/drawing/2014/main" id="{33FCDB26-32F8-4423-ACC0-17EE2DCCB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24150"/>
            <a:ext cx="1619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Observe</a:t>
            </a:r>
          </a:p>
        </p:txBody>
      </p:sp>
      <p:sp>
        <p:nvSpPr>
          <p:cNvPr id="8" name="copy-1">
            <a:extLst xmlns:a="http://schemas.openxmlformats.org/drawingml/2006/main">
              <a:ext uri="{FF2B5EF4-FFF2-40B4-BE49-F238E27FC236}">
                <a16:creationId xmlns:a16="http://schemas.microsoft.com/office/drawing/2014/main" id="{B26A5931-0269-435A-8354-33C43AD01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6195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tool output</a:t>
            </a:r>
          </a:p>
        </p:txBody>
      </p:sp>
      <p:sp>
        <p:nvSpPr>
          <p:cNvPr id="9" name="step-2">
            <a:extLst xmlns:a="http://schemas.openxmlformats.org/drawingml/2006/main">
              <a:ext uri="{FF2B5EF4-FFF2-40B4-BE49-F238E27FC236}">
                <a16:creationId xmlns:a16="http://schemas.microsoft.com/office/drawing/2014/main" id="{0B475144-B8AF-4FC2-9DCC-3E3C8E0F3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24150"/>
            <a:ext cx="1619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Validate</a:t>
            </a:r>
          </a:p>
        </p:txBody>
      </p:sp>
      <p:sp>
        <p:nvSpPr>
          <p:cNvPr id="10" name="copy-2">
            <a:extLst xmlns:a="http://schemas.openxmlformats.org/drawingml/2006/main">
              <a:ext uri="{FF2B5EF4-FFF2-40B4-BE49-F238E27FC236}">
                <a16:creationId xmlns:a16="http://schemas.microsoft.com/office/drawing/2014/main" id="{32444D9E-0BF2-440E-9617-1AFBCDFC8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195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schema + source</a:t>
            </a:r>
          </a:p>
        </p:txBody>
      </p:sp>
      <p:sp>
        <p:nvSpPr>
          <p:cNvPr id="11" name="step-3">
            <a:extLst xmlns:a="http://schemas.openxmlformats.org/drawingml/2006/main">
              <a:ext uri="{FF2B5EF4-FFF2-40B4-BE49-F238E27FC236}">
                <a16:creationId xmlns:a16="http://schemas.microsoft.com/office/drawing/2014/main" id="{62657431-B0C5-46BE-833D-EBC097939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724150"/>
            <a:ext cx="1619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Record</a:t>
            </a:r>
          </a:p>
        </p:txBody>
      </p:sp>
      <p:sp>
        <p:nvSpPr>
          <p:cNvPr id="12" name="copy-3">
            <a:extLst xmlns:a="http://schemas.openxmlformats.org/drawingml/2006/main">
              <a:ext uri="{FF2B5EF4-FFF2-40B4-BE49-F238E27FC236}">
                <a16:creationId xmlns:a16="http://schemas.microsoft.com/office/drawing/2014/main" id="{3E6710EA-9BA2-4ABA-BCE0-ABE1C7993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6195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log + artifact</a:t>
            </a:r>
          </a:p>
        </p:txBody>
      </p:sp>
      <p:sp>
        <p:nvSpPr>
          <p:cNvPr id="13" name="example">
            <a:extLst xmlns:a="http://schemas.openxmlformats.org/drawingml/2006/main">
              <a:ext uri="{FF2B5EF4-FFF2-40B4-BE49-F238E27FC236}">
                <a16:creationId xmlns:a16="http://schemas.microsoft.com/office/drawing/2014/main" id="{E8FF0906-FF32-47FE-9A0E-DF1961EBC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762500"/>
            <a:ext cx="81915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4" name="example-text">
            <a:extLst xmlns:a="http://schemas.openxmlformats.org/drawingml/2006/main">
              <a:ext uri="{FF2B5EF4-FFF2-40B4-BE49-F238E27FC236}">
                <a16:creationId xmlns:a16="http://schemas.microsoft.com/office/drawing/2014/main" id="{A8F84BE5-382C-41DB-A463-AB1D17C65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99110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Example: PubMed query -&gt; PMID list -&gt; DOI check -&gt; evidence_table row</a:t>
            </a:r>
          </a:p>
        </p:txBody>
      </p:sp>
    </p:spTree>
    <p:extLst>
      <p:ext uri="{BB962C8B-B14F-4D97-AF65-F5344CB8AC3E}">
        <p14:creationId xmlns:p14="http://schemas.microsoft.com/office/powerpoint/2010/main" val="64516751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FB6DA91F-CB02-4A4D-BA8E-769372E95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FAILURE MODES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0A8407B-87B3-4A77-9C9C-E735C0B13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workflow 常見錯誤多半不是語法錯，而是流程錯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53C0B4D4-6F04-4785-A4BD-4AEC89865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19/22</a:t>
            </a:r>
          </a:p>
        </p:txBody>
      </p:sp>
      <p:sp>
        <p:nvSpPr>
          <p:cNvPr id="4" name="f-0">
            <a:extLst xmlns:a="http://schemas.openxmlformats.org/drawingml/2006/main">
              <a:ext uri="{FF2B5EF4-FFF2-40B4-BE49-F238E27FC236}">
                <a16:creationId xmlns:a16="http://schemas.microsoft.com/office/drawing/2014/main" id="{3B6BA857-131C-41E6-B25B-460DC2950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193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5" name="f-title-0">
            <a:extLst xmlns:a="http://schemas.openxmlformats.org/drawingml/2006/main">
              <a:ext uri="{FF2B5EF4-FFF2-40B4-BE49-F238E27FC236}">
                <a16:creationId xmlns:a16="http://schemas.microsoft.com/office/drawing/2014/main" id="{CE6A349A-3E8D-4AD3-864F-C64941F32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228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Wrong tool</a:t>
            </a:r>
          </a:p>
        </p:txBody>
      </p:sp>
      <p:sp>
        <p:nvSpPr>
          <p:cNvPr id="6" name="f-copy-0">
            <a:extLst xmlns:a="http://schemas.openxmlformats.org/drawingml/2006/main">
              <a:ext uri="{FF2B5EF4-FFF2-40B4-BE49-F238E27FC236}">
                <a16:creationId xmlns:a16="http://schemas.microsoft.com/office/drawing/2014/main" id="{1A5B68DD-8A06-4A6E-B715-15016F971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09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查錯資料庫或讀錯檔</a:t>
            </a:r>
          </a:p>
        </p:txBody>
      </p:sp>
      <p:sp>
        <p:nvSpPr>
          <p:cNvPr id="7" name="f-1">
            <a:extLst xmlns:a="http://schemas.openxmlformats.org/drawingml/2006/main">
              <a:ext uri="{FF2B5EF4-FFF2-40B4-BE49-F238E27FC236}">
                <a16:creationId xmlns:a16="http://schemas.microsoft.com/office/drawing/2014/main" id="{809595CF-148F-4A77-8654-F6A4C81CE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193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8" name="f-title-1">
            <a:extLst xmlns:a="http://schemas.openxmlformats.org/drawingml/2006/main">
              <a:ext uri="{FF2B5EF4-FFF2-40B4-BE49-F238E27FC236}">
                <a16:creationId xmlns:a16="http://schemas.microsoft.com/office/drawing/2014/main" id="{41084BE6-9927-4A5E-B6DF-D6D7DEE59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228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Context drift</a:t>
            </a:r>
          </a:p>
        </p:txBody>
      </p:sp>
      <p:sp>
        <p:nvSpPr>
          <p:cNvPr id="9" name="f-copy-1">
            <a:extLst xmlns:a="http://schemas.openxmlformats.org/drawingml/2006/main">
              <a:ext uri="{FF2B5EF4-FFF2-40B4-BE49-F238E27FC236}">
                <a16:creationId xmlns:a16="http://schemas.microsoft.com/office/drawing/2014/main" id="{6030C2E6-A5F6-4DCC-84AB-456BB25DD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609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任務做一做偏掉</a:t>
            </a:r>
          </a:p>
        </p:txBody>
      </p:sp>
      <p:sp>
        <p:nvSpPr>
          <p:cNvPr id="10" name="f-2">
            <a:extLst xmlns:a="http://schemas.openxmlformats.org/drawingml/2006/main">
              <a:ext uri="{FF2B5EF4-FFF2-40B4-BE49-F238E27FC236}">
                <a16:creationId xmlns:a16="http://schemas.microsoft.com/office/drawing/2014/main" id="{0DDD8B95-81A5-44D0-B8B3-6C0984779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193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f-title-2">
            <a:extLst xmlns:a="http://schemas.openxmlformats.org/drawingml/2006/main">
              <a:ext uri="{FF2B5EF4-FFF2-40B4-BE49-F238E27FC236}">
                <a16:creationId xmlns:a16="http://schemas.microsoft.com/office/drawing/2014/main" id="{A3C65794-CCA3-4645-8A51-B440F068B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28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Citation laundering</a:t>
            </a:r>
          </a:p>
        </p:txBody>
      </p:sp>
      <p:sp>
        <p:nvSpPr>
          <p:cNvPr id="12" name="f-copy-2">
            <a:extLst xmlns:a="http://schemas.openxmlformats.org/drawingml/2006/main">
              <a:ext uri="{FF2B5EF4-FFF2-40B4-BE49-F238E27FC236}">
                <a16:creationId xmlns:a16="http://schemas.microsoft.com/office/drawing/2014/main" id="{A402612C-B600-4778-8196-59A7E6346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09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citation 支撐錯 claim</a:t>
            </a:r>
          </a:p>
        </p:txBody>
      </p:sp>
      <p:sp>
        <p:nvSpPr>
          <p:cNvPr id="13" name="f-3">
            <a:extLst xmlns:a="http://schemas.openxmlformats.org/drawingml/2006/main">
              <a:ext uri="{FF2B5EF4-FFF2-40B4-BE49-F238E27FC236}">
                <a16:creationId xmlns:a16="http://schemas.microsoft.com/office/drawing/2014/main" id="{170EAB90-57AF-4719-966C-D16A420E2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290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4" name="f-title-3">
            <a:extLst xmlns:a="http://schemas.openxmlformats.org/drawingml/2006/main">
              <a:ext uri="{FF2B5EF4-FFF2-40B4-BE49-F238E27FC236}">
                <a16:creationId xmlns:a16="http://schemas.microsoft.com/office/drawing/2014/main" id="{1FFBD946-E1D7-4AC3-B584-37EABBF73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Silent data mutation</a:t>
            </a:r>
          </a:p>
        </p:txBody>
      </p:sp>
      <p:sp>
        <p:nvSpPr>
          <p:cNvPr id="15" name="f-copy-3">
            <a:extLst xmlns:a="http://schemas.openxmlformats.org/drawingml/2006/main">
              <a:ext uri="{FF2B5EF4-FFF2-40B4-BE49-F238E27FC236}">
                <a16:creationId xmlns:a16="http://schemas.microsoft.com/office/drawing/2014/main" id="{133DB639-AC46-45C9-B112-3A1CD8C29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19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欄位或樣本被改壞</a:t>
            </a:r>
          </a:p>
        </p:txBody>
      </p:sp>
      <p:sp>
        <p:nvSpPr>
          <p:cNvPr id="16" name="f-4">
            <a:extLst xmlns:a="http://schemas.openxmlformats.org/drawingml/2006/main">
              <a:ext uri="{FF2B5EF4-FFF2-40B4-BE49-F238E27FC236}">
                <a16:creationId xmlns:a16="http://schemas.microsoft.com/office/drawing/2014/main" id="{31C2A9FF-A220-4272-A7BA-1302929DD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4290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7" name="f-title-4">
            <a:extLst xmlns:a="http://schemas.openxmlformats.org/drawingml/2006/main">
              <a:ext uri="{FF2B5EF4-FFF2-40B4-BE49-F238E27FC236}">
                <a16:creationId xmlns:a16="http://schemas.microsoft.com/office/drawing/2014/main" id="{630FA251-2E68-4B83-86A2-A9CD93213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638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No stop condition</a:t>
            </a:r>
          </a:p>
        </p:txBody>
      </p:sp>
      <p:sp>
        <p:nvSpPr>
          <p:cNvPr id="18" name="f-copy-4">
            <a:extLst xmlns:a="http://schemas.openxmlformats.org/drawingml/2006/main">
              <a:ext uri="{FF2B5EF4-FFF2-40B4-BE49-F238E27FC236}">
                <a16:creationId xmlns:a16="http://schemas.microsoft.com/office/drawing/2014/main" id="{5D0D40FE-DD41-426F-A4EF-03537A6BD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019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一直重試或太早交付</a:t>
            </a:r>
          </a:p>
        </p:txBody>
      </p:sp>
      <p:sp>
        <p:nvSpPr>
          <p:cNvPr id="19" name="f-5">
            <a:extLst xmlns:a="http://schemas.openxmlformats.org/drawingml/2006/main">
              <a:ext uri="{FF2B5EF4-FFF2-40B4-BE49-F238E27FC236}">
                <a16:creationId xmlns:a16="http://schemas.microsoft.com/office/drawing/2014/main" id="{39ED888F-1F48-436F-A4DA-4054FC38F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4290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20" name="f-title-5">
            <a:extLst xmlns:a="http://schemas.openxmlformats.org/drawingml/2006/main">
              <a:ext uri="{FF2B5EF4-FFF2-40B4-BE49-F238E27FC236}">
                <a16:creationId xmlns:a16="http://schemas.microsoft.com/office/drawing/2014/main" id="{2020E089-CA45-46D6-907D-8597563B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638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Prompt injection</a:t>
            </a:r>
          </a:p>
        </p:txBody>
      </p:sp>
      <p:sp>
        <p:nvSpPr>
          <p:cNvPr id="21" name="f-copy-5">
            <a:extLst xmlns:a="http://schemas.openxmlformats.org/drawingml/2006/main">
              <a:ext uri="{FF2B5EF4-FFF2-40B4-BE49-F238E27FC236}">
                <a16:creationId xmlns:a16="http://schemas.microsoft.com/office/drawing/2014/main" id="{9B95AB00-71B8-4C08-94C9-875270CFE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019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來源文字誘導 agent</a:t>
            </a:r>
          </a:p>
        </p:txBody>
      </p:sp>
      <p:sp>
        <p:nvSpPr>
          <p:cNvPr id="22" name="bottom">
            <a:extLst xmlns:a="http://schemas.openxmlformats.org/drawingml/2006/main">
              <a:ext uri="{FF2B5EF4-FFF2-40B4-BE49-F238E27FC236}">
                <a16:creationId xmlns:a16="http://schemas.microsoft.com/office/drawing/2014/main" id="{72761F04-6047-4926-8648-EE9447D0F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5626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失敗模式要寫進 task spec、checks 與 human review rule。</a:t>
            </a:r>
          </a:p>
        </p:txBody>
      </p:sp>
    </p:spTree>
    <p:extLst>
      <p:ext uri="{BB962C8B-B14F-4D97-AF65-F5344CB8AC3E}">
        <p14:creationId xmlns:p14="http://schemas.microsoft.com/office/powerpoint/2010/main" val="64441382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1F51043F-E47F-41F1-9A05-14657B879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CLASS EXERCISE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2F9E6A3-714A-44C0-9A86-BFF3F17CE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三個任務先判斷，再決定 agent 能做多少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F3696578-3B54-4B65-A6FC-A39F5D2AB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20/22</a:t>
            </a:r>
          </a:p>
        </p:txBody>
      </p:sp>
      <p:sp>
        <p:nvSpPr>
          <p:cNvPr id="4" name="case-0">
            <a:extLst xmlns:a="http://schemas.openxmlformats.org/drawingml/2006/main">
              <a:ext uri="{FF2B5EF4-FFF2-40B4-BE49-F238E27FC236}">
                <a16:creationId xmlns:a16="http://schemas.microsoft.com/office/drawing/2014/main" id="{8950BA49-6389-49C7-9369-452EAEC61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95500"/>
            <a:ext cx="29908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5" name="case-label-0">
            <a:extLst xmlns:a="http://schemas.openxmlformats.org/drawingml/2006/main">
              <a:ext uri="{FF2B5EF4-FFF2-40B4-BE49-F238E27FC236}">
                <a16:creationId xmlns:a16="http://schemas.microsoft.com/office/drawing/2014/main" id="{1E6D51BB-E4AE-400B-9B7C-02E70F50D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40030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6" name="case-copy-0">
            <a:extLst xmlns:a="http://schemas.openxmlformats.org/drawingml/2006/main">
              <a:ext uri="{FF2B5EF4-FFF2-40B4-BE49-F238E27FC236}">
                <a16:creationId xmlns:a16="http://schemas.microsoft.com/office/drawing/2014/main" id="{4B87694A-3409-48B5-9D74-CEBCECEDE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0515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PubMed 搜尋結果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整理成 evidence table</a:t>
            </a:r>
          </a:p>
        </p:txBody>
      </p:sp>
      <p:sp>
        <p:nvSpPr>
          <p:cNvPr id="7" name="case-1">
            <a:extLst xmlns:a="http://schemas.openxmlformats.org/drawingml/2006/main">
              <a:ext uri="{FF2B5EF4-FFF2-40B4-BE49-F238E27FC236}">
                <a16:creationId xmlns:a16="http://schemas.microsoft.com/office/drawing/2014/main" id="{8F071990-E1FD-44FD-A061-2F7DB7FEF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095500"/>
            <a:ext cx="29908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8" name="case-label-1">
            <a:extLst xmlns:a="http://schemas.openxmlformats.org/drawingml/2006/main">
              <a:ext uri="{FF2B5EF4-FFF2-40B4-BE49-F238E27FC236}">
                <a16:creationId xmlns:a16="http://schemas.microsoft.com/office/drawing/2014/main" id="{C2F4C9E2-0D3E-46DD-A5F0-9F2FB682D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40030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C85A4A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B</a:t>
            </a:r>
          </a:p>
        </p:txBody>
      </p:sp>
      <p:sp>
        <p:nvSpPr>
          <p:cNvPr id="9" name="case-copy-1">
            <a:extLst xmlns:a="http://schemas.openxmlformats.org/drawingml/2006/main">
              <a:ext uri="{FF2B5EF4-FFF2-40B4-BE49-F238E27FC236}">
                <a16:creationId xmlns:a16="http://schemas.microsoft.com/office/drawing/2014/main" id="{61995C48-7B09-44E6-B6AD-6D9FE064D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10515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判斷某 variant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是否 pathogenic</a:t>
            </a:r>
          </a:p>
        </p:txBody>
      </p:sp>
      <p:sp>
        <p:nvSpPr>
          <p:cNvPr id="10" name="case-2">
            <a:extLst xmlns:a="http://schemas.openxmlformats.org/drawingml/2006/main">
              <a:ext uri="{FF2B5EF4-FFF2-40B4-BE49-F238E27FC236}">
                <a16:creationId xmlns:a16="http://schemas.microsoft.com/office/drawing/2014/main" id="{DC4C1C4F-9360-48B6-85A6-88BCB6485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95500"/>
            <a:ext cx="29908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11" name="case-label-2">
            <a:extLst xmlns:a="http://schemas.openxmlformats.org/drawingml/2006/main">
              <a:ext uri="{FF2B5EF4-FFF2-40B4-BE49-F238E27FC236}">
                <a16:creationId xmlns:a16="http://schemas.microsoft.com/office/drawing/2014/main" id="{A654B201-9895-4009-A578-C6BFC7974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40030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</a:t>
            </a:r>
          </a:p>
        </p:txBody>
      </p:sp>
      <p:sp>
        <p:nvSpPr>
          <p:cNvPr id="12" name="case-copy-2">
            <a:extLst xmlns:a="http://schemas.openxmlformats.org/drawingml/2006/main">
              <a:ext uri="{FF2B5EF4-FFF2-40B4-BE49-F238E27FC236}">
                <a16:creationId xmlns:a16="http://schemas.microsoft.com/office/drawing/2014/main" id="{A595C39E-7819-4D6D-9437-169FFE8D2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10515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幫一份 CSV 產生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QC summary 與圖表</a:t>
            </a:r>
          </a:p>
        </p:txBody>
      </p:sp>
      <p:sp>
        <p:nvSpPr>
          <p:cNvPr id="13" name="prompt">
            <a:extLst xmlns:a="http://schemas.openxmlformats.org/drawingml/2006/main">
              <a:ext uri="{FF2B5EF4-FFF2-40B4-BE49-F238E27FC236}">
                <a16:creationId xmlns:a16="http://schemas.microsoft.com/office/drawing/2014/main" id="{3C50D31D-6F88-4B96-8534-1DD236A97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105400"/>
            <a:ext cx="941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每組標出：agent 可以做什麼、需要哪些工具、怎麼驗證、何時 human review。</a:t>
            </a:r>
          </a:p>
        </p:txBody>
      </p:sp>
    </p:spTree>
    <p:extLst>
      <p:ext uri="{BB962C8B-B14F-4D97-AF65-F5344CB8AC3E}">
        <p14:creationId xmlns:p14="http://schemas.microsoft.com/office/powerpoint/2010/main" val="556287042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E8D60C68-77AD-48D0-8220-32AE6A4E7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WORKSHEET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8B0BD58-607C-435F-A83B-3E851EE89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把研究任務改寫成 agent-ready workflow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B170E8C0-8F31-48FA-9401-1A9914B78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21/22</a:t>
            </a:r>
          </a:p>
        </p:txBody>
      </p:sp>
      <p:sp>
        <p:nvSpPr>
          <p:cNvPr id="4" name="worksheet-0">
            <a:extLst xmlns:a="http://schemas.openxmlformats.org/drawingml/2006/main">
              <a:ext uri="{FF2B5EF4-FFF2-40B4-BE49-F238E27FC236}">
                <a16:creationId xmlns:a16="http://schemas.microsoft.com/office/drawing/2014/main" id="{F08712C1-5569-4D54-B286-729CE6358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05050"/>
            <a:ext cx="1752600" cy="18859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5" name="worksheet-head-0">
            <a:extLst xmlns:a="http://schemas.openxmlformats.org/drawingml/2006/main">
              <a:ext uri="{FF2B5EF4-FFF2-40B4-BE49-F238E27FC236}">
                <a16:creationId xmlns:a16="http://schemas.microsoft.com/office/drawing/2014/main" id="{6C0A8051-891E-460B-837A-FAAFDD682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527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6" name="worksheet-sub-0">
            <a:extLst xmlns:a="http://schemas.openxmlformats.org/drawingml/2006/main">
              <a:ext uri="{FF2B5EF4-FFF2-40B4-BE49-F238E27FC236}">
                <a16:creationId xmlns:a16="http://schemas.microsoft.com/office/drawing/2014/main" id="{9FAE6FDF-6929-4CEB-ADAB-CA04C6091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143250"/>
            <a:ext cx="148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要回答什麼</a:t>
            </a:r>
          </a:p>
        </p:txBody>
      </p:sp>
      <p:sp>
        <p:nvSpPr>
          <p:cNvPr id="7" name="worksheet-1">
            <a:extLst xmlns:a="http://schemas.openxmlformats.org/drawingml/2006/main">
              <a:ext uri="{FF2B5EF4-FFF2-40B4-BE49-F238E27FC236}">
                <a16:creationId xmlns:a16="http://schemas.microsoft.com/office/drawing/2014/main" id="{E620956A-512C-4506-88E7-C0E991B7C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05050"/>
            <a:ext cx="1752600" cy="18859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8" name="worksheet-head-1">
            <a:extLst xmlns:a="http://schemas.openxmlformats.org/drawingml/2006/main">
              <a:ext uri="{FF2B5EF4-FFF2-40B4-BE49-F238E27FC236}">
                <a16:creationId xmlns:a16="http://schemas.microsoft.com/office/drawing/2014/main" id="{F5626655-F214-4CED-9021-CCF99AECA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5527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Inputs</a:t>
            </a:r>
          </a:p>
        </p:txBody>
      </p:sp>
      <p:sp>
        <p:nvSpPr>
          <p:cNvPr id="9" name="worksheet-sub-1">
            <a:extLst xmlns:a="http://schemas.openxmlformats.org/drawingml/2006/main">
              <a:ext uri="{FF2B5EF4-FFF2-40B4-BE49-F238E27FC236}">
                <a16:creationId xmlns:a16="http://schemas.microsoft.com/office/drawing/2014/main" id="{8DBA2DBB-E238-4478-9BB0-643094E20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143250"/>
            <a:ext cx="148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資料與版本</a:t>
            </a:r>
          </a:p>
        </p:txBody>
      </p:sp>
      <p:sp>
        <p:nvSpPr>
          <p:cNvPr id="10" name="worksheet-2">
            <a:extLst xmlns:a="http://schemas.openxmlformats.org/drawingml/2006/main">
              <a:ext uri="{FF2B5EF4-FFF2-40B4-BE49-F238E27FC236}">
                <a16:creationId xmlns:a16="http://schemas.microsoft.com/office/drawing/2014/main" id="{EDC2793D-6E3F-4445-99EB-E9927EE56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305050"/>
            <a:ext cx="1752600" cy="18859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worksheet-head-2">
            <a:extLst xmlns:a="http://schemas.openxmlformats.org/drawingml/2006/main">
              <a:ext uri="{FF2B5EF4-FFF2-40B4-BE49-F238E27FC236}">
                <a16:creationId xmlns:a16="http://schemas.microsoft.com/office/drawing/2014/main" id="{E9F32C54-4D15-43A8-A9C4-D1DBDAFF1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5527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12" name="worksheet-sub-2">
            <a:extLst xmlns:a="http://schemas.openxmlformats.org/drawingml/2006/main">
              <a:ext uri="{FF2B5EF4-FFF2-40B4-BE49-F238E27FC236}">
                <a16:creationId xmlns:a16="http://schemas.microsoft.com/office/drawing/2014/main" id="{C325CE1B-DA47-49E4-8DED-905156E40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143250"/>
            <a:ext cx="148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搜尋、讀檔、腳本</a:t>
            </a:r>
          </a:p>
        </p:txBody>
      </p:sp>
      <p:sp>
        <p:nvSpPr>
          <p:cNvPr id="13" name="worksheet-3">
            <a:extLst xmlns:a="http://schemas.openxmlformats.org/drawingml/2006/main">
              <a:ext uri="{FF2B5EF4-FFF2-40B4-BE49-F238E27FC236}">
                <a16:creationId xmlns:a16="http://schemas.microsoft.com/office/drawing/2014/main" id="{38E8E60C-0801-4A7D-91E7-682A8087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305050"/>
            <a:ext cx="1752600" cy="18859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4" name="worksheet-head-3">
            <a:extLst xmlns:a="http://schemas.openxmlformats.org/drawingml/2006/main">
              <a:ext uri="{FF2B5EF4-FFF2-40B4-BE49-F238E27FC236}">
                <a16:creationId xmlns:a16="http://schemas.microsoft.com/office/drawing/2014/main" id="{11C37FB9-5959-4227-B440-A735C75F4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527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Artifacts</a:t>
            </a:r>
          </a:p>
        </p:txBody>
      </p:sp>
      <p:sp>
        <p:nvSpPr>
          <p:cNvPr id="15" name="worksheet-sub-3">
            <a:extLst xmlns:a="http://schemas.openxmlformats.org/drawingml/2006/main">
              <a:ext uri="{FF2B5EF4-FFF2-40B4-BE49-F238E27FC236}">
                <a16:creationId xmlns:a16="http://schemas.microsoft.com/office/drawing/2014/main" id="{4A0422EE-3291-4288-904D-4783361C2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143250"/>
            <a:ext cx="148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表格、log、note</a:t>
            </a:r>
          </a:p>
        </p:txBody>
      </p:sp>
      <p:sp>
        <p:nvSpPr>
          <p:cNvPr id="16" name="worksheet-4">
            <a:extLst xmlns:a="http://schemas.openxmlformats.org/drawingml/2006/main">
              <a:ext uri="{FF2B5EF4-FFF2-40B4-BE49-F238E27FC236}">
                <a16:creationId xmlns:a16="http://schemas.microsoft.com/office/drawing/2014/main" id="{4049BE1E-AF5C-4C27-8BB1-C3E4A53B2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305050"/>
            <a:ext cx="1752600" cy="18859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17" name="worksheet-head-4">
            <a:extLst xmlns:a="http://schemas.openxmlformats.org/drawingml/2006/main">
              <a:ext uri="{FF2B5EF4-FFF2-40B4-BE49-F238E27FC236}">
                <a16:creationId xmlns:a16="http://schemas.microsoft.com/office/drawing/2014/main" id="{55D5FCE8-EAEC-48ED-B2DA-4C483EE3A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5527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18" name="worksheet-sub-4">
            <a:extLst xmlns:a="http://schemas.openxmlformats.org/drawingml/2006/main">
              <a:ext uri="{FF2B5EF4-FFF2-40B4-BE49-F238E27FC236}">
                <a16:creationId xmlns:a16="http://schemas.microsoft.com/office/drawing/2014/main" id="{B2CC3D64-157F-4F08-BAB4-F713274BD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143250"/>
            <a:ext cx="148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來源與停止條件</a:t>
            </a:r>
          </a:p>
        </p:txBody>
      </p:sp>
      <p:sp>
        <p:nvSpPr>
          <p:cNvPr id="19" name="deliverable">
            <a:extLst xmlns:a="http://schemas.openxmlformats.org/drawingml/2006/main">
              <a:ext uri="{FF2B5EF4-FFF2-40B4-BE49-F238E27FC236}">
                <a16:creationId xmlns:a16="http://schemas.microsoft.com/office/drawing/2014/main" id="{1BC0B421-B309-4CDC-932D-8922E5FB1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895850"/>
            <a:ext cx="82677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20" name="deliverable-text">
            <a:extLst xmlns:a="http://schemas.openxmlformats.org/drawingml/2006/main">
              <a:ext uri="{FF2B5EF4-FFF2-40B4-BE49-F238E27FC236}">
                <a16:creationId xmlns:a16="http://schemas.microsoft.com/office/drawing/2014/main" id="{331F0D6D-D118-473A-87EB-EBCF1F89A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067300"/>
            <a:ext cx="762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Deliverable: 一張 workflow 草圖 + 3 個 failure modes + 2 個 human review gates</a:t>
            </a:r>
          </a:p>
        </p:txBody>
      </p:sp>
    </p:spTree>
    <p:extLst>
      <p:ext uri="{BB962C8B-B14F-4D97-AF65-F5344CB8AC3E}">
        <p14:creationId xmlns:p14="http://schemas.microsoft.com/office/powerpoint/2010/main" val="87821322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1720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ransition-title">
            <a:extLst xmlns:a="http://schemas.openxmlformats.org/drawingml/2006/main">
              <a:ext uri="{FF2B5EF4-FFF2-40B4-BE49-F238E27FC236}">
                <a16:creationId xmlns:a16="http://schemas.microsoft.com/office/drawing/2014/main" id="{DC357532-5B04-432E-901C-6D261EFB4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143000"/>
            <a:ext cx="5334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Next: LLM basics</a:t>
            </a:r>
          </a:p>
        </p:txBody>
      </p:sp>
      <p:sp>
        <p:nvSpPr>
          <p:cNvPr id="2" name="transition-subtitle">
            <a:extLst xmlns:a="http://schemas.openxmlformats.org/drawingml/2006/main">
              <a:ext uri="{FF2B5EF4-FFF2-40B4-BE49-F238E27FC236}">
                <a16:creationId xmlns:a16="http://schemas.microsoft.com/office/drawing/2014/main" id="{E93BB09D-1C2C-41E2-B9AA-375BB2E72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000250"/>
            <a:ext cx="685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0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950" b="0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了解 model，才能設計好的 agent workflow</a:t>
            </a:r>
          </a:p>
        </p:txBody>
      </p:sp>
      <p:sp>
        <p:nvSpPr>
          <p:cNvPr id="3" name="model">
            <a:extLst xmlns:a="http://schemas.openxmlformats.org/drawingml/2006/main">
              <a:ext uri="{FF2B5EF4-FFF2-40B4-BE49-F238E27FC236}">
                <a16:creationId xmlns:a16="http://schemas.microsoft.com/office/drawing/2014/main" id="{F43D5383-85D6-45FB-966E-B178F7903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286000"/>
            <a:ext cx="16002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9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4" name="context">
            <a:extLst xmlns:a="http://schemas.openxmlformats.org/drawingml/2006/main">
              <a:ext uri="{FF2B5EF4-FFF2-40B4-BE49-F238E27FC236}">
                <a16:creationId xmlns:a16="http://schemas.microsoft.com/office/drawing/2014/main" id="{AF9ECA33-0600-4EE5-BB75-3D6EC78CF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38550"/>
            <a:ext cx="13906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6313A"/>
          </a:solidFill>
          <a:ln xmlns:a="http://schemas.openxmlformats.org/drawingml/2006/main" w="12859">
            <a:solidFill>
              <a:srgbClr val="8C98A1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5" name="tools">
            <a:extLst xmlns:a="http://schemas.openxmlformats.org/drawingml/2006/main">
              <a:ext uri="{FF2B5EF4-FFF2-40B4-BE49-F238E27FC236}">
                <a16:creationId xmlns:a16="http://schemas.microsoft.com/office/drawing/2014/main" id="{AF4BFDB0-6421-43C4-BDC2-C639ABA2A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638550"/>
            <a:ext cx="11811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6313A"/>
          </a:solidFill>
          <a:ln xmlns:a="http://schemas.openxmlformats.org/drawingml/2006/main" w="12859">
            <a:solidFill>
              <a:srgbClr val="8C98A1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6" name="verify">
            <a:extLst xmlns:a="http://schemas.openxmlformats.org/drawingml/2006/main">
              <a:ext uri="{FF2B5EF4-FFF2-40B4-BE49-F238E27FC236}">
                <a16:creationId xmlns:a16="http://schemas.microsoft.com/office/drawing/2014/main" id="{241E842D-CEF0-47EF-98A6-7073207DC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781550"/>
            <a:ext cx="12573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6313A"/>
          </a:solidFill>
          <a:ln xmlns:a="http://schemas.openxmlformats.org/drawingml/2006/main" w="12859">
            <a:solidFill>
              <a:srgbClr val="8C98A1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7" name="l1">
            <a:extLst xmlns:a="http://schemas.openxmlformats.org/drawingml/2006/main">
              <a:ext uri="{FF2B5EF4-FFF2-40B4-BE49-F238E27FC236}">
                <a16:creationId xmlns:a16="http://schemas.microsoft.com/office/drawing/2014/main" id="{E80E0DE9-80EB-4E89-BF5A-AB163A765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647950"/>
            <a:ext cx="400050" cy="1219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52616D"/>
            </a:solidFill>
            <a:prstDash val="solid"/>
          </a:ln>
        </p:spPr>
      </p:sp>
      <p:sp>
        <p:nvSpPr>
          <p:cNvPr id="8" name="l2">
            <a:extLst xmlns:a="http://schemas.openxmlformats.org/drawingml/2006/main">
              <a:ext uri="{FF2B5EF4-FFF2-40B4-BE49-F238E27FC236}">
                <a16:creationId xmlns:a16="http://schemas.microsoft.com/office/drawing/2014/main" id="{231D635E-4FED-496D-B1C2-CA5C1A1AF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647950"/>
            <a:ext cx="323850" cy="1219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52616D"/>
            </a:solidFill>
            <a:prstDash val="solid"/>
          </a:ln>
        </p:spPr>
      </p:sp>
      <p:sp>
        <p:nvSpPr>
          <p:cNvPr id="9" name="l3">
            <a:extLst xmlns:a="http://schemas.openxmlformats.org/drawingml/2006/main">
              <a:ext uri="{FF2B5EF4-FFF2-40B4-BE49-F238E27FC236}">
                <a16:creationId xmlns:a16="http://schemas.microsoft.com/office/drawing/2014/main" id="{6D652078-140B-4284-AD1F-8A74A6631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952750"/>
            <a:ext cx="5715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52616D"/>
            </a:solidFill>
            <a:prstDash val="solid"/>
          </a:ln>
        </p:spPr>
      </p:sp>
      <p:sp>
        <p:nvSpPr>
          <p:cNvPr id="10" name="wrap">
            <a:extLst xmlns:a="http://schemas.openxmlformats.org/drawingml/2006/main">
              <a:ext uri="{FF2B5EF4-FFF2-40B4-BE49-F238E27FC236}">
                <a16:creationId xmlns:a16="http://schemas.microsoft.com/office/drawing/2014/main" id="{0306BE2E-1C58-4D23-A5BE-770AED656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895850"/>
            <a:ext cx="4953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這堂建立 workflow 外框；下一堂打開 model 層，理解 token、context、hallucination 與 tool use。</a:t>
            </a:r>
          </a:p>
        </p:txBody>
      </p:sp>
      <p:sp>
        <p:nvSpPr>
          <p:cNvPr id="11" name="footer-dark">
            <a:extLst xmlns:a="http://schemas.openxmlformats.org/drawingml/2006/main">
              <a:ext uri="{FF2B5EF4-FFF2-40B4-BE49-F238E27FC236}">
                <a16:creationId xmlns:a16="http://schemas.microsoft.com/office/drawing/2014/main" id="{CB1F64EE-A68C-4D8E-8B30-E57371085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B7C0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0C7"/>
                </a:solidFill>
                <a:latin typeface="Aptos"/>
                <a:ea typeface="Aptos"/>
                <a:cs typeface="Aptos"/>
              </a:rPr>
              <a:t>AI agents, vibe coding, desktop utilities  |  22/22</a:t>
            </a:r>
          </a:p>
        </p:txBody>
      </p:sp>
    </p:spTree>
    <p:extLst>
      <p:ext uri="{BB962C8B-B14F-4D97-AF65-F5344CB8AC3E}">
        <p14:creationId xmlns:p14="http://schemas.microsoft.com/office/powerpoint/2010/main" val="148617615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2026-07-05T08:21:10.6090000Z</dcterms:created>
  <dcterms:modified xsi:type="dcterms:W3CDTF">2026-07-05T08:21:10.6090000Z</dcterms:modified>
</coreProperties>
</file>