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4abe9a4612247e6" /><Relationship Type="http://schemas.openxmlformats.org/officeDocument/2006/relationships/extended-properties" Target="/docProps/app.xml" Id="R80cb2c7df2144e18" /><Relationship Type="http://schemas.openxmlformats.org/officeDocument/2006/relationships/officeDocument" Target="/ppt/presentation.xml" Id="Rb2d6a62a978d481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15cda7419904910"/>
  </p:sldMasterIdLst>
  <p:notesMasterIdLst>
    <p:notesMasterId xmlns:r="http://schemas.openxmlformats.org/officeDocument/2006/relationships" r:id="Rebdd5cc502714850"/>
  </p:notesMasterIdLst>
  <p:sldIdLst>
    <p:sldId xmlns:r="http://schemas.openxmlformats.org/officeDocument/2006/relationships" id="256" r:id="R20b24303e0e9431d"/>
    <p:sldId xmlns:r="http://schemas.openxmlformats.org/officeDocument/2006/relationships" id="257" r:id="R0e5c48f17a6740dc"/>
    <p:sldId xmlns:r="http://schemas.openxmlformats.org/officeDocument/2006/relationships" id="258" r:id="R0cefdaf83927453b"/>
    <p:sldId xmlns:r="http://schemas.openxmlformats.org/officeDocument/2006/relationships" id="259" r:id="R45016fcb1d974611"/>
    <p:sldId xmlns:r="http://schemas.openxmlformats.org/officeDocument/2006/relationships" id="260" r:id="Rf223dd2b8d6f4b33"/>
    <p:sldId xmlns:r="http://schemas.openxmlformats.org/officeDocument/2006/relationships" id="261" r:id="R905eae84cf5a40cb"/>
    <p:sldId xmlns:r="http://schemas.openxmlformats.org/officeDocument/2006/relationships" id="262" r:id="R56f8d5e402c941c9"/>
    <p:sldId xmlns:r="http://schemas.openxmlformats.org/officeDocument/2006/relationships" id="263" r:id="R974b31d91a384a41"/>
    <p:sldId xmlns:r="http://schemas.openxmlformats.org/officeDocument/2006/relationships" id="264" r:id="Rb830c720326e4884"/>
    <p:sldId xmlns:r="http://schemas.openxmlformats.org/officeDocument/2006/relationships" id="265" r:id="Rbce89f3045fd4d12"/>
    <p:sldId xmlns:r="http://schemas.openxmlformats.org/officeDocument/2006/relationships" id="266" r:id="R2c9fc6af014348ce"/>
    <p:sldId xmlns:r="http://schemas.openxmlformats.org/officeDocument/2006/relationships" id="267" r:id="R56eda17a9ec747e7"/>
    <p:sldId xmlns:r="http://schemas.openxmlformats.org/officeDocument/2006/relationships" id="268" r:id="Rfbdb59ffbf0e4821"/>
    <p:sldId xmlns:r="http://schemas.openxmlformats.org/officeDocument/2006/relationships" id="269" r:id="R5dfb1f1abeff4c5e"/>
    <p:sldId xmlns:r="http://schemas.openxmlformats.org/officeDocument/2006/relationships" id="270" r:id="Rf43deafb4d954a0c"/>
    <p:sldId xmlns:r="http://schemas.openxmlformats.org/officeDocument/2006/relationships" id="271" r:id="R6520a8084f1f4217"/>
    <p:sldId xmlns:r="http://schemas.openxmlformats.org/officeDocument/2006/relationships" id="272" r:id="R2a0bc8bad6a2465c"/>
    <p:sldId xmlns:r="http://schemas.openxmlformats.org/officeDocument/2006/relationships" id="273" r:id="R09770670ae9345e9"/>
    <p:sldId xmlns:r="http://schemas.openxmlformats.org/officeDocument/2006/relationships" id="274" r:id="Rdf40dbe282b848a4"/>
    <p:sldId xmlns:r="http://schemas.openxmlformats.org/officeDocument/2006/relationships" id="275" r:id="R2f426561d3374f9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dd8f096f02c4ec2" /><Relationship Type="http://schemas.openxmlformats.org/officeDocument/2006/relationships/slideMaster" Target="/ppt/slideMasters/slideMaster1.xml" Id="R715cda7419904910" /><Relationship Type="http://schemas.openxmlformats.org/officeDocument/2006/relationships/notesMaster" Target="/ppt/notesMasters/notesMaster1.xml" Id="Rebdd5cc502714850" /><Relationship Type="http://schemas.openxmlformats.org/officeDocument/2006/relationships/presProps" Target="/ppt/presProps.xml" Id="R7be8936931564d33" /><Relationship Type="http://schemas.openxmlformats.org/officeDocument/2006/relationships/tableStyles" Target="/ppt/tableStyles.xml" Id="R3522d4566fb0411e" /><Relationship Type="http://schemas.openxmlformats.org/officeDocument/2006/relationships/slide" Target="/ppt/slides/slide1.xml" Id="R20b24303e0e9431d" /><Relationship Type="http://schemas.openxmlformats.org/officeDocument/2006/relationships/slide" Target="/ppt/slides/slide2.xml" Id="R0e5c48f17a6740dc" /><Relationship Type="http://schemas.openxmlformats.org/officeDocument/2006/relationships/slide" Target="/ppt/slides/slide3.xml" Id="R0cefdaf83927453b" /><Relationship Type="http://schemas.openxmlformats.org/officeDocument/2006/relationships/slide" Target="/ppt/slides/slide4.xml" Id="R45016fcb1d974611" /><Relationship Type="http://schemas.openxmlformats.org/officeDocument/2006/relationships/slide" Target="/ppt/slides/slide5.xml" Id="Rf223dd2b8d6f4b33" /><Relationship Type="http://schemas.openxmlformats.org/officeDocument/2006/relationships/slide" Target="/ppt/slides/slide6.xml" Id="R905eae84cf5a40cb" /><Relationship Type="http://schemas.openxmlformats.org/officeDocument/2006/relationships/slide" Target="/ppt/slides/slide7.xml" Id="R56f8d5e402c941c9" /><Relationship Type="http://schemas.openxmlformats.org/officeDocument/2006/relationships/slide" Target="/ppt/slides/slide8.xml" Id="R974b31d91a384a41" /><Relationship Type="http://schemas.openxmlformats.org/officeDocument/2006/relationships/slide" Target="/ppt/slides/slide9.xml" Id="Rb830c720326e4884" /><Relationship Type="http://schemas.openxmlformats.org/officeDocument/2006/relationships/slide" Target="/ppt/slides/slide10.xml" Id="Rbce89f3045fd4d12" /><Relationship Type="http://schemas.openxmlformats.org/officeDocument/2006/relationships/slide" Target="/ppt/slides/slide11.xml" Id="R2c9fc6af014348ce" /><Relationship Type="http://schemas.openxmlformats.org/officeDocument/2006/relationships/slide" Target="/ppt/slides/slide12.xml" Id="R56eda17a9ec747e7" /><Relationship Type="http://schemas.openxmlformats.org/officeDocument/2006/relationships/slide" Target="/ppt/slides/slide13.xml" Id="Rfbdb59ffbf0e4821" /><Relationship Type="http://schemas.openxmlformats.org/officeDocument/2006/relationships/slide" Target="/ppt/slides/slide14.xml" Id="R5dfb1f1abeff4c5e" /><Relationship Type="http://schemas.openxmlformats.org/officeDocument/2006/relationships/slide" Target="/ppt/slides/slide15.xml" Id="Rf43deafb4d954a0c" /><Relationship Type="http://schemas.openxmlformats.org/officeDocument/2006/relationships/slide" Target="/ppt/slides/slide16.xml" Id="R6520a8084f1f4217" /><Relationship Type="http://schemas.openxmlformats.org/officeDocument/2006/relationships/slide" Target="/ppt/slides/slide17.xml" Id="R2a0bc8bad6a2465c" /><Relationship Type="http://schemas.openxmlformats.org/officeDocument/2006/relationships/slide" Target="/ppt/slides/slide18.xml" Id="R09770670ae9345e9" /><Relationship Type="http://schemas.openxmlformats.org/officeDocument/2006/relationships/slide" Target="/ppt/slides/slide19.xml" Id="Rdf40dbe282b848a4" /><Relationship Type="http://schemas.openxmlformats.org/officeDocument/2006/relationships/slide" Target="/ppt/slides/slide20.xml" Id="R2f426561d3374f9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771c0bdc52347b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3e2ba201b2540f3" /><Relationship Type="http://schemas.openxmlformats.org/officeDocument/2006/relationships/notesMaster" Target="/ppt/notesMasters/notesMaster1.xml" Id="R64066dc89f5d422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fa903ac4ffb443c" /><Relationship Type="http://schemas.openxmlformats.org/officeDocument/2006/relationships/notesMaster" Target="/ppt/notesMasters/notesMaster1.xml" Id="Rf95cbe6fa6c74dd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88c77437b554b9a" /><Relationship Type="http://schemas.openxmlformats.org/officeDocument/2006/relationships/notesMaster" Target="/ppt/notesMasters/notesMaster1.xml" Id="Raea5fc5f1fb1469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35452589a774122" /><Relationship Type="http://schemas.openxmlformats.org/officeDocument/2006/relationships/notesMaster" Target="/ppt/notesMasters/notesMaster1.xml" Id="Re985d10474e74c4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1eb8840b6a84d97" /><Relationship Type="http://schemas.openxmlformats.org/officeDocument/2006/relationships/notesMaster" Target="/ppt/notesMasters/notesMaster1.xml" Id="Rf126167390504c3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6170861f418477a" /><Relationship Type="http://schemas.openxmlformats.org/officeDocument/2006/relationships/notesMaster" Target="/ppt/notesMasters/notesMaster1.xml" Id="R6f91d8821b88447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aab6bc55c604064" /><Relationship Type="http://schemas.openxmlformats.org/officeDocument/2006/relationships/notesMaster" Target="/ppt/notesMasters/notesMaster1.xml" Id="R8aa63772284b442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777912415634bdf" /><Relationship Type="http://schemas.openxmlformats.org/officeDocument/2006/relationships/notesMaster" Target="/ppt/notesMasters/notesMaster1.xml" Id="R555ee2e0a598454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95a5b506a644591" /><Relationship Type="http://schemas.openxmlformats.org/officeDocument/2006/relationships/notesMaster" Target="/ppt/notesMasters/notesMaster1.xml" Id="Redeff3e89ae74f8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31c27020c48407b" /><Relationship Type="http://schemas.openxmlformats.org/officeDocument/2006/relationships/notesMaster" Target="/ppt/notesMasters/notesMaster1.xml" Id="R43e4678e58024e0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238a150521e40f5" /><Relationship Type="http://schemas.openxmlformats.org/officeDocument/2006/relationships/notesMaster" Target="/ppt/notesMasters/notesMaster1.xml" Id="Ra53719ec7aa3449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01fbd1e872a4732" /><Relationship Type="http://schemas.openxmlformats.org/officeDocument/2006/relationships/notesMaster" Target="/ppt/notesMasters/notesMaster1.xml" Id="R363eadd629aa4c3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93047549182464a" /><Relationship Type="http://schemas.openxmlformats.org/officeDocument/2006/relationships/notesMaster" Target="/ppt/notesMasters/notesMaster1.xml" Id="Re24b9471213a489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2d760796e0341b8" /><Relationship Type="http://schemas.openxmlformats.org/officeDocument/2006/relationships/notesMaster" Target="/ppt/notesMasters/notesMaster1.xml" Id="R313cc0a9780a4ee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3e8f7b7f7224777" /><Relationship Type="http://schemas.openxmlformats.org/officeDocument/2006/relationships/notesMaster" Target="/ppt/notesMasters/notesMaster1.xml" Id="Rb80c17f9278d48f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f2a5db66b694510" /><Relationship Type="http://schemas.openxmlformats.org/officeDocument/2006/relationships/notesMaster" Target="/ppt/notesMasters/notesMaster1.xml" Id="R73c4ee85300c4c6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0a882c767c14c76" /><Relationship Type="http://schemas.openxmlformats.org/officeDocument/2006/relationships/notesMaster" Target="/ppt/notesMasters/notesMaster1.xml" Id="Rf557b5c944684f3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f7eafbfa0534f93" /><Relationship Type="http://schemas.openxmlformats.org/officeDocument/2006/relationships/notesMaster" Target="/ppt/notesMasters/notesMaster1.xml" Id="R6570322f110f4fd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4ae180a77f34793" /><Relationship Type="http://schemas.openxmlformats.org/officeDocument/2006/relationships/notesMaster" Target="/ppt/notesMasters/notesMaster1.xml" Id="R03172eba35eb4b2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c13fc80f57d4284" /><Relationship Type="http://schemas.openxmlformats.org/officeDocument/2006/relationships/notesMaster" Target="/ppt/notesMasters/notesMaster1.xml" Id="Rf839e7c06df94e1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新版 Lesson 02 的重心是判斷與拆解。學生要知道 agent 不是比較會聊天的模型，而是能和工具、檔案、資料來源、驗證規則一起工作的研究流程。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這張吸收原 Lesson 01 的技術定位，但避開行政課程介紹。負責老師開場後，這張把學生拉到本課的核心：工具只是入口，workflow 才是學習目標。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這張承接原 Lesson 01 的最終產出。讓學生一開始知道，這堂課不是孤立概念，而是在建立後續 spec、harness、loop、hackathon 的共同語言。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 EGFR、ALK、TP53 的 evidence table 做貫穿案例。這個任務有文獻、資料庫、表格、citation 和 review，足以展示 agent workflow，但範圍仍可控制。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學生常把 agent 想成一個產品名稱。這張把它拆成成熟度光譜，讓學生知道我們要學的是可檢查的 tool-using 與 workflow agent。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把原本 chatbot vs agent 的概念再拉到 artifact。研究工作不是要得到一段話，而是要得到可檢查、可重跑、可交接的產物。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這張保留原本元件圖，但更強調元件與邊界。模型只是其中一個節點，workflow 品質還取決於 context、tools、state 與 verification。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這張是本堂課的核心。Agent workflow 要能在工具輸出後觀察與驗證，必要時更新 state 或停止，而不是一直生成。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這張是新版的重要補強。學生要理解 agent workflow 的可追溯性來自 artifact，而不是來自模型宣稱自己做了什麼。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這是學生最需要的判斷框架。不要從工具出發，而是先看任務是否有清楚輸入、固定輸出、外部來源與可發現的錯誤。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生醫安全要變成規則。這些輸出可以由 agent 協助整理背景資料，但不能讓 agent 做 final call。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保留 vibe coding，但補上責任邊界。快速不是讓模型負責，而是讓人更快得到可檢查原型。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這張是操作型 slide。學生可以照這個 loop 使用 coding agent 或 desktop agent：先讀真實檔案、先規劃、小範圍改、跑檢查、看 diff。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保留原本風險矩陣。這張讓學生把 vibe coding 放在任務風險和模糊度之中，而不是把它當成萬用工作法。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這張把 desktop utilities 的抽象能力映射到 biomedical 工作內容。重點是工具鏈，而不是產品清單。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 tool use 講成 lifecycle。重要的是每次工具呼叫都要有 input、output、validation 與 log，否則 agent 做過什麼很難被審查。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這張是新版重點之一。Lesson 03 會談 hallucination，這裡先談 workflow-level failure。學生要學會預先把失敗模式寫進規格和檢查。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 mini exercise 改成三案例判斷。這會讓學生主動使用 suitability、red lines、verification 和 artifacts 的框架。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這是課堂輸出。學生不是只回答問題，而是交出一張 agent-ready workflow worksheet，讓下一堂 LLM basics 和後面的 hands-on lab 可以接上。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自然收束到 Lesson 03。這堂已經建立 agent workflow 判斷框架，下一堂再看 model 層為什麼有效、為什麼會錯。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23d31fbc8342a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e3f7ba69e414d72" /><Relationship Type="http://schemas.openxmlformats.org/officeDocument/2006/relationships/slideLayout" Target="/ppt/slideLayouts/slideLayout1.xml" Id="R83ac7999813b4a6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3ac7999813b4a6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220f51f6ce4a5e" /><Relationship Type="http://schemas.openxmlformats.org/officeDocument/2006/relationships/notesSlide" Target="/ppt/notesSlides/notesSlide1.xml" Id="R6c87c4da0e3b493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ab4900d57946f4" /><Relationship Type="http://schemas.openxmlformats.org/officeDocument/2006/relationships/notesSlide" Target="/ppt/notesSlides/notesSlide2.xml" Id="R5ec8207973cf481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9a49e7b3ab4e73" /><Relationship Type="http://schemas.openxmlformats.org/officeDocument/2006/relationships/notesSlide" Target="/ppt/notesSlides/notesSlide3.xml" Id="R3ed0aad9d2844bd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c1e292c67d4ca5" /><Relationship Type="http://schemas.openxmlformats.org/officeDocument/2006/relationships/notesSlide" Target="/ppt/notesSlides/notesSlide4.xml" Id="Rc2ec210d100f479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3bf84241eb4de1" /><Relationship Type="http://schemas.openxmlformats.org/officeDocument/2006/relationships/notesSlide" Target="/ppt/notesSlides/notesSlide5.xml" Id="Ra24b917b94ea49b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135a4c4f3b495f" /><Relationship Type="http://schemas.openxmlformats.org/officeDocument/2006/relationships/notesSlide" Target="/ppt/notesSlides/notesSlide6.xml" Id="R968b9182df3f4e4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72d5f42fa44e65" /><Relationship Type="http://schemas.openxmlformats.org/officeDocument/2006/relationships/notesSlide" Target="/ppt/notesSlides/notesSlide7.xml" Id="R1e1892ab41344ec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68c5036a5642bf" /><Relationship Type="http://schemas.openxmlformats.org/officeDocument/2006/relationships/notesSlide" Target="/ppt/notesSlides/notesSlide8.xml" Id="Rcc4861bc07db46f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24af786bab487c" /><Relationship Type="http://schemas.openxmlformats.org/officeDocument/2006/relationships/notesSlide" Target="/ppt/notesSlides/notesSlide9.xml" Id="R73c9a80a9b2f470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e854234cd44cd9" /><Relationship Type="http://schemas.openxmlformats.org/officeDocument/2006/relationships/notesSlide" Target="/ppt/notesSlides/notesSlide10.xml" Id="R7f4f179a23ed405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5d8de014dd4be3" /><Relationship Type="http://schemas.openxmlformats.org/officeDocument/2006/relationships/notesSlide" Target="/ppt/notesSlides/notesSlide11.xml" Id="R4b8898a5d22a495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fd3013b9e4463f" /><Relationship Type="http://schemas.openxmlformats.org/officeDocument/2006/relationships/notesSlide" Target="/ppt/notesSlides/notesSlide12.xml" Id="R6e8a4253fec54e4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0d359f2d31424b" /><Relationship Type="http://schemas.openxmlformats.org/officeDocument/2006/relationships/notesSlide" Target="/ppt/notesSlides/notesSlide13.xml" Id="Rffed4d76203c43b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8a7d73a2c14a56" /><Relationship Type="http://schemas.openxmlformats.org/officeDocument/2006/relationships/notesSlide" Target="/ppt/notesSlides/notesSlide14.xml" Id="R874dd69a6dea4de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92ba88ccae490b" /><Relationship Type="http://schemas.openxmlformats.org/officeDocument/2006/relationships/notesSlide" Target="/ppt/notesSlides/notesSlide15.xml" Id="R3a282f92fc544c7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7e689e1ac743ce" /><Relationship Type="http://schemas.openxmlformats.org/officeDocument/2006/relationships/notesSlide" Target="/ppt/notesSlides/notesSlide16.xml" Id="R0db9cf3d47b849e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dfb2175afa485c" /><Relationship Type="http://schemas.openxmlformats.org/officeDocument/2006/relationships/notesSlide" Target="/ppt/notesSlides/notesSlide17.xml" Id="Rd19b83a46297496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778f4ac0704c59" /><Relationship Type="http://schemas.openxmlformats.org/officeDocument/2006/relationships/notesSlide" Target="/ppt/notesSlides/notesSlide18.xml" Id="R68a4fbd610c445a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3b810c5c7743c1" /><Relationship Type="http://schemas.openxmlformats.org/officeDocument/2006/relationships/notesSlide" Target="/ppt/notesSlides/notesSlide19.xml" Id="R8684b383272346e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a609b1761b4e98" /><Relationship Type="http://schemas.openxmlformats.org/officeDocument/2006/relationships/notesSlide" Target="/ppt/notesSlides/notesSlide20.xml" Id="R25dde7b0ffb04b5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0AB0F601-0420-4B53-AD5A-EA5E0298C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LESSON 02</a:t>
            </a:r>
          </a:p>
        </p:txBody>
      </p:sp>
      <p:sp>
        <p:nvSpPr>
          <p:cNvPr id="2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588AA979-2A4D-4C12-AF4A-341172BF2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43000"/>
            <a:ext cx="6477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1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AI agent 是可檢查的研究工作流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78A07C98-66C7-46D6-937A-7AE0A0A99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14600"/>
            <a:ext cx="647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從聊天，進到能讀檔、查資料、跑工具、留下證據的流程</a:t>
            </a:r>
          </a:p>
        </p:txBody>
      </p:sp>
      <p:sp>
        <p:nvSpPr>
          <p:cNvPr id="4" name="questions">
            <a:extLst xmlns:a="http://schemas.openxmlformats.org/drawingml/2006/main">
              <a:ext uri="{FF2B5EF4-FFF2-40B4-BE49-F238E27FC236}">
                <a16:creationId xmlns:a16="http://schemas.microsoft.com/office/drawing/2014/main" id="{B943E010-1A33-4B9E-8400-E020718AE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619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什麼任務適合交給 agent？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vibe coding 要怎麼用才不失控？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desktop utilities 如何接進 biomedical workflow？</a:t>
            </a:r>
          </a:p>
        </p:txBody>
      </p:sp>
      <p:sp>
        <p:nvSpPr>
          <p:cNvPr id="5" name="flow-line-1">
            <a:extLst xmlns:a="http://schemas.openxmlformats.org/drawingml/2006/main">
              <a:ext uri="{FF2B5EF4-FFF2-40B4-BE49-F238E27FC236}">
                <a16:creationId xmlns:a16="http://schemas.microsoft.com/office/drawing/2014/main" id="{0D3412B5-B902-4C67-A342-7432A1C35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381250"/>
            <a:ext cx="3000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6" name="flow-line-2">
            <a:extLst xmlns:a="http://schemas.openxmlformats.org/drawingml/2006/main">
              <a:ext uri="{FF2B5EF4-FFF2-40B4-BE49-F238E27FC236}">
                <a16:creationId xmlns:a16="http://schemas.microsoft.com/office/drawing/2014/main" id="{D789F13D-9C67-4F5D-A3E1-F621BC659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2381250"/>
            <a:ext cx="0" cy="1771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7" name="flow-line-3">
            <a:extLst xmlns:a="http://schemas.openxmlformats.org/drawingml/2006/main">
              <a:ext uri="{FF2B5EF4-FFF2-40B4-BE49-F238E27FC236}">
                <a16:creationId xmlns:a16="http://schemas.microsoft.com/office/drawing/2014/main" id="{46BB83F0-217F-48DA-9EF0-72595AEF8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152900"/>
            <a:ext cx="3000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8" name="ask">
            <a:extLst xmlns:a="http://schemas.openxmlformats.org/drawingml/2006/main">
              <a:ext uri="{FF2B5EF4-FFF2-40B4-BE49-F238E27FC236}">
                <a16:creationId xmlns:a16="http://schemas.microsoft.com/office/drawing/2014/main" id="{679BA4E4-393C-486E-95DA-5FFEC24DD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14550"/>
            <a:ext cx="8953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Ask</a:t>
            </a:r>
          </a:p>
        </p:txBody>
      </p:sp>
      <p:sp>
        <p:nvSpPr>
          <p:cNvPr id="9" name="plan">
            <a:extLst xmlns:a="http://schemas.openxmlformats.org/drawingml/2006/main">
              <a:ext uri="{FF2B5EF4-FFF2-40B4-BE49-F238E27FC236}">
                <a16:creationId xmlns:a16="http://schemas.microsoft.com/office/drawing/2014/main" id="{98066F79-4536-4874-A628-A6E325F70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114550"/>
            <a:ext cx="8953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10" name="tools">
            <a:extLst xmlns:a="http://schemas.openxmlformats.org/drawingml/2006/main">
              <a:ext uri="{FF2B5EF4-FFF2-40B4-BE49-F238E27FC236}">
                <a16:creationId xmlns:a16="http://schemas.microsoft.com/office/drawing/2014/main" id="{81C6DD70-CF7D-47A2-8C5E-0FA7ADF20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114550"/>
            <a:ext cx="9906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11" name="verify">
            <a:extLst xmlns:a="http://schemas.openxmlformats.org/drawingml/2006/main">
              <a:ext uri="{FF2B5EF4-FFF2-40B4-BE49-F238E27FC236}">
                <a16:creationId xmlns:a16="http://schemas.microsoft.com/office/drawing/2014/main" id="{FD07F369-03C8-4596-BF37-60FB3CE1B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886200"/>
            <a:ext cx="12954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12" name="deliver">
            <a:extLst xmlns:a="http://schemas.openxmlformats.org/drawingml/2006/main">
              <a:ext uri="{FF2B5EF4-FFF2-40B4-BE49-F238E27FC236}">
                <a16:creationId xmlns:a16="http://schemas.microsoft.com/office/drawing/2014/main" id="{78690B49-6F35-4801-8205-98A81EBCA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86200"/>
            <a:ext cx="12954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Deliver</a:t>
            </a:r>
          </a:p>
        </p:txBody>
      </p:sp>
      <p:sp>
        <p:nvSpPr>
          <p:cNvPr id="13" name="right-note">
            <a:extLst xmlns:a="http://schemas.openxmlformats.org/drawingml/2006/main">
              <a:ext uri="{FF2B5EF4-FFF2-40B4-BE49-F238E27FC236}">
                <a16:creationId xmlns:a16="http://schemas.microsoft.com/office/drawing/2014/main" id="{5AA1DF91-79D6-4A5D-9EEF-C5B8990D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086350"/>
            <a:ext cx="3619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goal + tools + state + checks</a:t>
            </a:r>
          </a:p>
        </p:txBody>
      </p:sp>
      <p:sp>
        <p:nvSpPr>
          <p:cNvPr id="14" name="footer">
            <a:extLst xmlns:a="http://schemas.openxmlformats.org/drawingml/2006/main">
              <a:ext uri="{FF2B5EF4-FFF2-40B4-BE49-F238E27FC236}">
                <a16:creationId xmlns:a16="http://schemas.microsoft.com/office/drawing/2014/main" id="{B93FFFAA-1B32-4DEB-B0DC-F3D4C9B18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1/20</a:t>
            </a:r>
          </a:p>
        </p:txBody>
      </p:sp>
    </p:spTree>
    <p:extLst>
      <p:ext uri="{BB962C8B-B14F-4D97-AF65-F5344CB8AC3E}">
        <p14:creationId xmlns:p14="http://schemas.microsoft.com/office/powerpoint/2010/main" val="8818842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369E3BCE-5EB1-4C4C-86CA-F33650C23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WHY THIS LESSON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9C2FFE6-EABE-4801-8848-0B60F9D60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這門課要訓練的是 workflow 判斷，不是工具背誦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8354B9CA-DE3F-4231-82E7-FF7C3AD96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2/20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3640DF6E-AAC6-4AA5-A150-EE6E97AF8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752600"/>
            <a:ext cx="895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AI 工具真正有用的地方，是把研究任務拆成可執行、可檢查、可交接的步驟。</a:t>
            </a:r>
          </a:p>
        </p:txBody>
      </p:sp>
      <p:sp>
        <p:nvSpPr>
          <p:cNvPr id="5" name="surface-0">
            <a:extLst xmlns:a="http://schemas.openxmlformats.org/drawingml/2006/main">
              <a:ext uri="{FF2B5EF4-FFF2-40B4-BE49-F238E27FC236}">
                <a16:creationId xmlns:a16="http://schemas.microsoft.com/office/drawing/2014/main" id="{9B0FA46B-A1F0-4663-AA9D-56F56FF88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86050"/>
            <a:ext cx="40005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6" name="head-0">
            <a:extLst xmlns:a="http://schemas.openxmlformats.org/drawingml/2006/main">
              <a:ext uri="{FF2B5EF4-FFF2-40B4-BE49-F238E27FC236}">
                <a16:creationId xmlns:a16="http://schemas.microsoft.com/office/drawing/2014/main" id="{66777CE3-8537-4B41-A4E0-1FFB30E9C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0289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不是</a:t>
            </a:r>
          </a:p>
        </p:txBody>
      </p:sp>
      <p:sp>
        <p:nvSpPr>
          <p:cNvPr id="7" name="list-0">
            <a:extLst xmlns:a="http://schemas.openxmlformats.org/drawingml/2006/main">
              <a:ext uri="{FF2B5EF4-FFF2-40B4-BE49-F238E27FC236}">
                <a16:creationId xmlns:a16="http://schemas.microsoft.com/office/drawing/2014/main" id="{71857F45-02CC-442A-A4CA-A1E0DE09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676650"/>
            <a:ext cx="257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工具清單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prompt 技巧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看起來完整的答案</a:t>
            </a:r>
          </a:p>
        </p:txBody>
      </p:sp>
      <p:sp>
        <p:nvSpPr>
          <p:cNvPr id="8" name="surface-1">
            <a:extLst xmlns:a="http://schemas.openxmlformats.org/drawingml/2006/main">
              <a:ext uri="{FF2B5EF4-FFF2-40B4-BE49-F238E27FC236}">
                <a16:creationId xmlns:a16="http://schemas.microsoft.com/office/drawing/2014/main" id="{250DF1C0-DB09-4F4D-B13E-36ED849B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86050"/>
            <a:ext cx="40005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9" name="head-1">
            <a:extLst xmlns:a="http://schemas.openxmlformats.org/drawingml/2006/main">
              <a:ext uri="{FF2B5EF4-FFF2-40B4-BE49-F238E27FC236}">
                <a16:creationId xmlns:a16="http://schemas.microsoft.com/office/drawing/2014/main" id="{C4420652-9DCD-49C6-A1B3-1B2E82C93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0289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而是</a:t>
            </a:r>
          </a:p>
        </p:txBody>
      </p:sp>
      <p:sp>
        <p:nvSpPr>
          <p:cNvPr id="10" name="list-1">
            <a:extLst xmlns:a="http://schemas.openxmlformats.org/drawingml/2006/main">
              <a:ext uri="{FF2B5EF4-FFF2-40B4-BE49-F238E27FC236}">
                <a16:creationId xmlns:a16="http://schemas.microsoft.com/office/drawing/2014/main" id="{FE3F8FDF-BA77-4C4E-8DB0-B8677C168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676650"/>
            <a:ext cx="257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任務規格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證據與檢查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能重跑的流程</a:t>
            </a:r>
          </a:p>
        </p:txBody>
      </p:sp>
      <p:sp>
        <p:nvSpPr>
          <p:cNvPr id="11" name="bottom">
            <a:extLst xmlns:a="http://schemas.openxmlformats.org/drawingml/2006/main">
              <a:ext uri="{FF2B5EF4-FFF2-40B4-BE49-F238E27FC236}">
                <a16:creationId xmlns:a16="http://schemas.microsoft.com/office/drawing/2014/main" id="{B6DED8CB-A802-432B-A59E-D3706166F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5816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今天會把 agent 放回 biomedical research 的資料、工具、證據與風險裡。</a:t>
            </a:r>
          </a:p>
        </p:txBody>
      </p:sp>
    </p:spTree>
    <p:extLst>
      <p:ext uri="{BB962C8B-B14F-4D97-AF65-F5344CB8AC3E}">
        <p14:creationId xmlns:p14="http://schemas.microsoft.com/office/powerpoint/2010/main" val="191895924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F966A855-B589-4165-8133-EA9DD2A96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COURSE OUTCOME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9869F3F-D076-45ED-BD3F-403C8C156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最後要留下的是可審核的 biomedical agent workflow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21A40C54-3C50-4D5D-BD25-4B3262504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3/20</a:t>
            </a:r>
          </a:p>
        </p:txBody>
      </p:sp>
      <p:sp>
        <p:nvSpPr>
          <p:cNvPr id="4" name="stack-0">
            <a:extLst xmlns:a="http://schemas.openxmlformats.org/drawingml/2006/main">
              <a:ext uri="{FF2B5EF4-FFF2-40B4-BE49-F238E27FC236}">
                <a16:creationId xmlns:a16="http://schemas.microsoft.com/office/drawing/2014/main" id="{BF0E949E-26E1-4C4A-AB76-10AC7D709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714500"/>
            <a:ext cx="3619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5" name="stack-name-0">
            <a:extLst xmlns:a="http://schemas.openxmlformats.org/drawingml/2006/main">
              <a:ext uri="{FF2B5EF4-FFF2-40B4-BE49-F238E27FC236}">
                <a16:creationId xmlns:a16="http://schemas.microsoft.com/office/drawing/2014/main" id="{06846408-2239-47FE-9DEB-47C69E51F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1847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task_spec.md</a:t>
            </a:r>
          </a:p>
        </p:txBody>
      </p:sp>
      <p:sp>
        <p:nvSpPr>
          <p:cNvPr id="6" name="stack-copy-0">
            <a:extLst xmlns:a="http://schemas.openxmlformats.org/drawingml/2006/main">
              <a:ext uri="{FF2B5EF4-FFF2-40B4-BE49-F238E27FC236}">
                <a16:creationId xmlns:a16="http://schemas.microsoft.com/office/drawing/2014/main" id="{83D30021-3976-4A00-A744-9D995FFCE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8383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任務、輸入、輸出、限制</a:t>
            </a:r>
          </a:p>
        </p:txBody>
      </p:sp>
      <p:sp>
        <p:nvSpPr>
          <p:cNvPr id="7" name="stack-line-0">
            <a:extLst xmlns:a="http://schemas.openxmlformats.org/drawingml/2006/main">
              <a:ext uri="{FF2B5EF4-FFF2-40B4-BE49-F238E27FC236}">
                <a16:creationId xmlns:a16="http://schemas.microsoft.com/office/drawing/2014/main" id="{848420EF-CAA0-44A2-AD9B-F96493FE4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9716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8" name="stack-1">
            <a:extLst xmlns:a="http://schemas.openxmlformats.org/drawingml/2006/main">
              <a:ext uri="{FF2B5EF4-FFF2-40B4-BE49-F238E27FC236}">
                <a16:creationId xmlns:a16="http://schemas.microsoft.com/office/drawing/2014/main" id="{9FAB150F-B537-45D1-88AC-769103BC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419350"/>
            <a:ext cx="3619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9" name="stack-name-1">
            <a:extLst xmlns:a="http://schemas.openxmlformats.org/drawingml/2006/main">
              <a:ext uri="{FF2B5EF4-FFF2-40B4-BE49-F238E27FC236}">
                <a16:creationId xmlns:a16="http://schemas.microsoft.com/office/drawing/2014/main" id="{C3EC4BA3-FFD6-4ADA-8791-493029835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55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evidence_table</a:t>
            </a:r>
          </a:p>
        </p:txBody>
      </p:sp>
      <p:sp>
        <p:nvSpPr>
          <p:cNvPr id="10" name="stack-copy-1">
            <a:extLst xmlns:a="http://schemas.openxmlformats.org/drawingml/2006/main">
              <a:ext uri="{FF2B5EF4-FFF2-40B4-BE49-F238E27FC236}">
                <a16:creationId xmlns:a16="http://schemas.microsoft.com/office/drawing/2014/main" id="{2D223C4A-82D0-4D0B-9BEF-230E3C590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54317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claim、source、status</a:t>
            </a:r>
          </a:p>
        </p:txBody>
      </p:sp>
      <p:sp>
        <p:nvSpPr>
          <p:cNvPr id="11" name="stack-line-1">
            <a:extLst xmlns:a="http://schemas.openxmlformats.org/drawingml/2006/main">
              <a:ext uri="{FF2B5EF4-FFF2-40B4-BE49-F238E27FC236}">
                <a16:creationId xmlns:a16="http://schemas.microsoft.com/office/drawing/2014/main" id="{7901D1F3-6997-4195-91D6-BB271E413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67652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2" name="stack-2">
            <a:extLst xmlns:a="http://schemas.openxmlformats.org/drawingml/2006/main">
              <a:ext uri="{FF2B5EF4-FFF2-40B4-BE49-F238E27FC236}">
                <a16:creationId xmlns:a16="http://schemas.microsoft.com/office/drawing/2014/main" id="{583208CC-43E1-4501-8881-E990D6BB8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124200"/>
            <a:ext cx="3619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5C6670"/>
            </a:solidFill>
            <a:prstDash val="solid"/>
          </a:ln>
        </p:spPr>
      </p:sp>
      <p:sp>
        <p:nvSpPr>
          <p:cNvPr id="13" name="stack-name-2">
            <a:extLst xmlns:a="http://schemas.openxmlformats.org/drawingml/2006/main">
              <a:ext uri="{FF2B5EF4-FFF2-40B4-BE49-F238E27FC236}">
                <a16:creationId xmlns:a16="http://schemas.microsoft.com/office/drawing/2014/main" id="{2BDD8889-CD73-4B50-AA1C-EB8F9933A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2575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tool_log</a:t>
            </a:r>
          </a:p>
        </p:txBody>
      </p:sp>
      <p:sp>
        <p:nvSpPr>
          <p:cNvPr id="14" name="stack-copy-2">
            <a:extLst xmlns:a="http://schemas.openxmlformats.org/drawingml/2006/main">
              <a:ext uri="{FF2B5EF4-FFF2-40B4-BE49-F238E27FC236}">
                <a16:creationId xmlns:a16="http://schemas.microsoft.com/office/drawing/2014/main" id="{F302738B-2220-4F3A-9E50-79D818371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2480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工具輸入、輸出、錯誤</a:t>
            </a:r>
          </a:p>
        </p:txBody>
      </p:sp>
      <p:sp>
        <p:nvSpPr>
          <p:cNvPr id="15" name="stack-line-2">
            <a:extLst xmlns:a="http://schemas.openxmlformats.org/drawingml/2006/main">
              <a:ext uri="{FF2B5EF4-FFF2-40B4-BE49-F238E27FC236}">
                <a16:creationId xmlns:a16="http://schemas.microsoft.com/office/drawing/2014/main" id="{5CC84BDD-49DA-471E-A207-4AB8D7292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3813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6" name="stack-3">
            <a:extLst xmlns:a="http://schemas.openxmlformats.org/drawingml/2006/main">
              <a:ext uri="{FF2B5EF4-FFF2-40B4-BE49-F238E27FC236}">
                <a16:creationId xmlns:a16="http://schemas.microsoft.com/office/drawing/2014/main" id="{E30B34A5-9B28-48A5-BD59-E5360D79B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829050"/>
            <a:ext cx="3619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17" name="stack-name-3">
            <a:extLst xmlns:a="http://schemas.openxmlformats.org/drawingml/2006/main">
              <a:ext uri="{FF2B5EF4-FFF2-40B4-BE49-F238E27FC236}">
                <a16:creationId xmlns:a16="http://schemas.microsoft.com/office/drawing/2014/main" id="{3374EDA8-46FF-4FC0-8AB8-E9C0D5304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9624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check_report</a:t>
            </a:r>
          </a:p>
        </p:txBody>
      </p:sp>
      <p:sp>
        <p:nvSpPr>
          <p:cNvPr id="18" name="stack-copy-3">
            <a:extLst xmlns:a="http://schemas.openxmlformats.org/drawingml/2006/main">
              <a:ext uri="{FF2B5EF4-FFF2-40B4-BE49-F238E27FC236}">
                <a16:creationId xmlns:a16="http://schemas.microsoft.com/office/drawing/2014/main" id="{778FC70F-4F95-4FFA-926D-E1211B530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95287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通過、失敗、needs review</a:t>
            </a:r>
          </a:p>
        </p:txBody>
      </p:sp>
      <p:sp>
        <p:nvSpPr>
          <p:cNvPr id="19" name="stack-line-3">
            <a:extLst xmlns:a="http://schemas.openxmlformats.org/drawingml/2006/main">
              <a:ext uri="{FF2B5EF4-FFF2-40B4-BE49-F238E27FC236}">
                <a16:creationId xmlns:a16="http://schemas.microsoft.com/office/drawing/2014/main" id="{B3B595F2-4B5C-47C2-81FC-71056DB32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08622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20" name="stack-4">
            <a:extLst xmlns:a="http://schemas.openxmlformats.org/drawingml/2006/main">
              <a:ext uri="{FF2B5EF4-FFF2-40B4-BE49-F238E27FC236}">
                <a16:creationId xmlns:a16="http://schemas.microsoft.com/office/drawing/2014/main" id="{5C9C956C-0628-441F-B5A8-088A1F92E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533900"/>
            <a:ext cx="3619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21" name="stack-name-4">
            <a:extLst xmlns:a="http://schemas.openxmlformats.org/drawingml/2006/main">
              <a:ext uri="{FF2B5EF4-FFF2-40B4-BE49-F238E27FC236}">
                <a16:creationId xmlns:a16="http://schemas.microsoft.com/office/drawing/2014/main" id="{DE5BCC6E-AD77-4A3E-9916-8F164D0C3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6672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demo_notes</a:t>
            </a:r>
          </a:p>
        </p:txBody>
      </p:sp>
      <p:sp>
        <p:nvSpPr>
          <p:cNvPr id="22" name="stack-copy-4">
            <a:extLst xmlns:a="http://schemas.openxmlformats.org/drawingml/2006/main">
              <a:ext uri="{FF2B5EF4-FFF2-40B4-BE49-F238E27FC236}">
                <a16:creationId xmlns:a16="http://schemas.microsoft.com/office/drawing/2014/main" id="{737B3103-33B0-4FD2-B3B4-AA5175C58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6577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限制、風險、下一步</a:t>
            </a:r>
          </a:p>
        </p:txBody>
      </p:sp>
      <p:sp>
        <p:nvSpPr>
          <p:cNvPr id="23" name="stack-line-4">
            <a:extLst xmlns:a="http://schemas.openxmlformats.org/drawingml/2006/main">
              <a:ext uri="{FF2B5EF4-FFF2-40B4-BE49-F238E27FC236}">
                <a16:creationId xmlns:a16="http://schemas.microsoft.com/office/drawing/2014/main" id="{9974C619-BBD0-4E3C-B9BA-D76CCDC82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7910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24" name="goal-box">
            <a:extLst xmlns:a="http://schemas.openxmlformats.org/drawingml/2006/main">
              <a:ext uri="{FF2B5EF4-FFF2-40B4-BE49-F238E27FC236}">
                <a16:creationId xmlns:a16="http://schemas.microsoft.com/office/drawing/2014/main" id="{06923C59-88A4-4CDA-A970-A876664AF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524500"/>
            <a:ext cx="76581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goal-text">
            <a:extLst xmlns:a="http://schemas.openxmlformats.org/drawingml/2006/main">
              <a:ext uri="{FF2B5EF4-FFF2-40B4-BE49-F238E27FC236}">
                <a16:creationId xmlns:a16="http://schemas.microsoft.com/office/drawing/2014/main" id="{C251665F-E7CB-42D9-872B-DF8DAE175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5695950"/>
            <a:ext cx="695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Lesson 02 先建立外框；後面課程會逐步補上 model、tools、spec、harness 與 loop。</a:t>
            </a:r>
          </a:p>
        </p:txBody>
      </p:sp>
    </p:spTree>
    <p:extLst>
      <p:ext uri="{BB962C8B-B14F-4D97-AF65-F5344CB8AC3E}">
        <p14:creationId xmlns:p14="http://schemas.microsoft.com/office/powerpoint/2010/main" val="3863164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0765B526-F9E8-482F-B180-AE3D32171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RUNNING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3E532CC-CC9F-41B0-BD7A-1FC472BF6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用同一個 biomedical 任務貫穿整堂課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55EA2AEE-DAD5-4E7A-88C8-F043B45F2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4/20</a:t>
            </a:r>
          </a:p>
        </p:txBody>
      </p:sp>
      <p:sp>
        <p:nvSpPr>
          <p:cNvPr id="4" name="scenario">
            <a:extLst xmlns:a="http://schemas.openxmlformats.org/drawingml/2006/main">
              <a:ext uri="{FF2B5EF4-FFF2-40B4-BE49-F238E27FC236}">
                <a16:creationId xmlns:a16="http://schemas.microsoft.com/office/drawing/2014/main" id="{DC8F2F26-BD81-40F7-A30E-E6C8E637A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09750"/>
            <a:ext cx="933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任務：整理 EGFR、ALK、TP53 與肺癌治療或研究關聯的 evidence table</a:t>
            </a:r>
          </a:p>
        </p:txBody>
      </p:sp>
      <p:sp>
        <p:nvSpPr>
          <p:cNvPr id="5" name="row-head-0">
            <a:extLst xmlns:a="http://schemas.openxmlformats.org/drawingml/2006/main">
              <a:ext uri="{FF2B5EF4-FFF2-40B4-BE49-F238E27FC236}">
                <a16:creationId xmlns:a16="http://schemas.microsoft.com/office/drawing/2014/main" id="{56A8BB56-1E78-4905-9FF0-BEC785E25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8605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Entities</a:t>
            </a:r>
          </a:p>
        </p:txBody>
      </p:sp>
      <p:sp>
        <p:nvSpPr>
          <p:cNvPr id="6" name="row-copy-0">
            <a:extLst xmlns:a="http://schemas.openxmlformats.org/drawingml/2006/main">
              <a:ext uri="{FF2B5EF4-FFF2-40B4-BE49-F238E27FC236}">
                <a16:creationId xmlns:a16="http://schemas.microsoft.com/office/drawing/2014/main" id="{13B91C60-F71E-4EFB-8467-2D3FD8190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9082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gene / disease / drug / variant</a:t>
            </a:r>
          </a:p>
        </p:txBody>
      </p:sp>
      <p:sp>
        <p:nvSpPr>
          <p:cNvPr id="7" name="row-line-0">
            <a:extLst xmlns:a="http://schemas.openxmlformats.org/drawingml/2006/main">
              <a:ext uri="{FF2B5EF4-FFF2-40B4-BE49-F238E27FC236}">
                <a16:creationId xmlns:a16="http://schemas.microsoft.com/office/drawing/2014/main" id="{4E1E8AE4-B6E4-4E6E-AF38-E97E5B71F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91465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8" name="row-head-1">
            <a:extLst xmlns:a="http://schemas.openxmlformats.org/drawingml/2006/main">
              <a:ext uri="{FF2B5EF4-FFF2-40B4-BE49-F238E27FC236}">
                <a16:creationId xmlns:a16="http://schemas.microsoft.com/office/drawing/2014/main" id="{B886C311-61A3-48B9-8608-69FB1737B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37185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9" name="row-copy-1">
            <a:extLst xmlns:a="http://schemas.openxmlformats.org/drawingml/2006/main">
              <a:ext uri="{FF2B5EF4-FFF2-40B4-BE49-F238E27FC236}">
                <a16:creationId xmlns:a16="http://schemas.microsoft.com/office/drawing/2014/main" id="{B4C06BCA-DE68-477A-ABC9-B0361DDB0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7662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claim / PMID / DOI / source span</a:t>
            </a:r>
          </a:p>
        </p:txBody>
      </p:sp>
      <p:sp>
        <p:nvSpPr>
          <p:cNvPr id="10" name="row-line-1">
            <a:extLst xmlns:a="http://schemas.openxmlformats.org/drawingml/2006/main">
              <a:ext uri="{FF2B5EF4-FFF2-40B4-BE49-F238E27FC236}">
                <a16:creationId xmlns:a16="http://schemas.microsoft.com/office/drawing/2014/main" id="{4907C81C-6427-42B6-AB5F-2519D8514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60045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1" name="row-head-2">
            <a:extLst xmlns:a="http://schemas.openxmlformats.org/drawingml/2006/main">
              <a:ext uri="{FF2B5EF4-FFF2-40B4-BE49-F238E27FC236}">
                <a16:creationId xmlns:a16="http://schemas.microsoft.com/office/drawing/2014/main" id="{AAEBA343-35CF-41BE-AE74-5BC8E770B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5765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12" name="row-copy-2">
            <a:extLst xmlns:a="http://schemas.openxmlformats.org/drawingml/2006/main">
              <a:ext uri="{FF2B5EF4-FFF2-40B4-BE49-F238E27FC236}">
                <a16:creationId xmlns:a16="http://schemas.microsoft.com/office/drawing/2014/main" id="{E7FF49E5-0A95-4BE3-91E0-B8CFC0673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16242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gene symbol / citation / guideline / review</a:t>
            </a:r>
          </a:p>
        </p:txBody>
      </p:sp>
      <p:sp>
        <p:nvSpPr>
          <p:cNvPr id="13" name="row-line-2">
            <a:extLst xmlns:a="http://schemas.openxmlformats.org/drawingml/2006/main">
              <a:ext uri="{FF2B5EF4-FFF2-40B4-BE49-F238E27FC236}">
                <a16:creationId xmlns:a16="http://schemas.microsoft.com/office/drawing/2014/main" id="{431B0D28-D4F2-4BEB-A4DA-588C4D274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28625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4" name="row-head-3">
            <a:extLst xmlns:a="http://schemas.openxmlformats.org/drawingml/2006/main">
              <a:ext uri="{FF2B5EF4-FFF2-40B4-BE49-F238E27FC236}">
                <a16:creationId xmlns:a16="http://schemas.microsoft.com/office/drawing/2014/main" id="{615468F2-7676-4937-B9AC-4FB9F74AE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4345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5" name="row-copy-3">
            <a:extLst xmlns:a="http://schemas.openxmlformats.org/drawingml/2006/main">
              <a:ext uri="{FF2B5EF4-FFF2-40B4-BE49-F238E27FC236}">
                <a16:creationId xmlns:a16="http://schemas.microsoft.com/office/drawing/2014/main" id="{D930F78A-8CF1-4169-A667-5494E17C6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4822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table + research note + limitations</a:t>
            </a:r>
          </a:p>
        </p:txBody>
      </p:sp>
      <p:sp>
        <p:nvSpPr>
          <p:cNvPr id="16" name="row-line-3">
            <a:extLst xmlns:a="http://schemas.openxmlformats.org/drawingml/2006/main">
              <a:ext uri="{FF2B5EF4-FFF2-40B4-BE49-F238E27FC236}">
                <a16:creationId xmlns:a16="http://schemas.microsoft.com/office/drawing/2014/main" id="{6D0AD622-6445-47E8-AB3D-D33B31F65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97205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7" name="note">
            <a:extLst xmlns:a="http://schemas.openxmlformats.org/drawingml/2006/main">
              <a:ext uri="{FF2B5EF4-FFF2-40B4-BE49-F238E27FC236}">
                <a16:creationId xmlns:a16="http://schemas.microsoft.com/office/drawing/2014/main" id="{26711E85-02F8-41D2-B5C8-B6EA59164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7340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這堂課不追求一次產出完整答案，而是學會把任務拆成可檢查步驟。</a:t>
            </a:r>
          </a:p>
        </p:txBody>
      </p:sp>
    </p:spTree>
    <p:extLst>
      <p:ext uri="{BB962C8B-B14F-4D97-AF65-F5344CB8AC3E}">
        <p14:creationId xmlns:p14="http://schemas.microsoft.com/office/powerpoint/2010/main" val="201629650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D2411D66-4313-459B-9FE3-DC9BDAB67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MATURITY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B0AA2ED-2603-4615-BE65-39678DC0B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不是單一型態，而是自動化程度的光譜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43A86ACD-E24E-471C-BDEE-41494DB04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5/20</a:t>
            </a:r>
          </a:p>
        </p:txBody>
      </p:sp>
      <p:sp>
        <p:nvSpPr>
          <p:cNvPr id="4" name="ladder-line">
            <a:extLst xmlns:a="http://schemas.openxmlformats.org/drawingml/2006/main">
              <a:ext uri="{FF2B5EF4-FFF2-40B4-BE49-F238E27FC236}">
                <a16:creationId xmlns:a16="http://schemas.microsoft.com/office/drawing/2014/main" id="{197F3C28-A7A3-45F9-8EAC-4ADDD8393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314700"/>
            <a:ext cx="9448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5" name="level-0">
            <a:extLst xmlns:a="http://schemas.openxmlformats.org/drawingml/2006/main">
              <a:ext uri="{FF2B5EF4-FFF2-40B4-BE49-F238E27FC236}">
                <a16:creationId xmlns:a16="http://schemas.microsoft.com/office/drawing/2014/main" id="{2D1962D4-596C-4524-B36E-CC1D6B761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Chatbot</a:t>
            </a:r>
          </a:p>
        </p:txBody>
      </p:sp>
      <p:sp>
        <p:nvSpPr>
          <p:cNvPr id="6" name="level-copy-0">
            <a:extLst xmlns:a="http://schemas.openxmlformats.org/drawingml/2006/main">
              <a:ext uri="{FF2B5EF4-FFF2-40B4-BE49-F238E27FC236}">
                <a16:creationId xmlns:a16="http://schemas.microsoft.com/office/drawing/2014/main" id="{B57475C3-3316-4EA6-9B54-D2309644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76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回答問題</a:t>
            </a:r>
          </a:p>
        </p:txBody>
      </p:sp>
      <p:sp>
        <p:nvSpPr>
          <p:cNvPr id="7" name="level-1">
            <a:extLst xmlns:a="http://schemas.openxmlformats.org/drawingml/2006/main">
              <a:ext uri="{FF2B5EF4-FFF2-40B4-BE49-F238E27FC236}">
                <a16:creationId xmlns:a16="http://schemas.microsoft.com/office/drawing/2014/main" id="{CB753938-B545-4C2E-8554-3EA243FA0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55270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Assistant</a:t>
            </a:r>
          </a:p>
        </p:txBody>
      </p:sp>
      <p:sp>
        <p:nvSpPr>
          <p:cNvPr id="8" name="level-copy-1">
            <a:extLst xmlns:a="http://schemas.openxmlformats.org/drawingml/2006/main">
              <a:ext uri="{FF2B5EF4-FFF2-40B4-BE49-F238E27FC236}">
                <a16:creationId xmlns:a16="http://schemas.microsoft.com/office/drawing/2014/main" id="{BB76AA2F-7117-4EB3-988D-84C8F3DD8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676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摘要與整理</a:t>
            </a:r>
          </a:p>
        </p:txBody>
      </p:sp>
      <p:sp>
        <p:nvSpPr>
          <p:cNvPr id="9" name="level-2">
            <a:extLst xmlns:a="http://schemas.openxmlformats.org/drawingml/2006/main">
              <a:ext uri="{FF2B5EF4-FFF2-40B4-BE49-F238E27FC236}">
                <a16:creationId xmlns:a16="http://schemas.microsoft.com/office/drawing/2014/main" id="{3D277703-5F29-4FA8-BEE6-983D6E191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55270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 user</a:t>
            </a:r>
          </a:p>
        </p:txBody>
      </p:sp>
      <p:sp>
        <p:nvSpPr>
          <p:cNvPr id="10" name="level-copy-2">
            <a:extLst xmlns:a="http://schemas.openxmlformats.org/drawingml/2006/main">
              <a:ext uri="{FF2B5EF4-FFF2-40B4-BE49-F238E27FC236}">
                <a16:creationId xmlns:a16="http://schemas.microsoft.com/office/drawing/2014/main" id="{E03F977D-8AD7-46E2-9377-1081F622A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676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查資料、讀檔、跑工具</a:t>
            </a:r>
          </a:p>
        </p:txBody>
      </p:sp>
      <p:sp>
        <p:nvSpPr>
          <p:cNvPr id="11" name="level-3">
            <a:extLst xmlns:a="http://schemas.openxmlformats.org/drawingml/2006/main">
              <a:ext uri="{FF2B5EF4-FFF2-40B4-BE49-F238E27FC236}">
                <a16:creationId xmlns:a16="http://schemas.microsoft.com/office/drawing/2014/main" id="{C872C212-3FAD-4839-9E42-66058FCAC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55270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Workflow agent</a:t>
            </a:r>
          </a:p>
        </p:txBody>
      </p:sp>
      <p:sp>
        <p:nvSpPr>
          <p:cNvPr id="12" name="level-copy-3">
            <a:extLst xmlns:a="http://schemas.openxmlformats.org/drawingml/2006/main">
              <a:ext uri="{FF2B5EF4-FFF2-40B4-BE49-F238E27FC236}">
                <a16:creationId xmlns:a16="http://schemas.microsoft.com/office/drawing/2014/main" id="{F95E616D-EF8C-4DED-8946-7551CCB90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676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多步驟執行與檢查</a:t>
            </a:r>
          </a:p>
        </p:txBody>
      </p:sp>
      <p:sp>
        <p:nvSpPr>
          <p:cNvPr id="13" name="level-4">
            <a:extLst xmlns:a="http://schemas.openxmlformats.org/drawingml/2006/main">
              <a:ext uri="{FF2B5EF4-FFF2-40B4-BE49-F238E27FC236}">
                <a16:creationId xmlns:a16="http://schemas.microsoft.com/office/drawing/2014/main" id="{354AEE65-FD55-4C08-BAE1-79506E258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55270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12859">
            <a:solidFill>
              <a:srgbClr val="C85A4A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Autonomous</a:t>
            </a:r>
          </a:p>
        </p:txBody>
      </p:sp>
      <p:sp>
        <p:nvSpPr>
          <p:cNvPr id="14" name="level-copy-4">
            <a:extLst xmlns:a="http://schemas.openxmlformats.org/drawingml/2006/main">
              <a:ext uri="{FF2B5EF4-FFF2-40B4-BE49-F238E27FC236}">
                <a16:creationId xmlns:a16="http://schemas.microsoft.com/office/drawing/2014/main" id="{7624251F-139A-4D8C-88CA-CBEF3F740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676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長時間自行操作</a:t>
            </a:r>
          </a:p>
        </p:txBody>
      </p:sp>
      <p:sp>
        <p:nvSpPr>
          <p:cNvPr id="15" name="takeaway">
            <a:extLst xmlns:a="http://schemas.openxmlformats.org/drawingml/2006/main">
              <a:ext uri="{FF2B5EF4-FFF2-40B4-BE49-F238E27FC236}">
                <a16:creationId xmlns:a16="http://schemas.microsoft.com/office/drawing/2014/main" id="{C7EFC272-F1A1-4D5C-9139-29A023C9B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25780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本課程的重點在 tool-using 與 workflow agent，不鼓勵無監督 autonomous use。</a:t>
            </a:r>
          </a:p>
        </p:txBody>
      </p:sp>
    </p:spTree>
    <p:extLst>
      <p:ext uri="{BB962C8B-B14F-4D97-AF65-F5344CB8AC3E}">
        <p14:creationId xmlns:p14="http://schemas.microsoft.com/office/powerpoint/2010/main" val="74301479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E23E37CF-DA03-48C9-9DC5-EE00B360B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CHATBOT VS AGENT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3082D19-66AE-4626-ACDA-253955BF8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Chatbot 產生回答；agent 交付可檢查 artifact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B4EC378E-4C6D-4004-BB00-6791FE176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6/20</a:t>
            </a:r>
          </a:p>
        </p:txBody>
      </p:sp>
      <p:sp>
        <p:nvSpPr>
          <p:cNvPr id="4" name="left">
            <a:extLst xmlns:a="http://schemas.openxmlformats.org/drawingml/2006/main">
              <a:ext uri="{FF2B5EF4-FFF2-40B4-BE49-F238E27FC236}">
                <a16:creationId xmlns:a16="http://schemas.microsoft.com/office/drawing/2014/main" id="{776D6D00-536D-4DAD-8BF7-62299119F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43100"/>
            <a:ext cx="4572000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right">
            <a:extLst xmlns:a="http://schemas.openxmlformats.org/drawingml/2006/main">
              <a:ext uri="{FF2B5EF4-FFF2-40B4-BE49-F238E27FC236}">
                <a16:creationId xmlns:a16="http://schemas.microsoft.com/office/drawing/2014/main" id="{FF5496C7-A24E-4C0A-B2CA-EE876AC3B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943100"/>
            <a:ext cx="4572000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6" name="left-title">
            <a:extLst xmlns:a="http://schemas.openxmlformats.org/drawingml/2006/main">
              <a:ext uri="{FF2B5EF4-FFF2-40B4-BE49-F238E27FC236}">
                <a16:creationId xmlns:a16="http://schemas.microsoft.com/office/drawing/2014/main" id="{DECC829D-FEF1-4C8D-A912-6389A563E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0980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Chatbot answer</a:t>
            </a:r>
          </a:p>
        </p:txBody>
      </p:sp>
      <p:sp>
        <p:nvSpPr>
          <p:cNvPr id="7" name="right-title">
            <a:extLst xmlns:a="http://schemas.openxmlformats.org/drawingml/2006/main">
              <a:ext uri="{FF2B5EF4-FFF2-40B4-BE49-F238E27FC236}">
                <a16:creationId xmlns:a16="http://schemas.microsoft.com/office/drawing/2014/main" id="{6F214E74-5C68-4BF7-B434-7B066320F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20980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workflow</a:t>
            </a:r>
          </a:p>
        </p:txBody>
      </p:sp>
      <p:sp>
        <p:nvSpPr>
          <p:cNvPr id="8" name="prompt">
            <a:extLst xmlns:a="http://schemas.openxmlformats.org/drawingml/2006/main">
              <a:ext uri="{FF2B5EF4-FFF2-40B4-BE49-F238E27FC236}">
                <a16:creationId xmlns:a16="http://schemas.microsoft.com/office/drawing/2014/main" id="{53842126-0889-48F7-A757-AACE20F77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181350"/>
            <a:ext cx="12573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Prompt</a:t>
            </a:r>
          </a:p>
        </p:txBody>
      </p:sp>
      <p:sp>
        <p:nvSpPr>
          <p:cNvPr id="9" name="response">
            <a:extLst xmlns:a="http://schemas.openxmlformats.org/drawingml/2006/main">
              <a:ext uri="{FF2B5EF4-FFF2-40B4-BE49-F238E27FC236}">
                <a16:creationId xmlns:a16="http://schemas.microsoft.com/office/drawing/2014/main" id="{5A0A18B2-1B22-4C62-98F2-7BC1C7425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181350"/>
            <a:ext cx="13525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Response</a:t>
            </a:r>
          </a:p>
        </p:txBody>
      </p:sp>
      <p:sp>
        <p:nvSpPr>
          <p:cNvPr id="10" name="chat-line">
            <a:extLst xmlns:a="http://schemas.openxmlformats.org/drawingml/2006/main">
              <a:ext uri="{FF2B5EF4-FFF2-40B4-BE49-F238E27FC236}">
                <a16:creationId xmlns:a16="http://schemas.microsoft.com/office/drawing/2014/main" id="{CE4659F2-B962-4A88-AED2-708A540FD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438525"/>
            <a:ext cx="1028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5C6670"/>
            </a:solidFill>
            <a:prstDash val="solid"/>
          </a:ln>
        </p:spPr>
      </p:sp>
      <p:sp>
        <p:nvSpPr>
          <p:cNvPr id="11" name="left-copy">
            <a:extLst xmlns:a="http://schemas.openxmlformats.org/drawingml/2006/main">
              <a:ext uri="{FF2B5EF4-FFF2-40B4-BE49-F238E27FC236}">
                <a16:creationId xmlns:a16="http://schemas.microsoft.com/office/drawing/2014/main" id="{09258684-6158-4334-A153-43A26A378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100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看起來完整，但來源、欄位與限制常不清楚。</a:t>
            </a:r>
          </a:p>
        </p:txBody>
      </p:sp>
      <p:sp>
        <p:nvSpPr>
          <p:cNvPr id="12" name="a1">
            <a:extLst xmlns:a="http://schemas.openxmlformats.org/drawingml/2006/main">
              <a:ext uri="{FF2B5EF4-FFF2-40B4-BE49-F238E27FC236}">
                <a16:creationId xmlns:a16="http://schemas.microsoft.com/office/drawing/2014/main" id="{3CB5ADF6-0955-4941-9AE0-A37CB0402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257550"/>
            <a:ext cx="514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446A8"/>
            </a:solidFill>
            <a:prstDash val="solid"/>
          </a:ln>
        </p:spPr>
      </p:sp>
      <p:sp>
        <p:nvSpPr>
          <p:cNvPr id="13" name="a2">
            <a:extLst xmlns:a="http://schemas.openxmlformats.org/drawingml/2006/main">
              <a:ext uri="{FF2B5EF4-FFF2-40B4-BE49-F238E27FC236}">
                <a16:creationId xmlns:a16="http://schemas.microsoft.com/office/drawing/2014/main" id="{028FCD97-7F34-4A0D-83E8-F115A4054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257550"/>
            <a:ext cx="514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E8F88"/>
            </a:solidFill>
            <a:prstDash val="solid"/>
          </a:ln>
        </p:spPr>
      </p:sp>
      <p:sp>
        <p:nvSpPr>
          <p:cNvPr id="14" name="a3">
            <a:extLst xmlns:a="http://schemas.openxmlformats.org/drawingml/2006/main">
              <a:ext uri="{FF2B5EF4-FFF2-40B4-BE49-F238E27FC236}">
                <a16:creationId xmlns:a16="http://schemas.microsoft.com/office/drawing/2014/main" id="{DB175B14-5A58-4F34-B01A-5862A1F86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543300"/>
            <a:ext cx="0" cy="457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5" name="a4">
            <a:extLst xmlns:a="http://schemas.openxmlformats.org/drawingml/2006/main">
              <a:ext uri="{FF2B5EF4-FFF2-40B4-BE49-F238E27FC236}">
                <a16:creationId xmlns:a16="http://schemas.microsoft.com/office/drawing/2014/main" id="{65A7AE6E-1753-4D4B-99EF-36FC7C493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2291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6" name="agent-Goal">
            <a:extLst xmlns:a="http://schemas.openxmlformats.org/drawingml/2006/main">
              <a:ext uri="{FF2B5EF4-FFF2-40B4-BE49-F238E27FC236}">
                <a16:creationId xmlns:a16="http://schemas.microsoft.com/office/drawing/2014/main" id="{203D76E1-05FF-4EA7-9AE0-BF6E89167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028950"/>
            <a:ext cx="10287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17" name="agent-Tools">
            <a:extLst xmlns:a="http://schemas.openxmlformats.org/drawingml/2006/main">
              <a:ext uri="{FF2B5EF4-FFF2-40B4-BE49-F238E27FC236}">
                <a16:creationId xmlns:a16="http://schemas.microsoft.com/office/drawing/2014/main" id="{E545DB12-1399-4C8D-8CA0-AF441B4F5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28950"/>
            <a:ext cx="10287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18" name="agent-Evidence">
            <a:extLst xmlns:a="http://schemas.openxmlformats.org/drawingml/2006/main">
              <a:ext uri="{FF2B5EF4-FFF2-40B4-BE49-F238E27FC236}">
                <a16:creationId xmlns:a16="http://schemas.microsoft.com/office/drawing/2014/main" id="{5BC7EFEB-5190-4815-9B2D-9531738AA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028950"/>
            <a:ext cx="10287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19" name="agent-Verify">
            <a:extLst xmlns:a="http://schemas.openxmlformats.org/drawingml/2006/main">
              <a:ext uri="{FF2B5EF4-FFF2-40B4-BE49-F238E27FC236}">
                <a16:creationId xmlns:a16="http://schemas.microsoft.com/office/drawing/2014/main" id="{A2BBE2A4-45BF-414C-AB7E-0C71F9D22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000500"/>
            <a:ext cx="10287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20" name="agent-Artifact">
            <a:extLst xmlns:a="http://schemas.openxmlformats.org/drawingml/2006/main">
              <a:ext uri="{FF2B5EF4-FFF2-40B4-BE49-F238E27FC236}">
                <a16:creationId xmlns:a16="http://schemas.microsoft.com/office/drawing/2014/main" id="{C0FBC851-B18E-4401-B2C1-179F56B4E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000500"/>
            <a:ext cx="10287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Artifact</a:t>
            </a:r>
          </a:p>
        </p:txBody>
      </p:sp>
      <p:sp>
        <p:nvSpPr>
          <p:cNvPr id="21" name="right-copy">
            <a:extLst xmlns:a="http://schemas.openxmlformats.org/drawingml/2006/main">
              <a:ext uri="{FF2B5EF4-FFF2-40B4-BE49-F238E27FC236}">
                <a16:creationId xmlns:a16="http://schemas.microsoft.com/office/drawing/2014/main" id="{D441B766-1B0E-4D51-8D8A-0FFFFF4E4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0673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重點不是更像人，而是能留下可審核輸出。</a:t>
            </a:r>
          </a:p>
        </p:txBody>
      </p:sp>
    </p:spTree>
    <p:extLst>
      <p:ext uri="{BB962C8B-B14F-4D97-AF65-F5344CB8AC3E}">
        <p14:creationId xmlns:p14="http://schemas.microsoft.com/office/powerpoint/2010/main" val="9750083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CF7C1109-A127-4C6C-B36B-3F96588DC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AGENT COMPONENTS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2F04E87-F7AA-4661-98EE-209FB9DD5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可靠 agent 由元件與邊界組成，不只是一個模型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ED5206F1-39BC-41B3-A762-7F3A315C3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7/20</a:t>
            </a:r>
          </a:p>
        </p:txBody>
      </p:sp>
      <p:sp>
        <p:nvSpPr>
          <p:cNvPr id="4" name="model">
            <a:extLst xmlns:a="http://schemas.openxmlformats.org/drawingml/2006/main">
              <a:ext uri="{FF2B5EF4-FFF2-40B4-BE49-F238E27FC236}">
                <a16:creationId xmlns:a16="http://schemas.microsoft.com/office/drawing/2014/main" id="{46E6E3F3-0342-4891-9CAD-1D458B47C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009900"/>
            <a:ext cx="17526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Model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推理與生成</a:t>
            </a:r>
          </a:p>
        </p:txBody>
      </p:sp>
      <p:sp>
        <p:nvSpPr>
          <p:cNvPr id="5" name="line-Goal">
            <a:extLst xmlns:a="http://schemas.openxmlformats.org/drawingml/2006/main">
              <a:ext uri="{FF2B5EF4-FFF2-40B4-BE49-F238E27FC236}">
                <a16:creationId xmlns:a16="http://schemas.microsoft.com/office/drawing/2014/main" id="{098685FB-6C31-4111-9803-029E2459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2295525"/>
            <a:ext cx="3228975" cy="11144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D4DADD"/>
            </a:solidFill>
            <a:prstDash val="solid"/>
          </a:ln>
        </p:spPr>
      </p:sp>
      <p:sp>
        <p:nvSpPr>
          <p:cNvPr id="6" name="node-Goal">
            <a:extLst xmlns:a="http://schemas.openxmlformats.org/drawingml/2006/main">
              <a:ext uri="{FF2B5EF4-FFF2-40B4-BE49-F238E27FC236}">
                <a16:creationId xmlns:a16="http://schemas.microsoft.com/office/drawing/2014/main" id="{83896E14-4872-4DB6-99A2-A1A3242AC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000250"/>
            <a:ext cx="1809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Goal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成功條件</a:t>
            </a:r>
          </a:p>
        </p:txBody>
      </p:sp>
      <p:sp>
        <p:nvSpPr>
          <p:cNvPr id="7" name="line-Context">
            <a:extLst xmlns:a="http://schemas.openxmlformats.org/drawingml/2006/main">
              <a:ext uri="{FF2B5EF4-FFF2-40B4-BE49-F238E27FC236}">
                <a16:creationId xmlns:a16="http://schemas.microsoft.com/office/drawing/2014/main" id="{5EBFB7D2-879B-443E-B003-FB7D720F6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95525"/>
            <a:ext cx="2390775" cy="11144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D4DADD"/>
            </a:solidFill>
            <a:prstDash val="solid"/>
          </a:ln>
        </p:spPr>
      </p:sp>
      <p:sp>
        <p:nvSpPr>
          <p:cNvPr id="8" name="node-Context">
            <a:extLst xmlns:a="http://schemas.openxmlformats.org/drawingml/2006/main">
              <a:ext uri="{FF2B5EF4-FFF2-40B4-BE49-F238E27FC236}">
                <a16:creationId xmlns:a16="http://schemas.microsoft.com/office/drawing/2014/main" id="{C85787E5-7B8F-495D-9339-468E42313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000250"/>
            <a:ext cx="1809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Context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任務、資料、限制</a:t>
            </a:r>
          </a:p>
        </p:txBody>
      </p:sp>
      <p:sp>
        <p:nvSpPr>
          <p:cNvPr id="9" name="line-Tools">
            <a:extLst xmlns:a="http://schemas.openxmlformats.org/drawingml/2006/main">
              <a:ext uri="{FF2B5EF4-FFF2-40B4-BE49-F238E27FC236}">
                <a16:creationId xmlns:a16="http://schemas.microsoft.com/office/drawing/2014/main" id="{36609266-98DA-4F57-85AC-7AC1F421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3409950"/>
            <a:ext cx="3629025" cy="1057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D4DADD"/>
            </a:solidFill>
            <a:prstDash val="solid"/>
          </a:ln>
        </p:spPr>
      </p:sp>
      <p:sp>
        <p:nvSpPr>
          <p:cNvPr id="10" name="node-Tools">
            <a:extLst xmlns:a="http://schemas.openxmlformats.org/drawingml/2006/main">
              <a:ext uri="{FF2B5EF4-FFF2-40B4-BE49-F238E27FC236}">
                <a16:creationId xmlns:a16="http://schemas.microsoft.com/office/drawing/2014/main" id="{220CAEC7-CE7D-47C8-9975-1B4EEF76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171950"/>
            <a:ext cx="1809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Tools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搜尋、讀檔、查 DB</a:t>
            </a:r>
          </a:p>
        </p:txBody>
      </p:sp>
      <p:sp>
        <p:nvSpPr>
          <p:cNvPr id="11" name="line-State">
            <a:extLst xmlns:a="http://schemas.openxmlformats.org/drawingml/2006/main">
              <a:ext uri="{FF2B5EF4-FFF2-40B4-BE49-F238E27FC236}">
                <a16:creationId xmlns:a16="http://schemas.microsoft.com/office/drawing/2014/main" id="{04EB7130-1139-437B-9462-BA760AB74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409950"/>
            <a:ext cx="2771775" cy="1057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D4DADD"/>
            </a:solidFill>
            <a:prstDash val="solid"/>
          </a:ln>
        </p:spPr>
      </p:sp>
      <p:sp>
        <p:nvSpPr>
          <p:cNvPr id="12" name="node-State">
            <a:extLst xmlns:a="http://schemas.openxmlformats.org/drawingml/2006/main">
              <a:ext uri="{FF2B5EF4-FFF2-40B4-BE49-F238E27FC236}">
                <a16:creationId xmlns:a16="http://schemas.microsoft.com/office/drawing/2014/main" id="{18294EAE-41B3-436B-8EE5-34FD0EF4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171950"/>
            <a:ext cx="1809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State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進度與中間結果</a:t>
            </a:r>
          </a:p>
        </p:txBody>
      </p:sp>
      <p:sp>
        <p:nvSpPr>
          <p:cNvPr id="13" name="line-Verification">
            <a:extLst xmlns:a="http://schemas.openxmlformats.org/drawingml/2006/main">
              <a:ext uri="{FF2B5EF4-FFF2-40B4-BE49-F238E27FC236}">
                <a16:creationId xmlns:a16="http://schemas.microsoft.com/office/drawing/2014/main" id="{2EFFC43A-CA9C-4C46-BD71-1A5F4AF00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3409950"/>
            <a:ext cx="561975" cy="18954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D4DADD"/>
            </a:solidFill>
            <a:prstDash val="solid"/>
          </a:ln>
        </p:spPr>
      </p:sp>
      <p:sp>
        <p:nvSpPr>
          <p:cNvPr id="14" name="node-Verification">
            <a:extLst xmlns:a="http://schemas.openxmlformats.org/drawingml/2006/main">
              <a:ext uri="{FF2B5EF4-FFF2-40B4-BE49-F238E27FC236}">
                <a16:creationId xmlns:a16="http://schemas.microsoft.com/office/drawing/2014/main" id="{93FEB733-9194-41D4-8DA3-5BC9E69DF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010150"/>
            <a:ext cx="1809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Verification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檢查與停止條件</a:t>
            </a:r>
          </a:p>
        </p:txBody>
      </p:sp>
    </p:spTree>
    <p:extLst>
      <p:ext uri="{BB962C8B-B14F-4D97-AF65-F5344CB8AC3E}">
        <p14:creationId xmlns:p14="http://schemas.microsoft.com/office/powerpoint/2010/main" val="40001497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D69A8FC5-C80E-4513-AF2D-F9796662D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LOOP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1CCDC119-D659-4AED-B37F-4509C2D16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的核心是一個會觀察、修正與停止的循環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6275477B-E4E1-41F1-B2EB-BF19E1833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8/20</a:t>
            </a:r>
          </a:p>
        </p:txBody>
      </p:sp>
      <p:sp>
        <p:nvSpPr>
          <p:cNvPr id="4" name="goal-plan-a">
            <a:extLst xmlns:a="http://schemas.openxmlformats.org/drawingml/2006/main">
              <a:ext uri="{FF2B5EF4-FFF2-40B4-BE49-F238E27FC236}">
                <a16:creationId xmlns:a16="http://schemas.microsoft.com/office/drawing/2014/main" id="{4CF884B7-0A20-4526-AF80-83C11583E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670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446A8"/>
            </a:solidFill>
            <a:prstDash val="solid"/>
          </a:ln>
        </p:spPr>
      </p:sp>
      <p:sp>
        <p:nvSpPr>
          <p:cNvPr id="5" name="goal-plan-b">
            <a:extLst xmlns:a="http://schemas.openxmlformats.org/drawingml/2006/main">
              <a:ext uri="{FF2B5EF4-FFF2-40B4-BE49-F238E27FC236}">
                <a16:creationId xmlns:a16="http://schemas.microsoft.com/office/drawing/2014/main" id="{4495BF2B-F39A-4B28-B702-643A92565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190750"/>
            <a:ext cx="0" cy="876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446A8"/>
            </a:solidFill>
            <a:prstDash val="solid"/>
          </a:ln>
        </p:spPr>
      </p:sp>
      <p:sp>
        <p:nvSpPr>
          <p:cNvPr id="6" name="goal-plan-c">
            <a:extLst xmlns:a="http://schemas.openxmlformats.org/drawingml/2006/main">
              <a:ext uri="{FF2B5EF4-FFF2-40B4-BE49-F238E27FC236}">
                <a16:creationId xmlns:a16="http://schemas.microsoft.com/office/drawing/2014/main" id="{DAF4E22B-6EE9-4746-8E27-FFB4BEAA6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190750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446A8"/>
            </a:solidFill>
            <a:prstDash val="solid"/>
          </a:ln>
        </p:spPr>
      </p:sp>
      <p:sp>
        <p:nvSpPr>
          <p:cNvPr id="7" name="plan-act">
            <a:extLst xmlns:a="http://schemas.openxmlformats.org/drawingml/2006/main">
              <a:ext uri="{FF2B5EF4-FFF2-40B4-BE49-F238E27FC236}">
                <a16:creationId xmlns:a16="http://schemas.microsoft.com/office/drawing/2014/main" id="{069976A6-3108-41A3-A26F-7A596CB2D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190750"/>
            <a:ext cx="1200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446A8"/>
            </a:solidFill>
            <a:prstDash val="solid"/>
          </a:ln>
        </p:spPr>
      </p:sp>
      <p:sp>
        <p:nvSpPr>
          <p:cNvPr id="8" name="act-observe-a">
            <a:extLst xmlns:a="http://schemas.openxmlformats.org/drawingml/2006/main">
              <a:ext uri="{FF2B5EF4-FFF2-40B4-BE49-F238E27FC236}">
                <a16:creationId xmlns:a16="http://schemas.microsoft.com/office/drawing/2014/main" id="{6300CD02-2D0C-496B-B7D0-B131F412E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190750"/>
            <a:ext cx="53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E8F88"/>
            </a:solidFill>
            <a:prstDash val="solid"/>
          </a:ln>
        </p:spPr>
      </p:sp>
      <p:sp>
        <p:nvSpPr>
          <p:cNvPr id="9" name="act-observe-b">
            <a:extLst xmlns:a="http://schemas.openxmlformats.org/drawingml/2006/main">
              <a:ext uri="{FF2B5EF4-FFF2-40B4-BE49-F238E27FC236}">
                <a16:creationId xmlns:a16="http://schemas.microsoft.com/office/drawing/2014/main" id="{F72A6256-67E9-4A64-948C-E51D62983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190750"/>
            <a:ext cx="0" cy="876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E8F88"/>
            </a:solidFill>
            <a:prstDash val="solid"/>
          </a:ln>
        </p:spPr>
      </p:sp>
      <p:sp>
        <p:nvSpPr>
          <p:cNvPr id="10" name="act-observe-c">
            <a:extLst xmlns:a="http://schemas.openxmlformats.org/drawingml/2006/main">
              <a:ext uri="{FF2B5EF4-FFF2-40B4-BE49-F238E27FC236}">
                <a16:creationId xmlns:a16="http://schemas.microsoft.com/office/drawing/2014/main" id="{1967D6F6-127C-4E9F-9B81-C77BA414C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0670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E8F88"/>
            </a:solidFill>
            <a:prstDash val="solid"/>
          </a:ln>
        </p:spPr>
      </p:sp>
      <p:sp>
        <p:nvSpPr>
          <p:cNvPr id="11" name="observe-verify-a">
            <a:extLst xmlns:a="http://schemas.openxmlformats.org/drawingml/2006/main">
              <a:ext uri="{FF2B5EF4-FFF2-40B4-BE49-F238E27FC236}">
                <a16:creationId xmlns:a16="http://schemas.microsoft.com/office/drawing/2014/main" id="{BA87021E-62FF-47FA-A8F2-795769778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333750"/>
            <a:ext cx="0" cy="666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2" name="observe-verify-b">
            <a:extLst xmlns:a="http://schemas.openxmlformats.org/drawingml/2006/main">
              <a:ext uri="{FF2B5EF4-FFF2-40B4-BE49-F238E27FC236}">
                <a16:creationId xmlns:a16="http://schemas.microsoft.com/office/drawing/2014/main" id="{7C3EFD17-E748-47D3-9581-11D1E9887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4000500"/>
            <a:ext cx="2238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3" name="observe-verify-c">
            <a:extLst xmlns:a="http://schemas.openxmlformats.org/drawingml/2006/main">
              <a:ext uri="{FF2B5EF4-FFF2-40B4-BE49-F238E27FC236}">
                <a16:creationId xmlns:a16="http://schemas.microsoft.com/office/drawing/2014/main" id="{019F9BA5-4D17-44F3-B340-8C3A37BE5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4000500"/>
            <a:ext cx="0" cy="438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4" name="verify-state">
            <a:extLst xmlns:a="http://schemas.openxmlformats.org/drawingml/2006/main">
              <a:ext uri="{FF2B5EF4-FFF2-40B4-BE49-F238E27FC236}">
                <a16:creationId xmlns:a16="http://schemas.microsoft.com/office/drawing/2014/main" id="{822C99EF-02EF-4C34-B0F4-27C77B478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743450"/>
            <a:ext cx="114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5" name="state-goal-a">
            <a:extLst xmlns:a="http://schemas.openxmlformats.org/drawingml/2006/main">
              <a:ext uri="{FF2B5EF4-FFF2-40B4-BE49-F238E27FC236}">
                <a16:creationId xmlns:a16="http://schemas.microsoft.com/office/drawing/2014/main" id="{76576376-DEAF-478E-B1D5-D39B82DF8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4345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5C6670"/>
            </a:solidFill>
            <a:prstDash val="dash"/>
          </a:ln>
        </p:spPr>
      </p:sp>
      <p:sp>
        <p:nvSpPr>
          <p:cNvPr id="16" name="state-goal-b">
            <a:extLst xmlns:a="http://schemas.openxmlformats.org/drawingml/2006/main">
              <a:ext uri="{FF2B5EF4-FFF2-40B4-BE49-F238E27FC236}">
                <a16:creationId xmlns:a16="http://schemas.microsoft.com/office/drawing/2014/main" id="{204747A5-42A7-4D9D-A6AD-1F8E40CBF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67050"/>
            <a:ext cx="0" cy="1676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5C6670"/>
            </a:solidFill>
            <a:prstDash val="dash"/>
          </a:ln>
        </p:spPr>
      </p:sp>
      <p:sp>
        <p:nvSpPr>
          <p:cNvPr id="17" name="state-goal-c">
            <a:extLst xmlns:a="http://schemas.openxmlformats.org/drawingml/2006/main">
              <a:ext uri="{FF2B5EF4-FFF2-40B4-BE49-F238E27FC236}">
                <a16:creationId xmlns:a16="http://schemas.microsoft.com/office/drawing/2014/main" id="{AD9D3102-7F5B-4CC7-B67F-70CF05BDE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67050"/>
            <a:ext cx="38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5C6670"/>
            </a:solidFill>
            <a:prstDash val="dash"/>
          </a:ln>
        </p:spPr>
      </p:sp>
      <p:sp>
        <p:nvSpPr>
          <p:cNvPr id="18" name="goal">
            <a:extLst xmlns:a="http://schemas.openxmlformats.org/drawingml/2006/main">
              <a:ext uri="{FF2B5EF4-FFF2-40B4-BE49-F238E27FC236}">
                <a16:creationId xmlns:a16="http://schemas.microsoft.com/office/drawing/2014/main" id="{29DA3A7C-F80D-402C-A09D-FA5DE664F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800350"/>
            <a:ext cx="11049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4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19" name="plan">
            <a:extLst xmlns:a="http://schemas.openxmlformats.org/drawingml/2006/main">
              <a:ext uri="{FF2B5EF4-FFF2-40B4-BE49-F238E27FC236}">
                <a16:creationId xmlns:a16="http://schemas.microsoft.com/office/drawing/2014/main" id="{703B0474-66DA-4968-A64F-585912040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924050"/>
            <a:ext cx="11049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20" name="act">
            <a:extLst xmlns:a="http://schemas.openxmlformats.org/drawingml/2006/main">
              <a:ext uri="{FF2B5EF4-FFF2-40B4-BE49-F238E27FC236}">
                <a16:creationId xmlns:a16="http://schemas.microsoft.com/office/drawing/2014/main" id="{AC9C4269-4CBB-424E-B3C6-5978D0F70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885950"/>
            <a:ext cx="13144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Act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with tools</a:t>
            </a:r>
          </a:p>
        </p:txBody>
      </p:sp>
      <p:sp>
        <p:nvSpPr>
          <p:cNvPr id="21" name="observe">
            <a:extLst xmlns:a="http://schemas.openxmlformats.org/drawingml/2006/main">
              <a:ext uri="{FF2B5EF4-FFF2-40B4-BE49-F238E27FC236}">
                <a16:creationId xmlns:a16="http://schemas.microsoft.com/office/drawing/2014/main" id="{D9DE4206-AD9D-43AF-99AA-262E20AB9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800350"/>
            <a:ext cx="12192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Observe</a:t>
            </a:r>
          </a:p>
        </p:txBody>
      </p:sp>
      <p:sp>
        <p:nvSpPr>
          <p:cNvPr id="22" name="verify">
            <a:extLst xmlns:a="http://schemas.openxmlformats.org/drawingml/2006/main">
              <a:ext uri="{FF2B5EF4-FFF2-40B4-BE49-F238E27FC236}">
                <a16:creationId xmlns:a16="http://schemas.microsoft.com/office/drawing/2014/main" id="{2781FE95-D5D1-47F1-A9FC-2F4C73C4E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438650"/>
            <a:ext cx="13144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23" name="state">
            <a:extLst xmlns:a="http://schemas.openxmlformats.org/drawingml/2006/main">
              <a:ext uri="{FF2B5EF4-FFF2-40B4-BE49-F238E27FC236}">
                <a16:creationId xmlns:a16="http://schemas.microsoft.com/office/drawing/2014/main" id="{D257BB02-EFD4-48B3-B7DC-CC2C2B916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438650"/>
            <a:ext cx="11811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Update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state</a:t>
            </a:r>
          </a:p>
        </p:txBody>
      </p:sp>
      <p:sp>
        <p:nvSpPr>
          <p:cNvPr id="24" name="human">
            <a:extLst xmlns:a="http://schemas.openxmlformats.org/drawingml/2006/main">
              <a:ext uri="{FF2B5EF4-FFF2-40B4-BE49-F238E27FC236}">
                <a16:creationId xmlns:a16="http://schemas.microsoft.com/office/drawing/2014/main" id="{866BB33C-C8BB-4D26-B23B-1F79561C8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438650"/>
            <a:ext cx="16002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Human review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gate</a:t>
            </a:r>
          </a:p>
        </p:txBody>
      </p:sp>
      <p:sp>
        <p:nvSpPr>
          <p:cNvPr id="25" name="human-link">
            <a:extLst xmlns:a="http://schemas.openxmlformats.org/drawingml/2006/main">
              <a:ext uri="{FF2B5EF4-FFF2-40B4-BE49-F238E27FC236}">
                <a16:creationId xmlns:a16="http://schemas.microsoft.com/office/drawing/2014/main" id="{BBF59EB0-2A1C-4539-B56F-87F05F0A3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7434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dash"/>
          </a:ln>
        </p:spPr>
      </p:sp>
      <p:sp>
        <p:nvSpPr>
          <p:cNvPr id="26" name="loop-note">
            <a:extLst xmlns:a="http://schemas.openxmlformats.org/drawingml/2006/main">
              <a:ext uri="{FF2B5EF4-FFF2-40B4-BE49-F238E27FC236}">
                <a16:creationId xmlns:a16="http://schemas.microsoft.com/office/drawing/2014/main" id="{76B8B2DB-79C8-49F3-B446-C3088BFB1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65785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不是一次輸入、一次輸出；可靠性來自檢查點與停止條件。</a:t>
            </a:r>
          </a:p>
        </p:txBody>
      </p:sp>
    </p:spTree>
    <p:extLst>
      <p:ext uri="{BB962C8B-B14F-4D97-AF65-F5344CB8AC3E}">
        <p14:creationId xmlns:p14="http://schemas.microsoft.com/office/powerpoint/2010/main" val="1433322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AB516E34-8D22-4412-BFD0-BF671A5F2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WORKFLOW ARTIFACTS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973FC55-C1F9-47A1-8247-2A856855E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每一步都應留下之後能檢查的東西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17075C79-F164-40A4-A835-039ADFDCF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9/20</a:t>
            </a:r>
          </a:p>
        </p:txBody>
      </p:sp>
      <p:sp>
        <p:nvSpPr>
          <p:cNvPr id="4" name="table-bg">
            <a:extLst xmlns:a="http://schemas.openxmlformats.org/drawingml/2006/main">
              <a:ext uri="{FF2B5EF4-FFF2-40B4-BE49-F238E27FC236}">
                <a16:creationId xmlns:a16="http://schemas.microsoft.com/office/drawing/2014/main" id="{8D0C9900-5601-47AB-A8D0-96C8BDC7E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52600"/>
            <a:ext cx="10363200" cy="3676650"/>
          </a:xfrm>
          <a:prstGeom xmlns:a="http://schemas.openxmlformats.org/drawingml/2006/main" prst="roundRect">
            <a:avLst>
              <a:gd name="adj" fmla="val 20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h-0">
            <a:extLst xmlns:a="http://schemas.openxmlformats.org/drawingml/2006/main">
              <a:ext uri="{FF2B5EF4-FFF2-40B4-BE49-F238E27FC236}">
                <a16:creationId xmlns:a16="http://schemas.microsoft.com/office/drawing/2014/main" id="{7C5A40EA-E629-4644-AB13-029DEE0E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574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Step</a:t>
            </a:r>
          </a:p>
        </p:txBody>
      </p:sp>
      <p:sp>
        <p:nvSpPr>
          <p:cNvPr id="6" name="h-1">
            <a:extLst xmlns:a="http://schemas.openxmlformats.org/drawingml/2006/main">
              <a:ext uri="{FF2B5EF4-FFF2-40B4-BE49-F238E27FC236}">
                <a16:creationId xmlns:a16="http://schemas.microsoft.com/office/drawing/2014/main" id="{25DCBB29-17C0-491D-8338-F46F6D3E0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0574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Artifact</a:t>
            </a:r>
          </a:p>
        </p:txBody>
      </p:sp>
      <p:sp>
        <p:nvSpPr>
          <p:cNvPr id="7" name="h-2">
            <a:extLst xmlns:a="http://schemas.openxmlformats.org/drawingml/2006/main">
              <a:ext uri="{FF2B5EF4-FFF2-40B4-BE49-F238E27FC236}">
                <a16:creationId xmlns:a16="http://schemas.microsoft.com/office/drawing/2014/main" id="{197431D9-EDF1-4D07-B534-DEA62598E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574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8" name="step-0">
            <a:extLst xmlns:a="http://schemas.openxmlformats.org/drawingml/2006/main">
              <a:ext uri="{FF2B5EF4-FFF2-40B4-BE49-F238E27FC236}">
                <a16:creationId xmlns:a16="http://schemas.microsoft.com/office/drawing/2014/main" id="{7EDEA2B6-CDD0-42F8-836F-21A483965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955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9" name="artifact-0">
            <a:extLst xmlns:a="http://schemas.openxmlformats.org/drawingml/2006/main">
              <a:ext uri="{FF2B5EF4-FFF2-40B4-BE49-F238E27FC236}">
                <a16:creationId xmlns:a16="http://schemas.microsoft.com/office/drawing/2014/main" id="{8BB32931-60DD-433B-AEC4-C3422D136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4955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task_spec.md</a:t>
            </a:r>
          </a:p>
        </p:txBody>
      </p:sp>
      <p:sp>
        <p:nvSpPr>
          <p:cNvPr id="10" name="why-0">
            <a:extLst xmlns:a="http://schemas.openxmlformats.org/drawingml/2006/main">
              <a:ext uri="{FF2B5EF4-FFF2-40B4-BE49-F238E27FC236}">
                <a16:creationId xmlns:a16="http://schemas.microsoft.com/office/drawing/2014/main" id="{AFE08EB7-EAD8-4631-BEE8-6887318FD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955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任務、輸入、輸出與限制</a:t>
            </a:r>
          </a:p>
        </p:txBody>
      </p:sp>
      <p:sp>
        <p:nvSpPr>
          <p:cNvPr id="11" name="row-0">
            <a:extLst xmlns:a="http://schemas.openxmlformats.org/drawingml/2006/main">
              <a:ext uri="{FF2B5EF4-FFF2-40B4-BE49-F238E27FC236}">
                <a16:creationId xmlns:a16="http://schemas.microsoft.com/office/drawing/2014/main" id="{10046DFB-4A93-4EDC-AA7D-E334D4FD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57500"/>
            <a:ext cx="979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2" name="step-1">
            <a:extLst xmlns:a="http://schemas.openxmlformats.org/drawingml/2006/main">
              <a:ext uri="{FF2B5EF4-FFF2-40B4-BE49-F238E27FC236}">
                <a16:creationId xmlns:a16="http://schemas.microsoft.com/office/drawing/2014/main" id="{C4D7388C-E045-4E12-B492-7893934C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Search</a:t>
            </a:r>
          </a:p>
        </p:txBody>
      </p:sp>
      <p:sp>
        <p:nvSpPr>
          <p:cNvPr id="13" name="artifact-1">
            <a:extLst xmlns:a="http://schemas.openxmlformats.org/drawingml/2006/main">
              <a:ext uri="{FF2B5EF4-FFF2-40B4-BE49-F238E27FC236}">
                <a16:creationId xmlns:a16="http://schemas.microsoft.com/office/drawing/2014/main" id="{948EA286-C355-427E-A4D0-D094E86F2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0480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query log</a:t>
            </a:r>
          </a:p>
        </p:txBody>
      </p:sp>
      <p:sp>
        <p:nvSpPr>
          <p:cNvPr id="14" name="why-1">
            <a:extLst xmlns:a="http://schemas.openxmlformats.org/drawingml/2006/main">
              <a:ext uri="{FF2B5EF4-FFF2-40B4-BE49-F238E27FC236}">
                <a16:creationId xmlns:a16="http://schemas.microsoft.com/office/drawing/2014/main" id="{26758E52-458B-4406-AB49-57D72C5E2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4800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關鍵字、日期、來源清單</a:t>
            </a:r>
          </a:p>
        </p:txBody>
      </p:sp>
      <p:sp>
        <p:nvSpPr>
          <p:cNvPr id="15" name="row-1">
            <a:extLst xmlns:a="http://schemas.openxmlformats.org/drawingml/2006/main">
              <a:ext uri="{FF2B5EF4-FFF2-40B4-BE49-F238E27FC236}">
                <a16:creationId xmlns:a16="http://schemas.microsoft.com/office/drawing/2014/main" id="{657A799F-E259-4563-A7E7-43F985C52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09950"/>
            <a:ext cx="979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6" name="step-2">
            <a:extLst xmlns:a="http://schemas.openxmlformats.org/drawingml/2006/main">
              <a:ext uri="{FF2B5EF4-FFF2-40B4-BE49-F238E27FC236}">
                <a16:creationId xmlns:a16="http://schemas.microsoft.com/office/drawing/2014/main" id="{7D1859C0-AFA5-4319-9DBA-4E6161177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004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Extract</a:t>
            </a:r>
          </a:p>
        </p:txBody>
      </p:sp>
      <p:sp>
        <p:nvSpPr>
          <p:cNvPr id="17" name="artifact-2">
            <a:extLst xmlns:a="http://schemas.openxmlformats.org/drawingml/2006/main">
              <a:ext uri="{FF2B5EF4-FFF2-40B4-BE49-F238E27FC236}">
                <a16:creationId xmlns:a16="http://schemas.microsoft.com/office/drawing/2014/main" id="{71C8A579-B55D-4AD1-A01C-5371A9880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6004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evidence table</a:t>
            </a:r>
          </a:p>
        </p:txBody>
      </p:sp>
      <p:sp>
        <p:nvSpPr>
          <p:cNvPr id="18" name="why-2">
            <a:extLst xmlns:a="http://schemas.openxmlformats.org/drawingml/2006/main">
              <a:ext uri="{FF2B5EF4-FFF2-40B4-BE49-F238E27FC236}">
                <a16:creationId xmlns:a16="http://schemas.microsoft.com/office/drawing/2014/main" id="{BADF91DB-67FF-4044-842A-C3B089646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6004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claim、source、status</a:t>
            </a:r>
          </a:p>
        </p:txBody>
      </p:sp>
      <p:sp>
        <p:nvSpPr>
          <p:cNvPr id="19" name="row-2">
            <a:extLst xmlns:a="http://schemas.openxmlformats.org/drawingml/2006/main">
              <a:ext uri="{FF2B5EF4-FFF2-40B4-BE49-F238E27FC236}">
                <a16:creationId xmlns:a16="http://schemas.microsoft.com/office/drawing/2014/main" id="{EC139FCD-0033-4533-9460-97EDDC78D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62400"/>
            <a:ext cx="979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0" name="step-3">
            <a:extLst xmlns:a="http://schemas.openxmlformats.org/drawingml/2006/main">
              <a:ext uri="{FF2B5EF4-FFF2-40B4-BE49-F238E27FC236}">
                <a16:creationId xmlns:a16="http://schemas.microsoft.com/office/drawing/2014/main" id="{2DABCEF2-EEE8-4461-BE86-3188F8EF8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1529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 use</a:t>
            </a:r>
          </a:p>
        </p:txBody>
      </p:sp>
      <p:sp>
        <p:nvSpPr>
          <p:cNvPr id="21" name="artifact-3">
            <a:extLst xmlns:a="http://schemas.openxmlformats.org/drawingml/2006/main">
              <a:ext uri="{FF2B5EF4-FFF2-40B4-BE49-F238E27FC236}">
                <a16:creationId xmlns:a16="http://schemas.microsoft.com/office/drawing/2014/main" id="{288413A9-EF90-4AD8-9570-3F8FE4C64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1529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tool log</a:t>
            </a:r>
          </a:p>
        </p:txBody>
      </p:sp>
      <p:sp>
        <p:nvSpPr>
          <p:cNvPr id="22" name="why-3">
            <a:extLst xmlns:a="http://schemas.openxmlformats.org/drawingml/2006/main">
              <a:ext uri="{FF2B5EF4-FFF2-40B4-BE49-F238E27FC236}">
                <a16:creationId xmlns:a16="http://schemas.microsoft.com/office/drawing/2014/main" id="{DE00E0B0-F50A-451E-BE42-6450CF987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5290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input、output、error</a:t>
            </a:r>
          </a:p>
        </p:txBody>
      </p:sp>
      <p:sp>
        <p:nvSpPr>
          <p:cNvPr id="23" name="row-3">
            <a:extLst xmlns:a="http://schemas.openxmlformats.org/drawingml/2006/main">
              <a:ext uri="{FF2B5EF4-FFF2-40B4-BE49-F238E27FC236}">
                <a16:creationId xmlns:a16="http://schemas.microsoft.com/office/drawing/2014/main" id="{D9834D42-9874-4BF3-A0BA-A6F6CC9B3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514850"/>
            <a:ext cx="979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4" name="step-4">
            <a:extLst xmlns:a="http://schemas.openxmlformats.org/drawingml/2006/main">
              <a:ext uri="{FF2B5EF4-FFF2-40B4-BE49-F238E27FC236}">
                <a16:creationId xmlns:a16="http://schemas.microsoft.com/office/drawing/2014/main" id="{5A1836B8-4E48-4284-8BF4-6469C9662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053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25" name="artifact-4">
            <a:extLst xmlns:a="http://schemas.openxmlformats.org/drawingml/2006/main">
              <a:ext uri="{FF2B5EF4-FFF2-40B4-BE49-F238E27FC236}">
                <a16:creationId xmlns:a16="http://schemas.microsoft.com/office/drawing/2014/main" id="{0A394824-C02B-4561-932E-0EFB27251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7053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check report</a:t>
            </a:r>
          </a:p>
        </p:txBody>
      </p:sp>
      <p:sp>
        <p:nvSpPr>
          <p:cNvPr id="26" name="why-4">
            <a:extLst xmlns:a="http://schemas.openxmlformats.org/drawingml/2006/main">
              <a:ext uri="{FF2B5EF4-FFF2-40B4-BE49-F238E27FC236}">
                <a16:creationId xmlns:a16="http://schemas.microsoft.com/office/drawing/2014/main" id="{2BEA1100-11CE-4493-8B73-17A9A57A3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7053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通過、失敗、needs review</a:t>
            </a:r>
          </a:p>
        </p:txBody>
      </p:sp>
      <p:sp>
        <p:nvSpPr>
          <p:cNvPr id="27" name="row-4">
            <a:extLst xmlns:a="http://schemas.openxmlformats.org/drawingml/2006/main">
              <a:ext uri="{FF2B5EF4-FFF2-40B4-BE49-F238E27FC236}">
                <a16:creationId xmlns:a16="http://schemas.microsoft.com/office/drawing/2014/main" id="{676498C5-2196-464B-B533-DE2BB1324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67300"/>
            <a:ext cx="979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8" name="bottom">
            <a:extLst xmlns:a="http://schemas.openxmlformats.org/drawingml/2006/main">
              <a:ext uri="{FF2B5EF4-FFF2-40B4-BE49-F238E27FC236}">
                <a16:creationId xmlns:a16="http://schemas.microsoft.com/office/drawing/2014/main" id="{446CF13C-6A86-43E1-91CD-DEB2384B3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73405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沒有 artifact，就很難 debug、重跑或交接。</a:t>
            </a:r>
          </a:p>
        </p:txBody>
      </p:sp>
    </p:spTree>
    <p:extLst>
      <p:ext uri="{BB962C8B-B14F-4D97-AF65-F5344CB8AC3E}">
        <p14:creationId xmlns:p14="http://schemas.microsoft.com/office/powerpoint/2010/main" val="182708043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F0A352DE-AF17-408C-86BB-148C71EE8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TASK SUITABILITY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19FCD9F3-DFCF-4001-AFAA-15D38C8DB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適合 agent 的任務通常能被清楚驗證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B4D51C61-2EE8-4091-98F5-F384C5FCD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10/20</a:t>
            </a:r>
          </a:p>
        </p:txBody>
      </p:sp>
      <p:sp>
        <p:nvSpPr>
          <p:cNvPr id="4" name="good">
            <a:extLst xmlns:a="http://schemas.openxmlformats.org/drawingml/2006/main">
              <a:ext uri="{FF2B5EF4-FFF2-40B4-BE49-F238E27FC236}">
                <a16:creationId xmlns:a16="http://schemas.microsoft.com/office/drawing/2014/main" id="{D048E220-BCAF-4301-A47F-79A683FBA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57400"/>
            <a:ext cx="4324350" cy="3067050"/>
          </a:xfrm>
          <a:prstGeom xmlns:a="http://schemas.openxmlformats.org/drawingml/2006/main" prst="roundRect">
            <a:avLst>
              <a:gd name="adj" fmla="val 2484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5" name="bad">
            <a:extLst xmlns:a="http://schemas.openxmlformats.org/drawingml/2006/main">
              <a:ext uri="{FF2B5EF4-FFF2-40B4-BE49-F238E27FC236}">
                <a16:creationId xmlns:a16="http://schemas.microsoft.com/office/drawing/2014/main" id="{44B19DA9-8C00-4A63-8125-5F41E1565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57400"/>
            <a:ext cx="4324350" cy="3067050"/>
          </a:xfrm>
          <a:prstGeom xmlns:a="http://schemas.openxmlformats.org/drawingml/2006/main" prst="roundRect">
            <a:avLst>
              <a:gd name="adj" fmla="val 2484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6" name="good-title">
            <a:extLst xmlns:a="http://schemas.openxmlformats.org/drawingml/2006/main">
              <a:ext uri="{FF2B5EF4-FFF2-40B4-BE49-F238E27FC236}">
                <a16:creationId xmlns:a16="http://schemas.microsoft.com/office/drawing/2014/main" id="{71A5C46A-8405-4998-A6FE-3D0F5B591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003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Good fit</a:t>
            </a:r>
          </a:p>
        </p:txBody>
      </p:sp>
      <p:sp>
        <p:nvSpPr>
          <p:cNvPr id="7" name="bad-title">
            <a:extLst xmlns:a="http://schemas.openxmlformats.org/drawingml/2006/main">
              <a:ext uri="{FF2B5EF4-FFF2-40B4-BE49-F238E27FC236}">
                <a16:creationId xmlns:a16="http://schemas.microsoft.com/office/drawing/2014/main" id="{F11D7C34-AD4F-48BB-9207-0F65C9E0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4003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Bad fit</a:t>
            </a:r>
          </a:p>
        </p:txBody>
      </p:sp>
      <p:sp>
        <p:nvSpPr>
          <p:cNvPr id="8" name="good-list">
            <a:extLst xmlns:a="http://schemas.openxmlformats.org/drawingml/2006/main">
              <a:ext uri="{FF2B5EF4-FFF2-40B4-BE49-F238E27FC236}">
                <a16:creationId xmlns:a16="http://schemas.microsoft.com/office/drawing/2014/main" id="{C0A14E8E-DDB6-426F-A647-091F1EE40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086100"/>
            <a:ext cx="31432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輸入資料明確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輸出格式固定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可用外部來源檢查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錯誤能早期發現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不直接造成臨床行動</a:t>
            </a:r>
          </a:p>
        </p:txBody>
      </p:sp>
      <p:sp>
        <p:nvSpPr>
          <p:cNvPr id="9" name="bad-list">
            <a:extLst xmlns:a="http://schemas.openxmlformats.org/drawingml/2006/main">
              <a:ext uri="{FF2B5EF4-FFF2-40B4-BE49-F238E27FC236}">
                <a16:creationId xmlns:a16="http://schemas.microsoft.com/office/drawing/2014/main" id="{2FC9BB3F-A43D-495E-BCB0-3FC5C014D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86100"/>
            <a:ext cx="31432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目標模糊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只有主觀判斷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缺少可查來源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錯了不容易發現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涉及治療或診斷決策</a:t>
            </a:r>
          </a:p>
        </p:txBody>
      </p:sp>
      <p:sp>
        <p:nvSpPr>
          <p:cNvPr id="10" name="bottom">
            <a:extLst xmlns:a="http://schemas.openxmlformats.org/drawingml/2006/main">
              <a:ext uri="{FF2B5EF4-FFF2-40B4-BE49-F238E27FC236}">
                <a16:creationId xmlns:a16="http://schemas.microsoft.com/office/drawing/2014/main" id="{CC8C9388-5E44-43BF-B8E1-11C9ED82B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619750"/>
            <a:ext cx="790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先判斷任務能否驗證，再決定要不要讓 agent 參與。</a:t>
            </a:r>
          </a:p>
        </p:txBody>
      </p:sp>
    </p:spTree>
    <p:extLst>
      <p:ext uri="{BB962C8B-B14F-4D97-AF65-F5344CB8AC3E}">
        <p14:creationId xmlns:p14="http://schemas.microsoft.com/office/powerpoint/2010/main" val="28309400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8E491CA4-6CD8-4C3F-BFD9-97E540D9A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BIOMEDICAL RED LINES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E5E0E08-BDEC-4D78-AD1A-EAA2FB3E3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有些 biomedical 輸出只能協助整理，不能直接定案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D872543D-78C4-4783-8779-07F8021C7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11/20</a:t>
            </a:r>
          </a:p>
        </p:txBody>
      </p:sp>
      <p:sp>
        <p:nvSpPr>
          <p:cNvPr id="4" name="risk-0">
            <a:extLst xmlns:a="http://schemas.openxmlformats.org/drawingml/2006/main">
              <a:ext uri="{FF2B5EF4-FFF2-40B4-BE49-F238E27FC236}">
                <a16:creationId xmlns:a16="http://schemas.microsoft.com/office/drawing/2014/main" id="{0AC49704-EDBB-4EF0-968D-A4F22C312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95500"/>
            <a:ext cx="38862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5" name="risk-title-0">
            <a:extLst xmlns:a="http://schemas.openxmlformats.org/drawingml/2006/main">
              <a:ext uri="{FF2B5EF4-FFF2-40B4-BE49-F238E27FC236}">
                <a16:creationId xmlns:a16="http://schemas.microsoft.com/office/drawing/2014/main" id="{FB33FB3D-59B8-49F7-879D-113739A56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305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Diagnosis</a:t>
            </a:r>
          </a:p>
        </p:txBody>
      </p:sp>
      <p:sp>
        <p:nvSpPr>
          <p:cNvPr id="6" name="risk-copy-0">
            <a:extLst xmlns:a="http://schemas.openxmlformats.org/drawingml/2006/main">
              <a:ext uri="{FF2B5EF4-FFF2-40B4-BE49-F238E27FC236}">
                <a16:creationId xmlns:a16="http://schemas.microsoft.com/office/drawing/2014/main" id="{AA2C439E-BBA4-4AEB-A6BB-07315CCF0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32410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診斷或治療建議</a:t>
            </a:r>
          </a:p>
        </p:txBody>
      </p:sp>
      <p:sp>
        <p:nvSpPr>
          <p:cNvPr id="7" name="risk-1">
            <a:extLst xmlns:a="http://schemas.openxmlformats.org/drawingml/2006/main">
              <a:ext uri="{FF2B5EF4-FFF2-40B4-BE49-F238E27FC236}">
                <a16:creationId xmlns:a16="http://schemas.microsoft.com/office/drawing/2014/main" id="{B3387A14-289C-4F64-A162-12E90A7AB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095500"/>
            <a:ext cx="38862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8" name="risk-title-1">
            <a:extLst xmlns:a="http://schemas.openxmlformats.org/drawingml/2006/main">
              <a:ext uri="{FF2B5EF4-FFF2-40B4-BE49-F238E27FC236}">
                <a16:creationId xmlns:a16="http://schemas.microsoft.com/office/drawing/2014/main" id="{311770FE-1C62-40A7-99C6-515FCDB60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305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Dosage</a:t>
            </a:r>
          </a:p>
        </p:txBody>
      </p:sp>
      <p:sp>
        <p:nvSpPr>
          <p:cNvPr id="9" name="risk-copy-1">
            <a:extLst xmlns:a="http://schemas.openxmlformats.org/drawingml/2006/main">
              <a:ext uri="{FF2B5EF4-FFF2-40B4-BE49-F238E27FC236}">
                <a16:creationId xmlns:a16="http://schemas.microsoft.com/office/drawing/2014/main" id="{04C56160-2F1D-40CB-A2FE-2878DD733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2410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藥物劑量</a:t>
            </a:r>
          </a:p>
        </p:txBody>
      </p:sp>
      <p:sp>
        <p:nvSpPr>
          <p:cNvPr id="10" name="risk-2">
            <a:extLst xmlns:a="http://schemas.openxmlformats.org/drawingml/2006/main">
              <a:ext uri="{FF2B5EF4-FFF2-40B4-BE49-F238E27FC236}">
                <a16:creationId xmlns:a16="http://schemas.microsoft.com/office/drawing/2014/main" id="{2016368B-5B42-4B4A-8A7A-448547BB7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448050"/>
            <a:ext cx="38862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11" name="risk-title-2">
            <a:extLst xmlns:a="http://schemas.openxmlformats.org/drawingml/2006/main">
              <a:ext uri="{FF2B5EF4-FFF2-40B4-BE49-F238E27FC236}">
                <a16:creationId xmlns:a16="http://schemas.microsoft.com/office/drawing/2014/main" id="{9B910248-3B91-4FB1-9233-05A423C8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6576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Variant</a:t>
            </a:r>
          </a:p>
        </p:txBody>
      </p:sp>
      <p:sp>
        <p:nvSpPr>
          <p:cNvPr id="12" name="risk-copy-2">
            <a:extLst xmlns:a="http://schemas.openxmlformats.org/drawingml/2006/main">
              <a:ext uri="{FF2B5EF4-FFF2-40B4-BE49-F238E27FC236}">
                <a16:creationId xmlns:a16="http://schemas.microsoft.com/office/drawing/2014/main" id="{4F3641CD-2457-49AB-A3BF-EEFA8AC92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67665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pathogenicity final call</a:t>
            </a:r>
          </a:p>
        </p:txBody>
      </p:sp>
      <p:sp>
        <p:nvSpPr>
          <p:cNvPr id="13" name="risk-3">
            <a:extLst xmlns:a="http://schemas.openxmlformats.org/drawingml/2006/main">
              <a:ext uri="{FF2B5EF4-FFF2-40B4-BE49-F238E27FC236}">
                <a16:creationId xmlns:a16="http://schemas.microsoft.com/office/drawing/2014/main" id="{41389BB1-F483-4807-B4C9-204CD8625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448050"/>
            <a:ext cx="38862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14" name="risk-title-3">
            <a:extLst xmlns:a="http://schemas.openxmlformats.org/drawingml/2006/main">
              <a:ext uri="{FF2B5EF4-FFF2-40B4-BE49-F238E27FC236}">
                <a16:creationId xmlns:a16="http://schemas.microsoft.com/office/drawing/2014/main" id="{84FA1754-23E8-4914-AD57-4053C7683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6576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Clinical action</a:t>
            </a:r>
          </a:p>
        </p:txBody>
      </p:sp>
      <p:sp>
        <p:nvSpPr>
          <p:cNvPr id="15" name="risk-copy-3">
            <a:extLst xmlns:a="http://schemas.openxmlformats.org/drawingml/2006/main">
              <a:ext uri="{FF2B5EF4-FFF2-40B4-BE49-F238E27FC236}">
                <a16:creationId xmlns:a16="http://schemas.microsoft.com/office/drawing/2014/main" id="{FE1A229C-2FDA-4529-A43D-B1E45C93D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67665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臨床處置建議</a:t>
            </a:r>
          </a:p>
        </p:txBody>
      </p:sp>
      <p:sp>
        <p:nvSpPr>
          <p:cNvPr id="16" name="gate">
            <a:extLst xmlns:a="http://schemas.openxmlformats.org/drawingml/2006/main">
              <a:ext uri="{FF2B5EF4-FFF2-40B4-BE49-F238E27FC236}">
                <a16:creationId xmlns:a16="http://schemas.microsoft.com/office/drawing/2014/main" id="{8CC1B024-3A24-40B0-86B4-08026223C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143500"/>
            <a:ext cx="3657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Human review required</a:t>
            </a:r>
          </a:p>
        </p:txBody>
      </p:sp>
    </p:spTree>
    <p:extLst>
      <p:ext uri="{BB962C8B-B14F-4D97-AF65-F5344CB8AC3E}">
        <p14:creationId xmlns:p14="http://schemas.microsoft.com/office/powerpoint/2010/main" val="11119154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A26B2192-00BC-473A-9EAB-6C7D2B399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VIBE CODING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3F49546-0294-4F3A-93D4-22500A33A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Vibe coding 是快速探索，不是把責任交給模型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B6E7C731-E411-40C7-8C31-455AD2669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12/20</a:t>
            </a:r>
          </a:p>
        </p:txBody>
      </p:sp>
      <p:sp>
        <p:nvSpPr>
          <p:cNvPr id="4" name="stage-line">
            <a:extLst xmlns:a="http://schemas.openxmlformats.org/drawingml/2006/main">
              <a:ext uri="{FF2B5EF4-FFF2-40B4-BE49-F238E27FC236}">
                <a16:creationId xmlns:a16="http://schemas.microsoft.com/office/drawing/2014/main" id="{C9611CDE-7485-4864-BFAC-75F03948E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24200"/>
            <a:ext cx="8515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D4DADD"/>
            </a:solidFill>
            <a:prstDash val="solid"/>
          </a:ln>
        </p:spPr>
      </p:sp>
      <p:sp>
        <p:nvSpPr>
          <p:cNvPr id="5" name="stage-0">
            <a:extLst xmlns:a="http://schemas.openxmlformats.org/drawingml/2006/main">
              <a:ext uri="{FF2B5EF4-FFF2-40B4-BE49-F238E27FC236}">
                <a16:creationId xmlns:a16="http://schemas.microsoft.com/office/drawing/2014/main" id="{9166B7B0-3B9E-457D-AA71-00C0AC3EA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28900"/>
            <a:ext cx="1466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Idea</a:t>
            </a:r>
          </a:p>
        </p:txBody>
      </p:sp>
      <p:sp>
        <p:nvSpPr>
          <p:cNvPr id="6" name="stage-copy-0">
            <a:extLst xmlns:a="http://schemas.openxmlformats.org/drawingml/2006/main">
              <a:ext uri="{FF2B5EF4-FFF2-40B4-BE49-F238E27FC236}">
                <a16:creationId xmlns:a16="http://schemas.microsoft.com/office/drawing/2014/main" id="{852060BF-CF99-4659-AA86-2D3F6BA35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242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想法與資料</a:t>
            </a:r>
          </a:p>
        </p:txBody>
      </p:sp>
      <p:sp>
        <p:nvSpPr>
          <p:cNvPr id="7" name="stage-1">
            <a:extLst xmlns:a="http://schemas.openxmlformats.org/drawingml/2006/main">
              <a:ext uri="{FF2B5EF4-FFF2-40B4-BE49-F238E27FC236}">
                <a16:creationId xmlns:a16="http://schemas.microsoft.com/office/drawing/2014/main" id="{8E971ECC-AA04-4CE8-A5C5-9E14D3195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628900"/>
            <a:ext cx="1466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Prototype</a:t>
            </a:r>
          </a:p>
        </p:txBody>
      </p:sp>
      <p:sp>
        <p:nvSpPr>
          <p:cNvPr id="8" name="stage-copy-1">
            <a:extLst xmlns:a="http://schemas.openxmlformats.org/drawingml/2006/main">
              <a:ext uri="{FF2B5EF4-FFF2-40B4-BE49-F238E27FC236}">
                <a16:creationId xmlns:a16="http://schemas.microsoft.com/office/drawing/2014/main" id="{B28E9019-FB79-4A00-91CB-81EC3C10B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5242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快速草擬</a:t>
            </a:r>
          </a:p>
        </p:txBody>
      </p:sp>
      <p:sp>
        <p:nvSpPr>
          <p:cNvPr id="9" name="stage-2">
            <a:extLst xmlns:a="http://schemas.openxmlformats.org/drawingml/2006/main">
              <a:ext uri="{FF2B5EF4-FFF2-40B4-BE49-F238E27FC236}">
                <a16:creationId xmlns:a16="http://schemas.microsoft.com/office/drawing/2014/main" id="{519D7666-4C3E-4862-86CC-BA2E00A3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628900"/>
            <a:ext cx="1466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Run</a:t>
            </a:r>
          </a:p>
        </p:txBody>
      </p:sp>
      <p:sp>
        <p:nvSpPr>
          <p:cNvPr id="10" name="stage-copy-2">
            <a:extLst xmlns:a="http://schemas.openxmlformats.org/drawingml/2006/main">
              <a:ext uri="{FF2B5EF4-FFF2-40B4-BE49-F238E27FC236}">
                <a16:creationId xmlns:a16="http://schemas.microsoft.com/office/drawing/2014/main" id="{10530289-1027-46FF-8A39-85AA5EF25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5242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真的執行</a:t>
            </a:r>
          </a:p>
        </p:txBody>
      </p:sp>
      <p:sp>
        <p:nvSpPr>
          <p:cNvPr id="11" name="stage-3">
            <a:extLst xmlns:a="http://schemas.openxmlformats.org/drawingml/2006/main">
              <a:ext uri="{FF2B5EF4-FFF2-40B4-BE49-F238E27FC236}">
                <a16:creationId xmlns:a16="http://schemas.microsoft.com/office/drawing/2014/main" id="{68CDF1C5-00E7-4811-BA78-FA243E26F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628900"/>
            <a:ext cx="1466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Inspect</a:t>
            </a:r>
          </a:p>
        </p:txBody>
      </p:sp>
      <p:sp>
        <p:nvSpPr>
          <p:cNvPr id="12" name="stage-copy-3">
            <a:extLst xmlns:a="http://schemas.openxmlformats.org/drawingml/2006/main">
              <a:ext uri="{FF2B5EF4-FFF2-40B4-BE49-F238E27FC236}">
                <a16:creationId xmlns:a16="http://schemas.microsoft.com/office/drawing/2014/main" id="{E004CEA2-9842-40DD-89FC-B94795554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5242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看 diff 與輸出</a:t>
            </a:r>
          </a:p>
        </p:txBody>
      </p:sp>
      <p:sp>
        <p:nvSpPr>
          <p:cNvPr id="13" name="stage-4">
            <a:extLst xmlns:a="http://schemas.openxmlformats.org/drawingml/2006/main">
              <a:ext uri="{FF2B5EF4-FFF2-40B4-BE49-F238E27FC236}">
                <a16:creationId xmlns:a16="http://schemas.microsoft.com/office/drawing/2014/main" id="{EFB34A3F-6B96-4436-B80B-6A836A4B7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628900"/>
            <a:ext cx="1466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Decide</a:t>
            </a:r>
          </a:p>
        </p:txBody>
      </p:sp>
      <p:sp>
        <p:nvSpPr>
          <p:cNvPr id="14" name="stage-copy-4">
            <a:extLst xmlns:a="http://schemas.openxmlformats.org/drawingml/2006/main">
              <a:ext uri="{FF2B5EF4-FFF2-40B4-BE49-F238E27FC236}">
                <a16:creationId xmlns:a16="http://schemas.microsoft.com/office/drawing/2014/main" id="{BE69C28E-9A40-4C9F-B7CF-DDC2CD41C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5242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保留或重做</a:t>
            </a:r>
          </a:p>
        </p:txBody>
      </p:sp>
      <p:sp>
        <p:nvSpPr>
          <p:cNvPr id="15" name="bottom">
            <a:extLst xmlns:a="http://schemas.openxmlformats.org/drawingml/2006/main">
              <a:ext uri="{FF2B5EF4-FFF2-40B4-BE49-F238E27FC236}">
                <a16:creationId xmlns:a16="http://schemas.microsoft.com/office/drawing/2014/main" id="{B10EC172-6E45-41EF-8832-34F2E3200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219700"/>
            <a:ext cx="609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速度來自短迭代；安全來自明確檢查。</a:t>
            </a:r>
          </a:p>
        </p:txBody>
      </p:sp>
    </p:spTree>
    <p:extLst>
      <p:ext uri="{BB962C8B-B14F-4D97-AF65-F5344CB8AC3E}">
        <p14:creationId xmlns:p14="http://schemas.microsoft.com/office/powerpoint/2010/main" val="182945535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830E5021-DDD6-48E0-B1E1-EF9F60CAA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SAFE VIBE LOOP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212699F-F066-485D-9EA6-57351005F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安全的 vibe coding 一次只推進一個小步驟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80131DB6-57C9-414A-851A-A8467870F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13/20</a:t>
            </a:r>
          </a:p>
        </p:txBody>
      </p:sp>
      <p:sp>
        <p:nvSpPr>
          <p:cNvPr id="4" name="line-0">
            <a:extLst xmlns:a="http://schemas.openxmlformats.org/drawingml/2006/main">
              <a:ext uri="{FF2B5EF4-FFF2-40B4-BE49-F238E27FC236}">
                <a16:creationId xmlns:a16="http://schemas.microsoft.com/office/drawing/2014/main" id="{8D7659C7-B4D5-4401-8900-B38063B06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1623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5" name="line-1">
            <a:extLst xmlns:a="http://schemas.openxmlformats.org/drawingml/2006/main">
              <a:ext uri="{FF2B5EF4-FFF2-40B4-BE49-F238E27FC236}">
                <a16:creationId xmlns:a16="http://schemas.microsoft.com/office/drawing/2014/main" id="{03292967-C8DF-4A6A-A2C0-5ABA7C306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1623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6" name="line-2">
            <a:extLst xmlns:a="http://schemas.openxmlformats.org/drawingml/2006/main">
              <a:ext uri="{FF2B5EF4-FFF2-40B4-BE49-F238E27FC236}">
                <a16:creationId xmlns:a16="http://schemas.microsoft.com/office/drawing/2014/main" id="{C150FBAF-C4A9-4A78-B2A1-1BB27AEFE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1623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7" name="line-3">
            <a:extLst xmlns:a="http://schemas.openxmlformats.org/drawingml/2006/main">
              <a:ext uri="{FF2B5EF4-FFF2-40B4-BE49-F238E27FC236}">
                <a16:creationId xmlns:a16="http://schemas.microsoft.com/office/drawing/2014/main" id="{85AE9446-0580-4FFA-A72E-2BAF25AEE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623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8" name="line-4">
            <a:extLst xmlns:a="http://schemas.openxmlformats.org/drawingml/2006/main">
              <a:ext uri="{FF2B5EF4-FFF2-40B4-BE49-F238E27FC236}">
                <a16:creationId xmlns:a16="http://schemas.microsoft.com/office/drawing/2014/main" id="{10F0CB5C-44A0-429A-82F6-8569EE87D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1623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9" name="num-0">
            <a:extLst xmlns:a="http://schemas.openxmlformats.org/drawingml/2006/main">
              <a:ext uri="{FF2B5EF4-FFF2-40B4-BE49-F238E27FC236}">
                <a16:creationId xmlns:a16="http://schemas.microsoft.com/office/drawing/2014/main" id="{0A0AC036-F6CB-4070-A75C-6C2AC6546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step-0">
            <a:extLst xmlns:a="http://schemas.openxmlformats.org/drawingml/2006/main">
              <a:ext uri="{FF2B5EF4-FFF2-40B4-BE49-F238E27FC236}">
                <a16:creationId xmlns:a16="http://schemas.microsoft.com/office/drawing/2014/main" id="{773B96D3-FDCA-4A5A-A5FB-4290FA705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Specify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small task</a:t>
            </a:r>
          </a:p>
        </p:txBody>
      </p:sp>
      <p:sp>
        <p:nvSpPr>
          <p:cNvPr id="11" name="num-1">
            <a:extLst xmlns:a="http://schemas.openxmlformats.org/drawingml/2006/main">
              <a:ext uri="{FF2B5EF4-FFF2-40B4-BE49-F238E27FC236}">
                <a16:creationId xmlns:a16="http://schemas.microsoft.com/office/drawing/2014/main" id="{5C6B9B70-D72D-4602-A833-4BB09B720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step-1">
            <a:extLst xmlns:a="http://schemas.openxmlformats.org/drawingml/2006/main">
              <a:ext uri="{FF2B5EF4-FFF2-40B4-BE49-F238E27FC236}">
                <a16:creationId xmlns:a16="http://schemas.microsoft.com/office/drawing/2014/main" id="{B5F7D58F-350F-4B6B-915C-04E14F605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Read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real files</a:t>
            </a:r>
          </a:p>
        </p:txBody>
      </p:sp>
      <p:sp>
        <p:nvSpPr>
          <p:cNvPr id="13" name="num-2">
            <a:extLst xmlns:a="http://schemas.openxmlformats.org/drawingml/2006/main">
              <a:ext uri="{FF2B5EF4-FFF2-40B4-BE49-F238E27FC236}">
                <a16:creationId xmlns:a16="http://schemas.microsoft.com/office/drawing/2014/main" id="{2256B3FA-A4C6-462A-8745-AE1393562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4" name="step-2">
            <a:extLst xmlns:a="http://schemas.openxmlformats.org/drawingml/2006/main">
              <a:ext uri="{FF2B5EF4-FFF2-40B4-BE49-F238E27FC236}">
                <a16:creationId xmlns:a16="http://schemas.microsoft.com/office/drawing/2014/main" id="{45D63865-9329-4AE6-A2C9-30464B47D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before edit</a:t>
            </a:r>
          </a:p>
        </p:txBody>
      </p:sp>
      <p:sp>
        <p:nvSpPr>
          <p:cNvPr id="15" name="num-3">
            <a:extLst xmlns:a="http://schemas.openxmlformats.org/drawingml/2006/main">
              <a:ext uri="{FF2B5EF4-FFF2-40B4-BE49-F238E27FC236}">
                <a16:creationId xmlns:a16="http://schemas.microsoft.com/office/drawing/2014/main" id="{FF75A194-3F6F-49B5-B6E8-0A3F122D8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45821D8B-3950-4653-AC05-F6F07F954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Change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small scope</a:t>
            </a:r>
          </a:p>
        </p:txBody>
      </p:sp>
      <p:sp>
        <p:nvSpPr>
          <p:cNvPr id="17" name="num-4">
            <a:extLst xmlns:a="http://schemas.openxmlformats.org/drawingml/2006/main">
              <a:ext uri="{FF2B5EF4-FFF2-40B4-BE49-F238E27FC236}">
                <a16:creationId xmlns:a16="http://schemas.microsoft.com/office/drawing/2014/main" id="{73B538C9-A620-4E83-894B-81B7D6E6E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8" name="step-4">
            <a:extLst xmlns:a="http://schemas.openxmlformats.org/drawingml/2006/main">
              <a:ext uri="{FF2B5EF4-FFF2-40B4-BE49-F238E27FC236}">
                <a16:creationId xmlns:a16="http://schemas.microsoft.com/office/drawing/2014/main" id="{12208B21-2F73-44DD-A309-57D3B5A15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Run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19" name="num-5">
            <a:extLst xmlns:a="http://schemas.openxmlformats.org/drawingml/2006/main">
              <a:ext uri="{FF2B5EF4-FFF2-40B4-BE49-F238E27FC236}">
                <a16:creationId xmlns:a16="http://schemas.microsoft.com/office/drawing/2014/main" id="{616627E2-E02F-4BDD-BBC7-C8CFD3E7B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20" name="step-5">
            <a:extLst xmlns:a="http://schemas.openxmlformats.org/drawingml/2006/main">
              <a:ext uri="{FF2B5EF4-FFF2-40B4-BE49-F238E27FC236}">
                <a16:creationId xmlns:a16="http://schemas.microsoft.com/office/drawing/2014/main" id="{A67E393C-7A71-4AC6-B118-0ACCD2F47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Inspect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diff</a:t>
            </a:r>
          </a:p>
        </p:txBody>
      </p:sp>
      <p:sp>
        <p:nvSpPr>
          <p:cNvPr id="21" name="rule">
            <a:extLst xmlns:a="http://schemas.openxmlformats.org/drawingml/2006/main">
              <a:ext uri="{FF2B5EF4-FFF2-40B4-BE49-F238E27FC236}">
                <a16:creationId xmlns:a16="http://schemas.microsoft.com/office/drawing/2014/main" id="{E8B7DBC4-7810-4EA7-9356-DF687F129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686300"/>
            <a:ext cx="78486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2" name="rule-text">
            <a:extLst xmlns:a="http://schemas.openxmlformats.org/drawingml/2006/main">
              <a:ext uri="{FF2B5EF4-FFF2-40B4-BE49-F238E27FC236}">
                <a16:creationId xmlns:a16="http://schemas.microsoft.com/office/drawing/2014/main" id="{768FD8C5-BE63-41B4-BC17-1AAA4275A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9339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Rule: no broad rewrite, no hidden file changes, no unverified final claim.</a:t>
            </a:r>
          </a:p>
        </p:txBody>
      </p:sp>
    </p:spTree>
    <p:extLst>
      <p:ext uri="{BB962C8B-B14F-4D97-AF65-F5344CB8AC3E}">
        <p14:creationId xmlns:p14="http://schemas.microsoft.com/office/powerpoint/2010/main" val="187606375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F52B172E-609B-4FC5-832B-BBCB56131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RISK MATRIX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DD72FB6-8C75-4B70-93E8-D9C146498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Vibe coding 適合低模糊、低風險且可驗證的任務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6D4692DA-A00E-4BB8-80BE-E158544E5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14/20</a:t>
            </a:r>
          </a:p>
        </p:txBody>
      </p:sp>
      <p:sp>
        <p:nvSpPr>
          <p:cNvPr id="4" name="matrix">
            <a:extLst xmlns:a="http://schemas.openxmlformats.org/drawingml/2006/main">
              <a:ext uri="{FF2B5EF4-FFF2-40B4-BE49-F238E27FC236}">
                <a16:creationId xmlns:a16="http://schemas.microsoft.com/office/drawing/2014/main" id="{ABCC3D18-9E92-439C-84CA-41DC34CEF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981200"/>
            <a:ext cx="742950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vline">
            <a:extLst xmlns:a="http://schemas.openxmlformats.org/drawingml/2006/main">
              <a:ext uri="{FF2B5EF4-FFF2-40B4-BE49-F238E27FC236}">
                <a16:creationId xmlns:a16="http://schemas.microsoft.com/office/drawing/2014/main" id="{A7C7AB9B-8603-4C71-998B-B38953627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198120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6" name="hline">
            <a:extLst xmlns:a="http://schemas.openxmlformats.org/drawingml/2006/main">
              <a:ext uri="{FF2B5EF4-FFF2-40B4-BE49-F238E27FC236}">
                <a16:creationId xmlns:a16="http://schemas.microsoft.com/office/drawing/2014/main" id="{224EA204-4209-4F09-9E0B-D942FBE4A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695700"/>
            <a:ext cx="742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7" name="axis-x">
            <a:extLst xmlns:a="http://schemas.openxmlformats.org/drawingml/2006/main">
              <a:ext uri="{FF2B5EF4-FFF2-40B4-BE49-F238E27FC236}">
                <a16:creationId xmlns:a16="http://schemas.microsoft.com/office/drawing/2014/main" id="{27EC3681-8EB1-4809-99F9-E6E9CAA68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5245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Task ambiguity</a:t>
            </a:r>
          </a:p>
        </p:txBody>
      </p:sp>
      <p:sp>
        <p:nvSpPr>
          <p:cNvPr id="8" name="axis-y">
            <a:extLst xmlns:a="http://schemas.openxmlformats.org/drawingml/2006/main">
              <a:ext uri="{FF2B5EF4-FFF2-40B4-BE49-F238E27FC236}">
                <a16:creationId xmlns:a16="http://schemas.microsoft.com/office/drawing/2014/main" id="{DAC3022A-2149-417D-B614-63FC09B8D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39090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Impact / risk</a:t>
            </a:r>
          </a:p>
        </p:txBody>
      </p:sp>
      <p:sp>
        <p:nvSpPr>
          <p:cNvPr id="9" name="q1">
            <a:extLst xmlns:a="http://schemas.openxmlformats.org/drawingml/2006/main">
              <a:ext uri="{FF2B5EF4-FFF2-40B4-BE49-F238E27FC236}">
                <a16:creationId xmlns:a16="http://schemas.microsoft.com/office/drawing/2014/main" id="{9B2D6D5E-328A-4AF3-96C0-77D411303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71950"/>
            <a:ext cx="257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Parsing script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Report draft</a:t>
            </a:r>
          </a:p>
        </p:txBody>
      </p:sp>
      <p:sp>
        <p:nvSpPr>
          <p:cNvPr id="10" name="q2">
            <a:extLst xmlns:a="http://schemas.openxmlformats.org/drawingml/2006/main">
              <a:ext uri="{FF2B5EF4-FFF2-40B4-BE49-F238E27FC236}">
                <a16:creationId xmlns:a16="http://schemas.microsoft.com/office/drawing/2014/main" id="{35FC1E99-5D49-47DA-9417-6E1BC155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71950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Exploratory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prototype</a:t>
            </a:r>
          </a:p>
        </p:txBody>
      </p:sp>
      <p:sp>
        <p:nvSpPr>
          <p:cNvPr id="11" name="q3">
            <a:extLst xmlns:a="http://schemas.openxmlformats.org/drawingml/2006/main">
              <a:ext uri="{FF2B5EF4-FFF2-40B4-BE49-F238E27FC236}">
                <a16:creationId xmlns:a16="http://schemas.microsoft.com/office/drawing/2014/main" id="{EF9D95CD-4560-473C-8010-8BF49C6DB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495550"/>
            <a:ext cx="257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Validated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analysis tool</a:t>
            </a:r>
          </a:p>
        </p:txBody>
      </p:sp>
      <p:sp>
        <p:nvSpPr>
          <p:cNvPr id="12" name="q4">
            <a:extLst xmlns:a="http://schemas.openxmlformats.org/drawingml/2006/main">
              <a:ext uri="{FF2B5EF4-FFF2-40B4-BE49-F238E27FC236}">
                <a16:creationId xmlns:a16="http://schemas.microsoft.com/office/drawing/2014/main" id="{E711DA10-6FD7-4020-9829-237407B14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4315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Clinical claim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Unverified statistic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Citation-sensitive summary</a:t>
            </a:r>
          </a:p>
        </p:txBody>
      </p:sp>
      <p:sp>
        <p:nvSpPr>
          <p:cNvPr id="13" name="matrix-note">
            <a:extLst xmlns:a="http://schemas.openxmlformats.org/drawingml/2006/main">
              <a:ext uri="{FF2B5EF4-FFF2-40B4-BE49-F238E27FC236}">
                <a16:creationId xmlns:a16="http://schemas.microsoft.com/office/drawing/2014/main" id="{85778698-5AD6-4814-AB61-C1ADF1135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905500"/>
            <a:ext cx="7448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能跑不是標準；可追溯、可測試、可解釋才是標準。</a:t>
            </a:r>
          </a:p>
        </p:txBody>
      </p:sp>
    </p:spTree>
    <p:extLst>
      <p:ext uri="{BB962C8B-B14F-4D97-AF65-F5344CB8AC3E}">
        <p14:creationId xmlns:p14="http://schemas.microsoft.com/office/powerpoint/2010/main" val="15022414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26A7ADB0-9407-408A-A920-351B58D11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DESKTOP UTILITIES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91F5ABE-68E5-4B9A-A320-52CE3D942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Desktop utilities 把研究者的日常材料接進 workflow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610D2E11-6D01-4641-B73A-AB0C8B1D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15/20</a:t>
            </a:r>
          </a:p>
        </p:txBody>
      </p:sp>
      <p:sp>
        <p:nvSpPr>
          <p:cNvPr id="4" name="tool-0">
            <a:extLst xmlns:a="http://schemas.openxmlformats.org/drawingml/2006/main">
              <a:ext uri="{FF2B5EF4-FFF2-40B4-BE49-F238E27FC236}">
                <a16:creationId xmlns:a16="http://schemas.microsoft.com/office/drawing/2014/main" id="{48B4ABA1-5B7B-49E3-9FBB-D09E5D21A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962150"/>
            <a:ext cx="1695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Browser</a:t>
            </a:r>
          </a:p>
        </p:txBody>
      </p:sp>
      <p:sp>
        <p:nvSpPr>
          <p:cNvPr id="5" name="use-0">
            <a:extLst xmlns:a="http://schemas.openxmlformats.org/drawingml/2006/main">
              <a:ext uri="{FF2B5EF4-FFF2-40B4-BE49-F238E27FC236}">
                <a16:creationId xmlns:a16="http://schemas.microsoft.com/office/drawing/2014/main" id="{160CC4D9-B776-4345-83F2-43630C1C7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05740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PubMed / guideline / database</a:t>
            </a:r>
          </a:p>
        </p:txBody>
      </p:sp>
      <p:sp>
        <p:nvSpPr>
          <p:cNvPr id="6" name="link-0">
            <a:extLst xmlns:a="http://schemas.openxmlformats.org/drawingml/2006/main">
              <a:ext uri="{FF2B5EF4-FFF2-40B4-BE49-F238E27FC236}">
                <a16:creationId xmlns:a16="http://schemas.microsoft.com/office/drawing/2014/main" id="{436DF510-1340-4C6A-BFBC-97C0B296E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1907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7" name="tool-1">
            <a:extLst xmlns:a="http://schemas.openxmlformats.org/drawingml/2006/main">
              <a:ext uri="{FF2B5EF4-FFF2-40B4-BE49-F238E27FC236}">
                <a16:creationId xmlns:a16="http://schemas.microsoft.com/office/drawing/2014/main" id="{94217751-02A7-4CF9-AB8D-17434E8AC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09850"/>
            <a:ext cx="1695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Files</a:t>
            </a:r>
          </a:p>
        </p:txBody>
      </p:sp>
      <p:sp>
        <p:nvSpPr>
          <p:cNvPr id="8" name="use-1">
            <a:extLst xmlns:a="http://schemas.openxmlformats.org/drawingml/2006/main">
              <a:ext uri="{FF2B5EF4-FFF2-40B4-BE49-F238E27FC236}">
                <a16:creationId xmlns:a16="http://schemas.microsoft.com/office/drawing/2014/main" id="{40DF01EF-D90C-4AEC-BEA4-8785A49F0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70510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PDF / CSV / Excel / notes</a:t>
            </a:r>
          </a:p>
        </p:txBody>
      </p:sp>
      <p:sp>
        <p:nvSpPr>
          <p:cNvPr id="9" name="link-1">
            <a:extLst xmlns:a="http://schemas.openxmlformats.org/drawingml/2006/main">
              <a:ext uri="{FF2B5EF4-FFF2-40B4-BE49-F238E27FC236}">
                <a16:creationId xmlns:a16="http://schemas.microsoft.com/office/drawing/2014/main" id="{7C2C8E0E-00C7-412D-8C98-3A80AA97A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8384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0" name="tool-2">
            <a:extLst xmlns:a="http://schemas.openxmlformats.org/drawingml/2006/main">
              <a:ext uri="{FF2B5EF4-FFF2-40B4-BE49-F238E27FC236}">
                <a16:creationId xmlns:a16="http://schemas.microsoft.com/office/drawing/2014/main" id="{34BC0A23-45B1-45D9-B73F-A1675453B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257550"/>
            <a:ext cx="1695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Terminal</a:t>
            </a:r>
          </a:p>
        </p:txBody>
      </p:sp>
      <p:sp>
        <p:nvSpPr>
          <p:cNvPr id="11" name="use-2">
            <a:extLst xmlns:a="http://schemas.openxmlformats.org/drawingml/2006/main">
              <a:ext uri="{FF2B5EF4-FFF2-40B4-BE49-F238E27FC236}">
                <a16:creationId xmlns:a16="http://schemas.microsoft.com/office/drawing/2014/main" id="{75CA1D01-14CC-431E-8A31-97DE097AF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35280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轉檔、檢查欄位、跑 script</a:t>
            </a:r>
          </a:p>
        </p:txBody>
      </p:sp>
      <p:sp>
        <p:nvSpPr>
          <p:cNvPr id="12" name="link-2">
            <a:extLst xmlns:a="http://schemas.openxmlformats.org/drawingml/2006/main">
              <a:ext uri="{FF2B5EF4-FFF2-40B4-BE49-F238E27FC236}">
                <a16:creationId xmlns:a16="http://schemas.microsoft.com/office/drawing/2014/main" id="{20AE8DC0-9BAA-4632-AF91-D0D3EE37E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4861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3" name="tool-3">
            <a:extLst xmlns:a="http://schemas.openxmlformats.org/drawingml/2006/main">
              <a:ext uri="{FF2B5EF4-FFF2-40B4-BE49-F238E27FC236}">
                <a16:creationId xmlns:a16="http://schemas.microsoft.com/office/drawing/2014/main" id="{F7F97BE2-224F-4AE0-8B84-8033BB890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905250"/>
            <a:ext cx="1695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Spreadsheet</a:t>
            </a:r>
          </a:p>
        </p:txBody>
      </p:sp>
      <p:sp>
        <p:nvSpPr>
          <p:cNvPr id="14" name="use-3">
            <a:extLst xmlns:a="http://schemas.openxmlformats.org/drawingml/2006/main">
              <a:ext uri="{FF2B5EF4-FFF2-40B4-BE49-F238E27FC236}">
                <a16:creationId xmlns:a16="http://schemas.microsoft.com/office/drawing/2014/main" id="{A59B5A73-8F87-44D9-B656-6D7B2DE06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00050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evidence table 與人工 review</a:t>
            </a:r>
          </a:p>
        </p:txBody>
      </p:sp>
      <p:sp>
        <p:nvSpPr>
          <p:cNvPr id="15" name="link-3">
            <a:extLst xmlns:a="http://schemas.openxmlformats.org/drawingml/2006/main">
              <a:ext uri="{FF2B5EF4-FFF2-40B4-BE49-F238E27FC236}">
                <a16:creationId xmlns:a16="http://schemas.microsoft.com/office/drawing/2014/main" id="{D8AEBEA2-439F-4BC8-B27A-1D6456D63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1338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6" name="tool-4">
            <a:extLst xmlns:a="http://schemas.openxmlformats.org/drawingml/2006/main">
              <a:ext uri="{FF2B5EF4-FFF2-40B4-BE49-F238E27FC236}">
                <a16:creationId xmlns:a16="http://schemas.microsoft.com/office/drawing/2014/main" id="{91DD2682-F6D2-486F-8D87-1B169F520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52950"/>
            <a:ext cx="1695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Notes</a:t>
            </a:r>
          </a:p>
        </p:txBody>
      </p:sp>
      <p:sp>
        <p:nvSpPr>
          <p:cNvPr id="17" name="use-4">
            <a:extLst xmlns:a="http://schemas.openxmlformats.org/drawingml/2006/main">
              <a:ext uri="{FF2B5EF4-FFF2-40B4-BE49-F238E27FC236}">
                <a16:creationId xmlns:a16="http://schemas.microsoft.com/office/drawing/2014/main" id="{5A726309-9260-4357-A87A-F55D0D043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64820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research log 與 limitations</a:t>
            </a:r>
          </a:p>
        </p:txBody>
      </p:sp>
      <p:sp>
        <p:nvSpPr>
          <p:cNvPr id="18" name="link-4">
            <a:extLst xmlns:a="http://schemas.openxmlformats.org/drawingml/2006/main">
              <a:ext uri="{FF2B5EF4-FFF2-40B4-BE49-F238E27FC236}">
                <a16:creationId xmlns:a16="http://schemas.microsoft.com/office/drawing/2014/main" id="{BC75A1EB-9D6E-4174-87F5-CD13C251E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7815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9" name="bottom">
            <a:extLst xmlns:a="http://schemas.openxmlformats.org/drawingml/2006/main">
              <a:ext uri="{FF2B5EF4-FFF2-40B4-BE49-F238E27FC236}">
                <a16:creationId xmlns:a16="http://schemas.microsoft.com/office/drawing/2014/main" id="{2F92256B-CD69-4EBF-8CBB-51CCCB39E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816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價值不是神奇自動化，而是減少手動搬運、遺漏與不可追溯。</a:t>
            </a:r>
          </a:p>
        </p:txBody>
      </p:sp>
    </p:spTree>
    <p:extLst>
      <p:ext uri="{BB962C8B-B14F-4D97-AF65-F5344CB8AC3E}">
        <p14:creationId xmlns:p14="http://schemas.microsoft.com/office/powerpoint/2010/main" val="177643113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64B097F6-3488-448A-B50A-B50E79C84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TOOL-USE LIFECYCLE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7AB5201-0936-487D-AE4F-474D6E0CE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每次工具呼叫都要能被觀察與記錄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8C2DFA41-2F2B-4C51-9114-99E2E6C2B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16/20</a:t>
            </a:r>
          </a:p>
        </p:txBody>
      </p:sp>
      <p:sp>
        <p:nvSpPr>
          <p:cNvPr id="4" name="flow">
            <a:extLst xmlns:a="http://schemas.openxmlformats.org/drawingml/2006/main">
              <a:ext uri="{FF2B5EF4-FFF2-40B4-BE49-F238E27FC236}">
                <a16:creationId xmlns:a16="http://schemas.microsoft.com/office/drawing/2014/main" id="{DD726F2B-A135-49D2-9C59-7A5A3B2EE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219450"/>
            <a:ext cx="800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D4DADD"/>
            </a:solidFill>
            <a:prstDash val="solid"/>
          </a:ln>
        </p:spPr>
      </p:sp>
      <p:sp>
        <p:nvSpPr>
          <p:cNvPr id="5" name="step-0">
            <a:extLst xmlns:a="http://schemas.openxmlformats.org/drawingml/2006/main">
              <a:ext uri="{FF2B5EF4-FFF2-40B4-BE49-F238E27FC236}">
                <a16:creationId xmlns:a16="http://schemas.microsoft.com/office/drawing/2014/main" id="{3C60CD24-E9B5-42D9-9B3F-E616E7A96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724150"/>
            <a:ext cx="1619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Call</a:t>
            </a:r>
          </a:p>
        </p:txBody>
      </p:sp>
      <p:sp>
        <p:nvSpPr>
          <p:cNvPr id="6" name="copy-0">
            <a:extLst xmlns:a="http://schemas.openxmlformats.org/drawingml/2006/main">
              <a:ext uri="{FF2B5EF4-FFF2-40B4-BE49-F238E27FC236}">
                <a16:creationId xmlns:a16="http://schemas.microsoft.com/office/drawing/2014/main" id="{5D446AC8-4E14-415A-8035-F9A2EAA5A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195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structured input</a:t>
            </a:r>
          </a:p>
        </p:txBody>
      </p:sp>
      <p:sp>
        <p:nvSpPr>
          <p:cNvPr id="7" name="step-1">
            <a:extLst xmlns:a="http://schemas.openxmlformats.org/drawingml/2006/main">
              <a:ext uri="{FF2B5EF4-FFF2-40B4-BE49-F238E27FC236}">
                <a16:creationId xmlns:a16="http://schemas.microsoft.com/office/drawing/2014/main" id="{83F0B283-D681-4435-9012-19F342250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24150"/>
            <a:ext cx="1619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Observe</a:t>
            </a:r>
          </a:p>
        </p:txBody>
      </p:sp>
      <p:sp>
        <p:nvSpPr>
          <p:cNvPr id="8" name="copy-1">
            <a:extLst xmlns:a="http://schemas.openxmlformats.org/drawingml/2006/main">
              <a:ext uri="{FF2B5EF4-FFF2-40B4-BE49-F238E27FC236}">
                <a16:creationId xmlns:a16="http://schemas.microsoft.com/office/drawing/2014/main" id="{B217CCD6-7DA8-4034-9709-E716FDBC1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6195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tool output</a:t>
            </a:r>
          </a:p>
        </p:txBody>
      </p:sp>
      <p:sp>
        <p:nvSpPr>
          <p:cNvPr id="9" name="step-2">
            <a:extLst xmlns:a="http://schemas.openxmlformats.org/drawingml/2006/main">
              <a:ext uri="{FF2B5EF4-FFF2-40B4-BE49-F238E27FC236}">
                <a16:creationId xmlns:a16="http://schemas.microsoft.com/office/drawing/2014/main" id="{5C8220EF-DFF0-47B3-851A-D11A04A19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24150"/>
            <a:ext cx="1619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Validate</a:t>
            </a:r>
          </a:p>
        </p:txBody>
      </p:sp>
      <p:sp>
        <p:nvSpPr>
          <p:cNvPr id="10" name="copy-2">
            <a:extLst xmlns:a="http://schemas.openxmlformats.org/drawingml/2006/main">
              <a:ext uri="{FF2B5EF4-FFF2-40B4-BE49-F238E27FC236}">
                <a16:creationId xmlns:a16="http://schemas.microsoft.com/office/drawing/2014/main" id="{8FA2FCC0-72FF-4A26-834B-314E6FA4D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195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schema + source</a:t>
            </a:r>
          </a:p>
        </p:txBody>
      </p:sp>
      <p:sp>
        <p:nvSpPr>
          <p:cNvPr id="11" name="step-3">
            <a:extLst xmlns:a="http://schemas.openxmlformats.org/drawingml/2006/main">
              <a:ext uri="{FF2B5EF4-FFF2-40B4-BE49-F238E27FC236}">
                <a16:creationId xmlns:a16="http://schemas.microsoft.com/office/drawing/2014/main" id="{0F78C87D-D3D1-429A-B0CB-BCF1430AC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724150"/>
            <a:ext cx="1619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Record</a:t>
            </a:r>
          </a:p>
        </p:txBody>
      </p:sp>
      <p:sp>
        <p:nvSpPr>
          <p:cNvPr id="12" name="copy-3">
            <a:extLst xmlns:a="http://schemas.openxmlformats.org/drawingml/2006/main">
              <a:ext uri="{FF2B5EF4-FFF2-40B4-BE49-F238E27FC236}">
                <a16:creationId xmlns:a16="http://schemas.microsoft.com/office/drawing/2014/main" id="{FAD70134-D107-406C-AD8A-C9D7BE9DC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195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log + artifact</a:t>
            </a:r>
          </a:p>
        </p:txBody>
      </p:sp>
      <p:sp>
        <p:nvSpPr>
          <p:cNvPr id="13" name="example">
            <a:extLst xmlns:a="http://schemas.openxmlformats.org/drawingml/2006/main">
              <a:ext uri="{FF2B5EF4-FFF2-40B4-BE49-F238E27FC236}">
                <a16:creationId xmlns:a16="http://schemas.microsoft.com/office/drawing/2014/main" id="{1C6831EC-199C-4C9E-B6C7-8A3A3F225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762500"/>
            <a:ext cx="81915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4" name="example-text">
            <a:extLst xmlns:a="http://schemas.openxmlformats.org/drawingml/2006/main">
              <a:ext uri="{FF2B5EF4-FFF2-40B4-BE49-F238E27FC236}">
                <a16:creationId xmlns:a16="http://schemas.microsoft.com/office/drawing/2014/main" id="{BFD4C80F-8D6B-48BA-82F6-D9F3B0B6E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99110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Example: PubMed query -&gt; PMID list -&gt; DOI check -&gt; evidence_table row</a:t>
            </a:r>
          </a:p>
        </p:txBody>
      </p:sp>
    </p:spTree>
    <p:extLst>
      <p:ext uri="{BB962C8B-B14F-4D97-AF65-F5344CB8AC3E}">
        <p14:creationId xmlns:p14="http://schemas.microsoft.com/office/powerpoint/2010/main" val="48874066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A1DE215A-5E62-4F2F-93B4-16D24E54C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FAILURE MODES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38A6142-2DAE-4BC1-86E7-ACD3195BB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workflow 常見錯誤多半不是語法錯，而是流程錯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BD398FFB-7B17-42BF-8164-9D85803F1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17/20</a:t>
            </a:r>
          </a:p>
        </p:txBody>
      </p:sp>
      <p:sp>
        <p:nvSpPr>
          <p:cNvPr id="4" name="f-0">
            <a:extLst xmlns:a="http://schemas.openxmlformats.org/drawingml/2006/main">
              <a:ext uri="{FF2B5EF4-FFF2-40B4-BE49-F238E27FC236}">
                <a16:creationId xmlns:a16="http://schemas.microsoft.com/office/drawing/2014/main" id="{3433FA19-8217-4E5B-BCAE-97FECA092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193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f-title-0">
            <a:extLst xmlns:a="http://schemas.openxmlformats.org/drawingml/2006/main">
              <a:ext uri="{FF2B5EF4-FFF2-40B4-BE49-F238E27FC236}">
                <a16:creationId xmlns:a16="http://schemas.microsoft.com/office/drawing/2014/main" id="{43DAAB9A-B26A-4CFF-9949-C5920A539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228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Wrong tool</a:t>
            </a:r>
          </a:p>
        </p:txBody>
      </p:sp>
      <p:sp>
        <p:nvSpPr>
          <p:cNvPr id="6" name="f-copy-0">
            <a:extLst xmlns:a="http://schemas.openxmlformats.org/drawingml/2006/main">
              <a:ext uri="{FF2B5EF4-FFF2-40B4-BE49-F238E27FC236}">
                <a16:creationId xmlns:a16="http://schemas.microsoft.com/office/drawing/2014/main" id="{07422BE7-D56F-4827-82E4-F99DFBCF1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09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查錯資料庫或讀錯檔</a:t>
            </a:r>
          </a:p>
        </p:txBody>
      </p:sp>
      <p:sp>
        <p:nvSpPr>
          <p:cNvPr id="7" name="f-1">
            <a:extLst xmlns:a="http://schemas.openxmlformats.org/drawingml/2006/main">
              <a:ext uri="{FF2B5EF4-FFF2-40B4-BE49-F238E27FC236}">
                <a16:creationId xmlns:a16="http://schemas.microsoft.com/office/drawing/2014/main" id="{C3C67241-3125-4BD2-B9E7-796BF1E5D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193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8" name="f-title-1">
            <a:extLst xmlns:a="http://schemas.openxmlformats.org/drawingml/2006/main">
              <a:ext uri="{FF2B5EF4-FFF2-40B4-BE49-F238E27FC236}">
                <a16:creationId xmlns:a16="http://schemas.microsoft.com/office/drawing/2014/main" id="{D2C234ED-FA30-4AD9-B02B-1D3B55613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228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Context drift</a:t>
            </a:r>
          </a:p>
        </p:txBody>
      </p:sp>
      <p:sp>
        <p:nvSpPr>
          <p:cNvPr id="9" name="f-copy-1">
            <a:extLst xmlns:a="http://schemas.openxmlformats.org/drawingml/2006/main">
              <a:ext uri="{FF2B5EF4-FFF2-40B4-BE49-F238E27FC236}">
                <a16:creationId xmlns:a16="http://schemas.microsoft.com/office/drawing/2014/main" id="{B19BD888-EAD2-4D34-B4FB-157E8C380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609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任務做一做偏掉</a:t>
            </a:r>
          </a:p>
        </p:txBody>
      </p:sp>
      <p:sp>
        <p:nvSpPr>
          <p:cNvPr id="10" name="f-2">
            <a:extLst xmlns:a="http://schemas.openxmlformats.org/drawingml/2006/main">
              <a:ext uri="{FF2B5EF4-FFF2-40B4-BE49-F238E27FC236}">
                <a16:creationId xmlns:a16="http://schemas.microsoft.com/office/drawing/2014/main" id="{2E0379CD-5FD9-44CB-81A7-7A4CBA49A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193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f-title-2">
            <a:extLst xmlns:a="http://schemas.openxmlformats.org/drawingml/2006/main">
              <a:ext uri="{FF2B5EF4-FFF2-40B4-BE49-F238E27FC236}">
                <a16:creationId xmlns:a16="http://schemas.microsoft.com/office/drawing/2014/main" id="{77E34591-D5E1-4CDA-B297-EBE932FEC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28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Citation laundering</a:t>
            </a:r>
          </a:p>
        </p:txBody>
      </p:sp>
      <p:sp>
        <p:nvSpPr>
          <p:cNvPr id="12" name="f-copy-2">
            <a:extLst xmlns:a="http://schemas.openxmlformats.org/drawingml/2006/main">
              <a:ext uri="{FF2B5EF4-FFF2-40B4-BE49-F238E27FC236}">
                <a16:creationId xmlns:a16="http://schemas.microsoft.com/office/drawing/2014/main" id="{B0AB2DFF-08DE-4575-AE54-FBB40A7B8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09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citation 支撐錯 claim</a:t>
            </a:r>
          </a:p>
        </p:txBody>
      </p:sp>
      <p:sp>
        <p:nvSpPr>
          <p:cNvPr id="13" name="f-3">
            <a:extLst xmlns:a="http://schemas.openxmlformats.org/drawingml/2006/main">
              <a:ext uri="{FF2B5EF4-FFF2-40B4-BE49-F238E27FC236}">
                <a16:creationId xmlns:a16="http://schemas.microsoft.com/office/drawing/2014/main" id="{57B2F3EC-37EF-416B-8EEE-A086ACBD3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4" name="f-title-3">
            <a:extLst xmlns:a="http://schemas.openxmlformats.org/drawingml/2006/main">
              <a:ext uri="{FF2B5EF4-FFF2-40B4-BE49-F238E27FC236}">
                <a16:creationId xmlns:a16="http://schemas.microsoft.com/office/drawing/2014/main" id="{E3BE2517-53B4-46FC-A05D-3F4D48320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Silent data mutation</a:t>
            </a:r>
          </a:p>
        </p:txBody>
      </p:sp>
      <p:sp>
        <p:nvSpPr>
          <p:cNvPr id="15" name="f-copy-3">
            <a:extLst xmlns:a="http://schemas.openxmlformats.org/drawingml/2006/main">
              <a:ext uri="{FF2B5EF4-FFF2-40B4-BE49-F238E27FC236}">
                <a16:creationId xmlns:a16="http://schemas.microsoft.com/office/drawing/2014/main" id="{8849FEBF-F210-4305-A302-A69AC4695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19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欄位或樣本被改壞</a:t>
            </a:r>
          </a:p>
        </p:txBody>
      </p:sp>
      <p:sp>
        <p:nvSpPr>
          <p:cNvPr id="16" name="f-4">
            <a:extLst xmlns:a="http://schemas.openxmlformats.org/drawingml/2006/main">
              <a:ext uri="{FF2B5EF4-FFF2-40B4-BE49-F238E27FC236}">
                <a16:creationId xmlns:a16="http://schemas.microsoft.com/office/drawing/2014/main" id="{8FB12BB8-63C1-4FB7-A56B-D982FD7AB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4290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f-title-4">
            <a:extLst xmlns:a="http://schemas.openxmlformats.org/drawingml/2006/main">
              <a:ext uri="{FF2B5EF4-FFF2-40B4-BE49-F238E27FC236}">
                <a16:creationId xmlns:a16="http://schemas.microsoft.com/office/drawing/2014/main" id="{6FE8F4BB-79FD-487F-BF24-BE63ED17B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638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No stop condition</a:t>
            </a:r>
          </a:p>
        </p:txBody>
      </p:sp>
      <p:sp>
        <p:nvSpPr>
          <p:cNvPr id="18" name="f-copy-4">
            <a:extLst xmlns:a="http://schemas.openxmlformats.org/drawingml/2006/main">
              <a:ext uri="{FF2B5EF4-FFF2-40B4-BE49-F238E27FC236}">
                <a16:creationId xmlns:a16="http://schemas.microsoft.com/office/drawing/2014/main" id="{4C91EFF8-0941-4F12-B87D-F77ED772F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019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一直重試或太早交付</a:t>
            </a:r>
          </a:p>
        </p:txBody>
      </p:sp>
      <p:sp>
        <p:nvSpPr>
          <p:cNvPr id="19" name="f-5">
            <a:extLst xmlns:a="http://schemas.openxmlformats.org/drawingml/2006/main">
              <a:ext uri="{FF2B5EF4-FFF2-40B4-BE49-F238E27FC236}">
                <a16:creationId xmlns:a16="http://schemas.microsoft.com/office/drawing/2014/main" id="{DC31355E-F4DA-4D65-92CF-A02C5DEE3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290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20" name="f-title-5">
            <a:extLst xmlns:a="http://schemas.openxmlformats.org/drawingml/2006/main">
              <a:ext uri="{FF2B5EF4-FFF2-40B4-BE49-F238E27FC236}">
                <a16:creationId xmlns:a16="http://schemas.microsoft.com/office/drawing/2014/main" id="{A72D5D6D-51C5-42C7-93E3-5E09A9ACA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38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Prompt injection</a:t>
            </a:r>
          </a:p>
        </p:txBody>
      </p:sp>
      <p:sp>
        <p:nvSpPr>
          <p:cNvPr id="21" name="f-copy-5">
            <a:extLst xmlns:a="http://schemas.openxmlformats.org/drawingml/2006/main">
              <a:ext uri="{FF2B5EF4-FFF2-40B4-BE49-F238E27FC236}">
                <a16:creationId xmlns:a16="http://schemas.microsoft.com/office/drawing/2014/main" id="{B8C881B8-BE4D-4175-B9E5-B3FC66E2F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019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來源文字誘導 agent</a:t>
            </a:r>
          </a:p>
        </p:txBody>
      </p:sp>
      <p:sp>
        <p:nvSpPr>
          <p:cNvPr id="22" name="bottom">
            <a:extLst xmlns:a="http://schemas.openxmlformats.org/drawingml/2006/main">
              <a:ext uri="{FF2B5EF4-FFF2-40B4-BE49-F238E27FC236}">
                <a16:creationId xmlns:a16="http://schemas.microsoft.com/office/drawing/2014/main" id="{BD32EFED-8E1D-41D0-85E9-08F235529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5626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失敗模式要寫進 task spec、checks 與 human review rule。</a:t>
            </a:r>
          </a:p>
        </p:txBody>
      </p:sp>
    </p:spTree>
    <p:extLst>
      <p:ext uri="{BB962C8B-B14F-4D97-AF65-F5344CB8AC3E}">
        <p14:creationId xmlns:p14="http://schemas.microsoft.com/office/powerpoint/2010/main" val="68871188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B398B4FF-7E05-4A53-A803-0D0D74B9B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CLASS EXERCISE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3B4BFBD-2928-45D1-AB94-8C1965AF2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三個任務先判斷，再決定 agent 能做多少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742CB52F-26BD-483F-816D-331BD2045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18/20</a:t>
            </a:r>
          </a:p>
        </p:txBody>
      </p:sp>
      <p:sp>
        <p:nvSpPr>
          <p:cNvPr id="4" name="case-0">
            <a:extLst xmlns:a="http://schemas.openxmlformats.org/drawingml/2006/main">
              <a:ext uri="{FF2B5EF4-FFF2-40B4-BE49-F238E27FC236}">
                <a16:creationId xmlns:a16="http://schemas.microsoft.com/office/drawing/2014/main" id="{8DB0E0E0-3172-4F80-BA35-A5428B200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95500"/>
            <a:ext cx="29908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5" name="case-label-0">
            <a:extLst xmlns:a="http://schemas.openxmlformats.org/drawingml/2006/main">
              <a:ext uri="{FF2B5EF4-FFF2-40B4-BE49-F238E27FC236}">
                <a16:creationId xmlns:a16="http://schemas.microsoft.com/office/drawing/2014/main" id="{C57A1B1A-3997-4428-BFAE-8FA5051FB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4003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6" name="case-copy-0">
            <a:extLst xmlns:a="http://schemas.openxmlformats.org/drawingml/2006/main">
              <a:ext uri="{FF2B5EF4-FFF2-40B4-BE49-F238E27FC236}">
                <a16:creationId xmlns:a16="http://schemas.microsoft.com/office/drawing/2014/main" id="{F1F52A8A-3AF7-4C41-AF53-95913B7E6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0515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PubMed 搜尋結果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整理成 evidence table</a:t>
            </a:r>
          </a:p>
        </p:txBody>
      </p:sp>
      <p:sp>
        <p:nvSpPr>
          <p:cNvPr id="7" name="case-1">
            <a:extLst xmlns:a="http://schemas.openxmlformats.org/drawingml/2006/main">
              <a:ext uri="{FF2B5EF4-FFF2-40B4-BE49-F238E27FC236}">
                <a16:creationId xmlns:a16="http://schemas.microsoft.com/office/drawing/2014/main" id="{7F592D00-30C0-43CC-9FF1-5E5125DE4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095500"/>
            <a:ext cx="29908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8" name="case-label-1">
            <a:extLst xmlns:a="http://schemas.openxmlformats.org/drawingml/2006/main">
              <a:ext uri="{FF2B5EF4-FFF2-40B4-BE49-F238E27FC236}">
                <a16:creationId xmlns:a16="http://schemas.microsoft.com/office/drawing/2014/main" id="{BB86CC0F-8EA9-43E3-B546-E139FC5E7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003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C85A4A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B</a:t>
            </a:r>
          </a:p>
        </p:txBody>
      </p:sp>
      <p:sp>
        <p:nvSpPr>
          <p:cNvPr id="9" name="case-copy-1">
            <a:extLst xmlns:a="http://schemas.openxmlformats.org/drawingml/2006/main">
              <a:ext uri="{FF2B5EF4-FFF2-40B4-BE49-F238E27FC236}">
                <a16:creationId xmlns:a16="http://schemas.microsoft.com/office/drawing/2014/main" id="{461B12F9-514B-46EA-910E-D2E1C2D60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10515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判斷某 variant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是否 pathogenic</a:t>
            </a:r>
          </a:p>
        </p:txBody>
      </p:sp>
      <p:sp>
        <p:nvSpPr>
          <p:cNvPr id="10" name="case-2">
            <a:extLst xmlns:a="http://schemas.openxmlformats.org/drawingml/2006/main">
              <a:ext uri="{FF2B5EF4-FFF2-40B4-BE49-F238E27FC236}">
                <a16:creationId xmlns:a16="http://schemas.microsoft.com/office/drawing/2014/main" id="{55B03F1F-1BE3-4D98-9272-0BBA92F5F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95500"/>
            <a:ext cx="29908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11" name="case-label-2">
            <a:extLst xmlns:a="http://schemas.openxmlformats.org/drawingml/2006/main">
              <a:ext uri="{FF2B5EF4-FFF2-40B4-BE49-F238E27FC236}">
                <a16:creationId xmlns:a16="http://schemas.microsoft.com/office/drawing/2014/main" id="{1F29BBF7-FC86-4C37-BCAA-D76BC90BE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4003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</a:t>
            </a:r>
          </a:p>
        </p:txBody>
      </p:sp>
      <p:sp>
        <p:nvSpPr>
          <p:cNvPr id="12" name="case-copy-2">
            <a:extLst xmlns:a="http://schemas.openxmlformats.org/drawingml/2006/main">
              <a:ext uri="{FF2B5EF4-FFF2-40B4-BE49-F238E27FC236}">
                <a16:creationId xmlns:a16="http://schemas.microsoft.com/office/drawing/2014/main" id="{3C46FF65-9731-4C21-85F7-07D8ECC1A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10515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幫一份 CSV 產生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QC summary 與圖表</a:t>
            </a:r>
          </a:p>
        </p:txBody>
      </p:sp>
      <p:sp>
        <p:nvSpPr>
          <p:cNvPr id="13" name="prompt">
            <a:extLst xmlns:a="http://schemas.openxmlformats.org/drawingml/2006/main">
              <a:ext uri="{FF2B5EF4-FFF2-40B4-BE49-F238E27FC236}">
                <a16:creationId xmlns:a16="http://schemas.microsoft.com/office/drawing/2014/main" id="{5B86624B-2FF6-415A-82AA-1608C059C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105400"/>
            <a:ext cx="941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每組標出：agent 可以做什麼、需要哪些工具、怎麼驗證、何時 human review。</a:t>
            </a:r>
          </a:p>
        </p:txBody>
      </p:sp>
    </p:spTree>
    <p:extLst>
      <p:ext uri="{BB962C8B-B14F-4D97-AF65-F5344CB8AC3E}">
        <p14:creationId xmlns:p14="http://schemas.microsoft.com/office/powerpoint/2010/main" val="29512583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62A81EB8-7AD7-4075-8309-CA7FEEA58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WORKSHEET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BD5F4FA-47E0-4471-AE61-B311FFA24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把研究任務改寫成 agent-ready workflow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24E90F84-B2E0-4AD8-88EE-AE46AB43E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19/20</a:t>
            </a:r>
          </a:p>
        </p:txBody>
      </p:sp>
      <p:sp>
        <p:nvSpPr>
          <p:cNvPr id="4" name="worksheet-0">
            <a:extLst xmlns:a="http://schemas.openxmlformats.org/drawingml/2006/main">
              <a:ext uri="{FF2B5EF4-FFF2-40B4-BE49-F238E27FC236}">
                <a16:creationId xmlns:a16="http://schemas.microsoft.com/office/drawing/2014/main" id="{1C26BA3F-DB90-4F5B-806D-4B2BF3EDC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05050"/>
            <a:ext cx="1752600" cy="18859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worksheet-head-0">
            <a:extLst xmlns:a="http://schemas.openxmlformats.org/drawingml/2006/main">
              <a:ext uri="{FF2B5EF4-FFF2-40B4-BE49-F238E27FC236}">
                <a16:creationId xmlns:a16="http://schemas.microsoft.com/office/drawing/2014/main" id="{CC4498DD-1F83-4EF7-B05E-041938F5A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52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6" name="worksheet-sub-0">
            <a:extLst xmlns:a="http://schemas.openxmlformats.org/drawingml/2006/main">
              <a:ext uri="{FF2B5EF4-FFF2-40B4-BE49-F238E27FC236}">
                <a16:creationId xmlns:a16="http://schemas.microsoft.com/office/drawing/2014/main" id="{6FF4661E-7FCA-4F2C-8576-97781711E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1432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要回答什麼</a:t>
            </a:r>
          </a:p>
        </p:txBody>
      </p:sp>
      <p:sp>
        <p:nvSpPr>
          <p:cNvPr id="7" name="worksheet-1">
            <a:extLst xmlns:a="http://schemas.openxmlformats.org/drawingml/2006/main">
              <a:ext uri="{FF2B5EF4-FFF2-40B4-BE49-F238E27FC236}">
                <a16:creationId xmlns:a16="http://schemas.microsoft.com/office/drawing/2014/main" id="{7B9EFFD9-AABF-46D6-A43D-8A1AA5C4D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05050"/>
            <a:ext cx="1752600" cy="18859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8" name="worksheet-head-1">
            <a:extLst xmlns:a="http://schemas.openxmlformats.org/drawingml/2006/main">
              <a:ext uri="{FF2B5EF4-FFF2-40B4-BE49-F238E27FC236}">
                <a16:creationId xmlns:a16="http://schemas.microsoft.com/office/drawing/2014/main" id="{25FE8D92-E16E-4273-A1A3-FBC75337B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552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Inputs</a:t>
            </a:r>
          </a:p>
        </p:txBody>
      </p:sp>
      <p:sp>
        <p:nvSpPr>
          <p:cNvPr id="9" name="worksheet-sub-1">
            <a:extLst xmlns:a="http://schemas.openxmlformats.org/drawingml/2006/main">
              <a:ext uri="{FF2B5EF4-FFF2-40B4-BE49-F238E27FC236}">
                <a16:creationId xmlns:a16="http://schemas.microsoft.com/office/drawing/2014/main" id="{D30DC206-B84F-4C98-910A-A382479D9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1432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資料與版本</a:t>
            </a:r>
          </a:p>
        </p:txBody>
      </p:sp>
      <p:sp>
        <p:nvSpPr>
          <p:cNvPr id="10" name="worksheet-2">
            <a:extLst xmlns:a="http://schemas.openxmlformats.org/drawingml/2006/main">
              <a:ext uri="{FF2B5EF4-FFF2-40B4-BE49-F238E27FC236}">
                <a16:creationId xmlns:a16="http://schemas.microsoft.com/office/drawing/2014/main" id="{DAD25225-818B-4E75-A984-9DB55421D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05050"/>
            <a:ext cx="1752600" cy="18859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worksheet-head-2">
            <a:extLst xmlns:a="http://schemas.openxmlformats.org/drawingml/2006/main">
              <a:ext uri="{FF2B5EF4-FFF2-40B4-BE49-F238E27FC236}">
                <a16:creationId xmlns:a16="http://schemas.microsoft.com/office/drawing/2014/main" id="{67855489-1EC2-451E-8230-F80E2F799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552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12" name="worksheet-sub-2">
            <a:extLst xmlns:a="http://schemas.openxmlformats.org/drawingml/2006/main">
              <a:ext uri="{FF2B5EF4-FFF2-40B4-BE49-F238E27FC236}">
                <a16:creationId xmlns:a16="http://schemas.microsoft.com/office/drawing/2014/main" id="{8ECC5C90-23D8-490C-BEEB-56279FB2D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1432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搜尋、讀檔、腳本</a:t>
            </a:r>
          </a:p>
        </p:txBody>
      </p:sp>
      <p:sp>
        <p:nvSpPr>
          <p:cNvPr id="13" name="worksheet-3">
            <a:extLst xmlns:a="http://schemas.openxmlformats.org/drawingml/2006/main">
              <a:ext uri="{FF2B5EF4-FFF2-40B4-BE49-F238E27FC236}">
                <a16:creationId xmlns:a16="http://schemas.microsoft.com/office/drawing/2014/main" id="{3B413556-C0B8-4E1D-80A1-845043CE8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305050"/>
            <a:ext cx="1752600" cy="18859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4" name="worksheet-head-3">
            <a:extLst xmlns:a="http://schemas.openxmlformats.org/drawingml/2006/main">
              <a:ext uri="{FF2B5EF4-FFF2-40B4-BE49-F238E27FC236}">
                <a16:creationId xmlns:a16="http://schemas.microsoft.com/office/drawing/2014/main" id="{4244EC9C-D3FF-4A9D-83AF-966772D04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52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Artifacts</a:t>
            </a:r>
          </a:p>
        </p:txBody>
      </p:sp>
      <p:sp>
        <p:nvSpPr>
          <p:cNvPr id="15" name="worksheet-sub-3">
            <a:extLst xmlns:a="http://schemas.openxmlformats.org/drawingml/2006/main">
              <a:ext uri="{FF2B5EF4-FFF2-40B4-BE49-F238E27FC236}">
                <a16:creationId xmlns:a16="http://schemas.microsoft.com/office/drawing/2014/main" id="{EB9E859D-982F-4342-BFA9-A63904C1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1432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表格、log、note</a:t>
            </a:r>
          </a:p>
        </p:txBody>
      </p:sp>
      <p:sp>
        <p:nvSpPr>
          <p:cNvPr id="16" name="worksheet-4">
            <a:extLst xmlns:a="http://schemas.openxmlformats.org/drawingml/2006/main">
              <a:ext uri="{FF2B5EF4-FFF2-40B4-BE49-F238E27FC236}">
                <a16:creationId xmlns:a16="http://schemas.microsoft.com/office/drawing/2014/main" id="{134386C0-5A51-49A5-971E-97DCD12CB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305050"/>
            <a:ext cx="1752600" cy="18859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17" name="worksheet-head-4">
            <a:extLst xmlns:a="http://schemas.openxmlformats.org/drawingml/2006/main">
              <a:ext uri="{FF2B5EF4-FFF2-40B4-BE49-F238E27FC236}">
                <a16:creationId xmlns:a16="http://schemas.microsoft.com/office/drawing/2014/main" id="{0BF6F67D-D5F8-4034-91C4-DB49B7059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552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18" name="worksheet-sub-4">
            <a:extLst xmlns:a="http://schemas.openxmlformats.org/drawingml/2006/main">
              <a:ext uri="{FF2B5EF4-FFF2-40B4-BE49-F238E27FC236}">
                <a16:creationId xmlns:a16="http://schemas.microsoft.com/office/drawing/2014/main" id="{1A2D959B-EA93-4D50-965C-80A9A6B50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1432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來源與停止條件</a:t>
            </a:r>
          </a:p>
        </p:txBody>
      </p:sp>
      <p:sp>
        <p:nvSpPr>
          <p:cNvPr id="19" name="deliverable">
            <a:extLst xmlns:a="http://schemas.openxmlformats.org/drawingml/2006/main">
              <a:ext uri="{FF2B5EF4-FFF2-40B4-BE49-F238E27FC236}">
                <a16:creationId xmlns:a16="http://schemas.microsoft.com/office/drawing/2014/main" id="{FF9EE5EB-1638-4C8D-B1A6-13DA912E5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895850"/>
            <a:ext cx="82677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20" name="deliverable-text">
            <a:extLst xmlns:a="http://schemas.openxmlformats.org/drawingml/2006/main">
              <a:ext uri="{FF2B5EF4-FFF2-40B4-BE49-F238E27FC236}">
                <a16:creationId xmlns:a16="http://schemas.microsoft.com/office/drawing/2014/main" id="{6B50644E-34A1-4531-A690-18F048FF2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067300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Deliverable: 一張 workflow 草圖 + 3 個 failure modes + 2 個 human review gates</a:t>
            </a:r>
          </a:p>
        </p:txBody>
      </p:sp>
    </p:spTree>
    <p:extLst>
      <p:ext uri="{BB962C8B-B14F-4D97-AF65-F5344CB8AC3E}">
        <p14:creationId xmlns:p14="http://schemas.microsoft.com/office/powerpoint/2010/main" val="7962431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1720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ransition-title">
            <a:extLst xmlns:a="http://schemas.openxmlformats.org/drawingml/2006/main">
              <a:ext uri="{FF2B5EF4-FFF2-40B4-BE49-F238E27FC236}">
                <a16:creationId xmlns:a16="http://schemas.microsoft.com/office/drawing/2014/main" id="{8DAF6668-A2B7-4032-B4F9-F38645A47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143000"/>
            <a:ext cx="5334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Next: LLM basics</a:t>
            </a:r>
          </a:p>
        </p:txBody>
      </p:sp>
      <p:sp>
        <p:nvSpPr>
          <p:cNvPr id="2" name="transition-subtitle">
            <a:extLst xmlns:a="http://schemas.openxmlformats.org/drawingml/2006/main">
              <a:ext uri="{FF2B5EF4-FFF2-40B4-BE49-F238E27FC236}">
                <a16:creationId xmlns:a16="http://schemas.microsoft.com/office/drawing/2014/main" id="{59DC76A4-9361-43E6-A50D-6B727B717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00250"/>
            <a:ext cx="685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0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了解 model，才能設計好的 agent workflow</a:t>
            </a:r>
          </a:p>
        </p:txBody>
      </p:sp>
      <p:sp>
        <p:nvSpPr>
          <p:cNvPr id="3" name="model">
            <a:extLst xmlns:a="http://schemas.openxmlformats.org/drawingml/2006/main">
              <a:ext uri="{FF2B5EF4-FFF2-40B4-BE49-F238E27FC236}">
                <a16:creationId xmlns:a16="http://schemas.microsoft.com/office/drawing/2014/main" id="{3CD46884-F65D-48D6-B2BC-24501B842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86000"/>
            <a:ext cx="16002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9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4" name="context">
            <a:extLst xmlns:a="http://schemas.openxmlformats.org/drawingml/2006/main">
              <a:ext uri="{FF2B5EF4-FFF2-40B4-BE49-F238E27FC236}">
                <a16:creationId xmlns:a16="http://schemas.microsoft.com/office/drawing/2014/main" id="{78A19E55-452B-4C97-8FD8-0AA60B918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38550"/>
            <a:ext cx="13906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6313A"/>
          </a:solidFill>
          <a:ln xmlns:a="http://schemas.openxmlformats.org/drawingml/2006/main" w="12859">
            <a:solidFill>
              <a:srgbClr val="8C98A1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5" name="tools">
            <a:extLst xmlns:a="http://schemas.openxmlformats.org/drawingml/2006/main">
              <a:ext uri="{FF2B5EF4-FFF2-40B4-BE49-F238E27FC236}">
                <a16:creationId xmlns:a16="http://schemas.microsoft.com/office/drawing/2014/main" id="{52B56EA3-9FE4-43C1-9316-E93E79EB4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638550"/>
            <a:ext cx="11811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6313A"/>
          </a:solidFill>
          <a:ln xmlns:a="http://schemas.openxmlformats.org/drawingml/2006/main" w="12859">
            <a:solidFill>
              <a:srgbClr val="8C98A1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6" name="verify">
            <a:extLst xmlns:a="http://schemas.openxmlformats.org/drawingml/2006/main">
              <a:ext uri="{FF2B5EF4-FFF2-40B4-BE49-F238E27FC236}">
                <a16:creationId xmlns:a16="http://schemas.microsoft.com/office/drawing/2014/main" id="{18E380AD-09C6-4369-8E26-4DB62B278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781550"/>
            <a:ext cx="12573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6313A"/>
          </a:solidFill>
          <a:ln xmlns:a="http://schemas.openxmlformats.org/drawingml/2006/main" w="12859">
            <a:solidFill>
              <a:srgbClr val="8C98A1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7" name="l1">
            <a:extLst xmlns:a="http://schemas.openxmlformats.org/drawingml/2006/main">
              <a:ext uri="{FF2B5EF4-FFF2-40B4-BE49-F238E27FC236}">
                <a16:creationId xmlns:a16="http://schemas.microsoft.com/office/drawing/2014/main" id="{C98B2DEC-1DF7-4338-ADE7-4034B4F1E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647950"/>
            <a:ext cx="400050" cy="1219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52616D"/>
            </a:solidFill>
            <a:prstDash val="solid"/>
          </a:ln>
        </p:spPr>
      </p:sp>
      <p:sp>
        <p:nvSpPr>
          <p:cNvPr id="8" name="l2">
            <a:extLst xmlns:a="http://schemas.openxmlformats.org/drawingml/2006/main">
              <a:ext uri="{FF2B5EF4-FFF2-40B4-BE49-F238E27FC236}">
                <a16:creationId xmlns:a16="http://schemas.microsoft.com/office/drawing/2014/main" id="{FD2C0C03-CCE8-46D4-AC94-ECE52C1B2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647950"/>
            <a:ext cx="323850" cy="1219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52616D"/>
            </a:solidFill>
            <a:prstDash val="solid"/>
          </a:ln>
        </p:spPr>
      </p:sp>
      <p:sp>
        <p:nvSpPr>
          <p:cNvPr id="9" name="l3">
            <a:extLst xmlns:a="http://schemas.openxmlformats.org/drawingml/2006/main">
              <a:ext uri="{FF2B5EF4-FFF2-40B4-BE49-F238E27FC236}">
                <a16:creationId xmlns:a16="http://schemas.microsoft.com/office/drawing/2014/main" id="{1D24FF7B-811A-4ECA-9D6F-C10102455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952750"/>
            <a:ext cx="5715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52616D"/>
            </a:solidFill>
            <a:prstDash val="solid"/>
          </a:ln>
        </p:spPr>
      </p:sp>
      <p:sp>
        <p:nvSpPr>
          <p:cNvPr id="10" name="wrap">
            <a:extLst xmlns:a="http://schemas.openxmlformats.org/drawingml/2006/main">
              <a:ext uri="{FF2B5EF4-FFF2-40B4-BE49-F238E27FC236}">
                <a16:creationId xmlns:a16="http://schemas.microsoft.com/office/drawing/2014/main" id="{8D332270-8446-4AC6-9E11-74EABB4F2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895850"/>
            <a:ext cx="4953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這堂建立 workflow 外框；下一堂打開 model 層，理解 token、context、hallucination 與 tool use。</a:t>
            </a:r>
          </a:p>
        </p:txBody>
      </p:sp>
      <p:sp>
        <p:nvSpPr>
          <p:cNvPr id="11" name="footer-dark">
            <a:extLst xmlns:a="http://schemas.openxmlformats.org/drawingml/2006/main">
              <a:ext uri="{FF2B5EF4-FFF2-40B4-BE49-F238E27FC236}">
                <a16:creationId xmlns:a16="http://schemas.microsoft.com/office/drawing/2014/main" id="{B46E7C1C-1DAC-497A-A616-D8DCBFE14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B7C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C7"/>
                </a:solidFill>
                <a:latin typeface="Aptos"/>
                <a:ea typeface="Aptos"/>
                <a:cs typeface="Aptos"/>
              </a:rPr>
              <a:t>AI agents, vibe coding, desktop utilities  |  20/20</a:t>
            </a:r>
          </a:p>
        </p:txBody>
      </p:sp>
    </p:spTree>
    <p:extLst>
      <p:ext uri="{BB962C8B-B14F-4D97-AF65-F5344CB8AC3E}">
        <p14:creationId xmlns:p14="http://schemas.microsoft.com/office/powerpoint/2010/main" val="32900250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2026-07-05T07:54:24.2930000Z</dcterms:created>
  <dcterms:modified xsi:type="dcterms:W3CDTF">2026-07-05T07:54:24.2930000Z</dcterms:modified>
</coreProperties>
</file>