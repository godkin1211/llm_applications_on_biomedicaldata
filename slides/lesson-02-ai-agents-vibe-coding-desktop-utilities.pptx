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b587b0c0ce4842" /><Relationship Type="http://schemas.openxmlformats.org/officeDocument/2006/relationships/extended-properties" Target="/docProps/app.xml" Id="R81716d4fb26b4085" /><Relationship Type="http://schemas.openxmlformats.org/officeDocument/2006/relationships/officeDocument" Target="/ppt/presentation.xml" Id="R5846874c014042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feef99b8b3495b"/>
  </p:sldMasterIdLst>
  <p:notesMasterIdLst>
    <p:notesMasterId xmlns:r="http://schemas.openxmlformats.org/officeDocument/2006/relationships" r:id="R6ea0fac1500c45cb"/>
  </p:notesMasterIdLst>
  <p:sldIdLst>
    <p:sldId xmlns:r="http://schemas.openxmlformats.org/officeDocument/2006/relationships" id="256" r:id="Rcf5a36c7146b4bef"/>
    <p:sldId xmlns:r="http://schemas.openxmlformats.org/officeDocument/2006/relationships" id="257" r:id="R8df1c6e2e9834372"/>
    <p:sldId xmlns:r="http://schemas.openxmlformats.org/officeDocument/2006/relationships" id="258" r:id="R70369e39f58f4608"/>
    <p:sldId xmlns:r="http://schemas.openxmlformats.org/officeDocument/2006/relationships" id="259" r:id="R0a1e9b36d3754a76"/>
    <p:sldId xmlns:r="http://schemas.openxmlformats.org/officeDocument/2006/relationships" id="260" r:id="R27dd8e4f3c3541f4"/>
    <p:sldId xmlns:r="http://schemas.openxmlformats.org/officeDocument/2006/relationships" id="261" r:id="R7a426cf366b648c6"/>
    <p:sldId xmlns:r="http://schemas.openxmlformats.org/officeDocument/2006/relationships" id="262" r:id="Re6946d27b0bf49a0"/>
    <p:sldId xmlns:r="http://schemas.openxmlformats.org/officeDocument/2006/relationships" id="263" r:id="R42f078fda1cb4772"/>
    <p:sldId xmlns:r="http://schemas.openxmlformats.org/officeDocument/2006/relationships" id="264" r:id="Rd2660a17b8544882"/>
    <p:sldId xmlns:r="http://schemas.openxmlformats.org/officeDocument/2006/relationships" id="265" r:id="R7af09d9bda2f4fac"/>
    <p:sldId xmlns:r="http://schemas.openxmlformats.org/officeDocument/2006/relationships" id="266" r:id="R5fdcffc82ca64d36"/>
    <p:sldId xmlns:r="http://schemas.openxmlformats.org/officeDocument/2006/relationships" id="267" r:id="R7c6b89b6205647ac"/>
    <p:sldId xmlns:r="http://schemas.openxmlformats.org/officeDocument/2006/relationships" id="268" r:id="R402a32bf7fc647bc"/>
    <p:sldId xmlns:r="http://schemas.openxmlformats.org/officeDocument/2006/relationships" id="269" r:id="R30ec2552250b4d14"/>
    <p:sldId xmlns:r="http://schemas.openxmlformats.org/officeDocument/2006/relationships" id="270" r:id="Rb59c017ed3b84830"/>
    <p:sldId xmlns:r="http://schemas.openxmlformats.org/officeDocument/2006/relationships" id="271" r:id="Rca5482a2abf541b8"/>
    <p:sldId xmlns:r="http://schemas.openxmlformats.org/officeDocument/2006/relationships" id="272" r:id="R6dfae8bba3ef49ee"/>
    <p:sldId xmlns:r="http://schemas.openxmlformats.org/officeDocument/2006/relationships" id="273" r:id="R3542f3a365fc44f0"/>
    <p:sldId xmlns:r="http://schemas.openxmlformats.org/officeDocument/2006/relationships" id="274" r:id="Rd4a5d3b85afc43c5"/>
    <p:sldId xmlns:r="http://schemas.openxmlformats.org/officeDocument/2006/relationships" id="275" r:id="R1321dc4d19964c9d"/>
    <p:sldId xmlns:r="http://schemas.openxmlformats.org/officeDocument/2006/relationships" id="276" r:id="Raeeb122a51de4b67"/>
    <p:sldId xmlns:r="http://schemas.openxmlformats.org/officeDocument/2006/relationships" id="277" r:id="Rbf60811c1a7a4ae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0c7c8126724766" /><Relationship Type="http://schemas.openxmlformats.org/officeDocument/2006/relationships/slideMaster" Target="/ppt/slideMasters/slideMaster1.xml" Id="Rd1feef99b8b3495b" /><Relationship Type="http://schemas.openxmlformats.org/officeDocument/2006/relationships/notesMaster" Target="/ppt/notesMasters/notesMaster1.xml" Id="R6ea0fac1500c45cb" /><Relationship Type="http://schemas.openxmlformats.org/officeDocument/2006/relationships/presProps" Target="/ppt/presProps.xml" Id="Rff744a63d37b40db" /><Relationship Type="http://schemas.openxmlformats.org/officeDocument/2006/relationships/tableStyles" Target="/ppt/tableStyles.xml" Id="R9509bfe0210e4895" /><Relationship Type="http://schemas.openxmlformats.org/officeDocument/2006/relationships/slide" Target="/ppt/slides/slide1.xml" Id="Rcf5a36c7146b4bef" /><Relationship Type="http://schemas.openxmlformats.org/officeDocument/2006/relationships/slide" Target="/ppt/slides/slide2.xml" Id="R8df1c6e2e9834372" /><Relationship Type="http://schemas.openxmlformats.org/officeDocument/2006/relationships/slide" Target="/ppt/slides/slide3.xml" Id="R70369e39f58f4608" /><Relationship Type="http://schemas.openxmlformats.org/officeDocument/2006/relationships/slide" Target="/ppt/slides/slide4.xml" Id="R0a1e9b36d3754a76" /><Relationship Type="http://schemas.openxmlformats.org/officeDocument/2006/relationships/slide" Target="/ppt/slides/slide5.xml" Id="R27dd8e4f3c3541f4" /><Relationship Type="http://schemas.openxmlformats.org/officeDocument/2006/relationships/slide" Target="/ppt/slides/slide6.xml" Id="R7a426cf366b648c6" /><Relationship Type="http://schemas.openxmlformats.org/officeDocument/2006/relationships/slide" Target="/ppt/slides/slide7.xml" Id="Re6946d27b0bf49a0" /><Relationship Type="http://schemas.openxmlformats.org/officeDocument/2006/relationships/slide" Target="/ppt/slides/slide8.xml" Id="R42f078fda1cb4772" /><Relationship Type="http://schemas.openxmlformats.org/officeDocument/2006/relationships/slide" Target="/ppt/slides/slide9.xml" Id="Rd2660a17b8544882" /><Relationship Type="http://schemas.openxmlformats.org/officeDocument/2006/relationships/slide" Target="/ppt/slides/slide10.xml" Id="R7af09d9bda2f4fac" /><Relationship Type="http://schemas.openxmlformats.org/officeDocument/2006/relationships/slide" Target="/ppt/slides/slide11.xml" Id="R5fdcffc82ca64d36" /><Relationship Type="http://schemas.openxmlformats.org/officeDocument/2006/relationships/slide" Target="/ppt/slides/slide12.xml" Id="R7c6b89b6205647ac" /><Relationship Type="http://schemas.openxmlformats.org/officeDocument/2006/relationships/slide" Target="/ppt/slides/slide13.xml" Id="R402a32bf7fc647bc" /><Relationship Type="http://schemas.openxmlformats.org/officeDocument/2006/relationships/slide" Target="/ppt/slides/slide14.xml" Id="R30ec2552250b4d14" /><Relationship Type="http://schemas.openxmlformats.org/officeDocument/2006/relationships/slide" Target="/ppt/slides/slide15.xml" Id="Rb59c017ed3b84830" /><Relationship Type="http://schemas.openxmlformats.org/officeDocument/2006/relationships/slide" Target="/ppt/slides/slide16.xml" Id="Rca5482a2abf541b8" /><Relationship Type="http://schemas.openxmlformats.org/officeDocument/2006/relationships/slide" Target="/ppt/slides/slide17.xml" Id="R6dfae8bba3ef49ee" /><Relationship Type="http://schemas.openxmlformats.org/officeDocument/2006/relationships/slide" Target="/ppt/slides/slide18.xml" Id="R3542f3a365fc44f0" /><Relationship Type="http://schemas.openxmlformats.org/officeDocument/2006/relationships/slide" Target="/ppt/slides/slide19.xml" Id="Rd4a5d3b85afc43c5" /><Relationship Type="http://schemas.openxmlformats.org/officeDocument/2006/relationships/slide" Target="/ppt/slides/slide20.xml" Id="R1321dc4d19964c9d" /><Relationship Type="http://schemas.openxmlformats.org/officeDocument/2006/relationships/slide" Target="/ppt/slides/slide21.xml" Id="Raeeb122a51de4b67" /><Relationship Type="http://schemas.openxmlformats.org/officeDocument/2006/relationships/slide" Target="/ppt/slides/slide22.xml" Id="Rbf60811c1a7a4a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2245298fc147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62c7f0bc4249a9" /><Relationship Type="http://schemas.openxmlformats.org/officeDocument/2006/relationships/notesMaster" Target="/ppt/notesMasters/notesMaster1.xml" Id="R21caf2ca797049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83a638a0c2d41b5" /><Relationship Type="http://schemas.openxmlformats.org/officeDocument/2006/relationships/notesMaster" Target="/ppt/notesMasters/notesMaster1.xml" Id="R9d994dea53b544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2cbeeb42fa4952" /><Relationship Type="http://schemas.openxmlformats.org/officeDocument/2006/relationships/notesMaster" Target="/ppt/notesMasters/notesMaster1.xml" Id="R40d1e8eb8e5f4b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a466fd7bfd4524" /><Relationship Type="http://schemas.openxmlformats.org/officeDocument/2006/relationships/notesMaster" Target="/ppt/notesMasters/notesMaster1.xml" Id="R7322da7f9a4c4cc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69329d7bba4142" /><Relationship Type="http://schemas.openxmlformats.org/officeDocument/2006/relationships/notesMaster" Target="/ppt/notesMasters/notesMaster1.xml" Id="Rbcb238e1989d4b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38d9cffd6946b7" /><Relationship Type="http://schemas.openxmlformats.org/officeDocument/2006/relationships/notesMaster" Target="/ppt/notesMasters/notesMaster1.xml" Id="R002369a0457f43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ee725bd27e4aca" /><Relationship Type="http://schemas.openxmlformats.org/officeDocument/2006/relationships/notesMaster" Target="/ppt/notesMasters/notesMaster1.xml" Id="Ra2623ff51d6042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6ae9c975b9401f" /><Relationship Type="http://schemas.openxmlformats.org/officeDocument/2006/relationships/notesMaster" Target="/ppt/notesMasters/notesMaster1.xml" Id="R6f089199e79346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851cf00c87401c" /><Relationship Type="http://schemas.openxmlformats.org/officeDocument/2006/relationships/notesMaster" Target="/ppt/notesMasters/notesMaster1.xml" Id="Rf196c10dff8648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1632e5ba244f4f" /><Relationship Type="http://schemas.openxmlformats.org/officeDocument/2006/relationships/notesMaster" Target="/ppt/notesMasters/notesMaster1.xml" Id="Rf850e6bfe4a143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7744399b97647fd" /><Relationship Type="http://schemas.openxmlformats.org/officeDocument/2006/relationships/notesMaster" Target="/ppt/notesMasters/notesMaster1.xml" Id="R8c2e685db85b426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389f8df9c62442d" /><Relationship Type="http://schemas.openxmlformats.org/officeDocument/2006/relationships/notesMaster" Target="/ppt/notesMasters/notesMaster1.xml" Id="R82801a735fd14a9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d9418e3c7c34703" /><Relationship Type="http://schemas.openxmlformats.org/officeDocument/2006/relationships/notesMaster" Target="/ppt/notesMasters/notesMaster1.xml" Id="R09efad0c38ae42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60721d5e8bc4bcd" /><Relationship Type="http://schemas.openxmlformats.org/officeDocument/2006/relationships/notesMaster" Target="/ppt/notesMasters/notesMaster1.xml" Id="R4abc3385db80402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bf594eeff354b3d" /><Relationship Type="http://schemas.openxmlformats.org/officeDocument/2006/relationships/notesMaster" Target="/ppt/notesMasters/notesMaster1.xml" Id="Rcc0c8c706f74468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d7aeec6cfe84d54" /><Relationship Type="http://schemas.openxmlformats.org/officeDocument/2006/relationships/notesMaster" Target="/ppt/notesMasters/notesMaster1.xml" Id="Rf0dc6c3953e74c5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c559b1761d446b8" /><Relationship Type="http://schemas.openxmlformats.org/officeDocument/2006/relationships/notesMaster" Target="/ppt/notesMasters/notesMaster1.xml" Id="R0a80e278bfbd48e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021883e085948b3" /><Relationship Type="http://schemas.openxmlformats.org/officeDocument/2006/relationships/notesMaster" Target="/ppt/notesMasters/notesMaster1.xml" Id="R60ec0229ae6c438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b6478d65aab4cb9" /><Relationship Type="http://schemas.openxmlformats.org/officeDocument/2006/relationships/notesMaster" Target="/ppt/notesMasters/notesMaster1.xml" Id="R50189774543b424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ed5a83186174b04" /><Relationship Type="http://schemas.openxmlformats.org/officeDocument/2006/relationships/notesMaster" Target="/ppt/notesMasters/notesMaster1.xml" Id="R4b1a827ce72c471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b93653a43e342e5" /><Relationship Type="http://schemas.openxmlformats.org/officeDocument/2006/relationships/notesMaster" Target="/ppt/notesMasters/notesMaster1.xml" Id="R47a3b13f4c144dc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7e60ab931c54c01" /><Relationship Type="http://schemas.openxmlformats.org/officeDocument/2006/relationships/notesMaster" Target="/ppt/notesMasters/notesMaster1.xml" Id="Rd9441528fd4f47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新版 Lesson 02 的重心是判斷與拆解。學生要知道 agent 不是比較會聊天的模型，而是能和工具、檔案、資料來源、驗證規則一起工作的研究流程。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這張吸收原 Lesson 01 的技術定位，但避開行政課程介紹。負責老師開場後，這張把學生拉到本課的核心：工具只是入口，workflow 才是學習目標。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這張承接原 Lesson 01 的最終產出。讓學生一開始知道，這堂課不是孤立概念，而是在建立後續 spec、harness、loop、hackathon 的共同語言。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補回課綱原本要談的工具使用場景比較，並加入 Gemini 與 Antigravity。不要把工具講成排名，而是讓學生能依任務選入口：搜尋、長文整理、長 context multimodal、repo 修改、IDE 即時輔助或 agentic IDE。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把工具比較接回 agent workflow。每種工具都要對應到 artifact 與檢查點，否則學生只會知道工具名稱，不會知道如何安全使用。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EGFR、ALK、TP53 的 evidence table 做貫穿案例。這個任務有文獻、資料庫、表格、citation 和 review，足以展示 agent workflow，但範圍仍可控制。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學生常把 agent 想成一個產品名稱。這張把它拆成成熟度光譜，讓學生知道我們要學的是可檢查的 tool-using 與 workflow agent。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把原本 chatbot vs agent 的概念再拉到 artifact。研究工作不是要得到一段話，而是要得到可檢查、可重跑、可交接的產物。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這張保留原本元件圖，但更強調元件與邊界。模型只是其中一個節點，workflow 品質還取決於 context、tools、state 與 verification。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這張是本堂課的核心。Agent workflow 要能在工具輸出後觀察與驗證，必要時更新 state 或停止，而不是一直生成。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這張是新版的重要補強。學生要理解 agent workflow 的可追溯性來自 artifact，而不是來自模型宣稱自己做了什麼。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這是學生最需要的判斷框架。不要從工具出發，而是先看任務是否有清楚輸入、固定輸出、外部來源與可發現的錯誤。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生醫安全要變成規則。這些輸出可以由 agent 協助整理背景資料，但不能讓 agent 做 final call。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 vibe coding，但補上責任邊界。快速不是讓模型負責，而是讓人更快得到可檢查原型。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這張是操作型 slide。學生可以照這個 loop 使用 coding agent 或 desktop agent：先讀真實檔案、先規劃、小範圍改、跑檢查、看 diff。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保留原本風險矩陣。這張讓學生把 vibe coding 放在任務風險和模糊度之中，而不是把它當成萬用工作法。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這張把 desktop utilities 的抽象能力映射到 biomedical 工作內容。重點是工具鏈，而不是產品清單。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tool use 講成 lifecycle。重要的是每次工具呼叫都要有 input、output、validation 與 log，否則 agent 做過什麼很難被審查。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這張是新版重點之一。Lesson 03 會談 hallucination，這裡先談 workflow-level failure。學生要學會預先把失敗模式寫進規格和檢查。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mini exercise 改成三案例判斷。這會讓學生主動使用 suitability、red lines、verification 和 artifacts 的框架。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這是課堂輸出。學生不是只回答問題，而是交出一張 agent-ready workflow worksheet，讓下一堂 LLM basics 和後面的 hands-on lab 可以接上。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自然收束到 Lesson 03。這堂已經建立 agent workflow 判斷框架，下一堂再看 model 層為什麼有效、為什麼會錯。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0094ece838488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787069b0964b17" /><Relationship Type="http://schemas.openxmlformats.org/officeDocument/2006/relationships/slideLayout" Target="/ppt/slideLayouts/slideLayout1.xml" Id="R42783488126f44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783488126f44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6f4f5bc21480c" /><Relationship Type="http://schemas.openxmlformats.org/officeDocument/2006/relationships/notesSlide" Target="/ppt/notesSlides/notesSlide1.xml" Id="R992d97b6eb78405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701db1aab401e" /><Relationship Type="http://schemas.openxmlformats.org/officeDocument/2006/relationships/notesSlide" Target="/ppt/notesSlides/notesSlide2.xml" Id="Rf638d6dc984741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1f976dfe54d32" /><Relationship Type="http://schemas.openxmlformats.org/officeDocument/2006/relationships/notesSlide" Target="/ppt/notesSlides/notesSlide3.xml" Id="R5fa64c57adcc4f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c0b3dfc54459b" /><Relationship Type="http://schemas.openxmlformats.org/officeDocument/2006/relationships/notesSlide" Target="/ppt/notesSlides/notesSlide4.xml" Id="R0fbe2439d1c04dd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2263aa27744a2" /><Relationship Type="http://schemas.openxmlformats.org/officeDocument/2006/relationships/notesSlide" Target="/ppt/notesSlides/notesSlide5.xml" Id="R1ddc6667795a4f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3604c73674bb5" /><Relationship Type="http://schemas.openxmlformats.org/officeDocument/2006/relationships/notesSlide" Target="/ppt/notesSlides/notesSlide6.xml" Id="Rfb11530a845f4a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4d29d8c524dcc" /><Relationship Type="http://schemas.openxmlformats.org/officeDocument/2006/relationships/notesSlide" Target="/ppt/notesSlides/notesSlide7.xml" Id="Rce9e1338a55946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229b3f7584568" /><Relationship Type="http://schemas.openxmlformats.org/officeDocument/2006/relationships/notesSlide" Target="/ppt/notesSlides/notesSlide8.xml" Id="Rda60dd737d424e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aa44ea6cb4584" /><Relationship Type="http://schemas.openxmlformats.org/officeDocument/2006/relationships/notesSlide" Target="/ppt/notesSlides/notesSlide9.xml" Id="Rc8ab8ad3aa394b3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42804023041cf" /><Relationship Type="http://schemas.openxmlformats.org/officeDocument/2006/relationships/notesSlide" Target="/ppt/notesSlides/notesSlide10.xml" Id="R8c11c4ed6f884c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ad5c1078c547c5" /><Relationship Type="http://schemas.openxmlformats.org/officeDocument/2006/relationships/notesSlide" Target="/ppt/notesSlides/notesSlide11.xml" Id="Rd81b95e58ef044e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3177ffbb3e4ac4" /><Relationship Type="http://schemas.openxmlformats.org/officeDocument/2006/relationships/notesSlide" Target="/ppt/notesSlides/notesSlide12.xml" Id="R6a326373ab4c4ab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2cb5ff2304af1" /><Relationship Type="http://schemas.openxmlformats.org/officeDocument/2006/relationships/notesSlide" Target="/ppt/notesSlides/notesSlide13.xml" Id="Rf8c01c210870462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b3654f38ef4239" /><Relationship Type="http://schemas.openxmlformats.org/officeDocument/2006/relationships/notesSlide" Target="/ppt/notesSlides/notesSlide14.xml" Id="Rcd0b1b6e1e5c440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560ae68ae4d2d" /><Relationship Type="http://schemas.openxmlformats.org/officeDocument/2006/relationships/notesSlide" Target="/ppt/notesSlides/notesSlide15.xml" Id="R41e74db0438049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2d3a6ba8545a0" /><Relationship Type="http://schemas.openxmlformats.org/officeDocument/2006/relationships/notesSlide" Target="/ppt/notesSlides/notesSlide16.xml" Id="Rc2114d12e16b404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36bf068774f8e" /><Relationship Type="http://schemas.openxmlformats.org/officeDocument/2006/relationships/notesSlide" Target="/ppt/notesSlides/notesSlide17.xml" Id="Rd0d062d40d8e442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6b21103194f37" /><Relationship Type="http://schemas.openxmlformats.org/officeDocument/2006/relationships/notesSlide" Target="/ppt/notesSlides/notesSlide18.xml" Id="R1e57b526ecdd4e5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3f0a068504a7d" /><Relationship Type="http://schemas.openxmlformats.org/officeDocument/2006/relationships/notesSlide" Target="/ppt/notesSlides/notesSlide19.xml" Id="R5d8274c213e8494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881649b7db4a2a" /><Relationship Type="http://schemas.openxmlformats.org/officeDocument/2006/relationships/notesSlide" Target="/ppt/notesSlides/notesSlide20.xml" Id="R5f0e26aaed0a48c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f1fc44ce64435f" /><Relationship Type="http://schemas.openxmlformats.org/officeDocument/2006/relationships/notesSlide" Target="/ppt/notesSlides/notesSlide21.xml" Id="R40b37975a01d4c6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5bbde1db14d7b" /><Relationship Type="http://schemas.openxmlformats.org/officeDocument/2006/relationships/notesSlide" Target="/ppt/notesSlides/notesSlide22.xml" Id="R090421a4232347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AF0A94B0-72C6-4C90-9A1E-23EA2E35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59A3137D-2E1C-4981-98B3-81E57682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6477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agent 是可檢查的研究工作流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657DD617-E3BA-43E2-B102-A7A9B1DD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647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從聊天，進到能讀檔、查資料、跑工具、留下證據的流程</a:t>
            </a:r>
          </a:p>
        </p:txBody>
      </p:sp>
      <p:sp>
        <p:nvSpPr>
          <p:cNvPr id="4" name="questions">
            <a:extLst xmlns:a="http://schemas.openxmlformats.org/drawingml/2006/main">
              <a:ext uri="{FF2B5EF4-FFF2-40B4-BE49-F238E27FC236}">
                <a16:creationId xmlns:a16="http://schemas.microsoft.com/office/drawing/2014/main" id="{97D0F77A-DFF9-471D-A73D-CA0C8DF0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什麼任務適合交給 agent？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要怎麼用才不失控？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如何接進 biomedical workflow？</a:t>
            </a:r>
          </a:p>
        </p:txBody>
      </p:sp>
      <p:sp>
        <p:nvSpPr>
          <p:cNvPr id="5" name="flow-line-1">
            <a:extLst xmlns:a="http://schemas.openxmlformats.org/drawingml/2006/main">
              <a:ext uri="{FF2B5EF4-FFF2-40B4-BE49-F238E27FC236}">
                <a16:creationId xmlns:a16="http://schemas.microsoft.com/office/drawing/2014/main" id="{99EBC20C-A9E2-4BD5-A022-8C357F18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8125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flow-line-2">
            <a:extLst xmlns:a="http://schemas.openxmlformats.org/drawingml/2006/main">
              <a:ext uri="{FF2B5EF4-FFF2-40B4-BE49-F238E27FC236}">
                <a16:creationId xmlns:a16="http://schemas.microsoft.com/office/drawing/2014/main" id="{AB1FE1DB-5B03-4678-B5D6-1A5D8088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381250"/>
            <a:ext cx="0" cy="1771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flow-line-3">
            <a:extLst xmlns:a="http://schemas.openxmlformats.org/drawingml/2006/main">
              <a:ext uri="{FF2B5EF4-FFF2-40B4-BE49-F238E27FC236}">
                <a16:creationId xmlns:a16="http://schemas.microsoft.com/office/drawing/2014/main" id="{5FE3896D-A749-47AD-B330-B2C9E6C4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ask">
            <a:extLst xmlns:a="http://schemas.openxmlformats.org/drawingml/2006/main">
              <a:ext uri="{FF2B5EF4-FFF2-40B4-BE49-F238E27FC236}">
                <a16:creationId xmlns:a16="http://schemas.microsoft.com/office/drawing/2014/main" id="{888D7A40-E646-4ADA-8DF7-A919F060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9" name="plan">
            <a:extLst xmlns:a="http://schemas.openxmlformats.org/drawingml/2006/main">
              <a:ext uri="{FF2B5EF4-FFF2-40B4-BE49-F238E27FC236}">
                <a16:creationId xmlns:a16="http://schemas.microsoft.com/office/drawing/2014/main" id="{1E24A8A7-963C-48B1-A17D-9E9042C6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A0EECB1E-E33D-45CD-8FFD-63461235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14550"/>
            <a:ext cx="9906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1" name="verify">
            <a:extLst xmlns:a="http://schemas.openxmlformats.org/drawingml/2006/main">
              <a:ext uri="{FF2B5EF4-FFF2-40B4-BE49-F238E27FC236}">
                <a16:creationId xmlns:a16="http://schemas.microsoft.com/office/drawing/2014/main" id="{237C0D67-9F90-4937-9FF3-E1FC241A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deliver">
            <a:extLst xmlns:a="http://schemas.openxmlformats.org/drawingml/2006/main">
              <a:ext uri="{FF2B5EF4-FFF2-40B4-BE49-F238E27FC236}">
                <a16:creationId xmlns:a16="http://schemas.microsoft.com/office/drawing/2014/main" id="{CB826884-C55D-469B-A54B-F82CA31E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3" name="right-note">
            <a:extLst xmlns:a="http://schemas.openxmlformats.org/drawingml/2006/main">
              <a:ext uri="{FF2B5EF4-FFF2-40B4-BE49-F238E27FC236}">
                <a16:creationId xmlns:a16="http://schemas.microsoft.com/office/drawing/2014/main" id="{D08A443B-0CE8-4286-95D8-F61B818D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863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goal + tools + state + checks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22626DAF-2D5B-405C-A2F5-0A9670C8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1/22</a:t>
            </a:r>
          </a:p>
        </p:txBody>
      </p:sp>
    </p:spTree>
    <p:extLst>
      <p:ext uri="{BB962C8B-B14F-4D97-AF65-F5344CB8AC3E}">
        <p14:creationId xmlns:p14="http://schemas.microsoft.com/office/powerpoint/2010/main" val="12430564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6ABF9E3-5414-42CB-86BC-37259925B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THIS LESSON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4BE0F87-87BA-4C94-8FC9-A2F8B0A6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這門課要訓練的是 workflow 判斷，不是工具背誦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92494F4-02C0-4478-B363-627FF8E7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2/22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954AB041-FC33-44CD-9960-DA966CD6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526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工具真正有用的地方，是把研究任務拆成可執行、可檢查、可交接的步驟。</a:t>
            </a:r>
          </a:p>
        </p:txBody>
      </p:sp>
      <p:sp>
        <p:nvSpPr>
          <p:cNvPr id="5" name="surface-0">
            <a:extLst xmlns:a="http://schemas.openxmlformats.org/drawingml/2006/main">
              <a:ext uri="{FF2B5EF4-FFF2-40B4-BE49-F238E27FC236}">
                <a16:creationId xmlns:a16="http://schemas.microsoft.com/office/drawing/2014/main" id="{845E0E25-0E8D-4DA9-A9EA-34B2152B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head-0">
            <a:extLst xmlns:a="http://schemas.openxmlformats.org/drawingml/2006/main">
              <a:ext uri="{FF2B5EF4-FFF2-40B4-BE49-F238E27FC236}">
                <a16:creationId xmlns:a16="http://schemas.microsoft.com/office/drawing/2014/main" id="{40FD8E83-28B7-4A34-BE1F-4ED86342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不是</a:t>
            </a:r>
          </a:p>
        </p:txBody>
      </p:sp>
      <p:sp>
        <p:nvSpPr>
          <p:cNvPr id="7" name="list-0">
            <a:extLst xmlns:a="http://schemas.openxmlformats.org/drawingml/2006/main">
              <a:ext uri="{FF2B5EF4-FFF2-40B4-BE49-F238E27FC236}">
                <a16:creationId xmlns:a16="http://schemas.microsoft.com/office/drawing/2014/main" id="{EDFDE559-BC3C-4398-8FB9-6A44004F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工具清單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技巧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看起來完整的答案</a:t>
            </a:r>
          </a:p>
        </p:txBody>
      </p:sp>
      <p:sp>
        <p:nvSpPr>
          <p:cNvPr id="8" name="surface-1">
            <a:extLst xmlns:a="http://schemas.openxmlformats.org/drawingml/2006/main">
              <a:ext uri="{FF2B5EF4-FFF2-40B4-BE49-F238E27FC236}">
                <a16:creationId xmlns:a16="http://schemas.microsoft.com/office/drawing/2014/main" id="{E0F99712-465C-42E9-924C-2CD88495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86050"/>
            <a:ext cx="40005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head-1">
            <a:extLst xmlns:a="http://schemas.openxmlformats.org/drawingml/2006/main">
              <a:ext uri="{FF2B5EF4-FFF2-40B4-BE49-F238E27FC236}">
                <a16:creationId xmlns:a16="http://schemas.microsoft.com/office/drawing/2014/main" id="{3CDEDBB9-4491-4F77-9B56-9C333897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28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而是</a:t>
            </a:r>
          </a:p>
        </p:txBody>
      </p:sp>
      <p:sp>
        <p:nvSpPr>
          <p:cNvPr id="10" name="list-1">
            <a:extLst xmlns:a="http://schemas.openxmlformats.org/drawingml/2006/main">
              <a:ext uri="{FF2B5EF4-FFF2-40B4-BE49-F238E27FC236}">
                <a16:creationId xmlns:a16="http://schemas.microsoft.com/office/drawing/2014/main" id="{B683BBF1-EFDE-4090-B4A0-EEE1D2EB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76650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任務規格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證據與檢查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能重跑的流程</a:t>
            </a:r>
          </a:p>
        </p:txBody>
      </p:sp>
      <p:sp>
        <p:nvSpPr>
          <p:cNvPr id="11" name="bottom">
            <a:extLst xmlns:a="http://schemas.openxmlformats.org/drawingml/2006/main">
              <a:ext uri="{FF2B5EF4-FFF2-40B4-BE49-F238E27FC236}">
                <a16:creationId xmlns:a16="http://schemas.microsoft.com/office/drawing/2014/main" id="{603CC3BD-4C37-43B3-9C52-8764ED12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今天會把 agent 放回 biomedical research 的資料、工具、證據與風險裡。</a:t>
            </a:r>
          </a:p>
        </p:txBody>
      </p:sp>
    </p:spTree>
    <p:extLst>
      <p:ext uri="{BB962C8B-B14F-4D97-AF65-F5344CB8AC3E}">
        <p14:creationId xmlns:p14="http://schemas.microsoft.com/office/powerpoint/2010/main" val="17021213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80990F9-B04B-4208-9945-115E1F73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COURSE OUTCOME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7227013-5A42-4782-8E6C-B407CE111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最後要留下的是可審核的 biomedical agent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BE971BB-C544-4325-9C5E-787A89EA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3/22</a:t>
            </a:r>
          </a:p>
        </p:txBody>
      </p:sp>
      <p:sp>
        <p:nvSpPr>
          <p:cNvPr id="4" name="stack-0">
            <a:extLst xmlns:a="http://schemas.openxmlformats.org/drawingml/2006/main">
              <a:ext uri="{FF2B5EF4-FFF2-40B4-BE49-F238E27FC236}">
                <a16:creationId xmlns:a16="http://schemas.microsoft.com/office/drawing/2014/main" id="{1CDA1569-4BC3-4D3D-916F-A3F87509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7145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5" name="stack-name-0">
            <a:extLst xmlns:a="http://schemas.openxmlformats.org/drawingml/2006/main">
              <a:ext uri="{FF2B5EF4-FFF2-40B4-BE49-F238E27FC236}">
                <a16:creationId xmlns:a16="http://schemas.microsoft.com/office/drawing/2014/main" id="{59E4F5F6-94D9-4381-983A-C8739B13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1847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6" name="stack-copy-0">
            <a:extLst xmlns:a="http://schemas.openxmlformats.org/drawingml/2006/main">
              <a:ext uri="{FF2B5EF4-FFF2-40B4-BE49-F238E27FC236}">
                <a16:creationId xmlns:a16="http://schemas.microsoft.com/office/drawing/2014/main" id="{2BA50940-74A1-4FA9-BC68-BA13E32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383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任務、輸入、輸出、限制</a:t>
            </a:r>
          </a:p>
        </p:txBody>
      </p:sp>
      <p:sp>
        <p:nvSpPr>
          <p:cNvPr id="7" name="stack-line-0">
            <a:extLst xmlns:a="http://schemas.openxmlformats.org/drawingml/2006/main">
              <a:ext uri="{FF2B5EF4-FFF2-40B4-BE49-F238E27FC236}">
                <a16:creationId xmlns:a16="http://schemas.microsoft.com/office/drawing/2014/main" id="{4D8B5051-5FC4-4833-94A8-E46F35F6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9716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stack-1">
            <a:extLst xmlns:a="http://schemas.openxmlformats.org/drawingml/2006/main">
              <a:ext uri="{FF2B5EF4-FFF2-40B4-BE49-F238E27FC236}">
                <a16:creationId xmlns:a16="http://schemas.microsoft.com/office/drawing/2014/main" id="{54AC0C61-1A61-47A8-B4A5-5F214B1B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193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stack-name-1">
            <a:extLst xmlns:a="http://schemas.openxmlformats.org/drawingml/2006/main">
              <a:ext uri="{FF2B5EF4-FFF2-40B4-BE49-F238E27FC236}">
                <a16:creationId xmlns:a16="http://schemas.microsoft.com/office/drawing/2014/main" id="{681DC29D-BAAF-4DCD-BB82-66AC8F44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5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evidence_table</a:t>
            </a:r>
          </a:p>
        </p:txBody>
      </p:sp>
      <p:sp>
        <p:nvSpPr>
          <p:cNvPr id="10" name="stack-copy-1">
            <a:extLst xmlns:a="http://schemas.openxmlformats.org/drawingml/2006/main">
              <a:ext uri="{FF2B5EF4-FFF2-40B4-BE49-F238E27FC236}">
                <a16:creationId xmlns:a16="http://schemas.microsoft.com/office/drawing/2014/main" id="{742B8E6E-79CA-4ECA-A426-5E150D60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5431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1" name="stack-line-1">
            <a:extLst xmlns:a="http://schemas.openxmlformats.org/drawingml/2006/main">
              <a:ext uri="{FF2B5EF4-FFF2-40B4-BE49-F238E27FC236}">
                <a16:creationId xmlns:a16="http://schemas.microsoft.com/office/drawing/2014/main" id="{AE5CB788-1F5E-4308-B9F5-836D9752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6765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2" name="stack-2">
            <a:extLst xmlns:a="http://schemas.openxmlformats.org/drawingml/2006/main">
              <a:ext uri="{FF2B5EF4-FFF2-40B4-BE49-F238E27FC236}">
                <a16:creationId xmlns:a16="http://schemas.microsoft.com/office/drawing/2014/main" id="{F7125309-416A-4BD1-B8BF-58B95F6B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242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</p:sp>
      <p:sp>
        <p:nvSpPr>
          <p:cNvPr id="13" name="stack-name-2">
            <a:extLst xmlns:a="http://schemas.openxmlformats.org/drawingml/2006/main">
              <a:ext uri="{FF2B5EF4-FFF2-40B4-BE49-F238E27FC236}">
                <a16:creationId xmlns:a16="http://schemas.microsoft.com/office/drawing/2014/main" id="{4FFFA8BB-D1FB-4277-A465-4F9D3DEC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2575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tool_log</a:t>
            </a:r>
          </a:p>
        </p:txBody>
      </p:sp>
      <p:sp>
        <p:nvSpPr>
          <p:cNvPr id="14" name="stack-copy-2">
            <a:extLst xmlns:a="http://schemas.openxmlformats.org/drawingml/2006/main">
              <a:ext uri="{FF2B5EF4-FFF2-40B4-BE49-F238E27FC236}">
                <a16:creationId xmlns:a16="http://schemas.microsoft.com/office/drawing/2014/main" id="{CBA2BAFB-DFBE-4689-B91B-03E57FC4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480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工具輸入、輸出、錯誤</a:t>
            </a:r>
          </a:p>
        </p:txBody>
      </p:sp>
      <p:sp>
        <p:nvSpPr>
          <p:cNvPr id="15" name="stack-line-2">
            <a:extLst xmlns:a="http://schemas.openxmlformats.org/drawingml/2006/main">
              <a:ext uri="{FF2B5EF4-FFF2-40B4-BE49-F238E27FC236}">
                <a16:creationId xmlns:a16="http://schemas.microsoft.com/office/drawing/2014/main" id="{927E2255-E86F-4B9D-9A30-D194A05C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3813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stack-3">
            <a:extLst xmlns:a="http://schemas.openxmlformats.org/drawingml/2006/main">
              <a:ext uri="{FF2B5EF4-FFF2-40B4-BE49-F238E27FC236}">
                <a16:creationId xmlns:a16="http://schemas.microsoft.com/office/drawing/2014/main" id="{45D463E6-5A09-46E5-B447-0778CA78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2905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stack-name-3">
            <a:extLst xmlns:a="http://schemas.openxmlformats.org/drawingml/2006/main">
              <a:ext uri="{FF2B5EF4-FFF2-40B4-BE49-F238E27FC236}">
                <a16:creationId xmlns:a16="http://schemas.microsoft.com/office/drawing/2014/main" id="{18E074E2-82A6-4A96-A250-A16C3C1B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624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check_report</a:t>
            </a:r>
          </a:p>
        </p:txBody>
      </p:sp>
      <p:sp>
        <p:nvSpPr>
          <p:cNvPr id="18" name="stack-copy-3">
            <a:extLst xmlns:a="http://schemas.openxmlformats.org/drawingml/2006/main">
              <a:ext uri="{FF2B5EF4-FFF2-40B4-BE49-F238E27FC236}">
                <a16:creationId xmlns:a16="http://schemas.microsoft.com/office/drawing/2014/main" id="{60C1FBC6-C4A6-452E-A68A-EDC2345B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528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19" name="stack-line-3">
            <a:extLst xmlns:a="http://schemas.openxmlformats.org/drawingml/2006/main">
              <a:ext uri="{FF2B5EF4-FFF2-40B4-BE49-F238E27FC236}">
                <a16:creationId xmlns:a16="http://schemas.microsoft.com/office/drawing/2014/main" id="{5A42CA5B-7F7E-4DAD-8BBA-49597ABB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8622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0" name="stack-4">
            <a:extLst xmlns:a="http://schemas.openxmlformats.org/drawingml/2006/main">
              <a:ext uri="{FF2B5EF4-FFF2-40B4-BE49-F238E27FC236}">
                <a16:creationId xmlns:a16="http://schemas.microsoft.com/office/drawing/2014/main" id="{DDD76E9E-113D-4CCC-A211-598E4034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533900"/>
            <a:ext cx="3619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1" name="stack-name-4">
            <a:extLst xmlns:a="http://schemas.openxmlformats.org/drawingml/2006/main">
              <a:ext uri="{FF2B5EF4-FFF2-40B4-BE49-F238E27FC236}">
                <a16:creationId xmlns:a16="http://schemas.microsoft.com/office/drawing/2014/main" id="{333C445F-F37A-4DCF-9DD0-09AC738F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67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demo_notes</a:t>
            </a:r>
          </a:p>
        </p:txBody>
      </p:sp>
      <p:sp>
        <p:nvSpPr>
          <p:cNvPr id="22" name="stack-copy-4">
            <a:extLst xmlns:a="http://schemas.openxmlformats.org/drawingml/2006/main">
              <a:ext uri="{FF2B5EF4-FFF2-40B4-BE49-F238E27FC236}">
                <a16:creationId xmlns:a16="http://schemas.microsoft.com/office/drawing/2014/main" id="{67D77048-7B41-4D78-8CFD-DADFCDAC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577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限制、風險、下一步</a:t>
            </a:r>
          </a:p>
        </p:txBody>
      </p:sp>
      <p:sp>
        <p:nvSpPr>
          <p:cNvPr id="23" name="stack-line-4">
            <a:extLst xmlns:a="http://schemas.openxmlformats.org/drawingml/2006/main">
              <a:ext uri="{FF2B5EF4-FFF2-40B4-BE49-F238E27FC236}">
                <a16:creationId xmlns:a16="http://schemas.microsoft.com/office/drawing/2014/main" id="{88088C0F-BFA2-4175-B01D-39D3CE20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7910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24" name="goal-box">
            <a:extLst xmlns:a="http://schemas.openxmlformats.org/drawingml/2006/main">
              <a:ext uri="{FF2B5EF4-FFF2-40B4-BE49-F238E27FC236}">
                <a16:creationId xmlns:a16="http://schemas.microsoft.com/office/drawing/2014/main" id="{2AA6F81E-606C-47D4-8C92-29C9A195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524500"/>
            <a:ext cx="76581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goal-text">
            <a:extLst xmlns:a="http://schemas.openxmlformats.org/drawingml/2006/main">
              <a:ext uri="{FF2B5EF4-FFF2-40B4-BE49-F238E27FC236}">
                <a16:creationId xmlns:a16="http://schemas.microsoft.com/office/drawing/2014/main" id="{C7BCB0BC-698F-4300-8CB5-94FD4E6B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695950"/>
            <a:ext cx="695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Lesson 02 先建立外框；後面課程會逐步補上 model、tools、spec、harness 與 loop。</a:t>
            </a:r>
          </a:p>
        </p:txBody>
      </p:sp>
    </p:spTree>
    <p:extLst>
      <p:ext uri="{BB962C8B-B14F-4D97-AF65-F5344CB8AC3E}">
        <p14:creationId xmlns:p14="http://schemas.microsoft.com/office/powerpoint/2010/main" val="18667290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4EDE1A8-907E-4DC7-AD9C-C7B4D99E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LANDSCAPE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3403460-984F-46C2-A883-10DC9E5D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先用任務型態選工具，不要只記工具名稱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AF3D21BB-E6FE-4733-9E24-EB9B812B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4/22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C3438BBD-C0DB-47C8-B81D-6F5B2AAD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Claude、Gemini、Perplexity 偏研究整理入口；Codex、Copilot、Antigravity 偏開發與 agentic workflow 入口。</a:t>
            </a:r>
          </a:p>
        </p:txBody>
      </p:sp>
      <p:sp>
        <p:nvSpPr>
          <p:cNvPr id="5" name="tool-card-0">
            <a:extLst xmlns:a="http://schemas.openxmlformats.org/drawingml/2006/main">
              <a:ext uri="{FF2B5EF4-FFF2-40B4-BE49-F238E27FC236}">
                <a16:creationId xmlns:a16="http://schemas.microsoft.com/office/drawing/2014/main" id="{C413A9F3-7882-4716-9395-68FF96A9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2410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6" name="tool-name-0">
            <a:extLst xmlns:a="http://schemas.openxmlformats.org/drawingml/2006/main">
              <a:ext uri="{FF2B5EF4-FFF2-40B4-BE49-F238E27FC236}">
                <a16:creationId xmlns:a16="http://schemas.microsoft.com/office/drawing/2014/main" id="{A3FD445D-4547-473F-AB6C-CCA910E5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955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</a:t>
            </a:r>
          </a:p>
        </p:txBody>
      </p:sp>
      <p:sp>
        <p:nvSpPr>
          <p:cNvPr id="7" name="tool-role-0">
            <a:extLst xmlns:a="http://schemas.openxmlformats.org/drawingml/2006/main">
              <a:ext uri="{FF2B5EF4-FFF2-40B4-BE49-F238E27FC236}">
                <a16:creationId xmlns:a16="http://schemas.microsoft.com/office/drawing/2014/main" id="{75C596E0-B766-4D54-B548-858A4DAB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0507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長文推理與文件整理</a:t>
            </a:r>
          </a:p>
        </p:txBody>
      </p:sp>
      <p:sp>
        <p:nvSpPr>
          <p:cNvPr id="8" name="tool-uses-0">
            <a:extLst xmlns:a="http://schemas.openxmlformats.org/drawingml/2006/main">
              <a:ext uri="{FF2B5EF4-FFF2-40B4-BE49-F238E27FC236}">
                <a16:creationId xmlns:a16="http://schemas.microsoft.com/office/drawing/2014/main" id="{0A2A5414-AFBF-456A-AB56-41EFA6A9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讀長篇背景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整理研究筆記</a:t>
            </a:r>
          </a:p>
        </p:txBody>
      </p:sp>
      <p:sp>
        <p:nvSpPr>
          <p:cNvPr id="9" name="tool-caution-0">
            <a:extLst xmlns:a="http://schemas.openxmlformats.org/drawingml/2006/main">
              <a:ext uri="{FF2B5EF4-FFF2-40B4-BE49-F238E27FC236}">
                <a16:creationId xmlns:a16="http://schemas.microsoft.com/office/drawing/2014/main" id="{277FB96F-FC17-4BA7-A225-96DD8987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051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仍要回查來源</a:t>
            </a:r>
          </a:p>
        </p:txBody>
      </p:sp>
      <p:sp>
        <p:nvSpPr>
          <p:cNvPr id="10" name="tool-card-1">
            <a:extLst xmlns:a="http://schemas.openxmlformats.org/drawingml/2006/main">
              <a:ext uri="{FF2B5EF4-FFF2-40B4-BE49-F238E27FC236}">
                <a16:creationId xmlns:a16="http://schemas.microsoft.com/office/drawing/2014/main" id="{C811DE16-3B95-4766-94FA-CFA04763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2410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1" name="tool-name-1">
            <a:extLst xmlns:a="http://schemas.openxmlformats.org/drawingml/2006/main">
              <a:ext uri="{FF2B5EF4-FFF2-40B4-BE49-F238E27FC236}">
                <a16:creationId xmlns:a16="http://schemas.microsoft.com/office/drawing/2014/main" id="{E06B8184-86E4-454E-AEED-2D0D2BD6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955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Gemini</a:t>
            </a:r>
          </a:p>
        </p:txBody>
      </p:sp>
      <p:sp>
        <p:nvSpPr>
          <p:cNvPr id="12" name="tool-role-1">
            <a:extLst xmlns:a="http://schemas.openxmlformats.org/drawingml/2006/main">
              <a:ext uri="{FF2B5EF4-FFF2-40B4-BE49-F238E27FC236}">
                <a16:creationId xmlns:a16="http://schemas.microsoft.com/office/drawing/2014/main" id="{D6EC42A3-C86B-406D-9462-57721EA4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0507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 context 與 multimodal</a:t>
            </a:r>
          </a:p>
        </p:txBody>
      </p:sp>
      <p:sp>
        <p:nvSpPr>
          <p:cNvPr id="13" name="tool-uses-1">
            <a:extLst xmlns:a="http://schemas.openxmlformats.org/drawingml/2006/main">
              <a:ext uri="{FF2B5EF4-FFF2-40B4-BE49-F238E27FC236}">
                <a16:creationId xmlns:a16="http://schemas.microsoft.com/office/drawing/2014/main" id="{62118CE1-2F88-4918-A5B2-5A2484B5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146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跨 PDF / 圖表 / 表格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Google 生態整合</a:t>
            </a:r>
          </a:p>
        </p:txBody>
      </p:sp>
      <p:sp>
        <p:nvSpPr>
          <p:cNvPr id="14" name="tool-caution-1">
            <a:extLst xmlns:a="http://schemas.openxmlformats.org/drawingml/2006/main">
              <a:ext uri="{FF2B5EF4-FFF2-40B4-BE49-F238E27FC236}">
                <a16:creationId xmlns:a16="http://schemas.microsoft.com/office/drawing/2014/main" id="{CAA29FEA-F0BB-4049-8A00-721779D0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051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抽樣核對脈絡</a:t>
            </a:r>
          </a:p>
        </p:txBody>
      </p:sp>
      <p:sp>
        <p:nvSpPr>
          <p:cNvPr id="15" name="tool-card-2">
            <a:extLst xmlns:a="http://schemas.openxmlformats.org/drawingml/2006/main">
              <a:ext uri="{FF2B5EF4-FFF2-40B4-BE49-F238E27FC236}">
                <a16:creationId xmlns:a16="http://schemas.microsoft.com/office/drawing/2014/main" id="{5E972E86-D8C5-4E10-8AE5-AC465B37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2410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6" name="tool-name-2">
            <a:extLst xmlns:a="http://schemas.openxmlformats.org/drawingml/2006/main">
              <a:ext uri="{FF2B5EF4-FFF2-40B4-BE49-F238E27FC236}">
                <a16:creationId xmlns:a16="http://schemas.microsoft.com/office/drawing/2014/main" id="{68F629D5-84D4-4EFE-9BD2-83555582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955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Perplexity</a:t>
            </a:r>
          </a:p>
        </p:txBody>
      </p:sp>
      <p:sp>
        <p:nvSpPr>
          <p:cNvPr id="17" name="tool-role-2">
            <a:extLst xmlns:a="http://schemas.openxmlformats.org/drawingml/2006/main">
              <a:ext uri="{FF2B5EF4-FFF2-40B4-BE49-F238E27FC236}">
                <a16:creationId xmlns:a16="http://schemas.microsoft.com/office/drawing/2014/main" id="{D71EAC59-5D85-4C3D-986C-C5422F7A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50507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web-grounded 搜尋追蹤</a:t>
            </a:r>
          </a:p>
        </p:txBody>
      </p:sp>
      <p:sp>
        <p:nvSpPr>
          <p:cNvPr id="18" name="tool-uses-2">
            <a:extLst xmlns:a="http://schemas.openxmlformats.org/drawingml/2006/main">
              <a:ext uri="{FF2B5EF4-FFF2-40B4-BE49-F238E27FC236}">
                <a16:creationId xmlns:a16="http://schemas.microsoft.com/office/drawing/2014/main" id="{D5F07BB9-3158-4145-9EB9-6BE6D38C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找文獻線索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追 citation / source</a:t>
            </a:r>
          </a:p>
        </p:txBody>
      </p:sp>
      <p:sp>
        <p:nvSpPr>
          <p:cNvPr id="19" name="tool-caution-2">
            <a:extLst xmlns:a="http://schemas.openxmlformats.org/drawingml/2006/main">
              <a:ext uri="{FF2B5EF4-FFF2-40B4-BE49-F238E27FC236}">
                <a16:creationId xmlns:a16="http://schemas.microsoft.com/office/drawing/2014/main" id="{0C8979EB-0082-4406-9DF7-39834AFD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1051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摘要不是證據</a:t>
            </a:r>
          </a:p>
        </p:txBody>
      </p:sp>
      <p:sp>
        <p:nvSpPr>
          <p:cNvPr id="20" name="tool-card-3">
            <a:extLst xmlns:a="http://schemas.openxmlformats.org/drawingml/2006/main">
              <a:ext uri="{FF2B5EF4-FFF2-40B4-BE49-F238E27FC236}">
                <a16:creationId xmlns:a16="http://schemas.microsoft.com/office/drawing/2014/main" id="{F19CDB44-DB14-4C02-9EC7-6EF36962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2905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21" name="tool-name-3">
            <a:extLst xmlns:a="http://schemas.openxmlformats.org/drawingml/2006/main">
              <a:ext uri="{FF2B5EF4-FFF2-40B4-BE49-F238E27FC236}">
                <a16:creationId xmlns:a16="http://schemas.microsoft.com/office/drawing/2014/main" id="{C8BD8782-5DDF-464A-8BCE-9D20988F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Codex</a:t>
            </a:r>
          </a:p>
        </p:txBody>
      </p:sp>
      <p:sp>
        <p:nvSpPr>
          <p:cNvPr id="22" name="tool-role-3">
            <a:extLst xmlns:a="http://schemas.openxmlformats.org/drawingml/2006/main">
              <a:ext uri="{FF2B5EF4-FFF2-40B4-BE49-F238E27FC236}">
                <a16:creationId xmlns:a16="http://schemas.microsoft.com/office/drawing/2014/main" id="{50A8356B-9535-49B4-AC91-CB6DD7B6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01002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repo-grounded 修改測試</a:t>
            </a:r>
          </a:p>
        </p:txBody>
      </p:sp>
      <p:sp>
        <p:nvSpPr>
          <p:cNvPr id="23" name="tool-uses-3">
            <a:extLst xmlns:a="http://schemas.openxmlformats.org/drawingml/2006/main">
              <a:ext uri="{FF2B5EF4-FFF2-40B4-BE49-F238E27FC236}">
                <a16:creationId xmlns:a16="http://schemas.microsoft.com/office/drawing/2014/main" id="{7C3727C5-542C-4FF1-9EC7-E7B39FACF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讀實際程式碼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跑測試與看 diff</a:t>
            </a:r>
          </a:p>
        </p:txBody>
      </p:sp>
      <p:sp>
        <p:nvSpPr>
          <p:cNvPr id="24" name="tool-caution-3">
            <a:extLst xmlns:a="http://schemas.openxmlformats.org/drawingml/2006/main">
              <a:ext uri="{FF2B5EF4-FFF2-40B4-BE49-F238E27FC236}">
                <a16:creationId xmlns:a16="http://schemas.microsoft.com/office/drawing/2014/main" id="{79FFE6BE-EF3B-451D-B69D-4BCF2F3F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61010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不能跳過 review</a:t>
            </a:r>
          </a:p>
        </p:txBody>
      </p:sp>
      <p:sp>
        <p:nvSpPr>
          <p:cNvPr id="25" name="tool-card-4">
            <a:extLst xmlns:a="http://schemas.openxmlformats.org/drawingml/2006/main">
              <a:ext uri="{FF2B5EF4-FFF2-40B4-BE49-F238E27FC236}">
                <a16:creationId xmlns:a16="http://schemas.microsoft.com/office/drawing/2014/main" id="{45D769F6-7F8A-47F6-988D-03066453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2905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6" name="tool-name-4">
            <a:extLst xmlns:a="http://schemas.openxmlformats.org/drawingml/2006/main">
              <a:ext uri="{FF2B5EF4-FFF2-40B4-BE49-F238E27FC236}">
                <a16:creationId xmlns:a16="http://schemas.microsoft.com/office/drawing/2014/main" id="{3365BAAF-A06A-4EA3-A4E8-98458B92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005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Copilot</a:t>
            </a:r>
          </a:p>
        </p:txBody>
      </p:sp>
      <p:sp>
        <p:nvSpPr>
          <p:cNvPr id="27" name="tool-role-4">
            <a:extLst xmlns:a="http://schemas.openxmlformats.org/drawingml/2006/main">
              <a:ext uri="{FF2B5EF4-FFF2-40B4-BE49-F238E27FC236}">
                <a16:creationId xmlns:a16="http://schemas.microsoft.com/office/drawing/2014/main" id="{80BF113D-D270-46C5-BCC2-4B5E5E865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1002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IDE 內即時輔助</a:t>
            </a:r>
          </a:p>
        </p:txBody>
      </p:sp>
      <p:sp>
        <p:nvSpPr>
          <p:cNvPr id="28" name="tool-uses-4">
            <a:extLst xmlns:a="http://schemas.openxmlformats.org/drawingml/2006/main">
              <a:ext uri="{FF2B5EF4-FFF2-40B4-BE49-F238E27FC236}">
                <a16:creationId xmlns:a16="http://schemas.microsoft.com/office/drawing/2014/main" id="{288C1EF7-F90E-4DC8-8EFD-F2C15FAF1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4196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補完程式片段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局部重構 / API</a:t>
            </a:r>
          </a:p>
        </p:txBody>
      </p:sp>
      <p:sp>
        <p:nvSpPr>
          <p:cNvPr id="29" name="tool-caution-4">
            <a:extLst xmlns:a="http://schemas.openxmlformats.org/drawingml/2006/main">
              <a:ext uri="{FF2B5EF4-FFF2-40B4-BE49-F238E27FC236}">
                <a16:creationId xmlns:a16="http://schemas.microsoft.com/office/drawing/2014/main" id="{33EB83E4-0340-4863-8AEE-1E857FAD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1010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容易局部正確</a:t>
            </a:r>
          </a:p>
        </p:txBody>
      </p:sp>
      <p:sp>
        <p:nvSpPr>
          <p:cNvPr id="30" name="tool-card-5">
            <a:extLst xmlns:a="http://schemas.openxmlformats.org/drawingml/2006/main">
              <a:ext uri="{FF2B5EF4-FFF2-40B4-BE49-F238E27FC236}">
                <a16:creationId xmlns:a16="http://schemas.microsoft.com/office/drawing/2014/main" id="{111BD5F4-C1A2-4A67-A252-AE5E897E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29050"/>
            <a:ext cx="3124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31" name="tool-name-5">
            <a:extLst xmlns:a="http://schemas.openxmlformats.org/drawingml/2006/main">
              <a:ext uri="{FF2B5EF4-FFF2-40B4-BE49-F238E27FC236}">
                <a16:creationId xmlns:a16="http://schemas.microsoft.com/office/drawing/2014/main" id="{246A9FA6-F35C-4E04-8D57-4C22EA4E9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0050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</a:t>
            </a:r>
          </a:p>
        </p:txBody>
      </p:sp>
      <p:sp>
        <p:nvSpPr>
          <p:cNvPr id="32" name="tool-role-5">
            <a:extLst xmlns:a="http://schemas.openxmlformats.org/drawingml/2006/main">
              <a:ext uri="{FF2B5EF4-FFF2-40B4-BE49-F238E27FC236}">
                <a16:creationId xmlns:a16="http://schemas.microsoft.com/office/drawing/2014/main" id="{366804FC-D534-47F7-A9A4-922670B8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010025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agentic IDE 與 artifacts</a:t>
            </a:r>
          </a:p>
        </p:txBody>
      </p:sp>
      <p:sp>
        <p:nvSpPr>
          <p:cNvPr id="33" name="tool-uses-5">
            <a:extLst xmlns:a="http://schemas.openxmlformats.org/drawingml/2006/main">
              <a:ext uri="{FF2B5EF4-FFF2-40B4-BE49-F238E27FC236}">
                <a16:creationId xmlns:a16="http://schemas.microsoft.com/office/drawing/2014/main" id="{2638C845-79AD-42A0-8D27-29BC593F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19600"/>
            <a:ext cx="1733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平行 agent 工作</a:t>
            </a:r>
          </a:p>
          <a:p xmlns:a="http://schemas.openxmlformats.org/drawingml/2006/main"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browser / terminal</a:t>
            </a:r>
          </a:p>
        </p:txBody>
      </p:sp>
      <p:sp>
        <p:nvSpPr>
          <p:cNvPr id="34" name="tool-caution-5">
            <a:extLst xmlns:a="http://schemas.openxmlformats.org/drawingml/2006/main">
              <a:ext uri="{FF2B5EF4-FFF2-40B4-BE49-F238E27FC236}">
                <a16:creationId xmlns:a16="http://schemas.microsoft.com/office/drawing/2014/main" id="{516D6AC0-E270-4F3D-A24B-8E1623F1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61010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高權限要設 gate</a:t>
            </a:r>
          </a:p>
        </p:txBody>
      </p:sp>
      <p:sp>
        <p:nvSpPr>
          <p:cNvPr id="35" name="bottom">
            <a:extLst xmlns:a="http://schemas.openxmlformats.org/drawingml/2006/main">
              <a:ext uri="{FF2B5EF4-FFF2-40B4-BE49-F238E27FC236}">
                <a16:creationId xmlns:a16="http://schemas.microsoft.com/office/drawing/2014/main" id="{9069F865-4E81-4407-A76F-8E8CF5F6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388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同一個 biomedical task 常需要串兩種以上工具；比較的重點是輸入、輸出、證據和風險。</a:t>
            </a:r>
          </a:p>
        </p:txBody>
      </p:sp>
    </p:spTree>
    <p:extLst>
      <p:ext uri="{BB962C8B-B14F-4D97-AF65-F5344CB8AC3E}">
        <p14:creationId xmlns:p14="http://schemas.microsoft.com/office/powerpoint/2010/main" val="8146983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D2D843F8-D9D8-41ED-B470-029C6ADB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SCENARIO FIT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94E604A-7129-4108-AE19-CF4CFBFC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不同工具要接到不同的 workflow 檢查點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CBCBF62-E1D9-4052-AFF5-6F394D0A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5/22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FC18C8AB-70CC-4292-91B5-6435A501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選工具時先問：它會產生什麼 artifact？那個 artifact 要怎麼被檢查？</a:t>
            </a:r>
          </a:p>
        </p:txBody>
      </p:sp>
      <p:sp>
        <p:nvSpPr>
          <p:cNvPr id="5" name="head-0">
            <a:extLst xmlns:a="http://schemas.openxmlformats.org/drawingml/2006/main">
              <a:ext uri="{FF2B5EF4-FFF2-40B4-BE49-F238E27FC236}">
                <a16:creationId xmlns:a16="http://schemas.microsoft.com/office/drawing/2014/main" id="{88A39CE6-F31A-416E-BDCF-B2A189E9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工具入口</a:t>
            </a:r>
          </a:p>
        </p:txBody>
      </p:sp>
      <p:sp>
        <p:nvSpPr>
          <p:cNvPr id="6" name="head-1">
            <a:extLst xmlns:a="http://schemas.openxmlformats.org/drawingml/2006/main">
              <a:ext uri="{FF2B5EF4-FFF2-40B4-BE49-F238E27FC236}">
                <a16:creationId xmlns:a16="http://schemas.microsoft.com/office/drawing/2014/main" id="{E02432D7-37CF-45E2-B7FE-C06B99C1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193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適合交付</a:t>
            </a:r>
          </a:p>
        </p:txBody>
      </p:sp>
      <p:sp>
        <p:nvSpPr>
          <p:cNvPr id="7" name="head-2">
            <a:extLst xmlns:a="http://schemas.openxmlformats.org/drawingml/2006/main">
              <a:ext uri="{FF2B5EF4-FFF2-40B4-BE49-F238E27FC236}">
                <a16:creationId xmlns:a16="http://schemas.microsoft.com/office/drawing/2014/main" id="{9F9A57CA-F5AD-414D-80FA-5F439EF0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193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必要檢查</a:t>
            </a:r>
          </a:p>
        </p:txBody>
      </p:sp>
      <p:sp>
        <p:nvSpPr>
          <p:cNvPr id="8" name="row-bg-0">
            <a:extLst xmlns:a="http://schemas.openxmlformats.org/drawingml/2006/main">
              <a:ext uri="{FF2B5EF4-FFF2-40B4-BE49-F238E27FC236}">
                <a16:creationId xmlns:a16="http://schemas.microsoft.com/office/drawing/2014/main" id="{CA933904-8E3E-4636-9A71-6DB177F7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9" name="tool-0">
            <a:extLst xmlns:a="http://schemas.openxmlformats.org/drawingml/2006/main">
              <a:ext uri="{FF2B5EF4-FFF2-40B4-BE49-F238E27FC236}">
                <a16:creationId xmlns:a16="http://schemas.microsoft.com/office/drawing/2014/main" id="{52CA118B-2BB9-4D7E-A1EE-8D61C3D2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194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Perplexity 類</a:t>
            </a:r>
          </a:p>
        </p:txBody>
      </p:sp>
      <p:sp>
        <p:nvSpPr>
          <p:cNvPr id="10" name="artifact-0">
            <a:extLst xmlns:a="http://schemas.openxmlformats.org/drawingml/2006/main">
              <a:ext uri="{FF2B5EF4-FFF2-40B4-BE49-F238E27FC236}">
                <a16:creationId xmlns:a16="http://schemas.microsoft.com/office/drawing/2014/main" id="{7FC9048D-8CB9-4BC6-B830-831A826D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搜尋策略、候選文獻、來源連結</a:t>
            </a:r>
          </a:p>
        </p:txBody>
      </p:sp>
      <p:sp>
        <p:nvSpPr>
          <p:cNvPr id="11" name="check-0">
            <a:extLst xmlns:a="http://schemas.openxmlformats.org/drawingml/2006/main">
              <a:ext uri="{FF2B5EF4-FFF2-40B4-BE49-F238E27FC236}">
                <a16:creationId xmlns:a16="http://schemas.microsoft.com/office/drawing/2014/main" id="{EAF5CCBA-2251-42CB-9EDA-8355FA29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003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 / DOI / database record</a:t>
            </a:r>
          </a:p>
        </p:txBody>
      </p:sp>
      <p:sp>
        <p:nvSpPr>
          <p:cNvPr id="12" name="row-bg-1">
            <a:extLst xmlns:a="http://schemas.openxmlformats.org/drawingml/2006/main">
              <a:ext uri="{FF2B5EF4-FFF2-40B4-BE49-F238E27FC236}">
                <a16:creationId xmlns:a16="http://schemas.microsoft.com/office/drawing/2014/main" id="{96A1E980-DEB1-4BC7-ACCA-6B0E774B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tool-1">
            <a:extLst xmlns:a="http://schemas.openxmlformats.org/drawingml/2006/main">
              <a:ext uri="{FF2B5EF4-FFF2-40B4-BE49-F238E27FC236}">
                <a16:creationId xmlns:a16="http://schemas.microsoft.com/office/drawing/2014/main" id="{729CFA48-4B41-43EE-BCBC-20BB7D70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14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Gemini 類</a:t>
            </a:r>
          </a:p>
        </p:txBody>
      </p:sp>
      <p:sp>
        <p:nvSpPr>
          <p:cNvPr id="14" name="artifact-1">
            <a:extLst xmlns:a="http://schemas.openxmlformats.org/drawingml/2006/main">
              <a:ext uri="{FF2B5EF4-FFF2-40B4-BE49-F238E27FC236}">
                <a16:creationId xmlns:a16="http://schemas.microsoft.com/office/drawing/2014/main" id="{671E59E6-8FE8-46DA-A295-1DA68E25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956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多模態整理、文件對照、Workspace 草稿</a:t>
            </a:r>
          </a:p>
        </p:txBody>
      </p:sp>
      <p:sp>
        <p:nvSpPr>
          <p:cNvPr id="15" name="check-1">
            <a:extLst xmlns:a="http://schemas.openxmlformats.org/drawingml/2006/main">
              <a:ext uri="{FF2B5EF4-FFF2-40B4-BE49-F238E27FC236}">
                <a16:creationId xmlns:a16="http://schemas.microsoft.com/office/drawing/2014/main" id="{D8E752FF-B4AF-434E-B08B-868A23C5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956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抽樣核對來源、版本與上下文</a:t>
            </a:r>
          </a:p>
        </p:txBody>
      </p:sp>
      <p:sp>
        <p:nvSpPr>
          <p:cNvPr id="16" name="row-bg-2">
            <a:extLst xmlns:a="http://schemas.openxmlformats.org/drawingml/2006/main">
              <a:ext uri="{FF2B5EF4-FFF2-40B4-BE49-F238E27FC236}">
                <a16:creationId xmlns:a16="http://schemas.microsoft.com/office/drawing/2014/main" id="{BC1C7324-34E5-4448-84AB-FCF79E768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tool-2">
            <a:extLst xmlns:a="http://schemas.openxmlformats.org/drawingml/2006/main">
              <a:ext uri="{FF2B5EF4-FFF2-40B4-BE49-F238E27FC236}">
                <a16:creationId xmlns:a16="http://schemas.microsoft.com/office/drawing/2014/main" id="{44F2D0A3-4354-4D42-BEF6-CAE67EF8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 類</a:t>
            </a:r>
          </a:p>
        </p:txBody>
      </p:sp>
      <p:sp>
        <p:nvSpPr>
          <p:cNvPr id="18" name="artifact-2">
            <a:extLst xmlns:a="http://schemas.openxmlformats.org/drawingml/2006/main">
              <a:ext uri="{FF2B5EF4-FFF2-40B4-BE49-F238E27FC236}">
                <a16:creationId xmlns:a16="http://schemas.microsoft.com/office/drawing/2014/main" id="{A05B0F05-3BF5-4064-8510-845736EC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摘要、比較表、研究筆記初稿</a:t>
            </a:r>
          </a:p>
        </p:txBody>
      </p:sp>
      <p:sp>
        <p:nvSpPr>
          <p:cNvPr id="19" name="check-2">
            <a:extLst xmlns:a="http://schemas.openxmlformats.org/drawingml/2006/main">
              <a:ext uri="{FF2B5EF4-FFF2-40B4-BE49-F238E27FC236}">
                <a16:creationId xmlns:a16="http://schemas.microsoft.com/office/drawing/2014/main" id="{636DD510-12E9-4591-8E7B-D04895E5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909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逐段對來源與欄位定義</a:t>
            </a:r>
          </a:p>
        </p:txBody>
      </p:sp>
      <p:sp>
        <p:nvSpPr>
          <p:cNvPr id="20" name="row-bg-3">
            <a:extLst xmlns:a="http://schemas.openxmlformats.org/drawingml/2006/main">
              <a:ext uri="{FF2B5EF4-FFF2-40B4-BE49-F238E27FC236}">
                <a16:creationId xmlns:a16="http://schemas.microsoft.com/office/drawing/2014/main" id="{F029ACE9-54F5-42EB-837D-3DBF1B9B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tool-3">
            <a:extLst xmlns:a="http://schemas.openxmlformats.org/drawingml/2006/main">
              <a:ext uri="{FF2B5EF4-FFF2-40B4-BE49-F238E27FC236}">
                <a16:creationId xmlns:a16="http://schemas.microsoft.com/office/drawing/2014/main" id="{7C7F46A1-AAE5-49ED-801C-C56094EC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Codex 類</a:t>
            </a:r>
          </a:p>
        </p:txBody>
      </p:sp>
      <p:sp>
        <p:nvSpPr>
          <p:cNvPr id="22" name="artifact-3">
            <a:extLst xmlns:a="http://schemas.openxmlformats.org/drawingml/2006/main">
              <a:ext uri="{FF2B5EF4-FFF2-40B4-BE49-F238E27FC236}">
                <a16:creationId xmlns:a16="http://schemas.microsoft.com/office/drawing/2014/main" id="{C56BA974-229C-4A1A-82A8-3B7E0998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腳本修改、資料處理程式、測試結果</a:t>
            </a:r>
          </a:p>
        </p:txBody>
      </p:sp>
      <p:sp>
        <p:nvSpPr>
          <p:cNvPr id="23" name="check-3">
            <a:extLst xmlns:a="http://schemas.openxmlformats.org/drawingml/2006/main">
              <a:ext uri="{FF2B5EF4-FFF2-40B4-BE49-F238E27FC236}">
                <a16:creationId xmlns:a16="http://schemas.microsoft.com/office/drawing/2014/main" id="{F4F3BD27-285F-4E30-A0FB-4A27914E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862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diff、跑 test、檢查輸出檔</a:t>
            </a:r>
          </a:p>
        </p:txBody>
      </p:sp>
      <p:sp>
        <p:nvSpPr>
          <p:cNvPr id="24" name="row-bg-4">
            <a:extLst xmlns:a="http://schemas.openxmlformats.org/drawingml/2006/main">
              <a:ext uri="{FF2B5EF4-FFF2-40B4-BE49-F238E27FC236}">
                <a16:creationId xmlns:a16="http://schemas.microsoft.com/office/drawing/2014/main" id="{CF698689-02DB-47E8-A6C7-ABC512E60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tool-4">
            <a:extLst xmlns:a="http://schemas.openxmlformats.org/drawingml/2006/main">
              <a:ext uri="{FF2B5EF4-FFF2-40B4-BE49-F238E27FC236}">
                <a16:creationId xmlns:a16="http://schemas.microsoft.com/office/drawing/2014/main" id="{6328E48E-9B4B-4405-B5DB-FF85EF71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00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Copilot 類</a:t>
            </a:r>
          </a:p>
        </p:txBody>
      </p:sp>
      <p:sp>
        <p:nvSpPr>
          <p:cNvPr id="26" name="artifact-4">
            <a:extLst xmlns:a="http://schemas.openxmlformats.org/drawingml/2006/main">
              <a:ext uri="{FF2B5EF4-FFF2-40B4-BE49-F238E27FC236}">
                <a16:creationId xmlns:a16="http://schemas.microsoft.com/office/drawing/2014/main" id="{198C2B98-B270-4466-A823-A74BADE8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815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局部程式碼片段、函式補完</a:t>
            </a:r>
          </a:p>
        </p:txBody>
      </p:sp>
      <p:sp>
        <p:nvSpPr>
          <p:cNvPr id="27" name="check-4">
            <a:extLst xmlns:a="http://schemas.openxmlformats.org/drawingml/2006/main">
              <a:ext uri="{FF2B5EF4-FFF2-40B4-BE49-F238E27FC236}">
                <a16:creationId xmlns:a16="http://schemas.microsoft.com/office/drawing/2014/main" id="{878AF443-3B81-4AB6-848E-2976FE13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15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lint、unit test、review 限縮風險</a:t>
            </a:r>
          </a:p>
        </p:txBody>
      </p:sp>
      <p:sp>
        <p:nvSpPr>
          <p:cNvPr id="28" name="row-bg-5">
            <a:extLst xmlns:a="http://schemas.openxmlformats.org/drawingml/2006/main">
              <a:ext uri="{FF2B5EF4-FFF2-40B4-BE49-F238E27FC236}">
                <a16:creationId xmlns:a16="http://schemas.microsoft.com/office/drawing/2014/main" id="{3A5824FB-E883-4880-8507-84DE2F62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104394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tool-5">
            <a:extLst xmlns:a="http://schemas.openxmlformats.org/drawingml/2006/main">
              <a:ext uri="{FF2B5EF4-FFF2-40B4-BE49-F238E27FC236}">
                <a16:creationId xmlns:a16="http://schemas.microsoft.com/office/drawing/2014/main" id="{848C38E7-BED3-4AE7-A96A-85D069BB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959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 類</a:t>
            </a:r>
          </a:p>
        </p:txBody>
      </p:sp>
      <p:sp>
        <p:nvSpPr>
          <p:cNvPr id="30" name="artifact-5">
            <a:extLst xmlns:a="http://schemas.openxmlformats.org/drawingml/2006/main">
              <a:ext uri="{FF2B5EF4-FFF2-40B4-BE49-F238E27FC236}">
                <a16:creationId xmlns:a16="http://schemas.microsoft.com/office/drawing/2014/main" id="{1BFD6B66-F6F8-4021-A334-C06D62CF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768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plan、code change、browser / terminal artifact</a:t>
            </a:r>
          </a:p>
        </p:txBody>
      </p:sp>
      <p:sp>
        <p:nvSpPr>
          <p:cNvPr id="31" name="check-5">
            <a:extLst xmlns:a="http://schemas.openxmlformats.org/drawingml/2006/main">
              <a:ext uri="{FF2B5EF4-FFF2-40B4-BE49-F238E27FC236}">
                <a16:creationId xmlns:a16="http://schemas.microsoft.com/office/drawing/2014/main" id="{573A9FA6-E030-405D-94DC-24E73CED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768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權限 gate、sandbox、test log</a:t>
            </a:r>
          </a:p>
        </p:txBody>
      </p:sp>
      <p:sp>
        <p:nvSpPr>
          <p:cNvPr id="32" name="bottom">
            <a:extLst xmlns:a="http://schemas.openxmlformats.org/drawingml/2006/main">
              <a:ext uri="{FF2B5EF4-FFF2-40B4-BE49-F238E27FC236}">
                <a16:creationId xmlns:a16="http://schemas.microsoft.com/office/drawing/2014/main" id="{D0A5AA0B-F81C-428A-84A2-2EED4119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82930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工具選擇不是品牌偏好，而是 workflow 設計的一部分。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10824899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E5935E6-0DD6-436B-8CEE-BA6BB9F3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6EB4F1E-7C61-4839-B596-7B043F1F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用同一個 biomedical 任務貫穿整堂課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3A8558E-85D8-4DF9-8B99-31C774BB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6/22</a:t>
            </a:r>
          </a:p>
        </p:txBody>
      </p:sp>
      <p:sp>
        <p:nvSpPr>
          <p:cNvPr id="4" name="scenario">
            <a:extLst xmlns:a="http://schemas.openxmlformats.org/drawingml/2006/main">
              <a:ext uri="{FF2B5EF4-FFF2-40B4-BE49-F238E27FC236}">
                <a16:creationId xmlns:a16="http://schemas.microsoft.com/office/drawing/2014/main" id="{BA02A166-3D37-44A5-8120-6D7A9149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任務：整理 EGFR、ALK、TP53 與肺癌治療或研究關聯的 evidence table</a:t>
            </a:r>
          </a:p>
        </p:txBody>
      </p:sp>
      <p:sp>
        <p:nvSpPr>
          <p:cNvPr id="5" name="row-head-0">
            <a:extLst xmlns:a="http://schemas.openxmlformats.org/drawingml/2006/main">
              <a:ext uri="{FF2B5EF4-FFF2-40B4-BE49-F238E27FC236}">
                <a16:creationId xmlns:a16="http://schemas.microsoft.com/office/drawing/2014/main" id="{4ECC03DD-6904-4CFE-9D9D-83E6322C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6" name="row-copy-0">
            <a:extLst xmlns:a="http://schemas.openxmlformats.org/drawingml/2006/main">
              <a:ext uri="{FF2B5EF4-FFF2-40B4-BE49-F238E27FC236}">
                <a16:creationId xmlns:a16="http://schemas.microsoft.com/office/drawing/2014/main" id="{F12B9984-F0E4-4705-BB5E-D2EA57AD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908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/ disease / drug / variant</a:t>
            </a:r>
          </a:p>
        </p:txBody>
      </p:sp>
      <p:sp>
        <p:nvSpPr>
          <p:cNvPr id="7" name="row-line-0">
            <a:extLst xmlns:a="http://schemas.openxmlformats.org/drawingml/2006/main">
              <a:ext uri="{FF2B5EF4-FFF2-40B4-BE49-F238E27FC236}">
                <a16:creationId xmlns:a16="http://schemas.microsoft.com/office/drawing/2014/main" id="{CABFA756-877D-4E4D-BE8D-857CBA6D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row-head-1">
            <a:extLst xmlns:a="http://schemas.openxmlformats.org/drawingml/2006/main">
              <a:ext uri="{FF2B5EF4-FFF2-40B4-BE49-F238E27FC236}">
                <a16:creationId xmlns:a16="http://schemas.microsoft.com/office/drawing/2014/main" id="{782025F9-69A8-4D16-BEFC-798B99D2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718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row-copy-1">
            <a:extLst xmlns:a="http://schemas.openxmlformats.org/drawingml/2006/main">
              <a:ext uri="{FF2B5EF4-FFF2-40B4-BE49-F238E27FC236}">
                <a16:creationId xmlns:a16="http://schemas.microsoft.com/office/drawing/2014/main" id="{9A5D5F4A-610E-4CE1-AAED-EF0F0BA6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766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claim / PMID / DOI / source span</a:t>
            </a:r>
          </a:p>
        </p:txBody>
      </p:sp>
      <p:sp>
        <p:nvSpPr>
          <p:cNvPr id="10" name="row-line-1">
            <a:extLst xmlns:a="http://schemas.openxmlformats.org/drawingml/2006/main">
              <a:ext uri="{FF2B5EF4-FFF2-40B4-BE49-F238E27FC236}">
                <a16:creationId xmlns:a16="http://schemas.microsoft.com/office/drawing/2014/main" id="{C1F19AFD-7BD5-4D87-87A1-99E16E61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04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1" name="row-head-2">
            <a:extLst xmlns:a="http://schemas.openxmlformats.org/drawingml/2006/main">
              <a:ext uri="{FF2B5EF4-FFF2-40B4-BE49-F238E27FC236}">
                <a16:creationId xmlns:a16="http://schemas.microsoft.com/office/drawing/2014/main" id="{B21B4E23-F3F5-4CEB-AE50-857C9B4C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2" name="row-copy-2">
            <a:extLst xmlns:a="http://schemas.openxmlformats.org/drawingml/2006/main">
              <a:ext uri="{FF2B5EF4-FFF2-40B4-BE49-F238E27FC236}">
                <a16:creationId xmlns:a16="http://schemas.microsoft.com/office/drawing/2014/main" id="{79F29317-ED5A-49D7-8F45-221A3270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624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symbol / citation / guideline / review</a:t>
            </a:r>
          </a:p>
        </p:txBody>
      </p:sp>
      <p:sp>
        <p:nvSpPr>
          <p:cNvPr id="13" name="row-line-2">
            <a:extLst xmlns:a="http://schemas.openxmlformats.org/drawingml/2006/main">
              <a:ext uri="{FF2B5EF4-FFF2-40B4-BE49-F238E27FC236}">
                <a16:creationId xmlns:a16="http://schemas.microsoft.com/office/drawing/2014/main" id="{47109A37-8000-4F3F-B234-CA963938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4" name="row-head-3">
            <a:extLst xmlns:a="http://schemas.openxmlformats.org/drawingml/2006/main">
              <a:ext uri="{FF2B5EF4-FFF2-40B4-BE49-F238E27FC236}">
                <a16:creationId xmlns:a16="http://schemas.microsoft.com/office/drawing/2014/main" id="{0244DE4F-3DFE-4739-B1B4-C655092B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434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5" name="row-copy-3">
            <a:extLst xmlns:a="http://schemas.openxmlformats.org/drawingml/2006/main">
              <a:ext uri="{FF2B5EF4-FFF2-40B4-BE49-F238E27FC236}">
                <a16:creationId xmlns:a16="http://schemas.microsoft.com/office/drawing/2014/main" id="{90333EFA-E44D-40E1-9620-4FB647D0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482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table + research note + limitations</a:t>
            </a:r>
          </a:p>
        </p:txBody>
      </p:sp>
      <p:sp>
        <p:nvSpPr>
          <p:cNvPr id="16" name="row-line-3">
            <a:extLst xmlns:a="http://schemas.openxmlformats.org/drawingml/2006/main">
              <a:ext uri="{FF2B5EF4-FFF2-40B4-BE49-F238E27FC236}">
                <a16:creationId xmlns:a16="http://schemas.microsoft.com/office/drawing/2014/main" id="{3282FEE5-3144-4C04-91DB-30E67EBA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720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7" name="note">
            <a:extLst xmlns:a="http://schemas.openxmlformats.org/drawingml/2006/main">
              <a:ext uri="{FF2B5EF4-FFF2-40B4-BE49-F238E27FC236}">
                <a16:creationId xmlns:a16="http://schemas.microsoft.com/office/drawing/2014/main" id="{9C35D755-59B9-42C6-B527-CAAF8861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340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這堂課不追求一次產出完整答案，而是學會把任務拆成可檢查步驟。</a:t>
            </a:r>
          </a:p>
        </p:txBody>
      </p:sp>
    </p:spTree>
    <p:extLst>
      <p:ext uri="{BB962C8B-B14F-4D97-AF65-F5344CB8AC3E}">
        <p14:creationId xmlns:p14="http://schemas.microsoft.com/office/powerpoint/2010/main" val="20852024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159352D-EB47-4608-8ABA-CE2CB95B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MATURITY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EF74BE9-BC51-46DF-9ABE-9BE4E059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不是單一型態，而是自動化程度的光譜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9B1BB94-6FAF-4C66-B7A4-581EC2A4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7/22</a:t>
            </a:r>
          </a:p>
        </p:txBody>
      </p:sp>
      <p:sp>
        <p:nvSpPr>
          <p:cNvPr id="4" name="ladder-line">
            <a:extLst xmlns:a="http://schemas.openxmlformats.org/drawingml/2006/main">
              <a:ext uri="{FF2B5EF4-FFF2-40B4-BE49-F238E27FC236}">
                <a16:creationId xmlns:a16="http://schemas.microsoft.com/office/drawing/2014/main" id="{9B23E144-AF62-452E-97E6-163FA5AE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44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5" name="level-0">
            <a:extLst xmlns:a="http://schemas.openxmlformats.org/drawingml/2006/main">
              <a:ext uri="{FF2B5EF4-FFF2-40B4-BE49-F238E27FC236}">
                <a16:creationId xmlns:a16="http://schemas.microsoft.com/office/drawing/2014/main" id="{D4BDF897-CB54-4942-8020-6365D402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6" name="level-copy-0">
            <a:extLst xmlns:a="http://schemas.openxmlformats.org/drawingml/2006/main">
              <a:ext uri="{FF2B5EF4-FFF2-40B4-BE49-F238E27FC236}">
                <a16:creationId xmlns:a16="http://schemas.microsoft.com/office/drawing/2014/main" id="{DC9A88A4-D78A-44C0-99D8-C0AB2D9E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回答問題</a:t>
            </a:r>
          </a:p>
        </p:txBody>
      </p:sp>
      <p:sp>
        <p:nvSpPr>
          <p:cNvPr id="7" name="level-1">
            <a:extLst xmlns:a="http://schemas.openxmlformats.org/drawingml/2006/main">
              <a:ext uri="{FF2B5EF4-FFF2-40B4-BE49-F238E27FC236}">
                <a16:creationId xmlns:a16="http://schemas.microsoft.com/office/drawing/2014/main" id="{51C7B895-084D-4C7E-BD13-C02C6753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8" name="level-copy-1">
            <a:extLst xmlns:a="http://schemas.openxmlformats.org/drawingml/2006/main">
              <a:ext uri="{FF2B5EF4-FFF2-40B4-BE49-F238E27FC236}">
                <a16:creationId xmlns:a16="http://schemas.microsoft.com/office/drawing/2014/main" id="{659E0BD6-45BD-455F-B821-E0429945D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摘要與整理</a:t>
            </a:r>
          </a:p>
        </p:txBody>
      </p:sp>
      <p:sp>
        <p:nvSpPr>
          <p:cNvPr id="9" name="level-2">
            <a:extLst xmlns:a="http://schemas.openxmlformats.org/drawingml/2006/main">
              <a:ext uri="{FF2B5EF4-FFF2-40B4-BE49-F238E27FC236}">
                <a16:creationId xmlns:a16="http://schemas.microsoft.com/office/drawing/2014/main" id="{45C4F0B7-EC2B-4F1E-A9BB-1176FD858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user</a:t>
            </a:r>
          </a:p>
        </p:txBody>
      </p:sp>
      <p:sp>
        <p:nvSpPr>
          <p:cNvPr id="10" name="level-copy-2">
            <a:extLst xmlns:a="http://schemas.openxmlformats.org/drawingml/2006/main">
              <a:ext uri="{FF2B5EF4-FFF2-40B4-BE49-F238E27FC236}">
                <a16:creationId xmlns:a16="http://schemas.microsoft.com/office/drawing/2014/main" id="{6930F802-E9F8-4719-A639-072A7471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查資料、讀檔、跑工具</a:t>
            </a:r>
          </a:p>
        </p:txBody>
      </p:sp>
      <p:sp>
        <p:nvSpPr>
          <p:cNvPr id="11" name="level-3">
            <a:extLst xmlns:a="http://schemas.openxmlformats.org/drawingml/2006/main">
              <a:ext uri="{FF2B5EF4-FFF2-40B4-BE49-F238E27FC236}">
                <a16:creationId xmlns:a16="http://schemas.microsoft.com/office/drawing/2014/main" id="{42241B79-7768-4AC1-A83F-66D39022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agent</a:t>
            </a:r>
          </a:p>
        </p:txBody>
      </p:sp>
      <p:sp>
        <p:nvSpPr>
          <p:cNvPr id="12" name="level-copy-3">
            <a:extLst xmlns:a="http://schemas.openxmlformats.org/drawingml/2006/main">
              <a:ext uri="{FF2B5EF4-FFF2-40B4-BE49-F238E27FC236}">
                <a16:creationId xmlns:a16="http://schemas.microsoft.com/office/drawing/2014/main" id="{2729E5C6-BED8-47B1-95F1-A35C9386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多步驟執行與檢查</a:t>
            </a:r>
          </a:p>
        </p:txBody>
      </p:sp>
      <p:sp>
        <p:nvSpPr>
          <p:cNvPr id="13" name="level-4">
            <a:extLst xmlns:a="http://schemas.openxmlformats.org/drawingml/2006/main">
              <a:ext uri="{FF2B5EF4-FFF2-40B4-BE49-F238E27FC236}">
                <a16:creationId xmlns:a16="http://schemas.microsoft.com/office/drawing/2014/main" id="{F371C88D-A7F2-4F99-A0EE-08E629748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Autonomous</a:t>
            </a:r>
          </a:p>
        </p:txBody>
      </p:sp>
      <p:sp>
        <p:nvSpPr>
          <p:cNvPr id="14" name="level-copy-4">
            <a:extLst xmlns:a="http://schemas.openxmlformats.org/drawingml/2006/main">
              <a:ext uri="{FF2B5EF4-FFF2-40B4-BE49-F238E27FC236}">
                <a16:creationId xmlns:a16="http://schemas.microsoft.com/office/drawing/2014/main" id="{4F9A23E8-0DE5-444E-B7B4-F063BF45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長時間自行操作</a:t>
            </a:r>
          </a:p>
        </p:txBody>
      </p:sp>
      <p:sp>
        <p:nvSpPr>
          <p:cNvPr id="15" name="takeaway">
            <a:extLst xmlns:a="http://schemas.openxmlformats.org/drawingml/2006/main">
              <a:ext uri="{FF2B5EF4-FFF2-40B4-BE49-F238E27FC236}">
                <a16:creationId xmlns:a16="http://schemas.microsoft.com/office/drawing/2014/main" id="{B7510493-33F0-4621-AE53-5B30AAC0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578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本課程的重點在 tool-using 與 workflow agent，不鼓勵無監督 autonomous use。</a:t>
            </a:r>
          </a:p>
        </p:txBody>
      </p:sp>
    </p:spTree>
    <p:extLst>
      <p:ext uri="{BB962C8B-B14F-4D97-AF65-F5344CB8AC3E}">
        <p14:creationId xmlns:p14="http://schemas.microsoft.com/office/powerpoint/2010/main" val="18356760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4F2D36FE-686D-416C-A269-C8015928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CHATBOT VS AGENT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650235D-1C7F-4C0E-9864-52E4A07F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Chatbot 產生回答；agent 交付可檢查 artifact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3BE9799-34B9-4A1B-9D10-E17C90EE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8/22</a:t>
            </a:r>
          </a:p>
        </p:txBody>
      </p:sp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CE8201C2-D245-4C0A-A618-375374ED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right">
            <a:extLst xmlns:a="http://schemas.openxmlformats.org/drawingml/2006/main">
              <a:ext uri="{FF2B5EF4-FFF2-40B4-BE49-F238E27FC236}">
                <a16:creationId xmlns:a16="http://schemas.microsoft.com/office/drawing/2014/main" id="{B50DF348-8698-40FB-917E-B13551B6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73EB1A77-EB42-4294-9007-8D399F21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098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 answer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EC7434CE-E4A3-4150-AC2A-1D25910E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098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8" name="prompt">
            <a:extLst xmlns:a="http://schemas.openxmlformats.org/drawingml/2006/main">
              <a:ext uri="{FF2B5EF4-FFF2-40B4-BE49-F238E27FC236}">
                <a16:creationId xmlns:a16="http://schemas.microsoft.com/office/drawing/2014/main" id="{FC7B07E4-6026-4D3A-B578-25E2E5EA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81350"/>
            <a:ext cx="12573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9" name="response">
            <a:extLst xmlns:a="http://schemas.openxmlformats.org/drawingml/2006/main">
              <a:ext uri="{FF2B5EF4-FFF2-40B4-BE49-F238E27FC236}">
                <a16:creationId xmlns:a16="http://schemas.microsoft.com/office/drawing/2014/main" id="{FE5F2DD7-36FC-49FB-B570-1C2DC173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1350"/>
            <a:ext cx="13525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0" name="chat-line">
            <a:extLst xmlns:a="http://schemas.openxmlformats.org/drawingml/2006/main">
              <a:ext uri="{FF2B5EF4-FFF2-40B4-BE49-F238E27FC236}">
                <a16:creationId xmlns:a16="http://schemas.microsoft.com/office/drawing/2014/main" id="{684F2EB3-A91F-4CE9-85CC-03EFFB04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38525"/>
            <a:ext cx="1028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6670"/>
            </a:solidFill>
            <a:prstDash val="solid"/>
          </a:ln>
        </p:spPr>
      </p:sp>
      <p:sp>
        <p:nvSpPr>
          <p:cNvPr id="11" name="left-copy">
            <a:extLst xmlns:a="http://schemas.openxmlformats.org/drawingml/2006/main">
              <a:ext uri="{FF2B5EF4-FFF2-40B4-BE49-F238E27FC236}">
                <a16:creationId xmlns:a16="http://schemas.microsoft.com/office/drawing/2014/main" id="{99A0B057-58DA-47BA-800A-6BB8E332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100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看起來完整，但來源、欄位與限制常不清楚。</a:t>
            </a:r>
          </a:p>
        </p:txBody>
      </p:sp>
      <p:sp>
        <p:nvSpPr>
          <p:cNvPr id="12" name="a1">
            <a:extLst xmlns:a="http://schemas.openxmlformats.org/drawingml/2006/main">
              <a:ext uri="{FF2B5EF4-FFF2-40B4-BE49-F238E27FC236}">
                <a16:creationId xmlns:a16="http://schemas.microsoft.com/office/drawing/2014/main" id="{7C00559E-4DA0-41F8-A80A-54A988E7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13" name="a2">
            <a:extLst xmlns:a="http://schemas.openxmlformats.org/drawingml/2006/main">
              <a:ext uri="{FF2B5EF4-FFF2-40B4-BE49-F238E27FC236}">
                <a16:creationId xmlns:a16="http://schemas.microsoft.com/office/drawing/2014/main" id="{3645790D-141C-4792-A1DD-E6C49EB0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4" name="a3">
            <a:extLst xmlns:a="http://schemas.openxmlformats.org/drawingml/2006/main">
              <a:ext uri="{FF2B5EF4-FFF2-40B4-BE49-F238E27FC236}">
                <a16:creationId xmlns:a16="http://schemas.microsoft.com/office/drawing/2014/main" id="{2051D095-400F-4824-B0E2-8094A074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4330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a4">
            <a:extLst xmlns:a="http://schemas.openxmlformats.org/drawingml/2006/main">
              <a:ext uri="{FF2B5EF4-FFF2-40B4-BE49-F238E27FC236}">
                <a16:creationId xmlns:a16="http://schemas.microsoft.com/office/drawing/2014/main" id="{A7E16C64-DC61-4AB8-8E92-22509706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291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6" name="agent-Goal">
            <a:extLst xmlns:a="http://schemas.openxmlformats.org/drawingml/2006/main">
              <a:ext uri="{FF2B5EF4-FFF2-40B4-BE49-F238E27FC236}">
                <a16:creationId xmlns:a16="http://schemas.microsoft.com/office/drawing/2014/main" id="{EC79428A-6026-4671-9203-6A015373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7" name="agent-Tools">
            <a:extLst xmlns:a="http://schemas.openxmlformats.org/drawingml/2006/main">
              <a:ext uri="{FF2B5EF4-FFF2-40B4-BE49-F238E27FC236}">
                <a16:creationId xmlns:a16="http://schemas.microsoft.com/office/drawing/2014/main" id="{975EC48C-4A0A-4390-B141-20B1FF4C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8" name="agent-Evidence">
            <a:extLst xmlns:a="http://schemas.openxmlformats.org/drawingml/2006/main">
              <a:ext uri="{FF2B5EF4-FFF2-40B4-BE49-F238E27FC236}">
                <a16:creationId xmlns:a16="http://schemas.microsoft.com/office/drawing/2014/main" id="{77109F86-FC10-40E0-B710-37CDA5B8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agent-Verify">
            <a:extLst xmlns:a="http://schemas.openxmlformats.org/drawingml/2006/main">
              <a:ext uri="{FF2B5EF4-FFF2-40B4-BE49-F238E27FC236}">
                <a16:creationId xmlns:a16="http://schemas.microsoft.com/office/drawing/2014/main" id="{AAAB2859-3009-45C7-997F-3BB6EC87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0" name="agent-Artifact">
            <a:extLst xmlns:a="http://schemas.openxmlformats.org/drawingml/2006/main">
              <a:ext uri="{FF2B5EF4-FFF2-40B4-BE49-F238E27FC236}">
                <a16:creationId xmlns:a16="http://schemas.microsoft.com/office/drawing/2014/main" id="{A8583D90-6DA9-4F29-B025-D3D3E70F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21" name="right-copy">
            <a:extLst xmlns:a="http://schemas.openxmlformats.org/drawingml/2006/main">
              <a:ext uri="{FF2B5EF4-FFF2-40B4-BE49-F238E27FC236}">
                <a16:creationId xmlns:a16="http://schemas.microsoft.com/office/drawing/2014/main" id="{487EDE05-2A42-4A37-8B58-3126F7C1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67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重點不是更像人，而是能留下可審核輸出。</a:t>
            </a:r>
          </a:p>
        </p:txBody>
      </p:sp>
    </p:spTree>
    <p:extLst>
      <p:ext uri="{BB962C8B-B14F-4D97-AF65-F5344CB8AC3E}">
        <p14:creationId xmlns:p14="http://schemas.microsoft.com/office/powerpoint/2010/main" val="17070494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82BCABA6-984D-4F84-9D47-9D0620A1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AGENT COMPONENTS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A9FBAB6-10D3-44CF-BC92-3AC7C7A9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可靠 agent 由元件與邊界組成，不只是一個模型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03B5E03-90FF-4306-AB80-36B7F68F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9/22</a:t>
            </a:r>
          </a:p>
        </p:txBody>
      </p:sp>
      <p:sp>
        <p:nvSpPr>
          <p:cNvPr id="4" name="workflow-boundary">
            <a:extLst xmlns:a="http://schemas.openxmlformats.org/drawingml/2006/main">
              <a:ext uri="{FF2B5EF4-FFF2-40B4-BE49-F238E27FC236}">
                <a16:creationId xmlns:a16="http://schemas.microsoft.com/office/drawing/2014/main" id="{18243E80-0C23-4FBF-AAC1-B9E3E9B8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24050"/>
            <a:ext cx="9829800" cy="4057650"/>
          </a:xfrm>
          <a:prstGeom xmlns:a="http://schemas.openxmlformats.org/drawingml/2006/main" prst="roundRect">
            <a:avLst>
              <a:gd name="adj" fmla="val 1878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dash"/>
          </a:ln>
        </p:spPr>
      </p:sp>
      <p:sp>
        <p:nvSpPr>
          <p:cNvPr id="5" name="boundary-label">
            <a:extLst xmlns:a="http://schemas.openxmlformats.org/drawingml/2006/main">
              <a:ext uri="{FF2B5EF4-FFF2-40B4-BE49-F238E27FC236}">
                <a16:creationId xmlns:a16="http://schemas.microsoft.com/office/drawing/2014/main" id="{8ED57D87-2DC8-46DE-866B-9F5C0C3D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193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workflow boundary</a:t>
            </a:r>
          </a:p>
        </p:txBody>
      </p:sp>
      <p:sp>
        <p:nvSpPr>
          <p:cNvPr id="6" name="goal-to-model">
            <a:extLst xmlns:a="http://schemas.openxmlformats.org/drawingml/2006/main">
              <a:ext uri="{FF2B5EF4-FFF2-40B4-BE49-F238E27FC236}">
                <a16:creationId xmlns:a16="http://schemas.microsoft.com/office/drawing/2014/main" id="{52F39093-525C-472F-BEAC-9F3C7082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7" name="context-to-model">
            <a:extLst xmlns:a="http://schemas.openxmlformats.org/drawingml/2006/main">
              <a:ext uri="{FF2B5EF4-FFF2-40B4-BE49-F238E27FC236}">
                <a16:creationId xmlns:a16="http://schemas.microsoft.com/office/drawing/2014/main" id="{C19936A9-560D-42D4-A5D2-573FAECC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909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8" name="model-to-tools">
            <a:extLst xmlns:a="http://schemas.openxmlformats.org/drawingml/2006/main">
              <a:ext uri="{FF2B5EF4-FFF2-40B4-BE49-F238E27FC236}">
                <a16:creationId xmlns:a16="http://schemas.microsoft.com/office/drawing/2014/main" id="{933CF9F5-C58C-43F3-84DD-43BB1885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90900"/>
            <a:ext cx="110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9" name="model-to-state">
            <a:extLst xmlns:a="http://schemas.openxmlformats.org/drawingml/2006/main">
              <a:ext uri="{FF2B5EF4-FFF2-40B4-BE49-F238E27FC236}">
                <a16:creationId xmlns:a16="http://schemas.microsoft.com/office/drawing/2014/main" id="{6130527D-C64B-460D-9BF0-9229965C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5285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0" name="state-to-verify">
            <a:extLst xmlns:a="http://schemas.openxmlformats.org/drawingml/2006/main">
              <a:ext uri="{FF2B5EF4-FFF2-40B4-BE49-F238E27FC236}">
                <a16:creationId xmlns:a16="http://schemas.microsoft.com/office/drawing/2014/main" id="{6D7BC9ED-B6BA-4EA8-B2DD-EF1E44AD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006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4DADD"/>
            </a:solidFill>
            <a:prstDash val="solid"/>
          </a:ln>
        </p:spPr>
      </p:sp>
      <p:sp>
        <p:nvSpPr>
          <p:cNvPr id="11" name="node-Goal">
            <a:extLst xmlns:a="http://schemas.openxmlformats.org/drawingml/2006/main">
              <a:ext uri="{FF2B5EF4-FFF2-40B4-BE49-F238E27FC236}">
                <a16:creationId xmlns:a16="http://schemas.microsoft.com/office/drawing/2014/main" id="{E30A09ED-6DFF-4760-8FD2-56497E18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764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成功條件</a:t>
            </a:r>
          </a:p>
        </p:txBody>
      </p:sp>
      <p:sp>
        <p:nvSpPr>
          <p:cNvPr id="12" name="node-Context">
            <a:extLst xmlns:a="http://schemas.openxmlformats.org/drawingml/2006/main">
              <a:ext uri="{FF2B5EF4-FFF2-40B4-BE49-F238E27FC236}">
                <a16:creationId xmlns:a16="http://schemas.microsoft.com/office/drawing/2014/main" id="{9BE41303-9F73-4094-B71E-D3CFE9E8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086100"/>
            <a:ext cx="2209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任務、資料、限制</a:t>
            </a:r>
          </a:p>
        </p:txBody>
      </p:sp>
      <p:sp>
        <p:nvSpPr>
          <p:cNvPr id="13" name="model">
            <a:extLst xmlns:a="http://schemas.openxmlformats.org/drawingml/2006/main">
              <a:ext uri="{FF2B5EF4-FFF2-40B4-BE49-F238E27FC236}">
                <a16:creationId xmlns:a16="http://schemas.microsoft.com/office/drawing/2014/main" id="{1A843402-749B-4AC0-82B7-4C19D6A9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28950"/>
            <a:ext cx="19812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Model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推理與生成</a:t>
            </a:r>
          </a:p>
        </p:txBody>
      </p:sp>
      <p:sp>
        <p:nvSpPr>
          <p:cNvPr id="14" name="node-Tools">
            <a:extLst xmlns:a="http://schemas.openxmlformats.org/drawingml/2006/main">
              <a:ext uri="{FF2B5EF4-FFF2-40B4-BE49-F238E27FC236}">
                <a16:creationId xmlns:a16="http://schemas.microsoft.com/office/drawing/2014/main" id="{DE735A17-22E3-4A9E-86D7-6D73FAA57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86100"/>
            <a:ext cx="2209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搜尋、讀檔、查 DB</a:t>
            </a:r>
          </a:p>
        </p:txBody>
      </p:sp>
      <p:sp>
        <p:nvSpPr>
          <p:cNvPr id="15" name="node-State">
            <a:extLst xmlns:a="http://schemas.openxmlformats.org/drawingml/2006/main">
              <a:ext uri="{FF2B5EF4-FFF2-40B4-BE49-F238E27FC236}">
                <a16:creationId xmlns:a16="http://schemas.microsoft.com/office/drawing/2014/main" id="{D364CF99-3A1B-4643-B072-C2C3DEBF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進度與中間結果</a:t>
            </a:r>
          </a:p>
        </p:txBody>
      </p:sp>
      <p:sp>
        <p:nvSpPr>
          <p:cNvPr id="16" name="node-Verification">
            <a:extLst xmlns:a="http://schemas.openxmlformats.org/drawingml/2006/main">
              <a:ext uri="{FF2B5EF4-FFF2-40B4-BE49-F238E27FC236}">
                <a16:creationId xmlns:a16="http://schemas.microsoft.com/office/drawing/2014/main" id="{3E3F1A5B-F425-4122-B2D8-1B4D300D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162550"/>
            <a:ext cx="1981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Verification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檢查與停止條件</a:t>
            </a:r>
          </a:p>
        </p:txBody>
      </p:sp>
    </p:spTree>
    <p:extLst>
      <p:ext uri="{BB962C8B-B14F-4D97-AF65-F5344CB8AC3E}">
        <p14:creationId xmlns:p14="http://schemas.microsoft.com/office/powerpoint/2010/main" val="5455056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5587BFB-3299-4A00-99BC-9D6B6C44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F12D21B-7133-4181-AE79-8A6154C7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的核心是一個會觀察、修正與停止的循環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471D8C2B-2979-4A6C-9CD3-C8123A3C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10/22</a:t>
            </a:r>
          </a:p>
        </p:txBody>
      </p:sp>
      <p:sp>
        <p:nvSpPr>
          <p:cNvPr id="4" name="goal-plan-a">
            <a:extLst xmlns:a="http://schemas.openxmlformats.org/drawingml/2006/main">
              <a:ext uri="{FF2B5EF4-FFF2-40B4-BE49-F238E27FC236}">
                <a16:creationId xmlns:a16="http://schemas.microsoft.com/office/drawing/2014/main" id="{32B93761-DB88-4496-814C-B99CBF66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5" name="goal-plan-b">
            <a:extLst xmlns:a="http://schemas.openxmlformats.org/drawingml/2006/main">
              <a:ext uri="{FF2B5EF4-FFF2-40B4-BE49-F238E27FC236}">
                <a16:creationId xmlns:a16="http://schemas.microsoft.com/office/drawing/2014/main" id="{5741CCCB-941B-4F0B-B01E-87F00013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6" name="goal-plan-c">
            <a:extLst xmlns:a="http://schemas.openxmlformats.org/drawingml/2006/main">
              <a:ext uri="{FF2B5EF4-FFF2-40B4-BE49-F238E27FC236}">
                <a16:creationId xmlns:a16="http://schemas.microsoft.com/office/drawing/2014/main" id="{6ABD26B6-9061-452D-8C6A-58943452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7" name="plan-act">
            <a:extLst xmlns:a="http://schemas.openxmlformats.org/drawingml/2006/main">
              <a:ext uri="{FF2B5EF4-FFF2-40B4-BE49-F238E27FC236}">
                <a16:creationId xmlns:a16="http://schemas.microsoft.com/office/drawing/2014/main" id="{52D285C3-670B-4CC6-8E23-3E843942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1200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8" name="act-observe-a">
            <a:extLst xmlns:a="http://schemas.openxmlformats.org/drawingml/2006/main">
              <a:ext uri="{FF2B5EF4-FFF2-40B4-BE49-F238E27FC236}">
                <a16:creationId xmlns:a16="http://schemas.microsoft.com/office/drawing/2014/main" id="{91272849-AAB6-4C90-A22D-59245B58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907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9" name="act-observe-b">
            <a:extLst xmlns:a="http://schemas.openxmlformats.org/drawingml/2006/main">
              <a:ext uri="{FF2B5EF4-FFF2-40B4-BE49-F238E27FC236}">
                <a16:creationId xmlns:a16="http://schemas.microsoft.com/office/drawing/2014/main" id="{DDC6763C-D88E-4CD5-AABC-2C5469F0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0" name="act-observe-c">
            <a:extLst xmlns:a="http://schemas.openxmlformats.org/drawingml/2006/main">
              <a:ext uri="{FF2B5EF4-FFF2-40B4-BE49-F238E27FC236}">
                <a16:creationId xmlns:a16="http://schemas.microsoft.com/office/drawing/2014/main" id="{E73FE626-6418-4B54-A11D-62A64CFB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1" name="observe-verify-a">
            <a:extLst xmlns:a="http://schemas.openxmlformats.org/drawingml/2006/main">
              <a:ext uri="{FF2B5EF4-FFF2-40B4-BE49-F238E27FC236}">
                <a16:creationId xmlns:a16="http://schemas.microsoft.com/office/drawing/2014/main" id="{D46F0997-0103-4E67-A383-3E9D32C1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33750"/>
            <a:ext cx="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2" name="observe-verify-b">
            <a:extLst xmlns:a="http://schemas.openxmlformats.org/drawingml/2006/main">
              <a:ext uri="{FF2B5EF4-FFF2-40B4-BE49-F238E27FC236}">
                <a16:creationId xmlns:a16="http://schemas.microsoft.com/office/drawing/2014/main" id="{75FDC200-3B94-4407-82DA-0A7E63D9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3" name="observe-verify-c">
            <a:extLst xmlns:a="http://schemas.openxmlformats.org/drawingml/2006/main">
              <a:ext uri="{FF2B5EF4-FFF2-40B4-BE49-F238E27FC236}">
                <a16:creationId xmlns:a16="http://schemas.microsoft.com/office/drawing/2014/main" id="{3453B08A-FE4F-4C50-8094-737455AB8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4" name="verify-state">
            <a:extLst xmlns:a="http://schemas.openxmlformats.org/drawingml/2006/main">
              <a:ext uri="{FF2B5EF4-FFF2-40B4-BE49-F238E27FC236}">
                <a16:creationId xmlns:a16="http://schemas.microsoft.com/office/drawing/2014/main" id="{3FB13BAD-F425-4472-8F6A-24D7B128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state-goal-a">
            <a:extLst xmlns:a="http://schemas.openxmlformats.org/drawingml/2006/main">
              <a:ext uri="{FF2B5EF4-FFF2-40B4-BE49-F238E27FC236}">
                <a16:creationId xmlns:a16="http://schemas.microsoft.com/office/drawing/2014/main" id="{EDA17CE4-8494-4F54-BD93-0DA95590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434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6" name="state-goal-b">
            <a:extLst xmlns:a="http://schemas.openxmlformats.org/drawingml/2006/main">
              <a:ext uri="{FF2B5EF4-FFF2-40B4-BE49-F238E27FC236}">
                <a16:creationId xmlns:a16="http://schemas.microsoft.com/office/drawing/2014/main" id="{4FAE4415-B4E4-421E-AD5D-4C2979F2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0" cy="1676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7" name="state-goal-c">
            <a:extLst xmlns:a="http://schemas.openxmlformats.org/drawingml/2006/main">
              <a:ext uri="{FF2B5EF4-FFF2-40B4-BE49-F238E27FC236}">
                <a16:creationId xmlns:a16="http://schemas.microsoft.com/office/drawing/2014/main" id="{39B5AF2F-FD00-4EA2-9CEB-635F53A86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8" name="goal">
            <a:extLst xmlns:a="http://schemas.openxmlformats.org/drawingml/2006/main">
              <a:ext uri="{FF2B5EF4-FFF2-40B4-BE49-F238E27FC236}">
                <a16:creationId xmlns:a16="http://schemas.microsoft.com/office/drawing/2014/main" id="{2594C3C8-25B1-4A43-9AA4-0AEB91E0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9" name="plan">
            <a:extLst xmlns:a="http://schemas.openxmlformats.org/drawingml/2006/main">
              <a:ext uri="{FF2B5EF4-FFF2-40B4-BE49-F238E27FC236}">
                <a16:creationId xmlns:a16="http://schemas.microsoft.com/office/drawing/2014/main" id="{90BF48AF-5579-477F-9125-41720242B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0" name="act">
            <a:extLst xmlns:a="http://schemas.openxmlformats.org/drawingml/2006/main">
              <a:ext uri="{FF2B5EF4-FFF2-40B4-BE49-F238E27FC236}">
                <a16:creationId xmlns:a16="http://schemas.microsoft.com/office/drawing/2014/main" id="{0FCAC835-8386-4C2C-A753-35C465DD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859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with tools</a:t>
            </a:r>
          </a:p>
        </p:txBody>
      </p:sp>
      <p:sp>
        <p:nvSpPr>
          <p:cNvPr id="21" name="observe">
            <a:extLst xmlns:a="http://schemas.openxmlformats.org/drawingml/2006/main">
              <a:ext uri="{FF2B5EF4-FFF2-40B4-BE49-F238E27FC236}">
                <a16:creationId xmlns:a16="http://schemas.microsoft.com/office/drawing/2014/main" id="{85DFD03D-8866-49C1-896F-68B3E0E8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00350"/>
            <a:ext cx="12192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22" name="verify">
            <a:extLst xmlns:a="http://schemas.openxmlformats.org/drawingml/2006/main">
              <a:ext uri="{FF2B5EF4-FFF2-40B4-BE49-F238E27FC236}">
                <a16:creationId xmlns:a16="http://schemas.microsoft.com/office/drawing/2014/main" id="{A2EE1520-F9B6-4A75-B341-FFF4B8B8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3" name="state">
            <a:extLst xmlns:a="http://schemas.openxmlformats.org/drawingml/2006/main">
              <a:ext uri="{FF2B5EF4-FFF2-40B4-BE49-F238E27FC236}">
                <a16:creationId xmlns:a16="http://schemas.microsoft.com/office/drawing/2014/main" id="{25CFCC47-EE90-4F97-80D9-CB2BEF6F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38650"/>
            <a:ext cx="11811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Update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4" name="human">
            <a:extLst xmlns:a="http://schemas.openxmlformats.org/drawingml/2006/main">
              <a:ext uri="{FF2B5EF4-FFF2-40B4-BE49-F238E27FC236}">
                <a16:creationId xmlns:a16="http://schemas.microsoft.com/office/drawing/2014/main" id="{422EB857-A02E-4FCE-88CF-0846427C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38650"/>
            <a:ext cx="1600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5" name="human-link">
            <a:extLst xmlns:a="http://schemas.openxmlformats.org/drawingml/2006/main">
              <a:ext uri="{FF2B5EF4-FFF2-40B4-BE49-F238E27FC236}">
                <a16:creationId xmlns:a16="http://schemas.microsoft.com/office/drawing/2014/main" id="{B7F8ADF1-B486-4E20-B68C-2E3E8EC11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434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dash"/>
          </a:ln>
        </p:spPr>
      </p:sp>
      <p:sp>
        <p:nvSpPr>
          <p:cNvPr id="26" name="loop-note">
            <a:extLst xmlns:a="http://schemas.openxmlformats.org/drawingml/2006/main">
              <a:ext uri="{FF2B5EF4-FFF2-40B4-BE49-F238E27FC236}">
                <a16:creationId xmlns:a16="http://schemas.microsoft.com/office/drawing/2014/main" id="{264CFC15-6F1A-4BA9-9A06-C03DF500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578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不是一次輸入、一次輸出；可靠性來自檢查點與停止條件。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18763997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BEC4150-0F4A-4F22-8004-055F681D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ARTIFACTS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101F0F9-6AEE-4A62-9916-1D9175B9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每一步都應留下之後能檢查的東西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49BB0C3-FAB5-4E79-AFB9-64940D90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11/22</a:t>
            </a:r>
          </a:p>
        </p:txBody>
      </p:sp>
      <p:sp>
        <p:nvSpPr>
          <p:cNvPr id="4" name="table-bg">
            <a:extLst xmlns:a="http://schemas.openxmlformats.org/drawingml/2006/main">
              <a:ext uri="{FF2B5EF4-FFF2-40B4-BE49-F238E27FC236}">
                <a16:creationId xmlns:a16="http://schemas.microsoft.com/office/drawing/2014/main" id="{1F5943E4-BFD8-4FC4-955B-5E8B8EBD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10363200" cy="3676650"/>
          </a:xfrm>
          <a:prstGeom xmlns:a="http://schemas.openxmlformats.org/drawingml/2006/main" prst="roundRect">
            <a:avLst>
              <a:gd name="adj" fmla="val 2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h-0">
            <a:extLst xmlns:a="http://schemas.openxmlformats.org/drawingml/2006/main">
              <a:ext uri="{FF2B5EF4-FFF2-40B4-BE49-F238E27FC236}">
                <a16:creationId xmlns:a16="http://schemas.microsoft.com/office/drawing/2014/main" id="{C262AABD-B604-4473-ADCB-76B52527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57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Step</a:t>
            </a:r>
          </a:p>
        </p:txBody>
      </p:sp>
      <p:sp>
        <p:nvSpPr>
          <p:cNvPr id="6" name="h-1">
            <a:extLst xmlns:a="http://schemas.openxmlformats.org/drawingml/2006/main">
              <a:ext uri="{FF2B5EF4-FFF2-40B4-BE49-F238E27FC236}">
                <a16:creationId xmlns:a16="http://schemas.microsoft.com/office/drawing/2014/main" id="{FB248800-6D79-4E0A-B713-D3165021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57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h-2">
            <a:extLst xmlns:a="http://schemas.openxmlformats.org/drawingml/2006/main">
              <a:ext uri="{FF2B5EF4-FFF2-40B4-BE49-F238E27FC236}">
                <a16:creationId xmlns:a16="http://schemas.microsoft.com/office/drawing/2014/main" id="{3CC5FE0B-AF38-403C-B426-471B41DE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step-0">
            <a:extLst xmlns:a="http://schemas.openxmlformats.org/drawingml/2006/main">
              <a:ext uri="{FF2B5EF4-FFF2-40B4-BE49-F238E27FC236}">
                <a16:creationId xmlns:a16="http://schemas.microsoft.com/office/drawing/2014/main" id="{B4A37DD5-BA45-467F-AB8F-41A75FFF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artifact-0">
            <a:extLst xmlns:a="http://schemas.openxmlformats.org/drawingml/2006/main">
              <a:ext uri="{FF2B5EF4-FFF2-40B4-BE49-F238E27FC236}">
                <a16:creationId xmlns:a16="http://schemas.microsoft.com/office/drawing/2014/main" id="{3B24C9DF-56F6-4EEA-AF75-B60DEFF6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why-0">
            <a:extLst xmlns:a="http://schemas.openxmlformats.org/drawingml/2006/main">
              <a:ext uri="{FF2B5EF4-FFF2-40B4-BE49-F238E27FC236}">
                <a16:creationId xmlns:a16="http://schemas.microsoft.com/office/drawing/2014/main" id="{B88E9A0C-24E0-45E6-85A1-A9F9553F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任務、輸入、輸出與限制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D9AF3F68-F188-4963-A321-70C31D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1363C678-97BC-47F8-B6CE-8BB739C3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3" name="artifact-1">
            <a:extLst xmlns:a="http://schemas.openxmlformats.org/drawingml/2006/main">
              <a:ext uri="{FF2B5EF4-FFF2-40B4-BE49-F238E27FC236}">
                <a16:creationId xmlns:a16="http://schemas.microsoft.com/office/drawing/2014/main" id="{A6EE26F1-2DA3-49FC-AA82-AE4593C4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48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query log</a:t>
            </a:r>
          </a:p>
        </p:txBody>
      </p:sp>
      <p:sp>
        <p:nvSpPr>
          <p:cNvPr id="14" name="why-1">
            <a:extLst xmlns:a="http://schemas.openxmlformats.org/drawingml/2006/main">
              <a:ext uri="{FF2B5EF4-FFF2-40B4-BE49-F238E27FC236}">
                <a16:creationId xmlns:a16="http://schemas.microsoft.com/office/drawing/2014/main" id="{AE9E9FE9-F1CA-45B1-B84E-0B4F87D8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480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關鍵字、日期、來源清單</a:t>
            </a:r>
          </a:p>
        </p:txBody>
      </p:sp>
      <p:sp>
        <p:nvSpPr>
          <p:cNvPr id="15" name="row-1">
            <a:extLst xmlns:a="http://schemas.openxmlformats.org/drawingml/2006/main">
              <a:ext uri="{FF2B5EF4-FFF2-40B4-BE49-F238E27FC236}">
                <a16:creationId xmlns:a16="http://schemas.microsoft.com/office/drawing/2014/main" id="{44DCF3C0-2696-4EB1-966C-3CB03872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099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6" name="step-2">
            <a:extLst xmlns:a="http://schemas.openxmlformats.org/drawingml/2006/main">
              <a:ext uri="{FF2B5EF4-FFF2-40B4-BE49-F238E27FC236}">
                <a16:creationId xmlns:a16="http://schemas.microsoft.com/office/drawing/2014/main" id="{078CDA59-1ABA-41FE-B924-564D4642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7" name="artifact-2">
            <a:extLst xmlns:a="http://schemas.openxmlformats.org/drawingml/2006/main">
              <a:ext uri="{FF2B5EF4-FFF2-40B4-BE49-F238E27FC236}">
                <a16:creationId xmlns:a16="http://schemas.microsoft.com/office/drawing/2014/main" id="{AA72BC12-7D1D-4418-AAA4-AFDB9986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00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8" name="why-2">
            <a:extLst xmlns:a="http://schemas.openxmlformats.org/drawingml/2006/main">
              <a:ext uri="{FF2B5EF4-FFF2-40B4-BE49-F238E27FC236}">
                <a16:creationId xmlns:a16="http://schemas.microsoft.com/office/drawing/2014/main" id="{CED9D654-CFE7-4828-8954-EF65E3897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9" name="row-2">
            <a:extLst xmlns:a="http://schemas.openxmlformats.org/drawingml/2006/main">
              <a:ext uri="{FF2B5EF4-FFF2-40B4-BE49-F238E27FC236}">
                <a16:creationId xmlns:a16="http://schemas.microsoft.com/office/drawing/2014/main" id="{60EAAA12-9B60-4126-B1DE-815BCD32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624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step-3">
            <a:extLst xmlns:a="http://schemas.openxmlformats.org/drawingml/2006/main">
              <a:ext uri="{FF2B5EF4-FFF2-40B4-BE49-F238E27FC236}">
                <a16:creationId xmlns:a16="http://schemas.microsoft.com/office/drawing/2014/main" id="{77C3B7E5-1A49-4501-B0E1-DFE19687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529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1" name="artifact-3">
            <a:extLst xmlns:a="http://schemas.openxmlformats.org/drawingml/2006/main">
              <a:ext uri="{FF2B5EF4-FFF2-40B4-BE49-F238E27FC236}">
                <a16:creationId xmlns:a16="http://schemas.microsoft.com/office/drawing/2014/main" id="{271A3F67-9D40-4331-9876-27C79902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529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tool log</a:t>
            </a:r>
          </a:p>
        </p:txBody>
      </p:sp>
      <p:sp>
        <p:nvSpPr>
          <p:cNvPr id="22" name="why-3">
            <a:extLst xmlns:a="http://schemas.openxmlformats.org/drawingml/2006/main">
              <a:ext uri="{FF2B5EF4-FFF2-40B4-BE49-F238E27FC236}">
                <a16:creationId xmlns:a16="http://schemas.microsoft.com/office/drawing/2014/main" id="{2A59034F-0DDE-47C8-BA1B-75A2B693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input、output、error</a:t>
            </a:r>
          </a:p>
        </p:txBody>
      </p:sp>
      <p:sp>
        <p:nvSpPr>
          <p:cNvPr id="23" name="row-3">
            <a:extLst xmlns:a="http://schemas.openxmlformats.org/drawingml/2006/main">
              <a:ext uri="{FF2B5EF4-FFF2-40B4-BE49-F238E27FC236}">
                <a16:creationId xmlns:a16="http://schemas.microsoft.com/office/drawing/2014/main" id="{E7E3E440-4B91-4C72-BDB2-A7AF8A7C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4" name="step-4">
            <a:extLst xmlns:a="http://schemas.openxmlformats.org/drawingml/2006/main">
              <a:ext uri="{FF2B5EF4-FFF2-40B4-BE49-F238E27FC236}">
                <a16:creationId xmlns:a16="http://schemas.microsoft.com/office/drawing/2014/main" id="{9E81711D-ADA7-49A2-9A15-74AC66FE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053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5" name="artifact-4">
            <a:extLst xmlns:a="http://schemas.openxmlformats.org/drawingml/2006/main">
              <a:ext uri="{FF2B5EF4-FFF2-40B4-BE49-F238E27FC236}">
                <a16:creationId xmlns:a16="http://schemas.microsoft.com/office/drawing/2014/main" id="{94D62554-7E21-4559-BFA1-A53912EF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053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 report</a:t>
            </a:r>
          </a:p>
        </p:txBody>
      </p:sp>
      <p:sp>
        <p:nvSpPr>
          <p:cNvPr id="26" name="why-4">
            <a:extLst xmlns:a="http://schemas.openxmlformats.org/drawingml/2006/main">
              <a:ext uri="{FF2B5EF4-FFF2-40B4-BE49-F238E27FC236}">
                <a16:creationId xmlns:a16="http://schemas.microsoft.com/office/drawing/2014/main" id="{F06A74D7-1F95-40C0-A753-C36BBBD1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53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27" name="row-4">
            <a:extLst xmlns:a="http://schemas.openxmlformats.org/drawingml/2006/main">
              <a:ext uri="{FF2B5EF4-FFF2-40B4-BE49-F238E27FC236}">
                <a16:creationId xmlns:a16="http://schemas.microsoft.com/office/drawing/2014/main" id="{774A471E-78F0-466D-B73C-70C7A9C7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673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8" name="bottom">
            <a:extLst xmlns:a="http://schemas.openxmlformats.org/drawingml/2006/main">
              <a:ext uri="{FF2B5EF4-FFF2-40B4-BE49-F238E27FC236}">
                <a16:creationId xmlns:a16="http://schemas.microsoft.com/office/drawing/2014/main" id="{422D87D1-BC12-4DD7-9B82-4F564CE3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7340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沒有 artifact，就很難 debug、重跑或交接。</a:t>
            </a:r>
          </a:p>
        </p:txBody>
      </p:sp>
    </p:spTree>
    <p:extLst>
      <p:ext uri="{BB962C8B-B14F-4D97-AF65-F5344CB8AC3E}">
        <p14:creationId xmlns:p14="http://schemas.microsoft.com/office/powerpoint/2010/main" val="18640359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5D0C531-5DD9-479A-A8B5-B05F1841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SUITABILITY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A47EE6F-8544-4414-8006-E1A1BA24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agent 的任務通常能被清楚驗證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56AFE1D-EA3D-4245-B2A3-43CC61BB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12/22</a:t>
            </a:r>
          </a:p>
        </p:txBody>
      </p:sp>
      <p:sp>
        <p:nvSpPr>
          <p:cNvPr id="4" name="good">
            <a:extLst xmlns:a="http://schemas.openxmlformats.org/drawingml/2006/main">
              <a:ext uri="{FF2B5EF4-FFF2-40B4-BE49-F238E27FC236}">
                <a16:creationId xmlns:a16="http://schemas.microsoft.com/office/drawing/2014/main" id="{0F4305D4-D83A-4865-89E6-22B1960A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bad">
            <a:extLst xmlns:a="http://schemas.openxmlformats.org/drawingml/2006/main">
              <a:ext uri="{FF2B5EF4-FFF2-40B4-BE49-F238E27FC236}">
                <a16:creationId xmlns:a16="http://schemas.microsoft.com/office/drawing/2014/main" id="{FC41346B-FCB7-4526-B997-00BD41E4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good-title">
            <a:extLst xmlns:a="http://schemas.openxmlformats.org/drawingml/2006/main">
              <a:ext uri="{FF2B5EF4-FFF2-40B4-BE49-F238E27FC236}">
                <a16:creationId xmlns:a16="http://schemas.microsoft.com/office/drawing/2014/main" id="{12C0EA81-2F3B-4178-9EAD-02FEA1AF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Good fit</a:t>
            </a:r>
          </a:p>
        </p:txBody>
      </p:sp>
      <p:sp>
        <p:nvSpPr>
          <p:cNvPr id="7" name="bad-title">
            <a:extLst xmlns:a="http://schemas.openxmlformats.org/drawingml/2006/main">
              <a:ext uri="{FF2B5EF4-FFF2-40B4-BE49-F238E27FC236}">
                <a16:creationId xmlns:a16="http://schemas.microsoft.com/office/drawing/2014/main" id="{9262E691-6C01-427A-94AE-9F948C77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fit</a:t>
            </a:r>
          </a:p>
        </p:txBody>
      </p:sp>
      <p:sp>
        <p:nvSpPr>
          <p:cNvPr id="8" name="good-list">
            <a:extLst xmlns:a="http://schemas.openxmlformats.org/drawingml/2006/main">
              <a:ext uri="{FF2B5EF4-FFF2-40B4-BE49-F238E27FC236}">
                <a16:creationId xmlns:a16="http://schemas.microsoft.com/office/drawing/2014/main" id="{F4D4B7ED-5B78-4119-81B2-B83D17A7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輸入資料明確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輸出格式固定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可用外部來源檢查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錯誤能早期發現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不直接造成臨床行動</a:t>
            </a:r>
          </a:p>
        </p:txBody>
      </p:sp>
      <p:sp>
        <p:nvSpPr>
          <p:cNvPr id="9" name="bad-list">
            <a:extLst xmlns:a="http://schemas.openxmlformats.org/drawingml/2006/main">
              <a:ext uri="{FF2B5EF4-FFF2-40B4-BE49-F238E27FC236}">
                <a16:creationId xmlns:a16="http://schemas.microsoft.com/office/drawing/2014/main" id="{776087A4-0FBF-41FD-8A4D-18D61915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目標模糊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只有主觀判斷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缺少可查來源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錯了不容易發現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涉及治療或診斷決策</a:t>
            </a:r>
          </a:p>
        </p:txBody>
      </p:sp>
      <p:sp>
        <p:nvSpPr>
          <p:cNvPr id="10" name="bottom">
            <a:extLst xmlns:a="http://schemas.openxmlformats.org/drawingml/2006/main">
              <a:ext uri="{FF2B5EF4-FFF2-40B4-BE49-F238E27FC236}">
                <a16:creationId xmlns:a16="http://schemas.microsoft.com/office/drawing/2014/main" id="{40E1DEF5-2FD2-4E8F-8767-900200FA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1975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先判斷任務能否驗證，再決定要不要讓 agent 參與。</a:t>
            </a:r>
          </a:p>
        </p:txBody>
      </p:sp>
    </p:spTree>
    <p:extLst>
      <p:ext uri="{BB962C8B-B14F-4D97-AF65-F5344CB8AC3E}">
        <p14:creationId xmlns:p14="http://schemas.microsoft.com/office/powerpoint/2010/main" val="30064361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8263E38-2F91-46BC-B3AF-0BD9691D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BIOMEDICAL RED LINES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42AD21C-4E27-480D-82A7-DFB96ACE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 biomedical 輸出只能協助整理，不能直接定案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6A74FFF-6093-4DC5-8E42-60E0847F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13/22</a:t>
            </a:r>
          </a:p>
        </p:txBody>
      </p:sp>
      <p:sp>
        <p:nvSpPr>
          <p:cNvPr id="4" name="risk-0">
            <a:extLst xmlns:a="http://schemas.openxmlformats.org/drawingml/2006/main">
              <a:ext uri="{FF2B5EF4-FFF2-40B4-BE49-F238E27FC236}">
                <a16:creationId xmlns:a16="http://schemas.microsoft.com/office/drawing/2014/main" id="{B27F96F5-B9AB-4D85-9049-119F2801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risk-title-0">
            <a:extLst xmlns:a="http://schemas.openxmlformats.org/drawingml/2006/main">
              <a:ext uri="{FF2B5EF4-FFF2-40B4-BE49-F238E27FC236}">
                <a16:creationId xmlns:a16="http://schemas.microsoft.com/office/drawing/2014/main" id="{399F2186-E2BE-4F1F-A909-ED746EF0B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6" name="risk-copy-0">
            <a:extLst xmlns:a="http://schemas.openxmlformats.org/drawingml/2006/main">
              <a:ext uri="{FF2B5EF4-FFF2-40B4-BE49-F238E27FC236}">
                <a16:creationId xmlns:a16="http://schemas.microsoft.com/office/drawing/2014/main" id="{12BB49FA-9D22-42E9-822C-E0FD7C7C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診斷或治療建議</a:t>
            </a:r>
          </a:p>
        </p:txBody>
      </p:sp>
      <p:sp>
        <p:nvSpPr>
          <p:cNvPr id="7" name="risk-1">
            <a:extLst xmlns:a="http://schemas.openxmlformats.org/drawingml/2006/main">
              <a:ext uri="{FF2B5EF4-FFF2-40B4-BE49-F238E27FC236}">
                <a16:creationId xmlns:a16="http://schemas.microsoft.com/office/drawing/2014/main" id="{F8819EF1-8BF7-439B-86CA-D13C2BF2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risk-title-1">
            <a:extLst xmlns:a="http://schemas.openxmlformats.org/drawingml/2006/main">
              <a:ext uri="{FF2B5EF4-FFF2-40B4-BE49-F238E27FC236}">
                <a16:creationId xmlns:a16="http://schemas.microsoft.com/office/drawing/2014/main" id="{91259360-EA30-473A-B9A5-83B91BB2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Dosage</a:t>
            </a:r>
          </a:p>
        </p:txBody>
      </p:sp>
      <p:sp>
        <p:nvSpPr>
          <p:cNvPr id="9" name="risk-copy-1">
            <a:extLst xmlns:a="http://schemas.openxmlformats.org/drawingml/2006/main">
              <a:ext uri="{FF2B5EF4-FFF2-40B4-BE49-F238E27FC236}">
                <a16:creationId xmlns:a16="http://schemas.microsoft.com/office/drawing/2014/main" id="{CED85FA0-F844-4D0C-B849-BD7FE11E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藥物劑量</a:t>
            </a:r>
          </a:p>
        </p:txBody>
      </p:sp>
      <p:sp>
        <p:nvSpPr>
          <p:cNvPr id="10" name="risk-2">
            <a:extLst xmlns:a="http://schemas.openxmlformats.org/drawingml/2006/main">
              <a:ext uri="{FF2B5EF4-FFF2-40B4-BE49-F238E27FC236}">
                <a16:creationId xmlns:a16="http://schemas.microsoft.com/office/drawing/2014/main" id="{8E9F94D7-95E0-4E32-9819-0C88D6F3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1" name="risk-title-2">
            <a:extLst xmlns:a="http://schemas.openxmlformats.org/drawingml/2006/main">
              <a:ext uri="{FF2B5EF4-FFF2-40B4-BE49-F238E27FC236}">
                <a16:creationId xmlns:a16="http://schemas.microsoft.com/office/drawing/2014/main" id="{C7772401-D3CB-4FD9-AE75-547CA634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2" name="risk-copy-2">
            <a:extLst xmlns:a="http://schemas.openxmlformats.org/drawingml/2006/main">
              <a:ext uri="{FF2B5EF4-FFF2-40B4-BE49-F238E27FC236}">
                <a16:creationId xmlns:a16="http://schemas.microsoft.com/office/drawing/2014/main" id="{7D0300F4-A6ED-4986-97F0-6EEB2834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pathogenicity final call</a:t>
            </a:r>
          </a:p>
        </p:txBody>
      </p:sp>
      <p:sp>
        <p:nvSpPr>
          <p:cNvPr id="13" name="risk-3">
            <a:extLst xmlns:a="http://schemas.openxmlformats.org/drawingml/2006/main">
              <a:ext uri="{FF2B5EF4-FFF2-40B4-BE49-F238E27FC236}">
                <a16:creationId xmlns:a16="http://schemas.microsoft.com/office/drawing/2014/main" id="{04272F68-AEDB-4772-888C-DF0447B2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4" name="risk-title-3">
            <a:extLst xmlns:a="http://schemas.openxmlformats.org/drawingml/2006/main">
              <a:ext uri="{FF2B5EF4-FFF2-40B4-BE49-F238E27FC236}">
                <a16:creationId xmlns:a16="http://schemas.microsoft.com/office/drawing/2014/main" id="{04FC9D7B-4825-4CE5-B08E-5B6E6A8C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Clinical action</a:t>
            </a:r>
          </a:p>
        </p:txBody>
      </p:sp>
      <p:sp>
        <p:nvSpPr>
          <p:cNvPr id="15" name="risk-copy-3">
            <a:extLst xmlns:a="http://schemas.openxmlformats.org/drawingml/2006/main">
              <a:ext uri="{FF2B5EF4-FFF2-40B4-BE49-F238E27FC236}">
                <a16:creationId xmlns:a16="http://schemas.microsoft.com/office/drawing/2014/main" id="{F1F89881-0CDD-4A49-B948-388B9FC9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臨床處置建議</a:t>
            </a:r>
          </a:p>
        </p:txBody>
      </p:sp>
      <p:sp>
        <p:nvSpPr>
          <p:cNvPr id="16" name="gate">
            <a:extLst xmlns:a="http://schemas.openxmlformats.org/drawingml/2006/main">
              <a:ext uri="{FF2B5EF4-FFF2-40B4-BE49-F238E27FC236}">
                <a16:creationId xmlns:a16="http://schemas.microsoft.com/office/drawing/2014/main" id="{E06F7C95-32D7-4A87-9807-4DC894CC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43500"/>
            <a:ext cx="3657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</p:spTree>
    <p:extLst>
      <p:ext uri="{BB962C8B-B14F-4D97-AF65-F5344CB8AC3E}">
        <p14:creationId xmlns:p14="http://schemas.microsoft.com/office/powerpoint/2010/main" val="87221007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6C3E50F-9B31-412A-8957-922AF86E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VIBE CODING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BAF9F72-A69E-4179-8F83-767DBDC6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是快速探索，不是把責任交給模型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C9843AD-D338-42BD-89DC-F6FA3A84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14/22</a:t>
            </a:r>
          </a:p>
        </p:txBody>
      </p:sp>
      <p:sp>
        <p:nvSpPr>
          <p:cNvPr id="4" name="stage-line">
            <a:extLst xmlns:a="http://schemas.openxmlformats.org/drawingml/2006/main">
              <a:ext uri="{FF2B5EF4-FFF2-40B4-BE49-F238E27FC236}">
                <a16:creationId xmlns:a16="http://schemas.microsoft.com/office/drawing/2014/main" id="{4B34666D-086D-4CA5-8AC6-118A6CEC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24200"/>
            <a:ext cx="851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age-0">
            <a:extLst xmlns:a="http://schemas.openxmlformats.org/drawingml/2006/main">
              <a:ext uri="{FF2B5EF4-FFF2-40B4-BE49-F238E27FC236}">
                <a16:creationId xmlns:a16="http://schemas.microsoft.com/office/drawing/2014/main" id="{0F2EC6F2-F9C8-4B14-9DEA-3C565EEA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6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8E44CB15-1CDB-4EF0-8742-EFDB210C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想法與資料</a:t>
            </a:r>
          </a:p>
        </p:txBody>
      </p:sp>
      <p:sp>
        <p:nvSpPr>
          <p:cNvPr id="7" name="stage-1">
            <a:extLst xmlns:a="http://schemas.openxmlformats.org/drawingml/2006/main">
              <a:ext uri="{FF2B5EF4-FFF2-40B4-BE49-F238E27FC236}">
                <a16:creationId xmlns:a16="http://schemas.microsoft.com/office/drawing/2014/main" id="{1E44E5AC-8B50-4568-9183-C62A4A5C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8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476FE9FB-33F3-4244-8777-E4BA50D9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快速草擬</a:t>
            </a:r>
          </a:p>
        </p:txBody>
      </p:sp>
      <p:sp>
        <p:nvSpPr>
          <p:cNvPr id="9" name="stage-2">
            <a:extLst xmlns:a="http://schemas.openxmlformats.org/drawingml/2006/main">
              <a:ext uri="{FF2B5EF4-FFF2-40B4-BE49-F238E27FC236}">
                <a16:creationId xmlns:a16="http://schemas.microsoft.com/office/drawing/2014/main" id="{ED9775B1-6B95-49BD-8945-614B0BC0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0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2B377C31-8D80-494B-80E0-3E12F3CE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真的執行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E61F3D2F-7810-4A26-B24C-AB4E04F4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Inspect</a:t>
            </a:r>
          </a:p>
        </p:txBody>
      </p:sp>
      <p:sp>
        <p:nvSpPr>
          <p:cNvPr id="12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5EC5512C-AFCE-4CC2-A0DB-85779F95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 與輸出</a:t>
            </a:r>
          </a:p>
        </p:txBody>
      </p:sp>
      <p:sp>
        <p:nvSpPr>
          <p:cNvPr id="13" name="stage-4">
            <a:extLst xmlns:a="http://schemas.openxmlformats.org/drawingml/2006/main">
              <a:ext uri="{FF2B5EF4-FFF2-40B4-BE49-F238E27FC236}">
                <a16:creationId xmlns:a16="http://schemas.microsoft.com/office/drawing/2014/main" id="{A7B48E9D-D8D1-4AC9-9BEC-4424AB70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24381248-D5B7-4A03-8654-F2CFB271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保留或重做</a:t>
            </a:r>
          </a:p>
        </p:txBody>
      </p:sp>
      <p:sp>
        <p:nvSpPr>
          <p:cNvPr id="15" name="bottom">
            <a:extLst xmlns:a="http://schemas.openxmlformats.org/drawingml/2006/main">
              <a:ext uri="{FF2B5EF4-FFF2-40B4-BE49-F238E27FC236}">
                <a16:creationId xmlns:a16="http://schemas.microsoft.com/office/drawing/2014/main" id="{84E1F91A-8E25-4521-8429-F1258890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速度來自短迭代；安全來自明確檢查。</a:t>
            </a:r>
          </a:p>
        </p:txBody>
      </p:sp>
    </p:spTree>
    <p:extLst>
      <p:ext uri="{BB962C8B-B14F-4D97-AF65-F5344CB8AC3E}">
        <p14:creationId xmlns:p14="http://schemas.microsoft.com/office/powerpoint/2010/main" val="49617958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8271306-7411-482D-BB70-C5412D82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SAFE VIBE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AB41C9C-2DBB-46E9-8BED-6BE7865A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安全的 vibe coding 一次只推進一個小步驟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E6EDE67-E120-432F-8686-A8DFFC187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15/22</a:t>
            </a:r>
          </a:p>
        </p:txBody>
      </p:sp>
      <p:sp>
        <p:nvSpPr>
          <p:cNvPr id="4" name="line-0">
            <a:extLst xmlns:a="http://schemas.openxmlformats.org/drawingml/2006/main">
              <a:ext uri="{FF2B5EF4-FFF2-40B4-BE49-F238E27FC236}">
                <a16:creationId xmlns:a16="http://schemas.microsoft.com/office/drawing/2014/main" id="{14292C54-5927-454F-9E99-303CBD38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5" name="line-1">
            <a:extLst xmlns:a="http://schemas.openxmlformats.org/drawingml/2006/main">
              <a:ext uri="{FF2B5EF4-FFF2-40B4-BE49-F238E27FC236}">
                <a16:creationId xmlns:a16="http://schemas.microsoft.com/office/drawing/2014/main" id="{12897209-9BF1-416F-929F-D726F0F2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line-2">
            <a:extLst xmlns:a="http://schemas.openxmlformats.org/drawingml/2006/main">
              <a:ext uri="{FF2B5EF4-FFF2-40B4-BE49-F238E27FC236}">
                <a16:creationId xmlns:a16="http://schemas.microsoft.com/office/drawing/2014/main" id="{B077CF50-B65C-43C5-B878-B469C386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line-3">
            <a:extLst xmlns:a="http://schemas.openxmlformats.org/drawingml/2006/main">
              <a:ext uri="{FF2B5EF4-FFF2-40B4-BE49-F238E27FC236}">
                <a16:creationId xmlns:a16="http://schemas.microsoft.com/office/drawing/2014/main" id="{BF91986C-D0FB-4E3A-9BF0-DE80CD7D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line-4">
            <a:extLst xmlns:a="http://schemas.openxmlformats.org/drawingml/2006/main">
              <a:ext uri="{FF2B5EF4-FFF2-40B4-BE49-F238E27FC236}">
                <a16:creationId xmlns:a16="http://schemas.microsoft.com/office/drawing/2014/main" id="{422790E5-7FED-482B-AAD1-5BB5DEEE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9" name="num-0">
            <a:extLst xmlns:a="http://schemas.openxmlformats.org/drawingml/2006/main">
              <a:ext uri="{FF2B5EF4-FFF2-40B4-BE49-F238E27FC236}">
                <a16:creationId xmlns:a16="http://schemas.microsoft.com/office/drawing/2014/main" id="{E21DAC67-4288-4AF5-B312-EF1F41C1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step-0">
            <a:extLst xmlns:a="http://schemas.openxmlformats.org/drawingml/2006/main">
              <a:ext uri="{FF2B5EF4-FFF2-40B4-BE49-F238E27FC236}">
                <a16:creationId xmlns:a16="http://schemas.microsoft.com/office/drawing/2014/main" id="{8D1FB2E9-A931-4166-96F6-E83BD808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Specify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small task</a:t>
            </a:r>
          </a:p>
        </p:txBody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BAA26045-C496-4CFD-A96D-528932CC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C58D52C0-DDEF-43DB-90A2-92A398A8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 files</a:t>
            </a:r>
          </a:p>
        </p:txBody>
      </p:sp>
      <p:sp>
        <p:nvSpPr>
          <p:cNvPr id="13" name="num-2">
            <a:extLst xmlns:a="http://schemas.openxmlformats.org/drawingml/2006/main">
              <a:ext uri="{FF2B5EF4-FFF2-40B4-BE49-F238E27FC236}">
                <a16:creationId xmlns:a16="http://schemas.microsoft.com/office/drawing/2014/main" id="{32559E82-2BE5-4434-95D7-53F2534A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B68CCA46-21ED-4DBE-B365-CC11A0E9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before edit</a:t>
            </a:r>
          </a:p>
        </p:txBody>
      </p:sp>
      <p:sp>
        <p:nvSpPr>
          <p:cNvPr id="15" name="num-3">
            <a:extLst xmlns:a="http://schemas.openxmlformats.org/drawingml/2006/main">
              <a:ext uri="{FF2B5EF4-FFF2-40B4-BE49-F238E27FC236}">
                <a16:creationId xmlns:a16="http://schemas.microsoft.com/office/drawing/2014/main" id="{6F0C5C59-3828-4E25-8DDE-AFDAF967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F115F7B2-49E5-44A8-9A84-84AAD18C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Change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small scope</a:t>
            </a:r>
          </a:p>
        </p:txBody>
      </p:sp>
      <p:sp>
        <p:nvSpPr>
          <p:cNvPr id="17" name="num-4">
            <a:extLst xmlns:a="http://schemas.openxmlformats.org/drawingml/2006/main">
              <a:ext uri="{FF2B5EF4-FFF2-40B4-BE49-F238E27FC236}">
                <a16:creationId xmlns:a16="http://schemas.microsoft.com/office/drawing/2014/main" id="{084CA9CD-E87D-4E23-A5EC-EE174295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step-4">
            <a:extLst xmlns:a="http://schemas.openxmlformats.org/drawingml/2006/main">
              <a:ext uri="{FF2B5EF4-FFF2-40B4-BE49-F238E27FC236}">
                <a16:creationId xmlns:a16="http://schemas.microsoft.com/office/drawing/2014/main" id="{926BD4A2-126A-4866-9DB2-1D2F3105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9" name="num-5">
            <a:extLst xmlns:a="http://schemas.openxmlformats.org/drawingml/2006/main">
              <a:ext uri="{FF2B5EF4-FFF2-40B4-BE49-F238E27FC236}">
                <a16:creationId xmlns:a16="http://schemas.microsoft.com/office/drawing/2014/main" id="{F4917239-EEFA-4EEC-9E60-B5ED4124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0" name="step-5">
            <a:extLst xmlns:a="http://schemas.openxmlformats.org/drawingml/2006/main">
              <a:ext uri="{FF2B5EF4-FFF2-40B4-BE49-F238E27FC236}">
                <a16:creationId xmlns:a16="http://schemas.microsoft.com/office/drawing/2014/main" id="{59D276F6-DD23-4637-8862-F2507A3A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Inspect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1" name="rule">
            <a:extLst xmlns:a="http://schemas.openxmlformats.org/drawingml/2006/main">
              <a:ext uri="{FF2B5EF4-FFF2-40B4-BE49-F238E27FC236}">
                <a16:creationId xmlns:a16="http://schemas.microsoft.com/office/drawing/2014/main" id="{CB85483A-9F75-4290-8FD1-432235D9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86300"/>
            <a:ext cx="78486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2" name="rule-text">
            <a:extLst xmlns:a="http://schemas.openxmlformats.org/drawingml/2006/main">
              <a:ext uri="{FF2B5EF4-FFF2-40B4-BE49-F238E27FC236}">
                <a16:creationId xmlns:a16="http://schemas.microsoft.com/office/drawing/2014/main" id="{8492B3E8-866C-4A67-9FAC-8866B458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33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Rule: no broad rewrite, no hidden file changes, no unverified final claim.</a:t>
            </a:r>
          </a:p>
        </p:txBody>
      </p:sp>
    </p:spTree>
    <p:extLst>
      <p:ext uri="{BB962C8B-B14F-4D97-AF65-F5344CB8AC3E}">
        <p14:creationId xmlns:p14="http://schemas.microsoft.com/office/powerpoint/2010/main" val="11196497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4BF93A2-AE54-4C7D-879B-E9C08D75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RISK MATRIX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382C73-412D-4046-A90F-5E8812CB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適合低模糊、低風險且可驗證的任務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8D5D4A5-52EB-4200-A90A-1F2AA09D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16/22</a:t>
            </a:r>
          </a:p>
        </p:txBody>
      </p:sp>
      <p:sp>
        <p:nvSpPr>
          <p:cNvPr id="4" name="matrix">
            <a:extLst xmlns:a="http://schemas.openxmlformats.org/drawingml/2006/main">
              <a:ext uri="{FF2B5EF4-FFF2-40B4-BE49-F238E27FC236}">
                <a16:creationId xmlns:a16="http://schemas.microsoft.com/office/drawing/2014/main" id="{DE8819CE-BE9A-487F-BD2A-23E11D34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81200"/>
            <a:ext cx="7429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vline">
            <a:extLst xmlns:a="http://schemas.openxmlformats.org/drawingml/2006/main">
              <a:ext uri="{FF2B5EF4-FFF2-40B4-BE49-F238E27FC236}">
                <a16:creationId xmlns:a16="http://schemas.microsoft.com/office/drawing/2014/main" id="{2D2CED92-03D7-418F-8634-453888DA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812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hline">
            <a:extLst xmlns:a="http://schemas.openxmlformats.org/drawingml/2006/main">
              <a:ext uri="{FF2B5EF4-FFF2-40B4-BE49-F238E27FC236}">
                <a16:creationId xmlns:a16="http://schemas.microsoft.com/office/drawing/2014/main" id="{22A9E93B-CA5D-44CA-B194-4C7F8735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69570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7" name="axis-x">
            <a:extLst xmlns:a="http://schemas.openxmlformats.org/drawingml/2006/main">
              <a:ext uri="{FF2B5EF4-FFF2-40B4-BE49-F238E27FC236}">
                <a16:creationId xmlns:a16="http://schemas.microsoft.com/office/drawing/2014/main" id="{FC932ECB-BC5B-4CE3-97CA-9834A4F6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524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Task ambiguity</a:t>
            </a:r>
          </a:p>
        </p:txBody>
      </p:sp>
      <p:sp>
        <p:nvSpPr>
          <p:cNvPr id="8" name="axis-y">
            <a:extLst xmlns:a="http://schemas.openxmlformats.org/drawingml/2006/main">
              <a:ext uri="{FF2B5EF4-FFF2-40B4-BE49-F238E27FC236}">
                <a16:creationId xmlns:a16="http://schemas.microsoft.com/office/drawing/2014/main" id="{263F27ED-D3DD-48BF-A478-6E03AF60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909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Impact / risk</a:t>
            </a:r>
          </a:p>
        </p:txBody>
      </p:sp>
      <p:sp>
        <p:nvSpPr>
          <p:cNvPr id="9" name="q1">
            <a:extLst xmlns:a="http://schemas.openxmlformats.org/drawingml/2006/main">
              <a:ext uri="{FF2B5EF4-FFF2-40B4-BE49-F238E27FC236}">
                <a16:creationId xmlns:a16="http://schemas.microsoft.com/office/drawing/2014/main" id="{72261CEE-1532-4C3B-AB2B-FF446C68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719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Parsing script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Report draft</a:t>
            </a:r>
          </a:p>
        </p:txBody>
      </p:sp>
      <p:sp>
        <p:nvSpPr>
          <p:cNvPr id="10" name="q2">
            <a:extLst xmlns:a="http://schemas.openxmlformats.org/drawingml/2006/main">
              <a:ext uri="{FF2B5EF4-FFF2-40B4-BE49-F238E27FC236}">
                <a16:creationId xmlns:a16="http://schemas.microsoft.com/office/drawing/2014/main" id="{1FF766FF-ED56-4A2D-99E6-F468E044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719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Exploratory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prototype</a:t>
            </a:r>
          </a:p>
        </p:txBody>
      </p:sp>
      <p:sp>
        <p:nvSpPr>
          <p:cNvPr id="11" name="q3">
            <a:extLst xmlns:a="http://schemas.openxmlformats.org/drawingml/2006/main">
              <a:ext uri="{FF2B5EF4-FFF2-40B4-BE49-F238E27FC236}">
                <a16:creationId xmlns:a16="http://schemas.microsoft.com/office/drawing/2014/main" id="{07EEE72E-AACE-482B-B777-FA4076D5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955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Validated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analysis tool</a:t>
            </a:r>
          </a:p>
        </p:txBody>
      </p:sp>
      <p:sp>
        <p:nvSpPr>
          <p:cNvPr id="12" name="q4">
            <a:extLst xmlns:a="http://schemas.openxmlformats.org/drawingml/2006/main">
              <a:ext uri="{FF2B5EF4-FFF2-40B4-BE49-F238E27FC236}">
                <a16:creationId xmlns:a16="http://schemas.microsoft.com/office/drawing/2014/main" id="{BFDBC86A-6A4D-4F72-AADE-8D9C1FE0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Unverified statistic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Citation-sensitive summary</a:t>
            </a:r>
          </a:p>
        </p:txBody>
      </p:sp>
      <p:sp>
        <p:nvSpPr>
          <p:cNvPr id="13" name="matrix-note">
            <a:extLst xmlns:a="http://schemas.openxmlformats.org/drawingml/2006/main">
              <a:ext uri="{FF2B5EF4-FFF2-40B4-BE49-F238E27FC236}">
                <a16:creationId xmlns:a16="http://schemas.microsoft.com/office/drawing/2014/main" id="{095F1B9F-429E-458F-8CD0-B1FED9C1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905500"/>
            <a:ext cx="744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能跑不是標準；可追溯、可測試、可解釋才是標準。</a:t>
            </a:r>
          </a:p>
        </p:txBody>
      </p:sp>
    </p:spTree>
    <p:extLst>
      <p:ext uri="{BB962C8B-B14F-4D97-AF65-F5344CB8AC3E}">
        <p14:creationId xmlns:p14="http://schemas.microsoft.com/office/powerpoint/2010/main" val="62044788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2534ECA-DB63-4B67-B159-00FBF3B7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DESKTOP UTILITIES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2D0082A-C9E0-458D-8824-72742EFB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把研究者的日常材料接進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3AFC467-A959-402A-AEFF-F9A6D8B8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17/22</a:t>
            </a:r>
          </a:p>
        </p:txBody>
      </p:sp>
      <p:sp>
        <p:nvSpPr>
          <p:cNvPr id="4" name="tool-0">
            <a:extLst xmlns:a="http://schemas.openxmlformats.org/drawingml/2006/main">
              <a:ext uri="{FF2B5EF4-FFF2-40B4-BE49-F238E27FC236}">
                <a16:creationId xmlns:a16="http://schemas.microsoft.com/office/drawing/2014/main" id="{E73E4FA4-8D34-4B09-B193-B7429F3B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621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5" name="use-0">
            <a:extLst xmlns:a="http://schemas.openxmlformats.org/drawingml/2006/main">
              <a:ext uri="{FF2B5EF4-FFF2-40B4-BE49-F238E27FC236}">
                <a16:creationId xmlns:a16="http://schemas.microsoft.com/office/drawing/2014/main" id="{4B59A548-C20B-4DA8-8A49-E1FF11D9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574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PubMed / guideline / database</a:t>
            </a:r>
          </a:p>
        </p:txBody>
      </p:sp>
      <p:sp>
        <p:nvSpPr>
          <p:cNvPr id="6" name="link-0">
            <a:extLst xmlns:a="http://schemas.openxmlformats.org/drawingml/2006/main">
              <a:ext uri="{FF2B5EF4-FFF2-40B4-BE49-F238E27FC236}">
                <a16:creationId xmlns:a16="http://schemas.microsoft.com/office/drawing/2014/main" id="{C4BC16A4-36CB-45D8-9527-D182704F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907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7" name="tool-1">
            <a:extLst xmlns:a="http://schemas.openxmlformats.org/drawingml/2006/main">
              <a:ext uri="{FF2B5EF4-FFF2-40B4-BE49-F238E27FC236}">
                <a16:creationId xmlns:a16="http://schemas.microsoft.com/office/drawing/2014/main" id="{7C12F47A-14B4-40ED-80CC-BD7550D5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098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use-1">
            <a:extLst xmlns:a="http://schemas.openxmlformats.org/drawingml/2006/main">
              <a:ext uri="{FF2B5EF4-FFF2-40B4-BE49-F238E27FC236}">
                <a16:creationId xmlns:a16="http://schemas.microsoft.com/office/drawing/2014/main" id="{D2B5CB00-F190-4748-96C3-62811D18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051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PDF / CSV / Excel / notes</a:t>
            </a:r>
          </a:p>
        </p:txBody>
      </p:sp>
      <p:sp>
        <p:nvSpPr>
          <p:cNvPr id="9" name="link-1">
            <a:extLst xmlns:a="http://schemas.openxmlformats.org/drawingml/2006/main">
              <a:ext uri="{FF2B5EF4-FFF2-40B4-BE49-F238E27FC236}">
                <a16:creationId xmlns:a16="http://schemas.microsoft.com/office/drawing/2014/main" id="{F45E2D73-9BC5-469B-A6F9-529E31EB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0" name="tool-2">
            <a:extLst xmlns:a="http://schemas.openxmlformats.org/drawingml/2006/main">
              <a:ext uri="{FF2B5EF4-FFF2-40B4-BE49-F238E27FC236}">
                <a16:creationId xmlns:a16="http://schemas.microsoft.com/office/drawing/2014/main" id="{EFAF53C2-21DA-405A-A74D-806D0597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575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Terminal</a:t>
            </a:r>
          </a:p>
        </p:txBody>
      </p:sp>
      <p:sp>
        <p:nvSpPr>
          <p:cNvPr id="11" name="use-2">
            <a:extLst xmlns:a="http://schemas.openxmlformats.org/drawingml/2006/main">
              <a:ext uri="{FF2B5EF4-FFF2-40B4-BE49-F238E27FC236}">
                <a16:creationId xmlns:a16="http://schemas.microsoft.com/office/drawing/2014/main" id="{265753F6-C545-4BFA-B320-624427ED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528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轉檔、檢查欄位、跑 script</a:t>
            </a:r>
          </a:p>
        </p:txBody>
      </p:sp>
      <p:sp>
        <p:nvSpPr>
          <p:cNvPr id="12" name="link-2">
            <a:extLst xmlns:a="http://schemas.openxmlformats.org/drawingml/2006/main">
              <a:ext uri="{FF2B5EF4-FFF2-40B4-BE49-F238E27FC236}">
                <a16:creationId xmlns:a16="http://schemas.microsoft.com/office/drawing/2014/main" id="{30A348C4-24EF-4DD4-9357-C00AB3BB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4861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3" name="tool-3">
            <a:extLst xmlns:a="http://schemas.openxmlformats.org/drawingml/2006/main">
              <a:ext uri="{FF2B5EF4-FFF2-40B4-BE49-F238E27FC236}">
                <a16:creationId xmlns:a16="http://schemas.microsoft.com/office/drawing/2014/main" id="{B4725E87-4705-402C-853F-A1509FA6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Spreadsheet</a:t>
            </a:r>
          </a:p>
        </p:txBody>
      </p:sp>
      <p:sp>
        <p:nvSpPr>
          <p:cNvPr id="14" name="use-3">
            <a:extLst xmlns:a="http://schemas.openxmlformats.org/drawingml/2006/main">
              <a:ext uri="{FF2B5EF4-FFF2-40B4-BE49-F238E27FC236}">
                <a16:creationId xmlns:a16="http://schemas.microsoft.com/office/drawing/2014/main" id="{3311DF62-302D-47D9-8F11-68087E1A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005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evidence table 與人工 review</a:t>
            </a:r>
          </a:p>
        </p:txBody>
      </p:sp>
      <p:sp>
        <p:nvSpPr>
          <p:cNvPr id="15" name="link-3">
            <a:extLst xmlns:a="http://schemas.openxmlformats.org/drawingml/2006/main">
              <a:ext uri="{FF2B5EF4-FFF2-40B4-BE49-F238E27FC236}">
                <a16:creationId xmlns:a16="http://schemas.microsoft.com/office/drawing/2014/main" id="{E6F76051-6CD5-4EA1-856C-2F5C5F90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338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tool-4">
            <a:extLst xmlns:a="http://schemas.openxmlformats.org/drawingml/2006/main">
              <a:ext uri="{FF2B5EF4-FFF2-40B4-BE49-F238E27FC236}">
                <a16:creationId xmlns:a16="http://schemas.microsoft.com/office/drawing/2014/main" id="{B52C0187-A230-43A1-8A88-F1C2B13A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529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use-4">
            <a:extLst xmlns:a="http://schemas.openxmlformats.org/drawingml/2006/main">
              <a:ext uri="{FF2B5EF4-FFF2-40B4-BE49-F238E27FC236}">
                <a16:creationId xmlns:a16="http://schemas.microsoft.com/office/drawing/2014/main" id="{8E7E00AC-2384-451F-A9F5-A29C47AD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482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log 與 limitations</a:t>
            </a:r>
          </a:p>
        </p:txBody>
      </p:sp>
      <p:sp>
        <p:nvSpPr>
          <p:cNvPr id="18" name="link-4">
            <a:extLst xmlns:a="http://schemas.openxmlformats.org/drawingml/2006/main">
              <a:ext uri="{FF2B5EF4-FFF2-40B4-BE49-F238E27FC236}">
                <a16:creationId xmlns:a16="http://schemas.microsoft.com/office/drawing/2014/main" id="{2164D435-8954-4372-8B8D-296EB885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815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9" name="bottom">
            <a:extLst xmlns:a="http://schemas.openxmlformats.org/drawingml/2006/main">
              <a:ext uri="{FF2B5EF4-FFF2-40B4-BE49-F238E27FC236}">
                <a16:creationId xmlns:a16="http://schemas.microsoft.com/office/drawing/2014/main" id="{B037D0F3-5A74-4AE5-BBC6-43A6CE86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價值不是神奇自動化，而是減少手動搬運、遺漏與不可追溯。</a:t>
            </a:r>
          </a:p>
        </p:txBody>
      </p:sp>
    </p:spTree>
    <p:extLst>
      <p:ext uri="{BB962C8B-B14F-4D97-AF65-F5344CB8AC3E}">
        <p14:creationId xmlns:p14="http://schemas.microsoft.com/office/powerpoint/2010/main" val="16463941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2ADFD5D-D118-4E25-BAA4-3420C42D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TOOL-USE LIFECYCLE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0CEB763-ACF3-45F9-AD41-56BE5319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每次工具呼叫都要能被觀察與記錄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4912175-4026-4138-9C47-571C5505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18/22</a:t>
            </a:r>
          </a:p>
        </p:txBody>
      </p:sp>
      <p:sp>
        <p:nvSpPr>
          <p:cNvPr id="4" name="flow">
            <a:extLst xmlns:a="http://schemas.openxmlformats.org/drawingml/2006/main">
              <a:ext uri="{FF2B5EF4-FFF2-40B4-BE49-F238E27FC236}">
                <a16:creationId xmlns:a16="http://schemas.microsoft.com/office/drawing/2014/main" id="{F58EB261-E3F1-41FB-801B-F1FC427D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19450"/>
            <a:ext cx="800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F43C311A-2D47-40A0-9305-A68BA6A1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copy-0">
            <a:extLst xmlns:a="http://schemas.openxmlformats.org/drawingml/2006/main">
              <a:ext uri="{FF2B5EF4-FFF2-40B4-BE49-F238E27FC236}">
                <a16:creationId xmlns:a16="http://schemas.microsoft.com/office/drawing/2014/main" id="{6FE54B51-2D34-4703-8B1E-AD4A9AD5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structured input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472328C7-4A8C-45DF-9218-5717A3B1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8" name="copy-1">
            <a:extLst xmlns:a="http://schemas.openxmlformats.org/drawingml/2006/main">
              <a:ext uri="{FF2B5EF4-FFF2-40B4-BE49-F238E27FC236}">
                <a16:creationId xmlns:a16="http://schemas.microsoft.com/office/drawing/2014/main" id="{43A3A6D2-FEF9-4285-9A96-142C7AE8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 output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02126BA0-3904-440F-BD7A-2048B18B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0" name="copy-2">
            <a:extLst xmlns:a="http://schemas.openxmlformats.org/drawingml/2006/main">
              <a:ext uri="{FF2B5EF4-FFF2-40B4-BE49-F238E27FC236}">
                <a16:creationId xmlns:a16="http://schemas.microsoft.com/office/drawing/2014/main" id="{B125E71C-BAE1-47A6-AA63-A0929092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schema + source</a:t>
            </a:r>
          </a:p>
        </p:txBody>
      </p:sp>
      <p:sp>
        <p:nvSpPr>
          <p:cNvPr id="11" name="step-3">
            <a:extLst xmlns:a="http://schemas.openxmlformats.org/drawingml/2006/main">
              <a:ext uri="{FF2B5EF4-FFF2-40B4-BE49-F238E27FC236}">
                <a16:creationId xmlns:a16="http://schemas.microsoft.com/office/drawing/2014/main" id="{63A0768A-D828-4936-800B-170A6FD0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12" name="copy-3">
            <a:extLst xmlns:a="http://schemas.openxmlformats.org/drawingml/2006/main">
              <a:ext uri="{FF2B5EF4-FFF2-40B4-BE49-F238E27FC236}">
                <a16:creationId xmlns:a16="http://schemas.microsoft.com/office/drawing/2014/main" id="{FE45E834-BF22-4B7A-9630-43F531D7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log + artifact</a:t>
            </a:r>
          </a:p>
        </p:txBody>
      </p:sp>
      <p:sp>
        <p:nvSpPr>
          <p:cNvPr id="13" name="example">
            <a:extLst xmlns:a="http://schemas.openxmlformats.org/drawingml/2006/main">
              <a:ext uri="{FF2B5EF4-FFF2-40B4-BE49-F238E27FC236}">
                <a16:creationId xmlns:a16="http://schemas.microsoft.com/office/drawing/2014/main" id="{F0980553-629C-49D3-BC7E-1E6E3F9A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191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example-text">
            <a:extLst xmlns:a="http://schemas.openxmlformats.org/drawingml/2006/main">
              <a:ext uri="{FF2B5EF4-FFF2-40B4-BE49-F238E27FC236}">
                <a16:creationId xmlns:a16="http://schemas.microsoft.com/office/drawing/2014/main" id="{CC61D0AB-2052-4F2D-9328-733E5FCE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9911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Example: PubMed query -&gt; PMID list -&gt; DOI check -&gt; evidence_table row</a:t>
            </a:r>
          </a:p>
        </p:txBody>
      </p:sp>
    </p:spTree>
    <p:extLst>
      <p:ext uri="{BB962C8B-B14F-4D97-AF65-F5344CB8AC3E}">
        <p14:creationId xmlns:p14="http://schemas.microsoft.com/office/powerpoint/2010/main" val="19359220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F7286A0-B8C7-423E-A2BB-84F4E091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DA8ECB0-D98E-4CC1-B6BD-37565E39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常見錯誤多半不是語法錯，而是流程錯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79FFEDC-C58C-48C9-8080-DD8B81C6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19/22</a:t>
            </a:r>
          </a:p>
        </p:txBody>
      </p:sp>
      <p:sp>
        <p:nvSpPr>
          <p:cNvPr id="4" name="f-0">
            <a:extLst xmlns:a="http://schemas.openxmlformats.org/drawingml/2006/main">
              <a:ext uri="{FF2B5EF4-FFF2-40B4-BE49-F238E27FC236}">
                <a16:creationId xmlns:a16="http://schemas.microsoft.com/office/drawing/2014/main" id="{9C8DB834-8A38-434F-9528-C7EC4687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f-title-0">
            <a:extLst xmlns:a="http://schemas.openxmlformats.org/drawingml/2006/main">
              <a:ext uri="{FF2B5EF4-FFF2-40B4-BE49-F238E27FC236}">
                <a16:creationId xmlns:a16="http://schemas.microsoft.com/office/drawing/2014/main" id="{3FE23D3D-B94B-49F0-BF9E-9C10391A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tool</a:t>
            </a:r>
          </a:p>
        </p:txBody>
      </p:sp>
      <p:sp>
        <p:nvSpPr>
          <p:cNvPr id="6" name="f-copy-0">
            <a:extLst xmlns:a="http://schemas.openxmlformats.org/drawingml/2006/main">
              <a:ext uri="{FF2B5EF4-FFF2-40B4-BE49-F238E27FC236}">
                <a16:creationId xmlns:a16="http://schemas.microsoft.com/office/drawing/2014/main" id="{07566EEC-BEA0-4528-9D8F-AF892CFE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查錯資料庫或讀錯檔</a:t>
            </a:r>
          </a:p>
        </p:txBody>
      </p:sp>
      <p:sp>
        <p:nvSpPr>
          <p:cNvPr id="7" name="f-1">
            <a:extLst xmlns:a="http://schemas.openxmlformats.org/drawingml/2006/main">
              <a:ext uri="{FF2B5EF4-FFF2-40B4-BE49-F238E27FC236}">
                <a16:creationId xmlns:a16="http://schemas.microsoft.com/office/drawing/2014/main" id="{44B71E95-1291-4FE1-BA4C-A4C4D1D5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f-title-1">
            <a:extLst xmlns:a="http://schemas.openxmlformats.org/drawingml/2006/main">
              <a:ext uri="{FF2B5EF4-FFF2-40B4-BE49-F238E27FC236}">
                <a16:creationId xmlns:a16="http://schemas.microsoft.com/office/drawing/2014/main" id="{FAA3EBE0-FB99-4EAD-9AEB-DD069D40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drift</a:t>
            </a:r>
          </a:p>
        </p:txBody>
      </p:sp>
      <p:sp>
        <p:nvSpPr>
          <p:cNvPr id="9" name="f-copy-1">
            <a:extLst xmlns:a="http://schemas.openxmlformats.org/drawingml/2006/main">
              <a:ext uri="{FF2B5EF4-FFF2-40B4-BE49-F238E27FC236}">
                <a16:creationId xmlns:a16="http://schemas.microsoft.com/office/drawing/2014/main" id="{CBFF9BCA-5266-4E33-A641-9C4BD0DD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任務做一做偏掉</a:t>
            </a:r>
          </a:p>
        </p:txBody>
      </p:sp>
      <p:sp>
        <p:nvSpPr>
          <p:cNvPr id="10" name="f-2">
            <a:extLst xmlns:a="http://schemas.openxmlformats.org/drawingml/2006/main">
              <a:ext uri="{FF2B5EF4-FFF2-40B4-BE49-F238E27FC236}">
                <a16:creationId xmlns:a16="http://schemas.microsoft.com/office/drawing/2014/main" id="{29EA9789-F685-445F-8AA8-324B5424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f-title-2">
            <a:extLst xmlns:a="http://schemas.openxmlformats.org/drawingml/2006/main">
              <a:ext uri="{FF2B5EF4-FFF2-40B4-BE49-F238E27FC236}">
                <a16:creationId xmlns:a16="http://schemas.microsoft.com/office/drawing/2014/main" id="{414CC83B-0484-4466-9DDA-9A089EB8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 laundering</a:t>
            </a:r>
          </a:p>
        </p:txBody>
      </p:sp>
      <p:sp>
        <p:nvSpPr>
          <p:cNvPr id="12" name="f-copy-2">
            <a:extLst xmlns:a="http://schemas.openxmlformats.org/drawingml/2006/main">
              <a:ext uri="{FF2B5EF4-FFF2-40B4-BE49-F238E27FC236}">
                <a16:creationId xmlns:a16="http://schemas.microsoft.com/office/drawing/2014/main" id="{71357705-D505-48C0-BD3B-B41802A6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citation 支撐錯 claim</a:t>
            </a:r>
          </a:p>
        </p:txBody>
      </p:sp>
      <p:sp>
        <p:nvSpPr>
          <p:cNvPr id="13" name="f-3">
            <a:extLst xmlns:a="http://schemas.openxmlformats.org/drawingml/2006/main">
              <a:ext uri="{FF2B5EF4-FFF2-40B4-BE49-F238E27FC236}">
                <a16:creationId xmlns:a16="http://schemas.microsoft.com/office/drawing/2014/main" id="{A8B2D862-4BE3-46D9-A647-6C17E4F4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f-title-3">
            <a:extLst xmlns:a="http://schemas.openxmlformats.org/drawingml/2006/main">
              <a:ext uri="{FF2B5EF4-FFF2-40B4-BE49-F238E27FC236}">
                <a16:creationId xmlns:a16="http://schemas.microsoft.com/office/drawing/2014/main" id="{8ED10DB5-3EBE-4351-915A-2751CA1A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Silent data mutation</a:t>
            </a:r>
          </a:p>
        </p:txBody>
      </p:sp>
      <p:sp>
        <p:nvSpPr>
          <p:cNvPr id="15" name="f-copy-3">
            <a:extLst xmlns:a="http://schemas.openxmlformats.org/drawingml/2006/main">
              <a:ext uri="{FF2B5EF4-FFF2-40B4-BE49-F238E27FC236}">
                <a16:creationId xmlns:a16="http://schemas.microsoft.com/office/drawing/2014/main" id="{36F181FB-6F78-410B-B9F8-9983AE6B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欄位或樣本被改壞</a:t>
            </a:r>
          </a:p>
        </p:txBody>
      </p:sp>
      <p:sp>
        <p:nvSpPr>
          <p:cNvPr id="16" name="f-4">
            <a:extLst xmlns:a="http://schemas.openxmlformats.org/drawingml/2006/main">
              <a:ext uri="{FF2B5EF4-FFF2-40B4-BE49-F238E27FC236}">
                <a16:creationId xmlns:a16="http://schemas.microsoft.com/office/drawing/2014/main" id="{34B7AEE4-A0D7-4C1D-BA14-9B87958E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f-title-4">
            <a:extLst xmlns:a="http://schemas.openxmlformats.org/drawingml/2006/main">
              <a:ext uri="{FF2B5EF4-FFF2-40B4-BE49-F238E27FC236}">
                <a16:creationId xmlns:a16="http://schemas.microsoft.com/office/drawing/2014/main" id="{2A5F1372-2295-4015-8322-C8076D6E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 stop condition</a:t>
            </a:r>
          </a:p>
        </p:txBody>
      </p:sp>
      <p:sp>
        <p:nvSpPr>
          <p:cNvPr id="18" name="f-copy-4">
            <a:extLst xmlns:a="http://schemas.openxmlformats.org/drawingml/2006/main">
              <a:ext uri="{FF2B5EF4-FFF2-40B4-BE49-F238E27FC236}">
                <a16:creationId xmlns:a16="http://schemas.microsoft.com/office/drawing/2014/main" id="{F19F4569-9884-44F0-93EC-62E758E3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一直重試或太早交付</a:t>
            </a:r>
          </a:p>
        </p:txBody>
      </p:sp>
      <p:sp>
        <p:nvSpPr>
          <p:cNvPr id="19" name="f-5">
            <a:extLst xmlns:a="http://schemas.openxmlformats.org/drawingml/2006/main">
              <a:ext uri="{FF2B5EF4-FFF2-40B4-BE49-F238E27FC236}">
                <a16:creationId xmlns:a16="http://schemas.microsoft.com/office/drawing/2014/main" id="{C2304221-B0A7-4E26-9772-DC00DF4C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0" name="f-title-5">
            <a:extLst xmlns:a="http://schemas.openxmlformats.org/drawingml/2006/main">
              <a:ext uri="{FF2B5EF4-FFF2-40B4-BE49-F238E27FC236}">
                <a16:creationId xmlns:a16="http://schemas.microsoft.com/office/drawing/2014/main" id="{D986B133-03B0-4CFA-BAC0-E1C384B2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21" name="f-copy-5">
            <a:extLst xmlns:a="http://schemas.openxmlformats.org/drawingml/2006/main">
              <a:ext uri="{FF2B5EF4-FFF2-40B4-BE49-F238E27FC236}">
                <a16:creationId xmlns:a16="http://schemas.microsoft.com/office/drawing/2014/main" id="{7650BC08-AE53-419B-B287-2D953CB3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來源文字誘導 agent</a:t>
            </a:r>
          </a:p>
        </p:txBody>
      </p:sp>
      <p:sp>
        <p:nvSpPr>
          <p:cNvPr id="22" name="bottom">
            <a:extLst xmlns:a="http://schemas.openxmlformats.org/drawingml/2006/main">
              <a:ext uri="{FF2B5EF4-FFF2-40B4-BE49-F238E27FC236}">
                <a16:creationId xmlns:a16="http://schemas.microsoft.com/office/drawing/2014/main" id="{D399E0EE-810F-4158-A350-1DDC4A71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5626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失敗模式要寫進 task spec、checks 與 human review rule。</a:t>
            </a:r>
          </a:p>
        </p:txBody>
      </p:sp>
    </p:spTree>
    <p:extLst>
      <p:ext uri="{BB962C8B-B14F-4D97-AF65-F5344CB8AC3E}">
        <p14:creationId xmlns:p14="http://schemas.microsoft.com/office/powerpoint/2010/main" val="28552806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1639735-2EA3-449B-9305-3B103F3A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851E5BF-6E14-4E49-8915-9A38CFD9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三個任務先判斷，再決定 agent 能做多少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B842180-5126-46E1-B221-1469D7BB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20/22</a:t>
            </a:r>
          </a:p>
        </p:txBody>
      </p:sp>
      <p:sp>
        <p:nvSpPr>
          <p:cNvPr id="4" name="case-0">
            <a:extLst xmlns:a="http://schemas.openxmlformats.org/drawingml/2006/main">
              <a:ext uri="{FF2B5EF4-FFF2-40B4-BE49-F238E27FC236}">
                <a16:creationId xmlns:a16="http://schemas.microsoft.com/office/drawing/2014/main" id="{EC8A3507-10C7-42E9-89BD-CEFDC35B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case-label-0">
            <a:extLst xmlns:a="http://schemas.openxmlformats.org/drawingml/2006/main">
              <a:ext uri="{FF2B5EF4-FFF2-40B4-BE49-F238E27FC236}">
                <a16:creationId xmlns:a16="http://schemas.microsoft.com/office/drawing/2014/main" id="{45A2A686-B6AE-4157-98C4-D927E67F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6" name="case-copy-0">
            <a:extLst xmlns:a="http://schemas.openxmlformats.org/drawingml/2006/main">
              <a:ext uri="{FF2B5EF4-FFF2-40B4-BE49-F238E27FC236}">
                <a16:creationId xmlns:a16="http://schemas.microsoft.com/office/drawing/2014/main" id="{9FC85C08-B5E1-4E19-A233-129C7784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搜尋結果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整理成 evidence table</a:t>
            </a:r>
          </a:p>
        </p:txBody>
      </p:sp>
      <p:sp>
        <p:nvSpPr>
          <p:cNvPr id="7" name="case-1">
            <a:extLst xmlns:a="http://schemas.openxmlformats.org/drawingml/2006/main">
              <a:ext uri="{FF2B5EF4-FFF2-40B4-BE49-F238E27FC236}">
                <a16:creationId xmlns:a16="http://schemas.microsoft.com/office/drawing/2014/main" id="{5386F3E5-8435-4419-B057-22C7707B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case-label-1">
            <a:extLst xmlns:a="http://schemas.openxmlformats.org/drawingml/2006/main">
              <a:ext uri="{FF2B5EF4-FFF2-40B4-BE49-F238E27FC236}">
                <a16:creationId xmlns:a16="http://schemas.microsoft.com/office/drawing/2014/main" id="{0837F2F9-A597-460F-B471-EFAD06D0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9" name="case-copy-1">
            <a:extLst xmlns:a="http://schemas.openxmlformats.org/drawingml/2006/main">
              <a:ext uri="{FF2B5EF4-FFF2-40B4-BE49-F238E27FC236}">
                <a16:creationId xmlns:a16="http://schemas.microsoft.com/office/drawing/2014/main" id="{2CA3A03D-5E21-4BA6-AA53-3469A040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判斷某 variant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 pathogenic</a:t>
            </a:r>
          </a:p>
        </p:txBody>
      </p:sp>
      <p:sp>
        <p:nvSpPr>
          <p:cNvPr id="10" name="case-2">
            <a:extLst xmlns:a="http://schemas.openxmlformats.org/drawingml/2006/main">
              <a:ext uri="{FF2B5EF4-FFF2-40B4-BE49-F238E27FC236}">
                <a16:creationId xmlns:a16="http://schemas.microsoft.com/office/drawing/2014/main" id="{36FB8F46-7DD0-49BD-A2F9-D9B87A2F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1" name="case-label-2">
            <a:extLst xmlns:a="http://schemas.openxmlformats.org/drawingml/2006/main">
              <a:ext uri="{FF2B5EF4-FFF2-40B4-BE49-F238E27FC236}">
                <a16:creationId xmlns:a16="http://schemas.microsoft.com/office/drawing/2014/main" id="{03C3F6D3-9EF1-470D-B672-B7F568873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2" name="case-copy-2">
            <a:extLst xmlns:a="http://schemas.openxmlformats.org/drawingml/2006/main">
              <a:ext uri="{FF2B5EF4-FFF2-40B4-BE49-F238E27FC236}">
                <a16:creationId xmlns:a16="http://schemas.microsoft.com/office/drawing/2014/main" id="{8CFC8CF6-9D5E-4492-9A82-0E67156F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幫一份 CSV 產生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QC summary 與圖表</a:t>
            </a:r>
          </a:p>
        </p:txBody>
      </p:sp>
      <p:sp>
        <p:nvSpPr>
          <p:cNvPr id="13" name="prompt">
            <a:extLst xmlns:a="http://schemas.openxmlformats.org/drawingml/2006/main">
              <a:ext uri="{FF2B5EF4-FFF2-40B4-BE49-F238E27FC236}">
                <a16:creationId xmlns:a16="http://schemas.microsoft.com/office/drawing/2014/main" id="{3CA63573-DC45-4906-A269-759AB8B9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054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每組標出：agent 可以做什麼、需要哪些工具、怎麼驗證、何時 human review。</a:t>
            </a:r>
          </a:p>
        </p:txBody>
      </p:sp>
    </p:spTree>
    <p:extLst>
      <p:ext uri="{BB962C8B-B14F-4D97-AF65-F5344CB8AC3E}">
        <p14:creationId xmlns:p14="http://schemas.microsoft.com/office/powerpoint/2010/main" val="177041717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91E0CB6-7B59-4BFE-9F4B-420B8B2B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WORKSHEET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DD41BDE-C9EC-4E93-A1F0-D1BE5E01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把研究任務改寫成 agent-ready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8AA200D-C347-487E-99E5-0B80DE8E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21/22</a:t>
            </a:r>
          </a:p>
        </p:txBody>
      </p:sp>
      <p:sp>
        <p:nvSpPr>
          <p:cNvPr id="4" name="worksheet-0">
            <a:extLst xmlns:a="http://schemas.openxmlformats.org/drawingml/2006/main">
              <a:ext uri="{FF2B5EF4-FFF2-40B4-BE49-F238E27FC236}">
                <a16:creationId xmlns:a16="http://schemas.microsoft.com/office/drawing/2014/main" id="{69ED0B3B-179B-4307-ADCB-9ADFF09A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worksheet-head-0">
            <a:extLst xmlns:a="http://schemas.openxmlformats.org/drawingml/2006/main">
              <a:ext uri="{FF2B5EF4-FFF2-40B4-BE49-F238E27FC236}">
                <a16:creationId xmlns:a16="http://schemas.microsoft.com/office/drawing/2014/main" id="{91757BAE-7B72-4531-ADEB-2AF69265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6" name="worksheet-sub-0">
            <a:extLst xmlns:a="http://schemas.openxmlformats.org/drawingml/2006/main">
              <a:ext uri="{FF2B5EF4-FFF2-40B4-BE49-F238E27FC236}">
                <a16:creationId xmlns:a16="http://schemas.microsoft.com/office/drawing/2014/main" id="{52C42E91-8B67-4DB2-A039-77B97ED9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要回答什麼</a:t>
            </a:r>
          </a:p>
        </p:txBody>
      </p:sp>
      <p:sp>
        <p:nvSpPr>
          <p:cNvPr id="7" name="worksheet-1">
            <a:extLst xmlns:a="http://schemas.openxmlformats.org/drawingml/2006/main">
              <a:ext uri="{FF2B5EF4-FFF2-40B4-BE49-F238E27FC236}">
                <a16:creationId xmlns:a16="http://schemas.microsoft.com/office/drawing/2014/main" id="{4CBC10FC-5152-4B43-822C-F819B3E8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worksheet-head-1">
            <a:extLst xmlns:a="http://schemas.openxmlformats.org/drawingml/2006/main">
              <a:ext uri="{FF2B5EF4-FFF2-40B4-BE49-F238E27FC236}">
                <a16:creationId xmlns:a16="http://schemas.microsoft.com/office/drawing/2014/main" id="{BA07B37F-C714-4F86-8614-99BF93415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9" name="worksheet-sub-1">
            <a:extLst xmlns:a="http://schemas.openxmlformats.org/drawingml/2006/main">
              <a:ext uri="{FF2B5EF4-FFF2-40B4-BE49-F238E27FC236}">
                <a16:creationId xmlns:a16="http://schemas.microsoft.com/office/drawing/2014/main" id="{5FCB96A5-4333-48B1-AAF8-4018A86A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資料與版本</a:t>
            </a:r>
          </a:p>
        </p:txBody>
      </p:sp>
      <p:sp>
        <p:nvSpPr>
          <p:cNvPr id="10" name="worksheet-2">
            <a:extLst xmlns:a="http://schemas.openxmlformats.org/drawingml/2006/main">
              <a:ext uri="{FF2B5EF4-FFF2-40B4-BE49-F238E27FC236}">
                <a16:creationId xmlns:a16="http://schemas.microsoft.com/office/drawing/2014/main" id="{5AA88F55-98C2-4965-B824-64DCECC0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worksheet-head-2">
            <a:extLst xmlns:a="http://schemas.openxmlformats.org/drawingml/2006/main">
              <a:ext uri="{FF2B5EF4-FFF2-40B4-BE49-F238E27FC236}">
                <a16:creationId xmlns:a16="http://schemas.microsoft.com/office/drawing/2014/main" id="{21375754-48FD-4B9B-9DE9-6B576EB0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2" name="worksheet-sub-2">
            <a:extLst xmlns:a="http://schemas.openxmlformats.org/drawingml/2006/main">
              <a:ext uri="{FF2B5EF4-FFF2-40B4-BE49-F238E27FC236}">
                <a16:creationId xmlns:a16="http://schemas.microsoft.com/office/drawing/2014/main" id="{173D7DAA-46B5-434E-8694-4FC20E59A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搜尋、讀檔、腳本</a:t>
            </a:r>
          </a:p>
        </p:txBody>
      </p:sp>
      <p:sp>
        <p:nvSpPr>
          <p:cNvPr id="13" name="worksheet-3">
            <a:extLst xmlns:a="http://schemas.openxmlformats.org/drawingml/2006/main">
              <a:ext uri="{FF2B5EF4-FFF2-40B4-BE49-F238E27FC236}">
                <a16:creationId xmlns:a16="http://schemas.microsoft.com/office/drawing/2014/main" id="{6C041224-60D6-486E-AEF0-C7F4FF9C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worksheet-head-3">
            <a:extLst xmlns:a="http://schemas.openxmlformats.org/drawingml/2006/main">
              <a:ext uri="{FF2B5EF4-FFF2-40B4-BE49-F238E27FC236}">
                <a16:creationId xmlns:a16="http://schemas.microsoft.com/office/drawing/2014/main" id="{5C164AF5-15A1-4CE7-90CC-CF064796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5" name="worksheet-sub-3">
            <a:extLst xmlns:a="http://schemas.openxmlformats.org/drawingml/2006/main">
              <a:ext uri="{FF2B5EF4-FFF2-40B4-BE49-F238E27FC236}">
                <a16:creationId xmlns:a16="http://schemas.microsoft.com/office/drawing/2014/main" id="{F3DBD514-0A5E-4448-A80B-A28D8398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表格、log、note</a:t>
            </a:r>
          </a:p>
        </p:txBody>
      </p:sp>
      <p:sp>
        <p:nvSpPr>
          <p:cNvPr id="16" name="worksheet-4">
            <a:extLst xmlns:a="http://schemas.openxmlformats.org/drawingml/2006/main">
              <a:ext uri="{FF2B5EF4-FFF2-40B4-BE49-F238E27FC236}">
                <a16:creationId xmlns:a16="http://schemas.microsoft.com/office/drawing/2014/main" id="{35EAE3FA-C2E2-4678-9795-7DD5F087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worksheet-head-4">
            <a:extLst xmlns:a="http://schemas.openxmlformats.org/drawingml/2006/main">
              <a:ext uri="{FF2B5EF4-FFF2-40B4-BE49-F238E27FC236}">
                <a16:creationId xmlns:a16="http://schemas.microsoft.com/office/drawing/2014/main" id="{10C1D150-1F0A-4230-8ACC-F8630CEA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worksheet-sub-4">
            <a:extLst xmlns:a="http://schemas.openxmlformats.org/drawingml/2006/main">
              <a:ext uri="{FF2B5EF4-FFF2-40B4-BE49-F238E27FC236}">
                <a16:creationId xmlns:a16="http://schemas.microsoft.com/office/drawing/2014/main" id="{B3C5B18B-E602-491D-8952-35FDD076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來源與停止條件</a:t>
            </a:r>
          </a:p>
        </p:txBody>
      </p:sp>
      <p:sp>
        <p:nvSpPr>
          <p:cNvPr id="19" name="deliverable">
            <a:extLst xmlns:a="http://schemas.openxmlformats.org/drawingml/2006/main">
              <a:ext uri="{FF2B5EF4-FFF2-40B4-BE49-F238E27FC236}">
                <a16:creationId xmlns:a16="http://schemas.microsoft.com/office/drawing/2014/main" id="{FCD11296-974E-486E-A753-C91F8EA9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95850"/>
            <a:ext cx="82677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0" name="deliverable-text">
            <a:extLst xmlns:a="http://schemas.openxmlformats.org/drawingml/2006/main">
              <a:ext uri="{FF2B5EF4-FFF2-40B4-BE49-F238E27FC236}">
                <a16:creationId xmlns:a16="http://schemas.microsoft.com/office/drawing/2014/main" id="{604B8D82-6C70-4EA4-8CC3-78758C5E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673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Deliverable: 一張 workflow 草圖 + 3 個 failure modes + 2 個 human review gates</a:t>
            </a:r>
          </a:p>
        </p:txBody>
      </p:sp>
    </p:spTree>
    <p:extLst>
      <p:ext uri="{BB962C8B-B14F-4D97-AF65-F5344CB8AC3E}">
        <p14:creationId xmlns:p14="http://schemas.microsoft.com/office/powerpoint/2010/main" val="119928844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ransition-title">
            <a:extLst xmlns:a="http://schemas.openxmlformats.org/drawingml/2006/main">
              <a:ext uri="{FF2B5EF4-FFF2-40B4-BE49-F238E27FC236}">
                <a16:creationId xmlns:a16="http://schemas.microsoft.com/office/drawing/2014/main" id="{B92EAAB8-E918-4205-B01E-9A9DB66B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43000"/>
            <a:ext cx="533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LLM basics</a:t>
            </a:r>
          </a:p>
        </p:txBody>
      </p:sp>
      <p:sp>
        <p:nvSpPr>
          <p:cNvPr id="2" name="transition-subtitle">
            <a:extLst xmlns:a="http://schemas.openxmlformats.org/drawingml/2006/main">
              <a:ext uri="{FF2B5EF4-FFF2-40B4-BE49-F238E27FC236}">
                <a16:creationId xmlns:a16="http://schemas.microsoft.com/office/drawing/2014/main" id="{ECDAC846-14B9-4307-AD37-67D0E216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了解 model，才能設計好的 agent workflow</a:t>
            </a:r>
          </a:p>
        </p:txBody>
      </p:sp>
      <p:sp>
        <p:nvSpPr>
          <p:cNvPr id="3" name="model-to-bus">
            <a:extLst xmlns:a="http://schemas.openxmlformats.org/drawingml/2006/main">
              <a:ext uri="{FF2B5EF4-FFF2-40B4-BE49-F238E27FC236}">
                <a16:creationId xmlns:a16="http://schemas.microsoft.com/office/drawing/2014/main" id="{9ED2FF9B-A66C-4927-BB7F-191D2D5D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952750"/>
            <a:ext cx="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4" name="context-to-bus">
            <a:extLst xmlns:a="http://schemas.openxmlformats.org/drawingml/2006/main">
              <a:ext uri="{FF2B5EF4-FFF2-40B4-BE49-F238E27FC236}">
                <a16:creationId xmlns:a16="http://schemas.microsoft.com/office/drawing/2014/main" id="{6C56BE1A-FFDD-4CA7-AD42-19E9ED1D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76675"/>
            <a:ext cx="1200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5" name="bus-to-tools">
            <a:extLst xmlns:a="http://schemas.openxmlformats.org/drawingml/2006/main">
              <a:ext uri="{FF2B5EF4-FFF2-40B4-BE49-F238E27FC236}">
                <a16:creationId xmlns:a16="http://schemas.microsoft.com/office/drawing/2014/main" id="{A50DCAA3-0F50-476E-9B52-CE2BFD7C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76675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6" name="model">
            <a:extLst xmlns:a="http://schemas.openxmlformats.org/drawingml/2006/main">
              <a:ext uri="{FF2B5EF4-FFF2-40B4-BE49-F238E27FC236}">
                <a16:creationId xmlns:a16="http://schemas.microsoft.com/office/drawing/2014/main" id="{E9EA60EC-04A6-4F71-9578-71A928BB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16002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7" name="context">
            <a:extLst xmlns:a="http://schemas.openxmlformats.org/drawingml/2006/main">
              <a:ext uri="{FF2B5EF4-FFF2-40B4-BE49-F238E27FC236}">
                <a16:creationId xmlns:a16="http://schemas.microsoft.com/office/drawing/2014/main" id="{D0F82329-5489-411C-BDDF-90BA7C06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38550"/>
            <a:ext cx="13906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8" name="tools">
            <a:extLst xmlns:a="http://schemas.openxmlformats.org/drawingml/2006/main">
              <a:ext uri="{FF2B5EF4-FFF2-40B4-BE49-F238E27FC236}">
                <a16:creationId xmlns:a16="http://schemas.microsoft.com/office/drawing/2014/main" id="{4F8E5F5F-53D2-40CF-B2BA-D4FD6486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1811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9" name="verify">
            <a:extLst xmlns:a="http://schemas.openxmlformats.org/drawingml/2006/main">
              <a:ext uri="{FF2B5EF4-FFF2-40B4-BE49-F238E27FC236}">
                <a16:creationId xmlns:a16="http://schemas.microsoft.com/office/drawing/2014/main" id="{4FDEB1F7-BC53-43B1-856F-62DC83DF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8155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0" name="wrap">
            <a:extLst xmlns:a="http://schemas.openxmlformats.org/drawingml/2006/main">
              <a:ext uri="{FF2B5EF4-FFF2-40B4-BE49-F238E27FC236}">
                <a16:creationId xmlns:a16="http://schemas.microsoft.com/office/drawing/2014/main" id="{0B0634B0-0BFC-4A88-8B03-558E4011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9585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這堂建立 workflow 外框；下一堂打開 model 層，理解 token、context、hallucination 與 tool use。</a:t>
            </a:r>
          </a:p>
        </p:txBody>
      </p:sp>
      <p:sp>
        <p:nvSpPr>
          <p:cNvPr id="11" name="footer-dark">
            <a:extLst xmlns:a="http://schemas.openxmlformats.org/drawingml/2006/main">
              <a:ext uri="{FF2B5EF4-FFF2-40B4-BE49-F238E27FC236}">
                <a16:creationId xmlns:a16="http://schemas.microsoft.com/office/drawing/2014/main" id="{97753DEB-984B-41CB-8F6C-E71C1222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AI agents, vibe coding, desktop utilities  |  22/22</a:t>
            </a:r>
          </a:p>
        </p:txBody>
      </p:sp>
    </p:spTree>
    <p:extLst>
      <p:ext uri="{BB962C8B-B14F-4D97-AF65-F5344CB8AC3E}">
        <p14:creationId xmlns:p14="http://schemas.microsoft.com/office/powerpoint/2010/main" val="20099857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2026-07-05T10:38:54.8930000Z</dcterms:created>
  <dcterms:modified xsi:type="dcterms:W3CDTF">2026-07-05T10:38:54.8930000Z</dcterms:modified>
</coreProperties>
</file>